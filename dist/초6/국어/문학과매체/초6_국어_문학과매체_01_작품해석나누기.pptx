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7ee4ca9-e805-4e18-7dfd-0a989f24103c}">
          <p14:sldIdLst>
            <p14:sldId id="256"/>
            <p14:sldId id="257"/>
          </p14:sldIdLst>
        </p14:section>
        <p14:section name="개념" id="{2b9b70df-5820-a33c-0ac0-4f80bb099247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aa7229e5-6cd9-a2e0-6d69-7e955f8ea77b}">
          <p14:sldIdLst>
            <p14:sldId id="263"/>
            <p14:sldId id="264"/>
            <p14:sldId id="265"/>
          </p14:sldIdLst>
        </p14:section>
        <p14:section name="확인" id="{031ec0ed-4505-fa07-4f20-f6b1b24bba65}">
          <p14:sldIdLst>
            <p14:sldId id="266"/>
            <p14:sldId id="267"/>
            <p14:sldId id="268"/>
          </p14:sldIdLst>
        </p14:section>
        <p14:section name="정리" id="{e27df852-3973-3e55-0ff9-a891a983a9dc}">
          <p14:sldIdLst>
            <p14:sldId id="269"/>
          </p14:sldIdLst>
        </p14:section>
        <p14:section name="보충" id="{6637c5d3-f140-6b91-3614-04a8be925c8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같은 작품도 사람마다 다르게 받아들일 수 있다는 것을 느끼게 하며 오늘 배울 것을 알립니다.
시간: 약 2분
이렇게 말해 보세요
- “같은 영화를 보고 나서 엄마(아빠)랑 네가 다른 장면이 좋았던 적 있지? 시도 그래. 같은 시를 읽고도 떠오르는 뜻이 다를 수 있어.”
- “작품의 뜻을 풀어 말하는 것을 ‘해석’이라고 해. 오늘은 비유와 상징을 찾아 시를 해석하고, 왜 그렇게 생각했는지 근거를 들어 나누어 볼 거야.”
예상 답
- “네, 사람마다 생각이 달라요.” “정답이 있지 않아요?”
막히면
- “구름 모양을 보고 엄마(아빠)는 토끼, 너는 강아지라고 한 적 있지? 둘 다 구름 모양에서 찾은 거야.”라고 비유해 줍니다.
주의
- ‘정답이 있지 않아요?’라고 하면 “정답 하나는 없지만, 시 안에서 근거를 찾을 수 있어야 해. 그게 오늘 배울 거야.”라고 답합니다(오해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확인(인물·사건·배경)]
목적: 5학년 ‘인물·사건·배경’에서 배운, 이야기의 인물·사건·배경을 찾는 힘이 있는지 확인합니다. 작품을 해석할 때 이 세 가지가 기본 단서가 됩니다.
시간: 약 3분
이렇게 말해 보세요
- “짧은 이야기를 읽고 인물, 사건, 배경을 찾아볼래?”
정답
- ① 인물: 지우, 서진
- ② 사건: 우산이 없어 곤란한 지우에게 서진이가 우산을 함께 쓰자고 했다.
- ③ 배경: 때 — 비 오는 토요일 오후 / 곳 — 도서관 앞
막히면
- “누가 나와? 무슨 일이 있었어? 언제, 어디서?” 세 질문으로 나누어 묻습니다.
- 세 가지를 찾지 못하면 S15(보충)를 먼저 하고, 그래도 어려우면 5학년 ‘인물·사건·배경’을 먼저 다시 합니다.
주의
- ‘비 오는’도 배경(날씨)에 들어갑니다. 아이가 날씨를 배경으로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비유(직유·은유)와 상징]
목적: 비유의 두 가지(직유·은유)와 상징의 뜻을 예와 함께 알려 줍니다(목표 A·B).
시간: 약 3분
이렇게 말해 보세요
- “어떤 것을 다른 것에 빗대어 말하는 것을 ‘비유’라고 해. ‘~처럼, ~같이’를 써서 빗대면 직유, ‘A는 B다’처럼 바로 빗대면 은유야.”
- “‘눈이 솜이불처럼 덮였다’는 눈을 솜이불에 빗댄 거야. 왜 솜이불일까? 하얗고, 포근하게 덮으니까. 이렇게 두 대상은 닮은 점이 있어.”
- “상징은 어떤 대상에 뜻을 담는 거야. 비둘기가 평화를 뜻하듯이, 시 속의 겨울이나 새싹도 어떤 뜻을 담고 있을 수 있어.”
예상 답
- “처럼이 있으면 직유, 없으면 은유예요.”
막히면
- “네 볼은 사과 같아.”(직유), “네 볼은 빨간 사과야.”(은유)처럼 같은 뜻을 두 가지로 말해 견주어 줍니다.
- 비유라는 말 자체가 낯설면 4학년 ‘표현의 효과’(KR22-G04-KOR-EXPRESS-L01)에서 비유 표현을 먼저 다시 봅니다.
주의
- ‘화분은 대답이 없었다’처럼 사람이 아닌 것을 사람처럼 나타내는 표현(의인)도 비유의 한 가지입니다. 아이가 물으면 짧게 알려 주고, 오늘은 직유와 은유에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 읽기(겨울 화분)]
목적: 수업을 위해 지은 시를 함께 읽으며 비유 표현을 찾습니다(목표 A·B). 부모가 먼저 천천히 읽어 주고, 아이가 한 번 더 읽습니다.
시간: 약 3분
이렇게 말해 보세요
- “엄마(아빠)가 먼저 읽을게. 그다음 네가 읽어 줘.”
- “첫째 연을 볼까? ‘빈 화분은 조그만 방’이래. 화분을 방에 빗댔어. ‘처럼’이 없으니 은유야. 나머지 연에서 비유를 더 찾아 밑줄을 그어 볼래?”
예상 답
- “‘솜이불처럼’이요.” “‘초록 손가락’도요. 새싹을 손가락이라고 했어요.”
정답
- 비유: 화분은 흙만 담긴 조그만 방(은유), 눈이 솜이불처럼(직유), 초록 손가락(은유, 새싹), 흙 이불(은유, 흙)
- 사람처럼 나타낸 표현(의인): 물 한 컵을 건넸다, 아무 대답이 없었다, 봄바람이 창문을 두드린, 흙 이불을 걷고 일어났다 — 찾으면 칭찬하고 넘어갑니다.
막히면
- “‘처럼’이 들어간 곳부터 찾아볼까?”라고 직유부터 찾게 한 뒤, “초록 손가락은 진짜 손가락일까?”라고 묻습니다.
주의
- 이 시는 수업을 위해 지은 작품입니다. 활동지 1에 같은 시가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비유 정리(무엇을 무엇에, 닮은 점)]
목적: 비유마다 무엇을(원래 대상) 무엇에(빗댄 대상) 빗댔는지와 닮은 점을 표로 정리하는 방법을 보여 줍니다(목표 A, 오해 M2).
시간: 약 3분
이렇게 말해 보세요
- “첫 줄을 같이 볼까? 원래 말하려는 것은 화분이고, 그것을 방에 빗댔어. 방처럼 화분도 무언가를 품고 있지. 흙 속에 무엇이 있었을까?”
- “둘째, 셋째 줄도 ‘무엇을 → 무엇에 → 닮은 점’ 차례로 읽어 볼래?”
예상 답
- “흙 속에 씨앗이 있었나 봐요. 방에 누가 사는 것처럼요.”
막히면
- “시인이 진짜로 말하고 싶은 건 화분이야, 방이야?”라고 물어 원래 대상부터 찾게 합니다.
주의
- 닮은 점은 표의 말과 달라도 됩니다. 두 대상에 공통으로 있는 성질이면 맞음으로 봅니다(예: 손가락 — ‘길쭉하다’, ‘무언가를 가리키는 것 같다’).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상징을 해석하기]
목적: 시 속 대상이 글자 그대로의 뜻을 넘어 어떤 뜻을 담을 수 있는지 보여 주고, 해석은 여러 가지일 수 있지만 근거가 필요하다는 것을 알려 줍니다(목표 B, 오해 M1·M3).
시간: 약 3분
이렇게 말해 보세요
- “이 시에서 겨울은 화분에게 어떤 때였어? 대답도 없고, 엄마는 버리자고 했지. 그래서 겨울은 ‘힘들고 기다려야 하는 때’를 뜻한다고 볼 수 있어.”
- “카드에 물음표가 있지? 이건 엄마(아빠)의 해석이야. 너는 초록 싹이 무엇을 뜻한다고 생각해?”
예상 답
- “포기하지 않으면 좋은 일이 생긴다는 거요.” “봄이 와서 새로 시작하는 거요.”
정답
- 가능한 해석: 겨울 — 힘든 때, 기다림의 시간 / 물 한 컵 — 꾸준한 정성, 믿음 / 초록 싹 — 희망, 기다림의 보람, 새로운 시작
- 기준: 시 속 표현(버리자 했지만, 날마다, 대답이 없었다, 봄바람이… 일어났다)과 이어지면 맞음
막히면
- “날마다 물을 준 아이는 화분을 어떻게 생각했을까? 포기했을까?”라고 아이의 마음부터 묻습니다.
주의
- 부모의 해석을 정답처럼 말하지 않습니다. 아이가 다른 해석을 말하면 “시의 어느 표현 때문에 그렇게 생각했어?”라고만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해석을 나누는 차례]
목적: 해석을 말하고 나누는 차례와, 해석과 근거를 함께 말하는 말의 틀을 알려 줍니다(목표 B).
시간: 약 2분
이렇게 말해 보세요
- “해석을 나눌 때는 이 차례로 해. 3단계가 가장 중요해. 내 생각의 근거를 시 안에서 찾아 대는 거야.”
- “아래 말의 틀로 말해 볼래? ‘이 시는 ~라고 생각해. 시에 ~라는 표현이 있기 때문이야.’”
예상 답
- “이 시는 기다리면 희망이 온다는 뜻이라고 생각해요. 시에 ‘날마다 물 한 컵을 건넸다’가 있기 때문이에요.”
막히면
- S06의 카드 하나를 골라 부모가 먼저 틀에 맞추어 말하고, 아이가 따라 말하게 합니다.
주의
- 4단계는 지난 차시들의 ‘근거 따지기’와 같습니다. 해석이 다르다고 틀린 것이 아니라 근거가 있는지를 본다는 점을 강조합니다.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비유 찾기(직유·은유, 닮은 점)]
목적: 처음 보는 문장에서 직유와 은유를 가리고, 무엇을 무엇에 빗댔는지와 닮은 점을 말해 봅니다(목표 A, 오해 M2).
시간: 약 3분
이렇게 말해 보세요
- “①부터 해 볼까? ‘처럼’이 있어, 없어? 무엇을 무엇에 빗댔어? 왜 그렇게 빗댔을까?”
- “②의 짝꿍은 왜 난로일까? 짝꿍이 어떤 사람일 것 같아?”
정답
- ① 직유 — 엄마 목소리를 알람에: 아침마다 나를 깨운다
- ② 은유 — 짝꿍을 난로에: 주변을 따뜻하게 해 준다(다정하다)
- ③ 직유 — 구름을 솜사탕에: 하얗고 몽글몽글 부풀었다
- ④ 은유 — 책을 비행기에: 가 보지 못한 먼 곳으로 데려가 준다
막히면
- S05의 표처럼 ‘무엇을 → 무엇에 → 닮은 점’ 세 칸을 손가락으로 짚으며 하나씩 말하게 합니다.
주의
- 닮은 점은 여러 가지일 수 있습니다. 두 대상에 함께 있는 성질이면 맞음으로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비교(근거 없는 해석)]
목적: 해석은 여러 가지일 수 있지만 작품 속 근거가 있어야 한다는 것을 비교로 확인합니다(목표 B, 오해 M1).
시간: 약 2분
이렇게 말해 보세요
- “가는 시의 어느 표현을 근거로 댔어? 나는?”
- “시에 엄마가 식물을 싫어한다는 말이 있어? 나의 해석을 시의 표현을 근거로 고쳐 말한다면?”
정답
- 가. ‘버리자 했지만 날마다 물 한 컵을’이라는 시 속 표현을 근거로 들었습니다.
- 나는 근거가 없습니다. 시에는 엄마가 화분을 버리자고 한 말만 있고 식물을 싫어한다는 표현은 없습니다. 고친 예: 엄마는 화분이 다시 살아나지 않을 거라고 생각했다. ‘이제 버리자 했지만’이라는 표현이 있기 때문이다.
막히면
- “나의 말을 시에서 찾아볼까? 손가락으로 짚어 봐. 없지?”라고 시를 다시 보여 줍니다.
주의
- 가와 다른 해석(예: 작은 정성의 보람, 힘든 시간도 지나간다)도 근거가 있으면 모두 좋은 해석이라고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우리 집 해석 나누기]
목적: 부모와 아이가 서로 다른 해석을 근거와 함께 말하고, 상대 해석의 근거를 시에서 찾아 확인합니다(목표 B).
시간: 약 4분
이렇게 말해 보세요
- (부모 해석 예) “엄마(아빠)는 이 시가 ‘힘든 시간도 언젠가 지나간다’는 뜻이라고 생각해. ‘대답이 없었다’던 겨울 뒤에 ‘봄바람’이 오고 싹이 ‘일어났다’는 표현이 있기 때문이야.”
- “이제 네 해석을 말의 틀에 맞추어 말해 줄래? 그다음 엄마(아빠)의 근거가 시에 정말 있는지 네가 찾아 확인해 줘.”
예상 답
- “저는 작은 정성이 쌓이면 좋은 일이 생긴다는 뜻이라고 생각해요. ‘날마다 물 한 컵을 건넸다’가 있기 때문이에요.”
정답
- 기준: 아이가 해석을 한 문장으로 말하고, 시 속 표현을 근거로 하나 이상 대며, 부모의 근거를 시에서 찾아 확인하면 잘함. 해석의 내용은 집마다 달라도 됩니다.
막히면
- 아이가 해석을 떠올리지 못하면 S06의 카드 하나를 고르게 하고, 그 카드와 이어지는 시 속 표현을 찾게 합니다.
주의
- 부모와 아이의 해석이 같아도 괜찮습니다. 그때는 근거로 든 표현이 서로 다른지 견주어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보기(비유·상징 찾고 해석하기)]
목적: 처음 보는 시에서 비유를 찾아 빗댄 것과 닮은 점을 말하고, 상징(돌 하나)을 근거와 함께 해석하는지 확인합니다(목표 A·B). 이 시도 수업을 위해 지은 작품입니다.
시간: 약 7분
이렇게 말해 보세요
- “이번에는 혼자 해 볼래? 활동지 4에 같은 시가 있어. 비유에 밑줄을 긋고, 무엇을 무엇에 빗댔는지 써 봐.”
- “‘돌 하나’는 무엇을 뜻할까? 말의 틀에 맞추어 해석과 근거를 말해 줘.”
정답
- 비유: ‘징검다리는 엎드린 거북이 등 같다’(직유) — 징검다리 돌을 거북이 등에 빗댐, 닮은 점: 둥글고 단단하며 물 위에 솟아 있다
- ‘나도 누군가의 돌 하나가 되고 싶다’(은유) — 나를 돌에 빗댐
- 해석 예: ‘돌 하나’는 나를 도와준 사람(작은 도움)을 뜻한다. ‘혼자서는 못 건너던 나를 받쳐 주었다’는 표현이 있기 때문이다. / 이 시는 받은 도움을 남에게 돌려주고 싶은 마음을 노래했다. ‘이제 나도 누군가의 돌 하나가 되고 싶다’가 근거다. / 혼자 못 하던 아이가 자랐다는 뜻이다. ‘못 건너던 나’와 ‘이제 나도’가 근거다.
- 기준: 비유 하나 이상을 바르게 찾고(무엇을 → 무엇에), 해석과 시 속 근거를 함께 말하면 잘함. 해석의 내용은 근거가 있으면 모두 인정
막히면
- “혼자서는 못 건너던 나를 누가 받쳐 주었어? 돌이 사람이라면 어떤 사람일까?”라고 묻습니다.
- 도움을 받아 해결했다면 기록표에 ‘도움’으로 표시합니다.
주의
- ‘돌은 그냥 돌이에요’라고 하면 “마지막 연에서 ‘나도 돌 하나가 되고 싶다’고 했지? 사람이 돌이 된다는 건 무슨 뜻일까?”라고 묻습니다(오해 M3). 비유는 찾았지만 해석에 근거를 대지 못하면 기록표에 ‘비유만’으로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해석의 근거는 시의 어느 표현이야? 왼쪽과 해석이 달라도 근거가 있으면 좋은 해석이야.”
- “오른쪽 실수는 왜 아쉬울까?”
예상 답
- “저는 친구 이야기라고 했는데, ‘받쳐 주었다’가 근거니까 괜찮아요.”
정답
- 비유: 징검다리(돌)를 거북이 등에 빗댐(직유), 나를 돌 하나에 빗댐(은유) / 해석: 돌 하나 — 도움을 준 사람·작은 도움, 시 전체 — 받은 도움을 돌려주고 싶은 마음, 자람 등 근거가 있으면 모두 인정
막히면
- 활동지 4에서 해석의 근거가 되는 표현에 함께 색칠합니다.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확인(이야기 속 상징 해석)]
목적: 처음 보는 짧은 이야기에서 상징을 해석하고, 이야기 속 표현을 근거로 대는지 확인합니다(목표 B). 감나무 가지 끝에 감 몇 개를 새들의 먹이로 남겨 두는 것을 ‘까치밥’이라고 하며, 예부터 내려오는 풍습입니다.
시간: 약 2분
이렇게 말해 보세요
- “할아버지가 남긴 감은 무엇을 뜻할까? 해석과 근거를 말의 틀로 말해 줘.”
정답
- 해석 예: 나눔(다른 생명과 나누는 마음), 배려, 겨울을 나는 새를 생각하는 따뜻한 마음, 자연과 함께 사는 마음
- 근거 예: ‘눈 내린 아침, 먹을 것을 찾던 까치’(겨울에 먹을 것이 없는 새), ‘빙그레 웃으셨다’(나누어서 기쁜 마음), ‘저건 까치밥이야’(일부러 새를 위해 남김)
- 기준: 해석을 한 문장으로 말하고 이야기 속 표현을 근거로 하나 이상 대면 잘함
막히면
- “할아버지는 왜 감을 다 따지 않으셨을까? 까치가 감을 먹는 걸 보고 왜 웃으셨을까?”라고 묻습니다.
주의
- ‘감을 따기 귀찮아서’처럼 근거가 없는 해석이면 “이야기 속에 그렇게 볼 수 있는 표현이 있어?”라고 묻습니다. 해석만 말하고 근거를 대지 못하면 기록표에 ‘해석만’으로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1분
이렇게 말해 보세요
- “처음에 같은 시를 읽고도 생각이 다를 수 있냐고 물었지? 이제 어떻게 대답할래?”
예상 답
- “다를 수 있어요. 그래도 시에서 근거를 찾아야 해요.”
정답
- ① 직유는 ‘~처럼, ~같이’를 써서 빗대고, 은유는 ‘A는 B’처럼 바로 빗댄다 ② 눈을 솜이불에 빗댐 ③ 작품 속 표현을 근거로 대는 것
막히면
- S03과 S07을 다시 보여 줍니다.
주의
- 노래 가사나 그림책을 함께 볼 때 “여기 비유가 있네. 무엇을 무엇에 빗댔을까?”라고 물어보면 좋은 복습이 됩니다. 다음 시간에는 광고 속 비유 표현의 의도도 따져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보충(인물·사건·배경)]
목적: 이야기의 인물·사건·배경을 찾는 힘을 먼저 다집니다. 작품을 해석하려면 누가, 언제, 어디서, 무슨 일을 겪었는지부터 알아야 합니다.
시간: 약 4분
이렇게 말해 보세요
- “엄마(아빠)가 아주 짧은 이야기를 해 줄게. ‘겨울 방학 첫날 아침, 동생과 나는 마당에 쌓인 눈으로 눈사람을 만들었다. 점심때 해가 나자 눈사람이 조금씩 녹았다.’ 인물, 사건, 배경을 찾아볼래?”
- “이번에는 네가 어제 있었던 일을 인물·사건·배경이 들어가게 세 문장으로 말해 볼래?”
정답
- 인물: 동생과 나 / 사건: 눈사람을 만들었는데 해가 나자 녹았다 / 배경: 겨울 방학 첫날 아침(때), 마당(곳)
- 아이의 이야기: 누가, 무슨 일, 언제·어디서가 모두 들어가면 맞음
막히면
- 카드의 질문을 하나씩 부모가 묻고 아이가 답하게 합니다.
- 보충으로도 어렵다면 이 차시의 선수 차시인 5학년 ‘인물·사건·배경’을 먼저 다시 합니다. 비유 찾기가 어려웠다면 4학년 ‘표현의 효과’(KR22-G04-KOR-EXPRESS-L01)도 함께 다시 봅니다.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문학과매체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작품 해석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작품 해석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작품 해석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해석 나누기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시를 읽고도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다를 수 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비유를 찾아 무엇을 무엇에 빗댔는지 말할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작품 속 표현을 근거로 내 해석을 말할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인물·사건·배경 찾기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토요일 오후, 도서관 앞. 지우는 우산이 없어 발만 동동 굴렀다. 그때 같은 반 서진이가 다가와 우산을 함께 쓰자고 했다.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인물은 누구인가요?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사건이 일어났나요?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배경(때와 곳)은 언제, 어디인가요?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비유와 상징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빗댄 두 대상은 어딘가 닮은 점이 있어요.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‘~처럼, ~같이’로 빗대요.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솜이불처럼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‘A는 B’로 바로 빗대요.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화분은 조그만 방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뜻을 담은 대상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비둘기 → 평화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「겨울 화분」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1325880"/>
            <a:ext cx="7955280" cy="4846320"/>
          </a:xfrm>
          <a:prstGeom prst="roundRect">
            <a:avLst>
              <a:gd name="adj" fmla="val 226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1463040"/>
            <a:ext cx="7406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 화분</a:t>
            </a:r>
            <a:endParaRPr lang="ko-KR" sz="2800" dirty="0"/>
          </a:p>
        </p:txBody>
      </p:sp>
      <p:sp>
        <p:nvSpPr>
          <p:cNvPr id="5" name="S04-text20"/>
          <p:cNvSpPr txBox="1"/>
          <p:nvPr/>
        </p:nvSpPr>
        <p:spPr>
          <a:xfrm>
            <a:off x="868680" y="19659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창가의 빈 화분은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흙만 담긴 조그만 방</a:t>
            </a:r>
            <a:endParaRPr lang="ko-KR" sz="2600" dirty="0"/>
          </a:p>
        </p:txBody>
      </p:sp>
      <p:sp>
        <p:nvSpPr>
          <p:cNvPr id="6" name="S04-text21"/>
          <p:cNvSpPr txBox="1"/>
          <p:nvPr/>
        </p:nvSpPr>
        <p:spPr>
          <a:xfrm>
            <a:off x="868680" y="2990088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이제 버리자 했지만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날마다 물 한 컵을 건넸다</a:t>
            </a:r>
            <a:endParaRPr lang="ko-KR" sz="2600" dirty="0"/>
          </a:p>
        </p:txBody>
      </p:sp>
      <p:sp>
        <p:nvSpPr>
          <p:cNvPr id="7" name="S04-text22"/>
          <p:cNvSpPr txBox="1"/>
          <p:nvPr/>
        </p:nvSpPr>
        <p:spPr>
          <a:xfrm>
            <a:off x="868680" y="4014216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솜이불처럼 덮인 아침에도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화분은 아무 대답이 없었다</a:t>
            </a:r>
            <a:endParaRPr lang="ko-KR" sz="2600" dirty="0"/>
          </a:p>
        </p:txBody>
      </p:sp>
      <p:sp>
        <p:nvSpPr>
          <p:cNvPr id="8" name="S04-text23"/>
          <p:cNvSpPr txBox="1"/>
          <p:nvPr/>
        </p:nvSpPr>
        <p:spPr>
          <a:xfrm>
            <a:off x="868680" y="503834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봄바람이 창문을 두드린 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손가락 하나가 흙 이불을 걷고 일어났다</a:t>
            </a:r>
            <a:endParaRPr lang="ko-KR" sz="2600" dirty="0"/>
          </a:p>
        </p:txBody>
      </p:sp>
      <p:sp>
        <p:nvSpPr>
          <p:cNvPr id="9" name="S04-card24"/>
          <p:cNvSpPr/>
          <p:nvPr/>
        </p:nvSpPr>
        <p:spPr>
          <a:xfrm>
            <a:off x="8732520" y="1325880"/>
            <a:ext cx="2907792" cy="4846320"/>
          </a:xfrm>
          <a:prstGeom prst="roundRect">
            <a:avLst>
              <a:gd name="adj" fmla="val 377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9006840" y="1463040"/>
            <a:ext cx="2359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읽어요.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 표현에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밑줄을 그어요.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무엇에 빗댔나요?</a:t>
            </a:r>
            <a:endParaRPr lang="ko-KR" sz="4000" dirty="0"/>
          </a:p>
        </p:txBody>
      </p:sp>
      <p:sp>
        <p:nvSpPr>
          <p:cNvPr id="3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직유는 ‘처럼·같이’가 있고, 은유는 없어요.</a:t>
            </a:r>
            <a:endParaRPr lang="ko-KR" sz="2800" dirty="0"/>
          </a:p>
        </p:txBody>
      </p:sp>
      <p:graphicFrame>
        <p:nvGraphicFramePr>
          <p:cNvPr id="6" name="S05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22068"/>
          <a:ext cx="10972800" cy="914400"/>
        </p:xfrm>
        <a:graphic>
          <a:graphicData uri="http://schemas.openxmlformats.org/drawingml/2006/table">
            <a:tbl>
              <a:tblPr/>
              <a:tblGrid>
                <a:gridCol w="3621024"/>
                <a:gridCol w="1536192"/>
                <a:gridCol w="1865376"/>
                <a:gridCol w="3950208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닮은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흙만 담긴 조그만 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무언가를 품는 곳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눈이 솜이불처럼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솜이불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하얗게 포근히 덮음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 손가락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새싹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손가락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가늘게 쏙 솟음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상징을 해석해요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「겨울 화분」에서 무엇을 뜻할까요?</a:t>
            </a:r>
            <a:endParaRPr lang="ko-KR" sz="2800" dirty="0"/>
          </a:p>
        </p:txBody>
      </p:sp>
      <p:sp>
        <p:nvSpPr>
          <p:cNvPr id="4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해석은 여러 가지여도 돼요. 단, 시 속 표현이 근거여야 해요.</a:t>
            </a:r>
            <a:endParaRPr lang="ko-KR" sz="2800" dirty="0"/>
          </a:p>
        </p:txBody>
      </p:sp>
      <p:sp>
        <p:nvSpPr>
          <p:cNvPr id="6" name="S06-card3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기다려야 하는 때?</a:t>
            </a:r>
            <a:endParaRPr lang="ko-KR" sz="2800" dirty="0"/>
          </a:p>
        </p:txBody>
      </p:sp>
      <p:sp>
        <p:nvSpPr>
          <p:cNvPr id="8" name="S06-card3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3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한 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쏟은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정성?</a:t>
            </a:r>
            <a:endParaRPr lang="ko-KR" sz="2800" dirty="0"/>
          </a:p>
        </p:txBody>
      </p:sp>
      <p:sp>
        <p:nvSpPr>
          <p:cNvPr id="10" name="S06-card3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3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싹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기다림의 보람?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해석을 나누는 차례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“~라고 생각해. 시에 ‘~’라는 표현이 있기 때문이야.”</a:t>
            </a:r>
            <a:endParaRPr lang="ko-KR" sz="2800" dirty="0"/>
          </a:p>
        </p:txBody>
      </p:sp>
      <p:sp>
        <p:nvSpPr>
          <p:cNvPr id="5" name="S07-stepno40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41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비유와 상징을 찾아요.</a:t>
            </a:r>
            <a:endParaRPr lang="ko-KR" sz="2800" dirty="0"/>
          </a:p>
        </p:txBody>
      </p:sp>
      <p:sp>
        <p:nvSpPr>
          <p:cNvPr id="7" name="S07-stepno4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43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뜻할지 내 해석을 한 문장으로 말해요.</a:t>
            </a:r>
            <a:endParaRPr lang="ko-KR" sz="2800" dirty="0"/>
          </a:p>
        </p:txBody>
      </p:sp>
      <p:sp>
        <p:nvSpPr>
          <p:cNvPr id="9" name="S07-stepno4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45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되는 작품 속 표현을 대요.</a:t>
            </a:r>
            <a:endParaRPr lang="ko-KR" sz="2800" dirty="0"/>
          </a:p>
        </p:txBody>
      </p:sp>
      <p:sp>
        <p:nvSpPr>
          <p:cNvPr id="11" name="S07-stepno46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7-text47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해석을 듣고 근거가 있는지 따져요.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비유를 찾아봐요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직유일까요, 은유일까요? 무엇을 무엇에 빗댔나요?</a:t>
            </a:r>
            <a:endParaRPr lang="ko-KR" sz="28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닮은 점도 하나씩 말해 봐요.</a:t>
            </a:r>
            <a:endParaRPr lang="ko-KR" sz="28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목소리는 아침 알람처럼 나를 깨운다.</a:t>
            </a:r>
            <a:endParaRPr lang="ko-KR" sz="2800" dirty="0"/>
          </a:p>
        </p:txBody>
      </p:sp>
      <p:sp>
        <p:nvSpPr>
          <p:cNvPr id="8" name="S08-chip5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5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짝꿍은 우리 반의 작은 난로다.</a:t>
            </a:r>
            <a:endParaRPr lang="ko-KR" sz="28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솜사탕같이 부풀었다.</a:t>
            </a:r>
            <a:endParaRPr lang="ko-KR" sz="2800" dirty="0"/>
          </a:p>
        </p:txBody>
      </p:sp>
      <p:sp>
        <p:nvSpPr>
          <p:cNvPr id="12" name="S08-chip5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8-text5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책은 나를 먼 나라로 데려가는 비행기다.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있는 해석은?</a:t>
            </a:r>
            <a:endParaRPr lang="ko-KR" sz="4000" dirty="0"/>
          </a:p>
        </p:txBody>
      </p:sp>
      <p:sp>
        <p:nvSpPr>
          <p:cNvPr id="3" name="S09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「겨울 화분」을 두 친구가 이렇게 해석했어요.</a:t>
            </a:r>
            <a:endParaRPr lang="ko-KR" sz="2800" dirty="0"/>
          </a:p>
        </p:txBody>
      </p:sp>
      <p:sp>
        <p:nvSpPr>
          <p:cNvPr id="5" name="S09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해석에 근거가 있나요? 나는 어떻게 고치면 될까요?</a:t>
            </a:r>
            <a:endParaRPr lang="ko-KR" sz="2800" dirty="0"/>
          </a:p>
        </p:txBody>
      </p:sp>
      <p:sp>
        <p:nvSpPr>
          <p:cNvPr id="7" name="S09-chip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포기하지 않고 기다리면 희망이 온다는 뜻이야. ‘버리자 했지만 날마다 물 한 컵을’이라는 표현이 있으니까.</a:t>
            </a:r>
            <a:endParaRPr lang="ko-KR" sz="2800" dirty="0"/>
          </a:p>
        </p:txBody>
      </p:sp>
      <p:sp>
        <p:nvSpPr>
          <p:cNvPr id="9" name="S09-chip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식물을 싫어한다는 뜻이야. 그냥 그런 느낌이 들어.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해석 나누기</a:t>
            </a:r>
            <a:endParaRPr lang="ko-KR" sz="4000" dirty="0"/>
          </a:p>
        </p:txBody>
      </p:sp>
      <p:sp>
        <p:nvSpPr>
          <p:cNvPr id="3" name="S10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「겨울 화분」의 해석을 서로 말하고 근거를 따져요.</a:t>
            </a:r>
            <a:endParaRPr lang="ko-KR" sz="2800" dirty="0"/>
          </a:p>
        </p:txBody>
      </p:sp>
      <p:sp>
        <p:nvSpPr>
          <p:cNvPr id="4" name="S10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해석이 달라도 괜찮아요. 서로의 근거를 시에서 찾아 확인해요.</a:t>
            </a:r>
            <a:endParaRPr lang="ko-KR" sz="2800" dirty="0"/>
          </a:p>
        </p:txBody>
      </p:sp>
      <p:sp>
        <p:nvSpPr>
          <p:cNvPr id="6" name="S10-card70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71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해석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근거(시 속 표현):</a:t>
            </a:r>
            <a:endParaRPr lang="ko-KR" sz="2800" dirty="0"/>
          </a:p>
        </p:txBody>
      </p:sp>
      <p:sp>
        <p:nvSpPr>
          <p:cNvPr id="8" name="S10-card72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0-cardtext73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해석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근거(시 속 표현):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74"/>
          <p:cNvSpPr/>
          <p:nvPr/>
        </p:nvSpPr>
        <p:spPr>
          <a:xfrm>
            <a:off x="548640" y="1325880"/>
            <a:ext cx="7955280" cy="4846320"/>
          </a:xfrm>
          <a:prstGeom prst="roundRect">
            <a:avLst>
              <a:gd name="adj" fmla="val 226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1463040"/>
            <a:ext cx="7406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징검다리</a:t>
            </a:r>
            <a:endParaRPr lang="ko-KR" sz="2800" dirty="0"/>
          </a:p>
        </p:txBody>
      </p:sp>
      <p:sp>
        <p:nvSpPr>
          <p:cNvPr id="5" name="S11-text76"/>
          <p:cNvSpPr txBox="1"/>
          <p:nvPr/>
        </p:nvSpPr>
        <p:spPr>
          <a:xfrm>
            <a:off x="868680" y="19659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개울 위 징검다리는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엎드린 거북이 등 같다</a:t>
            </a:r>
            <a:endParaRPr lang="ko-KR" sz="2600" dirty="0"/>
          </a:p>
        </p:txBody>
      </p:sp>
      <p:sp>
        <p:nvSpPr>
          <p:cNvPr id="6" name="S11-text77"/>
          <p:cNvSpPr txBox="1"/>
          <p:nvPr/>
        </p:nvSpPr>
        <p:spPr>
          <a:xfrm>
            <a:off x="868680" y="30632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혼자서는 못 건너던 나를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하나, 돌 하나가 받쳐 주었다</a:t>
            </a:r>
            <a:endParaRPr lang="ko-KR" sz="2600" dirty="0"/>
          </a:p>
        </p:txBody>
      </p:sp>
      <p:sp>
        <p:nvSpPr>
          <p:cNvPr id="7" name="S11-text78"/>
          <p:cNvSpPr txBox="1"/>
          <p:nvPr/>
        </p:nvSpPr>
        <p:spPr>
          <a:xfrm>
            <a:off x="868680" y="41605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나도 누군가의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하나가 되고 싶다</a:t>
            </a:r>
            <a:endParaRPr lang="ko-KR" sz="2600" dirty="0"/>
          </a:p>
        </p:txBody>
      </p:sp>
      <p:sp>
        <p:nvSpPr>
          <p:cNvPr id="8" name="S11-card79"/>
          <p:cNvSpPr/>
          <p:nvPr/>
        </p:nvSpPr>
        <p:spPr>
          <a:xfrm>
            <a:off x="8732520" y="1325880"/>
            <a:ext cx="2907792" cy="4846320"/>
          </a:xfrm>
          <a:prstGeom prst="roundRect">
            <a:avLst>
              <a:gd name="adj" fmla="val 377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1-cardtext80"/>
          <p:cNvSpPr txBox="1"/>
          <p:nvPr/>
        </p:nvSpPr>
        <p:spPr>
          <a:xfrm>
            <a:off x="9006840" y="1463040"/>
            <a:ext cx="2359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비유를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‘돌 하나’는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뜻일까요?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근거와 함께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해석은 달라도 돼요. 시 속 표현이 근거로 있으면 잘한 거예요.</a:t>
            </a:r>
            <a:endParaRPr lang="ko-KR" sz="2800" dirty="0"/>
          </a:p>
        </p:txBody>
      </p:sp>
      <p:sp>
        <p:nvSpPr>
          <p:cNvPr id="5" name="S12-chip8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8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거북이 등 같다</a:t>
            </a:r>
            <a:endParaRPr lang="ko-KR" sz="2800" dirty="0"/>
          </a:p>
        </p:txBody>
      </p:sp>
      <p:sp>
        <p:nvSpPr>
          <p:cNvPr id="7" name="S12-text8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직유: 징검다리 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거북이 등</a:t>
            </a:r>
            <a:endParaRPr lang="ko-KR" sz="2200" dirty="0"/>
          </a:p>
        </p:txBody>
      </p:sp>
      <p:sp>
        <p:nvSpPr>
          <p:cNvPr id="8" name="S12-text8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하나 = 도움</a:t>
            </a:r>
            <a:endParaRPr lang="ko-KR" sz="2800" dirty="0"/>
          </a:p>
        </p:txBody>
      </p:sp>
      <p:sp>
        <p:nvSpPr>
          <p:cNvPr id="9" name="S12-text8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‘받쳐 주었다’</a:t>
            </a:r>
            <a:endParaRPr lang="ko-KR" sz="2200" dirty="0"/>
          </a:p>
        </p:txBody>
      </p:sp>
      <p:sp>
        <p:nvSpPr>
          <p:cNvPr id="10" name="S12-text8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도움을 돌려주고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싶은 마음</a:t>
            </a:r>
            <a:endParaRPr lang="ko-KR" sz="2800" dirty="0"/>
          </a:p>
        </p:txBody>
      </p:sp>
      <p:sp>
        <p:nvSpPr>
          <p:cNvPr id="11" name="S12-text8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‘나도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하나가’</a:t>
            </a:r>
            <a:endParaRPr lang="ko-KR" sz="2200" dirty="0"/>
          </a:p>
        </p:txBody>
      </p:sp>
      <p:sp>
        <p:nvSpPr>
          <p:cNvPr id="12" name="S12-chip9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9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거북이를 징검다리에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빗댔다</a:t>
            </a:r>
            <a:endParaRPr lang="ko-KR" sz="2200" dirty="0"/>
          </a:p>
        </p:txBody>
      </p:sp>
      <p:sp>
        <p:nvSpPr>
          <p:cNvPr id="14" name="S12-text9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거꾸로예요</a:t>
            </a:r>
            <a:endParaRPr lang="ko-KR" sz="2200" dirty="0"/>
          </a:p>
        </p:txBody>
      </p:sp>
      <p:sp>
        <p:nvSpPr>
          <p:cNvPr id="15" name="S12-text9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그런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느낌이 들어요</a:t>
            </a:r>
            <a:endParaRPr lang="ko-KR" sz="2800" dirty="0"/>
          </a:p>
        </p:txBody>
      </p:sp>
      <p:sp>
        <p:nvSpPr>
          <p:cNvPr id="16" name="S12-text9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속 근거를 대요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이야기도 해석해요</a:t>
            </a:r>
            <a:endParaRPr lang="ko-KR" sz="4000" dirty="0"/>
          </a:p>
        </p:txBody>
      </p:sp>
      <p:sp>
        <p:nvSpPr>
          <p:cNvPr id="3" name="S13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‘가지 끝에 남긴 감’은 무엇을 뜻할까요? 근거도 말해요.</a:t>
            </a:r>
            <a:endParaRPr lang="ko-KR" sz="2800" dirty="0"/>
          </a:p>
        </p:txBody>
      </p:sp>
      <p:sp>
        <p:nvSpPr>
          <p:cNvPr id="5" name="S13-passagebox9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9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까치밥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할아버지는 감을 딸 때마다 가지 끝의 감 몇 개를 남겨 두셨다. “저건 까치밥이야.”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내린 아침, 먹을 것을 찾던 까치가 날아와 그 감을 쪼아 먹었다. 할아버지는 창밖을 보며 빙그레 웃으셨다.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비유는 닮은 점으로 빗대고, 상징은 어떤 뜻을 담아요.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해석은 여러 가지여도 작품 속 표현이 근거여야 해요.</a:t>
            </a:r>
            <a:endParaRPr lang="ko-KR" sz="2800" dirty="0"/>
          </a:p>
        </p:txBody>
      </p:sp>
      <p:sp>
        <p:nvSpPr>
          <p:cNvPr id="5" name="S14-chip10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표현을 근거로 해석하기</a:t>
            </a:r>
            <a:endParaRPr lang="ko-KR" sz="2200" dirty="0"/>
          </a:p>
        </p:txBody>
      </p:sp>
      <p:sp>
        <p:nvSpPr>
          <p:cNvPr id="6" name="S14-chip10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근거 없이 느낌만 말하기</a:t>
            </a:r>
            <a:endParaRPr lang="ko-KR" sz="2200" dirty="0"/>
          </a:p>
        </p:txBody>
      </p:sp>
      <p:sp>
        <p:nvSpPr>
          <p:cNvPr id="7" name="S14-text10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직유와 은유는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다른가요?</a:t>
            </a:r>
            <a:endParaRPr lang="ko-KR" sz="2200" dirty="0"/>
          </a:p>
        </p:txBody>
      </p:sp>
      <p:sp>
        <p:nvSpPr>
          <p:cNvPr id="9" name="S14-text10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‘눈이 솜이불처럼’은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무엇에?</a:t>
            </a:r>
            <a:endParaRPr lang="ko-KR" sz="2200" dirty="0"/>
          </a:p>
        </p:txBody>
      </p:sp>
      <p:sp>
        <p:nvSpPr>
          <p:cNvPr id="10" name="S14-text10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좋은 해석에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필요한 것은?</a:t>
            </a:r>
            <a:endParaRPr lang="ko-KR" sz="2200" dirty="0"/>
          </a:p>
        </p:txBody>
      </p:sp>
      <p:sp>
        <p:nvSpPr>
          <p:cNvPr id="11" name="S14-text1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뉴스와 광고 비판적으로 보기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인물·사건·배경</a:t>
            </a:r>
            <a:endParaRPr lang="ko-KR" sz="4000" dirty="0"/>
          </a:p>
        </p:txBody>
      </p:sp>
      <p:sp>
        <p:nvSpPr>
          <p:cNvPr id="3" name="S15-text1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읽을 때 세 가지를 먼저 찾아요.</a:t>
            </a:r>
            <a:endParaRPr lang="ko-KR" sz="2800" dirty="0"/>
          </a:p>
        </p:txBody>
      </p:sp>
      <p:sp>
        <p:nvSpPr>
          <p:cNvPr id="4" name="S15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찾으면 이야기의 뼈대가 보여요.</a:t>
            </a:r>
            <a:endParaRPr lang="ko-KR" sz="2800" dirty="0"/>
          </a:p>
        </p:txBody>
      </p:sp>
      <p:sp>
        <p:nvSpPr>
          <p:cNvPr id="6" name="S15-word111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 — 누가 나오나요?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나오는 사람이나 동물</a:t>
            </a:r>
            <a:endParaRPr lang="ko-KR" sz="2800" dirty="0"/>
          </a:p>
        </p:txBody>
      </p:sp>
      <p:sp>
        <p:nvSpPr>
          <p:cNvPr id="7" name="S15-word112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— 무슨 일이 있었나요?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겪는 일</a:t>
            </a:r>
            <a:endParaRPr lang="ko-KR" sz="2800" dirty="0"/>
          </a:p>
        </p:txBody>
      </p:sp>
      <p:sp>
        <p:nvSpPr>
          <p:cNvPr id="8" name="S15-word113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— 언제, 어디서?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때와 곳(날씨도)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작품 해석 나누기</dc:title>
  <dc:subject>KR22-G06-KOR-INTERPRET-L01</dc:subject>
  <dc:creator>education-ppt</dc:creator>
  <cp:lastModifiedBy>education-ppt</cp:lastModifiedBy>
  <cp:revision>1</cp:revision>
  <dcterms:created xsi:type="dcterms:W3CDTF">2026-10-26T09:12:39Z</dcterms:created>
  <dcterms:modified xsi:type="dcterms:W3CDTF">2026-10-26T09:12:39Z</dcterms:modified>
</cp:coreProperties>
</file>