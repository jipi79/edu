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a6e210c-3d37-d5fe-7aa3-0e0cbb4bb151}">
          <p14:sldIdLst>
            <p14:sldId id="256"/>
            <p14:sldId id="257"/>
          </p14:sldIdLst>
        </p14:section>
        <p14:section name="개념" id="{7a3948ce-00ca-f18a-5fb1-d86b5adf27d6}">
          <p14:sldIdLst>
            <p14:sldId id="258"/>
            <p14:sldId id="259"/>
            <p14:sldId id="262"/>
            <p14:sldId id="263"/>
            <p14:sldId id="265"/>
          </p14:sldIdLst>
        </p14:section>
        <p14:section name="연습" id="{c2d2f702-9c2b-6723-81b4-c80a84432567}">
          <p14:sldIdLst>
            <p14:sldId id="260"/>
            <p14:sldId id="261"/>
            <p14:sldId id="264"/>
          </p14:sldIdLst>
        </p14:section>
        <p14:section name="개념" id="{7d98b1b8-edd9-8737-ed34-a3a63cbfac13}">
          <p14:sldIdLst/>
        </p14:section>
        <p14:section name="연습" id="{1e3c7038-3760-98dc-e165-22be74cb1364}">
          <p14:sldIdLst/>
        </p14:section>
        <p14:section name="개념" id="{8b4fc397-8dd2-3e79-d338-1ff6e59d1ad7}">
          <p14:sldIdLst/>
        </p14:section>
        <p14:section name="확인" id="{aa9d5538-6a1c-a14d-0059-076d80ad2390}">
          <p14:sldIdLst>
            <p14:sldId id="266"/>
            <p14:sldId id="267"/>
          </p14:sldIdLst>
        </p14:section>
        <p14:section name="정리" id="{0bb74045-f200-f3e2-a0bf-c5326cc37f9a}">
          <p14:sldIdLst>
            <p14:sldId id="268"/>
          </p14:sldIdLst>
        </p14:section>
        <p14:section name="보충" id="{d0699588-b59c-a317-daff-c06bc9fd51f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문학과매체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복합매체 자료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복합매체 자료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복합매체 자료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복합매체 자료 만들기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글, 사진, 영상을 함께 쓰면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더 잘 전해질까?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전할 내용에 맞는 글·사진·영상 자료를 골라 까닭을 말할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출처를 밝히고 저작권을 지켜 발표 자료를 계획할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‘구청에 따르면 지난달 도서관 이용자는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3천 명이었다.’ 이 정보는 어디에서 왔나요?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광고의 ‘신기만 하면 누구나 1등!’은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표현인가요?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제목만 보고 판단하면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되는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매체마다 잘 전하는 것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글·사진·영상 등 여러 매체를 함께 쓴 자료가 복합매체 자료예요.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까닭과 설명을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전해요.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생김새와 모습을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보여 줘요.</a:t>
            </a:r>
            <a:endParaRPr lang="ko-KR" sz="2800" dirty="0"/>
          </a:p>
        </p:txBody>
      </p:sp>
      <p:sp>
        <p:nvSpPr>
          <p:cNvPr id="9" name="S03-card1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움직임, 순서, 소리를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줘요.</a:t>
            </a:r>
            <a:endParaRPr lang="ko-KR" sz="2800" dirty="0"/>
          </a:p>
        </p:txBody>
      </p:sp>
      <p:sp>
        <p:nvSpPr>
          <p:cNvPr id="11" name="S03-card1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표·그래프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수와 양을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비교해 보여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내용에 맞는 자료를 골라요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‘방울토마토 기르기’를 반 친구들에게 알려요.</a:t>
            </a:r>
            <a:endParaRPr lang="ko-KR" sz="28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전할 내용에 가장 잘 맞는 매체를 골라요.</a:t>
            </a:r>
            <a:endParaRPr lang="ko-KR" sz="2800" dirty="0"/>
          </a:p>
        </p:txBody>
      </p:sp>
      <p:graphicFrame>
        <p:nvGraphicFramePr>
          <p:cNvPr id="5" name="S04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84730"/>
          <a:ext cx="10972800" cy="914400"/>
        </p:xfrm>
        <a:graphic>
          <a:graphicData uri="http://schemas.openxmlformats.org/drawingml/2006/table">
            <a:tbl>
              <a:tblPr/>
              <a:tblGrid>
                <a:gridCol w="4059936"/>
                <a:gridCol w="2194560"/>
                <a:gridCol w="471830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전할 내용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알맞은 자료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자란 방울토마토의 모습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모습을 한눈에 보여 줘요.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곁순 따는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손의 움직임과 순서가 보여요.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주마다 자란 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표·그래프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자란 정도를 수로 비교해요.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곁순을 따는 까닭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까닭을 자세히 설명해요.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자료가 알맞을까요?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자료와 까닭을 말해요.</a:t>
            </a:r>
            <a:endParaRPr lang="ko-KR" sz="28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모습? 움직임? 수? 까닭? 전할 내용을 먼저 봐요.</a:t>
            </a:r>
            <a:endParaRPr lang="ko-KR" sz="28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2단 뛰기 동작을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줄 때</a:t>
            </a:r>
            <a:endParaRPr lang="ko-KR" sz="2800" dirty="0"/>
          </a:p>
        </p:txBody>
      </p:sp>
      <p:sp>
        <p:nvSpPr>
          <p:cNvPr id="8" name="S05-chip2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2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반이 좋아하는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운동별 학생 수</a:t>
            </a:r>
            <a:endParaRPr lang="ko-KR" sz="28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3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화단에 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꽃의 생김새</a:t>
            </a:r>
            <a:endParaRPr lang="ko-KR" sz="2800" dirty="0"/>
          </a:p>
        </p:txBody>
      </p:sp>
      <p:sp>
        <p:nvSpPr>
          <p:cNvPr id="12" name="S05-chip3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3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분리배출을 해야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까닭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화면이 더 잘 전할까요?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‘곁순 따는 방법’을 알리는 발표 화면이에요(글로 옮김).</a:t>
            </a:r>
            <a:endParaRPr lang="ko-KR" sz="2800" dirty="0"/>
          </a:p>
        </p:txBody>
      </p:sp>
      <p:sp>
        <p:nvSpPr>
          <p:cNvPr id="5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화면이 더 잘 전할까요? 까닭은 무엇인가요?</a:t>
            </a:r>
            <a:endParaRPr lang="ko-KR" sz="2800" dirty="0"/>
          </a:p>
        </p:txBody>
      </p:sp>
      <p:sp>
        <p:nvSpPr>
          <p:cNvPr id="7" name="S06-chip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화면</a:t>
            </a:r>
            <a:endParaRPr lang="ko-KR" sz="2200" dirty="0"/>
          </a:p>
        </p:txBody>
      </p:sp>
      <p:sp>
        <p:nvSpPr>
          <p:cNvPr id="8" name="S06-text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사진: 꽃이 가득 핀 꽃밭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반짝이는 움직이는 그림 5개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음악, 글자 가득</a:t>
            </a:r>
            <a:endParaRPr lang="ko-KR" sz="2800" dirty="0"/>
          </a:p>
        </p:txBody>
      </p:sp>
      <p:sp>
        <p:nvSpPr>
          <p:cNvPr id="9" name="S06-chip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화면</a:t>
            </a:r>
            <a:endParaRPr lang="ko-KR" sz="2200" dirty="0"/>
          </a:p>
        </p:txBody>
      </p:sp>
      <p:sp>
        <p:nvSpPr>
          <p:cNvPr id="10" name="S06-text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영상: 곁순을 따는 손(20초)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글 두 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“곁순은 잎과 줄기 사이에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난 작은 줄기예요.”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밝혀요</a:t>
            </a:r>
            <a:endParaRPr lang="ko-KR" sz="4000" dirty="0"/>
          </a:p>
        </p:txBody>
      </p:sp>
      <p:sp>
        <p:nvSpPr>
          <p:cNvPr id="3" name="S07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가져온 자료 아래에 출처를 써요.</a:t>
            </a:r>
            <a:endParaRPr lang="ko-KR" sz="2800" dirty="0"/>
          </a:p>
        </p:txBody>
      </p:sp>
      <p:sp>
        <p:nvSpPr>
          <p:cNvPr id="4" name="S07-card43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4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 · 제목 · 나온 곳 · 날짜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사람이 다시 찾아볼 수 있게 써요.</a:t>
            </a:r>
            <a:endParaRPr lang="ko-KR" sz="2800" dirty="0"/>
          </a:p>
        </p:txBody>
      </p:sp>
      <p:graphicFrame>
        <p:nvGraphicFramePr>
          <p:cNvPr id="8" name="S07-table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61362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833932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 표기의 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찍은 사진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사진: 직접 찍음, 2026. 5. 3.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책에 있는 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표: 한누리, 『별빛 텃밭 도감』, 별빛출판사, 2024, 35쪽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누리집 영상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영상: 별빛시 농업기술센터, ‘곁순 따는 법’,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센터 누리집, 2026. 5. 10. 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저작권을 지켜요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밝혀도 허락 없이 마음대로 써도 되는 것은 아니에요.</a:t>
            </a:r>
            <a:endParaRPr lang="ko-KR" sz="2800" dirty="0"/>
          </a:p>
        </p:txBody>
      </p:sp>
      <p:sp>
        <p:nvSpPr>
          <p:cNvPr id="5" name="S08-card4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4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글·사진·영상을 만든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가진 권리예요.</a:t>
            </a:r>
            <a:endParaRPr lang="ko-KR" sz="2800" dirty="0"/>
          </a:p>
        </p:txBody>
      </p:sp>
      <p:sp>
        <p:nvSpPr>
          <p:cNvPr id="7" name="S08-card5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직접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찍고, 그리고,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써서 만들어요.</a:t>
            </a:r>
            <a:endParaRPr lang="ko-KR" sz="2800" dirty="0"/>
          </a:p>
        </p:txBody>
      </p:sp>
      <p:sp>
        <p:nvSpPr>
          <p:cNvPr id="9" name="S08-card5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5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허락 확인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자료는 허락이나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 조건을 확인해요.</a:t>
            </a:r>
            <a:endParaRPr lang="ko-KR" sz="2800" dirty="0"/>
          </a:p>
        </p:txBody>
      </p:sp>
      <p:sp>
        <p:nvSpPr>
          <p:cNvPr id="11" name="S08-card5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5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밝히기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가져온 자료는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꼭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고쳐 써요</a:t>
            </a:r>
            <a:endParaRPr lang="ko-KR" sz="4000" dirty="0"/>
          </a:p>
        </p:txBody>
      </p:sp>
      <p:sp>
        <p:nvSpPr>
          <p:cNvPr id="3" name="S09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빠졌는지 찾아 고쳐요.</a:t>
            </a:r>
            <a:endParaRPr lang="ko-KR" sz="2800" dirty="0"/>
          </a:p>
        </p:txBody>
      </p:sp>
      <p:sp>
        <p:nvSpPr>
          <p:cNvPr id="4" name="S09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 · 제목 · 나온 곳 · 날짜</a:t>
            </a:r>
            <a:endParaRPr lang="ko-KR" sz="2800" dirty="0"/>
          </a:p>
        </p:txBody>
      </p:sp>
      <p:sp>
        <p:nvSpPr>
          <p:cNvPr id="6" name="S09-chip5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6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사진: 인터넷</a:t>
            </a:r>
            <a:endParaRPr lang="ko-KR" sz="2800" dirty="0"/>
          </a:p>
        </p:txBody>
      </p:sp>
      <p:sp>
        <p:nvSpPr>
          <p:cNvPr id="8" name="S09-chip6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6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영상: 별빛시 농업기술센터 누리집</a:t>
            </a:r>
            <a:endParaRPr lang="ko-KR" sz="2800" dirty="0"/>
          </a:p>
        </p:txBody>
      </p:sp>
      <p:sp>
        <p:nvSpPr>
          <p:cNvPr id="10" name="S09-chip6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6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그래프: 책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자료 계획표</a:t>
            </a:r>
            <a:endParaRPr lang="ko-KR" sz="4000" dirty="0"/>
          </a:p>
        </p:txBody>
      </p:sp>
      <p:sp>
        <p:nvSpPr>
          <p:cNvPr id="3" name="S10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방울토마토 기르기 / 목적: 기르는 방법 알리기</a:t>
            </a:r>
            <a:endParaRPr lang="ko-KR" sz="2800" dirty="0"/>
          </a:p>
        </p:txBody>
      </p:sp>
      <p:sp>
        <p:nvSpPr>
          <p:cNvPr id="4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장면마다 전할 내용, 자료, 출처를 먼저 정해요.</a:t>
            </a:r>
            <a:endParaRPr lang="ko-KR" sz="2800" dirty="0"/>
          </a:p>
        </p:txBody>
      </p:sp>
      <p:graphicFrame>
        <p:nvGraphicFramePr>
          <p:cNvPr id="11" name="S10-table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83308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3291840"/>
                <a:gridCol w="32918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전할 내용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방울토마토 소개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사진(다 자란 모습)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찍음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주마다 자란 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꺾은선그래프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잰 기록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곁순 따는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영상(20초)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별빛시 농업기술센터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누리집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기르며 느낀 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글(세 문장)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발표 자료 계획하기</a:t>
            </a:r>
            <a:endParaRPr lang="ko-KR" sz="4000" dirty="0"/>
          </a:p>
        </p:txBody>
      </p:sp>
      <p:sp>
        <p:nvSpPr>
          <p:cNvPr id="3" name="S11-card69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0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목적에 맞는 자료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출처를 밝힘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글과 자료가 어울림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저작권을 지킴</a:t>
            </a:r>
            <a:endParaRPr lang="ko-KR" sz="2800" dirty="0"/>
          </a:p>
        </p:txBody>
      </p:sp>
      <p:sp>
        <p:nvSpPr>
          <p:cNvPr id="5" name="S11-stepno71"/>
          <p:cNvSpPr txBox="1"/>
          <p:nvPr/>
        </p:nvSpPr>
        <p:spPr>
          <a:xfrm>
            <a:off x="548640" y="1949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1-text72"/>
          <p:cNvSpPr txBox="1"/>
          <p:nvPr/>
        </p:nvSpPr>
        <p:spPr>
          <a:xfrm>
            <a:off x="1325880" y="1949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주제와 목적을 정해요.</a:t>
            </a:r>
            <a:endParaRPr lang="ko-KR" sz="2800" dirty="0"/>
          </a:p>
        </p:txBody>
      </p:sp>
      <p:sp>
        <p:nvSpPr>
          <p:cNvPr id="7" name="S11-stepno73"/>
          <p:cNvSpPr txBox="1"/>
          <p:nvPr/>
        </p:nvSpPr>
        <p:spPr>
          <a:xfrm>
            <a:off x="548640" y="2708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1-text74"/>
          <p:cNvSpPr txBox="1"/>
          <p:nvPr/>
        </p:nvSpPr>
        <p:spPr>
          <a:xfrm>
            <a:off x="1325880" y="26624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3~4개로 나누어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계획표를 써요.</a:t>
            </a:r>
            <a:endParaRPr lang="ko-KR" sz="2800" dirty="0"/>
          </a:p>
        </p:txBody>
      </p:sp>
      <p:sp>
        <p:nvSpPr>
          <p:cNvPr id="9" name="S11-stepno75"/>
          <p:cNvSpPr txBox="1"/>
          <p:nvPr/>
        </p:nvSpPr>
        <p:spPr>
          <a:xfrm>
            <a:off x="548640" y="3740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1-text76"/>
          <p:cNvSpPr txBox="1"/>
          <p:nvPr/>
        </p:nvSpPr>
        <p:spPr>
          <a:xfrm>
            <a:off x="1325880" y="3694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장면마다 알맞은 자료와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정해요.</a:t>
            </a:r>
            <a:endParaRPr lang="ko-KR" sz="2800" dirty="0"/>
          </a:p>
        </p:txBody>
      </p:sp>
      <p:sp>
        <p:nvSpPr>
          <p:cNvPr id="11" name="S11-stepno77"/>
          <p:cNvSpPr txBox="1"/>
          <p:nvPr/>
        </p:nvSpPr>
        <p:spPr>
          <a:xfrm>
            <a:off x="548640" y="4772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1-text78"/>
          <p:cNvSpPr txBox="1"/>
          <p:nvPr/>
        </p:nvSpPr>
        <p:spPr>
          <a:xfrm>
            <a:off x="1325880" y="4726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가져올 자료는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점을 찾아요</a:t>
            </a:r>
            <a:endParaRPr lang="ko-KR" sz="4000" dirty="0"/>
          </a:p>
        </p:txBody>
      </p:sp>
      <p:sp>
        <p:nvSpPr>
          <p:cNvPr id="3" name="S13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점 두 가지를 찾고, 어떻게 고칠지 말해요.</a:t>
            </a:r>
            <a:endParaRPr lang="ko-KR" sz="2800" dirty="0"/>
          </a:p>
        </p:txBody>
      </p:sp>
      <p:sp>
        <p:nvSpPr>
          <p:cNvPr id="5" name="S13-passagebox8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8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민수의 발표 장면(글로 옮김)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우리 동네 공원 소개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화면의 글: “우리 동네 공원에는 놀이터와 산책길이 있어요.”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화면의 사진: 바닷가 모래사장(다른 사람의 누리 소통망에서 가져옴, 출처 없음)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전할 내용에 맞는 매체를 고르고, 가져온 자료는 출처를 밝혀요.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밝혀도 허락 없이 마음대로 쓰지 않아요.</a:t>
            </a:r>
            <a:endParaRPr lang="ko-KR" sz="2800" dirty="0"/>
          </a:p>
        </p:txBody>
      </p:sp>
      <p:sp>
        <p:nvSpPr>
          <p:cNvPr id="5" name="S14-chip8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직접 만들고, 가져오면 출처</a:t>
            </a:r>
            <a:endParaRPr lang="ko-KR" sz="2200" dirty="0"/>
          </a:p>
        </p:txBody>
      </p:sp>
      <p:sp>
        <p:nvSpPr>
          <p:cNvPr id="6" name="S14-chip8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멋져 보이는 자료만 넣기</a:t>
            </a:r>
            <a:endParaRPr lang="ko-KR" sz="2200" dirty="0"/>
          </a:p>
        </p:txBody>
      </p:sp>
      <p:sp>
        <p:nvSpPr>
          <p:cNvPr id="7" name="S14-text8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88"/>
          <p:cNvSpPr txBox="1"/>
          <p:nvPr/>
        </p:nvSpPr>
        <p:spPr>
          <a:xfrm>
            <a:off x="548640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움직이는 과정을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줄 매체는?</a:t>
            </a:r>
            <a:endParaRPr lang="ko-KR" sz="2200" dirty="0"/>
          </a:p>
        </p:txBody>
      </p:sp>
      <p:sp>
        <p:nvSpPr>
          <p:cNvPr id="9" name="S14-text89"/>
          <p:cNvSpPr txBox="1"/>
          <p:nvPr/>
        </p:nvSpPr>
        <p:spPr>
          <a:xfrm>
            <a:off x="4322064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출처에 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가지는?</a:t>
            </a:r>
            <a:endParaRPr lang="ko-KR" sz="2200" dirty="0"/>
          </a:p>
        </p:txBody>
      </p:sp>
      <p:sp>
        <p:nvSpPr>
          <p:cNvPr id="10" name="S14-text90"/>
          <p:cNvSpPr txBox="1"/>
          <p:nvPr/>
        </p:nvSpPr>
        <p:spPr>
          <a:xfrm>
            <a:off x="8095488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출처만 밝히면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마음대로 써도 될까?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어디에서 왔을까?</a:t>
            </a:r>
            <a:endParaRPr lang="ko-KR" sz="4000" dirty="0"/>
          </a:p>
        </p:txBody>
      </p:sp>
      <p:sp>
        <p:nvSpPr>
          <p:cNvPr id="3" name="S15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나온 곳을 출처라고 해요.</a:t>
            </a:r>
            <a:endParaRPr lang="ko-KR" sz="2800" dirty="0"/>
          </a:p>
        </p:txBody>
      </p:sp>
      <p:sp>
        <p:nvSpPr>
          <p:cNvPr id="4" name="S15-card92"/>
          <p:cNvSpPr/>
          <p:nvPr/>
        </p:nvSpPr>
        <p:spPr>
          <a:xfrm>
            <a:off x="548640" y="2116074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93"/>
          <p:cNvSpPr txBox="1"/>
          <p:nvPr/>
        </p:nvSpPr>
        <p:spPr>
          <a:xfrm>
            <a:off x="822960" y="2253234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책에서 읽었어요.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이름, 쓴 사람, 몇 쪽</a:t>
            </a:r>
            <a:endParaRPr lang="ko-KR" sz="2800" dirty="0"/>
          </a:p>
        </p:txBody>
      </p:sp>
      <p:sp>
        <p:nvSpPr>
          <p:cNvPr id="6" name="S15-card94"/>
          <p:cNvSpPr/>
          <p:nvPr/>
        </p:nvSpPr>
        <p:spPr>
          <a:xfrm>
            <a:off x="548640" y="3524758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95"/>
          <p:cNvSpPr txBox="1"/>
          <p:nvPr/>
        </p:nvSpPr>
        <p:spPr>
          <a:xfrm>
            <a:off x="822960" y="3661918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누리집에서 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 이름, 본 날짜</a:t>
            </a:r>
            <a:endParaRPr lang="ko-KR" sz="2800" dirty="0"/>
          </a:p>
        </p:txBody>
      </p:sp>
      <p:sp>
        <p:nvSpPr>
          <p:cNvPr id="8" name="S15-card96"/>
          <p:cNvSpPr/>
          <p:nvPr/>
        </p:nvSpPr>
        <p:spPr>
          <a:xfrm>
            <a:off x="548640" y="4933442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97"/>
          <p:cNvSpPr txBox="1"/>
          <p:nvPr/>
        </p:nvSpPr>
        <p:spPr>
          <a:xfrm>
            <a:off x="822960" y="5070602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사람에게 들었어요.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누구에게, 언제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복합매체 자료 만들기</dc:title>
  <dc:subject>KR22-G06-KOR-MULTIMEDIA-L01</dc:subject>
  <dc:creator>education-ppt</dc:creator>
  <cp:lastModifiedBy>education-ppt</cp:lastModifiedBy>
  <cp:revision>1</cp:revision>
  <dcterms:created xsi:type="dcterms:W3CDTF">2026-10-26T09:44:00Z</dcterms:created>
  <dcterms:modified xsi:type="dcterms:W3CDTF">2026-10-26T09:44:00Z</dcterms:modified>
</cp:coreProperties>
</file>