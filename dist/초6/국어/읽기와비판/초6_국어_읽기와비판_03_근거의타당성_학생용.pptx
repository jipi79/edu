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70f43b5-2b23-8959-c01c-174a8985a184}">
          <p14:sldIdLst>
            <p14:sldId id="256"/>
            <p14:sldId id="257"/>
          </p14:sldIdLst>
        </p14:section>
        <p14:section name="개념" id="{b3ab5ba0-cdb2-2eeb-0900-70c533494d0c}">
          <p14:sldIdLst>
            <p14:sldId id="258"/>
            <p14:sldId id="259"/>
            <p14:sldId id="260"/>
            <p14:sldId id="261"/>
          </p14:sldIdLst>
        </p14:section>
        <p14:section name="연습" id="{6b7bb89c-261e-c911-3ffb-2c01614a1d5f}">
          <p14:sldIdLst>
            <p14:sldId id="262"/>
            <p14:sldId id="263"/>
            <p14:sldId id="264"/>
          </p14:sldIdLst>
        </p14:section>
        <p14:section name="확인" id="{959aa03e-69ea-b239-4aba-b507fc309adf}">
          <p14:sldIdLst>
            <p14:sldId id="265"/>
            <p14:sldId id="266"/>
          </p14:sldIdLst>
        </p14:section>
        <p14:section name="정리" id="{8a2a8851-50a8-d670-a67e-8e8a85306f14}">
          <p14:sldIdLst>
            <p14:sldId id="267"/>
          </p14:sldIdLst>
        </p14:section>
        <p14:section name="보충" id="{bf860639-c939-56b8-cc50-975bf8ca4ffb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읽기와비판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근거의 타당성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근거의 타당성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국어 · 근거의 타당성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근거의 타당성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근거,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정말 믿어도 될까?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근거가 주장을 뒷받침하는지, 사실인지 따질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출처를 누가·언제·어떻게로 따져 믿을 만한 근거를 고를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글의 주장과 근거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주제, 다른 생각이에요. 주장과 근거를 찾아요.</a:t>
            </a:r>
            <a:endParaRPr lang="ko-KR" sz="28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글은 각각 무엇을 더 중요하게 보았나요?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가: 교실 자리는 한 달마다 바꾸어야 해요. 여러 친구와 골고루 가까워질 수 있어요.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교실 자리는 한 학기 동안 그대로 두어야 해요. 자리에 익숙해야 수업에 집중하기 쉬워요.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타당한 근거의 세 기준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5학년 때 배운 세 질문을 더 꼼꼼히 따져요.</a:t>
            </a:r>
            <a:endParaRPr lang="ko-KR" sz="28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기준을 모두 통과하면 ‘타당한 근거’예요.</a:t>
            </a:r>
            <a:endParaRPr lang="ko-KR" sz="28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뒷받침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주장이 옳은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까닭이 되나요?</a:t>
            </a:r>
            <a:endParaRPr lang="ko-KR" sz="28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수 있나요?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부풀리지 않았나요?</a:t>
            </a:r>
            <a:endParaRPr lang="ko-KR" sz="28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출처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누가, 언제, 어떻게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알아낸 것인가요?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주제만 같으면 될까?</a:t>
            </a:r>
            <a:endParaRPr lang="ko-KR" sz="4000" dirty="0"/>
          </a:p>
        </p:txBody>
      </p:sp>
      <p:sp>
        <p:nvSpPr>
          <p:cNvPr id="3" name="S04-card1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점심시간에도 학교 도서관 문을 열어야 한다.</a:t>
            </a:r>
            <a:endParaRPr lang="ko-KR" sz="2800" dirty="0"/>
          </a:p>
        </p:txBody>
      </p:sp>
      <p:sp>
        <p:nvSpPr>
          <p:cNvPr id="5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가는 사실인데, 왜 약한 근거일까요?</a:t>
            </a:r>
            <a:endParaRPr lang="ko-KR" sz="2800" dirty="0"/>
          </a:p>
        </p:txBody>
      </p:sp>
      <p:sp>
        <p:nvSpPr>
          <p:cNvPr id="7" name="S04-chip2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</a:t>
            </a:r>
            <a:endParaRPr lang="ko-KR" sz="2200" dirty="0"/>
          </a:p>
        </p:txBody>
      </p:sp>
      <p:sp>
        <p:nvSpPr>
          <p:cNvPr id="8" name="S04-text2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학교 도서관에는 책이 3천 권 넘게 있다.</a:t>
            </a:r>
            <a:endParaRPr lang="ko-KR" sz="2800" dirty="0"/>
          </a:p>
        </p:txBody>
      </p:sp>
      <p:sp>
        <p:nvSpPr>
          <p:cNvPr id="9" name="S04-chip2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</a:t>
            </a:r>
            <a:endParaRPr lang="ko-KR" sz="2200" dirty="0"/>
          </a:p>
        </p:txBody>
      </p:sp>
      <p:sp>
        <p:nvSpPr>
          <p:cNvPr id="10" name="S04-text2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방과 후에만 문을 열어, 바로 학원에 가는 학생은 책을 빌리기 어렵다.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부풀린 근거는 약해요</a:t>
            </a:r>
            <a:endParaRPr lang="ko-KR" sz="4000" dirty="0"/>
          </a:p>
        </p:txBody>
      </p:sp>
      <p:sp>
        <p:nvSpPr>
          <p:cNvPr id="3" name="S05-card2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낮은 층에 갈 때는 엘리베이터 대신 계단을 이용하자.</a:t>
            </a:r>
            <a:endParaRPr lang="ko-KR" sz="2800" dirty="0"/>
          </a:p>
        </p:txBody>
      </p:sp>
      <p:sp>
        <p:nvSpPr>
          <p:cNvPr id="5" name="S05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가의 어떤 말이 부풀린 말일까요?</a:t>
            </a:r>
            <a:endParaRPr lang="ko-KR" sz="2800" dirty="0"/>
          </a:p>
        </p:txBody>
      </p:sp>
      <p:sp>
        <p:nvSpPr>
          <p:cNvPr id="7" name="S05-chip3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</a:t>
            </a:r>
            <a:endParaRPr lang="ko-KR" sz="2200" dirty="0"/>
          </a:p>
        </p:txBody>
      </p:sp>
      <p:sp>
        <p:nvSpPr>
          <p:cNvPr id="8" name="S05-text3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계단을 하루 한 번만 오르면 누구나 한 달 만에 5 kg이 빠진다.</a:t>
            </a:r>
            <a:endParaRPr lang="ko-KR" sz="2800" dirty="0"/>
          </a:p>
        </p:txBody>
      </p:sp>
      <p:sp>
        <p:nvSpPr>
          <p:cNvPr id="9" name="S05-chip3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</a:t>
            </a:r>
            <a:endParaRPr lang="ko-KR" sz="2200" dirty="0"/>
          </a:p>
        </p:txBody>
      </p:sp>
      <p:sp>
        <p:nvSpPr>
          <p:cNvPr id="10" name="S05-text3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계단을 오르면 다리 근육을 써서 몸을 움직이는 운동이 된다.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출처를 따져요</a:t>
            </a:r>
            <a:endParaRPr lang="ko-KR" sz="4000" dirty="0"/>
          </a:p>
        </p:txBody>
      </p:sp>
      <p:sp>
        <p:nvSpPr>
          <p:cNvPr id="3" name="S06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어린이는 밤에 충분히 자야 한다.</a:t>
            </a:r>
            <a:endParaRPr lang="ko-KR" sz="2800" dirty="0"/>
          </a:p>
        </p:txBody>
      </p:sp>
      <p:sp>
        <p:nvSpPr>
          <p:cNvPr id="4" name="S06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누가·언제·어떻게가 분명할수록 믿을 만해요.</a:t>
            </a:r>
            <a:endParaRPr lang="ko-KR" sz="2800" dirty="0"/>
          </a:p>
        </p:txBody>
      </p:sp>
      <p:graphicFrame>
        <p:nvGraphicFramePr>
          <p:cNvPr id="7" name="S06-table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483485"/>
          <a:ext cx="10972800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4169664"/>
                <a:gridCol w="5047488"/>
              </a:tblGrid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잠은 5시간이면 충분하다.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초등학생은 9시간 넘게 자야 한다.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 모를 누리꾼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어린이 건강을 연구하는 의사들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 수 없음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올해 펴낸 안내 자료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 경험 한 가지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연구를 모아 정리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따져 봐요</a:t>
            </a:r>
            <a:endParaRPr lang="ko-KR" sz="4000" dirty="0"/>
          </a:p>
        </p:txBody>
      </p:sp>
      <p:sp>
        <p:nvSpPr>
          <p:cNvPr id="3" name="S07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쓰지 않는 물건은 버리지 말고 나눔 장터에 내놓자.</a:t>
            </a:r>
            <a:endParaRPr lang="ko-KR" sz="2800" dirty="0"/>
          </a:p>
        </p:txBody>
      </p:sp>
      <p:sp>
        <p:nvSpPr>
          <p:cNvPr id="4" name="S07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뒷받침하나요? 사실인가요? 걸리는 기준을 말해요.</a:t>
            </a:r>
            <a:endParaRPr lang="ko-KR" sz="2800" dirty="0"/>
          </a:p>
        </p:txBody>
      </p:sp>
      <p:sp>
        <p:nvSpPr>
          <p:cNvPr id="6" name="S07-chip4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7-text4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사람이 다시 쓰면 버려지는 쓰레기가 줄어든다.</a:t>
            </a:r>
            <a:endParaRPr lang="ko-KR" sz="2800" dirty="0"/>
          </a:p>
        </p:txBody>
      </p:sp>
      <p:sp>
        <p:nvSpPr>
          <p:cNvPr id="8" name="S07-chip4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7-text4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나눔 장터는 주로 토요일 오전에 열린다.</a:t>
            </a:r>
            <a:endParaRPr lang="ko-KR" sz="2800" dirty="0"/>
          </a:p>
        </p:txBody>
      </p:sp>
      <p:sp>
        <p:nvSpPr>
          <p:cNvPr id="10" name="S07-chip4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7-text4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내놓으면 누구나 반드시 부자가 된다.</a:t>
            </a:r>
            <a:endParaRPr lang="ko-KR" sz="2800" dirty="0"/>
          </a:p>
        </p:txBody>
      </p:sp>
      <p:sp>
        <p:nvSpPr>
          <p:cNvPr id="12" name="S07-chip4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7-text4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쓰던 물건을 싸게 사면 돈을 아낄 수 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조사를 믿을까?</a:t>
            </a:r>
            <a:endParaRPr lang="ko-KR" sz="4000" dirty="0"/>
          </a:p>
        </p:txBody>
      </p:sp>
      <p:sp>
        <p:nvSpPr>
          <p:cNvPr id="3" name="S08-card5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‘급식 시간을 10분 늘리자’의 근거로 든 두 조사예요.</a:t>
            </a:r>
            <a:endParaRPr lang="ko-KR" sz="2800" dirty="0"/>
          </a:p>
        </p:txBody>
      </p:sp>
      <p:sp>
        <p:nvSpPr>
          <p:cNvPr id="5" name="S08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누가·언제·어떻게를 견주어 봐요.</a:t>
            </a:r>
            <a:endParaRPr lang="ko-KR" sz="2800" dirty="0"/>
          </a:p>
        </p:txBody>
      </p:sp>
      <p:sp>
        <p:nvSpPr>
          <p:cNvPr id="7" name="S08-chip5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5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두 명에게 물었더니 둘 다 급식 시간이 짧다고 했다.</a:t>
            </a:r>
            <a:endParaRPr lang="ko-KR" sz="2800" dirty="0"/>
          </a:p>
        </p:txBody>
      </p:sp>
      <p:sp>
        <p:nvSpPr>
          <p:cNvPr id="9" name="S08-chip5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5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 우리 학교 5·6학년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200명에게 물으니, 절반이 넘게 급식 시간이 모자란다고 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약한 근거를 고쳐 써요</a:t>
            </a:r>
            <a:endParaRPr lang="ko-KR" sz="4000" dirty="0"/>
          </a:p>
        </p:txBody>
      </p:sp>
      <p:sp>
        <p:nvSpPr>
          <p:cNvPr id="3" name="S09-text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자전거를 탈 때는 꼭 안전모를 쓰자.</a:t>
            </a:r>
            <a:endParaRPr lang="ko-KR" sz="2800" dirty="0"/>
          </a:p>
        </p:txBody>
      </p:sp>
      <p:sp>
        <p:nvSpPr>
          <p:cNvPr id="4" name="S09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걸리는 기준을 말하고, 하나를 골라 타당하게 고쳐요.</a:t>
            </a:r>
            <a:endParaRPr lang="ko-KR" sz="2800" dirty="0"/>
          </a:p>
        </p:txBody>
      </p:sp>
      <p:sp>
        <p:nvSpPr>
          <p:cNvPr id="6" name="S09-chip6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6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안전모는 색깔이 여러 가지라 예쁘다.</a:t>
            </a:r>
            <a:endParaRPr lang="ko-KR" sz="2800" dirty="0"/>
          </a:p>
        </p:txBody>
      </p:sp>
      <p:sp>
        <p:nvSpPr>
          <p:cNvPr id="8" name="S09-chip6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6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안전모를 쓰면 절대로 다치지 않는다.</a:t>
            </a:r>
            <a:endParaRPr lang="ko-KR" sz="2800" dirty="0"/>
          </a:p>
        </p:txBody>
      </p:sp>
      <p:sp>
        <p:nvSpPr>
          <p:cNvPr id="10" name="S09-chip6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6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옆집 동생이 안전모가 좋다고 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근거마다 세 기준으로 따지고, 약한 근거는 까닭을 말해요.</a:t>
            </a:r>
            <a:endParaRPr lang="ko-KR" sz="2800" dirty="0"/>
          </a:p>
        </p:txBody>
      </p:sp>
      <p:sp>
        <p:nvSpPr>
          <p:cNvPr id="5" name="S10-passagebox69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70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종이를 아껴 쓰자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학교에서는 날마다 많은 종이를 씁니다. 한 면만 쓰고 버리는 종이도 많습니다. 우리는 학교에서 종이를 아껴 써야 합니다.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첫째, 종이는 나무로 만듭니다. 종이를 아껴 쓰면 베어지는 나무를 줄일 수 있습니다.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둘째, 종이를 아껴 쓰는 반은 모두 받아쓰기 점수가 오릅니다. 셋째, 이름을 밝히지 않은 누리꾼이 댓글에 종이를 아끼는 게 좋다고 썼습니다.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믿을 만한 근거는?</a:t>
            </a:r>
            <a:endParaRPr lang="ko-KR" sz="4000" dirty="0"/>
          </a:p>
        </p:txBody>
      </p:sp>
      <p:sp>
        <p:nvSpPr>
          <p:cNvPr id="3" name="S12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햇볕이 강한 날 밖에서 놀 때는 모자를 쓰자.</a:t>
            </a:r>
            <a:endParaRPr lang="ko-KR" sz="2800" dirty="0"/>
          </a:p>
        </p:txBody>
      </p:sp>
      <p:sp>
        <p:nvSpPr>
          <p:cNvPr id="4" name="S12-chip7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2-text73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피부를 치료하는 의사가 쓴 올해 건강 안내서에, 햇볕을 오래 쬐면 피부가 상할 수 있다고 나와 있다.</a:t>
            </a:r>
            <a:endParaRPr lang="ko-KR" sz="2800" dirty="0"/>
          </a:p>
        </p:txBody>
      </p:sp>
      <p:sp>
        <p:nvSpPr>
          <p:cNvPr id="6" name="S12-chip7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2-text7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날짜를 모르는 오래된 잡지 광고에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모자를 쓰면 키가 큰다고 나와 있다.</a:t>
            </a:r>
            <a:endParaRPr lang="ko-KR" sz="2800" dirty="0"/>
          </a:p>
        </p:txBody>
      </p:sp>
      <p:sp>
        <p:nvSpPr>
          <p:cNvPr id="8" name="S12-chip7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2-text7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누리꾼이 모자는 답답하다고 댓글을 달았다.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78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79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타당한 근거는 주장을 뒷받침하고, 사실이며, 출처가 믿을 만해요.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출처는 누가 · 언제 · 어떻게로 따져요.</a:t>
            </a:r>
            <a:endParaRPr lang="ko-KR" sz="2800" dirty="0"/>
          </a:p>
        </p:txBody>
      </p:sp>
      <p:sp>
        <p:nvSpPr>
          <p:cNvPr id="5" name="S13-chip80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누가·언제·어떻게 따지기</a:t>
            </a:r>
            <a:endParaRPr lang="ko-KR" sz="2200" dirty="0"/>
          </a:p>
        </p:txBody>
      </p:sp>
      <p:sp>
        <p:nvSpPr>
          <p:cNvPr id="6" name="S13-chip81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주제만 같은 근거 쓰기</a:t>
            </a:r>
            <a:endParaRPr lang="ko-KR" sz="2200" dirty="0"/>
          </a:p>
        </p:txBody>
      </p:sp>
      <p:sp>
        <p:nvSpPr>
          <p:cNvPr id="7" name="S13-text82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83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타당한 근거의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기준은?</a:t>
            </a:r>
            <a:endParaRPr lang="ko-KR" sz="2200" dirty="0"/>
          </a:p>
        </p:txBody>
      </p:sp>
      <p:sp>
        <p:nvSpPr>
          <p:cNvPr id="9" name="S13-text84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‘누구나 반드시’가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들어간 근거의 문제는?</a:t>
            </a:r>
            <a:endParaRPr lang="ko-KR" sz="2200" dirty="0"/>
          </a:p>
        </p:txBody>
      </p:sp>
      <p:sp>
        <p:nvSpPr>
          <p:cNvPr id="10" name="S13-text85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출처를 따지는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질문은?</a:t>
            </a:r>
            <a:endParaRPr lang="ko-KR" sz="2200" dirty="0"/>
          </a:p>
        </p:txBody>
      </p:sp>
      <p:sp>
        <p:nvSpPr>
          <p:cNvPr id="11" name="S13-text8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토론하기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주장과 근거</a:t>
            </a:r>
            <a:endParaRPr lang="ko-KR" sz="4000" dirty="0"/>
          </a:p>
        </p:txBody>
      </p:sp>
      <p:sp>
        <p:nvSpPr>
          <p:cNvPr id="3" name="S14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주장에는 ○, 근거에는 △ 해 봐요.</a:t>
            </a:r>
            <a:endParaRPr lang="ko-KR" sz="2800" dirty="0"/>
          </a:p>
        </p:txBody>
      </p:sp>
      <p:sp>
        <p:nvSpPr>
          <p:cNvPr id="4" name="S14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‘~해야 해요’는 주장, ‘~니까요’는 근거예요.</a:t>
            </a:r>
            <a:endParaRPr lang="ko-KR" sz="2800" dirty="0"/>
          </a:p>
        </p:txBody>
      </p:sp>
      <p:sp>
        <p:nvSpPr>
          <p:cNvPr id="6" name="S14-word90"/>
          <p:cNvSpPr txBox="1"/>
          <p:nvPr/>
        </p:nvSpPr>
        <p:spPr>
          <a:xfrm>
            <a:off x="548640" y="2011680"/>
            <a:ext cx="11091672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가: 방학 숙제는 줄여야 해요.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쉬어야 새 학기에 힘이 나니까요.</a:t>
            </a:r>
            <a:endParaRPr lang="ko-KR" sz="3200" dirty="0"/>
          </a:p>
        </p:txBody>
      </p:sp>
      <p:sp>
        <p:nvSpPr>
          <p:cNvPr id="7" name="S14-word91"/>
          <p:cNvSpPr txBox="1"/>
          <p:nvPr/>
        </p:nvSpPr>
        <p:spPr>
          <a:xfrm>
            <a:off x="548640" y="3703320"/>
            <a:ext cx="11091672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방학 숙제는 있어야 해요.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것을 잊지 않을 수 있으니까요.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국어 근거의 타당성</dc:title>
  <dc:subject>KR22-G06-KOR-VALIDITY-L01</dc:subject>
  <dc:creator>education-ppt</dc:creator>
  <cp:lastModifiedBy>education-ppt</cp:lastModifiedBy>
  <cp:revision>1</cp:revision>
  <dcterms:created xsi:type="dcterms:W3CDTF">2026-10-26T08:49:27Z</dcterms:created>
  <dcterms:modified xsi:type="dcterms:W3CDTF">2026-10-26T08:49:27Z</dcterms:modified>
</cp:coreProperties>
</file>