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9fedf9c-f350-585d-e3d9-c17bc9bcdd5d}">
          <p14:sldIdLst>
            <p14:sldId id="256"/>
            <p14:sldId id="257"/>
          </p14:sldIdLst>
        </p14:section>
        <p14:section name="개념" id="{7d68cb77-7d49-f9ba-8d62-b60ac8a832ac}">
          <p14:sldIdLst>
            <p14:sldId id="258"/>
            <p14:sldId id="259"/>
            <p14:sldId id="260"/>
            <p14:sldId id="261"/>
          </p14:sldIdLst>
        </p14:section>
        <p14:section name="연습" id="{f7c202f0-0edb-c5d4-3e75-8d440ea206fc}">
          <p14:sldIdLst>
            <p14:sldId id="262"/>
            <p14:sldId id="263"/>
            <p14:sldId id="264"/>
          </p14:sldIdLst>
        </p14:section>
        <p14:section name="확인" id="{05f3f0e6-01ff-1d49-1959-bd3bc5fafc4b}">
          <p14:sldIdLst>
            <p14:sldId id="265"/>
            <p14:sldId id="266"/>
            <p14:sldId id="267"/>
          </p14:sldIdLst>
        </p14:section>
        <p14:section name="정리" id="{1e5cc33e-654d-4fa0-6213-1b41b12aa25c}">
          <p14:sldIdLst>
            <p14:sldId id="268"/>
          </p14:sldIdLst>
        </p14:section>
        <p14:section name="보충" id="{42b3dfa0-7553-9233-1ee8-8faabe57248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같은 대상에 대한 문장도 확인할 수 있는 것과 생각을 말한 것으로 나뉜다는 것에 관심을 갖게 합니다.
시간: 약 2분
이렇게 말해 보세요
- “두 문장을 읽어 볼래? 둘 다 고래 이야기인데 무엇이 다를까?”
- “첫째는 책이나 자료로 확인할 수 있지? 둘째는 어때? 고래가 멋지지 않다고 생각하는 사람도 있을까?”
예상 답
- “첫째는 정말 그런 거고, 둘째는 그 사람 생각이에요.”
막히면
- “엄마(아빠)는 고래가 무섭다고 생각할 수도 있어. 그럼 둘째 문장은 누구에게나 똑같을까?”라고 묻습니다.
주의
- 고래가 허파로 숨 쉰다는 것은 지난 학년 ‘자료 출처 확인’에서도 나온 사실입니다. 오늘 화면의 도서관과 공원 이야기는 수업을 위해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확인(주장과 근거)]
목적: 5학년 ‘주장과 근거’(KR22-G05-KOR-CLAIM-L01)에서 다룬 주장과 근거를 구별하고 근거가 알맞은지 따질 수 있는지 확인합니다. 오늘 배울 의견은 주장과, 의견을 뒷받침하는 사실은 근거와 이어집니다.
시간: 약 3분
이렇게 말해 보세요
- “글쓴이가 하자고 하는 것, 곧 주장은 무엇이야? 그렇게 주장하는 까닭은?”
- “③처럼 말하면 읽는 사람이 고개를 끄덕일까?”
정답
- ① 운동장에 그늘막을 설치해야 한다.
- ② 여름에는 그늘이 없어 쉬는 시간에 밖에서 놀기 어렵다.
- ③ 알맞지 않다. 주장(그늘막이 필요하다)을 되풀이했을 뿐 까닭이 없다.
막히면
- “이 글이 무엇을 하자고 해? 왜?”라고 두 번에 나누어 묻습니다.
- 세 문제 가운데 두 개 이상 답하지 못하면 S14(보충)를 먼저 합니다.
주의
- ②의 근거는 실제로 확인할 수 있는 일(그늘이 없음)이라는 것을 기억해 두었다가 S06에서 ‘의견을 뒷받침하는 사실’과 이어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사실과 의견의 뜻]
목적: 사실과 의견의 뜻과 구별하는 질문을 알려 줍니다. 의견은 맞고 틀림이 아니라 생각이라는 것을 짚습니다(목표 A, 오해 M1).
시간: 약 3분
이렇게 말해 보세요
- “사실은 실제로 있었던 일이나, 책을 찾아보거나 직접 재어 보면 확인할 수 있는 내용이야.”
- “의견은 어떤 일에 대한 생각이나 판단이야. 사람마다 다르게 생각할 수 있어.”
- “‘채소를 골고루 먹어야 한다.’는 어떨까? 맞는 말 같지? 그래도 이건 사실일까, 의견일까?”
예상 답
- “맞는 말이지만 ‘해야 한다’는 생각이니까 의견이에요.”
막히면
- 방 안의 물건으로 “이 컵은 파란색이다.”(사실)와 “이 컵은 예쁘다.”(의견)를 말해 주고, 어느 쪽을 눈으로 확인할 수 있는지 묻습니다.
주의
- 내가 찬성하는 말이라도 생각이나 판단이면 의견입니다(오해 M1). 의견이 나쁜 것은 아니며, 좋은 글은 의견을 사실로 뒷받침한다는 것을 S06에서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의견을 알려 주는 말]
목적: 의견 문장에 자주 나오는 말을 단서로 알려 주고, 단서가 없어도 의견일 수 있으니 ‘확인할 수 있나?’로 최종 판단한다는 것을 짚습니다(목표 A, 오해 M4).
시간: 약 3분
이렇게 말해 보세요
- “‘~라고 생각한다’, ‘~해야 한다’, ‘아름답다’ 같은 말이 있으면 글쓴이의 생각이나 판단일 때가 많아.”
- “그런데 ‘우리 동네에서 가장 멋진 곳이다.’에는 이런 말이 없는데도 사람마다 생각이 다를 수 있어. 그래서 마지막에는 꼭 ‘확인할 수 있나?’ 하고 물어.”
예상 답
- “‘멋진’도 판단하는 말이에요.”
막히면
- 카드의 말로 짧은 문장을 하나씩 만들어 보게 합니다(예: “떡볶이가 맛있는 것 같다.”).
주의
- 아이가 ‘멋지다’도 판단하는 말이라고 찾아내면 칭찬해 줍니다. 단서 낱말을 외우는 것보다 확인할 수 있는지 묻는 습관이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읽기(사실과 의견 구별하기)]
목적: 부모가 생각을 소리 내어 말하며 문장마다 사실과 의견을 구별하는 모습을 보여 줍니다(목표 A). 활동지 1에 같은 글이 있습니다.
시간: 약 3분
이렇게 말해 보세요
- “①은 꿀벌이 하는 일이야. 관찰하거나 책을 찾아보면 확인할 수 있지? 그래서 사실이야.”
- “④에는 ‘~라고 생각한다’가 있네. 글쓴이의 생각이니까 의견이야.”
- “②, ③, ⑤는 같이 해 볼까? 확인할 수 있어, 사람마다 다를 수 있어?”
예상 답
- “②, ③은 확인할 수 있으니까 사실이에요. ⑤는 ‘해야 한다’니까 의견이에요.”
정답
- 사실: ①, ②, ③ / 의견: ④, ⑤
막히면
- 문장마다 S03의 질문(‘확인할 수 있나요?’)을 함께 소리 내어 묻습니다.
주의
- 꿀벌이 꽃가루를 옮겨 여러 과일이 열매를 맺는 데 도움을 준다는 것은 널리 알려진 사실입니다.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의견과 그것을 뒷받침하는 사실]
목적: 글쓴이의 의견과 그 의견을 뒷받침하는 사실을 짝지어 보여 줍니다. 의견이 나쁜 것이 아니라, 사실로 뒷받침되면 믿음이 간다는 것을 알려 줍니다(목표 B, 오해 M3).
시간: 약 3분
이렇게 말해 보세요
- “글쓴이는 왜 꿀벌이 고맙다고 생각했을까? 어느 사실을 보고?”
- “⑤처럼 화단에 꽃을 더 심자는 의견은 어느 사실과 이어질까?”
- “지난 학년에 배운 주장과 근거랑 비슷하지? 의견이 주장이면, 뒷받침하는 사실은 근거가 돼.”
예상 답
- “과일이 열매를 맺게 도와주니까 고마워요.” “꿀벌이 꽃에서 꿀을 모으니까 꽃을 심으면 꿀벌이 와요.”
막히면
- S05의 글을 다시 띄우고, 의견 문장 하나를 짚은 뒤 “왜?”라고 물어 답이 되는 사실 문장을 찾게 합니다.
주의
- 아이가 ‘의견은 그냥 생각이라 믿으면 안 돼요’라고 하면, 사실로 뒷받침된 의견은 귀담아들을 만하다고 바로잡아 줍니다.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문장을 사실과 의견으로 구별하기]
목적: ‘확인할 수 있나?’와 의견을 알려 주는 말을 써서 문장을 사실과 의견으로 구별합니다(목표 A). 활동지 2에 같은 문장이 있습니다.
시간: 약 4분
이렇게 말해 보세요
- “하나씩 읽고 ‘확인할 수 있나?’ 물어볼래? 사실인지 의견인지, 왜 그렇게 생각하는지 말해 줘.”
정답
- ① 사실(세어 보면 확인할 수 있음)
- ② 의견(‘아름답다’는 판단, 사람마다 다를 수 있음)
- ③ 사실(관찰로 확인할 수 있음)
- ④ 의견(‘~해야 한다’)
- ⑤ 사실(있었던 일, 확인할 수 있음)
- ⑥ 의견(‘신났다’는 느낌·판단)
막히면
- ①~③을 함께 하고 ④~⑥은 혼자 해 보게 합니다. 헷갈리면 “다른 사람은 다르게 말할 수 있을까?”라고 묻습니다.
주의
- ①에 숫자가 있어서 사실이라고 하면 “숫자 때문이 아니라 세어 보면 확인할 수 있어서 사실이야.”라고 짚어 줍니다. 다음 장(S08)에서 숫자가 있는 의견을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비교(숫자가 있으면 사실이다)]
목적: 숫자가 들어 있어도 생각이나 판단이면 의견이라는 것을 비교로 확인합니다(목표 A, 오해 M2).
시간: 약 2분
이렇게 말해 보세요
- “가는 확인할 수 있어? 어떻게?”
- “나에도 ‘30분’이라는 숫자가 있어. 그런데 ‘가장 좋은 운동’이라는 건 누구에게나 똑같을까?”
정답
- 나가 의견입니다. ‘가장 좋은’은 판단하는 말이고, 수영이나 달리기가 가장 좋다고 생각하는 사람도 있습니다.
- 가는 반 학생 수를 세어 확인할 수 있는 사실입니다. 숫자가 있는지가 아니라 확인할 수 있는지를 보아야 합니다.
막히면
- “엄마(아빠)는 하루 30분 걷기가 가장 좋다고 생각해. 그럼 누구 말이 사실일까?”라고 묻습니다.
주의
- 줄넘기가 몸에 좋다는 것과 ‘가장 좋은 운동’이라는 판단은 다릅니다. 판단하는 말(가장 좋은)에 동그라미를 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의견을 뒷받침하는 사실 고르기]
목적: 의견과 관계있는 사실을 골라 의견을 뒷받침하는 사실을 찾는 연습을 합니다(목표 B, 오해 M3). 활동지 3에 같은 문제가 있습니다.
시간: 약 3분
이렇게 말해 보세요
- “의자를 더 놓아야 한다고 생각한 까닭이 될 수 있는 사실은 무엇일까?”
- “가와 다는 왜 뒷받침이 안 될까? 하나는 사실이지만 관계가 없고, 하나는 사실이 아니야.”
정답
- 나. 주말에 의자가 모두 차서 서서 쉬는 사람들이 있다는 것은 가서 보면 확인할 수 있는 사실이고, 의자를 더 놓아야 하는 까닭이 됩니다.
- 가는 사실이지만 의자와 관계가 없습니다. 다는 ‘아름답다’는 판단이 들어간 의견이라 사실로 뒷받침할 수 없습니다.
막히면
- 보기마다 “이걸 들으면 ‘아, 그래서 의자가 더 필요하구나’ 하고 고개가 끄덕여져?”라고 묻습니다.
주의
- 가처럼 사실이라도 의견과 관계없으면 뒷받침이 되지 않습니다. 사실이면서 의견과 관계있어야 한다고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구별하기(사실과 의견, 뒷받침하는 사실)]
목적: 도움 없이 처음 읽는 글에서 사실과 의견을 구별하고, 의견을 뒷받침하는 사실을 찾는지 확인합니다(목표 A·B, 오해 M1·M4). 활동지 4에 씁니다.
시간: 약 5분
이렇게 말해 보세요
- “이번에는 혼자 해 볼래? 사실에는 밑줄, 의견에는 물결선을 긋고, ④를 뒷받침하는 사실을 찾아 줘.”
정답
- 사실: ①, ②, ③ / 의견: ④, ⑤
- ④를 뒷받침하는 사실: ②(어린이 책이 많다), ③(그림책 읽어 주기 행사가 열린다). (①은 멋진 곳인 까닭으로는 약하므로, ②나 ③을 고르면 맞음)
막히면
- S03의 질문과 S04의 카드를 보여 주고 문장마다 하나씩 묻습니다.
- 도움을 받아 구별했다면 기록표에 ‘도움’으로 표시합니다.
주의
- ④는 의견을 알려 주는 말(~해야 한다 등)이 없어도 ‘가장 멋진’이 판단이라 의견입니다(오해 M4). ⑤에 찬성한다고 사실이라고 하면 “찬성하는 것과 확인할 수 있는 것은 달라.”라고 짚어 줍니다(오해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1분
이렇게 말해 보세요
- “네 답이 왼쪽과 같아? 다른 것이 있으면 ‘확인할 수 있나?’ 하고 다시 물어볼까?”
예상 답
- “④에 ‘해야 한다’가 없어서 사실인 줄 알았어요. ‘가장 멋진’은 판단이네요.”
정답
- 사실: ①②③ / 의견: ④⑤ / ④를 뒷받침하는 사실: ②, ③
막히면
- 틀린 문장을 S03의 질문으로 다시 묻고, 판단하는 말에 동그라미를 치게 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확인(사실로 뒷받침한 의견 쓰기)]
목적: 사실과 의견을 구별해 쓰고, 사실로 의견을 뒷받침하는지 확인합니다(목표 B). 활동지 5에 씁니다.
시간: 약 5분
이렇게 말해 보세요
- “좋아하는 장소를 하나 골라 봐. 그곳에 대해 누구나 확인할 수 있는 사실을 두 가지 말해 볼래?”
- “이제 그곳에 대한 네 생각을 한 문장으로 말해 봐. 앞의 사실이 그 생각의 까닭이 되니?”
예상 답
- 예(동네 수영장): ① 사실 – 수영장은 우리 집에서 걸어서 10분 거리에 있다. 수영장에는 어린이용 얕은 풀이 있다. ② 의견 – 우리 동네 수영장은 어린이가 운동하기에 좋은 곳이다. ③ 네, 가깝고 얕은 풀이 있어서 좋은 곳이라고 생각했어요.
정답
- 기준: ① 확인할 수 있는 사실 두 문장(생각·판단하는 말이 없음) ② 생각이나 판단이 드러나는 의견 한 문장 ③ 사실이 의견의 까닭이 됨(관계있음). 세 가지를 모두 지키면 목표 B 달성, 두 가지면 거의 달성으로 봅니다.
막히면
- 부모가 장소를 함께 정하고 “그곳에 무엇이 있어? 언제 가? 거기서 무엇을 할 수 있어?”라고 물어 사실을 끌어냅니다.
- 도움을 받아 썼다면 기록표에 ‘도움’으로 표시합니다.
주의
- 사실에 ‘넓다’, ‘깨끗하다’ 같은 판단하는 말이 섞이면 “잴 수 있게, 볼 수 있게 바꾸어 볼까?”라고 묻습니다(예: 넓다 → 놀이 기구가 다섯 개 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“사실과 의견을 어떻게 구별하는지 한 문장으로 말해 볼래?”
예상 답
- “확인할 수 있으면 사실, 사람마다 생각이 다를 수 있으면 의견이에요.”
정답
- ① 사실: 실제로 있었던 일이나 확인할 수 있는 내용, 의견: 어떤 일에 대한 생각이나 판단 ② 예: ~라고 생각한다, ~해야 한다, ~하면 좋겠다, ~것 같다, 아름답다(두 가지를 쓰면 맞음) ③ 의견(숫자가 있지만 ‘가장 좋은’은 판단이다)
막히면
- S03과 S04를 다시 보여 줍니다.
주의
- 광고지나 신문을 함께 보며 “이 문장은 사실이야, 의견이야?”라고 물어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보충(집 안 물건으로 사실과 의견 말하기)]
목적: 손에 잡히는 물건으로 확인할 수 있는 말(사실)과 생각을 말한 것(의견)을 구별하며 두 개념을 다집니다.
시간: 약 4분
이렇게 말해 보세요
- “집에 있는 물건 하나를 골라 볼래? 그 물건에 대해 눈으로 확인할 수 있는 것을 하나 말해 봐.”
- “이번에는 그 물건에 대한 네 생각을 말해 봐. 엄마(아빠) 생각은 다를 수도 있어.”
정답
- 예(가방): 사실 – “가방에 주머니가 세 개 있다.” 의견 – “이 가방은 멋지다.” (사실은 확인할 수 있고, 의견은 생각·판단이면 맞음)
막히면
- 부모가 먼저 한 쌍을 말해 주고 아이가 다른 물건으로 따라 하게 합니다.
- 보충으로도 어렵다면 계획의 선수 차시 5학년 ‘주장과 근거’(KR22-G05-KOR-CLAIM-L01)를 다시 하고, 생각과 까닭을 나누는 것부터 어렵다면 4학년 ‘의견과 이유’(KR22-G04-KOR-OPINION-L01)로 거슬러 갑니다.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읽기와비판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사실과 의견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사실과 의견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사실과 의견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“고래는 허파로 숨을 쉰다.”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“고래는 멋진 동물이다.”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둘은 무엇이 다를까?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사실과 의견의 뜻을 알고 문장을 구별할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의견과 그것을 뒷받침하는 사실을 찾고 쓸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떠올려요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“운동장에 그늘막을 설치해야 합니다. 여름에는 그늘이 없어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시간에 밖에서 놀기 어렵기 때문입니다.”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주장은 무엇인가요?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무엇인가요?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‘그늘막은 꼭 필요하기 때문입니다.’도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‘자료나 관찰로 확인할 수 있나요?’ 하고 물어요.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다를 수 있으면 의견이에요.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1957832"/>
            <a:ext cx="5431536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094992"/>
            <a:ext cx="4882896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있었던 일이나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 있는 내용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고래는 허파로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쉰다.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6208776" y="1957832"/>
            <a:ext cx="5431536" cy="2202688"/>
          </a:xfrm>
          <a:prstGeom prst="roundRect">
            <a:avLst>
              <a:gd name="adj" fmla="val 498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6483096" y="2094992"/>
            <a:ext cx="4882896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일에 대한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생각이나 판단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고래는 멋진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동물이다.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알려 주는 말</a:t>
            </a:r>
            <a:endParaRPr lang="ko-KR" sz="40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말이 있으면 의견일 때가 많아요.</a:t>
            </a:r>
            <a:endParaRPr lang="ko-KR" sz="2800" dirty="0"/>
          </a:p>
        </p:txBody>
      </p:sp>
      <p:sp>
        <p:nvSpPr>
          <p:cNvPr id="4" name="S04-card1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말은 단서일 뿐이에요. 마지막에는 ‘확인할 수 있나?’로 판단해요.</a:t>
            </a:r>
            <a:endParaRPr lang="ko-KR" sz="2800" dirty="0"/>
          </a:p>
        </p:txBody>
      </p:sp>
      <p:sp>
        <p:nvSpPr>
          <p:cNvPr id="6" name="S04-card19"/>
          <p:cNvSpPr/>
          <p:nvPr/>
        </p:nvSpPr>
        <p:spPr>
          <a:xfrm>
            <a:off x="548640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0"/>
          <p:cNvSpPr txBox="1"/>
          <p:nvPr/>
        </p:nvSpPr>
        <p:spPr>
          <a:xfrm>
            <a:off x="822960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생각을 나타내는 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~라고 생각한다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~것 같다</a:t>
            </a:r>
            <a:endParaRPr lang="ko-KR" sz="2800" dirty="0"/>
          </a:p>
        </p:txBody>
      </p:sp>
      <p:sp>
        <p:nvSpPr>
          <p:cNvPr id="8" name="S04-card21"/>
          <p:cNvSpPr/>
          <p:nvPr/>
        </p:nvSpPr>
        <p:spPr>
          <a:xfrm>
            <a:off x="4322064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4-cardtext22"/>
          <p:cNvSpPr txBox="1"/>
          <p:nvPr/>
        </p:nvSpPr>
        <p:spPr>
          <a:xfrm>
            <a:off x="4596384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바라는 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~해야 한다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~하면 좋겠다</a:t>
            </a:r>
            <a:endParaRPr lang="ko-KR" sz="2800" dirty="0"/>
          </a:p>
        </p:txBody>
      </p:sp>
      <p:sp>
        <p:nvSpPr>
          <p:cNvPr id="10" name="S04-card23"/>
          <p:cNvSpPr/>
          <p:nvPr/>
        </p:nvSpPr>
        <p:spPr>
          <a:xfrm>
            <a:off x="8095488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24"/>
          <p:cNvSpPr txBox="1"/>
          <p:nvPr/>
        </p:nvSpPr>
        <p:spPr>
          <a:xfrm>
            <a:off x="8369808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판단하는 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좋다, 아름답다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재미있다, 고맙다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 글에서 구별해요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사실이고, 어느 문장이 의견일까요?</a:t>
            </a:r>
            <a:endParaRPr lang="ko-KR" sz="2800" dirty="0"/>
          </a:p>
        </p:txBody>
      </p:sp>
      <p:sp>
        <p:nvSpPr>
          <p:cNvPr id="5" name="S05-passagebox2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꿀벌을 지켜요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꿀벌은 꽃에서 꿀과 꽃가루를 모은다.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꿀벌이 꽃 사이를 옮겨 다니면 꽃가루가 옮겨져 열매가 맺힌다.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사과나 딸기 같은 여러 과일도 꿀벌의 도움을 받아 열매를 맺는다.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나는 꿀벌이 정말 고마운 곤충이라고 생각한다.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우리 학교 화단에 꽃을 더 심어야 한다.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사실로 뒷받침해요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글은 의견을 사실로 뒷받침해요.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의견을 구별하면 글을 따져 가며 읽을 수 있어요.</a:t>
            </a:r>
            <a:endParaRPr lang="ko-KR" sz="2800" dirty="0"/>
          </a:p>
        </p:txBody>
      </p:sp>
      <p:graphicFrame>
        <p:nvGraphicFramePr>
          <p:cNvPr id="7" name="S06-table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964944"/>
          <a:ext cx="10972800" cy="914400"/>
        </p:xfrm>
        <a:graphic>
          <a:graphicData uri="http://schemas.openxmlformats.org/drawingml/2006/table">
            <a:tbl>
              <a:tblPr/>
              <a:tblGrid>
                <a:gridCol w="5047488"/>
                <a:gridCol w="5925312"/>
              </a:tblGrid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글쓴이의 의견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뒷받침하는 사실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꿀벌은 고마운 곤충이다.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②③ 꿀벌 덕분에 여러 과일이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열매를 맺는다.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화단에 꽃을 더 심어야 한다.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꿀벌은 꽃에서 꿀과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꽃가루를 모은다.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사실일까, 의견일까?</a:t>
            </a:r>
            <a:endParaRPr lang="ko-KR" sz="4000" dirty="0"/>
          </a:p>
        </p:txBody>
      </p:sp>
      <p:sp>
        <p:nvSpPr>
          <p:cNvPr id="3" name="S07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대한 문장이에요. 사실인지 의견인지 말해요.</a:t>
            </a:r>
            <a:endParaRPr lang="ko-KR" sz="2800" dirty="0"/>
          </a:p>
        </p:txBody>
      </p:sp>
      <p:sp>
        <p:nvSpPr>
          <p:cNvPr id="4" name="S07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‘확인할 수 있나요?’ 하고 물어요.</a:t>
            </a:r>
            <a:endParaRPr lang="ko-KR" sz="2800" dirty="0"/>
          </a:p>
        </p:txBody>
      </p:sp>
      <p:sp>
        <p:nvSpPr>
          <p:cNvPr id="6" name="S07-chip3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36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공원에는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은행나무가 열 그루 있다.</a:t>
            </a:r>
            <a:endParaRPr lang="ko-KR" sz="2800" dirty="0"/>
          </a:p>
        </p:txBody>
      </p:sp>
      <p:sp>
        <p:nvSpPr>
          <p:cNvPr id="8" name="S07-chip37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38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 공원은 일 년 중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아름답다.</a:t>
            </a:r>
            <a:endParaRPr lang="ko-KR" sz="2800" dirty="0"/>
          </a:p>
        </p:txBody>
      </p:sp>
      <p:sp>
        <p:nvSpPr>
          <p:cNvPr id="10" name="S07-chip3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7-text4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은행나무 잎은 가을에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노랗게 물든다.</a:t>
            </a:r>
            <a:endParaRPr lang="ko-KR" sz="2800" dirty="0"/>
          </a:p>
        </p:txBody>
      </p:sp>
      <p:sp>
        <p:nvSpPr>
          <p:cNvPr id="12" name="S07-chip41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7-text42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의자를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놓아야 한다.</a:t>
            </a:r>
            <a:endParaRPr lang="ko-KR" sz="2800" dirty="0"/>
          </a:p>
        </p:txBody>
      </p:sp>
      <p:sp>
        <p:nvSpPr>
          <p:cNvPr id="14" name="S07-chip4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15" name="S07-text4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토요일에 공원에서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음악회가 열렸다.</a:t>
            </a:r>
            <a:endParaRPr lang="ko-KR" sz="2800" dirty="0"/>
          </a:p>
        </p:txBody>
      </p:sp>
      <p:sp>
        <p:nvSpPr>
          <p:cNvPr id="16" name="S07-chip45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17" name="S07-text46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음악회는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신났다.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있으면 사실일까?</a:t>
            </a:r>
            <a:endParaRPr lang="ko-KR" sz="4000" dirty="0"/>
          </a:p>
        </p:txBody>
      </p:sp>
      <p:sp>
        <p:nvSpPr>
          <p:cNvPr id="3" name="S08-card4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문장 모두 숫자가 들어 있어요.</a:t>
            </a:r>
            <a:endParaRPr lang="ko-KR" sz="2800" dirty="0"/>
          </a:p>
        </p:txBody>
      </p:sp>
      <p:sp>
        <p:nvSpPr>
          <p:cNvPr id="5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의견일까요? 숫자보다 무엇을 보아야 할까요?</a:t>
            </a:r>
            <a:endParaRPr lang="ko-KR" sz="2800" dirty="0"/>
          </a:p>
        </p:txBody>
      </p:sp>
      <p:sp>
        <p:nvSpPr>
          <p:cNvPr id="7" name="S08-chip5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5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 반 학생은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24명이다.”</a:t>
            </a:r>
            <a:endParaRPr lang="ko-KR" sz="2800" dirty="0"/>
          </a:p>
        </p:txBody>
      </p:sp>
      <p:sp>
        <p:nvSpPr>
          <p:cNvPr id="9" name="S08-chip5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5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“하루 30분 줄넘기가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좋은 운동이다.”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뒷받침하는 사실은?</a:t>
            </a:r>
            <a:endParaRPr lang="ko-KR" sz="4000" dirty="0"/>
          </a:p>
        </p:txBody>
      </p:sp>
      <p:sp>
        <p:nvSpPr>
          <p:cNvPr id="3" name="S09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의견: “공원에 의자를 더 놓아야 한다.”</a:t>
            </a:r>
            <a:endParaRPr lang="ko-KR" sz="2800" dirty="0"/>
          </a:p>
        </p:txBody>
      </p:sp>
      <p:sp>
        <p:nvSpPr>
          <p:cNvPr id="4" name="S09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의견을 뒷받침하는 사실은 무엇일까요? 나머지는 왜 아닐까요?</a:t>
            </a:r>
            <a:endParaRPr lang="ko-KR" sz="2800" dirty="0"/>
          </a:p>
        </p:txBody>
      </p:sp>
      <p:sp>
        <p:nvSpPr>
          <p:cNvPr id="6" name="S09-chip5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09-card5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6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 전에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만들어졌다.</a:t>
            </a:r>
            <a:endParaRPr lang="ko-KR" sz="2800" dirty="0"/>
          </a:p>
        </p:txBody>
      </p:sp>
      <p:sp>
        <p:nvSpPr>
          <p:cNvPr id="9" name="S09-chip6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9-card6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6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주말에는 의자가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차서 서서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사람들이 있다.</a:t>
            </a:r>
            <a:endParaRPr lang="ko-KR" sz="2800" dirty="0"/>
          </a:p>
        </p:txBody>
      </p:sp>
      <p:sp>
        <p:nvSpPr>
          <p:cNvPr id="12" name="S09-chip6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09-card6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6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 공원은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년 중 가장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아름답다.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의견을 구별하고, ④를 뒷받침하는 사실을 찾아요.</a:t>
            </a:r>
            <a:endParaRPr lang="ko-KR" sz="2800" dirty="0"/>
          </a:p>
        </p:txBody>
      </p:sp>
      <p:sp>
        <p:nvSpPr>
          <p:cNvPr id="5" name="S10-passagebox6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도서관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별빛 도서관은 지난해 3월에 문을 열었다.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 도서관에는 어린이 책이 5,000권 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토요일마다 그림책 읽어 주기 행사가 열린다.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별빛 도서관은 우리 동네에서 가장 멋진 곳이다.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더 많은 친구들이 도서관을 이용하면 좋겠다.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숫자나 내 생각과 같은지가 아니라 ‘확인할 수 있나?’로 판단해요.</a:t>
            </a:r>
            <a:endParaRPr lang="ko-KR" sz="2800" dirty="0"/>
          </a:p>
        </p:txBody>
      </p:sp>
      <p:sp>
        <p:nvSpPr>
          <p:cNvPr id="5" name="S11-chip7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7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 ①②③</a:t>
            </a:r>
            <a:endParaRPr lang="ko-KR" sz="2800" dirty="0"/>
          </a:p>
        </p:txBody>
      </p:sp>
      <p:sp>
        <p:nvSpPr>
          <p:cNvPr id="7" name="S11-text7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있어요</a:t>
            </a:r>
            <a:endParaRPr lang="ko-KR" sz="2200" dirty="0"/>
          </a:p>
        </p:txBody>
      </p:sp>
      <p:sp>
        <p:nvSpPr>
          <p:cNvPr id="8" name="S11-text7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 ④⑤</a:t>
            </a:r>
            <a:endParaRPr lang="ko-KR" sz="2800" dirty="0"/>
          </a:p>
        </p:txBody>
      </p:sp>
      <p:sp>
        <p:nvSpPr>
          <p:cNvPr id="9" name="S11-text7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생각·판단이에요</a:t>
            </a:r>
            <a:endParaRPr lang="ko-KR" sz="2200" dirty="0"/>
          </a:p>
        </p:txBody>
      </p:sp>
      <p:sp>
        <p:nvSpPr>
          <p:cNvPr id="10" name="S11-text7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← ②③</a:t>
            </a:r>
            <a:endParaRPr lang="ko-KR" sz="2800" dirty="0"/>
          </a:p>
        </p:txBody>
      </p:sp>
      <p:sp>
        <p:nvSpPr>
          <p:cNvPr id="11" name="S11-text7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책이 많고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행사가 열려요</a:t>
            </a:r>
            <a:endParaRPr lang="ko-KR" sz="2200" dirty="0"/>
          </a:p>
        </p:txBody>
      </p:sp>
      <p:sp>
        <p:nvSpPr>
          <p:cNvPr id="12" name="S11-chip8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1-text8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④를 사실</a:t>
            </a:r>
            <a:endParaRPr lang="ko-KR" sz="2800" dirty="0"/>
          </a:p>
        </p:txBody>
      </p:sp>
      <p:sp>
        <p:nvSpPr>
          <p:cNvPr id="14" name="S11-text8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‘가장 멋진’은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판단이에요</a:t>
            </a:r>
            <a:endParaRPr lang="ko-KR" sz="2200" dirty="0"/>
          </a:p>
        </p:txBody>
      </p:sp>
      <p:sp>
        <p:nvSpPr>
          <p:cNvPr id="15" name="S11-text8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⑤를 사실</a:t>
            </a:r>
            <a:endParaRPr lang="ko-KR" sz="2800" dirty="0"/>
          </a:p>
        </p:txBody>
      </p:sp>
      <p:sp>
        <p:nvSpPr>
          <p:cNvPr id="16" name="S11-text8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찬성해도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의견이에요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쓰는 사실과 의견</a:t>
            </a:r>
            <a:endParaRPr lang="ko-KR" sz="4000" dirty="0"/>
          </a:p>
        </p:txBody>
      </p:sp>
      <p:sp>
        <p:nvSpPr>
          <p:cNvPr id="3" name="S12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장소 하나를 골라 말하고 활동지에 써요.</a:t>
            </a:r>
            <a:endParaRPr lang="ko-KR" sz="2800" dirty="0"/>
          </a:p>
        </p:txBody>
      </p:sp>
      <p:sp>
        <p:nvSpPr>
          <p:cNvPr id="4" name="S12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사실은 확인할 수 있게, 의견은 생각이 드러나게 써요.</a:t>
            </a:r>
            <a:endParaRPr lang="ko-KR" sz="2800" dirty="0"/>
          </a:p>
        </p:txBody>
      </p:sp>
      <p:sp>
        <p:nvSpPr>
          <p:cNvPr id="6" name="S12-chip8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2-text8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장소에 대한 사실 두 문장</a:t>
            </a:r>
            <a:endParaRPr lang="ko-KR" sz="2800" dirty="0"/>
          </a:p>
        </p:txBody>
      </p:sp>
      <p:sp>
        <p:nvSpPr>
          <p:cNvPr id="8" name="S12-chip9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2-text9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장소에 대한 의견 한 문장</a:t>
            </a:r>
            <a:endParaRPr lang="ko-KR" sz="2800" dirty="0"/>
          </a:p>
        </p:txBody>
      </p:sp>
      <p:sp>
        <p:nvSpPr>
          <p:cNvPr id="10" name="S12-chip9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2-text9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①의 사실이 ②의 의견을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사실은 확인할 수 있는 내용, 의견은 생각이나 판단이에요.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글은 의견을 사실로 뒷받침해요.</a:t>
            </a:r>
            <a:endParaRPr lang="ko-KR" sz="2800" dirty="0"/>
          </a:p>
        </p:txBody>
      </p:sp>
      <p:sp>
        <p:nvSpPr>
          <p:cNvPr id="5" name="S13-chip9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‘확인할 수 있나?’ 하고 묻기</a:t>
            </a:r>
            <a:endParaRPr lang="ko-KR" sz="2200" dirty="0"/>
          </a:p>
        </p:txBody>
      </p:sp>
      <p:sp>
        <p:nvSpPr>
          <p:cNvPr id="6" name="S13-chip9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찬성하는 말이면 사실로 보기</a:t>
            </a:r>
            <a:endParaRPr lang="ko-KR" sz="2200" dirty="0"/>
          </a:p>
        </p:txBody>
      </p:sp>
      <p:sp>
        <p:nvSpPr>
          <p:cNvPr id="7" name="S13-text9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99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사실과 의견의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뜻은?</a:t>
            </a:r>
            <a:endParaRPr lang="ko-KR" sz="2200" dirty="0"/>
          </a:p>
        </p:txBody>
      </p:sp>
      <p:sp>
        <p:nvSpPr>
          <p:cNvPr id="9" name="S13-text100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의견을 알려 주는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두 가지는?</a:t>
            </a:r>
            <a:endParaRPr lang="ko-KR" sz="2200" dirty="0"/>
          </a:p>
        </p:txBody>
      </p:sp>
      <p:sp>
        <p:nvSpPr>
          <p:cNvPr id="10" name="S13-text101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‘하루 30분 줄넘기가 가장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운동이다’는?</a:t>
            </a:r>
            <a:endParaRPr lang="ko-KR" sz="2200" dirty="0"/>
          </a:p>
        </p:txBody>
      </p:sp>
      <p:sp>
        <p:nvSpPr>
          <p:cNvPr id="11" name="S13-text1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관점 비교하며 읽기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물건으로 말해요</a:t>
            </a:r>
            <a:endParaRPr lang="ko-KR" sz="4000" dirty="0"/>
          </a:p>
        </p:txBody>
      </p:sp>
      <p:sp>
        <p:nvSpPr>
          <p:cNvPr id="3" name="S14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 하나로 사실과 의견을 말해 봐요.</a:t>
            </a:r>
            <a:endParaRPr lang="ko-KR" sz="2800" dirty="0"/>
          </a:p>
        </p:txBody>
      </p:sp>
      <p:sp>
        <p:nvSpPr>
          <p:cNvPr id="4" name="S14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“눈으로 보거나 재어 보면 확인할 수 있나?” 물어요.</a:t>
            </a:r>
            <a:endParaRPr lang="ko-KR" sz="2800" dirty="0"/>
          </a:p>
        </p:txBody>
      </p:sp>
      <p:sp>
        <p:nvSpPr>
          <p:cNvPr id="6" name="S14-card106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107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컵은 파란색이다.”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눈으로 확인해요.</a:t>
            </a:r>
            <a:endParaRPr lang="ko-KR" sz="2800" dirty="0"/>
          </a:p>
        </p:txBody>
      </p:sp>
      <p:sp>
        <p:nvSpPr>
          <p:cNvPr id="8" name="S14-card108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4-cardtext109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컵은 예쁘다.”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사람마다 달라요.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사실과 의견</dc:title>
  <dc:subject>KR22-G06-KOR-FACTOPIN-L01</dc:subject>
  <dc:creator>education-ppt</dc:creator>
  <cp:lastModifiedBy>education-ppt</cp:lastModifiedBy>
  <cp:revision>1</cp:revision>
  <dcterms:created xsi:type="dcterms:W3CDTF">2026-10-26T08:58:24Z</dcterms:created>
  <dcterms:modified xsi:type="dcterms:W3CDTF">2026-10-26T08:58:24Z</dcterms:modified>
</cp:coreProperties>
</file>