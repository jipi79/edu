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526d578-d50f-ec0f-b9ae-1922511e7249}">
          <p14:sldIdLst>
            <p14:sldId id="256"/>
            <p14:sldId id="257"/>
          </p14:sldIdLst>
        </p14:section>
        <p14:section name="개념" id="{b0294ca2-a4a3-2297-20f7-d0fa4ee43bef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f97b9f2a-9995-82a9-cbc3-a507f5ff2d5a}">
          <p14:sldIdLst>
            <p14:sldId id="263"/>
            <p14:sldId id="264"/>
            <p14:sldId id="265"/>
          </p14:sldIdLst>
        </p14:section>
        <p14:section name="확인" id="{150d2f43-c062-8a73-7758-30ffe677891b}">
          <p14:sldIdLst>
            <p14:sldId id="266"/>
            <p14:sldId id="267"/>
            <p14:sldId id="268"/>
          </p14:sldIdLst>
        </p14:section>
        <p14:section name="정리" id="{92146cc9-7110-04ff-4bf9-30ac10f76517}">
          <p14:sldIdLst>
            <p14:sldId id="269"/>
          </p14:sldIdLst>
        </p14:section>
        <p14:section name="보충" id="{cc39e14f-5dbf-fa19-49c8-67ec17c4b93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같은 문제를 두고도 사람마다 바라보는 입장이 다르다는 것에 관심을 갖게 합니다.
시간: 약 2분
이렇게 말해 보세요
- “우리 동네에 빈 땅이 생겼다면 무엇을 만들면 좋겠어? 엄마(아빠)는 다른 걸 원할 수도 있어.”
- “같은 문제를 두고 사람마다 생각이 다를 때가 많아. 오늘은 같은 주제를 다룬 두 글을 읽고, 무엇이 어떻게 다른지 표로 비교해 볼 거야.”
예상 답
- “놀이터요.” “축구장이요.” “엄마는 주차장을 원할 것 같아요.”
막히면
- “동생은 무엇을 원할까? 할머니는?”처럼 다른 사람의 처지를 떠올리게 합니다.
주의
- 오늘 화면의 마을, 두 글, 글쓴이는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확인(사실과 의견)]
목적: 앞 차시 ‘사실과 의견’(KR22-G06-KOR-FACTOPIN-L01)의 뜻과 구별 방법을 기억하는지 확인합니다. 오늘 두 글의 근거가 사실인지 따질 때 씁니다.
시간: 약 3분
이렇게 말해 보세요
- “사실과 의견은 무엇이 달랐지? 어떻게 구별했어?”
- “②와 ③은 ‘확인할 수 있나?’ 하고 물어볼래?”
정답
- ① 사실: 실제로 있었던 일이나 확인할 수 있는 내용, 의견: 어떤 일에 대한 생각이나 판단
- ② 사실(저녁에 골목에 가 보면 확인할 수 있음)
- ③ 의견(‘정말 위험한 곳’은 판단, 사람마다 다를 수 있음)
막히면
- “눈으로 보거나 재어 보면 확인할 수 있어? 사람마다 다르게 말할 수 있어?”라고 묻습니다.
- 세 문제 가운데 두 개 이상 답하지 못하면 S15(보충)를 먼저 하고, 앞 차시 ‘사실과 의견’을 다시 봅니다.
주의
- ②와 ③은 오늘 읽을 ‘빈터’ 글과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관점의 뜻과 관점이 달라지는 까닭]
목적: 관점의 뜻과, 글쓴이의 처지에 따라 관점이 달라진다는 것을 알려 줍니다(목표 A, 오해 M1·M3).
시간: 약 3분
이렇게 말해 보세요
- “비가 오랫동안 안 오다가 비가 내렸어. 농사짓는 사람은 어떤 마음일까? 내일 소풍 가는 아이는?”
- “같은 비인데 생각이 다르지? 서 있는 자리, 곧 처지가 달라서 중요하게 여기는 것이 달라. 이렇게 문제를 바라보는 입장을 ‘관점’이라고 해.”
- “주제는 ‘비’로 같고, 관점이 다른 거야.”
예상 답
- “농부는 곡식이 잘 자라서 좋아해요. 아이는 소풍을 못 가서 속상해요.”
막히면
- 집안의 예를 들어 줍니다. “저녁 메뉴로 동생은 짜장면, 아빠는 국밥을 원해. 무엇이 같고 무엇이 달라?”
주의
- 관점을 물었는데 주제(무엇에 대한 글인지)를 답하면 “그건 주제야. 그 주제를 어떤 입장에서 바라봐?”라고 되묻습니다(오해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 1(가 글의 관점·근거·바라는 것)]
목적: 부모가 생각을 소리 내어 말하며 가 글의 관점, 근거, 글쓴이가 바라는 것을 찾는 모습을 보여 줍니다(목표 A, 오해 M3).
시간: 약 3분
이렇게 말해 보세요
- (부모가 소리 내어 읽은 뒤) “글쓴이는 차를 모는 주민이야. 그래서 차를 댈 곳과 골목 길이 중요하겠지? 이게 이 글의 관점이야.”
- “근거는 무엇일까? ‘그래서’, ‘위험합니다’ 앞뒤를 볼까?”
- “글쓴이가 바라는 것은 마지막 문장에 있어. 무엇이야?”
예상 답
- “근거는 차가 줄지어 서서 소방차가 들어오기 어렵다는 것, 아이가 뛰어나오면 위험하다는 거예요. 바라는 것은 주차장을 만드는 거예요.”
정답
- 관점: 차를 모는 주민의 편리함과 골목의 안전을 중요하게 여김
- 근거: ① 차 댈 곳이 모자라 골목 양쪽에 차가 서서 소방차·구급차가 들어오기 어렵다. ② 세워 둔 차 사이로 아이가 뛰어나오면 운전자가 보기 어려워 위험하다.
- 바라는 것: 빈터에 주차장을 만들자.
막히면
- “이 글을 쓴 사람은 누구야? 그 사람은 날마다 무엇이 불편할까?”라고 처지부터 묻습니다.
주의
- 골목에 늘어선 차가 소방차의 길을 막을 수 있다는 것은 널리 알려진 사실입니다. 마을과 글쓴이는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 2(나 글의 관점·근거·바라는 것)]
목적: 같은 주제(빈터)를 다른 관점으로 쓴 나 글을 함께 읽고, 가 글과 견주어 봅니다(목표 A, 오해 M1).
시간: 약 3분
이렇게 말해 보세요
- “이번 글쓴이는 마을에 사는 어린이야. 이 사람은 무엇을 중요하게 여길까?”
- “가와 나는 무엇에 대한 글이야? 둘 다 빈터지? 주제는 같아. 그럼 무엇이 달라?”
예상 답
- “어린이가 놀 곳을 중요하게 여겨요. 가는 주차장, 나는 공원을 만들자고 해요.” “둘 다 골목이 위험하다고 걱정해요.”
정답
- 관점: 어린이의 놀 곳과 주민의 쉼터를 중요하게 여김
- 근거: ① 어린이가 뛰어놀 곳이 없어 차가 다니는 골목에서 공놀이를 한다. ② 나무 그늘이 생겨 여름에 주민들이 쉬어 갈 수 있다.
- 바라는 것: 빈터에 작은 공원을 만들자.
- 같은 점: 주제(빈터), 골목이 위험하다는 걱정 / 다른 점: 관점, 근거, 바라는 것
막히면
- S04를 다시 띄워 두 글의 맨 아래 글쓴이 줄과 마지막 문장을 번갈아 읽어 줍니다.
주의
- 두 글이 모두 ‘골목의 안전’을 걱정한다는 것을 아이가 찾으면 크게 칭찬합니다. S10에서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두 글을 관점·근거·바라는 것으로 비교한 표]
목적: 두 글을 관점, 근거, 글쓴이가 바라는 것의 세 줄로 표에 비교하는 방법을 보여 줍니다(목표 A, 오해 M1·M4).
시간: 약 3분
이렇게 말해 보세요
- “두 글을 세 가지로 비교했어. 관점 줄, 근거 줄, 바라는 것 줄이야.”
- “근거와 바라는 것은 다른 줄에 있지? ‘주차장을 만들자’는 근거일까, 바라는 것일까?”
- “근거 칸에는 대표 근거 하나만 적었어. 두 번째 근거도 말해 볼래?”
예상 답
- “바라는 것이에요.” “가의 두 번째 근거는 차 사이로 아이가 뛰어나오면 위험하다는 거예요. 나는 나무 그늘에서 쉴 수 있다는 거예요.”
막히면
- 표의 칸마다 S04·S05의 어느 문장에서 찾았는지 손가락으로 짚어 줍니다.
주의
- 근거와 바라는 것을 섞지 않도록 합니다(오해 M4). 활동지 1에서 같은 표를 아이가 직접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관점을 비교하며 읽는 순서]
목적: 지금까지 한 일을 관점을 비교하며 읽는 순서로 정리합니다(목표 A·B).
시간: 약 2분
이렇게 말해 보세요
- “빈터 글 두 편을 읽을 때 우리가 이 순서로 했어. 같이 읽어 볼까?”
- “3번에서 근거가 사실인지 살피는 건 지난 시간에 배운 거야.”
예상 답
- 아이가 1~5를 자기 말로 다시 말합니다.
막히면
- S04~S06을 차례로 넘기며 단계마다 무엇을 했는지 짚어 봅니다.
주의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비교하기(짧은 두 의견)]
목적: 짧은 두 의견에서 관점·근거·바라는 것을 함께 찾아 비교합니다(목표 A). 활동지 2의 표에 씁니다.
시간: 약 3분
이렇게 말해 보세요
- “다는 누구야? 그래서 무엇을 중요하게 여길까? 라는?”
- “S06의 표처럼 관점, 근거, 바라는 것을 하나씩 말해 볼래?”
정답
- 다 – 관점: 공놀이의 즐거움과 몸을 움직이는 것 / 근거: 기분이 상쾌하고 친구와 협동하는 법을 배운다 / 바라는 것: 공놀이를 마음껏 하게 해 달라.
- 라 – 관점: 어린 학생들의 안전 / 근거: 지난주에 공에 맞아 다친 1학년이 있었다 / 바라는 것: 정해진 구역에서만 공놀이를 하자.
막히면
- “다는 공놀이를 좋아하고, 라는 동생이 다칠까 봐 걱정해. 그럼 각자 무엇이 가장 중요할까?”라고 처지를 먼저 짚어 줍니다.
주의
- 라의 근거(지난주에 다친 1학년이 있었다)는 확인할 수 있는 사실, 다의 근거(기분이 상쾌하다)는 느낌이 섞여 있다는 것을 아이가 찾으면 칭찬합니다. S10에서 근거를 따집니다.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비교(관점이 다르면 한쪽은 틀렸다)]
목적: 관점이 다르다는 것만으로 한쪽을 틀렸다고 하지 않고, 근거를 따져 내 관점을 정하는 태도를 비교합니다(목표 B, 오해 M2).
시간: 약 2분
이렇게 말해 보세요
- “마는 왜 공원이 틀렸다고 했어? 그건 근거를 따진 걸까, 자기 생각을 말한 걸까?”
- “관점은 맞고 틀림이 있는 걸까, 무엇을 중요하게 보느냐의 차이일까?”
정답
- 바가 알맞습니다. 관점은 무엇을 중요하게 보는지의 차이라서 맞고 틀림으로 가를 수 없습니다. 두 글의 근거가 사실인지, 알맞은지 따져 본 뒤 내 관점을 정해야 합니다.
- 마는 ‘차가 더 중요하다’는 자기 생각만으로 다른 관점을 틀렸다고 했습니다.
막히면
- S03의 비 오는 날 예를 다시 보여 주고 “농부와 소풍 가는 아이 가운데 누가 틀렸어?”라고 묻습니다.
주의
- 아이가 주차장이나 공원 한쪽을 지지하는 것은 괜찮습니다. 다른 관점을 ‘틀렸다’고 하지 않는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두 글의 근거 따지기와 함께 이룰 방법 찾기]
목적: 두 글의 근거가 확인할 수 있는 사실인지 따지고, 두 관점이 함께 걱정하는 것과 함께 이룰 방법을 생각해 봅니다(목표 B, 오해 M2). 활동지 3에 씁니다.
시간: 약 3분
이렇게 말해 보세요
- “가의 근거, 골목에 차가 줄지어 서서 소방차가 들어오기 어렵다는 건 확인할 수 있을까? 어떻게?”
- “나의 근거는? 두 글이 모두 걱정하는 것이 있었지? 둘 다 만족할 방법은 없을까?”
정답
- ① 사실입니다. 저녁에 골목에 가서 늘어선 차와 길 폭을 보면 확인할 수 있습니다(소방서에 물어볼 수도 있음).
- ② 근거 ‘골목에서 공놀이를 한다’는 가서 보면 확인할 수 있는 사실입니다. ‘나무 그늘에서 쉬어 갈 수 있다’는 나무가 그늘을 만든다는 사실에 바탕을 두고 있습니다.
- ③ 골목의 안전(아이들이 차 때문에 위험함)
- ④ 예: 빈터를 나누어 한쪽은 주차장, 한쪽은 놀이터와 나무가 있는 쉼터로 만든다. (두 글의 바람을 모두 생각한 방법이면 맞음)
막히면
- S02의 질문(‘확인할 수 있나?’)을 다시 떠올리게 하고, 근거 문장마다 묻습니다.
주의
- ④는 정답이 하나가 아닙니다. 두 관점을 모두 생각했는지를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비교하기(새 주제의 두 글)]
목적: 도움 없이 처음 읽는 두 글의 관점·근거·바라는 것을 찾아 표로 비교하는지 확인합니다(목표 A, 오해 M1·M4). 활동지 4의 표에 씁니다.
시간: 약 5분
이렇게 말해 보세요
- “이번에는 혼자 해 볼래? S07의 순서대로 읽고 활동지 4의 표를 채워 줘.”
정답
- 다 – 관점: 방학의 쉼과 새로운 체험을 중요하게 여김 / 근거: 숙제에 쫓기면 방학에만 할 수 있는 체험을 놓치기 쉽다 / 바라는 것: 방학 숙제 대신 마음껏 쉬고 여행하게 하자(숙제를 없애자).
- 라 – 관점: 공부 습관과 생활 리듬을 중요하게 여김 / 근거: 오래 쉬면 익혀 둔 내용을 잊기 쉽다, 적은 숙제가 생활 리듬을 지켜 준다 / 바라는 것: 하루 20분쯤 공부하는 숙제를 내자.
- 칸마다 알맞은 내용을 쓰면 맞음(표현은 달라도 됨).
막히면
- “다는 누구야? 그 사람에게 방학은 어떤 시간일까? 라는?”처럼 글쓴이의 처지부터 묻습니다.
- 도움을 받아 정리했다면 기록표에 ‘도움’으로 표시합니다.
주의
- 관점 칸에 ‘방학 숙제’라고 쓰면 주제를 쓴 것입니다(오해 M1). 바라는 것을 근거 칸에 쓰면 칸을 다시 확인하게 합니다(오해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아이가 채운 표를 확인하고 흔한 실수와 비교합니다.
시간: 약 1분
이렇게 말해 보세요
- “네 표와 왼쪽을 견주어 볼래? 표현이 달라도 뜻이 같으면 맞아.”
예상 답
- “관점 칸에 ‘방학 숙제’라고 썼어요. 그건 주제네요.”
정답
- 다: 관점 – 쉼과 새로운 체험 / 근거 – 숙제에 쫓기면 체험을 놓친다 / 바라는 것 – 숙제 대신 쉬고 여행하기. 라: 관점 – 공부 습관과 생활 리듬 / 근거 – 오래 쉬면 익힌 내용을 잊기 쉽다, 생활 리듬을 지켜 준다 / 바라는 것 – 하루 20분 공부하는 숙제
막히면
- 틀린 칸이 있으면 S06의 표와 견주어 그 칸이 무엇을 묻는지 다시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확인(내 관점을 정해 근거와 함께 말하기)]
목적: 두 관점을 견주어 내 관점을 정하고, 근거와 다른 관점에서 인정할 점을 함께 말하는지 확인합니다(목표 B, 오해 M2). 활동지 5에 씁니다.
시간: 약 4분
이렇게 말해 보세요
- “너는 방학 숙제가 있어야 한다고 생각해, 없어야 한다고 생각해? 아니면 다른 생각이 있어?”
- “그렇게 생각하는 근거를 두 가지 말해 볼래? 하나는 확인할 수 있는 사실이면 좋아.”
- “반대쪽 생각에서도 ‘이건 맞는 말이야’ 싶은 점이 있어?”
예상 답
- 예: “방학 숙제는 조금만 있으면 좋겠어요. 지난 방학에 숙제 없이 지냈더니 개학하고 구구단이 헷갈렸어요(겪은 사실). 그리고 일기를 쓰면 여행한 일을 기억할 수 있어요. 그래도 다의 말처럼 숙제가 너무 많으면 쉬기 어렵다는 점은 인정해요.”
정답
- 기준: ① 내 관점(바라는 것)이 한 문장으로 드러남 ② 근거 두 가지 가운데 하나 이상이 확인할 수 있는 사실(겪은 일 포함) ③ 다른 관점에서 인정할 점 한 가지를 말함. 세 가지를 모두 지키면 목표 B 달성, 두 가지면 거의 달성으로 봅니다. 어느 쪽 관점을 고르든 맞습니다.
막히면
- 부모가 먼저 자기 관점을 예로 말해 주고(“엄마는 숙제가 조금 있으면 좋겠어. 왜냐하면…”), 아이는 다른 관점으로 말하게 해도 좋습니다.
- 도움을 받아 말했다면 기록표에 ‘도움’으로 표시합니다.
주의
- ③에서 “인정할 점은 없어요.”라고 하면 S09를 떠올리게 하고, 다른 관점의 근거 가운데 사실인 것을 찾아보게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“관점이 다른 두 글을 어떻게 읽으면 되는지 한 문장으로 말해 볼래?”
예상 답
- “관점, 근거, 바라는 것을 표로 비교하고, 근거가 사실인지 따져서 내 생각을 정해요.”
정답
- ① 어떤 문제를 바라보는 입장이나 생각의 방향 ② 관점, 근거, 글쓴이가 바라는 것 ③ 글쓴이의 처지와 무엇을 중요하게 여기는지가 다르기 때문
막히면
- S03과 S06을 다시 보여 줍니다.
주의
- 집에서 어떤 일을 정할 때 “아빠의 관점에서는? 네 관점에서는?”이라고 물어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보충(입장 바꾸어 말하기)]
목적: 짧은 상황을 두 사람의 입장에서 말해 보며, 처지에 따라 관점이 달라진다는 것을 다집니다.
시간: 약 4분
이렇게 말해 보세요
- “운전하는 사람은 왜 불편할까? 학생은 왜 좋을까?”
- “이번엔 네가 해 볼래? ‘아파트 놀이터에 밤 9시까지 불을 켜 둔다.’를 놀이터 옆 집에 사는 사람과 놀고 싶은 어린이의 입장에서 말해 봐.”
정답
- 예: 놀이터 옆 집에 사는 사람 – “밤에 불빛과 소리 때문에 잠들기 어려워요.” / 어린이 – “저녁에도 놀 수 있어서 좋아요.” (두 입장의 생각과 까닭이 드러나면 맞음)
막히면
- 부모가 한 사람의 입장을 맡아 먼저 말하고, 아이가 다른 사람의 입장을 맡게 합니다.
- 보충으로도 어려우면 계획의 선수 차시 ‘사실과 의견’(KR22-G06-KOR-FACTOPIN-L01)을 다시 하고, 생각과 근거를 나누는 것부터 어렵다면 5학년 ‘주장과 근거’(KR22-G05-KOR-CLAIM-L01)로 거슬러 갑니다.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비교하며 읽기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빈터를 두고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생각이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주제를 다룬 두 글의 관점과 근거를 비교할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관점을 견주어 내 생각을 근거와 함께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사실과 의견을 떠올려 답해요.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의견의 뜻은?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‘저녁마다 골목 양쪽에 차가 서 있다.’는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사실일까요, 의견일까요?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‘우리 골목은 정말 위험한 곳이다.’는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사실일까요, 의견일까요?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관점이란?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주제라도 관점에 따라 근거와 바라는 것이 달라져요.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바라보는 입장이나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생각의 방향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글쓴이의 처지와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중요하게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여기는지가 달라서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비 오는 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농부는 반갑고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소풍 가는 아이는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빈터에 주차장을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무엇을 중요하게 여기나요? 근거와 바라는 것은?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빈터에 주차장을 만듭시다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마을에는 차를 댈 곳이 모자라 저녁마다 골목 양쪽에 차가 줄지어 서 있습니다. 그래서 길이 좁아져 소방차나 구급차가 들어오기 어렵습니다.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세워 둔 차 사이로 아이가 뛰어나오면 운전자가 미리 보기 어려워 위험합니다. 빈터에 주차장을 만들어 골목을 넓고 안전하게 합시다.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차를 모는 이웃 주민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빈터에 공원을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무엇이 같고, 무엇이 다른가요?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빈터에 작은 공원을 만듭시다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마을에는 어린이가 마음껏 뛰어놀 곳이 없습니다. 그래서 아이들은 차가 다니는 골목에서 공놀이를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빈터에 나무를 심고 놀이터를 만들면 아이들이 안전하게 놀 수 있습니다. 나무 그늘이 생겨 여름에 주민들이 쉬어 갈 수도 있습니다. 빈터에 작은 공원을 만듭시다.</a:t>
            </a:r>
            <a:endParaRPr lang="ko-KR" sz="30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마을에 사는 6학년 어린이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비교하면</a:t>
            </a:r>
            <a:endParaRPr lang="ko-KR" sz="4000" dirty="0"/>
          </a:p>
        </p:txBody>
      </p:sp>
      <p:sp>
        <p:nvSpPr>
          <p:cNvPr id="3" name="S06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마을 빈터를 어떻게 쓸까?</a:t>
            </a:r>
            <a:endParaRPr lang="ko-KR" sz="2800" dirty="0"/>
          </a:p>
        </p:txBody>
      </p:sp>
      <p:sp>
        <p:nvSpPr>
          <p:cNvPr id="4" name="S06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같지만 무엇을 중요하게 보는지(관점)가 달라요.</a:t>
            </a:r>
            <a:endParaRPr lang="ko-KR" sz="28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2128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4498848"/>
                <a:gridCol w="4498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주차장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공원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차를 모는 주민의 편리함,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골목 안전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어린이가 놀 곳,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주민의 쉼터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 골목에 줄지어 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소방차가 들어오기 어렵다.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 곳이 없어 아이들이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골목에서 공놀이를 한다.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바라는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빈터에 주차장을 만들자.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빈터에 작은 공원을 만들자.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관점을 비교하며 읽는 순서</a:t>
            </a:r>
            <a:endParaRPr lang="ko-KR" sz="4000" dirty="0"/>
          </a:p>
        </p:txBody>
      </p:sp>
      <p:sp>
        <p:nvSpPr>
          <p:cNvPr id="3" name="S07-stepno30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07-text31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글의 주제가 같은지 확인해요.</a:t>
            </a:r>
            <a:endParaRPr lang="ko-KR" sz="28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누구이고 무엇을 중요하게 여기는지 찾아요.</a:t>
            </a:r>
            <a:endParaRPr lang="ko-KR" sz="28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찾고 사실인지 살펴요.</a:t>
            </a:r>
            <a:endParaRPr lang="ko-KR" sz="28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바라는 것을 찾아요.</a:t>
            </a:r>
            <a:endParaRPr lang="ko-KR" sz="28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정리하고 내 관점을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의견을 비교해요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쉬는 시간에 운동장에서 공놀이를 해도 될까?</a:t>
            </a:r>
            <a:endParaRPr lang="ko-KR" sz="28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관점, 근거, 바라는 것을 말해 봐요.</a:t>
            </a:r>
            <a:endParaRPr lang="ko-KR" sz="28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축구를 좋아하는 학생</a:t>
            </a:r>
            <a:endParaRPr lang="ko-KR" sz="22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“쉬는 시간에 공놀이를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움직여 기분이 상쾌하고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협동하는 법을 배워요.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마음껏 하게 해 주세요.”</a:t>
            </a:r>
            <a:endParaRPr lang="ko-KR" sz="28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1학년 동생이 있는 학생</a:t>
            </a:r>
            <a:endParaRPr lang="ko-KR" sz="22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“지난주에 공에 맞아 다친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동생이 있었어요.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공놀이는 정해진 구역에서만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좋겠어요.”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한쪽은 틀린 글일까?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 글 가와 나를 읽고 두 친구가 한 말이에요.</a:t>
            </a:r>
            <a:endParaRPr lang="ko-KR" sz="2800" dirty="0"/>
          </a:p>
        </p:txBody>
      </p:sp>
      <p:sp>
        <p:nvSpPr>
          <p:cNvPr id="5" name="S09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읽기 태도가 더 알맞을까요? 까닭은?</a:t>
            </a:r>
            <a:endParaRPr lang="ko-KR" sz="2800" dirty="0"/>
          </a:p>
        </p:txBody>
      </p:sp>
      <p:sp>
        <p:nvSpPr>
          <p:cNvPr id="7" name="S09-chip5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8" name="S09-text5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“주차장이 맞고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공원은 틀렸어요.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더 중요하니까요.”</a:t>
            </a:r>
            <a:endParaRPr lang="ko-KR" sz="2800" dirty="0"/>
          </a:p>
        </p:txBody>
      </p:sp>
      <p:sp>
        <p:nvSpPr>
          <p:cNvPr id="9" name="S09-chip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10" name="S09-text5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근거가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사실인지 따져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정할래요.”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 봐요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 글 가와 나의 근거를 따져 봐요.</a:t>
            </a:r>
            <a:endParaRPr lang="ko-KR" sz="2800" dirty="0"/>
          </a:p>
        </p:txBody>
      </p:sp>
      <p:sp>
        <p:nvSpPr>
          <p:cNvPr id="4" name="S10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확인할 수 있는 사실이면 더 믿음이 가요.</a:t>
            </a:r>
            <a:endParaRPr lang="ko-KR" sz="2800" dirty="0"/>
          </a:p>
        </p:txBody>
      </p:sp>
      <p:sp>
        <p:nvSpPr>
          <p:cNvPr id="6" name="S10-chip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근거는 사실인가요?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확인할까요?</a:t>
            </a:r>
            <a:endParaRPr lang="ko-KR" sz="2800" dirty="0"/>
          </a:p>
        </p:txBody>
      </p:sp>
      <p:sp>
        <p:nvSpPr>
          <p:cNvPr id="8" name="S10-chip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근거는 사실인가요?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확인할까요?</a:t>
            </a:r>
            <a:endParaRPr lang="ko-KR" sz="2800" dirty="0"/>
          </a:p>
        </p:txBody>
      </p:sp>
      <p:sp>
        <p:nvSpPr>
          <p:cNvPr id="10" name="S10-chip6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글이 함께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걱정하는 것은?</a:t>
            </a:r>
            <a:endParaRPr lang="ko-KR" sz="2800" dirty="0"/>
          </a:p>
        </p:txBody>
      </p:sp>
      <p:sp>
        <p:nvSpPr>
          <p:cNvPr id="12" name="S10-chip6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바람을 함께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이룰 방법은?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다와 라의 관점, 근거, 바라는 것을 찾아 표로 정리해요.</a:t>
            </a:r>
            <a:endParaRPr lang="ko-KR" sz="2800" dirty="0"/>
          </a:p>
        </p:txBody>
      </p:sp>
      <p:sp>
        <p:nvSpPr>
          <p:cNvPr id="5" name="S11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방학 숙제가 있어야 할까?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다(5학년 학생)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방학에는 숙제 대신 마음껏 쉬고, 가족과 여행하며 새로운 것을 겪어야 합니다. 숙제에 쫓기면 방학에만 할 수 있는 체험을 놓치기 쉽습니다.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라(학생의 보호자)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방학에도 하루 20분쯤 공부하는 숙제가 있어야 합니다. 오래 쉬면 익혀 둔 내용을 잊기 쉽고, 적은 양의 숙제가 생활 리듬을 지켜 주기 때문입니다.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같고, 무엇을 중요하게 보는지(관점)가 달라요.</a:t>
            </a:r>
            <a:endParaRPr lang="ko-KR" sz="2800" dirty="0"/>
          </a:p>
        </p:txBody>
      </p:sp>
      <p:sp>
        <p:nvSpPr>
          <p:cNvPr id="5" name="S12-chip7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74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– 다: 쉼과 체험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라: 공부 습관과 생활 리듬</a:t>
            </a:r>
            <a:endParaRPr lang="ko-KR" sz="2800" dirty="0"/>
          </a:p>
        </p:txBody>
      </p:sp>
      <p:sp>
        <p:nvSpPr>
          <p:cNvPr id="7" name="S12-text75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– 다: 체험을 놓치기 쉽다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라: 익힌 내용을 잊기 쉽다</a:t>
            </a:r>
            <a:endParaRPr lang="ko-KR" sz="2800" dirty="0"/>
          </a:p>
        </p:txBody>
      </p:sp>
      <p:sp>
        <p:nvSpPr>
          <p:cNvPr id="8" name="S12-text76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 – 다: 숙제 대신 쉬고 여행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라: 하루 20분 숙제</a:t>
            </a:r>
            <a:endParaRPr lang="ko-KR" sz="2800" dirty="0"/>
          </a:p>
        </p:txBody>
      </p:sp>
      <p:sp>
        <p:nvSpPr>
          <p:cNvPr id="9" name="S12-chip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0" name="S12-text78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관점: 방학 숙제</a:t>
            </a:r>
            <a:endParaRPr lang="ko-KR" sz="2800" dirty="0"/>
          </a:p>
        </p:txBody>
      </p:sp>
      <p:sp>
        <p:nvSpPr>
          <p:cNvPr id="11" name="S12-text79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주제예요</a:t>
            </a:r>
            <a:endParaRPr lang="ko-KR" sz="2200" dirty="0"/>
          </a:p>
        </p:txBody>
      </p:sp>
      <p:sp>
        <p:nvSpPr>
          <p:cNvPr id="12" name="S12-text80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숙제를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없애자</a:t>
            </a:r>
            <a:endParaRPr lang="ko-KR" sz="2800" dirty="0"/>
          </a:p>
        </p:txBody>
      </p:sp>
      <p:sp>
        <p:nvSpPr>
          <p:cNvPr id="13" name="S12-text81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것이에요</a:t>
            </a:r>
            <a:endParaRPr lang="ko-KR" sz="2200" dirty="0"/>
          </a:p>
        </p:txBody>
      </p:sp>
      <p:sp>
        <p:nvSpPr>
          <p:cNvPr id="14" name="S12-text82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“라는 틀렸어요.”</a:t>
            </a:r>
            <a:endParaRPr lang="ko-KR" sz="2800" dirty="0"/>
          </a:p>
        </p:txBody>
      </p:sp>
      <p:sp>
        <p:nvSpPr>
          <p:cNvPr id="15" name="S12-text83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관점은 맞고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틀림이 아니에요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관점을 정해요</a:t>
            </a:r>
            <a:endParaRPr lang="ko-KR" sz="4000" dirty="0"/>
          </a:p>
        </p:txBody>
      </p:sp>
      <p:sp>
        <p:nvSpPr>
          <p:cNvPr id="3" name="S13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방학 숙제에 대한 다와 라를 견주어 말하고 활동지에 써요.</a:t>
            </a:r>
            <a:endParaRPr lang="ko-KR" sz="2800" dirty="0"/>
          </a:p>
        </p:txBody>
      </p:sp>
      <p:sp>
        <p:nvSpPr>
          <p:cNvPr id="4" name="S13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관점을 틀렸다고 하지 말고, 인정할 점도 찾아요.</a:t>
            </a:r>
            <a:endParaRPr lang="ko-KR" sz="2800" dirty="0"/>
          </a:p>
        </p:txBody>
      </p:sp>
      <p:sp>
        <p:nvSpPr>
          <p:cNvPr id="6" name="S13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8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관점은? 바라는 것을 한 문장으로</a:t>
            </a:r>
            <a:endParaRPr lang="ko-KR" sz="2800" dirty="0"/>
          </a:p>
        </p:txBody>
      </p:sp>
      <p:sp>
        <p:nvSpPr>
          <p:cNvPr id="8" name="S13-chip8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9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관점의 근거 두 가지(사실 하나 이상)</a:t>
            </a:r>
            <a:endParaRPr lang="ko-KR" sz="2800" dirty="0"/>
          </a:p>
        </p:txBody>
      </p:sp>
      <p:sp>
        <p:nvSpPr>
          <p:cNvPr id="10" name="S13-chip9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3-text9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관점에서 인정할 점 한 가지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관점은 문제를 바라보는 입장이에요. 같은 주제의 두 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관점·근거·바라는 것을 표로 비교하며 읽어요.</a:t>
            </a:r>
            <a:endParaRPr lang="ko-KR" sz="2800" dirty="0"/>
          </a:p>
        </p:txBody>
      </p:sp>
      <p:sp>
        <p:nvSpPr>
          <p:cNvPr id="5" name="S14-chip9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근거가 사실인지 따지기</a:t>
            </a:r>
            <a:endParaRPr lang="ko-KR" sz="2200" dirty="0"/>
          </a:p>
        </p:txBody>
      </p:sp>
      <p:sp>
        <p:nvSpPr>
          <p:cNvPr id="6" name="S14-chip9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생각이 다르면 틀렸다고 하기</a:t>
            </a:r>
            <a:endParaRPr lang="ko-KR" sz="2200" dirty="0"/>
          </a:p>
        </p:txBody>
      </p:sp>
      <p:sp>
        <p:nvSpPr>
          <p:cNvPr id="7" name="S14-text9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4-text9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글을 비교할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200" dirty="0"/>
          </a:p>
        </p:txBody>
      </p:sp>
      <p:sp>
        <p:nvSpPr>
          <p:cNvPr id="10" name="S14-text10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같은 주제인데 관점이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달라지는 까닭은?</a:t>
            </a:r>
            <a:endParaRPr lang="ko-KR" sz="2200" dirty="0"/>
          </a:p>
        </p:txBody>
      </p:sp>
      <p:sp>
        <p:nvSpPr>
          <p:cNvPr id="11" name="S14-text1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근거의 타당성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입장 바꾸어 말해요</a:t>
            </a:r>
            <a:endParaRPr lang="ko-KR" sz="4000" dirty="0"/>
          </a:p>
        </p:txBody>
      </p:sp>
      <p:sp>
        <p:nvSpPr>
          <p:cNvPr id="3" name="S15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두 사람의 입장에서 말해 봐요.</a:t>
            </a:r>
            <a:endParaRPr lang="ko-KR" sz="2800" dirty="0"/>
          </a:p>
        </p:txBody>
      </p:sp>
      <p:sp>
        <p:nvSpPr>
          <p:cNvPr id="4" name="S15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입장인지에 따라 바라보는 생각(관점)이 달라요.</a:t>
            </a:r>
            <a:endParaRPr lang="ko-KR" sz="2800" dirty="0"/>
          </a:p>
        </p:txBody>
      </p:sp>
      <p:sp>
        <p:nvSpPr>
          <p:cNvPr id="6" name="S15-card10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0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도로에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생겼어요.</a:t>
            </a:r>
            <a:endParaRPr lang="ko-KR" sz="2800" dirty="0"/>
          </a:p>
        </p:txBody>
      </p:sp>
      <p:sp>
        <p:nvSpPr>
          <p:cNvPr id="8" name="S15-card10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10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“조금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기다려야 해서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불편해요.”</a:t>
            </a:r>
            <a:endParaRPr lang="ko-KR" sz="2800" dirty="0"/>
          </a:p>
        </p:txBody>
      </p:sp>
      <p:sp>
        <p:nvSpPr>
          <p:cNvPr id="10" name="S15-card10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1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“길을 안전하게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건널 수 있어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관점 비교하며 읽기</dc:title>
  <dc:subject>KR22-G06-KOR-VIEWPOINT-L01</dc:subject>
  <dc:creator>education-ppt</dc:creator>
  <cp:lastModifiedBy>education-ppt</cp:lastModifiedBy>
  <cp:revision>1</cp:revision>
  <dcterms:created xsi:type="dcterms:W3CDTF">2026-10-26T08:55:44Z</dcterms:created>
  <dcterms:modified xsi:type="dcterms:W3CDTF">2026-10-26T08:55:44Z</dcterms:modified>
</cp:coreProperties>
</file>