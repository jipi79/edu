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0d615b8-b32c-3bc7-d580-8ff450d9a87e}">
          <p14:sldIdLst>
            <p14:sldId id="256"/>
            <p14:sldId id="257"/>
          </p14:sldIdLst>
        </p14:section>
        <p14:section name="개념" id="{f6739871-aeb2-66b5-674a-90dd871c051c}">
          <p14:sldIdLst>
            <p14:sldId id="258"/>
            <p14:sldId id="259"/>
            <p14:sldId id="260"/>
            <p14:sldId id="261"/>
          </p14:sldIdLst>
        </p14:section>
        <p14:section name="연습" id="{b4962134-bf28-4528-a74b-529d4e5d1631}">
          <p14:sldIdLst>
            <p14:sldId id="262"/>
            <p14:sldId id="263"/>
            <p14:sldId id="264"/>
          </p14:sldIdLst>
        </p14:section>
        <p14:section name="확인" id="{1ee75a81-8756-54b8-20b4-ce58cbee2eaa}">
          <p14:sldIdLst>
            <p14:sldId id="265"/>
            <p14:sldId id="266"/>
            <p14:sldId id="267"/>
          </p14:sldIdLst>
        </p14:section>
        <p14:section name="정리" id="{8dbc424c-72a9-91bd-9abe-c5648b5b9bfd}">
          <p14:sldIdLst>
            <p14:sldId id="268"/>
          </p14:sldIdLst>
        </p14:section>
        <p14:section name="보충" id="{4be30108-24fe-cd58-8535-36e86617b91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그럴듯한 근거도 따져 보아야 한다는 것을 느끼게 하며 오늘 배울 것을 알립니다.
시간: 약 2분
이렇게 말해 보세요
- “누가 ‘이 과자를 먹으면 누구나 키가 큰대. 인터넷에서 봤어.’라고 하면 바로 믿을 거야? 무엇이 궁금해?”
- “주장을 받쳐 주는 까닭을 근거라고 했지. 근거가 이치에 맞아 믿을 만한 것을 ‘타당하다’고 해. 오늘은 근거가 타당한지 따지는 세 기준을 배울 거야.”
예상 답
- “누가 그랬는지 궁금해요.” “진짜인지 모르겠어요.” “그냥 믿을래요.”
막히면
- “같은 말을 동네 형이 한 것과, 어린이 건강을 연구하는 의사가 한 것 중 어느 쪽을 더 믿겠어?”라고 묻습니다.
주의
- ‘그냥 믿을래요’라고 해도 괜찮습니다. 수업 끝에 같은 질문을 다시 해 보면 달라진 생각을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확인(관점과 근거 찾기)]
목적: 6학년 ‘관점 비교하며 읽기’에서 배운, 같은 주제를 다룬 글의 주장과 근거를 찾고 관점을 견주는 힘이 있는지 확인합니다. 오늘은 이 근거들이 얼마나 타당한지 따집니다.
시간: 약 3분
이렇게 말해 보세요
- “가와 나는 같은 주제를 다루지만 주장이 달라. 각각 주장과 근거를 손가락으로 짚어 볼래?”
- “가는 무엇을 더 중요하게 생각했고, 나는 무엇을 더 중요하게 생각했을까?”
정답
- 가: 주장 — 자리는 한 달마다 바꾸어야 한다 / 근거 — 여러 친구와 골고루 가까워질 수 있다 / 관점 — 친구 사귀기를 중요하게 봄
- 나: 주장 — 자리는 한 학기 동안 그대로 두어야 한다 / 근거 — 자리에 익숙해야 수업에 집중하기 쉽다 / 관점 — 공부 집중을 중요하게 봄
막히면
- “이 사람이 하자고 하는 것은 뭐야? 왜 그래야 한대?” 두 질문으로 나누어 묻습니다.
- 주장과 근거를 나누지 못하면 S14(보충)를 먼저 하고, 그래도 어려우면 6학년 ‘관점 비교하며 읽기’나 5학년 ‘주장과 근거’(KR22-G05-KOR-CLAIM-L01)를 다시 합니다.
주의
- 관점을 ‘친구’, ‘공부’처럼 낱말 하나로 말해도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타당한 근거의 세 기준]
목적: 근거가 타당한지 따지는 세 기준을 알려 줍니다(목표 A·B).
시간: 약 3분
이렇게 말해 보세요
- “5학년 때 근거마다 ‘관련이 있나? 사실인가? 믿을 만한가?’를 물었지. 6학년에서는 더 꼼꼼하게 따질 거야.”
- “첫째, 뒷받침. 주제만 같은 게 아니라 주장이 옳은 까닭이 되어야 해. 둘째, 사실. 확인할 수 있고 부풀리지 않아야 해. 셋째, 출처. 누가, 언제, 어떻게 알아낸 것인지 따져.”
- “‘타당하다’는 이치에 맞아 옳다는 뜻이야. 세 기준을 다 통과한 근거를 타당한 근거라고 해.”
예상 답
- “뒷받침, 사실, 출처요.”
막히면
- S01의 과자 예로 세 기준을 하나씩 물어봅니다. “키가 크는 것이 과자를 먹어야 하는 까닭이 돼? 누구나 큰다는 게 사실이야? 인터넷의 누가 쓴 거야?”
주의
- 세 기준은 5학년 ‘주장과 근거’의 관련·사실·믿을 만함과 같은 뿌리입니다. 오늘 새로 더하는 것은 ‘주제만 같은 근거’와 출처의 ‘누가·언제·어떻게’입니다.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뒷받침 기준(주제만 같은 근거)]
목적: 주제가 같고 사실이어도 주장을 뒷받침하지 못하면 타당한 근거가 아니라는 것을 보여 줍니다(목표 A, 오해 M1).
시간: 약 3분
이렇게 말해 보세요
- “가와 나는 둘 다 도서관 이야기야. 주장 뒤에 ‘왜냐하면’을 붙여 읽어 볼게. ‘점심시간에도 열어야 해. 왜냐하면 책이 3천 권 넘게 있으니까.’ 어때? 책이 많은 것과 점심시간에 여는 것이 이어져?”
- “나를 이어 읽어 볼래? 나는 지금 무엇이 문제인지, 그래서 왜 점심시간에도 열어야 하는지 알려 주지.”
예상 답
- “가는 책이 많다는 것만 말하고 왜 점심시간에 열어야 하는지는 말하지 않아요.”
정답
- 가: 도서관에 대한 사실이지만 점심시간에도 열어야 하는 까닭이 되지 못합니다(뒷받침 ×).
- 나: 지금 시간으로는 빌리기 어려운 학생이 있다는 문제를 들어 주장을 뒷받침합니다(뒷받침 ○).
막히면
- “책이 3천 권 있으면 꼭 점심시간에 열어야 할까? 방과 후에만 열어도 책은 3천 권이잖아.”라고 묻습니다.
주의
- 가가 틀린 말은 아닙니다. ‘사실이지만 주장을 받쳐 주지 못하는 근거’라는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사실 기준(부풀린 근거)]
목적: 숫자와 ‘누구나’ 같은 말이 들어가도 확인할 수 없거나 부풀린 말이면 사실 기준에 걸린다는 것을 보여 줍니다(목표 A, 오해 M2).
시간: 약 3분
이렇게 말해 보세요
- “가에는 숫자까지 있어서 그럴듯해 보이지? 그런데 하루 한 번 계단을 오르면 정말 모든 사람이 한 달에 5 kg씩 빠질까?”
- “‘누구나’, ‘반드시’, ‘모두’, ‘절대’ 같은 말이 보이면 한 번 더 의심해 봐. 나는 누구나 겪어서 확인할 수 있는 말이야.”
예상 답
- “‘누구나’랑 ‘한 달 만에 5 kg’이 부풀린 말이에요.”
정답
- 가: ‘누구나’, ‘한 달 만에 5 kg’이 부풀린 말입니다. 확인할 수 없고 사실이라고 보기 어렵습니다(사실 ×).
- 나: 계단을 오르면 다리 근육을 쓰는 것은 누구나 확인할 수 있는 사실이고 주장을 뒷받침합니다(사실 ○).
막히면
- “우리 가족이 모두 하루 한 번 계단을 오르면 한 달 뒤에 모두 5 kg이 빠져 있을까?”라고 집 안의 예로 묻습니다.
주의
- 몸무게 이야기가 아이에게 예민하다면 ‘키가 쑥쑥 큰다’처럼 다른 부풀린 말로 바꾸어 설명해도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출처 기준(누가·언제·어떻게)]
목적: 근거에 쓰인 자료가 어디서 나왔는지 누가·언제·어떻게로 따지는 방법을 보여 줍니다(목표 B, 오해 M3).
시간: 약 4분
이렇게 말해 보세요
- “두 자료는 잠에 대해 서로 다른 말을 해. 어느 쪽을 믿을지 출처로 따져 보자. 먼저 누가 말했어? 그 일을 잘 아는 사람이야?”
- “언제 나온 자료야? 날짜를 알 수 없으면 오래된 말인지도 알 수 없어. 어떻게 알아냈어? 한 사람의 경험과 여러 연구를 모은 것 중 어느 쪽이 더 믿을 만할까?”
예상 답
- “나가 더 믿을 만해요. 의사들이 올해 여러 연구를 모아서 만들었으니까요.”
정답
- 나가 더 믿을 만합니다. 누가(어린이 건강을 잘 아는 의사들), 언제(올해), 어떻게(여러 연구를 모아 정리)가 모두 분명합니다.
- 가는 누가 썼는지, 언제 썼는지 알 수 없고 한 사람의 경험뿐이라 믿기 어렵습니다.
막히면
- 세 줄(누가·언제·어떻게)을 하나씩 가리고 “가와 나 중 어느 쪽이 더 분명해?”라고 줄마다 묻습니다.
주의
- 초등학생에게 알맞은 잠은 대체로 하루 9~12시간으로 알려져 있습니다. 표의 의사들과 자료는 가상의 예입니다.
- 출처는 5학년 ‘자료 출처 확인’과 이어집니다. 오늘은 세 질문(누가·언제·어떻게)만 익히면 충분합니다.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뒷받침·사실 기준으로 근거 따지기]
목적: 네 근거를 뒷받침·사실 기준으로 따져 타당한 근거와 약한 근거를 가려 봅니다(목표 A, 오해 M1·M2).
시간: 약 4분
이렇게 말해 보세요
- “근거마다 주장 뒤에 ‘왜냐하면’을 붙여 읽어 보고, 두 기준으로 따져 볼까? ①부터 해 보자.”
- “②는 나눔 장터 이야기이긴 해. 그런데 물건을 내놓아야 하는 까닭이 돼?”
정답
- ① 타당함(뒷받침 ○, 사실 ○)
- ② 약함: 장터가 열리는 때일 뿐 물건을 내놓아야 하는 까닭이 아닙니다(뒷받침 ×, 주제만 같음).
- ③ 약함: ‘누구나 반드시 부자가 된다’는 부풀린 말이라 사실이 아닙니다(사실 ×).
- ④ 타당함(뒷받침 ○, 사실 ○)
막히면
- 근거 하나를 고르고 S03의 첫째·둘째 카드를 보여 주며 “이 기준에 ‘네’야, ‘아니요’야?”라고 하나씩 묻습니다.
주의
- ④를 ‘돈 이야기라 관련 없다’고 하면, 물건을 내놓으면 다른 사람이 싸게 살 수 있다는 점에서 주장을 뒷받침한다고 함께 따져 봅니다. 까닭을 말할 수 있으면 다른 판단도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출처 기준으로 두 조사 견주기]
목적: 조사 자료의 출처를 누가·언제·어떻게로 견주어 더 믿을 만한 근거를 고릅니다(목표 B, 오해 M3).
시간: 약 3분
이렇게 말해 보세요
- “가와 나는 둘 다 ‘물어봤다’는 조사야. 몇 명에게 물었어? 언제 물었어? 누구에게 물었어?”
- “두 명이 짧다고 한 것과 200명 중 절반이 넘게 그렇다고 한 것, 어느 쪽이 우리 학교 학생들의 생각을 더 잘 보여 줄까?”
정답
- 나가 더 믿을 만합니다. 언제(지난달), 누구에게(5·6학년), 어떻게(200명에게 물음)가 분명하고, 물은 사람이 많아 학교 전체의 생각을 더 잘 보여 줍니다.
- 가는 두 명에게만 물었고 언제 물었는지도 알 수 없습니다.
막히면
- “엄마(아빠)가 친구 두 명에게만 물어보고 ‘우리 동네 사람 모두 짜장면을 좋아한대!’라고 하면 믿을 수 있어?”라고 묻습니다.
주의
- 사람 수만 보고 판단하지 않도록, 언제·누구에게 물었는지도 함께 말하게 합니다. 셋 가운데 둘 이상을 말하면 잘함입니다.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약한 근거를 타당하게 고쳐 쓰기]
목적: 약한 근거가 어느 기준에 걸리는지 말하고, 그 기준을 통과하도록 고쳐 쓰며 세 기준을 함께 씁니다(목표 A·B).
시간: 약 4분
이렇게 말해 보세요
- “세 근거는 모두 약해. 각각 뒷받침, 사실, 출처 가운데 어디에 걸릴까?”
- “하나를 골라 타당한 근거로 고쳐 말해 볼래? 활동지 4에 써도 돼.”
정답
- ① 뒷받침 × (예쁜 것은 꼭 써야 하는 까닭이 아님) → 예: 안전모는 넘어질 때 머리를 보호해 준다.
- ② 사실 × (‘절대로’는 부풀린 말) → 예: 안전모를 쓰면 넘어졌을 때 머리를 크게 다칠 위험을 줄일 수 있다.
- ③ 출처 × (한 사람의 느낌) → 예: 자전거 안전 교육을 하는 경찰관께서 안전모가 머리를 지켜 준다고 설명하셨다.
- 기준: 고친 근거가 주장을 뒷받침하고, 부풀린 말이 없으며, 출처를 밝힐 때는 그 일을 잘 아는 사람이면 맞음
막히면
- “자전거를 타다 넘어지면 몸의 어디가 가장 위험할까? 안전모는 그곳을 어떻게 해 줘?”라고 물어 뒷받침 내용을 떠올리게 합니다.
주의
- ②를 ‘쓰면 다치지 않는다’로만 고치면 아직 부풀린 말입니다. ‘위험을 줄인다’처럼 조심스러운 말로 바꾸게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보기(세 기준으로 근거 따지기)]
목적: 도움 없이 근거마다 세 기준을 적용해 타당한 근거와 약한 근거를 가리고, 걸리는 기준을 말하는지 확인합니다(목표 A·B).
시간: 약 5분
이렇게 말해 보세요
- “이번에는 혼자 해 볼래? 활동지 3에 같은 글이 있어. 주장에 밑줄을 긋고, 근거마다 세 기준으로 따져 봐.”
- “다 하면 약한 근거가 어느 기준에 걸리는지 까닭과 함께 말해 줘.”
정답
- 주장: 학교에서 종이를 아껴 써야 한다(①문단 마지막 문장)
- 첫째(나무를 줄인다): 타당함 — 뒷받침 ○, 사실 ○
- 둘째(받아쓰기 점수): 약함 — 종이를 아끼는 것과 점수는 관련이 없고(뒷받침 ×), ‘모두’는 부풀린 말입니다(사실 ×). 둘 중 하나만 말해도 맞음
- 셋째(누리꾼 댓글): 약함 — 누가, 언제, 어떻게 알아낸 것인지 알 수 없습니다(출처 ×)
- 기준: 약한 근거 두 개를 찾고 각각 걸리는 기준을 하나 이상 말하면 잘함
막히면
- S03의 세 기준 카드를 보여 주고 근거 하나씩 세 질문을 하게 합니다.
- 도움을 받아 해결했다면 기록표에 ‘도움’으로 표시합니다.
주의
- ①문단의 ‘한 면만 쓰고 버리는 종이도 많습니다’는 문제 상황이지 근거가 아닙니다. 셋째 근거를 ‘종이를 아끼는 게 좋다는 말이니 맞다’고 하면 “누가 한 말이야? 그 사람을 믿을 수 있어?”라고 묻습니다(오해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고른 약한 근거는 왼쪽과 같아? 어느 기준에 걸렸어?”
- “오른쪽 두 실수는 왜 아쉬울까?”
예상 답
- “댓글은 누가 썼는지 몰라서 믿기 어려워요.”
정답
- 타당한 근거: 첫째(나무를 줄인다) / 약한 근거: 둘째(뒷받침 ×, 사실 × — 부풀림), 셋째(출처 ×)
막히면
- 활동지 3에서 근거마다 세 기준에 ○, ×를 함께 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확인(가장 믿을 만한 근거 고르기)]
목적: 처음 보는 근거들을 출처를 중심으로 세 기준으로 따져, 가장 믿을 만한 근거를 고르고 까닭을 말하는지 확인합니다(목표 B).
시간: 약 2분
이렇게 말해 보세요
- “셋 가운데 가장 믿을 만한 근거는 몇 번이야? 누가·언제·어떻게로 까닭을 말해 줘. 나머지는 어느 기준에 걸려?”
정답
- ①. 누가(피부를 잘 아는 의사), 언제(올해), 어떻게(건강 안내서)가 분명하고, 모자를 써야 하는 까닭을 뒷받침합니다.
- ②: 언제 나온 것인지 알 수 없는 광고이고(출처 ×), 키가 큰다는 것은 사실이 아니며 주장과도 관련이 없습니다(사실 ×, 뒷받침 ×).
- ③: 누가 썼는지 모르고(출처 ×), 모자를 써야 하는 까닭이 아니라 오히려 반대하는 말입니다(뒷받침 ×).
막히면
- S06의 표를 다시 보여 주고 ①, ②, ③에 누가·언제·어떻게를 하나씩 물어봅니다.
주의
- 답만 고르고 출처의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“처음에 ‘이 과자를 먹으면 누구나 키가 큰대’라는 말을 바로 믿겠냐고 물었지? 지금은 무엇을 따져 볼 거야?”
예상 답
- “뒷받침하는지, 사실인지, 누가 언제 어떻게 알아낸 건지 따져요.”
정답
- ① 뒷받침, 사실, 출처 ② 부풀린 말이라 사실인지 확인할 수 없다 ③ 누가? 언제? 어떻게?
막히면
- S03과 S06을 다시 보여 줍니다.
주의
- 광고나 인터넷 글을 함께 볼 때 “이건 누가, 언제, 어떻게 알아낸 거야?”라고 물어보면 좋은 복습이 됩니다. 다음 시간 토론에서 상대 근거에 반론할 때 오늘 배운 세 기준을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보충(두 글의 주장과 근거 나누기)]
목적: 같은 주제를 다룬 두 글에서 주장과 근거를 나누는 힘을 먼저 다집니다. 근거를 따지려면 무엇이 근거인지부터 찾을 수 있어야 합니다.
시간: 약 4분
이렇게 말해 보세요
- “가는 무엇을 하자고 해? 왜 그래야 한대? 나는?”
- “두 글은 같은 방학 숙제 이야기인데 생각이 반대야. 가는 무엇을, 나는 무엇을 더 중요하게 보았을까?”
정답
- 가: 주장 — 방학 숙제는 줄여야 한다 / 근거 — 쉬어야 새 학기에 힘이 난다 (쉼을 중요하게 봄)
- 나: 주장 — 방학 숙제는 있어야 한다 / 근거 — 배운 것을 잊지 않을 수 있다 (배움을 이어 가는 것을 중요하게 봄)
막히면
- 주장 뒤에 ‘왜냐하면’을 부모가 소리 내어 붙여 읽어 주고, 그 뒤에 오는 말이 근거라고 짚어 줍니다.
- 보충으로도 어렵다면 이 차시의 선수 차시인 6학년 ‘관점 비교하며 읽기’를 먼저 다시 하고, 주장과 근거 자체가 낯설면 5학년 ‘주장과 근거’(KR22-G05-KOR-CLAIM-L01)부터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읽기와비판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근거의 타당성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근거의 타당성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근거의 타당성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근거의 타당성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근거,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믿어도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근거가 주장을 뒷받침하는지, 사실인지 따질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출처를 누가·언제·어떻게로 따져 믿을 만한 근거를 고를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글의 주장과 근거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주제, 다른 생각이에요. 주장과 근거를 찾아요.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글은 각각 무엇을 더 중요하게 보았나요?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교실 자리는 한 달마다 바꾸어야 해요. 여러 친구와 골고루 가까워질 수 있어요.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교실 자리는 한 학기 동안 그대로 두어야 해요. 자리에 익숙해야 수업에 집중하기 쉬워요.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타당한 근거의 세 기준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5학년 때 배운 세 질문을 더 꼼꼼히 따져요.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기준을 모두 통과하면 ‘타당한 근거’예요.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뒷받침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주장이 옳은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되나요?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부풀리지 않았나요?</a:t>
            </a:r>
            <a:endParaRPr lang="ko-KR" sz="28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언제, 어떻게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알아낸 것인가요?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주제만 같으면 될까?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점심시간에도 학교 도서관 문을 열어야 한다.</a:t>
            </a:r>
            <a:endParaRPr lang="ko-KR" sz="2800" dirty="0"/>
          </a:p>
        </p:txBody>
      </p:sp>
      <p:sp>
        <p:nvSpPr>
          <p:cNvPr id="5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사실인데, 왜 약한 근거일까요?</a:t>
            </a:r>
            <a:endParaRPr lang="ko-KR" sz="2800" dirty="0"/>
          </a:p>
        </p:txBody>
      </p:sp>
      <p:sp>
        <p:nvSpPr>
          <p:cNvPr id="7" name="S04-chip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200" dirty="0"/>
          </a:p>
        </p:txBody>
      </p:sp>
      <p:sp>
        <p:nvSpPr>
          <p:cNvPr id="8" name="S04-text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 도서관에는 책이 3천 권 넘게 있다.</a:t>
            </a:r>
            <a:endParaRPr lang="ko-KR" sz="2800" dirty="0"/>
          </a:p>
        </p:txBody>
      </p:sp>
      <p:sp>
        <p:nvSpPr>
          <p:cNvPr id="9" name="S04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200" dirty="0"/>
          </a:p>
        </p:txBody>
      </p:sp>
      <p:sp>
        <p:nvSpPr>
          <p:cNvPr id="10" name="S04-text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방과 후에만 문을 열어, 바로 학원에 가는 학생은 책을 빌리기 어렵다.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근거는 약해요</a:t>
            </a:r>
            <a:endParaRPr lang="ko-KR" sz="4000" dirty="0"/>
          </a:p>
        </p:txBody>
      </p:sp>
      <p:sp>
        <p:nvSpPr>
          <p:cNvPr id="3" name="S05-card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낮은 층에 갈 때는 엘리베이터 대신 계단을 이용하자.</a:t>
            </a:r>
            <a:endParaRPr lang="ko-KR" sz="2800" dirty="0"/>
          </a:p>
        </p:txBody>
      </p:sp>
      <p:sp>
        <p:nvSpPr>
          <p:cNvPr id="5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어떤 말이 부풀린 말일까요?</a:t>
            </a:r>
            <a:endParaRPr lang="ko-KR" sz="2800" dirty="0"/>
          </a:p>
        </p:txBody>
      </p:sp>
      <p:sp>
        <p:nvSpPr>
          <p:cNvPr id="7" name="S05-chip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200" dirty="0"/>
          </a:p>
        </p:txBody>
      </p:sp>
      <p:sp>
        <p:nvSpPr>
          <p:cNvPr id="8" name="S05-text3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계단을 하루 한 번만 오르면 누구나 한 달 만에 5 kg이 빠진다.</a:t>
            </a:r>
            <a:endParaRPr lang="ko-KR" sz="2800" dirty="0"/>
          </a:p>
        </p:txBody>
      </p:sp>
      <p:sp>
        <p:nvSpPr>
          <p:cNvPr id="9" name="S05-chip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200" dirty="0"/>
          </a:p>
        </p:txBody>
      </p:sp>
      <p:sp>
        <p:nvSpPr>
          <p:cNvPr id="10" name="S05-text3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계단을 오르면 다리 근육을 써서 몸을 움직이는 운동이 된다.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따져요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어린이는 밤에 충분히 자야 한다.</a:t>
            </a:r>
            <a:endParaRPr lang="ko-KR" sz="28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누가·언제·어떻게가 분명할수록 믿을 만해요.</a:t>
            </a:r>
            <a:endParaRPr lang="ko-KR" sz="28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439670"/>
          <a:ext cx="109728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4169664"/>
                <a:gridCol w="5047488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잠은 5시간이면 충분하다.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초등학생은 9시간 넘게 자야 한다.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모를 누리꾼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 건강을 연구하는 의사들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 수 없음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올해 펴낸 안내 자료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경험 한 가지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연구를 모아 정리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따져 봐요</a:t>
            </a:r>
            <a:endParaRPr lang="ko-KR" sz="4000" dirty="0"/>
          </a:p>
        </p:txBody>
      </p:sp>
      <p:sp>
        <p:nvSpPr>
          <p:cNvPr id="3" name="S07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쓰지 않는 물건은 버리지 말고 나눔 장터에 내놓자.</a:t>
            </a:r>
            <a:endParaRPr lang="ko-KR" sz="2800" dirty="0"/>
          </a:p>
        </p:txBody>
      </p:sp>
      <p:sp>
        <p:nvSpPr>
          <p:cNvPr id="4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뒷받침하나요? 사실인가요? 걸리는 기준을 말해요.</a:t>
            </a:r>
            <a:endParaRPr lang="ko-KR" sz="2800" dirty="0"/>
          </a:p>
        </p:txBody>
      </p:sp>
      <p:sp>
        <p:nvSpPr>
          <p:cNvPr id="6" name="S07-chip4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4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사람이 다시 쓰면 버려지는 쓰레기가 줄어든다.</a:t>
            </a:r>
            <a:endParaRPr lang="ko-KR" sz="2800" dirty="0"/>
          </a:p>
        </p:txBody>
      </p:sp>
      <p:sp>
        <p:nvSpPr>
          <p:cNvPr id="8" name="S07-chip4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4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나눔 장터는 주로 토요일 오전에 열린다.</a:t>
            </a:r>
            <a:endParaRPr lang="ko-KR" sz="2800" dirty="0"/>
          </a:p>
        </p:txBody>
      </p:sp>
      <p:sp>
        <p:nvSpPr>
          <p:cNvPr id="10" name="S07-chip4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4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내놓으면 누구나 반드시 부자가 된다.</a:t>
            </a:r>
            <a:endParaRPr lang="ko-KR" sz="2800" dirty="0"/>
          </a:p>
        </p:txBody>
      </p:sp>
      <p:sp>
        <p:nvSpPr>
          <p:cNvPr id="12" name="S07-chip4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7-text4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물건을 싸게 사면 돈을 아낄 수 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조사를 믿을까?</a:t>
            </a:r>
            <a:endParaRPr lang="ko-KR" sz="4000" dirty="0"/>
          </a:p>
        </p:txBody>
      </p:sp>
      <p:sp>
        <p:nvSpPr>
          <p:cNvPr id="3" name="S08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‘급식 시간을 10분 늘리자’의 근거로 든 두 조사예요.</a:t>
            </a:r>
            <a:endParaRPr lang="ko-KR" sz="2800" dirty="0"/>
          </a:p>
        </p:txBody>
      </p:sp>
      <p:sp>
        <p:nvSpPr>
          <p:cNvPr id="5" name="S08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누가·언제·어떻게를 견주어 봐요.</a:t>
            </a:r>
            <a:endParaRPr lang="ko-KR" sz="2800" dirty="0"/>
          </a:p>
        </p:txBody>
      </p:sp>
      <p:sp>
        <p:nvSpPr>
          <p:cNvPr id="7" name="S08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두 명에게 물었더니 둘 다 급식 시간이 짧다고 했다.</a:t>
            </a:r>
            <a:endParaRPr lang="ko-KR" sz="2800" dirty="0"/>
          </a:p>
        </p:txBody>
      </p:sp>
      <p:sp>
        <p:nvSpPr>
          <p:cNvPr id="9" name="S08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우리 학교 5·6학년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200명에게 물으니, 절반이 넘게 급식 시간이 모자란다고 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근거를 고쳐 써요</a:t>
            </a:r>
            <a:endParaRPr lang="ko-KR" sz="4000" dirty="0"/>
          </a:p>
        </p:txBody>
      </p:sp>
      <p:sp>
        <p:nvSpPr>
          <p:cNvPr id="3" name="S09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자전거를 탈 때는 꼭 안전모를 쓰자.</a:t>
            </a:r>
            <a:endParaRPr lang="ko-KR" sz="2800" dirty="0"/>
          </a:p>
        </p:txBody>
      </p:sp>
      <p:sp>
        <p:nvSpPr>
          <p:cNvPr id="4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걸리는 기준을 말하고, 하나를 골라 타당하게 고쳐요.</a:t>
            </a:r>
            <a:endParaRPr lang="ko-KR" sz="2800" dirty="0"/>
          </a:p>
        </p:txBody>
      </p:sp>
      <p:sp>
        <p:nvSpPr>
          <p:cNvPr id="6" name="S09-chip6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안전모는 색깔이 여러 가지라 예쁘다.</a:t>
            </a:r>
            <a:endParaRPr lang="ko-KR" sz="2800" dirty="0"/>
          </a:p>
        </p:txBody>
      </p:sp>
      <p:sp>
        <p:nvSpPr>
          <p:cNvPr id="8" name="S09-chip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6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안전모를 쓰면 절대로 다치지 않는다.</a:t>
            </a:r>
            <a:endParaRPr lang="ko-KR" sz="2800" dirty="0"/>
          </a:p>
        </p:txBody>
      </p:sp>
      <p:sp>
        <p:nvSpPr>
          <p:cNvPr id="10" name="S09-chip6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6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옆집 동생이 안전모가 좋다고 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세 기준으로 따지고, 약한 근거는 까닭을 말해요.</a:t>
            </a:r>
            <a:endParaRPr lang="ko-KR" sz="2800" dirty="0"/>
          </a:p>
        </p:txBody>
      </p:sp>
      <p:sp>
        <p:nvSpPr>
          <p:cNvPr id="5" name="S10-passagebox6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아껴 쓰자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학교에서는 날마다 많은 종이를 씁니다. 한 면만 쓰고 버리는 종이도 많습니다. 우리는 학교에서 종이를 아껴 써야 합니다.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종이는 나무로 만듭니다. 종이를 아껴 쓰면 베어지는 나무를 줄일 수 있습니다.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종이를 아껴 쓰는 반은 모두 받아쓰기 점수가 오릅니다. 셋째, 이름을 밝히지 않은 누리꾼이 댓글에 종이를 아끼는 게 좋다고 썼습니다.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뒷받침 · 사실 · 출처를 하나씩 물어요.</a:t>
            </a:r>
            <a:endParaRPr lang="ko-KR" sz="2800" dirty="0"/>
          </a:p>
        </p:txBody>
      </p:sp>
      <p:sp>
        <p:nvSpPr>
          <p:cNvPr id="5" name="S11-chip7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7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첫째는 타당해요</a:t>
            </a:r>
            <a:endParaRPr lang="ko-KR" sz="2800" dirty="0"/>
          </a:p>
        </p:txBody>
      </p:sp>
      <p:sp>
        <p:nvSpPr>
          <p:cNvPr id="7" name="S11-text7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○ 사실 ○</a:t>
            </a:r>
            <a:endParaRPr lang="ko-KR" sz="2200" dirty="0"/>
          </a:p>
        </p:txBody>
      </p:sp>
      <p:sp>
        <p:nvSpPr>
          <p:cNvPr id="8" name="S11-text7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둘째는 약해요</a:t>
            </a:r>
            <a:endParaRPr lang="ko-KR" sz="2800" dirty="0"/>
          </a:p>
        </p:txBody>
      </p:sp>
      <p:sp>
        <p:nvSpPr>
          <p:cNvPr id="9" name="S11-text7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×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‘모두’는 부풀림</a:t>
            </a:r>
            <a:endParaRPr lang="ko-KR" sz="2200" dirty="0"/>
          </a:p>
        </p:txBody>
      </p:sp>
      <p:sp>
        <p:nvSpPr>
          <p:cNvPr id="10" name="S11-text7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셋째는 약해요</a:t>
            </a:r>
            <a:endParaRPr lang="ko-KR" sz="2800" dirty="0"/>
          </a:p>
        </p:txBody>
      </p:sp>
      <p:sp>
        <p:nvSpPr>
          <p:cNvPr id="11" name="S11-text7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누가·언제·어떻게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없음</a:t>
            </a:r>
            <a:endParaRPr lang="ko-KR" sz="2200" dirty="0"/>
          </a:p>
        </p:txBody>
      </p:sp>
      <p:sp>
        <p:nvSpPr>
          <p:cNvPr id="12" name="S11-chip8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8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‘모두’가 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확실해요</a:t>
            </a:r>
            <a:endParaRPr lang="ko-KR" sz="2800" dirty="0"/>
          </a:p>
        </p:txBody>
      </p:sp>
      <p:sp>
        <p:nvSpPr>
          <p:cNvPr id="14" name="S11-text8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말이에요</a:t>
            </a:r>
            <a:endParaRPr lang="ko-KR" sz="2200" dirty="0"/>
          </a:p>
        </p:txBody>
      </p:sp>
      <p:sp>
        <p:nvSpPr>
          <p:cNvPr id="15" name="S11-text8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댓글에 썼으니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만해요</a:t>
            </a:r>
            <a:endParaRPr lang="ko-KR" sz="2800" dirty="0"/>
          </a:p>
        </p:txBody>
      </p:sp>
      <p:sp>
        <p:nvSpPr>
          <p:cNvPr id="16" name="S11-text8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출처가 불분명해요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믿을 만한 근거는?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햇볕이 강한 날 밖에서 놀 때는 모자를 쓰자.</a:t>
            </a:r>
            <a:endParaRPr lang="ko-KR" sz="2800" dirty="0"/>
          </a:p>
        </p:txBody>
      </p:sp>
      <p:sp>
        <p:nvSpPr>
          <p:cNvPr id="4" name="S12-chip8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8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피부를 치료하는 의사가 쓴 올해 건강 안내서에, 햇볕을 오래 쬐면 피부가 상할 수 있다고 나와 있다.</a:t>
            </a:r>
            <a:endParaRPr lang="ko-KR" sz="28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8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날짜를 모르는 오래된 잡지 광고에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모자를 쓰면 키가 큰다고 나와 있다.</a:t>
            </a:r>
            <a:endParaRPr lang="ko-KR" sz="28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누리꾼이 모자는 답답하다고 댓글을 달았다.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타당한 근거는 주장을 뒷받침하고, 사실이며, 출처가 믿을 만해요.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출처는 누가 · 언제 · 어떻게로 따져요.</a:t>
            </a:r>
            <a:endParaRPr lang="ko-KR" sz="2800" dirty="0"/>
          </a:p>
        </p:txBody>
      </p:sp>
      <p:sp>
        <p:nvSpPr>
          <p:cNvPr id="5" name="S13-chip9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누가·언제·어떻게 따지기</a:t>
            </a:r>
            <a:endParaRPr lang="ko-KR" sz="2200" dirty="0"/>
          </a:p>
        </p:txBody>
      </p:sp>
      <p:sp>
        <p:nvSpPr>
          <p:cNvPr id="6" name="S13-chip9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주제만 같은 근거 쓰기</a:t>
            </a:r>
            <a:endParaRPr lang="ko-KR" sz="2200" dirty="0"/>
          </a:p>
        </p:txBody>
      </p:sp>
      <p:sp>
        <p:nvSpPr>
          <p:cNvPr id="7" name="S13-text9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타당한 근거의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기준은?</a:t>
            </a:r>
            <a:endParaRPr lang="ko-KR" sz="2200" dirty="0"/>
          </a:p>
        </p:txBody>
      </p:sp>
      <p:sp>
        <p:nvSpPr>
          <p:cNvPr id="9" name="S13-text9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‘누구나 반드시’가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들어간 근거의 문제는?</a:t>
            </a:r>
            <a:endParaRPr lang="ko-KR" sz="2200" dirty="0"/>
          </a:p>
        </p:txBody>
      </p:sp>
      <p:sp>
        <p:nvSpPr>
          <p:cNvPr id="10" name="S13-text9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출처를 따지는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질문은?</a:t>
            </a:r>
            <a:endParaRPr lang="ko-KR" sz="2200" dirty="0"/>
          </a:p>
        </p:txBody>
      </p:sp>
      <p:sp>
        <p:nvSpPr>
          <p:cNvPr id="11" name="S13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토론하기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주장과 근거</a:t>
            </a:r>
            <a:endParaRPr lang="ko-KR" sz="4000" dirty="0"/>
          </a:p>
        </p:txBody>
      </p:sp>
      <p:sp>
        <p:nvSpPr>
          <p:cNvPr id="3" name="S14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주장에는 ○, 근거에는 △ 해 봐요.</a:t>
            </a:r>
            <a:endParaRPr lang="ko-KR" sz="2800" dirty="0"/>
          </a:p>
        </p:txBody>
      </p:sp>
      <p:sp>
        <p:nvSpPr>
          <p:cNvPr id="4" name="S14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‘~해야 해요’는 주장, ‘~니까요’는 근거예요.</a:t>
            </a:r>
            <a:endParaRPr lang="ko-KR" sz="2800" dirty="0"/>
          </a:p>
        </p:txBody>
      </p:sp>
      <p:sp>
        <p:nvSpPr>
          <p:cNvPr id="6" name="S14-word104"/>
          <p:cNvSpPr txBox="1"/>
          <p:nvPr/>
        </p:nvSpPr>
        <p:spPr>
          <a:xfrm>
            <a:off x="548640" y="201168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방학 숙제는 줄여야 해요.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쉬어야 새 학기에 힘이 나니까요.</a:t>
            </a:r>
            <a:endParaRPr lang="ko-KR" sz="3200" dirty="0"/>
          </a:p>
        </p:txBody>
      </p:sp>
      <p:sp>
        <p:nvSpPr>
          <p:cNvPr id="7" name="S14-word105"/>
          <p:cNvSpPr txBox="1"/>
          <p:nvPr/>
        </p:nvSpPr>
        <p:spPr>
          <a:xfrm>
            <a:off x="548640" y="370332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방학 숙제는 있어야 해요.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것을 잊지 않을 수 있으니까요.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근거의 타당성</dc:title>
  <dc:subject>KR22-G06-KOR-VALIDITY-L01</dc:subject>
  <dc:creator>education-ppt</dc:creator>
  <cp:lastModifiedBy>education-ppt</cp:lastModifiedBy>
  <cp:revision>1</cp:revision>
  <dcterms:created xsi:type="dcterms:W3CDTF">2026-10-26T09:12:30Z</dcterms:created>
  <dcterms:modified xsi:type="dcterms:W3CDTF">2026-10-26T09:12:30Z</dcterms:modified>
</cp:coreProperties>
</file>