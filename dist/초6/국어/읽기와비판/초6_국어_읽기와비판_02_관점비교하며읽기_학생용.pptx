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cd51edd-1c59-5506-9b5a-0f0c056e8b98}">
          <p14:sldIdLst>
            <p14:sldId id="256"/>
            <p14:sldId id="257"/>
          </p14:sldIdLst>
        </p14:section>
        <p14:section name="개념" id="{aa3e7d95-9e7b-731a-c96d-4eb147ac0b8a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729f09ca-a71b-177a-efe7-0822e81e0a84}">
          <p14:sldIdLst>
            <p14:sldId id="263"/>
            <p14:sldId id="264"/>
            <p14:sldId id="265"/>
          </p14:sldIdLst>
        </p14:section>
        <p14:section name="확인" id="{69219f3f-8c67-1ccb-3d79-36307d51c15b}">
          <p14:sldIdLst>
            <p14:sldId id="266"/>
            <p14:sldId id="267"/>
          </p14:sldIdLst>
        </p14:section>
        <p14:section name="정리" id="{1ec375eb-6dc0-e04d-333a-a42a59c54a41}">
          <p14:sldIdLst>
            <p14:sldId id="268"/>
          </p14:sldIdLst>
        </p14:section>
        <p14:section name="보충" id="{f21df410-9d98-0bf6-566e-a042fe52f99f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읽기와비판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관점 비교하며 읽기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관점 비교하며 읽기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국어 · 관점 비교하며 읽기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 비교하며 읽기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빈터를 두고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생각이 다를까?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같은 주제를 다룬 두 글의 관점과 근거를 비교할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두 관점을 견주어 내 생각을 근거와 함께 말할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사실과 의견을 떠올려요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시간에 배운 사실과 의견을 떠올려 답해요.</a:t>
            </a:r>
            <a:endParaRPr lang="ko-KR" sz="28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사실과 의견의 뜻은?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‘저녁마다 골목 양쪽에 차가 서 있다.’는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사실일까요, 의견일까요?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‘우리 골목은 정말 위험한 곳이다.’는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사실일까요, 의견일까요?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관점이란?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주제라도 관점에 따라 근거와 바라는 것이 달라져요.</a:t>
            </a:r>
            <a:endParaRPr lang="ko-KR" sz="2800" dirty="0"/>
          </a:p>
        </p:txBody>
      </p:sp>
      <p:sp>
        <p:nvSpPr>
          <p:cNvPr id="5" name="S03-card12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문제를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바라보는 입장이나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생각의 방향</a:t>
            </a:r>
            <a:endParaRPr lang="ko-KR" sz="2800" dirty="0"/>
          </a:p>
        </p:txBody>
      </p:sp>
      <p:sp>
        <p:nvSpPr>
          <p:cNvPr id="7" name="S03-card14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달라지는 까닭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글쓴이의 처지와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중요하게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여기는지가 달라서</a:t>
            </a:r>
            <a:endParaRPr lang="ko-KR" sz="2800" dirty="0"/>
          </a:p>
        </p:txBody>
      </p:sp>
      <p:sp>
        <p:nvSpPr>
          <p:cNvPr id="9" name="S03-card16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7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비 오는 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농부는 반갑고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소풍 가는 아이는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아쉬워요.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가: 빈터에 주차장을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글쓴이는 무엇을 중요하게 여기나요? 근거와 바라는 것은?</a:t>
            </a:r>
            <a:endParaRPr lang="ko-KR" sz="2800" dirty="0"/>
          </a:p>
        </p:txBody>
      </p:sp>
      <p:sp>
        <p:nvSpPr>
          <p:cNvPr id="5" name="S04-passagebox2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2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빈터에 주차장을 만듭시다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우리 마을에는 차를 댈 곳이 모자라 저녁마다 골목 양쪽에 차가 줄지어 서 있습니다. 그래서 길이 좁아져 소방차나 구급차가 들어오기 어렵습니다.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세워 둔 차 사이로 아이가 뛰어나오면 운전자가 미리 보기 어려워 위험합니다. 빈터에 주차장을 만들어 골목을 넓고 안전하게 합시다.</a:t>
            </a:r>
            <a:endParaRPr lang="ko-KR" sz="2800" dirty="0"/>
          </a:p>
          <a:p>
            <a:pPr eaLnBrk="0" algn="r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글쓴이: 차를 모는 이웃 주민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나: 빈터에 공원을</a:t>
            </a:r>
            <a:endParaRPr lang="ko-KR" sz="4000" dirty="0"/>
          </a:p>
        </p:txBody>
      </p:sp>
      <p:sp>
        <p:nvSpPr>
          <p:cNvPr id="3" name="S05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가와 무엇이 같고, 무엇이 다른가요?</a:t>
            </a:r>
            <a:endParaRPr lang="ko-KR" sz="2800" dirty="0"/>
          </a:p>
        </p:txBody>
      </p:sp>
      <p:sp>
        <p:nvSpPr>
          <p:cNvPr id="5" name="S05-passagebox24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5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빈터에 작은 공원을 만듭시다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우리 마을에는 어린이가 마음껏 뛰어놀 곳이 없습니다. 그래서 아이들은 차가 다니는 골목에서 공놀이를 합니다.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빈터에 나무를 심고 놀이터를 만들면 아이들이 안전하게 놀 수 있습니다. 나무 그늘이 생겨 여름에 주민들이 쉬어 갈 수도 있습니다. 빈터에 작은 공원을 만듭시다.</a:t>
            </a:r>
            <a:endParaRPr lang="ko-KR" sz="3000" dirty="0"/>
          </a:p>
          <a:p>
            <a:pPr eaLnBrk="0" algn="r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글쓴이: 마을에 사는 6학년 어린이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표로 비교하면</a:t>
            </a:r>
            <a:endParaRPr lang="ko-KR" sz="4000" dirty="0"/>
          </a:p>
        </p:txBody>
      </p:sp>
      <p:sp>
        <p:nvSpPr>
          <p:cNvPr id="3" name="S06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주제: 마을 빈터를 어떻게 쓸까?</a:t>
            </a:r>
            <a:endParaRPr lang="ko-KR" sz="2800" dirty="0"/>
          </a:p>
        </p:txBody>
      </p:sp>
      <p:sp>
        <p:nvSpPr>
          <p:cNvPr id="4" name="S06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주제는 같지만 무엇을 중요하게 보는지(관점)가 달라요.</a:t>
            </a:r>
            <a:endParaRPr lang="ko-KR" sz="2800" dirty="0"/>
          </a:p>
        </p:txBody>
      </p:sp>
      <p:graphicFrame>
        <p:nvGraphicFramePr>
          <p:cNvPr id="7" name="S06-table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621280"/>
          <a:ext cx="10972800" cy="914400"/>
        </p:xfrm>
        <a:graphic>
          <a:graphicData uri="http://schemas.openxmlformats.org/drawingml/2006/table">
            <a:tbl>
              <a:tblPr/>
              <a:tblGrid>
                <a:gridCol w="1975104"/>
                <a:gridCol w="4498848"/>
                <a:gridCol w="4498848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 주차장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 공원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차를 모는 주민의 편리함,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골목 안전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어린이가 놀 곳,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주민의 쉼터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차가 골목에 줄지어 서서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소방차가 들어오기 어렵다.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놀 곳이 없어 아이들이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골목에서 공놀이를 한다.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바라는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빈터에 주차장을 만들자.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빈터에 작은 공원을 만들자.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관점을 비교하며 읽는 순서</a:t>
            </a:r>
            <a:endParaRPr lang="ko-KR" sz="4000" dirty="0"/>
          </a:p>
        </p:txBody>
      </p:sp>
      <p:sp>
        <p:nvSpPr>
          <p:cNvPr id="3" name="S07-stepno30"/>
          <p:cNvSpPr txBox="1"/>
          <p:nvPr/>
        </p:nvSpPr>
        <p:spPr>
          <a:xfrm>
            <a:off x="548640" y="20711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4" name="S07-text31"/>
          <p:cNvSpPr txBox="1"/>
          <p:nvPr/>
        </p:nvSpPr>
        <p:spPr>
          <a:xfrm>
            <a:off x="1325880" y="207111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글의 주제가 같은지 확인해요.</a:t>
            </a:r>
            <a:endParaRPr lang="ko-KR" sz="2800" dirty="0"/>
          </a:p>
        </p:txBody>
      </p:sp>
      <p:sp>
        <p:nvSpPr>
          <p:cNvPr id="5" name="S07-stepno32"/>
          <p:cNvSpPr txBox="1"/>
          <p:nvPr/>
        </p:nvSpPr>
        <p:spPr>
          <a:xfrm>
            <a:off x="548640" y="27843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6" name="S07-text33"/>
          <p:cNvSpPr txBox="1"/>
          <p:nvPr/>
        </p:nvSpPr>
        <p:spPr>
          <a:xfrm>
            <a:off x="1325880" y="278434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글쓴이가 누구이고 무엇을 중요하게 여기는지 찾아요.</a:t>
            </a:r>
            <a:endParaRPr lang="ko-KR" sz="2800" dirty="0"/>
          </a:p>
        </p:txBody>
      </p:sp>
      <p:sp>
        <p:nvSpPr>
          <p:cNvPr id="7" name="S07-stepno34"/>
          <p:cNvSpPr txBox="1"/>
          <p:nvPr/>
        </p:nvSpPr>
        <p:spPr>
          <a:xfrm>
            <a:off x="548640" y="3497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8" name="S07-text35"/>
          <p:cNvSpPr txBox="1"/>
          <p:nvPr/>
        </p:nvSpPr>
        <p:spPr>
          <a:xfrm>
            <a:off x="1325880" y="349758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찾고 사실인지 살펴요.</a:t>
            </a:r>
            <a:endParaRPr lang="ko-KR" sz="2800" dirty="0"/>
          </a:p>
        </p:txBody>
      </p:sp>
      <p:sp>
        <p:nvSpPr>
          <p:cNvPr id="9" name="S07-stepno36"/>
          <p:cNvSpPr txBox="1"/>
          <p:nvPr/>
        </p:nvSpPr>
        <p:spPr>
          <a:xfrm>
            <a:off x="548640" y="4210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0" name="S07-text37"/>
          <p:cNvSpPr txBox="1"/>
          <p:nvPr/>
        </p:nvSpPr>
        <p:spPr>
          <a:xfrm>
            <a:off x="1325880" y="421081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글쓴이가 바라는 것을 찾아요.</a:t>
            </a:r>
            <a:endParaRPr lang="ko-KR" sz="2800" dirty="0"/>
          </a:p>
        </p:txBody>
      </p:sp>
      <p:sp>
        <p:nvSpPr>
          <p:cNvPr id="11" name="S07-stepno38"/>
          <p:cNvSpPr txBox="1"/>
          <p:nvPr/>
        </p:nvSpPr>
        <p:spPr>
          <a:xfrm>
            <a:off x="548640" y="4924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12" name="S07-text39"/>
          <p:cNvSpPr txBox="1"/>
          <p:nvPr/>
        </p:nvSpPr>
        <p:spPr>
          <a:xfrm>
            <a:off x="1325880" y="492404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표로 정리하고 내 관점을 정해요.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의견을 비교해요</a:t>
            </a:r>
            <a:endParaRPr lang="ko-KR" sz="4000" dirty="0"/>
          </a:p>
        </p:txBody>
      </p:sp>
      <p:sp>
        <p:nvSpPr>
          <p:cNvPr id="3" name="S08-card4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주제: 쉬는 시간에 운동장에서 공놀이를 해도 될까?</a:t>
            </a:r>
            <a:endParaRPr lang="ko-KR" sz="2800" dirty="0"/>
          </a:p>
        </p:txBody>
      </p:sp>
      <p:sp>
        <p:nvSpPr>
          <p:cNvPr id="5" name="S08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사람의 관점, 근거, 바라는 것을 말해 봐요.</a:t>
            </a:r>
            <a:endParaRPr lang="ko-KR" sz="2800" dirty="0"/>
          </a:p>
        </p:txBody>
      </p:sp>
      <p:sp>
        <p:nvSpPr>
          <p:cNvPr id="7" name="S08-chip4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축구를 좋아하는 학생</a:t>
            </a:r>
            <a:endParaRPr lang="ko-KR" sz="2200" dirty="0"/>
          </a:p>
        </p:txBody>
      </p:sp>
      <p:sp>
        <p:nvSpPr>
          <p:cNvPr id="8" name="S08-text4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“쉬는 시간에 공놀이를 하면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몸을 움직여 기분이 상쾌하고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친구와 협동하는 법을 배워요.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마음껏 하게 해 주세요.”</a:t>
            </a:r>
            <a:endParaRPr lang="ko-KR" sz="2800" dirty="0"/>
          </a:p>
        </p:txBody>
      </p:sp>
      <p:sp>
        <p:nvSpPr>
          <p:cNvPr id="9" name="S08-chip4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 1학년 동생이 있는 학생</a:t>
            </a:r>
            <a:endParaRPr lang="ko-KR" sz="2200" dirty="0"/>
          </a:p>
        </p:txBody>
      </p:sp>
      <p:sp>
        <p:nvSpPr>
          <p:cNvPr id="10" name="S08-text4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“지난주에 공에 맞아 다친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1학년 동생이 있었어요.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공놀이는 정해진 구역에서만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하면 좋겠어요.”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한쪽은 틀린 글일까?</a:t>
            </a:r>
            <a:endParaRPr lang="ko-KR" sz="4000" dirty="0"/>
          </a:p>
        </p:txBody>
      </p:sp>
      <p:sp>
        <p:nvSpPr>
          <p:cNvPr id="3" name="S09-card4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4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빈터 글 가와 나를 읽고 두 친구가 한 말이에요.</a:t>
            </a:r>
            <a:endParaRPr lang="ko-KR" sz="2800" dirty="0"/>
          </a:p>
        </p:txBody>
      </p:sp>
      <p:sp>
        <p:nvSpPr>
          <p:cNvPr id="5" name="S09-card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읽기 태도가 더 알맞을까요? 까닭은?</a:t>
            </a:r>
            <a:endParaRPr lang="ko-KR" sz="2800" dirty="0"/>
          </a:p>
        </p:txBody>
      </p:sp>
      <p:sp>
        <p:nvSpPr>
          <p:cNvPr id="7" name="S09-chip5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200" dirty="0"/>
          </a:p>
        </p:txBody>
      </p:sp>
      <p:sp>
        <p:nvSpPr>
          <p:cNvPr id="8" name="S09-text5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“주차장이 맞고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공원은 틀렸어요.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차가 더 중요하니까요.”</a:t>
            </a:r>
            <a:endParaRPr lang="ko-KR" sz="2800" dirty="0"/>
          </a:p>
        </p:txBody>
      </p:sp>
      <p:sp>
        <p:nvSpPr>
          <p:cNvPr id="9" name="S09-chip5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</a:t>
            </a:r>
            <a:endParaRPr lang="ko-KR" sz="2200" dirty="0"/>
          </a:p>
        </p:txBody>
      </p:sp>
      <p:sp>
        <p:nvSpPr>
          <p:cNvPr id="10" name="S09-text5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“둘 다 근거가 있어요.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사실인지 따져 보고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생각을 정할래요.”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따져 봐요</a:t>
            </a:r>
            <a:endParaRPr lang="ko-KR" sz="4000" dirty="0"/>
          </a:p>
        </p:txBody>
      </p:sp>
      <p:sp>
        <p:nvSpPr>
          <p:cNvPr id="3" name="S10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빈터 글 가와 나의 근거를 따져 봐요.</a:t>
            </a:r>
            <a:endParaRPr lang="ko-KR" sz="2800" dirty="0"/>
          </a:p>
        </p:txBody>
      </p:sp>
      <p:sp>
        <p:nvSpPr>
          <p:cNvPr id="4" name="S10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확인할 수 있는 사실이면 더 믿음이 가요.</a:t>
            </a:r>
            <a:endParaRPr lang="ko-KR" sz="2800" dirty="0"/>
          </a:p>
        </p:txBody>
      </p:sp>
      <p:sp>
        <p:nvSpPr>
          <p:cNvPr id="6" name="S10-chip5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text6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가의 근거는 사실인가요?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확인할까요?</a:t>
            </a:r>
            <a:endParaRPr lang="ko-KR" sz="2800" dirty="0"/>
          </a:p>
        </p:txBody>
      </p:sp>
      <p:sp>
        <p:nvSpPr>
          <p:cNvPr id="8" name="S10-chip6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0-text6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근거는 사실인가요?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확인할까요?</a:t>
            </a:r>
            <a:endParaRPr lang="ko-KR" sz="2800" dirty="0"/>
          </a:p>
        </p:txBody>
      </p:sp>
      <p:sp>
        <p:nvSpPr>
          <p:cNvPr id="10" name="S10-chip63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0-text64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글이 함께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걱정하는 것은?</a:t>
            </a:r>
            <a:endParaRPr lang="ko-KR" sz="2800" dirty="0"/>
          </a:p>
        </p:txBody>
      </p:sp>
      <p:sp>
        <p:nvSpPr>
          <p:cNvPr id="12" name="S10-chip65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10-text66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바람을 함께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이룰 방법은?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ard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다와 라의 관점, 근거, 바라는 것을 찾아 표로 정리해요.</a:t>
            </a:r>
            <a:endParaRPr lang="ko-KR" sz="2800" dirty="0"/>
          </a:p>
        </p:txBody>
      </p:sp>
      <p:sp>
        <p:nvSpPr>
          <p:cNvPr id="5" name="S11-passagebox69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1-passage70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주제: 방학 숙제가 있어야 할까?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다(5학년 학생)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방학에는 숙제 대신 마음껏 쉬고, 가족과 여행하며 새로운 것을 겪어야 합니다. 숙제에 쫓기면 방학에만 할 수 있는 체험을 놓치기 쉽습니다.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라(학생의 보호자)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방학에도 하루 20분쯤 공부하는 숙제가 있어야 합니다. 오래 쉬면 익혀 둔 내용을 잊기 쉽고, 적은 양의 숙제가 생활 리듬을 지켜 주기 때문입니다.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관점을 정해요</a:t>
            </a:r>
            <a:endParaRPr lang="ko-KR" sz="4000" dirty="0"/>
          </a:p>
        </p:txBody>
      </p:sp>
      <p:sp>
        <p:nvSpPr>
          <p:cNvPr id="3" name="S13-text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방학 숙제에 대한 다와 라를 견주어 말하고 활동지에 써요.</a:t>
            </a:r>
            <a:endParaRPr lang="ko-KR" sz="2800" dirty="0"/>
          </a:p>
        </p:txBody>
      </p:sp>
      <p:sp>
        <p:nvSpPr>
          <p:cNvPr id="4" name="S13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관점을 틀렸다고 하지 말고, 인정할 점도 찾아요.</a:t>
            </a:r>
            <a:endParaRPr lang="ko-KR" sz="2800" dirty="0"/>
          </a:p>
        </p:txBody>
      </p:sp>
      <p:sp>
        <p:nvSpPr>
          <p:cNvPr id="6" name="S13-chip7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3-text7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관점은? 바라는 것을 한 문장으로</a:t>
            </a:r>
            <a:endParaRPr lang="ko-KR" sz="2800" dirty="0"/>
          </a:p>
        </p:txBody>
      </p:sp>
      <p:sp>
        <p:nvSpPr>
          <p:cNvPr id="8" name="S13-chip7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3-text7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관점의 근거 두 가지(사실 하나 이상)</a:t>
            </a:r>
            <a:endParaRPr lang="ko-KR" sz="2800" dirty="0"/>
          </a:p>
        </p:txBody>
      </p:sp>
      <p:sp>
        <p:nvSpPr>
          <p:cNvPr id="10" name="S13-chip7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3-text7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관점에서 인정할 점 한 가지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80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81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관점은 문제를 바라보는 입장이에요. 같은 주제의 두 글은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관점·근거·바라는 것을 표로 비교하며 읽어요.</a:t>
            </a:r>
            <a:endParaRPr lang="ko-KR" sz="2800" dirty="0"/>
          </a:p>
        </p:txBody>
      </p:sp>
      <p:sp>
        <p:nvSpPr>
          <p:cNvPr id="5" name="S14-chip82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근거가 사실인지 따지기</a:t>
            </a:r>
            <a:endParaRPr lang="ko-KR" sz="2200" dirty="0"/>
          </a:p>
        </p:txBody>
      </p:sp>
      <p:sp>
        <p:nvSpPr>
          <p:cNvPr id="6" name="S14-chip83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생각이 다르면 틀렸다고 하기</a:t>
            </a:r>
            <a:endParaRPr lang="ko-KR" sz="2200" dirty="0"/>
          </a:p>
        </p:txBody>
      </p:sp>
      <p:sp>
        <p:nvSpPr>
          <p:cNvPr id="7" name="S14-text84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85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관점의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뜻은?</a:t>
            </a:r>
            <a:endParaRPr lang="ko-KR" sz="2200" dirty="0"/>
          </a:p>
        </p:txBody>
      </p:sp>
      <p:sp>
        <p:nvSpPr>
          <p:cNvPr id="9" name="S14-text86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두 글을 비교할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기준은?</a:t>
            </a:r>
            <a:endParaRPr lang="ko-KR" sz="2200" dirty="0"/>
          </a:p>
        </p:txBody>
      </p:sp>
      <p:sp>
        <p:nvSpPr>
          <p:cNvPr id="10" name="S14-text87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같은 주제인데 관점이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달라지는 까닭은?</a:t>
            </a:r>
            <a:endParaRPr lang="ko-KR" sz="2200" dirty="0"/>
          </a:p>
        </p:txBody>
      </p:sp>
      <p:sp>
        <p:nvSpPr>
          <p:cNvPr id="11" name="S14-text8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근거의 타당성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입장 바꾸어 말해요</a:t>
            </a:r>
            <a:endParaRPr lang="ko-KR" sz="4000" dirty="0"/>
          </a:p>
        </p:txBody>
      </p:sp>
      <p:sp>
        <p:nvSpPr>
          <p:cNvPr id="3" name="S15-text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일을 두 사람의 입장에서 말해 봐요.</a:t>
            </a:r>
            <a:endParaRPr lang="ko-KR" sz="2800" dirty="0"/>
          </a:p>
        </p:txBody>
      </p:sp>
      <p:sp>
        <p:nvSpPr>
          <p:cNvPr id="4" name="S15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입장인지에 따라 바라보는 생각(관점)이 달라요.</a:t>
            </a:r>
            <a:endParaRPr lang="ko-KR" sz="2800" dirty="0"/>
          </a:p>
        </p:txBody>
      </p:sp>
      <p:sp>
        <p:nvSpPr>
          <p:cNvPr id="6" name="S15-card92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93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일어난 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앞 도로에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신호등이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생겼어요.</a:t>
            </a:r>
            <a:endParaRPr lang="ko-KR" sz="2800" dirty="0"/>
          </a:p>
        </p:txBody>
      </p:sp>
      <p:sp>
        <p:nvSpPr>
          <p:cNvPr id="8" name="S15-card94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15-cardtext95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운전자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“조금 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기다려야 해서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불편해요.”</a:t>
            </a:r>
            <a:endParaRPr lang="ko-KR" sz="2800" dirty="0"/>
          </a:p>
        </p:txBody>
      </p:sp>
      <p:sp>
        <p:nvSpPr>
          <p:cNvPr id="10" name="S15-card96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97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“길을 안전하게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건널 수 있어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국어 관점 비교하며 읽기</dc:title>
  <dc:subject>KR22-G06-KOR-VIEWPOINT-L01</dc:subject>
  <dc:creator>education-ppt</dc:creator>
  <cp:lastModifiedBy>education-ppt</cp:lastModifiedBy>
  <cp:revision>1</cp:revision>
  <dcterms:created xsi:type="dcterms:W3CDTF">2026-10-26T08:55:44Z</dcterms:created>
  <dcterms:modified xsi:type="dcterms:W3CDTF">2026-10-26T08:55:44Z</dcterms:modified>
</cp:coreProperties>
</file>