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9fe45f5-183e-7110-aebb-fca4a7f84faa}">
          <p14:sldIdLst>
            <p14:sldId id="256"/>
            <p14:sldId id="257"/>
          </p14:sldIdLst>
        </p14:section>
        <p14:section name="개념" id="{345566ff-3afc-b74b-5028-a47426261cbd}">
          <p14:sldIdLst>
            <p14:sldId id="258"/>
            <p14:sldId id="259"/>
            <p14:sldId id="260"/>
            <p14:sldId id="261"/>
          </p14:sldIdLst>
        </p14:section>
        <p14:section name="연습" id="{8873879e-dce5-4511-4563-97980f88ce62}">
          <p14:sldIdLst>
            <p14:sldId id="262"/>
            <p14:sldId id="263"/>
            <p14:sldId id="264"/>
          </p14:sldIdLst>
        </p14:section>
        <p14:section name="확인" id="{75fa8dd2-dbe2-d0ca-9527-a0bef1c87bd2}">
          <p14:sldIdLst>
            <p14:sldId id="265"/>
            <p14:sldId id="266"/>
          </p14:sldIdLst>
        </p14:section>
        <p14:section name="정리" id="{b90d1e9f-f329-771f-e1f1-093ca012394d}">
          <p14:sldIdLst>
            <p14:sldId id="267"/>
          </p14:sldIdLst>
        </p14:section>
        <p14:section name="보충" id="{629c251b-d01a-7dde-4ee2-a20785bc02f3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읽기와비판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사실과 의견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사실과 의견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사실과 의견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“고래는 허파로 숨을 쉰다.”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“고래는 멋진 동물이다.”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둘은 무엇이 다를까?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사실과 의견의 뜻을 알고 문장을 구별할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의견과 그것을 뒷받침하는 사실을 찾고 쓸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주장과 근거를 떠올려요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“운동장에 그늘막을 설치해야 합니다. 여름에는 그늘이 없어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시간에 밖에서 놀기 어렵기 때문입니다.”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672249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376424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주장은 무엇인가요?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0137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717883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무엇인가요?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355167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5059341"/>
            <a:ext cx="10296144" cy="11585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‘그늘막은 꼭 필요하기 때문입니다.’도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근거일까요?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‘자료나 관찰로 확인할 수 있나요?’ 하고 물어요.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다를 수 있으면 의견이에요.</a:t>
            </a:r>
            <a:endParaRPr lang="ko-KR" sz="2800" dirty="0"/>
          </a:p>
        </p:txBody>
      </p:sp>
      <p:sp>
        <p:nvSpPr>
          <p:cNvPr id="5" name="S03-card12"/>
          <p:cNvSpPr/>
          <p:nvPr/>
        </p:nvSpPr>
        <p:spPr>
          <a:xfrm>
            <a:off x="548640" y="1957832"/>
            <a:ext cx="5431536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2094992"/>
            <a:ext cx="4882896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있었던 일이나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확인할 수 있는 내용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고래는 허파로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숨을 쉰다.</a:t>
            </a:r>
            <a:endParaRPr lang="ko-KR" sz="2800" dirty="0"/>
          </a:p>
        </p:txBody>
      </p:sp>
      <p:sp>
        <p:nvSpPr>
          <p:cNvPr id="7" name="S03-card14"/>
          <p:cNvSpPr/>
          <p:nvPr/>
        </p:nvSpPr>
        <p:spPr>
          <a:xfrm>
            <a:off x="6208776" y="1957832"/>
            <a:ext cx="5431536" cy="2202688"/>
          </a:xfrm>
          <a:prstGeom prst="roundRect">
            <a:avLst>
              <a:gd name="adj" fmla="val 498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5"/>
          <p:cNvSpPr txBox="1"/>
          <p:nvPr/>
        </p:nvSpPr>
        <p:spPr>
          <a:xfrm>
            <a:off x="6483096" y="2094992"/>
            <a:ext cx="4882896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일에 대한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판단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예: 고래는 멋진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동물이다.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알려 주는 말</a:t>
            </a:r>
            <a:endParaRPr lang="ko-KR" sz="4000" dirty="0"/>
          </a:p>
        </p:txBody>
      </p:sp>
      <p:sp>
        <p:nvSpPr>
          <p:cNvPr id="3" name="S04-text1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말이 있으면 의견일 때가 많아요.</a:t>
            </a:r>
            <a:endParaRPr lang="ko-KR" sz="2800" dirty="0"/>
          </a:p>
        </p:txBody>
      </p:sp>
      <p:sp>
        <p:nvSpPr>
          <p:cNvPr id="4" name="S04-card17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8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말은 단서일 뿐이에요. 마지막에는 ‘확인할 수 있나?’로 판단해요.</a:t>
            </a:r>
            <a:endParaRPr lang="ko-KR" sz="2800" dirty="0"/>
          </a:p>
        </p:txBody>
      </p:sp>
      <p:sp>
        <p:nvSpPr>
          <p:cNvPr id="6" name="S04-card19"/>
          <p:cNvSpPr/>
          <p:nvPr/>
        </p:nvSpPr>
        <p:spPr>
          <a:xfrm>
            <a:off x="548640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0"/>
          <p:cNvSpPr txBox="1"/>
          <p:nvPr/>
        </p:nvSpPr>
        <p:spPr>
          <a:xfrm>
            <a:off x="822960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생각을 나타내는 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~라고 생각한다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~것 같다</a:t>
            </a:r>
            <a:endParaRPr lang="ko-KR" sz="2800" dirty="0"/>
          </a:p>
        </p:txBody>
      </p:sp>
      <p:sp>
        <p:nvSpPr>
          <p:cNvPr id="8" name="S04-card21"/>
          <p:cNvSpPr/>
          <p:nvPr/>
        </p:nvSpPr>
        <p:spPr>
          <a:xfrm>
            <a:off x="4322064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4-cardtext22"/>
          <p:cNvSpPr txBox="1"/>
          <p:nvPr/>
        </p:nvSpPr>
        <p:spPr>
          <a:xfrm>
            <a:off x="4596384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바라는 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~해야 한다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~하면 좋겠다</a:t>
            </a:r>
            <a:endParaRPr lang="ko-KR" sz="2800" dirty="0"/>
          </a:p>
        </p:txBody>
      </p:sp>
      <p:sp>
        <p:nvSpPr>
          <p:cNvPr id="10" name="S04-card23"/>
          <p:cNvSpPr/>
          <p:nvPr/>
        </p:nvSpPr>
        <p:spPr>
          <a:xfrm>
            <a:off x="8095488" y="2304796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24"/>
          <p:cNvSpPr txBox="1"/>
          <p:nvPr/>
        </p:nvSpPr>
        <p:spPr>
          <a:xfrm>
            <a:off x="8369808" y="2441956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판단하는 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좋다, 아름답다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재미있다, 고맙다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 글에서 구별해요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사실이고, 어느 문장이 의견일까요?</a:t>
            </a:r>
            <a:endParaRPr lang="ko-KR" sz="28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꿀벌을 지켜요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꿀벌은 꽃에서 꿀과 꽃가루를 모은다.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꿀벌이 꽃 사이를 옮겨 다니면 꽃가루가 옮겨져 열매가 맺힌다.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사과나 딸기 같은 여러 과일도 꿀벌의 도움을 받아 열매를 맺는다.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나는 꿀벌이 정말 고마운 곤충이라고 생각한다.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우리 학교 화단에 꽃을 더 심어야 한다.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사실로 뒷받침해요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글은 의견을 사실로 뒷받침해요.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구별하면 글을 따져 가며 읽을 수 있어요.</a:t>
            </a:r>
            <a:endParaRPr lang="ko-KR" sz="2800" dirty="0"/>
          </a:p>
        </p:txBody>
      </p:sp>
      <p:graphicFrame>
        <p:nvGraphicFramePr>
          <p:cNvPr id="7" name="S06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1964944"/>
          <a:ext cx="10972800" cy="914400"/>
        </p:xfrm>
        <a:graphic>
          <a:graphicData uri="http://schemas.openxmlformats.org/drawingml/2006/table">
            <a:tbl>
              <a:tblPr/>
              <a:tblGrid>
                <a:gridCol w="5047488"/>
                <a:gridCol w="5925312"/>
              </a:tblGrid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글쓴이의 의견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뒷받침하는 사실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꿀벌은 고마운 곤충이다.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②③ 꿀벌 덕분에 여러 과일이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열매를 맺는다.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화단에 꽃을 더 심어야 한다.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꿀벌은 꽃에서 꿀과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꽃가루를 모은다.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사실일까, 의견일까?</a:t>
            </a:r>
            <a:endParaRPr lang="ko-KR" sz="4000" dirty="0"/>
          </a:p>
        </p:txBody>
      </p:sp>
      <p:sp>
        <p:nvSpPr>
          <p:cNvPr id="3" name="S07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대한 문장이에요. 사실인지 의견인지 말해요.</a:t>
            </a:r>
            <a:endParaRPr lang="ko-KR" sz="2800" dirty="0"/>
          </a:p>
        </p:txBody>
      </p:sp>
      <p:sp>
        <p:nvSpPr>
          <p:cNvPr id="4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‘확인할 수 있나요?’ 하고 물어요.</a:t>
            </a:r>
            <a:endParaRPr lang="ko-KR" sz="2800" dirty="0"/>
          </a:p>
        </p:txBody>
      </p:sp>
      <p:sp>
        <p:nvSpPr>
          <p:cNvPr id="6" name="S07-chip3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3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공원에는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은행나무가 열 그루 있다.</a:t>
            </a:r>
            <a:endParaRPr lang="ko-KR" sz="2800" dirty="0"/>
          </a:p>
        </p:txBody>
      </p:sp>
      <p:sp>
        <p:nvSpPr>
          <p:cNvPr id="8" name="S07-chip37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38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 공원은 일 년 중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아름답다.</a:t>
            </a:r>
            <a:endParaRPr lang="ko-KR" sz="2800" dirty="0"/>
          </a:p>
        </p:txBody>
      </p:sp>
      <p:sp>
        <p:nvSpPr>
          <p:cNvPr id="10" name="S07-chip3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4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은행나무 잎은 가을에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노랗게 물든다.</a:t>
            </a:r>
            <a:endParaRPr lang="ko-KR" sz="2800" dirty="0"/>
          </a:p>
        </p:txBody>
      </p:sp>
      <p:sp>
        <p:nvSpPr>
          <p:cNvPr id="12" name="S07-chip41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7-text42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의자를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놓아야 한다.</a:t>
            </a:r>
            <a:endParaRPr lang="ko-KR" sz="2800" dirty="0"/>
          </a:p>
        </p:txBody>
      </p:sp>
      <p:sp>
        <p:nvSpPr>
          <p:cNvPr id="14" name="S07-chip4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5" name="S07-text4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토요일에 공원에서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음악회가 열렸다.</a:t>
            </a:r>
            <a:endParaRPr lang="ko-KR" sz="2800" dirty="0"/>
          </a:p>
        </p:txBody>
      </p:sp>
      <p:sp>
        <p:nvSpPr>
          <p:cNvPr id="16" name="S07-chip45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17" name="S07-text46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음악회는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신났다.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숫자가 있으면 사실일까?</a:t>
            </a:r>
            <a:endParaRPr lang="ko-KR" sz="4000" dirty="0"/>
          </a:p>
        </p:txBody>
      </p:sp>
      <p:sp>
        <p:nvSpPr>
          <p:cNvPr id="3" name="S08-card4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문장 모두 숫자가 들어 있어요.</a:t>
            </a:r>
            <a:endParaRPr lang="ko-KR" sz="2800" dirty="0"/>
          </a:p>
        </p:txBody>
      </p:sp>
      <p:sp>
        <p:nvSpPr>
          <p:cNvPr id="5" name="S08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의견일까요? 숫자보다 무엇을 보아야 할까요?</a:t>
            </a:r>
            <a:endParaRPr lang="ko-KR" sz="2800" dirty="0"/>
          </a:p>
        </p:txBody>
      </p:sp>
      <p:sp>
        <p:nvSpPr>
          <p:cNvPr id="7" name="S08-chip5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text5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“우리 반 학생은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24명이다.”</a:t>
            </a:r>
            <a:endParaRPr lang="ko-KR" sz="2800" dirty="0"/>
          </a:p>
        </p:txBody>
      </p:sp>
      <p:sp>
        <p:nvSpPr>
          <p:cNvPr id="9" name="S08-chip5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text5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“하루 30분 줄넘기가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운동이다.”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의견을 뒷받침하는 사실은?</a:t>
            </a:r>
            <a:endParaRPr lang="ko-KR" sz="4000" dirty="0"/>
          </a:p>
        </p:txBody>
      </p:sp>
      <p:sp>
        <p:nvSpPr>
          <p:cNvPr id="3" name="S09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의견: “공원에 의자를 더 놓아야 한다.”</a:t>
            </a:r>
            <a:endParaRPr lang="ko-KR" sz="2800" dirty="0"/>
          </a:p>
        </p:txBody>
      </p:sp>
      <p:sp>
        <p:nvSpPr>
          <p:cNvPr id="4" name="S09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의견을 뒷받침하는 사실은 무엇일까요? 나머지는 왜 아닐까요?</a:t>
            </a:r>
            <a:endParaRPr lang="ko-KR" sz="2800" dirty="0"/>
          </a:p>
        </p:txBody>
      </p:sp>
      <p:sp>
        <p:nvSpPr>
          <p:cNvPr id="6" name="S09-chip58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9-card59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60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10년 전에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만들어졌다.</a:t>
            </a:r>
            <a:endParaRPr lang="ko-KR" sz="2800" dirty="0"/>
          </a:p>
        </p:txBody>
      </p:sp>
      <p:sp>
        <p:nvSpPr>
          <p:cNvPr id="9" name="S09-chip6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9-card62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3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주말에는 의자가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차서 서서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쉬는 사람들이 있다.</a:t>
            </a:r>
            <a:endParaRPr lang="ko-KR" sz="2800" dirty="0"/>
          </a:p>
        </p:txBody>
      </p:sp>
      <p:sp>
        <p:nvSpPr>
          <p:cNvPr id="12" name="S09-chip6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09-card65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9-cardtext66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가을 공원은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년 중 가장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아름답다.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사실과 의견을 구별하고, ④를 뒷받침하는 사실을 찾아요.</a:t>
            </a:r>
            <a:endParaRPr lang="ko-KR" sz="2800" dirty="0"/>
          </a:p>
        </p:txBody>
      </p:sp>
      <p:sp>
        <p:nvSpPr>
          <p:cNvPr id="5" name="S10-passagebox6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7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동네 도서관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별빛 도서관은 지난해 3월에 문을 열었다.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이 도서관에는 어린이 책이 5,000권 있다.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토요일마다 그림책 읽어 주기 행사가 열린다.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별빛 도서관은 우리 동네에서 가장 멋진 곳이다.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더 많은 친구들이 도서관을 이용하면 좋겠다.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쓰는 사실과 의견</a:t>
            </a:r>
            <a:endParaRPr lang="ko-KR" sz="4000" dirty="0"/>
          </a:p>
        </p:txBody>
      </p:sp>
      <p:sp>
        <p:nvSpPr>
          <p:cNvPr id="3" name="S12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좋아하는 장소 하나를 골라 말하고 활동지에 써요.</a:t>
            </a:r>
            <a:endParaRPr lang="ko-KR" sz="2800" dirty="0"/>
          </a:p>
        </p:txBody>
      </p:sp>
      <p:sp>
        <p:nvSpPr>
          <p:cNvPr id="4" name="S12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사실은 확인할 수 있게, 의견은 생각이 드러나게 써요.</a:t>
            </a:r>
            <a:endParaRPr lang="ko-KR" sz="2800" dirty="0"/>
          </a:p>
        </p:txBody>
      </p:sp>
      <p:sp>
        <p:nvSpPr>
          <p:cNvPr id="6" name="S12-chip7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2-text7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장소에 대한 사실 두 문장</a:t>
            </a:r>
            <a:endParaRPr lang="ko-KR" sz="2800" dirty="0"/>
          </a:p>
        </p:txBody>
      </p:sp>
      <p:sp>
        <p:nvSpPr>
          <p:cNvPr id="8" name="S12-chip7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2-text7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장소에 대한 의견 한 문장</a:t>
            </a:r>
            <a:endParaRPr lang="ko-KR" sz="2800" dirty="0"/>
          </a:p>
        </p:txBody>
      </p:sp>
      <p:sp>
        <p:nvSpPr>
          <p:cNvPr id="10" name="S12-chip7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2-text7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①의 사실이 ②의 의견을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사실은 확인할 수 있는 내용, 의견은 생각이나 판단이에요.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글은 의견을 사실로 뒷받침해요.</a:t>
            </a:r>
            <a:endParaRPr lang="ko-KR" sz="2800" dirty="0"/>
          </a:p>
        </p:txBody>
      </p:sp>
      <p:sp>
        <p:nvSpPr>
          <p:cNvPr id="5" name="S13-chip8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‘확인할 수 있나?’ 하고 묻기</a:t>
            </a:r>
            <a:endParaRPr lang="ko-KR" sz="2200" dirty="0"/>
          </a:p>
        </p:txBody>
      </p:sp>
      <p:sp>
        <p:nvSpPr>
          <p:cNvPr id="6" name="S13-chip8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찬성하는 말이면 사실로 보기</a:t>
            </a:r>
            <a:endParaRPr lang="ko-KR" sz="2200" dirty="0"/>
          </a:p>
        </p:txBody>
      </p:sp>
      <p:sp>
        <p:nvSpPr>
          <p:cNvPr id="7" name="S13-text8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8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사실과 의견의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뜻은?</a:t>
            </a:r>
            <a:endParaRPr lang="ko-KR" sz="2200" dirty="0"/>
          </a:p>
        </p:txBody>
      </p:sp>
      <p:sp>
        <p:nvSpPr>
          <p:cNvPr id="9" name="S13-text8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의견을 알려 주는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 두 가지는?</a:t>
            </a:r>
            <a:endParaRPr lang="ko-KR" sz="2200" dirty="0"/>
          </a:p>
        </p:txBody>
      </p:sp>
      <p:sp>
        <p:nvSpPr>
          <p:cNvPr id="10" name="S13-text8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‘하루 30분 줄넘기가 가장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운동이다’는?</a:t>
            </a:r>
            <a:endParaRPr lang="ko-KR" sz="2200" dirty="0"/>
          </a:p>
        </p:txBody>
      </p:sp>
      <p:sp>
        <p:nvSpPr>
          <p:cNvPr id="11" name="S13-text8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관점 비교하며 읽기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물건으로 말해요</a:t>
            </a:r>
            <a:endParaRPr lang="ko-KR" sz="4000" dirty="0"/>
          </a:p>
        </p:txBody>
      </p:sp>
      <p:sp>
        <p:nvSpPr>
          <p:cNvPr id="3" name="S14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있는 물건 하나로 사실과 의견을 말해 봐요.</a:t>
            </a:r>
            <a:endParaRPr lang="ko-KR" sz="2800" dirty="0"/>
          </a:p>
        </p:txBody>
      </p:sp>
      <p:sp>
        <p:nvSpPr>
          <p:cNvPr id="4" name="S14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“눈으로 보거나 재어 보면 확인할 수 있나?” 물어요.</a:t>
            </a:r>
            <a:endParaRPr lang="ko-KR" sz="2800" dirty="0"/>
          </a:p>
        </p:txBody>
      </p:sp>
      <p:sp>
        <p:nvSpPr>
          <p:cNvPr id="6" name="S14-card92"/>
          <p:cNvSpPr/>
          <p:nvPr/>
        </p:nvSpPr>
        <p:spPr>
          <a:xfrm>
            <a:off x="548640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93"/>
          <p:cNvSpPr txBox="1"/>
          <p:nvPr/>
        </p:nvSpPr>
        <p:spPr>
          <a:xfrm>
            <a:off x="822960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사실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컵은 파란색이다.”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눈으로 확인해요.</a:t>
            </a:r>
            <a:endParaRPr lang="ko-KR" sz="2800" dirty="0"/>
          </a:p>
        </p:txBody>
      </p:sp>
      <p:sp>
        <p:nvSpPr>
          <p:cNvPr id="8" name="S14-card94"/>
          <p:cNvSpPr/>
          <p:nvPr/>
        </p:nvSpPr>
        <p:spPr>
          <a:xfrm>
            <a:off x="6208776" y="24688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14-cardtext95"/>
          <p:cNvSpPr txBox="1"/>
          <p:nvPr/>
        </p:nvSpPr>
        <p:spPr>
          <a:xfrm>
            <a:off x="6483096" y="26060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의견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 컵은 예쁘다.”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사람마다 달라요.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사실과 의견</dc:title>
  <dc:subject>KR22-G06-KOR-FACTOPIN-L01</dc:subject>
  <dc:creator>education-ppt</dc:creator>
  <cp:lastModifiedBy>education-ppt</cp:lastModifiedBy>
  <cp:revision>1</cp:revision>
  <dcterms:created xsi:type="dcterms:W3CDTF">2026-10-26T08:58:24Z</dcterms:created>
  <dcterms:modified xsi:type="dcterms:W3CDTF">2026-10-26T08:58:24Z</dcterms:modified>
</cp:coreProperties>
</file>