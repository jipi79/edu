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0686be53-8f07-837e-a3be-deabbde01709}">
          <p14:sldIdLst>
            <p14:sldId id="256"/>
            <p14:sldId id="257"/>
          </p14:sldIdLst>
        </p14:section>
        <p14:section name="연습" id="{9a292b81-0bdb-7605-e82f-0cdba648a0d1}">
          <p14:sldIdLst>
            <p14:sldId id="258"/>
            <p14:sldId id="259"/>
            <p14:sldId id="260"/>
            <p14:sldId id="262"/>
            <p14:sldId id="263"/>
            <p14:sldId id="264"/>
            <p14:sldId id="265"/>
            <p14:sldId id="267"/>
            <p14:sldId id="270"/>
          </p14:sldIdLst>
        </p14:section>
        <p14:section name="개념" id="{89c9d1b2-2031-ff38-57ae-98bb63ca0976}">
          <p14:sldIdLst>
            <p14:sldId id="261"/>
            <p14:sldId id="266"/>
            <p14:sldId id="268"/>
            <p14:sldId id="269"/>
          </p14:sldIdLst>
        </p14:section>
        <p14:section name="연습" id="{129ba74a-0c92-6042-ffa6-49a9ae6d953e}">
          <p14:sldIdLst/>
        </p14:section>
        <p14:section name="개념" id="{54704608-ca58-89a0-d09d-3c0175e10a62}">
          <p14:sldIdLst/>
        </p14:section>
        <p14:section name="연습" id="{5a025cfa-3799-4693-c7a8-a40ea9412532}">
          <p14:sldIdLst/>
        </p14:section>
        <p14:section name="개념" id="{4de7c317-4c9b-bdf2-7506-0105673cc9b4}">
          <p14:sldIdLst/>
        </p14:section>
        <p14:section name="연습" id="{69da0cb9-5c41-ca04-9b64-47f83c9426b6}">
          <p14:sldIdLst/>
        </p14:section>
        <p14:section name="확인" id="{6fbe1206-6358-4003-29bd-a2912edfad56}">
          <p14:sldIdLst>
            <p14:sldId id="271"/>
            <p14:sldId id="272"/>
            <p14:sldId id="273"/>
          </p14:sldIdLst>
        </p14:section>
        <p14:section name="정리" id="{e514b307-4d7b-31af-81d7-30cc978e1cc2}">
          <p14:sldIdLst>
            <p14:sldId id="274"/>
          </p14:sldIdLst>
        </p14:section>
        <p14:section name="보충" id="{d0d6f0f0-f7c0-1704-627d-525865061627}">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[S01 · 오늘의 질문과 목표]
목적: 오늘 할 일을 알리고, 식물의 각 부분이 하는 일에 궁금증을 갖게 합니다.
시간: 약 2분
이렇게 말해 보세요
- “화분에 물을 주면 그 물은 흙에만 있을까, 식물 몸속 어디까지 갈까?”
- “오늘은 셀러리로 두 가지 실험을 하고, 식물의 뿌리·줄기·잎·꽃·열매가 각각 무슨 일을 하는지 알아볼 거야.”
예상 답
- “뿌리가 물을 먹어요.” “잎까지 갈 것 같아요.” 어떤 답이든 괜찮습니다. 답을 확인하지 않고 넘어갑니다.
막히면
- 집에 있는 화분이나 채소를 보여 주며 “어디가 뿌리고 어디가 줄기일까?”라고만 묻습니다.
주의
- 수업 반나절~하루 전에 S04와 S09의 실험을 한 벌씩 미리 차려 햇빛이 드는 창가(아이 눈에 띄지 않는 곳)에 둡니다. 결과는 몇 시간이 지나야 보이므로, 수업 중에는 아이가 새로 차린 실험과 함께 미리 해 둔 것을 관찰합니다.
- 미리 차릴 때 S09의 두 컵에는 처음 물 높이를 셀로판테이프로 표시해 둡니다.
- 셀러리를 자르는 일은 어른이 합니다. 실험에 쓴 셀러리는 먹지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[S02 · 선수 학습 확인(식물의 한살이, 식물의 부분)]
목적: 초3 ‘식물의 한살이’에서 배운 한살이의 차례와 열매 속의 씨, 식물의 부분 이름을 확인합니다. 오늘 각 부분이 하는 일을 배우려면 부분의 이름을 알아야 합니다.
시간: 약 2분
이렇게 말해 보세요
- “① 강낭콩은 잎과 줄기가 자란 다음에 어떻게 되었지?”
- “② 꼬투리를 열어 보면 무엇이 들어 있을까?”
- “③ 식물의 몸은 어떤 부분으로 되어 있을까? 땅속에 있는 부분부터 말해 볼래?”
정답
- ① 꽃 피기 → 열매 맺기
- ② 씨
- ③ 뿌리, 줄기, 잎, 꽃, 열매(다섯 가지 중 네 가지 이상 말하면 됨)
막히면
- ②③을 말하기 어려우면 S20(보충)을 먼저 합니다. 보충으로도 어려우면 초3 ‘식물의 한살이’(KR22-G03-SCI-PLANTLIFE-L01)를 먼저 다시 합니다.
주의
- ‘떡잎’, ‘본잎’을 말하면 칭찬합니다. 오늘은 ‘잎’이 하는 일을 배웁니다.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[S03 · 실험 전 예상하기(색소 물에 꽂은 셀러리)]
목적: 실험 전에 결과를 예상하고 까닭을 말합니다(목표 A). 결과는 S04에서 미리 해 둔 셀러리로 확인합니다.
시간: 약 1분
이렇게 말해 보세요
- “빨간 색소를 탄 물에 셀러리를 꽂아 두면 몇 시간 뒤 잎은 어떻게 될까? 왜 그렇게 생각해?”
- “줄기를 잘라 보면 어디가 빨갈까? 전체가 빨갈까?”
- “예상은 활동지 1의 ‘내 예상’ 칸에 짧게 써 줘.”
예상 답
- 어떤 예상이든 괜찮습니다. “잎이 빨개질 것 같아요.” “줄기 전체가 빨개질 것 같아요.” “아무 변화가 없을 것 같아요.”
막히면
- 쓰기가 느리면 아이가 말하고 부모가 받아 적습니다.
주의
- 결과를 알려 주지 않습니다. 미리 해 둔 셀러리는 아직 보여 주지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[S04 · 색소 물로 물의 이동 관찰하기]
목적: 색소 물에 꽂은 셀러리를 관찰해 물이 줄기를 따라 잎까지 올라간다는 것과 물이 지나가는 곳을 찾습니다(목표 A, 오해 M1).
시간: 약 4분
이렇게 말해 보세요
- “새 셀러리를 꽂아 두자. 이건 내일 다시 볼 거야. 어제 미리 꽂아 둔 셀러리는 어때? 잎을 봐.”
- “이제 줄기를 가로로 잘라 볼게. 자른 면에서 빨간 곳은 어디야? 전체가 빨개?”
- “세로로도 잘라 볼게. 빨간색이 어떤 모양으로 이어져 있어?”
예상 답
- “잎맥이 빨개졌어요.” “가로로 자른 면에 빨간 점이 줄지어 있어요.” “세로로 자르니 빨간 줄이 위로 이어져 있어요.”
막히면
- 색이 잘 보이지 않으면 돋보기로 보거나, 흰 종이 위에 자른 조각을 놓고 봅니다.
- 잎의 색 변화가 약하면 잎맥(잎의 줄)을 햇빛에 비추어 봅니다.
주의
- 셀러리에서 먹는 부분은 엄밀히는 잎자루(잎과 줄기를 잇는 부분)이지만, 줄기처럼 물이 지나가는 통로가 있어 물의 이동을 보기에 좋습니다. 백합·흰 카네이션 같은 꽃의 줄기로 해도 됩니다.
- 색소가 진할수록 잘 보입니다. 식용 색소를 물 한 컵에 반 숟가락쯤 넣습니다. 자른 면에 색이 든 곳은 몇 시간이면 보이고, 잎이 물드는 데는 반나절~하루가 걸립니다.
- 칼과 도마는 어른만 씁니다. 아이는 자른 조각을 받아 관찰합니다.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[S05 · 결과 정리(물의 이동)]
목적: 관찰 결과를 정리하고 예상과 비교합니다(목표 A).
시간: 약 2분
이렇게 말해 보세요
- “한 줄씩 말해 줄래? 잎은 어땠어? 가로로 자른 면은?”
- “예상과 같은 것, 다른 것은 뭐야?”
예상 답
- 잎: 잎맥(잎의 줄)이 붉게 물듦 / 가로로 자른 면: 바깥쪽에 붉은 점이 여러 개 줄지어 있음, 나머지는 거의 그대로 / 세로로 자른 면: 붉은 줄이 아래에서 위로 이어짐
막히면
- 자른 조각을 다시 보여 주고 ‘빨간 곳’만 손가락으로 짚게 합니다.
주의
- 화면의 빈칸은 아이가 말로 채우는 자리입니다. 예상이 달랐다면 예상 칸은 고치지 않고 결과만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[S06 · 결과로 설명하기(뿌리와 줄기가 하는 일)]
목적: 실험 결과를 증거로, 뿌리에서 흡수한 물이 줄기 속의 정해진 통로를 따라 잎까지 올라간다는 것을 정리합니다(목표 A, 오해 M1).
시간: 약 3분
이렇게 말해 보세요
- “색소 물이 줄기 전체로 퍼졌어? 아니면 점처럼 정해진 곳으로만 올라갔어?”
- “줄기 속에는 물이 지나가는 통로가 있어. 뿌리가 흙에서 물을 흡수하면 그 물이 줄기의 통로를 따라 잎까지 올라가.”
- “뿌리는 땅속으로 뻗어서 식물이 쓰러지지 않게 붙잡아 주기도 해. 이걸 ‘지지한다’고 해.”
예상 답
- “빨간 점으로만 올라갔어요.” “뿌리가 물을 빨아들이고 줄기가 잎까지 보내요.”
막히면
- 빨대로 색 물을 빨아올리는 모습을 떠올리게 합니다. “줄기 속에 가는 빨대가 여러 개 있다고 생각해 봐.”
주의
- 뿌리에는 뿌리털이 많아 물을 잘 흡수합니다. 줄기는 식물을 받치고, 감자처럼 양분을 저장하기도 합니다(S13에서 다룸).
- 줄기 속 통로의 이름(물관)은 중학교에서 배웁니다. 오늘은 ‘물이 지나가는 통로’라고 합니다.
- 그림은 셀러리를 자른 면을 간단히 나타낸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[S07 · 오해 비교(줄기 전체가 물을 빨아올린다)]
목적: ‘줄기 전체가 물을 빨아올린다’는 생각을 자른 면의 결과로 바로잡습니다(목표 A, 오해 M1).
시간: 약 2분
이렇게 말해 보세요
- “토끼 말이 맞다면 가로로 자른 면은 어떻게 보여야 할까? 실제로는 어땠어?”
정답
- 곰. 증거: 가로로 자른 면에 붉은 점이 몇 개만 있었고 나머지는 물들지 않았습니다. 세로로 자른 면에는 붉은 줄이 위로 이어져 있었습니다.
막히면
- 자른 조각을 다시 보며 ‘빨간 곳’과 ‘빨갛지 않은 곳’을 나누어 짚게 합니다.
주의
- 증거를 하나 이상 말하면 잘한 것입니다.
- 지치면 여기서 쉬고, 다음에 S08부터 이어도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[S08 · 실험 전 예상하기(비닐봉지를 씌운 셀러리)]
목적: 비닐봉지 실험을 하기 전에 결과를 예상합니다(목표 B). 결과는 S09에서 미리 해 둔 실험으로 확인합니다.
시간: 약 1분
이렇게 말해 보세요
- “줄기를 따라 잎까지 올라간 물은 그다음 어떻게 될까?”
- “잎이 있는 셀러리와 잎을 딴 셀러리에 비닐봉지를 씌우면 봉지 안은 어떻게 될까?”
예상 답
- 어떤 예상이든 괜찮습니다. “둘 다 그대로일 것 같아요.” “잎이 있는 쪽에 물방울이 생길 것 같아요.”
주의
- 결과를 알려 주지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[S09 · 비닐봉지로 잎에서 나오는 물 관찰하기]
목적: 잎이 있는 셀러리와 잎을 딴 셀러리에 비닐봉지를 씌워, 잎에서 물이 빠져나가는지 비교합니다(목표 B, 오해 M2).
시간: 약 3분
이렇게 말해 보세요
- “두 셀러리는 무엇만 달라? 물의 양, 컵, 놓아둔 곳은 같게 하자.”
- “새로 차린 것은 내일 다시 보고, 미리 해 둔 두 봉지를 지금 보자. 봉지 안쪽이 어때?”
- “처음에 테이프로 표시한 물 높이와 지금 물 높이를 견주어 볼까?”
예상 답
- “잎이 있는 쪽 봉지 안에 물방울이 맺혀서 뿌예요.” “잎을 딴 쪽은 거의 그대로예요.” “잎이 있는 쪽 물이 조금 줄었어요.”
막히면
- 물방울이 잘 보이지 않으면 봉지를 손가락으로 톡톡 쳐 보거나 안쪽을 휴지로 닦아 봅니다.
- 햇빛이 약한 날에는 물방울이 적게 생깁니다. 몇 시간 더 두고 다시 봅니다.
주의
- 컵 입구를 랩으로 감싸는 까닭은 컵의 물이 봉지 안으로 증발하지 않게 하기 위해서입니다. 잎만 다르게 하고 나머지 조건은 같게 해야 비교할 수 있습니다.
- 잎을 딴 쪽 봉지에도 자른 자리에서 아주 조금 물방울이 생길 수 있습니다. 두 봉지를 ‘더 많다, 거의 없다’로 비교합니다.
- 물 높이 차이는 작아 잘 보이지 않을 수 있습니다. 그때는 ‘차이를 모르겠음’이라고 써도 됩니다.
- 비닐봉지는 어린 동생의 손이 닿지 않는 곳에 둡니다.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 · 결과 정리(비닐봉지 실험)]
목적: 두 봉지의 결과를 정리하고, 차이를 만든 조건(잎이 있고 없음)을 찾습니다(목표 B).
시간: 약 2분
이렇게 말해 보세요
- “잎이 있는 쪽 봉지 안은 어땠어? 잎을 딴 쪽은?”
- “두 셀러리는 무엇만 달랐지? 그럼 물방울은 어디에서 나왔을까?”
예상 답
- 잎을 그대로 둔 것: 봉지 안에 물방울이 많이 맺힘(뿌옇다), 물 높이가 조금 낮아짐
- 잎을 모두 딴 것: 봉지 안에 물방울이 거의 없음, 물 높이가 거의 그대로
- “잎만 달랐으니까 물방울은 잎에서 나왔어요.”
막히면
- 미리 해 둔 두 봉지를 나란히 놓고 다시 봅니다.
주의
- 화면의 빈칸은 아이가 말로 채우는 자리입니다. 결과는 활동지 2의 ‘결과’ 줄에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[S11 · 결과로 설명하기(증산 작용)]
목적: 비닐봉지 실험의 결과를 증거로 증산 작용을 설명합니다(목표 B, 오해 M2).
시간: 약 2분
이렇게 말해 보세요
- “잎의 겉면에는 눈에 잘 보이지 않는 작은 구멍이 아주 많아. 이 구멍을 ‘기공’이라고 해.”
- “줄기를 따라 올라온 물이 기공으로 수증기가 되어 빠져나가는 것을 ‘증산 작용’이라고 해. 봉지 안의 물방울은 그 수증기가 봉지에 닿아 다시 물이 된 거야. 4학년 때 배운 말로 뭐라고 했지?”
- “잎에서 물이 빠져나가면 아래의 물이 위로 끌려 올라와. 또 더운 날 식물이 너무 뜨거워지지 않게 해 줘.”
예상 답
- “응결이요.” “잎에서 물이 수증기로 나가요.”
막히면
- 4학년 ‘물의 상태 변화’의 응결(차가운 컵 바깥의 물방울)을 떠올리게 합니다.
주의
- 기공은 현미경으로 봐야 보입니다. 오늘은 ‘작은 구멍’이라고만 알려 줍니다.
- 증산 작용은 햇빛이 강하고 바람이 불고 건조할 때 더 활발합니다. 아이가 물으면 알려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[S12 · 오해 비교(봉지 안 물방울은 컵의 물이다)]
목적: 물방울이 컵의 물에서 왔다는 생각을 비교 실험의 결과로 반박합니다(목표 B, 오해 M2).
시간: 약 2분
이렇게 말해 보세요
- “토끼 말이 맞다면 잎을 딴 쪽 봉지에도 물방울이 똑같이 생겨야 하지 않을까? 실제로는?”
- “컵 입구는 어떻게 해 두었지?”
정답
- 곰. 증거: 잎만 다르게 하고 나머지는 같게 했는데, 잎을 딴 쪽 봉지에는 물방울이 거의 없었습니다. 또 컵 입구를 랩으로 감싸 컵의 물이 봉지로 증발하지 못하게 했습니다.
막히면
- 두 봉지를 나란히 놓고 ‘무엇만 달라?’를 다시 묻습니다.
주의
- 조건을 하나만 다르게 해서 비교한 것이 증거가 된다는 점을 칭찬해 줍니다(3학년 ‘관찰 기록하기’의 조건 비교와 같음).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광합성의 기초와 양분의 저장]
목적: 잎이 빛을 받아 뿌리에서 온 물과 공기 중의 이산화 탄소로 양분(녹말)을 만드는 광합성을 알고, 만든 양분이 다른 부분으로 옮겨져 쓰이거나 저장된다는 것을 압니다(목표 B, 오해 M3).
시간: 약 3분
이렇게 말해 보세요
- “식물은 동물처럼 먹이를 먹지 않아. 그럼 자라는 데 필요한 양분은 어디서 얻을까?”
- “잎은 빛을 받아서, 뿌리에서 올라온 물과 공기 중의 이산화 탄소로 양분을 만들어. 이것을 ‘광합성’이라고 해. 이때 산소도 나와.”
- “잎에서 만든 양분은 줄기를 거쳐 식물의 온몸으로 가서 쓰이고, 남는 것은 뿌리나 줄기, 열매에 저장돼. 고구마는 뿌리에, 감자는 줄기에 저장한 거야.”
예상 답
- “흙에서 얻어요.”라고 하면 오해 M3입니다. 광합성으로 스스로 만든다고 알려 줍니다.
- “빛, 물, 이산화 탄소요.” “녹말이요.”
막히면
- 그림의 화살표를 하나씩 짚으며 ‘들어가는 것’(빛, 물, 이산화 탄소)과 ‘나오는 것’(양분, 산소)으로 나누어 말하게 합니다.
주의
- 선택 시범(어른만): 이 장을 설명한 뒤, 아이가 활동지 6의 ‘내 예상’을 먼저 쓰게 하고 감자를 반으로 잘라 자른 면에 아이오딘 용액(약국의 포비돈 아이오딘 소독약)을 한두 방울 떨어뜨립니다. 녹말이 있으면 청람색(검푸른색)으로 변합니다. 결과를 활동지 6에 씁니다.
- 아이오딘 용액은 어른만 다루고, 눈·입에 닿지 않게 하며 옷에 묻지 않게 합니다. 용액을 떨어뜨린 감자는 먹지 않고 버립니다. 아이오딘에 알레르기가 있으면 시범을 하지 않습니다.
- 흙 속의 양분(거름)은 식물이 잘 자라도록 돕지만, 식물이 자라는 데 쓰는 녹말 같은 양분은 잎에서 광합성으로 만듭니다.
- 감자는 땅속줄기, 고구마는 뿌리에 양분을 저장한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[S14 · 꽃과 열매가 하는 일]
목적: 꽃의 생김새(암술·수술·꽃잎·꽃받침)와 꽃이 씨를 만드는 일, 열매가 씨를 보호하고 퍼뜨리는 일을 압니다(목표 C, 오해 M4).
시간: 약 2분
이렇게 말해 보세요
- “꽃 가운데에 있는 것이 암술, 그 둘레가 수술이야. 수술에서 만든 꽃가루가 암술에 옮겨 붙는 것을 ‘꽃가루받이’라고 해. 그러면 씨가 생겨.”
- “꽃가루는 누가 옮겨 줄까? 벌이나 나비가 꽃을 옮겨 다니면 어떻게 될까?”
- “씨가 자라는 동안 씨를 감싸 보호하는 것이 열매야. 민들레는 바람에 날려서, 도꼬마리는 동물 털에 붙어서 씨를 퍼뜨려.”
예상 답
- “벌이 꽃가루를 옮겨 줘요.” “사과 안에 씨가 있어요.”
막히면
- 집에 있는 과일(사과, 귤, 토마토)을 잘라 씨를 찾아보며 “이 씨를 감싼 것이 열매야.”라고 말합니다.
주의
- 꽃가루는 곤충뿐 아니라 새, 바람, 물이 옮기기도 합니다.
- 꽃잎은 곤충을 끌어들이고, 꽃받침은 꽃잎을 받쳐 보호합니다. 아이가 물으면 알려 줍니다.
- 강낭콩 꼬투리(3학년)도 열매입니다. 꼬투리가 마르면 터지면서 씨가 퍼지는 식물(봉선화 등)도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[S15 · 부분과 하는 일 연결하기]
목적: 도움을 받으며 식물의 각 부분과 하는 일을 연결합니다(목표 A·B·C).
시간: 약 2분
이렇게 말해 보세요
- “①부터 차례로 말해 볼래? 왜 그렇게 생각했는지 실험에서 본 것으로 말해 줘.”
정답
- ① 뿌리 ② 줄기 ③ 잎(광합성) ④ 잎(증산 작용) ⑤ 꽃 ⑥ 열매
막히면
- S06, S11, S13, S14를 다시 보여 줍니다.
주의
- ②는 셀러리 자른 면, ④는 비닐봉지 실험을 증거로 말하면 잘한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[S16 · 혼자 해결]
목적: 도움 없이 식물의 부분이 하는 일을 처음 보는 질문에 적용하는지 확인합니다(목표 A·B·C).
시간: 약 3분
이렇게 말해 보세요
- “이번에는 혼자 답해 볼래? 왜 그렇게 생각했는지도 말해 줘.”
정답
- ① 뿌리
- ② 잎이 없어서 증산 작용(잎에서 물이 수증기가 되어 빠져나가는 것)이 일어나지 않았기 때문
- ③ 빛, 물, 이산화 탄소
- ④ 꽃가루받이(수술의 꽃가루를 암술로 옮겨 씨가 생기게 함)
막히면
- 바로 알려 주지 말고 “두 셀러리는 무엇만 달랐지?”, “잎이 양분을 만들 때 무엇이 필요했지?”라고만 묻습니다.
- 도움을 받아 해결했다면 기록표에 ‘도움’으로 표시합니다.
주의
- ①에서 ‘줄기’라고 하면 감자와 헷갈린 것입니다(감자는 줄기, 고구마는 뿌리).
- ③에서 ‘흙’이나 ‘거름’을 말하면 오해 M3입니다. S13을 다시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[S17 · 정답과 피드백]
목적: 아이의 답을 함께 확인하고 흔한 실수를 바로잡습니다. 수업용에만 있는 장입니다.
시간: 약 2분
이렇게 말해 보세요
- “네 답과 같은지 볼까? 다르면 어디서 달라졌는지 찾아보자.”
정답
- ① 뿌리 ② 잎이 없어 증산 작용이 일어나지 않음 ③ 빛, 물, 이산화 탄소 ④ 꽃가루받이
막히면
- ①③이 틀리면 S13으로(M3), ②가 틀리면 S10~S12로(M2), ④가 틀리면 S14로 돌아갑니다.
주의
- 이 장은 학생용 파일에는 없습니다. 아이와 함께 볼 때는 슬라이드 쇼로 보여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[S18 · 마무리 확인(양분은 어디에서 왔을까)]
목적: 처음 보는 문제에서 광합성으로 만든 양분이 다른 부분에 저장된다는 것으로 설명하는지 확인합니다(목표 B, 오해 M3).
시간: 약 2분
이렇게 말해 보세요
- “감자와 고구마는 땅속에 있지? 땅속에는 빛이 있을까? 그럼 녹말은 어디에서 만들었을까?”
정답
- 나. 녹말은 잎에서 빛을 받아 광합성으로 만든 양분이 줄기를 거쳐 옮겨 와 저장된 것입니다. 가는 흙에서 녹말을 얻는다는 잘못된 생각이고, 다는 빛이 없는 땅속에서는 광합성을 할 수 없어 맞지 않습니다.
막히면
- S13의 그림에서 ‘양분’이 어디서 생기는지 다시 짚게 합니다.
주의
- 답만 맞히고 까닭을 말하지 못하면 기록표에 ‘답만’으로 적습니다.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[S19 · 정리와 다음 수업 복습]
목적: 핵심을 정리하고 다음 수업 첫 5분에 풀 복습 문제를 알려 줍니다.
시간: 약 1분
이렇게 말해 보세요
- “식물의 다섯 부분이 하는 일을 하나씩 말해 볼래?”
예상 답
- “뿌리는 물을 흡수해요. 줄기는 물이 지나가요. 잎은 양분을 만들고 물을 내보내요. 꽃은 씨를 만들고 열매는 씨를 퍼뜨려요.”
정답
- ① 색소 물이 줄기 속 통로를 따라 올라갔기 때문 ② 증산 작용 ③ 녹말
막히면
- S06, S11, S13, S14를 다시 보여 줍니다.
주의
- 복습 세 문제는 다음 수업을 시작할 때 활동지 마지막 쪽과 함께 풉니다. 오늘 새로 차린 두 실험은 내일 다시 보고 활동지 1·2의 결과와 같은지 확인합니다.
- 실험에 쓴 셀러리와 감자는 먹지 않고 버립니다.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[S20 · 선수 학습 보충(식물의 부분과 한살이)]
목적: S02가 흔들리면, 식물의 부분 이름과 한살이의 차례를 그림으로 다시 익힙니다.
시간: 약 4분
이렇게 말해 보세요
- “그림에서 땅속에 있는 부분은 뭐야? 땅 위에서 위로 뻗은 부분은?”
- “꽃이 지고 나면 무엇이 생길까? 그 안에는 무엇이 들어 있지?”
예상 답
- “뿌리요.” “줄기요.” “열매가 생기고 그 안에 씨가 있어요.”
막히면
- 집에 있는 채소(파, 시금치, 콩나물)나 화분을 보며 뿌리·줄기·잎을 손가락으로 짚어 봅니다.
주의
- 계획상 선수 차시는 초3 ‘식물의 한살이’(KR22-G03-SCI-PLANTLIFE-L01)입니다. 한살이의 차례나 부분 이름이 계속 어려우면 그 차시를 먼저 다시 합니다.
- 보충이 오래 걸리면 오늘은 여기까지 하고 다음 날 S02부터 다시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46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28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28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초6 과학 · 식물과전기 · 1차시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초6 과학 · 식물의 구조와 기능</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초6 과학 · 식물의 구조와 기능</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초6 과학 · 식물의 구조와 기능</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600" b="1" dirty="0">
                <a:solidFill>
                  <a:srgbClr val="FFFFFF"/>
                </a:solidFill>
                <a:latin typeface="맑은 고딕" pitchFamily="34" charset="0"/>
                <a:ea typeface="맑은 고딕" pitchFamily="34" charset="-122"/>
                <a:cs typeface="맑은 고딕" pitchFamily="34" charset="-120"/>
              </a:rPr>
              <a:t>식물의 구조와 기능</a:t>
            </a:r>
            <a:endParaRPr lang="ko-KR" sz="46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2800" dirty="0">
                <a:solidFill>
                  <a:srgbClr val="C9DCD8"/>
                </a:solidFill>
                <a:latin typeface="맑은 고딕" pitchFamily="34" charset="0"/>
                <a:ea typeface="맑은 고딕" pitchFamily="34" charset="-122"/>
                <a:cs typeface="맑은 고딕" pitchFamily="34" charset="-120"/>
              </a:rPr>
              <a:t>식물의 뿌리·줄기·잎·꽃은</a:t>
            </a:r>
            <a:endParaRPr lang="ko-KR" sz="2800" dirty="0"/>
          </a:p>
          <a:p>
            <a:pPr eaLnBrk="0" indent="0" marL="0">
              <a:buNone/>
            </a:pPr>
            <a:r>
              <a:rPr lang="ko-KR" altLang="en-US" sz="2800" dirty="0">
                <a:solidFill>
                  <a:srgbClr val="C9DCD8"/>
                </a:solidFill>
                <a:latin typeface="맑은 고딕" pitchFamily="34" charset="0"/>
                <a:ea typeface="맑은 고딕" pitchFamily="34" charset="-122"/>
                <a:cs typeface="맑은 고딕" pitchFamily="34" charset="-120"/>
              </a:rPr>
              <a:t>각각 무슨 일을 할까?</a:t>
            </a:r>
            <a:endParaRPr lang="ko-KR" sz="2800" dirty="0"/>
          </a:p>
        </p:txBody>
      </p:sp>
      <p:sp>
        <p:nvSpPr>
          <p:cNvPr id="4" name="S01-panel1"/>
          <p:cNvSpPr/>
          <p:nvPr/>
        </p:nvSpPr>
        <p:spPr>
          <a:xfrm>
            <a:off x="7543800" y="502920"/>
            <a:ext cx="4206240" cy="3200400"/>
          </a:xfrm>
          <a:prstGeom prst="roundRect">
            <a:avLst>
              <a:gd name="adj" fmla="val 4286"/>
            </a:avLst>
          </a:prstGeom>
          <a:solidFill>
            <a:srgbClr val="FFFFFF"/>
          </a:solidFill>
          <a:ln w="12700">
            <a:solidFill>
              <a:srgbClr val="FFFFFF"/>
            </a:solidFill>
            <a:prstDash val="solid"/>
          </a:ln>
        </p:spPr>
      </p:sp>
      <p:sp>
        <p:nvSpPr>
          <p:cNvPr id="5" name="S01-figure2" descr="뿌리·줄기·잎·꽃·열매가 있는 식물"/>
          <p:cNvSpPr/>
          <p:nvPr/>
        </p:nvSpPr>
        <p:spPr>
          <a:xfrm>
            <a:off x="8503069" y="2602455"/>
            <a:ext cx="2287701" cy="879885"/>
          </a:xfrm>
          <a:custGeom>
            <a:avLst/>
            <a:gdLst/>
            <a:ahLst/>
            <a:cxnLst/>
            <a:rect l="l" t="t" r="r" b="b"/>
            <a:pathLst>
              <a:path w="2287701" h="879885">
                <a:moveTo>
                  <a:pt x="0" y="879885"/>
                </a:moveTo>
                <a:lnTo>
                  <a:pt x="2287701" y="879885"/>
                </a:lnTo>
                <a:lnTo>
                  <a:pt x="2287701" y="0"/>
                </a:lnTo>
                <a:lnTo>
                  <a:pt x="0" y="0"/>
                </a:lnTo>
                <a:close/>
              </a:path>
            </a:pathLst>
          </a:custGeom>
          <a:solidFill>
            <a:srgbClr val="EFE4D2"/>
          </a:solidFill>
          <a:ln/>
        </p:spPr>
      </p:sp>
      <p:sp>
        <p:nvSpPr>
          <p:cNvPr id="6" name="S01-mark3"/>
          <p:cNvSpPr/>
          <p:nvPr/>
        </p:nvSpPr>
        <p:spPr>
          <a:xfrm>
            <a:off x="8943012" y="1817157"/>
            <a:ext cx="703908" cy="382750"/>
          </a:xfrm>
          <a:custGeom>
            <a:avLst/>
            <a:gdLst/>
            <a:ahLst/>
            <a:cxnLst/>
            <a:rect l="l" t="t" r="r" b="b"/>
            <a:pathLst>
              <a:path w="703908" h="382750">
                <a:moveTo>
                  <a:pt x="703908" y="345355"/>
                </a:moveTo>
                <a:lnTo>
                  <a:pt x="607561" y="373511"/>
                </a:lnTo>
                <a:lnTo>
                  <a:pt x="520012" y="382750"/>
                </a:lnTo>
                <a:lnTo>
                  <a:pt x="436863" y="380550"/>
                </a:lnTo>
                <a:lnTo>
                  <a:pt x="358993" y="367352"/>
                </a:lnTo>
                <a:lnTo>
                  <a:pt x="285963" y="342715"/>
                </a:lnTo>
                <a:lnTo>
                  <a:pt x="218212" y="305760"/>
                </a:lnTo>
                <a:lnTo>
                  <a:pt x="155300" y="257366"/>
                </a:lnTo>
                <a:lnTo>
                  <a:pt x="97667" y="197974"/>
                </a:lnTo>
                <a:lnTo>
                  <a:pt x="44434" y="127143"/>
                </a:lnTo>
                <a:lnTo>
                  <a:pt x="0" y="37395"/>
                </a:lnTo>
                <a:lnTo>
                  <a:pt x="96347" y="9239"/>
                </a:lnTo>
                <a:lnTo>
                  <a:pt x="183896" y="0"/>
                </a:lnTo>
                <a:lnTo>
                  <a:pt x="267045" y="2200"/>
                </a:lnTo>
                <a:lnTo>
                  <a:pt x="344915" y="15398"/>
                </a:lnTo>
                <a:lnTo>
                  <a:pt x="417945" y="40035"/>
                </a:lnTo>
                <a:lnTo>
                  <a:pt x="485697" y="76990"/>
                </a:lnTo>
                <a:lnTo>
                  <a:pt x="548608" y="125384"/>
                </a:lnTo>
                <a:lnTo>
                  <a:pt x="606241" y="184776"/>
                </a:lnTo>
                <a:lnTo>
                  <a:pt x="659474" y="255607"/>
                </a:lnTo>
                <a:lnTo>
                  <a:pt x="703908" y="345355"/>
                </a:lnTo>
                <a:close/>
              </a:path>
            </a:pathLst>
          </a:custGeom>
          <a:solidFill>
            <a:srgbClr val="8CC46B"/>
          </a:solidFill>
          <a:ln w="15875">
            <a:solidFill>
              <a:srgbClr val="4E8F3A"/>
            </a:solidFill>
            <a:prstDash val="solid"/>
          </a:ln>
        </p:spPr>
      </p:sp>
      <p:sp>
        <p:nvSpPr>
          <p:cNvPr id="7" name="S01-mark4"/>
          <p:cNvSpPr/>
          <p:nvPr/>
        </p:nvSpPr>
        <p:spPr>
          <a:xfrm>
            <a:off x="9646920" y="1495559"/>
            <a:ext cx="703908" cy="366032"/>
          </a:xfrm>
          <a:custGeom>
            <a:avLst/>
            <a:gdLst/>
            <a:ahLst/>
            <a:cxnLst/>
            <a:rect l="l" t="t" r="r" b="b"/>
            <a:pathLst>
              <a:path w="703908" h="366032">
                <a:moveTo>
                  <a:pt x="0" y="314999"/>
                </a:moveTo>
                <a:lnTo>
                  <a:pt x="47954" y="228330"/>
                </a:lnTo>
                <a:lnTo>
                  <a:pt x="102947" y="161019"/>
                </a:lnTo>
                <a:lnTo>
                  <a:pt x="162339" y="105586"/>
                </a:lnTo>
                <a:lnTo>
                  <a:pt x="226130" y="61152"/>
                </a:lnTo>
                <a:lnTo>
                  <a:pt x="293882" y="28596"/>
                </a:lnTo>
                <a:lnTo>
                  <a:pt x="366912" y="8359"/>
                </a:lnTo>
                <a:lnTo>
                  <a:pt x="443902" y="0"/>
                </a:lnTo>
                <a:lnTo>
                  <a:pt x="525291" y="2640"/>
                </a:lnTo>
                <a:lnTo>
                  <a:pt x="611080" y="17158"/>
                </a:lnTo>
                <a:lnTo>
                  <a:pt x="703908" y="51033"/>
                </a:lnTo>
                <a:lnTo>
                  <a:pt x="655954" y="137702"/>
                </a:lnTo>
                <a:lnTo>
                  <a:pt x="600962" y="205013"/>
                </a:lnTo>
                <a:lnTo>
                  <a:pt x="541569" y="260446"/>
                </a:lnTo>
                <a:lnTo>
                  <a:pt x="477778" y="304880"/>
                </a:lnTo>
                <a:lnTo>
                  <a:pt x="410026" y="337436"/>
                </a:lnTo>
                <a:lnTo>
                  <a:pt x="336996" y="357673"/>
                </a:lnTo>
                <a:lnTo>
                  <a:pt x="260006" y="366032"/>
                </a:lnTo>
                <a:lnTo>
                  <a:pt x="178617" y="363393"/>
                </a:lnTo>
                <a:lnTo>
                  <a:pt x="92828" y="348874"/>
                </a:lnTo>
                <a:lnTo>
                  <a:pt x="0" y="314999"/>
                </a:lnTo>
                <a:close/>
              </a:path>
            </a:pathLst>
          </a:custGeom>
          <a:solidFill>
            <a:srgbClr val="8CC46B"/>
          </a:solidFill>
          <a:ln w="15875">
            <a:solidFill>
              <a:srgbClr val="4E8F3A"/>
            </a:solidFill>
            <a:prstDash val="solid"/>
          </a:ln>
        </p:spPr>
      </p:sp>
      <p:sp>
        <p:nvSpPr>
          <p:cNvPr id="8" name="S01-mark5"/>
          <p:cNvSpPr/>
          <p:nvPr/>
        </p:nvSpPr>
        <p:spPr>
          <a:xfrm>
            <a:off x="9646920" y="2228504"/>
            <a:ext cx="527931" cy="263966"/>
          </a:xfrm>
          <a:custGeom>
            <a:avLst/>
            <a:gdLst/>
            <a:ahLst/>
            <a:cxnLst/>
            <a:rect l="l" t="t" r="r" b="b"/>
            <a:pathLst>
              <a:path w="527931" h="263966">
                <a:moveTo>
                  <a:pt x="0" y="219971"/>
                </a:moveTo>
                <a:lnTo>
                  <a:pt x="37835" y="157499"/>
                </a:lnTo>
                <a:lnTo>
                  <a:pt x="80509" y="109546"/>
                </a:lnTo>
                <a:lnTo>
                  <a:pt x="126264" y="70391"/>
                </a:lnTo>
                <a:lnTo>
                  <a:pt x="174217" y="39155"/>
                </a:lnTo>
                <a:lnTo>
                  <a:pt x="225691" y="17158"/>
                </a:lnTo>
                <a:lnTo>
                  <a:pt x="279803" y="3959"/>
                </a:lnTo>
                <a:lnTo>
                  <a:pt x="337436" y="0"/>
                </a:lnTo>
                <a:lnTo>
                  <a:pt x="397268" y="3959"/>
                </a:lnTo>
                <a:lnTo>
                  <a:pt x="460180" y="16718"/>
                </a:lnTo>
                <a:lnTo>
                  <a:pt x="527931" y="43994"/>
                </a:lnTo>
                <a:lnTo>
                  <a:pt x="490096" y="106466"/>
                </a:lnTo>
                <a:lnTo>
                  <a:pt x="447422" y="154420"/>
                </a:lnTo>
                <a:lnTo>
                  <a:pt x="401668" y="193575"/>
                </a:lnTo>
                <a:lnTo>
                  <a:pt x="353714" y="224811"/>
                </a:lnTo>
                <a:lnTo>
                  <a:pt x="302241" y="246808"/>
                </a:lnTo>
                <a:lnTo>
                  <a:pt x="248128" y="260006"/>
                </a:lnTo>
                <a:lnTo>
                  <a:pt x="190495" y="263966"/>
                </a:lnTo>
                <a:lnTo>
                  <a:pt x="130663" y="260006"/>
                </a:lnTo>
                <a:lnTo>
                  <a:pt x="67751" y="247248"/>
                </a:lnTo>
                <a:lnTo>
                  <a:pt x="0" y="219971"/>
                </a:lnTo>
                <a:close/>
              </a:path>
            </a:pathLst>
          </a:custGeom>
          <a:solidFill>
            <a:srgbClr val="8CC46B"/>
          </a:solidFill>
          <a:ln w="15875">
            <a:solidFill>
              <a:srgbClr val="4E8F3A"/>
            </a:solidFill>
            <a:prstDash val="solid"/>
          </a:ln>
        </p:spPr>
      </p:sp>
      <p:sp>
        <p:nvSpPr>
          <p:cNvPr id="9" name="S01-mark6"/>
          <p:cNvSpPr/>
          <p:nvPr/>
        </p:nvSpPr>
        <p:spPr>
          <a:xfrm>
            <a:off x="9506138" y="723900"/>
            <a:ext cx="281563" cy="281563"/>
          </a:xfrm>
          <a:prstGeom prst="ellipse">
            <a:avLst/>
          </a:prstGeom>
          <a:solidFill>
            <a:srgbClr val="F7B6C8"/>
          </a:solidFill>
          <a:ln w="15875">
            <a:solidFill>
              <a:srgbClr val="C0587A"/>
            </a:solidFill>
            <a:prstDash val="solid"/>
          </a:ln>
        </p:spPr>
      </p:sp>
      <p:sp>
        <p:nvSpPr>
          <p:cNvPr id="10" name="S01-mark7"/>
          <p:cNvSpPr/>
          <p:nvPr/>
        </p:nvSpPr>
        <p:spPr>
          <a:xfrm>
            <a:off x="9338960" y="845324"/>
            <a:ext cx="281563" cy="281563"/>
          </a:xfrm>
          <a:prstGeom prst="ellipse">
            <a:avLst/>
          </a:prstGeom>
          <a:solidFill>
            <a:srgbClr val="F7B6C8"/>
          </a:solidFill>
          <a:ln w="15875">
            <a:solidFill>
              <a:srgbClr val="C0587A"/>
            </a:solidFill>
            <a:prstDash val="solid"/>
          </a:ln>
        </p:spPr>
      </p:sp>
      <p:sp>
        <p:nvSpPr>
          <p:cNvPr id="11" name="S01-mark8"/>
          <p:cNvSpPr/>
          <p:nvPr/>
        </p:nvSpPr>
        <p:spPr>
          <a:xfrm>
            <a:off x="9402752" y="1042418"/>
            <a:ext cx="281563" cy="281563"/>
          </a:xfrm>
          <a:prstGeom prst="ellipse">
            <a:avLst/>
          </a:prstGeom>
          <a:solidFill>
            <a:srgbClr val="F7B6C8"/>
          </a:solidFill>
          <a:ln w="15875">
            <a:solidFill>
              <a:srgbClr val="C0587A"/>
            </a:solidFill>
            <a:prstDash val="solid"/>
          </a:ln>
        </p:spPr>
      </p:sp>
      <p:sp>
        <p:nvSpPr>
          <p:cNvPr id="12" name="S01-mark9"/>
          <p:cNvSpPr/>
          <p:nvPr/>
        </p:nvSpPr>
        <p:spPr>
          <a:xfrm>
            <a:off x="9609525" y="1042418"/>
            <a:ext cx="281563" cy="281563"/>
          </a:xfrm>
          <a:prstGeom prst="ellipse">
            <a:avLst/>
          </a:prstGeom>
          <a:solidFill>
            <a:srgbClr val="F7B6C8"/>
          </a:solidFill>
          <a:ln w="15875">
            <a:solidFill>
              <a:srgbClr val="C0587A"/>
            </a:solidFill>
            <a:prstDash val="solid"/>
          </a:ln>
        </p:spPr>
      </p:sp>
      <p:sp>
        <p:nvSpPr>
          <p:cNvPr id="13" name="S01-mark10"/>
          <p:cNvSpPr/>
          <p:nvPr/>
        </p:nvSpPr>
        <p:spPr>
          <a:xfrm>
            <a:off x="9673317" y="845324"/>
            <a:ext cx="281563" cy="281563"/>
          </a:xfrm>
          <a:prstGeom prst="ellipse">
            <a:avLst/>
          </a:prstGeom>
          <a:solidFill>
            <a:srgbClr val="F7B6C8"/>
          </a:solidFill>
          <a:ln w="15875">
            <a:solidFill>
              <a:srgbClr val="C0587A"/>
            </a:solidFill>
            <a:prstDash val="solid"/>
          </a:ln>
        </p:spPr>
      </p:sp>
      <p:sp>
        <p:nvSpPr>
          <p:cNvPr id="14" name="S01-mark11"/>
          <p:cNvSpPr/>
          <p:nvPr/>
        </p:nvSpPr>
        <p:spPr>
          <a:xfrm>
            <a:off x="9558931" y="952670"/>
            <a:ext cx="175977" cy="175977"/>
          </a:xfrm>
          <a:prstGeom prst="ellipse">
            <a:avLst/>
          </a:prstGeom>
          <a:solidFill>
            <a:srgbClr val="F2C14E"/>
          </a:solidFill>
          <a:ln w="15875">
            <a:solidFill>
              <a:srgbClr val="B08A1E"/>
            </a:solidFill>
            <a:prstDash val="solid"/>
          </a:ln>
        </p:spPr>
      </p:sp>
      <p:sp>
        <p:nvSpPr>
          <p:cNvPr id="15" name="S01-mark12"/>
          <p:cNvSpPr/>
          <p:nvPr/>
        </p:nvSpPr>
        <p:spPr>
          <a:xfrm>
            <a:off x="9074995" y="1436607"/>
            <a:ext cx="263966" cy="263966"/>
          </a:xfrm>
          <a:prstGeom prst="ellipse">
            <a:avLst/>
          </a:prstGeom>
          <a:solidFill>
            <a:srgbClr val="E05A47"/>
          </a:solidFill>
          <a:ln w="15875">
            <a:solidFill>
              <a:srgbClr val="9B2C20"/>
            </a:solidFill>
            <a:prstDash val="solid"/>
          </a:ln>
        </p:spPr>
      </p:sp>
      <p:sp>
        <p:nvSpPr>
          <p:cNvPr id="16" name="S01-mark13"/>
          <p:cNvSpPr/>
          <p:nvPr/>
        </p:nvSpPr>
        <p:spPr>
          <a:xfrm>
            <a:off x="8503069" y="2602455"/>
            <a:ext cx="2287701" cy="0"/>
          </a:xfrm>
          <a:prstGeom prst="line">
            <a:avLst/>
          </a:prstGeom>
          <a:noFill/>
          <a:ln w="25400">
            <a:solidFill>
              <a:srgbClr val="A08560"/>
            </a:solidFill>
            <a:prstDash val="solid"/>
          </a:ln>
        </p:spPr>
      </p:sp>
      <p:sp>
        <p:nvSpPr>
          <p:cNvPr id="17" name="S01-mark14"/>
          <p:cNvSpPr/>
          <p:nvPr/>
        </p:nvSpPr>
        <p:spPr>
          <a:xfrm>
            <a:off x="9646920" y="2602455"/>
            <a:ext cx="0" cy="747902"/>
          </a:xfrm>
          <a:prstGeom prst="line">
            <a:avLst/>
          </a:prstGeom>
          <a:noFill/>
          <a:ln w="31750">
            <a:solidFill>
              <a:srgbClr val="8B6B4A"/>
            </a:solidFill>
            <a:prstDash val="solid"/>
          </a:ln>
        </p:spPr>
      </p:sp>
      <p:sp>
        <p:nvSpPr>
          <p:cNvPr id="18" name="S01-mark15"/>
          <p:cNvSpPr/>
          <p:nvPr/>
        </p:nvSpPr>
        <p:spPr>
          <a:xfrm flipH="1">
            <a:off x="9250972" y="2756435"/>
            <a:ext cx="395948" cy="351954"/>
          </a:xfrm>
          <a:prstGeom prst="line">
            <a:avLst/>
          </a:prstGeom>
          <a:noFill/>
          <a:ln w="25400">
            <a:solidFill>
              <a:srgbClr val="8B6B4A"/>
            </a:solidFill>
            <a:prstDash val="solid"/>
          </a:ln>
        </p:spPr>
      </p:sp>
      <p:sp>
        <p:nvSpPr>
          <p:cNvPr id="19" name="S01-mark16"/>
          <p:cNvSpPr/>
          <p:nvPr/>
        </p:nvSpPr>
        <p:spPr>
          <a:xfrm>
            <a:off x="9646920" y="2756435"/>
            <a:ext cx="373951" cy="307960"/>
          </a:xfrm>
          <a:prstGeom prst="line">
            <a:avLst/>
          </a:prstGeom>
          <a:noFill/>
          <a:ln w="25400">
            <a:solidFill>
              <a:srgbClr val="8B6B4A"/>
            </a:solidFill>
            <a:prstDash val="solid"/>
          </a:ln>
        </p:spPr>
      </p:sp>
      <p:sp>
        <p:nvSpPr>
          <p:cNvPr id="20" name="S01-mark17"/>
          <p:cNvSpPr/>
          <p:nvPr/>
        </p:nvSpPr>
        <p:spPr>
          <a:xfrm flipH="1">
            <a:off x="9404952" y="2998403"/>
            <a:ext cx="241968" cy="307960"/>
          </a:xfrm>
          <a:prstGeom prst="line">
            <a:avLst/>
          </a:prstGeom>
          <a:noFill/>
          <a:ln w="22225">
            <a:solidFill>
              <a:srgbClr val="8B6B4A"/>
            </a:solidFill>
            <a:prstDash val="solid"/>
          </a:ln>
        </p:spPr>
      </p:sp>
      <p:sp>
        <p:nvSpPr>
          <p:cNvPr id="21" name="S01-mark18"/>
          <p:cNvSpPr/>
          <p:nvPr/>
        </p:nvSpPr>
        <p:spPr>
          <a:xfrm>
            <a:off x="9646920" y="2998403"/>
            <a:ext cx="263966" cy="307960"/>
          </a:xfrm>
          <a:prstGeom prst="line">
            <a:avLst/>
          </a:prstGeom>
          <a:noFill/>
          <a:ln w="22225">
            <a:solidFill>
              <a:srgbClr val="8B6B4A"/>
            </a:solidFill>
            <a:prstDash val="solid"/>
          </a:ln>
        </p:spPr>
      </p:sp>
      <p:sp>
        <p:nvSpPr>
          <p:cNvPr id="22" name="S01-mark19"/>
          <p:cNvSpPr/>
          <p:nvPr/>
        </p:nvSpPr>
        <p:spPr>
          <a:xfrm flipV="1">
            <a:off x="9646920" y="1172641"/>
            <a:ext cx="0" cy="1429813"/>
          </a:xfrm>
          <a:prstGeom prst="line">
            <a:avLst/>
          </a:prstGeom>
          <a:noFill/>
          <a:ln w="50800">
            <a:solidFill>
              <a:srgbClr val="4E8F3A"/>
            </a:solidFill>
            <a:prstDash val="solid"/>
          </a:ln>
        </p:spPr>
      </p:sp>
      <p:sp>
        <p:nvSpPr>
          <p:cNvPr id="23" name="S01-mark20"/>
          <p:cNvSpPr/>
          <p:nvPr/>
        </p:nvSpPr>
        <p:spPr>
          <a:xfrm flipH="1" flipV="1">
            <a:off x="9316963" y="1348618"/>
            <a:ext cx="329957" cy="175977"/>
          </a:xfrm>
          <a:prstGeom prst="line">
            <a:avLst/>
          </a:prstGeom>
          <a:noFill/>
          <a:ln w="31750">
            <a:solidFill>
              <a:srgbClr val="4E8F3A"/>
            </a:solidFill>
            <a:prstDash val="solid"/>
          </a:ln>
        </p:spPr>
      </p:sp>
      <p:sp>
        <p:nvSpPr>
          <p:cNvPr id="24" name="S01-mark21"/>
          <p:cNvSpPr/>
          <p:nvPr/>
        </p:nvSpPr>
        <p:spPr>
          <a:xfrm flipH="1">
            <a:off x="9228975" y="1348618"/>
            <a:ext cx="87989" cy="109986"/>
          </a:xfrm>
          <a:prstGeom prst="line">
            <a:avLst/>
          </a:prstGeom>
          <a:noFill/>
          <a:ln w="25400">
            <a:solidFill>
              <a:srgbClr val="4E8F3A"/>
            </a:solidFill>
            <a:prstDash val="solid"/>
          </a:ln>
        </p:spPr>
      </p:sp>
      <p:sp>
        <p:nvSpPr>
          <p:cNvPr id="25" name="S01-card22"/>
          <p:cNvSpPr/>
          <p:nvPr/>
        </p:nvSpPr>
        <p:spPr>
          <a:xfrm>
            <a:off x="731520" y="4529328"/>
            <a:ext cx="10725912" cy="1597152"/>
          </a:xfrm>
          <a:prstGeom prst="roundRect">
            <a:avLst>
              <a:gd name="adj" fmla="val 6870"/>
            </a:avLst>
          </a:prstGeom>
          <a:solidFill>
            <a:srgbClr val="32606F"/>
          </a:solidFill>
          <a:ln w="12700">
            <a:solidFill>
              <a:srgbClr val="32606F"/>
            </a:solidFill>
            <a:prstDash val="solid"/>
          </a:ln>
        </p:spPr>
      </p:sp>
      <p:sp>
        <p:nvSpPr>
          <p:cNvPr id="26" name="S01-cardtext23"/>
          <p:cNvSpPr txBox="1"/>
          <p:nvPr/>
        </p:nvSpPr>
        <p:spPr>
          <a:xfrm>
            <a:off x="1005840" y="4666488"/>
            <a:ext cx="10177272" cy="1322832"/>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FFFFFF"/>
                </a:solidFill>
                <a:latin typeface="맑은 고딕" pitchFamily="34" charset="0"/>
                <a:ea typeface="맑은 고딕" pitchFamily="34" charset="-122"/>
                <a:cs typeface="맑은 고딕" pitchFamily="34" charset="-120"/>
              </a:rPr>
              <a:t>오늘 할 수 있게 될 것</a:t>
            </a:r>
            <a:endParaRPr lang="ko-KR" sz="2800" dirty="0"/>
          </a:p>
          <a:p>
            <a:pPr eaLnBrk="0" indent="0" marL="0">
              <a:spcAft>
                <a:spcPts val="600"/>
              </a:spcAft>
              <a:buNone/>
            </a:pPr>
            <a:r>
              <a:rPr lang="ko-KR" altLang="en-US" sz="2200" dirty="0">
                <a:solidFill>
                  <a:srgbClr val="FFFFFF"/>
                </a:solidFill>
                <a:latin typeface="맑은 고딕" pitchFamily="34" charset="0"/>
                <a:ea typeface="맑은 고딕" pitchFamily="34" charset="-122"/>
                <a:cs typeface="맑은 고딕" pitchFamily="34" charset="-120"/>
              </a:rPr>
              <a:t>① 실험으로 물이 올라가고 잎에서 빠져나가는 것을 확인해요.</a:t>
            </a:r>
            <a:endParaRPr lang="ko-KR" sz="2800" dirty="0"/>
          </a:p>
          <a:p>
            <a:pPr eaLnBrk="0" indent="0" marL="0">
              <a:spcAft>
                <a:spcPts val="600"/>
              </a:spcAft>
              <a:buNone/>
            </a:pPr>
            <a:r>
              <a:rPr lang="ko-KR" altLang="en-US" sz="2200" dirty="0">
                <a:solidFill>
                  <a:srgbClr val="FFFFFF"/>
                </a:solidFill>
                <a:latin typeface="맑은 고딕" pitchFamily="34" charset="0"/>
                <a:ea typeface="맑은 고딕" pitchFamily="34" charset="-122"/>
                <a:cs typeface="맑은 고딕" pitchFamily="34" charset="-120"/>
              </a:rPr>
              <a:t>② 뿌리·줄기·잎·꽃·열매가 하는 일을 설명해요.</a:t>
            </a:r>
            <a:endParaRPr lang="ko-KR"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3학년 기억하기</a:t>
            </a:r>
            <a:endParaRPr lang="ko-KR" sz="4000" dirty="0"/>
          </a:p>
        </p:txBody>
      </p:sp>
      <p:sp>
        <p:nvSpPr>
          <p:cNvPr id="3" name="S02-chip24"/>
          <p:cNvSpPr txBox="1"/>
          <p:nvPr/>
        </p:nvSpPr>
        <p:spPr>
          <a:xfrm>
            <a:off x="548640" y="17739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4" name="S02-text25"/>
          <p:cNvSpPr txBox="1"/>
          <p:nvPr/>
        </p:nvSpPr>
        <p:spPr>
          <a:xfrm>
            <a:off x="1344168" y="1325880"/>
            <a:ext cx="10296144"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강낭콩의 한살이: 씨 → 싹 트기 →</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잎과 줄기 자라기 → □ → □</a:t>
            </a:r>
            <a:endParaRPr lang="ko-KR" sz="2800" dirty="0"/>
          </a:p>
        </p:txBody>
      </p:sp>
      <p:sp>
        <p:nvSpPr>
          <p:cNvPr id="5" name="S02-chip26"/>
          <p:cNvSpPr txBox="1"/>
          <p:nvPr/>
        </p:nvSpPr>
        <p:spPr>
          <a:xfrm>
            <a:off x="548640" y="34655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6" name="S02-text27"/>
          <p:cNvSpPr txBox="1"/>
          <p:nvPr/>
        </p:nvSpPr>
        <p:spPr>
          <a:xfrm>
            <a:off x="1344168" y="3017520"/>
            <a:ext cx="10296144"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강낭콩 꼬투리(열매) 속에는</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무엇이 생기나요?</a:t>
            </a:r>
            <a:endParaRPr lang="ko-KR" sz="2800" dirty="0"/>
          </a:p>
        </p:txBody>
      </p:sp>
      <p:sp>
        <p:nvSpPr>
          <p:cNvPr id="7" name="S02-chip28"/>
          <p:cNvSpPr txBox="1"/>
          <p:nvPr/>
        </p:nvSpPr>
        <p:spPr>
          <a:xfrm>
            <a:off x="548640" y="51572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8" name="S02-text29"/>
          <p:cNvSpPr txBox="1"/>
          <p:nvPr/>
        </p:nvSpPr>
        <p:spPr>
          <a:xfrm>
            <a:off x="1344168" y="4709160"/>
            <a:ext cx="10296144"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식물의 부분 이름을</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아는 대로 말해요.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예상해 봐요</a:t>
            </a:r>
            <a:endParaRPr lang="ko-KR" sz="4000" dirty="0"/>
          </a:p>
        </p:txBody>
      </p:sp>
      <p:sp>
        <p:nvSpPr>
          <p:cNvPr id="3" name="S03-text30"/>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색소 물에 셀러리를 꽂아 두면 어떻게 될까요?</a:t>
            </a:r>
            <a:endParaRPr lang="ko-KR" sz="2800" dirty="0"/>
          </a:p>
        </p:txBody>
      </p:sp>
      <p:sp>
        <p:nvSpPr>
          <p:cNvPr id="4" name="S03-card31"/>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3-cardtext32"/>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예상은 활동지 1에 써요.</a:t>
            </a:r>
            <a:endParaRPr lang="ko-KR" sz="2800" dirty="0"/>
          </a:p>
        </p:txBody>
      </p:sp>
      <p:graphicFrame>
        <p:nvGraphicFramePr>
          <p:cNvPr id="4" name="S03-table33"/>
          <p:cNvGraphicFramePr>
            <a:graphicFrameLocks noGrp="1"/>
          </p:cNvGraphicFramePr>
          <p:nvPr>
            <p:extLst>
              <p:ext uri="{D42A27DB-BD31-4B8C-83A1-F6EECF244321}">
                <p14:modId xmlns:p14="http://schemas.microsoft.com/office/powerpoint/2010/main" val="1579011935"/>
              </p:ext>
            </p:extLst>
          </p:nvPr>
        </p:nvGraphicFramePr>
        <p:xfrm>
          <a:off x="1065276" y="2541016"/>
          <a:ext cx="10058400" cy="914400"/>
        </p:xfrm>
        <a:graphic>
          <a:graphicData uri="http://schemas.openxmlformats.org/drawingml/2006/table">
            <a:tbl>
              <a:tblPr/>
              <a:tblGrid>
                <a:gridCol w="5532120"/>
                <a:gridCol w="4526280"/>
              </a:tblGrid>
              <a:tr h="512572">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궁금한 것</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내 예상</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r>
              <a:tr h="512572">
                <a:tc>
                  <a:txBody>
                    <a:bodyPr/>
                    <a:lstStyle/>
                    <a:p>
                      <a:pPr eaLnBrk="0" algn="ctr" indent="0" marL="0">
                        <a:buNone/>
                      </a:pPr>
                      <a:r>
                        <a:rPr lang="en-US" sz="2600" dirty="0">
                          <a:solidFill>
                            <a:srgbClr val="1F2937"/>
                          </a:solidFill>
                          <a:latin typeface="맑은 고딕" pitchFamily="34" charset="0"/>
                          <a:ea typeface="맑은 고딕" pitchFamily="34" charset="-122"/>
                          <a:cs typeface="맑은 고딕" pitchFamily="34" charset="-120"/>
                        </a:rPr>
                        <a:t>몇 시간 뒤 잎의 색은?</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512572">
                <a:tc>
                  <a:txBody>
                    <a:bodyPr/>
                    <a:lstStyle/>
                    <a:p>
                      <a:pPr eaLnBrk="0" algn="ctr" indent="0" marL="0">
                        <a:buNone/>
                      </a:pPr>
                      <a:r>
                        <a:rPr lang="en-US" sz="2600" dirty="0">
                          <a:solidFill>
                            <a:srgbClr val="1F2937"/>
                          </a:solidFill>
                          <a:latin typeface="맑은 고딕" pitchFamily="34" charset="0"/>
                          <a:ea typeface="맑은 고딕" pitchFamily="34" charset="-122"/>
                          <a:cs typeface="맑은 고딕" pitchFamily="34" charset="-120"/>
                        </a:rPr>
                        <a:t>줄기를 가로로 자른 면은?</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512572">
                <a:tc>
                  <a:txBody>
                    <a:bodyPr/>
                    <a:lstStyle/>
                    <a:p>
                      <a:pPr eaLnBrk="0" algn="ctr" indent="0" marL="0">
                        <a:buNone/>
                      </a:pPr>
                      <a:r>
                        <a:rPr lang="en-US" sz="2600" dirty="0">
                          <a:solidFill>
                            <a:srgbClr val="1F2937"/>
                          </a:solidFill>
                          <a:latin typeface="맑은 고딕" pitchFamily="34" charset="0"/>
                          <a:ea typeface="맑은 고딕" pitchFamily="34" charset="-122"/>
                          <a:cs typeface="맑은 고딕" pitchFamily="34" charset="-120"/>
                        </a:rPr>
                        <a:t>줄기를 세로로 자른 면은?</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색소 물에 셀러리를 꽂아요</a:t>
            </a:r>
            <a:endParaRPr lang="ko-KR" sz="4000" dirty="0"/>
          </a:p>
        </p:txBody>
      </p:sp>
      <p:sp>
        <p:nvSpPr>
          <p:cNvPr id="3" name="S04-card34"/>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4-cardtext3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안전: 칼은 어른만 써요. 색소가 옷에 묻지 않게 해요.</a:t>
            </a:r>
            <a:endParaRPr lang="ko-KR" sz="2800" dirty="0"/>
          </a:p>
        </p:txBody>
      </p:sp>
      <p:sp>
        <p:nvSpPr>
          <p:cNvPr id="5" name="S04-figure36" descr="색소를 탄 물이 든 컵에 잎이 달린 셀러리 한 대를 꽂은 모습"/>
          <p:cNvSpPr/>
          <p:nvPr/>
        </p:nvSpPr>
        <p:spPr>
          <a:xfrm>
            <a:off x="8513499" y="2532906"/>
            <a:ext cx="960730" cy="678162"/>
          </a:xfrm>
          <a:custGeom>
            <a:avLst/>
            <a:gdLst/>
            <a:ahLst/>
            <a:cxnLst/>
            <a:rect l="l" t="t" r="r" b="b"/>
            <a:pathLst>
              <a:path w="960730" h="678162">
                <a:moveTo>
                  <a:pt x="56514" y="678162"/>
                </a:moveTo>
                <a:lnTo>
                  <a:pt x="904216" y="678162"/>
                </a:lnTo>
                <a:lnTo>
                  <a:pt x="960730" y="0"/>
                </a:lnTo>
                <a:lnTo>
                  <a:pt x="0" y="0"/>
                </a:lnTo>
                <a:close/>
              </a:path>
            </a:pathLst>
          </a:custGeom>
          <a:solidFill>
            <a:srgbClr val="F4A6A6"/>
          </a:solidFill>
          <a:ln/>
        </p:spPr>
      </p:sp>
      <p:sp>
        <p:nvSpPr>
          <p:cNvPr id="6" name="S04-mark37"/>
          <p:cNvSpPr/>
          <p:nvPr/>
        </p:nvSpPr>
        <p:spPr>
          <a:xfrm>
            <a:off x="8921809" y="1939514"/>
            <a:ext cx="207687" cy="1165591"/>
          </a:xfrm>
          <a:custGeom>
            <a:avLst/>
            <a:gdLst/>
            <a:ahLst/>
            <a:cxnLst/>
            <a:rect l="l" t="t" r="r" b="b"/>
            <a:pathLst>
              <a:path w="207687" h="1165591">
                <a:moveTo>
                  <a:pt x="0" y="1165591"/>
                </a:moveTo>
                <a:lnTo>
                  <a:pt x="144109" y="1165591"/>
                </a:lnTo>
                <a:lnTo>
                  <a:pt x="207687" y="0"/>
                </a:lnTo>
                <a:lnTo>
                  <a:pt x="80532" y="0"/>
                </a:lnTo>
                <a:close/>
              </a:path>
            </a:pathLst>
          </a:custGeom>
          <a:solidFill>
            <a:srgbClr val="A8D08D"/>
          </a:solidFill>
          <a:ln w="15875">
            <a:solidFill>
              <a:srgbClr val="4E8F3A"/>
            </a:solidFill>
            <a:prstDash val="solid"/>
          </a:ln>
        </p:spPr>
      </p:sp>
      <p:sp>
        <p:nvSpPr>
          <p:cNvPr id="7" name="S04-mark38"/>
          <p:cNvSpPr/>
          <p:nvPr/>
        </p:nvSpPr>
        <p:spPr>
          <a:xfrm>
            <a:off x="8684452" y="1558048"/>
            <a:ext cx="381466" cy="381466"/>
          </a:xfrm>
          <a:custGeom>
            <a:avLst/>
            <a:gdLst/>
            <a:ahLst/>
            <a:cxnLst/>
            <a:rect l="l" t="t" r="r" b="b"/>
            <a:pathLst>
              <a:path w="381466" h="381466">
                <a:moveTo>
                  <a:pt x="381466" y="381466"/>
                </a:moveTo>
                <a:lnTo>
                  <a:pt x="311107" y="375532"/>
                </a:lnTo>
                <a:lnTo>
                  <a:pt x="251344" y="359002"/>
                </a:lnTo>
                <a:lnTo>
                  <a:pt x="197515" y="336538"/>
                </a:lnTo>
                <a:lnTo>
                  <a:pt x="149620" y="308140"/>
                </a:lnTo>
                <a:lnTo>
                  <a:pt x="108506" y="272960"/>
                </a:lnTo>
                <a:lnTo>
                  <a:pt x="73326" y="231847"/>
                </a:lnTo>
                <a:lnTo>
                  <a:pt x="44928" y="183951"/>
                </a:lnTo>
                <a:lnTo>
                  <a:pt x="22464" y="130122"/>
                </a:lnTo>
                <a:lnTo>
                  <a:pt x="5934" y="70359"/>
                </a:lnTo>
                <a:lnTo>
                  <a:pt x="0" y="0"/>
                </a:lnTo>
                <a:lnTo>
                  <a:pt x="70359" y="5934"/>
                </a:lnTo>
                <a:lnTo>
                  <a:pt x="130122" y="22464"/>
                </a:lnTo>
                <a:lnTo>
                  <a:pt x="183951" y="44928"/>
                </a:lnTo>
                <a:lnTo>
                  <a:pt x="231847" y="73326"/>
                </a:lnTo>
                <a:lnTo>
                  <a:pt x="272960" y="108506"/>
                </a:lnTo>
                <a:lnTo>
                  <a:pt x="308140" y="149620"/>
                </a:lnTo>
                <a:lnTo>
                  <a:pt x="336538" y="197515"/>
                </a:lnTo>
                <a:lnTo>
                  <a:pt x="359002" y="251344"/>
                </a:lnTo>
                <a:lnTo>
                  <a:pt x="375532" y="311107"/>
                </a:lnTo>
                <a:lnTo>
                  <a:pt x="381466" y="381466"/>
                </a:lnTo>
                <a:close/>
              </a:path>
            </a:pathLst>
          </a:custGeom>
          <a:solidFill>
            <a:srgbClr val="8CC46B"/>
          </a:solidFill>
          <a:ln w="15875">
            <a:solidFill>
              <a:srgbClr val="4E8F3A"/>
            </a:solidFill>
            <a:prstDash val="solid"/>
          </a:ln>
        </p:spPr>
      </p:sp>
      <p:sp>
        <p:nvSpPr>
          <p:cNvPr id="8" name="S04-mark39"/>
          <p:cNvSpPr/>
          <p:nvPr/>
        </p:nvSpPr>
        <p:spPr>
          <a:xfrm>
            <a:off x="8970976" y="1409700"/>
            <a:ext cx="232271" cy="529814"/>
          </a:xfrm>
          <a:custGeom>
            <a:avLst/>
            <a:gdLst/>
            <a:ahLst/>
            <a:cxnLst/>
            <a:rect l="l" t="t" r="r" b="b"/>
            <a:pathLst>
              <a:path w="232271" h="529814">
                <a:moveTo>
                  <a:pt x="94943" y="529814"/>
                </a:moveTo>
                <a:lnTo>
                  <a:pt x="53829" y="473018"/>
                </a:lnTo>
                <a:lnTo>
                  <a:pt x="27550" y="417917"/>
                </a:lnTo>
                <a:lnTo>
                  <a:pt x="9749" y="362817"/>
                </a:lnTo>
                <a:lnTo>
                  <a:pt x="424" y="308988"/>
                </a:lnTo>
                <a:lnTo>
                  <a:pt x="0" y="255582"/>
                </a:lnTo>
                <a:lnTo>
                  <a:pt x="8901" y="203025"/>
                </a:lnTo>
                <a:lnTo>
                  <a:pt x="26703" y="150891"/>
                </a:lnTo>
                <a:lnTo>
                  <a:pt x="52981" y="100029"/>
                </a:lnTo>
                <a:lnTo>
                  <a:pt x="87737" y="49167"/>
                </a:lnTo>
                <a:lnTo>
                  <a:pt x="137328" y="0"/>
                </a:lnTo>
                <a:lnTo>
                  <a:pt x="178441" y="56796"/>
                </a:lnTo>
                <a:lnTo>
                  <a:pt x="204720" y="111897"/>
                </a:lnTo>
                <a:lnTo>
                  <a:pt x="222522" y="166997"/>
                </a:lnTo>
                <a:lnTo>
                  <a:pt x="231847" y="220827"/>
                </a:lnTo>
                <a:lnTo>
                  <a:pt x="232271" y="274232"/>
                </a:lnTo>
                <a:lnTo>
                  <a:pt x="223370" y="326789"/>
                </a:lnTo>
                <a:lnTo>
                  <a:pt x="205568" y="378923"/>
                </a:lnTo>
                <a:lnTo>
                  <a:pt x="179289" y="429785"/>
                </a:lnTo>
                <a:lnTo>
                  <a:pt x="144533" y="480647"/>
                </a:lnTo>
                <a:lnTo>
                  <a:pt x="94943" y="529814"/>
                </a:lnTo>
                <a:close/>
              </a:path>
            </a:pathLst>
          </a:custGeom>
          <a:solidFill>
            <a:srgbClr val="8CC46B"/>
          </a:solidFill>
          <a:ln w="15875">
            <a:solidFill>
              <a:srgbClr val="4E8F3A"/>
            </a:solidFill>
            <a:prstDash val="solid"/>
          </a:ln>
        </p:spPr>
      </p:sp>
      <p:sp>
        <p:nvSpPr>
          <p:cNvPr id="9" name="S04-mark40"/>
          <p:cNvSpPr/>
          <p:nvPr/>
        </p:nvSpPr>
        <p:spPr>
          <a:xfrm>
            <a:off x="9065918" y="1599585"/>
            <a:ext cx="402659" cy="340776"/>
          </a:xfrm>
          <a:custGeom>
            <a:avLst/>
            <a:gdLst/>
            <a:ahLst/>
            <a:cxnLst/>
            <a:rect l="l" t="t" r="r" b="b"/>
            <a:pathLst>
              <a:path w="402659" h="340776">
                <a:moveTo>
                  <a:pt x="0" y="339929"/>
                </a:moveTo>
                <a:lnTo>
                  <a:pt x="11020" y="271265"/>
                </a:lnTo>
                <a:lnTo>
                  <a:pt x="31365" y="213621"/>
                </a:lnTo>
                <a:lnTo>
                  <a:pt x="57220" y="162759"/>
                </a:lnTo>
                <a:lnTo>
                  <a:pt x="89009" y="118678"/>
                </a:lnTo>
                <a:lnTo>
                  <a:pt x="126308" y="81379"/>
                </a:lnTo>
                <a:lnTo>
                  <a:pt x="169541" y="50862"/>
                </a:lnTo>
                <a:lnTo>
                  <a:pt x="218283" y="27126"/>
                </a:lnTo>
                <a:lnTo>
                  <a:pt x="272960" y="10172"/>
                </a:lnTo>
                <a:lnTo>
                  <a:pt x="333147" y="0"/>
                </a:lnTo>
                <a:lnTo>
                  <a:pt x="402659" y="848"/>
                </a:lnTo>
                <a:lnTo>
                  <a:pt x="391639" y="69512"/>
                </a:lnTo>
                <a:lnTo>
                  <a:pt x="371294" y="127155"/>
                </a:lnTo>
                <a:lnTo>
                  <a:pt x="345439" y="178018"/>
                </a:lnTo>
                <a:lnTo>
                  <a:pt x="313650" y="222098"/>
                </a:lnTo>
                <a:lnTo>
                  <a:pt x="276351" y="259397"/>
                </a:lnTo>
                <a:lnTo>
                  <a:pt x="233118" y="289914"/>
                </a:lnTo>
                <a:lnTo>
                  <a:pt x="184375" y="313650"/>
                </a:lnTo>
                <a:lnTo>
                  <a:pt x="129698" y="330604"/>
                </a:lnTo>
                <a:lnTo>
                  <a:pt x="69512" y="340776"/>
                </a:lnTo>
                <a:lnTo>
                  <a:pt x="0" y="339929"/>
                </a:lnTo>
                <a:close/>
              </a:path>
            </a:pathLst>
          </a:custGeom>
          <a:solidFill>
            <a:srgbClr val="8CC46B"/>
          </a:solidFill>
          <a:ln w="15875">
            <a:solidFill>
              <a:srgbClr val="4E8F3A"/>
            </a:solidFill>
            <a:prstDash val="solid"/>
          </a:ln>
        </p:spPr>
      </p:sp>
      <p:sp>
        <p:nvSpPr>
          <p:cNvPr id="10" name="S04-mark41"/>
          <p:cNvSpPr/>
          <p:nvPr/>
        </p:nvSpPr>
        <p:spPr>
          <a:xfrm>
            <a:off x="8485242" y="2193825"/>
            <a:ext cx="1017243" cy="1017243"/>
          </a:xfrm>
          <a:custGeom>
            <a:avLst/>
            <a:gdLst/>
            <a:ahLst/>
            <a:cxnLst/>
            <a:rect l="l" t="t" r="r" b="b"/>
            <a:pathLst>
              <a:path w="1017243" h="1017243">
                <a:moveTo>
                  <a:pt x="0" y="0"/>
                </a:moveTo>
                <a:lnTo>
                  <a:pt x="84770" y="1017243"/>
                </a:lnTo>
                <a:lnTo>
                  <a:pt x="932473" y="1017243"/>
                </a:lnTo>
                <a:lnTo>
                  <a:pt x="1017243" y="0"/>
                </a:lnTo>
              </a:path>
            </a:pathLst>
          </a:custGeom>
          <a:noFill/>
          <a:ln w="25400">
            <a:solidFill>
              <a:srgbClr val="64748B"/>
            </a:solidFill>
            <a:prstDash val="solid"/>
          </a:ln>
        </p:spPr>
      </p:sp>
      <p:sp>
        <p:nvSpPr>
          <p:cNvPr id="11" name="S04-mark42"/>
          <p:cNvSpPr/>
          <p:nvPr/>
        </p:nvSpPr>
        <p:spPr>
          <a:xfrm>
            <a:off x="9248174" y="2871987"/>
            <a:ext cx="551007" cy="0"/>
          </a:xfrm>
          <a:prstGeom prst="line">
            <a:avLst/>
          </a:prstGeom>
          <a:noFill/>
          <a:ln w="15875">
            <a:solidFill>
              <a:srgbClr val="64748B"/>
            </a:solidFill>
            <a:prstDash val="solid"/>
          </a:ln>
        </p:spPr>
      </p:sp>
      <p:sp>
        <p:nvSpPr>
          <p:cNvPr id="12" name="S04-label44"/>
          <p:cNvSpPr txBox="1"/>
          <p:nvPr/>
        </p:nvSpPr>
        <p:spPr>
          <a:xfrm>
            <a:off x="9968722" y="2729112"/>
            <a:ext cx="850392" cy="285750"/>
          </a:xfrm>
          <a:prstGeom prst="rect">
            <a:avLst/>
          </a:prstGeom>
          <a:noFill/>
          <a:ln/>
        </p:spPr>
        <p:txBody>
          <a:bodyPr wrap="square" lIns="0" tIns="0" rIns="0" bIns="0" rtlCol="0" anchor="ctr"/>
          <a:lstStyle/>
          <a:p>
            <a:pPr eaLnBrk="0" algn="l" indent="0" marL="0">
              <a:buNone/>
            </a:pPr>
            <a:r>
              <a:rPr lang="ko-KR" altLang="en-US" sz="1800" b="1" dirty="0">
                <a:solidFill>
                  <a:srgbClr val="1F2937"/>
                </a:solidFill>
                <a:latin typeface="맑은 고딕" pitchFamily="34" charset="0"/>
                <a:ea typeface="맑은 고딕" pitchFamily="34" charset="-122"/>
                <a:cs typeface="맑은 고딕" pitchFamily="34" charset="-120"/>
              </a:rPr>
              <a:t>색소 물</a:t>
            </a:r>
            <a:endParaRPr lang="ko-KR" sz="1800" dirty="0"/>
          </a:p>
        </p:txBody>
      </p:sp>
      <p:sp>
        <p:nvSpPr>
          <p:cNvPr id="13" name="S04-card45"/>
          <p:cNvSpPr/>
          <p:nvPr/>
        </p:nvSpPr>
        <p:spPr>
          <a:xfrm>
            <a:off x="6813652" y="3523488"/>
            <a:ext cx="4826660" cy="1597152"/>
          </a:xfrm>
          <a:prstGeom prst="roundRect">
            <a:avLst>
              <a:gd name="adj" fmla="val 6870"/>
            </a:avLst>
          </a:prstGeom>
          <a:solidFill>
            <a:srgbClr val="EAF3F1"/>
          </a:solidFill>
          <a:ln w="12700">
            <a:solidFill>
              <a:srgbClr val="EAF3F1"/>
            </a:solidFill>
            <a:prstDash val="solid"/>
          </a:ln>
        </p:spPr>
      </p:sp>
      <p:sp>
        <p:nvSpPr>
          <p:cNvPr id="14" name="S04-cardtext46"/>
          <p:cNvSpPr txBox="1"/>
          <p:nvPr/>
        </p:nvSpPr>
        <p:spPr>
          <a:xfrm>
            <a:off x="7087972" y="3660648"/>
            <a:ext cx="4278020" cy="1322832"/>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관찰할 때 확인해요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잎맥의 색을 봐요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자른 면의 색 든 곳을 찾아요</a:t>
            </a:r>
            <a:endParaRPr lang="ko-KR" sz="2800" dirty="0"/>
          </a:p>
        </p:txBody>
      </p:sp>
      <p:sp>
        <p:nvSpPr>
          <p:cNvPr id="15" name="S04-stepno47"/>
          <p:cNvSpPr txBox="1"/>
          <p:nvPr/>
        </p:nvSpPr>
        <p:spPr>
          <a:xfrm>
            <a:off x="548640" y="174599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1</a:t>
            </a:r>
            <a:endParaRPr lang="ko-KR" sz="2200" dirty="0"/>
          </a:p>
        </p:txBody>
      </p:sp>
      <p:sp>
        <p:nvSpPr>
          <p:cNvPr id="16" name="S04-text48"/>
          <p:cNvSpPr txBox="1"/>
          <p:nvPr/>
        </p:nvSpPr>
        <p:spPr>
          <a:xfrm>
            <a:off x="1325880" y="1745996"/>
            <a:ext cx="5122012" cy="548640"/>
          </a:xfrm>
          <a:prstGeom prst="rect">
            <a:avLst/>
          </a:prstGeom>
          <a:noFill/>
          <a:ln/>
        </p:spPr>
        <p:txBody>
          <a:bodyPr wrap="square" lIns="0" tIns="0" rIns="0" bIns="0" rtlCol="0" anchor="t"/>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컵에 물을 반쯤 붓고 색소를 진하게 타요.</a:t>
            </a:r>
            <a:endParaRPr lang="ko-KR" sz="2200" dirty="0"/>
          </a:p>
        </p:txBody>
      </p:sp>
      <p:sp>
        <p:nvSpPr>
          <p:cNvPr id="17" name="S04-stepno49"/>
          <p:cNvSpPr txBox="1"/>
          <p:nvPr/>
        </p:nvSpPr>
        <p:spPr>
          <a:xfrm>
            <a:off x="548640" y="250494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2</a:t>
            </a:r>
            <a:endParaRPr lang="ko-KR" sz="2200" dirty="0"/>
          </a:p>
        </p:txBody>
      </p:sp>
      <p:sp>
        <p:nvSpPr>
          <p:cNvPr id="18" name="S04-text50"/>
          <p:cNvSpPr txBox="1"/>
          <p:nvPr/>
        </p:nvSpPr>
        <p:spPr>
          <a:xfrm>
            <a:off x="1325880" y="2459228"/>
            <a:ext cx="5122012" cy="681736"/>
          </a:xfrm>
          <a:prstGeom prst="rect">
            <a:avLst/>
          </a:prstGeom>
          <a:noFill/>
          <a:ln/>
        </p:spPr>
        <p:txBody>
          <a:bodyPr wrap="square" lIns="0" tIns="0" rIns="0" bIns="0" rtlCol="0" anchor="t"/>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어른이 셀러리 밑동을 새로 잘라 주면 꽂아요.</a:t>
            </a:r>
            <a:endParaRPr lang="ko-KR" sz="2200" dirty="0"/>
          </a:p>
        </p:txBody>
      </p:sp>
      <p:sp>
        <p:nvSpPr>
          <p:cNvPr id="19" name="S04-stepno51"/>
          <p:cNvSpPr txBox="1"/>
          <p:nvPr/>
        </p:nvSpPr>
        <p:spPr>
          <a:xfrm>
            <a:off x="548640" y="330555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3</a:t>
            </a:r>
            <a:endParaRPr lang="ko-KR" sz="2200" dirty="0"/>
          </a:p>
        </p:txBody>
      </p:sp>
      <p:sp>
        <p:nvSpPr>
          <p:cNvPr id="20" name="S04-text52"/>
          <p:cNvSpPr txBox="1"/>
          <p:nvPr/>
        </p:nvSpPr>
        <p:spPr>
          <a:xfrm>
            <a:off x="1325880" y="3305556"/>
            <a:ext cx="5122012" cy="548640"/>
          </a:xfrm>
          <a:prstGeom prst="rect">
            <a:avLst/>
          </a:prstGeom>
          <a:noFill/>
          <a:ln/>
        </p:spPr>
        <p:txBody>
          <a:bodyPr wrap="square" lIns="0" tIns="0" rIns="0" bIns="0" rtlCol="0" anchor="t"/>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미리 꽂아 둔 셀러리의 잎을 살펴요.</a:t>
            </a:r>
            <a:endParaRPr lang="ko-KR" sz="2200" dirty="0"/>
          </a:p>
        </p:txBody>
      </p:sp>
      <p:sp>
        <p:nvSpPr>
          <p:cNvPr id="21" name="S04-stepno53"/>
          <p:cNvSpPr txBox="1"/>
          <p:nvPr/>
        </p:nvSpPr>
        <p:spPr>
          <a:xfrm>
            <a:off x="548640" y="406450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4</a:t>
            </a:r>
            <a:endParaRPr lang="ko-KR" sz="2200" dirty="0"/>
          </a:p>
        </p:txBody>
      </p:sp>
      <p:sp>
        <p:nvSpPr>
          <p:cNvPr id="22" name="S04-text54"/>
          <p:cNvSpPr txBox="1"/>
          <p:nvPr/>
        </p:nvSpPr>
        <p:spPr>
          <a:xfrm>
            <a:off x="1325880" y="4018788"/>
            <a:ext cx="5122012" cy="681736"/>
          </a:xfrm>
          <a:prstGeom prst="rect">
            <a:avLst/>
          </a:prstGeom>
          <a:noFill/>
          <a:ln/>
        </p:spPr>
        <p:txBody>
          <a:bodyPr wrap="square" lIns="0" tIns="0" rIns="0" bIns="0" rtlCol="0" anchor="t"/>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어른이 줄기를 가로·세로로 자르면 자른 면을 봐요.</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결과를 정리해요</a:t>
            </a:r>
            <a:endParaRPr lang="ko-KR" sz="4000" dirty="0"/>
          </a:p>
        </p:txBody>
      </p:sp>
      <p:sp>
        <p:nvSpPr>
          <p:cNvPr id="3" name="S05-text55"/>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활동지 1을 보며 빈칸을 말로 채워요.</a:t>
            </a:r>
            <a:endParaRPr lang="ko-KR" sz="2800" dirty="0"/>
          </a:p>
        </p:txBody>
      </p:sp>
      <p:sp>
        <p:nvSpPr>
          <p:cNvPr id="4" name="S05-card56"/>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5-cardtext57"/>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색소 물은 줄기의 어디를 지나 올라갔나요?</a:t>
            </a:r>
            <a:endParaRPr lang="ko-KR" sz="2800" dirty="0"/>
          </a:p>
        </p:txBody>
      </p:sp>
      <p:graphicFrame>
        <p:nvGraphicFramePr>
          <p:cNvPr id="6" name="S05-table58"/>
          <p:cNvGraphicFramePr>
            <a:graphicFrameLocks noGrp="1"/>
          </p:cNvGraphicFramePr>
          <p:nvPr>
            <p:extLst>
              <p:ext uri="{D42A27DB-BD31-4B8C-83A1-F6EECF244321}">
                <p14:modId xmlns:p14="http://schemas.microsoft.com/office/powerpoint/2010/main" val="1579011935"/>
              </p:ext>
            </p:extLst>
          </p:nvPr>
        </p:nvGraphicFramePr>
        <p:xfrm>
          <a:off x="1065276" y="2541016"/>
          <a:ext cx="10058400" cy="914400"/>
        </p:xfrm>
        <a:graphic>
          <a:graphicData uri="http://schemas.openxmlformats.org/drawingml/2006/table">
            <a:tbl>
              <a:tblPr/>
              <a:tblGrid>
                <a:gridCol w="4526280"/>
                <a:gridCol w="5532120"/>
              </a:tblGrid>
              <a:tr h="512572">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관찰한 곳</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본 것</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r>
              <a:tr h="512572">
                <a:tc>
                  <a:txBody>
                    <a:bodyPr/>
                    <a:lstStyle/>
                    <a:p>
                      <a:pPr eaLnBrk="0" algn="ctr" indent="0" marL="0">
                        <a:buNone/>
                      </a:pPr>
                      <a:r>
                        <a:rPr lang="en-US" sz="2600" dirty="0">
                          <a:solidFill>
                            <a:srgbClr val="1F2937"/>
                          </a:solidFill>
                          <a:latin typeface="맑은 고딕" pitchFamily="34" charset="0"/>
                          <a:ea typeface="맑은 고딕" pitchFamily="34" charset="-122"/>
                          <a:cs typeface="맑은 고딕" pitchFamily="34" charset="-120"/>
                        </a:rPr>
                        <a:t>셀러리 잎</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512572">
                <a:tc>
                  <a:txBody>
                    <a:bodyPr/>
                    <a:lstStyle/>
                    <a:p>
                      <a:pPr eaLnBrk="0" algn="ctr" indent="0" marL="0">
                        <a:buNone/>
                      </a:pPr>
                      <a:r>
                        <a:rPr lang="en-US" sz="2600" dirty="0">
                          <a:solidFill>
                            <a:srgbClr val="1F2937"/>
                          </a:solidFill>
                          <a:latin typeface="맑은 고딕" pitchFamily="34" charset="0"/>
                          <a:ea typeface="맑은 고딕" pitchFamily="34" charset="-122"/>
                          <a:cs typeface="맑은 고딕" pitchFamily="34" charset="-120"/>
                        </a:rPr>
                        <a:t>줄기를 가로로 자른 면</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512572">
                <a:tc>
                  <a:txBody>
                    <a:bodyPr/>
                    <a:lstStyle/>
                    <a:p>
                      <a:pPr eaLnBrk="0" algn="ctr" indent="0" marL="0">
                        <a:buNone/>
                      </a:pPr>
                      <a:r>
                        <a:rPr lang="en-US" sz="2600" dirty="0">
                          <a:solidFill>
                            <a:srgbClr val="1F2937"/>
                          </a:solidFill>
                          <a:latin typeface="맑은 고딕" pitchFamily="34" charset="0"/>
                          <a:ea typeface="맑은 고딕" pitchFamily="34" charset="-122"/>
                          <a:cs typeface="맑은 고딕" pitchFamily="34" charset="-120"/>
                        </a:rPr>
                        <a:t>줄기를 세로로 자른 면</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뿌리와 줄기가 하는 일</a:t>
            </a:r>
            <a:endParaRPr lang="ko-KR" sz="4000" dirty="0"/>
          </a:p>
        </p:txBody>
      </p:sp>
      <p:sp>
        <p:nvSpPr>
          <p:cNvPr id="3" name="S06-card59"/>
          <p:cNvSpPr/>
          <p:nvPr/>
        </p:nvSpPr>
        <p:spPr>
          <a:xfrm>
            <a:off x="548640" y="4696968"/>
            <a:ext cx="3544824" cy="1520952"/>
          </a:xfrm>
          <a:prstGeom prst="roundRect">
            <a:avLst>
              <a:gd name="adj" fmla="val 7214"/>
            </a:avLst>
          </a:prstGeom>
          <a:solidFill>
            <a:srgbClr val="EAF3F1"/>
          </a:solidFill>
          <a:ln w="12700">
            <a:solidFill>
              <a:srgbClr val="EAF3F1"/>
            </a:solidFill>
            <a:prstDash val="solid"/>
          </a:ln>
        </p:spPr>
      </p:sp>
      <p:sp>
        <p:nvSpPr>
          <p:cNvPr id="4" name="S06-cardtext60"/>
          <p:cNvSpPr txBox="1"/>
          <p:nvPr/>
        </p:nvSpPr>
        <p:spPr>
          <a:xfrm>
            <a:off x="822960" y="4834128"/>
            <a:ext cx="2996184" cy="1246632"/>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뿌리</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물을 흡수하고</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식물을 지지해요.</a:t>
            </a:r>
            <a:endParaRPr lang="ko-KR" sz="2800" dirty="0"/>
          </a:p>
        </p:txBody>
      </p:sp>
      <p:sp>
        <p:nvSpPr>
          <p:cNvPr id="5" name="S06-card61"/>
          <p:cNvSpPr/>
          <p:nvPr/>
        </p:nvSpPr>
        <p:spPr>
          <a:xfrm>
            <a:off x="4322064" y="4696968"/>
            <a:ext cx="3544824" cy="1520952"/>
          </a:xfrm>
          <a:prstGeom prst="roundRect">
            <a:avLst>
              <a:gd name="adj" fmla="val 7214"/>
            </a:avLst>
          </a:prstGeom>
          <a:solidFill>
            <a:srgbClr val="EAF3F1"/>
          </a:solidFill>
          <a:ln w="12700">
            <a:solidFill>
              <a:srgbClr val="EAF3F1"/>
            </a:solidFill>
            <a:prstDash val="solid"/>
          </a:ln>
        </p:spPr>
      </p:sp>
      <p:sp>
        <p:nvSpPr>
          <p:cNvPr id="6" name="S06-cardtext62"/>
          <p:cNvSpPr txBox="1"/>
          <p:nvPr/>
        </p:nvSpPr>
        <p:spPr>
          <a:xfrm>
            <a:off x="4596384" y="4834128"/>
            <a:ext cx="2996184" cy="1246632"/>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줄기</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물이 이동하는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통로가 있어요.</a:t>
            </a:r>
            <a:endParaRPr lang="ko-KR" sz="2800" dirty="0"/>
          </a:p>
        </p:txBody>
      </p:sp>
      <p:sp>
        <p:nvSpPr>
          <p:cNvPr id="7" name="S06-card63"/>
          <p:cNvSpPr/>
          <p:nvPr/>
        </p:nvSpPr>
        <p:spPr>
          <a:xfrm>
            <a:off x="8095488" y="4696968"/>
            <a:ext cx="3544824" cy="1520952"/>
          </a:xfrm>
          <a:prstGeom prst="roundRect">
            <a:avLst>
              <a:gd name="adj" fmla="val 7214"/>
            </a:avLst>
          </a:prstGeom>
          <a:solidFill>
            <a:srgbClr val="EAF3F1"/>
          </a:solidFill>
          <a:ln w="12700">
            <a:solidFill>
              <a:srgbClr val="EAF3F1"/>
            </a:solidFill>
            <a:prstDash val="solid"/>
          </a:ln>
        </p:spPr>
      </p:sp>
      <p:sp>
        <p:nvSpPr>
          <p:cNvPr id="8" name="S06-cardtext64"/>
          <p:cNvSpPr txBox="1"/>
          <p:nvPr/>
        </p:nvSpPr>
        <p:spPr>
          <a:xfrm>
            <a:off x="8369808" y="4834128"/>
            <a:ext cx="2996184" cy="1246632"/>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물의 길</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뿌리 → 줄기 → 잎</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차례로 올라가요.</a:t>
            </a:r>
            <a:endParaRPr lang="ko-KR" sz="2800" dirty="0"/>
          </a:p>
        </p:txBody>
      </p:sp>
      <p:sp>
        <p:nvSpPr>
          <p:cNvPr id="9" name="S06-figure65" descr="셀러리를 가로로 자른 면: U자 모양 단면의 바깥쪽 가장자리를 따라 붉은 색 점 9개가 줄지어 있음"/>
          <p:cNvSpPr/>
          <p:nvPr/>
        </p:nvSpPr>
        <p:spPr>
          <a:xfrm>
            <a:off x="1412748" y="1917573"/>
            <a:ext cx="3657600" cy="1508760"/>
          </a:xfrm>
          <a:custGeom>
            <a:avLst/>
            <a:gdLst/>
            <a:ahLst/>
            <a:cxnLst/>
            <a:rect l="l" t="t" r="r" b="b"/>
            <a:pathLst>
              <a:path w="3657600" h="1508760">
                <a:moveTo>
                  <a:pt x="0" y="45720"/>
                </a:moveTo>
                <a:lnTo>
                  <a:pt x="7315" y="172822"/>
                </a:lnTo>
                <a:lnTo>
                  <a:pt x="27432" y="299923"/>
                </a:lnTo>
                <a:lnTo>
                  <a:pt x="62179" y="424282"/>
                </a:lnTo>
                <a:lnTo>
                  <a:pt x="110642" y="545897"/>
                </a:lnTo>
                <a:lnTo>
                  <a:pt x="170993" y="663854"/>
                </a:lnTo>
                <a:lnTo>
                  <a:pt x="245059" y="777240"/>
                </a:lnTo>
                <a:lnTo>
                  <a:pt x="331013" y="885139"/>
                </a:lnTo>
                <a:lnTo>
                  <a:pt x="427939" y="985723"/>
                </a:lnTo>
                <a:lnTo>
                  <a:pt x="535838" y="1079906"/>
                </a:lnTo>
                <a:lnTo>
                  <a:pt x="652882" y="1166774"/>
                </a:lnTo>
                <a:lnTo>
                  <a:pt x="779983" y="1244498"/>
                </a:lnTo>
                <a:lnTo>
                  <a:pt x="914400" y="1313078"/>
                </a:lnTo>
                <a:lnTo>
                  <a:pt x="1056132" y="1371600"/>
                </a:lnTo>
                <a:lnTo>
                  <a:pt x="1203350" y="1420978"/>
                </a:lnTo>
                <a:lnTo>
                  <a:pt x="1355141" y="1458468"/>
                </a:lnTo>
                <a:lnTo>
                  <a:pt x="1511503" y="1486814"/>
                </a:lnTo>
                <a:lnTo>
                  <a:pt x="1669694" y="1503274"/>
                </a:lnTo>
                <a:lnTo>
                  <a:pt x="1828800" y="1508760"/>
                </a:lnTo>
                <a:lnTo>
                  <a:pt x="1987906" y="1503274"/>
                </a:lnTo>
                <a:lnTo>
                  <a:pt x="2146097" y="1486814"/>
                </a:lnTo>
                <a:lnTo>
                  <a:pt x="2302459" y="1458468"/>
                </a:lnTo>
                <a:lnTo>
                  <a:pt x="2454250" y="1420978"/>
                </a:lnTo>
                <a:lnTo>
                  <a:pt x="2601468" y="1371600"/>
                </a:lnTo>
                <a:lnTo>
                  <a:pt x="2743200" y="1313078"/>
                </a:lnTo>
                <a:lnTo>
                  <a:pt x="2877617" y="1244498"/>
                </a:lnTo>
                <a:lnTo>
                  <a:pt x="3004718" y="1166774"/>
                </a:lnTo>
                <a:lnTo>
                  <a:pt x="3121762" y="1079906"/>
                </a:lnTo>
                <a:lnTo>
                  <a:pt x="3229661" y="985723"/>
                </a:lnTo>
                <a:lnTo>
                  <a:pt x="3326587" y="885139"/>
                </a:lnTo>
                <a:lnTo>
                  <a:pt x="3412541" y="777240"/>
                </a:lnTo>
                <a:lnTo>
                  <a:pt x="3486607" y="663854"/>
                </a:lnTo>
                <a:lnTo>
                  <a:pt x="3546958" y="545897"/>
                </a:lnTo>
                <a:lnTo>
                  <a:pt x="3595421" y="424282"/>
                </a:lnTo>
                <a:lnTo>
                  <a:pt x="3630168" y="299923"/>
                </a:lnTo>
                <a:lnTo>
                  <a:pt x="3650285" y="172822"/>
                </a:lnTo>
                <a:lnTo>
                  <a:pt x="3657600" y="45720"/>
                </a:lnTo>
                <a:lnTo>
                  <a:pt x="3657600" y="0"/>
                </a:lnTo>
                <a:lnTo>
                  <a:pt x="2880360" y="0"/>
                </a:lnTo>
                <a:lnTo>
                  <a:pt x="2876702" y="52121"/>
                </a:lnTo>
                <a:lnTo>
                  <a:pt x="2864815" y="103327"/>
                </a:lnTo>
                <a:lnTo>
                  <a:pt x="2844698" y="153619"/>
                </a:lnTo>
                <a:lnTo>
                  <a:pt x="2817266" y="202997"/>
                </a:lnTo>
                <a:lnTo>
                  <a:pt x="2781605" y="251460"/>
                </a:lnTo>
                <a:lnTo>
                  <a:pt x="2739542" y="297180"/>
                </a:lnTo>
                <a:lnTo>
                  <a:pt x="2690165" y="341071"/>
                </a:lnTo>
                <a:lnTo>
                  <a:pt x="2634386" y="382219"/>
                </a:lnTo>
                <a:lnTo>
                  <a:pt x="2572207" y="420624"/>
                </a:lnTo>
                <a:lnTo>
                  <a:pt x="2504542" y="455371"/>
                </a:lnTo>
                <a:lnTo>
                  <a:pt x="2432304" y="486461"/>
                </a:lnTo>
                <a:lnTo>
                  <a:pt x="2354580" y="514807"/>
                </a:lnTo>
                <a:lnTo>
                  <a:pt x="2273198" y="538582"/>
                </a:lnTo>
                <a:lnTo>
                  <a:pt x="2188159" y="558698"/>
                </a:lnTo>
                <a:lnTo>
                  <a:pt x="2101291" y="574243"/>
                </a:lnTo>
                <a:lnTo>
                  <a:pt x="2011680" y="585216"/>
                </a:lnTo>
                <a:lnTo>
                  <a:pt x="1920240" y="592531"/>
                </a:lnTo>
                <a:lnTo>
                  <a:pt x="1828800" y="594360"/>
                </a:lnTo>
                <a:lnTo>
                  <a:pt x="1737360" y="592531"/>
                </a:lnTo>
                <a:lnTo>
                  <a:pt x="1645920" y="585216"/>
                </a:lnTo>
                <a:lnTo>
                  <a:pt x="1556309" y="574243"/>
                </a:lnTo>
                <a:lnTo>
                  <a:pt x="1469441" y="558698"/>
                </a:lnTo>
                <a:lnTo>
                  <a:pt x="1384402" y="538582"/>
                </a:lnTo>
                <a:lnTo>
                  <a:pt x="1303020" y="514807"/>
                </a:lnTo>
                <a:lnTo>
                  <a:pt x="1225296" y="486461"/>
                </a:lnTo>
                <a:lnTo>
                  <a:pt x="1153058" y="455371"/>
                </a:lnTo>
                <a:lnTo>
                  <a:pt x="1085393" y="420624"/>
                </a:lnTo>
                <a:lnTo>
                  <a:pt x="1023214" y="382219"/>
                </a:lnTo>
                <a:lnTo>
                  <a:pt x="967435" y="341071"/>
                </a:lnTo>
                <a:lnTo>
                  <a:pt x="918058" y="297180"/>
                </a:lnTo>
                <a:lnTo>
                  <a:pt x="875995" y="251460"/>
                </a:lnTo>
                <a:lnTo>
                  <a:pt x="840334" y="202997"/>
                </a:lnTo>
                <a:lnTo>
                  <a:pt x="812902" y="153619"/>
                </a:lnTo>
                <a:lnTo>
                  <a:pt x="792785" y="103327"/>
                </a:lnTo>
                <a:lnTo>
                  <a:pt x="780898" y="52121"/>
                </a:lnTo>
                <a:lnTo>
                  <a:pt x="777240" y="0"/>
                </a:lnTo>
                <a:close/>
              </a:path>
            </a:pathLst>
          </a:custGeom>
          <a:solidFill>
            <a:srgbClr val="D9EDC8"/>
          </a:solidFill>
          <a:ln w="19050">
            <a:solidFill>
              <a:srgbClr val="4E8F3A"/>
            </a:solidFill>
            <a:prstDash val="solid"/>
          </a:ln>
        </p:spPr>
      </p:sp>
      <p:sp>
        <p:nvSpPr>
          <p:cNvPr id="10" name="S06-mark66"/>
          <p:cNvSpPr/>
          <p:nvPr/>
        </p:nvSpPr>
        <p:spPr>
          <a:xfrm>
            <a:off x="1698955" y="2141601"/>
            <a:ext cx="237744" cy="237744"/>
          </a:xfrm>
          <a:prstGeom prst="ellipse">
            <a:avLst/>
          </a:prstGeom>
          <a:solidFill>
            <a:srgbClr val="C8434E"/>
          </a:solidFill>
          <a:ln w="9525">
            <a:solidFill>
              <a:srgbClr val="8B1E2B"/>
            </a:solidFill>
            <a:prstDash val="solid"/>
          </a:ln>
        </p:spPr>
      </p:sp>
      <p:sp>
        <p:nvSpPr>
          <p:cNvPr id="11" name="S06-mark67"/>
          <p:cNvSpPr/>
          <p:nvPr/>
        </p:nvSpPr>
        <p:spPr>
          <a:xfrm>
            <a:off x="1901952" y="2455240"/>
            <a:ext cx="237744" cy="237744"/>
          </a:xfrm>
          <a:prstGeom prst="ellipse">
            <a:avLst/>
          </a:prstGeom>
          <a:solidFill>
            <a:srgbClr val="C8434E"/>
          </a:solidFill>
          <a:ln w="9525">
            <a:solidFill>
              <a:srgbClr val="8B1E2B"/>
            </a:solidFill>
            <a:prstDash val="solid"/>
          </a:ln>
        </p:spPr>
      </p:sp>
      <p:sp>
        <p:nvSpPr>
          <p:cNvPr id="12" name="S06-mark68"/>
          <p:cNvSpPr/>
          <p:nvPr/>
        </p:nvSpPr>
        <p:spPr>
          <a:xfrm>
            <a:off x="2231136" y="2705786"/>
            <a:ext cx="237744" cy="237744"/>
          </a:xfrm>
          <a:prstGeom prst="ellipse">
            <a:avLst/>
          </a:prstGeom>
          <a:solidFill>
            <a:srgbClr val="C8434E"/>
          </a:solidFill>
          <a:ln w="9525">
            <a:solidFill>
              <a:srgbClr val="8B1E2B"/>
            </a:solidFill>
            <a:prstDash val="solid"/>
          </a:ln>
        </p:spPr>
      </p:sp>
      <p:sp>
        <p:nvSpPr>
          <p:cNvPr id="13" name="S06-mark69"/>
          <p:cNvSpPr/>
          <p:nvPr/>
        </p:nvSpPr>
        <p:spPr>
          <a:xfrm>
            <a:off x="2652674" y="2867635"/>
            <a:ext cx="237744" cy="237744"/>
          </a:xfrm>
          <a:prstGeom prst="ellipse">
            <a:avLst/>
          </a:prstGeom>
          <a:solidFill>
            <a:srgbClr val="C8434E"/>
          </a:solidFill>
          <a:ln w="9525">
            <a:solidFill>
              <a:srgbClr val="8B1E2B"/>
            </a:solidFill>
            <a:prstDash val="solid"/>
          </a:ln>
        </p:spPr>
      </p:sp>
      <p:sp>
        <p:nvSpPr>
          <p:cNvPr id="14" name="S06-mark70"/>
          <p:cNvSpPr/>
          <p:nvPr/>
        </p:nvSpPr>
        <p:spPr>
          <a:xfrm>
            <a:off x="3122676" y="2923413"/>
            <a:ext cx="237744" cy="237744"/>
          </a:xfrm>
          <a:prstGeom prst="ellipse">
            <a:avLst/>
          </a:prstGeom>
          <a:solidFill>
            <a:srgbClr val="C8434E"/>
          </a:solidFill>
          <a:ln w="9525">
            <a:solidFill>
              <a:srgbClr val="8B1E2B"/>
            </a:solidFill>
            <a:prstDash val="solid"/>
          </a:ln>
        </p:spPr>
      </p:sp>
      <p:sp>
        <p:nvSpPr>
          <p:cNvPr id="15" name="S06-mark71"/>
          <p:cNvSpPr/>
          <p:nvPr/>
        </p:nvSpPr>
        <p:spPr>
          <a:xfrm>
            <a:off x="3592678" y="2867635"/>
            <a:ext cx="237744" cy="237744"/>
          </a:xfrm>
          <a:prstGeom prst="ellipse">
            <a:avLst/>
          </a:prstGeom>
          <a:solidFill>
            <a:srgbClr val="C8434E"/>
          </a:solidFill>
          <a:ln w="9525">
            <a:solidFill>
              <a:srgbClr val="8B1E2B"/>
            </a:solidFill>
            <a:prstDash val="solid"/>
          </a:ln>
        </p:spPr>
      </p:sp>
      <p:sp>
        <p:nvSpPr>
          <p:cNvPr id="16" name="S06-mark72"/>
          <p:cNvSpPr/>
          <p:nvPr/>
        </p:nvSpPr>
        <p:spPr>
          <a:xfrm>
            <a:off x="4014216" y="2705786"/>
            <a:ext cx="237744" cy="237744"/>
          </a:xfrm>
          <a:prstGeom prst="ellipse">
            <a:avLst/>
          </a:prstGeom>
          <a:solidFill>
            <a:srgbClr val="C8434E"/>
          </a:solidFill>
          <a:ln w="9525">
            <a:solidFill>
              <a:srgbClr val="8B1E2B"/>
            </a:solidFill>
            <a:prstDash val="solid"/>
          </a:ln>
        </p:spPr>
      </p:sp>
      <p:sp>
        <p:nvSpPr>
          <p:cNvPr id="17" name="S06-mark73"/>
          <p:cNvSpPr/>
          <p:nvPr/>
        </p:nvSpPr>
        <p:spPr>
          <a:xfrm>
            <a:off x="4343400" y="2455240"/>
            <a:ext cx="237744" cy="237744"/>
          </a:xfrm>
          <a:prstGeom prst="ellipse">
            <a:avLst/>
          </a:prstGeom>
          <a:solidFill>
            <a:srgbClr val="C8434E"/>
          </a:solidFill>
          <a:ln w="9525">
            <a:solidFill>
              <a:srgbClr val="8B1E2B"/>
            </a:solidFill>
            <a:prstDash val="solid"/>
          </a:ln>
        </p:spPr>
      </p:sp>
      <p:sp>
        <p:nvSpPr>
          <p:cNvPr id="18" name="S06-mark74"/>
          <p:cNvSpPr/>
          <p:nvPr/>
        </p:nvSpPr>
        <p:spPr>
          <a:xfrm>
            <a:off x="4546397" y="2141601"/>
            <a:ext cx="237744" cy="237744"/>
          </a:xfrm>
          <a:prstGeom prst="ellipse">
            <a:avLst/>
          </a:prstGeom>
          <a:solidFill>
            <a:srgbClr val="C8434E"/>
          </a:solidFill>
          <a:ln w="9525">
            <a:solidFill>
              <a:srgbClr val="8B1E2B"/>
            </a:solidFill>
            <a:prstDash val="solid"/>
          </a:ln>
        </p:spPr>
      </p:sp>
      <p:sp>
        <p:nvSpPr>
          <p:cNvPr id="19" name="S06-label75"/>
          <p:cNvSpPr txBox="1"/>
          <p:nvPr/>
        </p:nvSpPr>
        <p:spPr>
          <a:xfrm>
            <a:off x="548640" y="4091178"/>
            <a:ext cx="5385816" cy="37719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가로로 자른 면</a:t>
            </a:r>
            <a:endParaRPr lang="ko-KR" sz="2200" dirty="0"/>
          </a:p>
        </p:txBody>
      </p:sp>
      <p:sp>
        <p:nvSpPr>
          <p:cNvPr id="20" name="S06-figure76" descr="셀러리를 세로로 자른 면: 아래에서 위로 이어진 붉은 줄 세 개"/>
          <p:cNvSpPr/>
          <p:nvPr/>
        </p:nvSpPr>
        <p:spPr>
          <a:xfrm>
            <a:off x="8410946" y="1409700"/>
            <a:ext cx="1072915" cy="2524506"/>
          </a:xfrm>
          <a:custGeom>
            <a:avLst/>
            <a:gdLst/>
            <a:ahLst/>
            <a:cxnLst/>
            <a:rect l="l" t="t" r="r" b="b"/>
            <a:pathLst>
              <a:path w="1072915" h="2524506">
                <a:moveTo>
                  <a:pt x="0" y="2524506"/>
                </a:moveTo>
                <a:lnTo>
                  <a:pt x="1072915" y="2524506"/>
                </a:lnTo>
                <a:lnTo>
                  <a:pt x="1072915" y="0"/>
                </a:lnTo>
                <a:lnTo>
                  <a:pt x="0" y="0"/>
                </a:lnTo>
                <a:close/>
              </a:path>
            </a:pathLst>
          </a:custGeom>
          <a:solidFill>
            <a:srgbClr val="D9EDC8"/>
          </a:solidFill>
          <a:ln w="19050">
            <a:solidFill>
              <a:srgbClr val="4E8F3A"/>
            </a:solidFill>
            <a:prstDash val="solid"/>
          </a:ln>
        </p:spPr>
      </p:sp>
      <p:sp>
        <p:nvSpPr>
          <p:cNvPr id="21" name="S06-mark77"/>
          <p:cNvSpPr/>
          <p:nvPr/>
        </p:nvSpPr>
        <p:spPr>
          <a:xfrm flipV="1">
            <a:off x="8631841" y="1504369"/>
            <a:ext cx="0" cy="2335168"/>
          </a:xfrm>
          <a:prstGeom prst="line">
            <a:avLst/>
          </a:prstGeom>
          <a:noFill/>
          <a:ln w="31750">
            <a:solidFill>
              <a:srgbClr val="C8434E"/>
            </a:solidFill>
            <a:prstDash val="solid"/>
          </a:ln>
        </p:spPr>
      </p:sp>
      <p:sp>
        <p:nvSpPr>
          <p:cNvPr id="22" name="S06-mark78"/>
          <p:cNvSpPr/>
          <p:nvPr/>
        </p:nvSpPr>
        <p:spPr>
          <a:xfrm flipV="1">
            <a:off x="8947404" y="1504369"/>
            <a:ext cx="0" cy="2335168"/>
          </a:xfrm>
          <a:prstGeom prst="line">
            <a:avLst/>
          </a:prstGeom>
          <a:noFill/>
          <a:ln w="31750">
            <a:solidFill>
              <a:srgbClr val="C8434E"/>
            </a:solidFill>
            <a:prstDash val="solid"/>
          </a:ln>
        </p:spPr>
      </p:sp>
      <p:sp>
        <p:nvSpPr>
          <p:cNvPr id="23" name="S06-mark79"/>
          <p:cNvSpPr/>
          <p:nvPr/>
        </p:nvSpPr>
        <p:spPr>
          <a:xfrm flipV="1">
            <a:off x="9262967" y="1504369"/>
            <a:ext cx="0" cy="2335168"/>
          </a:xfrm>
          <a:prstGeom prst="line">
            <a:avLst/>
          </a:prstGeom>
          <a:noFill/>
          <a:ln w="31750">
            <a:solidFill>
              <a:srgbClr val="C8434E"/>
            </a:solidFill>
            <a:prstDash val="solid"/>
          </a:ln>
        </p:spPr>
      </p:sp>
      <p:sp>
        <p:nvSpPr>
          <p:cNvPr id="24" name="S06-label80"/>
          <p:cNvSpPr txBox="1"/>
          <p:nvPr/>
        </p:nvSpPr>
        <p:spPr>
          <a:xfrm>
            <a:off x="6254496" y="4091178"/>
            <a:ext cx="5385816" cy="37719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세로로 자른 면</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누구 말이 맞을까요?</a:t>
            </a:r>
            <a:endParaRPr lang="ko-KR" sz="4000" dirty="0"/>
          </a:p>
        </p:txBody>
      </p:sp>
      <p:sp>
        <p:nvSpPr>
          <p:cNvPr id="3" name="S07-card81"/>
          <p:cNvSpPr/>
          <p:nvPr/>
        </p:nvSpPr>
        <p:spPr>
          <a:xfrm>
            <a:off x="548640" y="1325880"/>
            <a:ext cx="11091672" cy="868680"/>
          </a:xfrm>
          <a:prstGeom prst="roundRect">
            <a:avLst>
              <a:gd name="adj" fmla="val 12632"/>
            </a:avLst>
          </a:prstGeom>
          <a:solidFill>
            <a:srgbClr val="EAF3F1"/>
          </a:solidFill>
          <a:ln w="12700">
            <a:solidFill>
              <a:srgbClr val="EAF3F1"/>
            </a:solidFill>
            <a:prstDash val="solid"/>
          </a:ln>
        </p:spPr>
      </p:sp>
      <p:sp>
        <p:nvSpPr>
          <p:cNvPr id="4" name="S07-cardtext82"/>
          <p:cNvSpPr txBox="1"/>
          <p:nvPr/>
        </p:nvSpPr>
        <p:spPr>
          <a:xfrm>
            <a:off x="822960" y="146304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셀러리 잎이 색소 물의 색으로 물들었어요.</a:t>
            </a:r>
            <a:endParaRPr lang="ko-KR" sz="2800" dirty="0"/>
          </a:p>
        </p:txBody>
      </p:sp>
      <p:sp>
        <p:nvSpPr>
          <p:cNvPr id="5" name="S07-card83"/>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07-cardtext8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누구 말이 맞을까요? 무엇이 증거일까요?</a:t>
            </a:r>
            <a:endParaRPr lang="ko-KR" sz="2800" dirty="0"/>
          </a:p>
        </p:txBody>
      </p:sp>
      <p:sp>
        <p:nvSpPr>
          <p:cNvPr id="7" name="S07-chip85"/>
          <p:cNvSpPr txBox="1"/>
          <p:nvPr/>
        </p:nvSpPr>
        <p:spPr>
          <a:xfrm>
            <a:off x="548640"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토끼</a:t>
            </a:r>
            <a:endParaRPr lang="ko-KR" sz="2200" dirty="0"/>
          </a:p>
        </p:txBody>
      </p:sp>
      <p:sp>
        <p:nvSpPr>
          <p:cNvPr id="8" name="S07-text86"/>
          <p:cNvSpPr txBox="1"/>
          <p:nvPr/>
        </p:nvSpPr>
        <p:spPr>
          <a:xfrm>
            <a:off x="548640" y="3154680"/>
            <a:ext cx="5362956" cy="196596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줄기 전체가 스펀지처럼</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물을 빨아올렸어요.</a:t>
            </a:r>
            <a:endParaRPr lang="ko-KR" sz="2800" dirty="0"/>
          </a:p>
        </p:txBody>
      </p:sp>
      <p:sp>
        <p:nvSpPr>
          <p:cNvPr id="9" name="S07-chip87"/>
          <p:cNvSpPr txBox="1"/>
          <p:nvPr/>
        </p:nvSpPr>
        <p:spPr>
          <a:xfrm>
            <a:off x="6277356"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곰</a:t>
            </a:r>
            <a:endParaRPr lang="ko-KR" sz="2200" dirty="0"/>
          </a:p>
        </p:txBody>
      </p:sp>
      <p:sp>
        <p:nvSpPr>
          <p:cNvPr id="10" name="S07-text88"/>
          <p:cNvSpPr txBox="1"/>
          <p:nvPr/>
        </p:nvSpPr>
        <p:spPr>
          <a:xfrm>
            <a:off x="6277356" y="3154680"/>
            <a:ext cx="5362956" cy="196596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자른 면에 색 점만 있었어요.</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정해진 통로로 올라갔어요.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또 예상해 봐요</a:t>
            </a:r>
            <a:endParaRPr lang="ko-KR" sz="4000" dirty="0"/>
          </a:p>
        </p:txBody>
      </p:sp>
      <p:sp>
        <p:nvSpPr>
          <p:cNvPr id="3" name="S08-text89"/>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비닐봉지를 씌워 햇빛 드는 곳에 두면?</a:t>
            </a:r>
            <a:endParaRPr lang="ko-KR" sz="2800" dirty="0"/>
          </a:p>
        </p:txBody>
      </p:sp>
      <p:sp>
        <p:nvSpPr>
          <p:cNvPr id="4" name="S08-card90"/>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8-cardtext91"/>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예상은 활동지 2에 써요.</a:t>
            </a:r>
            <a:endParaRPr lang="ko-KR" sz="2800" dirty="0"/>
          </a:p>
        </p:txBody>
      </p:sp>
      <p:graphicFrame>
        <p:nvGraphicFramePr>
          <p:cNvPr id="9" name="S08-table92"/>
          <p:cNvGraphicFramePr>
            <a:graphicFrameLocks noGrp="1"/>
          </p:cNvGraphicFramePr>
          <p:nvPr>
            <p:extLst>
              <p:ext uri="{D42A27DB-BD31-4B8C-83A1-F6EECF244321}">
                <p14:modId xmlns:p14="http://schemas.microsoft.com/office/powerpoint/2010/main" val="1579011935"/>
              </p:ext>
            </p:extLst>
          </p:nvPr>
        </p:nvGraphicFramePr>
        <p:xfrm>
          <a:off x="836676" y="2797302"/>
          <a:ext cx="10515600" cy="914400"/>
        </p:xfrm>
        <a:graphic>
          <a:graphicData uri="http://schemas.openxmlformats.org/drawingml/2006/table">
            <a:tbl>
              <a:tblPr/>
              <a:tblGrid>
                <a:gridCol w="6309360"/>
                <a:gridCol w="4206240"/>
              </a:tblGrid>
              <a:tr h="512572">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궁금한 것</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내 예상</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r>
              <a:tr h="512572">
                <a:tc>
                  <a:txBody>
                    <a:bodyPr/>
                    <a:lstStyle/>
                    <a:p>
                      <a:pPr eaLnBrk="0" algn="ctr" indent="0" marL="0">
                        <a:buNone/>
                      </a:pPr>
                      <a:r>
                        <a:rPr lang="en-US" sz="2600" dirty="0">
                          <a:solidFill>
                            <a:srgbClr val="1F2937"/>
                          </a:solidFill>
                          <a:latin typeface="맑은 고딕" pitchFamily="34" charset="0"/>
                          <a:ea typeface="맑은 고딕" pitchFamily="34" charset="-122"/>
                          <a:cs typeface="맑은 고딕" pitchFamily="34" charset="-120"/>
                        </a:rPr>
                        <a:t>잎을 그대로 둔 셀러리의 봉지 안</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512572">
                <a:tc>
                  <a:txBody>
                    <a:bodyPr/>
                    <a:lstStyle/>
                    <a:p>
                      <a:pPr eaLnBrk="0" algn="ctr" indent="0" marL="0">
                        <a:buNone/>
                      </a:pPr>
                      <a:r>
                        <a:rPr lang="en-US" sz="2600" dirty="0">
                          <a:solidFill>
                            <a:srgbClr val="1F2937"/>
                          </a:solidFill>
                          <a:latin typeface="맑은 고딕" pitchFamily="34" charset="0"/>
                          <a:ea typeface="맑은 고딕" pitchFamily="34" charset="-122"/>
                          <a:cs typeface="맑은 고딕" pitchFamily="34" charset="-120"/>
                        </a:rPr>
                        <a:t>잎을 모두 딴 셀러리의 봉지 안</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비닐봉지를 씌워요</a:t>
            </a:r>
            <a:endParaRPr lang="ko-KR" sz="4000" dirty="0"/>
          </a:p>
        </p:txBody>
      </p:sp>
      <p:sp>
        <p:nvSpPr>
          <p:cNvPr id="3" name="S09-card93"/>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9-cardtext9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안전: 비닐봉지는 얼굴에 쓰거나 입에 대지 않아요.</a:t>
            </a:r>
            <a:endParaRPr lang="ko-KR" sz="2800" dirty="0"/>
          </a:p>
        </p:txBody>
      </p:sp>
      <p:sp>
        <p:nvSpPr>
          <p:cNvPr id="5" name="S09-figure95" descr="물컵 두 개에 셀러리를 한 대씩 꽂고 컵 입구를 랩으로 감싼 뒤 비닐봉지를 씌워 고무줄로 묶은 모습. 가는 잎을 그대로 둔 셀러리, 나는 잎을 모두 딴 셀러리"/>
          <p:cNvSpPr/>
          <p:nvPr/>
        </p:nvSpPr>
        <p:spPr>
          <a:xfrm>
            <a:off x="8235938" y="2459041"/>
            <a:ext cx="792835" cy="559648"/>
          </a:xfrm>
          <a:custGeom>
            <a:avLst/>
            <a:gdLst/>
            <a:ahLst/>
            <a:cxnLst/>
            <a:rect l="l" t="t" r="r" b="b"/>
            <a:pathLst>
              <a:path w="792835" h="559648">
                <a:moveTo>
                  <a:pt x="46637" y="559648"/>
                </a:moveTo>
                <a:lnTo>
                  <a:pt x="746198" y="559648"/>
                </a:lnTo>
                <a:lnTo>
                  <a:pt x="792835" y="0"/>
                </a:lnTo>
                <a:lnTo>
                  <a:pt x="0" y="0"/>
                </a:lnTo>
                <a:close/>
              </a:path>
            </a:pathLst>
          </a:custGeom>
          <a:solidFill>
            <a:srgbClr val="D6E8F5"/>
          </a:solidFill>
          <a:ln/>
        </p:spPr>
      </p:sp>
      <p:sp>
        <p:nvSpPr>
          <p:cNvPr id="6" name="S09-mark96"/>
          <p:cNvSpPr/>
          <p:nvPr/>
        </p:nvSpPr>
        <p:spPr>
          <a:xfrm>
            <a:off x="8572893" y="1899392"/>
            <a:ext cx="171392" cy="1031852"/>
          </a:xfrm>
          <a:custGeom>
            <a:avLst/>
            <a:gdLst/>
            <a:ahLst/>
            <a:cxnLst/>
            <a:rect l="l" t="t" r="r" b="b"/>
            <a:pathLst>
              <a:path w="171392" h="1031852">
                <a:moveTo>
                  <a:pt x="0" y="1031852"/>
                </a:moveTo>
                <a:lnTo>
                  <a:pt x="118925" y="1031852"/>
                </a:lnTo>
                <a:lnTo>
                  <a:pt x="171392" y="0"/>
                </a:lnTo>
                <a:lnTo>
                  <a:pt x="66458" y="0"/>
                </a:lnTo>
                <a:close/>
              </a:path>
            </a:pathLst>
          </a:custGeom>
          <a:solidFill>
            <a:srgbClr val="A8D08D"/>
          </a:solidFill>
          <a:ln w="15875">
            <a:solidFill>
              <a:srgbClr val="4E8F3A"/>
            </a:solidFill>
            <a:prstDash val="solid"/>
          </a:ln>
        </p:spPr>
      </p:sp>
      <p:sp>
        <p:nvSpPr>
          <p:cNvPr id="7" name="S09-mark97"/>
          <p:cNvSpPr/>
          <p:nvPr/>
        </p:nvSpPr>
        <p:spPr>
          <a:xfrm>
            <a:off x="8377016" y="1584590"/>
            <a:ext cx="314802" cy="314802"/>
          </a:xfrm>
          <a:custGeom>
            <a:avLst/>
            <a:gdLst/>
            <a:ahLst/>
            <a:cxnLst/>
            <a:rect l="l" t="t" r="r" b="b"/>
            <a:pathLst>
              <a:path w="314802" h="314802">
                <a:moveTo>
                  <a:pt x="314802" y="314802"/>
                </a:moveTo>
                <a:lnTo>
                  <a:pt x="256739" y="309905"/>
                </a:lnTo>
                <a:lnTo>
                  <a:pt x="207420" y="296264"/>
                </a:lnTo>
                <a:lnTo>
                  <a:pt x="162998" y="277725"/>
                </a:lnTo>
                <a:lnTo>
                  <a:pt x="123472" y="254290"/>
                </a:lnTo>
                <a:lnTo>
                  <a:pt x="89544" y="225258"/>
                </a:lnTo>
                <a:lnTo>
                  <a:pt x="60512" y="191330"/>
                </a:lnTo>
                <a:lnTo>
                  <a:pt x="37077" y="151805"/>
                </a:lnTo>
                <a:lnTo>
                  <a:pt x="18538" y="107383"/>
                </a:lnTo>
                <a:lnTo>
                  <a:pt x="4897" y="58064"/>
                </a:lnTo>
                <a:lnTo>
                  <a:pt x="0" y="0"/>
                </a:lnTo>
                <a:lnTo>
                  <a:pt x="58064" y="4897"/>
                </a:lnTo>
                <a:lnTo>
                  <a:pt x="107383" y="18538"/>
                </a:lnTo>
                <a:lnTo>
                  <a:pt x="151805" y="37077"/>
                </a:lnTo>
                <a:lnTo>
                  <a:pt x="191330" y="60512"/>
                </a:lnTo>
                <a:lnTo>
                  <a:pt x="225258" y="89544"/>
                </a:lnTo>
                <a:lnTo>
                  <a:pt x="254290" y="123472"/>
                </a:lnTo>
                <a:lnTo>
                  <a:pt x="277725" y="162998"/>
                </a:lnTo>
                <a:lnTo>
                  <a:pt x="296264" y="207420"/>
                </a:lnTo>
                <a:lnTo>
                  <a:pt x="309905" y="256739"/>
                </a:lnTo>
                <a:lnTo>
                  <a:pt x="314802" y="314802"/>
                </a:lnTo>
                <a:close/>
              </a:path>
            </a:pathLst>
          </a:custGeom>
          <a:solidFill>
            <a:srgbClr val="8CC46B"/>
          </a:solidFill>
          <a:ln w="15875">
            <a:solidFill>
              <a:srgbClr val="4E8F3A"/>
            </a:solidFill>
            <a:prstDash val="solid"/>
          </a:ln>
        </p:spPr>
      </p:sp>
      <p:sp>
        <p:nvSpPr>
          <p:cNvPr id="8" name="S09-mark98"/>
          <p:cNvSpPr/>
          <p:nvPr/>
        </p:nvSpPr>
        <p:spPr>
          <a:xfrm>
            <a:off x="8613467" y="1462167"/>
            <a:ext cx="191680" cy="437225"/>
          </a:xfrm>
          <a:custGeom>
            <a:avLst/>
            <a:gdLst/>
            <a:ahLst/>
            <a:cxnLst/>
            <a:rect l="l" t="t" r="r" b="b"/>
            <a:pathLst>
              <a:path w="191680" h="437225">
                <a:moveTo>
                  <a:pt x="78351" y="437225"/>
                </a:moveTo>
                <a:lnTo>
                  <a:pt x="44422" y="390355"/>
                </a:lnTo>
                <a:lnTo>
                  <a:pt x="22736" y="344883"/>
                </a:lnTo>
                <a:lnTo>
                  <a:pt x="8045" y="299412"/>
                </a:lnTo>
                <a:lnTo>
                  <a:pt x="350" y="254990"/>
                </a:lnTo>
                <a:lnTo>
                  <a:pt x="0" y="210917"/>
                </a:lnTo>
                <a:lnTo>
                  <a:pt x="7345" y="167545"/>
                </a:lnTo>
                <a:lnTo>
                  <a:pt x="22036" y="124522"/>
                </a:lnTo>
                <a:lnTo>
                  <a:pt x="43723" y="82548"/>
                </a:lnTo>
                <a:lnTo>
                  <a:pt x="72405" y="40575"/>
                </a:lnTo>
                <a:lnTo>
                  <a:pt x="113329" y="0"/>
                </a:lnTo>
                <a:lnTo>
                  <a:pt x="147257" y="46871"/>
                </a:lnTo>
                <a:lnTo>
                  <a:pt x="168944" y="92342"/>
                </a:lnTo>
                <a:lnTo>
                  <a:pt x="183635" y="137813"/>
                </a:lnTo>
                <a:lnTo>
                  <a:pt x="191330" y="182235"/>
                </a:lnTo>
                <a:lnTo>
                  <a:pt x="191680" y="226308"/>
                </a:lnTo>
                <a:lnTo>
                  <a:pt x="184334" y="269681"/>
                </a:lnTo>
                <a:lnTo>
                  <a:pt x="169643" y="312703"/>
                </a:lnTo>
                <a:lnTo>
                  <a:pt x="147957" y="354677"/>
                </a:lnTo>
                <a:lnTo>
                  <a:pt x="119275" y="396651"/>
                </a:lnTo>
                <a:lnTo>
                  <a:pt x="78351" y="437225"/>
                </a:lnTo>
                <a:close/>
              </a:path>
            </a:pathLst>
          </a:custGeom>
          <a:solidFill>
            <a:srgbClr val="8CC46B"/>
          </a:solidFill>
          <a:ln w="15875">
            <a:solidFill>
              <a:srgbClr val="4E8F3A"/>
            </a:solidFill>
            <a:prstDash val="solid"/>
          </a:ln>
        </p:spPr>
      </p:sp>
      <p:sp>
        <p:nvSpPr>
          <p:cNvPr id="9" name="S09-mark99"/>
          <p:cNvSpPr/>
          <p:nvPr/>
        </p:nvSpPr>
        <p:spPr>
          <a:xfrm>
            <a:off x="8691818" y="1618869"/>
            <a:ext cx="332291" cy="281223"/>
          </a:xfrm>
          <a:custGeom>
            <a:avLst/>
            <a:gdLst/>
            <a:ahLst/>
            <a:cxnLst/>
            <a:rect l="l" t="t" r="r" b="b"/>
            <a:pathLst>
              <a:path w="332291" h="281223">
                <a:moveTo>
                  <a:pt x="0" y="280524"/>
                </a:moveTo>
                <a:lnTo>
                  <a:pt x="9094" y="223859"/>
                </a:lnTo>
                <a:lnTo>
                  <a:pt x="25884" y="176289"/>
                </a:lnTo>
                <a:lnTo>
                  <a:pt x="47220" y="134316"/>
                </a:lnTo>
                <a:lnTo>
                  <a:pt x="73454" y="97938"/>
                </a:lnTo>
                <a:lnTo>
                  <a:pt x="104234" y="67158"/>
                </a:lnTo>
                <a:lnTo>
                  <a:pt x="139912" y="41974"/>
                </a:lnTo>
                <a:lnTo>
                  <a:pt x="180137" y="22386"/>
                </a:lnTo>
                <a:lnTo>
                  <a:pt x="225258" y="8395"/>
                </a:lnTo>
                <a:lnTo>
                  <a:pt x="274927" y="0"/>
                </a:lnTo>
                <a:lnTo>
                  <a:pt x="332291" y="700"/>
                </a:lnTo>
                <a:lnTo>
                  <a:pt x="323197" y="57364"/>
                </a:lnTo>
                <a:lnTo>
                  <a:pt x="306407" y="104934"/>
                </a:lnTo>
                <a:lnTo>
                  <a:pt x="285071" y="146908"/>
                </a:lnTo>
                <a:lnTo>
                  <a:pt x="258837" y="183285"/>
                </a:lnTo>
                <a:lnTo>
                  <a:pt x="228057" y="214065"/>
                </a:lnTo>
                <a:lnTo>
                  <a:pt x="192379" y="239250"/>
                </a:lnTo>
                <a:lnTo>
                  <a:pt x="152154" y="258837"/>
                </a:lnTo>
                <a:lnTo>
                  <a:pt x="107033" y="272829"/>
                </a:lnTo>
                <a:lnTo>
                  <a:pt x="57364" y="281223"/>
                </a:lnTo>
                <a:lnTo>
                  <a:pt x="0" y="280524"/>
                </a:lnTo>
                <a:close/>
              </a:path>
            </a:pathLst>
          </a:custGeom>
          <a:solidFill>
            <a:srgbClr val="8CC46B"/>
          </a:solidFill>
          <a:ln w="15875">
            <a:solidFill>
              <a:srgbClr val="4E8F3A"/>
            </a:solidFill>
            <a:prstDash val="solid"/>
          </a:ln>
        </p:spPr>
      </p:sp>
      <p:sp>
        <p:nvSpPr>
          <p:cNvPr id="10" name="S09-mark100"/>
          <p:cNvSpPr/>
          <p:nvPr/>
        </p:nvSpPr>
        <p:spPr>
          <a:xfrm>
            <a:off x="8212619" y="2179216"/>
            <a:ext cx="839472" cy="839472"/>
          </a:xfrm>
          <a:custGeom>
            <a:avLst/>
            <a:gdLst/>
            <a:ahLst/>
            <a:cxnLst/>
            <a:rect l="l" t="t" r="r" b="b"/>
            <a:pathLst>
              <a:path w="839472" h="839472">
                <a:moveTo>
                  <a:pt x="0" y="0"/>
                </a:moveTo>
                <a:lnTo>
                  <a:pt x="69956" y="839472"/>
                </a:lnTo>
                <a:lnTo>
                  <a:pt x="769516" y="839472"/>
                </a:lnTo>
                <a:lnTo>
                  <a:pt x="839472" y="0"/>
                </a:lnTo>
              </a:path>
            </a:pathLst>
          </a:custGeom>
          <a:noFill/>
          <a:ln w="25400">
            <a:solidFill>
              <a:srgbClr val="64748B"/>
            </a:solidFill>
            <a:prstDash val="solid"/>
          </a:ln>
        </p:spPr>
      </p:sp>
      <p:sp>
        <p:nvSpPr>
          <p:cNvPr id="11" name="S09-mark101"/>
          <p:cNvSpPr/>
          <p:nvPr/>
        </p:nvSpPr>
        <p:spPr>
          <a:xfrm>
            <a:off x="8195130" y="2126749"/>
            <a:ext cx="874450" cy="52467"/>
          </a:xfrm>
          <a:custGeom>
            <a:avLst/>
            <a:gdLst/>
            <a:ahLst/>
            <a:cxnLst/>
            <a:rect l="l" t="t" r="r" b="b"/>
            <a:pathLst>
              <a:path w="874450" h="52467">
                <a:moveTo>
                  <a:pt x="0" y="52467"/>
                </a:moveTo>
                <a:lnTo>
                  <a:pt x="874450" y="52467"/>
                </a:lnTo>
                <a:lnTo>
                  <a:pt x="874450" y="0"/>
                </a:lnTo>
                <a:lnTo>
                  <a:pt x="0" y="0"/>
                </a:lnTo>
                <a:close/>
              </a:path>
            </a:pathLst>
          </a:custGeom>
          <a:solidFill>
            <a:srgbClr val="E5E7EB"/>
          </a:solidFill>
          <a:ln w="12700">
            <a:solidFill>
              <a:srgbClr val="94A3B8"/>
            </a:solidFill>
            <a:prstDash val="solid"/>
          </a:ln>
        </p:spPr>
      </p:sp>
      <p:sp>
        <p:nvSpPr>
          <p:cNvPr id="12" name="S09-mark102"/>
          <p:cNvSpPr/>
          <p:nvPr/>
        </p:nvSpPr>
        <p:spPr>
          <a:xfrm>
            <a:off x="8072707" y="1409700"/>
            <a:ext cx="1119297" cy="944407"/>
          </a:xfrm>
          <a:custGeom>
            <a:avLst/>
            <a:gdLst/>
            <a:ahLst/>
            <a:cxnLst/>
            <a:rect l="l" t="t" r="r" b="b"/>
            <a:pathLst>
              <a:path w="1119297" h="944407">
                <a:moveTo>
                  <a:pt x="104934" y="944407"/>
                </a:moveTo>
                <a:lnTo>
                  <a:pt x="0" y="0"/>
                </a:lnTo>
                <a:lnTo>
                  <a:pt x="1119297" y="0"/>
                </a:lnTo>
                <a:lnTo>
                  <a:pt x="1014363" y="944407"/>
                </a:lnTo>
                <a:close/>
              </a:path>
            </a:pathLst>
          </a:custGeom>
          <a:noFill/>
          <a:ln w="19050">
            <a:solidFill>
              <a:srgbClr val="64748B"/>
            </a:solidFill>
            <a:prstDash val="dash"/>
          </a:ln>
        </p:spPr>
      </p:sp>
      <p:sp>
        <p:nvSpPr>
          <p:cNvPr id="13" name="S09-mark103"/>
          <p:cNvSpPr/>
          <p:nvPr/>
        </p:nvSpPr>
        <p:spPr>
          <a:xfrm>
            <a:off x="9425191" y="2459041"/>
            <a:ext cx="792835" cy="559648"/>
          </a:xfrm>
          <a:custGeom>
            <a:avLst/>
            <a:gdLst/>
            <a:ahLst/>
            <a:cxnLst/>
            <a:rect l="l" t="t" r="r" b="b"/>
            <a:pathLst>
              <a:path w="792835" h="559648">
                <a:moveTo>
                  <a:pt x="46637" y="559648"/>
                </a:moveTo>
                <a:lnTo>
                  <a:pt x="746198" y="559648"/>
                </a:lnTo>
                <a:lnTo>
                  <a:pt x="792835" y="0"/>
                </a:lnTo>
                <a:lnTo>
                  <a:pt x="0" y="0"/>
                </a:lnTo>
                <a:close/>
              </a:path>
            </a:pathLst>
          </a:custGeom>
          <a:solidFill>
            <a:srgbClr val="D6E8F5"/>
          </a:solidFill>
          <a:ln/>
        </p:spPr>
      </p:sp>
      <p:sp>
        <p:nvSpPr>
          <p:cNvPr id="14" name="S09-mark104"/>
          <p:cNvSpPr/>
          <p:nvPr/>
        </p:nvSpPr>
        <p:spPr>
          <a:xfrm>
            <a:off x="9762145" y="1899392"/>
            <a:ext cx="171392" cy="1031852"/>
          </a:xfrm>
          <a:custGeom>
            <a:avLst/>
            <a:gdLst/>
            <a:ahLst/>
            <a:cxnLst/>
            <a:rect l="l" t="t" r="r" b="b"/>
            <a:pathLst>
              <a:path w="171392" h="1031852">
                <a:moveTo>
                  <a:pt x="0" y="1031852"/>
                </a:moveTo>
                <a:lnTo>
                  <a:pt x="118925" y="1031852"/>
                </a:lnTo>
                <a:lnTo>
                  <a:pt x="171392" y="0"/>
                </a:lnTo>
                <a:lnTo>
                  <a:pt x="66458" y="0"/>
                </a:lnTo>
                <a:close/>
              </a:path>
            </a:pathLst>
          </a:custGeom>
          <a:solidFill>
            <a:srgbClr val="A8D08D"/>
          </a:solidFill>
          <a:ln w="15875">
            <a:solidFill>
              <a:srgbClr val="4E8F3A"/>
            </a:solidFill>
            <a:prstDash val="solid"/>
          </a:ln>
        </p:spPr>
      </p:sp>
      <p:sp>
        <p:nvSpPr>
          <p:cNvPr id="15" name="S09-mark105"/>
          <p:cNvSpPr/>
          <p:nvPr/>
        </p:nvSpPr>
        <p:spPr>
          <a:xfrm>
            <a:off x="9401872" y="2179216"/>
            <a:ext cx="839472" cy="839472"/>
          </a:xfrm>
          <a:custGeom>
            <a:avLst/>
            <a:gdLst/>
            <a:ahLst/>
            <a:cxnLst/>
            <a:rect l="l" t="t" r="r" b="b"/>
            <a:pathLst>
              <a:path w="839472" h="839472">
                <a:moveTo>
                  <a:pt x="0" y="0"/>
                </a:moveTo>
                <a:lnTo>
                  <a:pt x="69956" y="839472"/>
                </a:lnTo>
                <a:lnTo>
                  <a:pt x="769516" y="839472"/>
                </a:lnTo>
                <a:lnTo>
                  <a:pt x="839472" y="0"/>
                </a:lnTo>
              </a:path>
            </a:pathLst>
          </a:custGeom>
          <a:noFill/>
          <a:ln w="25400">
            <a:solidFill>
              <a:srgbClr val="64748B"/>
            </a:solidFill>
            <a:prstDash val="solid"/>
          </a:ln>
        </p:spPr>
      </p:sp>
      <p:sp>
        <p:nvSpPr>
          <p:cNvPr id="16" name="S09-mark106"/>
          <p:cNvSpPr/>
          <p:nvPr/>
        </p:nvSpPr>
        <p:spPr>
          <a:xfrm>
            <a:off x="9384383" y="2126749"/>
            <a:ext cx="874450" cy="52467"/>
          </a:xfrm>
          <a:custGeom>
            <a:avLst/>
            <a:gdLst/>
            <a:ahLst/>
            <a:cxnLst/>
            <a:rect l="l" t="t" r="r" b="b"/>
            <a:pathLst>
              <a:path w="874450" h="52467">
                <a:moveTo>
                  <a:pt x="0" y="52467"/>
                </a:moveTo>
                <a:lnTo>
                  <a:pt x="874450" y="52467"/>
                </a:lnTo>
                <a:lnTo>
                  <a:pt x="874450" y="0"/>
                </a:lnTo>
                <a:lnTo>
                  <a:pt x="0" y="0"/>
                </a:lnTo>
                <a:close/>
              </a:path>
            </a:pathLst>
          </a:custGeom>
          <a:solidFill>
            <a:srgbClr val="E5E7EB"/>
          </a:solidFill>
          <a:ln w="12700">
            <a:solidFill>
              <a:srgbClr val="94A3B8"/>
            </a:solidFill>
            <a:prstDash val="solid"/>
          </a:ln>
        </p:spPr>
      </p:sp>
      <p:sp>
        <p:nvSpPr>
          <p:cNvPr id="17" name="S09-mark107"/>
          <p:cNvSpPr/>
          <p:nvPr/>
        </p:nvSpPr>
        <p:spPr>
          <a:xfrm>
            <a:off x="9261960" y="1409700"/>
            <a:ext cx="1119297" cy="944407"/>
          </a:xfrm>
          <a:custGeom>
            <a:avLst/>
            <a:gdLst/>
            <a:ahLst/>
            <a:cxnLst/>
            <a:rect l="l" t="t" r="r" b="b"/>
            <a:pathLst>
              <a:path w="1119297" h="944407">
                <a:moveTo>
                  <a:pt x="104934" y="944407"/>
                </a:moveTo>
                <a:lnTo>
                  <a:pt x="0" y="0"/>
                </a:lnTo>
                <a:lnTo>
                  <a:pt x="1119297" y="0"/>
                </a:lnTo>
                <a:lnTo>
                  <a:pt x="1014363" y="944407"/>
                </a:lnTo>
                <a:close/>
              </a:path>
            </a:pathLst>
          </a:custGeom>
          <a:noFill/>
          <a:ln w="19050">
            <a:solidFill>
              <a:srgbClr val="64748B"/>
            </a:solidFill>
            <a:prstDash val="dash"/>
          </a:ln>
        </p:spPr>
      </p:sp>
      <p:sp>
        <p:nvSpPr>
          <p:cNvPr id="18" name="S09-mark108"/>
          <p:cNvSpPr/>
          <p:nvPr/>
        </p:nvSpPr>
        <p:spPr>
          <a:xfrm>
            <a:off x="8170646" y="2301639"/>
            <a:ext cx="923420" cy="0"/>
          </a:xfrm>
          <a:prstGeom prst="line">
            <a:avLst/>
          </a:prstGeom>
          <a:noFill/>
          <a:ln w="31750">
            <a:solidFill>
              <a:srgbClr val="C0587A"/>
            </a:solidFill>
            <a:prstDash val="solid"/>
          </a:ln>
        </p:spPr>
      </p:sp>
      <p:sp>
        <p:nvSpPr>
          <p:cNvPr id="19" name="S09-mark109"/>
          <p:cNvSpPr/>
          <p:nvPr/>
        </p:nvSpPr>
        <p:spPr>
          <a:xfrm>
            <a:off x="9359898" y="2301639"/>
            <a:ext cx="923420" cy="0"/>
          </a:xfrm>
          <a:prstGeom prst="line">
            <a:avLst/>
          </a:prstGeom>
          <a:noFill/>
          <a:ln w="31750">
            <a:solidFill>
              <a:srgbClr val="C0587A"/>
            </a:solidFill>
            <a:prstDash val="solid"/>
          </a:ln>
        </p:spPr>
      </p:sp>
      <p:sp>
        <p:nvSpPr>
          <p:cNvPr id="20" name="S09-label111"/>
          <p:cNvSpPr txBox="1"/>
          <p:nvPr/>
        </p:nvSpPr>
        <p:spPr>
          <a:xfrm>
            <a:off x="8440585" y="3036443"/>
            <a:ext cx="383540"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가</a:t>
            </a:r>
            <a:endParaRPr lang="ko-KR" sz="2200" dirty="0"/>
          </a:p>
        </p:txBody>
      </p:sp>
      <p:sp>
        <p:nvSpPr>
          <p:cNvPr id="21" name="S09-label113"/>
          <p:cNvSpPr txBox="1"/>
          <p:nvPr/>
        </p:nvSpPr>
        <p:spPr>
          <a:xfrm>
            <a:off x="9629838" y="3036443"/>
            <a:ext cx="383540"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나</a:t>
            </a:r>
            <a:endParaRPr lang="ko-KR" sz="2200" dirty="0"/>
          </a:p>
        </p:txBody>
      </p:sp>
      <p:sp>
        <p:nvSpPr>
          <p:cNvPr id="22" name="S09-card114"/>
          <p:cNvSpPr/>
          <p:nvPr/>
        </p:nvSpPr>
        <p:spPr>
          <a:xfrm>
            <a:off x="6813652" y="3523488"/>
            <a:ext cx="4826660" cy="1597152"/>
          </a:xfrm>
          <a:prstGeom prst="roundRect">
            <a:avLst>
              <a:gd name="adj" fmla="val 6870"/>
            </a:avLst>
          </a:prstGeom>
          <a:solidFill>
            <a:srgbClr val="EAF3F1"/>
          </a:solidFill>
          <a:ln w="12700">
            <a:solidFill>
              <a:srgbClr val="EAF3F1"/>
            </a:solidFill>
            <a:prstDash val="solid"/>
          </a:ln>
        </p:spPr>
      </p:sp>
      <p:sp>
        <p:nvSpPr>
          <p:cNvPr id="23" name="S09-cardtext115"/>
          <p:cNvSpPr txBox="1"/>
          <p:nvPr/>
        </p:nvSpPr>
        <p:spPr>
          <a:xfrm>
            <a:off x="7087972" y="3660648"/>
            <a:ext cx="4278020" cy="1322832"/>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관찰할 때 확인해요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잎만 다르게, 나머지는 같게</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봉지 안쪽과 물 높이를 봐요</a:t>
            </a:r>
            <a:endParaRPr lang="ko-KR" sz="2800" dirty="0"/>
          </a:p>
        </p:txBody>
      </p:sp>
      <p:sp>
        <p:nvSpPr>
          <p:cNvPr id="24" name="S09-stepno116"/>
          <p:cNvSpPr txBox="1"/>
          <p:nvPr/>
        </p:nvSpPr>
        <p:spPr>
          <a:xfrm>
            <a:off x="548640" y="1879092"/>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1</a:t>
            </a:r>
            <a:endParaRPr lang="ko-KR" sz="2200" dirty="0"/>
          </a:p>
        </p:txBody>
      </p:sp>
      <p:sp>
        <p:nvSpPr>
          <p:cNvPr id="25" name="S09-text117"/>
          <p:cNvSpPr txBox="1"/>
          <p:nvPr/>
        </p:nvSpPr>
        <p:spPr>
          <a:xfrm>
            <a:off x="1325880" y="1879092"/>
            <a:ext cx="5122012" cy="548640"/>
          </a:xfrm>
          <a:prstGeom prst="rect">
            <a:avLst/>
          </a:prstGeom>
          <a:noFill/>
          <a:ln/>
        </p:spPr>
        <p:txBody>
          <a:bodyPr wrap="square" lIns="0" tIns="0" rIns="0" bIns="0" rtlCol="0" anchor="t"/>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셀러리 두 대 중 한 대는 잎을 모두 따요.</a:t>
            </a:r>
            <a:endParaRPr lang="ko-KR" sz="2200" dirty="0"/>
          </a:p>
        </p:txBody>
      </p:sp>
      <p:sp>
        <p:nvSpPr>
          <p:cNvPr id="26" name="S09-stepno118"/>
          <p:cNvSpPr txBox="1"/>
          <p:nvPr/>
        </p:nvSpPr>
        <p:spPr>
          <a:xfrm>
            <a:off x="548640" y="2592324"/>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2</a:t>
            </a:r>
            <a:endParaRPr lang="ko-KR" sz="2200" dirty="0"/>
          </a:p>
        </p:txBody>
      </p:sp>
      <p:sp>
        <p:nvSpPr>
          <p:cNvPr id="27" name="S09-text119"/>
          <p:cNvSpPr txBox="1"/>
          <p:nvPr/>
        </p:nvSpPr>
        <p:spPr>
          <a:xfrm>
            <a:off x="1325880" y="2592324"/>
            <a:ext cx="5122012" cy="548640"/>
          </a:xfrm>
          <a:prstGeom prst="rect">
            <a:avLst/>
          </a:prstGeom>
          <a:noFill/>
          <a:ln/>
        </p:spPr>
        <p:txBody>
          <a:bodyPr wrap="square" lIns="0" tIns="0" rIns="0" bIns="0" rtlCol="0" anchor="t"/>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두 컵에 같은 양의 물을 붓고 꽂아요.</a:t>
            </a:r>
            <a:endParaRPr lang="ko-KR" sz="2200" dirty="0"/>
          </a:p>
        </p:txBody>
      </p:sp>
      <p:sp>
        <p:nvSpPr>
          <p:cNvPr id="28" name="S09-stepno120"/>
          <p:cNvSpPr txBox="1"/>
          <p:nvPr/>
        </p:nvSpPr>
        <p:spPr>
          <a:xfrm>
            <a:off x="548640" y="330555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3</a:t>
            </a:r>
            <a:endParaRPr lang="ko-KR" sz="2200" dirty="0"/>
          </a:p>
        </p:txBody>
      </p:sp>
      <p:sp>
        <p:nvSpPr>
          <p:cNvPr id="29" name="S09-text121"/>
          <p:cNvSpPr txBox="1"/>
          <p:nvPr/>
        </p:nvSpPr>
        <p:spPr>
          <a:xfrm>
            <a:off x="1325880" y="3305556"/>
            <a:ext cx="5122012" cy="548640"/>
          </a:xfrm>
          <a:prstGeom prst="rect">
            <a:avLst/>
          </a:prstGeom>
          <a:noFill/>
          <a:ln/>
        </p:spPr>
        <p:txBody>
          <a:bodyPr wrap="square" lIns="0" tIns="0" rIns="0" bIns="0" rtlCol="0" anchor="t"/>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컵 입구를 랩으로 감싸고 봉지를 씌워요.</a:t>
            </a:r>
            <a:endParaRPr lang="ko-KR" sz="2200" dirty="0"/>
          </a:p>
        </p:txBody>
      </p:sp>
      <p:sp>
        <p:nvSpPr>
          <p:cNvPr id="30" name="S09-stepno122"/>
          <p:cNvSpPr txBox="1"/>
          <p:nvPr/>
        </p:nvSpPr>
        <p:spPr>
          <a:xfrm>
            <a:off x="548640" y="401878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4</a:t>
            </a:r>
            <a:endParaRPr lang="ko-KR" sz="2200" dirty="0"/>
          </a:p>
        </p:txBody>
      </p:sp>
      <p:sp>
        <p:nvSpPr>
          <p:cNvPr id="31" name="S09-text123"/>
          <p:cNvSpPr txBox="1"/>
          <p:nvPr/>
        </p:nvSpPr>
        <p:spPr>
          <a:xfrm>
            <a:off x="1325880" y="4018788"/>
            <a:ext cx="5122012" cy="548640"/>
          </a:xfrm>
          <a:prstGeom prst="rect">
            <a:avLst/>
          </a:prstGeom>
          <a:noFill/>
          <a:ln/>
        </p:spPr>
        <p:txBody>
          <a:bodyPr wrap="square" lIns="0" tIns="0" rIns="0" bIns="0" rtlCol="0" anchor="t"/>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미리 해 둔 두 봉지의 안쪽을 비교해요.</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결과를 정리해요</a:t>
            </a:r>
            <a:endParaRPr lang="ko-KR" sz="4000" dirty="0"/>
          </a:p>
        </p:txBody>
      </p:sp>
      <p:sp>
        <p:nvSpPr>
          <p:cNvPr id="3" name="S10-text124"/>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활동지 2를 보며 빈칸을 말로 채워요.</a:t>
            </a:r>
            <a:endParaRPr lang="ko-KR" sz="2800" dirty="0"/>
          </a:p>
        </p:txBody>
      </p:sp>
      <p:sp>
        <p:nvSpPr>
          <p:cNvPr id="4" name="S10-card125"/>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10-cardtext126"/>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두 봉지의 차이는 무엇 때문에 생겼을까요?</a:t>
            </a:r>
            <a:endParaRPr lang="ko-KR" sz="2800" dirty="0"/>
          </a:p>
        </p:txBody>
      </p:sp>
      <p:graphicFrame>
        <p:nvGraphicFramePr>
          <p:cNvPr id="11" name="S10-table127"/>
          <p:cNvGraphicFramePr>
            <a:graphicFrameLocks noGrp="1"/>
          </p:cNvGraphicFramePr>
          <p:nvPr>
            <p:extLst>
              <p:ext uri="{D42A27DB-BD31-4B8C-83A1-F6EECF244321}">
                <p14:modId xmlns:p14="http://schemas.microsoft.com/office/powerpoint/2010/main" val="1579011935"/>
              </p:ext>
            </p:extLst>
          </p:nvPr>
        </p:nvGraphicFramePr>
        <p:xfrm>
          <a:off x="836676" y="2797302"/>
          <a:ext cx="10515600" cy="914400"/>
        </p:xfrm>
        <a:graphic>
          <a:graphicData uri="http://schemas.openxmlformats.org/drawingml/2006/table">
            <a:tbl>
              <a:tblPr/>
              <a:tblGrid>
                <a:gridCol w="2734056"/>
                <a:gridCol w="3890772"/>
                <a:gridCol w="3890772"/>
              </a:tblGrid>
              <a:tr h="512572">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잎을 그대로 둔 것</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잎을 모두 딴 것</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r>
              <a:tr h="512572">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봉지 안쪽</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512572">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컵의 물 높이</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잎이 하는 일 ① 증산 작용</a:t>
            </a:r>
            <a:endParaRPr lang="ko-KR" sz="4000" dirty="0"/>
          </a:p>
        </p:txBody>
      </p:sp>
      <p:sp>
        <p:nvSpPr>
          <p:cNvPr id="3" name="S11-text128"/>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잎에 온 물은 수증기가 되어 잎 밖으로 빠져나가요.</a:t>
            </a:r>
            <a:endParaRPr lang="ko-KR" sz="2800" dirty="0"/>
          </a:p>
        </p:txBody>
      </p:sp>
      <p:sp>
        <p:nvSpPr>
          <p:cNvPr id="4" name="S11-card129"/>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11-cardtext13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그래서 잎이 있는 쪽 봉지에만 물방울이 많이 맺혔어요.</a:t>
            </a:r>
            <a:endParaRPr lang="ko-KR" sz="2800" dirty="0"/>
          </a:p>
        </p:txBody>
      </p:sp>
      <p:sp>
        <p:nvSpPr>
          <p:cNvPr id="6" name="S11-card131"/>
          <p:cNvSpPr/>
          <p:nvPr/>
        </p:nvSpPr>
        <p:spPr>
          <a:xfrm>
            <a:off x="548640" y="2468880"/>
            <a:ext cx="3544824" cy="2194560"/>
          </a:xfrm>
          <a:prstGeom prst="roundRect">
            <a:avLst>
              <a:gd name="adj" fmla="val 5000"/>
            </a:avLst>
          </a:prstGeom>
          <a:solidFill>
            <a:srgbClr val="EAF3F1"/>
          </a:solidFill>
          <a:ln w="12700">
            <a:solidFill>
              <a:srgbClr val="EAF3F1"/>
            </a:solidFill>
            <a:prstDash val="solid"/>
          </a:ln>
        </p:spPr>
      </p:sp>
      <p:sp>
        <p:nvSpPr>
          <p:cNvPr id="7" name="S11-cardtext132"/>
          <p:cNvSpPr txBox="1"/>
          <p:nvPr/>
        </p:nvSpPr>
        <p:spPr>
          <a:xfrm>
            <a:off x="822960" y="2606040"/>
            <a:ext cx="2996184" cy="1920240"/>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증산 작용</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잎에 온 물이</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작은 구멍(기공)으로</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빠져나가는 것</a:t>
            </a:r>
            <a:endParaRPr lang="ko-KR" sz="2800" dirty="0"/>
          </a:p>
        </p:txBody>
      </p:sp>
      <p:sp>
        <p:nvSpPr>
          <p:cNvPr id="8" name="S11-card133"/>
          <p:cNvSpPr/>
          <p:nvPr/>
        </p:nvSpPr>
        <p:spPr>
          <a:xfrm>
            <a:off x="4322064" y="2468880"/>
            <a:ext cx="3544824" cy="2194560"/>
          </a:xfrm>
          <a:prstGeom prst="roundRect">
            <a:avLst>
              <a:gd name="adj" fmla="val 5000"/>
            </a:avLst>
          </a:prstGeom>
          <a:solidFill>
            <a:srgbClr val="EAF3F1"/>
          </a:solidFill>
          <a:ln w="12700">
            <a:solidFill>
              <a:srgbClr val="EAF3F1"/>
            </a:solidFill>
            <a:prstDash val="solid"/>
          </a:ln>
        </p:spPr>
      </p:sp>
      <p:sp>
        <p:nvSpPr>
          <p:cNvPr id="9" name="S11-cardtext134"/>
          <p:cNvSpPr txBox="1"/>
          <p:nvPr/>
        </p:nvSpPr>
        <p:spPr>
          <a:xfrm>
            <a:off x="4596384" y="2606040"/>
            <a:ext cx="2996184" cy="1920240"/>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하는 일</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뿌리의 물을</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끌어 올리고, 식물의</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온도를 조절해요.</a:t>
            </a:r>
            <a:endParaRPr lang="ko-KR" sz="2800" dirty="0"/>
          </a:p>
        </p:txBody>
      </p:sp>
      <p:sp>
        <p:nvSpPr>
          <p:cNvPr id="10" name="S11-card135"/>
          <p:cNvSpPr/>
          <p:nvPr/>
        </p:nvSpPr>
        <p:spPr>
          <a:xfrm>
            <a:off x="8095488" y="2468880"/>
            <a:ext cx="3544824" cy="2194560"/>
          </a:xfrm>
          <a:prstGeom prst="roundRect">
            <a:avLst>
              <a:gd name="adj" fmla="val 5000"/>
            </a:avLst>
          </a:prstGeom>
          <a:solidFill>
            <a:srgbClr val="EAF3F1"/>
          </a:solidFill>
          <a:ln w="12700">
            <a:solidFill>
              <a:srgbClr val="EAF3F1"/>
            </a:solidFill>
            <a:prstDash val="solid"/>
          </a:ln>
        </p:spPr>
      </p:sp>
      <p:sp>
        <p:nvSpPr>
          <p:cNvPr id="11" name="S11-cardtext136"/>
          <p:cNvSpPr txBox="1"/>
          <p:nvPr/>
        </p:nvSpPr>
        <p:spPr>
          <a:xfrm>
            <a:off x="8369808" y="2606040"/>
            <a:ext cx="2996184" cy="1920240"/>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봉지 안 물방울</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수증기가 봉지에</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닿아 물방울로</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변했어요(응결).</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누구 말이 맞을까요?</a:t>
            </a:r>
            <a:endParaRPr lang="ko-KR" sz="4000" dirty="0"/>
          </a:p>
        </p:txBody>
      </p:sp>
      <p:sp>
        <p:nvSpPr>
          <p:cNvPr id="3" name="S12-card137"/>
          <p:cNvSpPr/>
          <p:nvPr/>
        </p:nvSpPr>
        <p:spPr>
          <a:xfrm>
            <a:off x="548640" y="1325880"/>
            <a:ext cx="11091672" cy="868680"/>
          </a:xfrm>
          <a:prstGeom prst="roundRect">
            <a:avLst>
              <a:gd name="adj" fmla="val 12632"/>
            </a:avLst>
          </a:prstGeom>
          <a:solidFill>
            <a:srgbClr val="EAF3F1"/>
          </a:solidFill>
          <a:ln w="12700">
            <a:solidFill>
              <a:srgbClr val="EAF3F1"/>
            </a:solidFill>
            <a:prstDash val="solid"/>
          </a:ln>
        </p:spPr>
      </p:sp>
      <p:sp>
        <p:nvSpPr>
          <p:cNvPr id="4" name="S12-cardtext138"/>
          <p:cNvSpPr txBox="1"/>
          <p:nvPr/>
        </p:nvSpPr>
        <p:spPr>
          <a:xfrm>
            <a:off x="822960" y="146304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잎을 그대로 둔 셀러리의 봉지 안에 물방울이 맺혔어요.</a:t>
            </a:r>
            <a:endParaRPr lang="ko-KR" sz="2800" dirty="0"/>
          </a:p>
        </p:txBody>
      </p:sp>
      <p:sp>
        <p:nvSpPr>
          <p:cNvPr id="5" name="S12-card139"/>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12-cardtext14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누구 말이 맞을까요? 무엇이 증거일까요?</a:t>
            </a:r>
            <a:endParaRPr lang="ko-KR" sz="2800" dirty="0"/>
          </a:p>
        </p:txBody>
      </p:sp>
      <p:sp>
        <p:nvSpPr>
          <p:cNvPr id="7" name="S12-chip141"/>
          <p:cNvSpPr txBox="1"/>
          <p:nvPr/>
        </p:nvSpPr>
        <p:spPr>
          <a:xfrm>
            <a:off x="548640"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토끼</a:t>
            </a:r>
            <a:endParaRPr lang="ko-KR" sz="2200" dirty="0"/>
          </a:p>
        </p:txBody>
      </p:sp>
      <p:sp>
        <p:nvSpPr>
          <p:cNvPr id="8" name="S12-text142"/>
          <p:cNvSpPr txBox="1"/>
          <p:nvPr/>
        </p:nvSpPr>
        <p:spPr>
          <a:xfrm>
            <a:off x="548640" y="3154680"/>
            <a:ext cx="5362956" cy="196596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컵의 물이 증발해서</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생긴 거예요.</a:t>
            </a:r>
            <a:endParaRPr lang="ko-KR" sz="2800" dirty="0"/>
          </a:p>
        </p:txBody>
      </p:sp>
      <p:sp>
        <p:nvSpPr>
          <p:cNvPr id="9" name="S12-chip143"/>
          <p:cNvSpPr txBox="1"/>
          <p:nvPr/>
        </p:nvSpPr>
        <p:spPr>
          <a:xfrm>
            <a:off x="6277356"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곰</a:t>
            </a:r>
            <a:endParaRPr lang="ko-KR" sz="2200" dirty="0"/>
          </a:p>
        </p:txBody>
      </p:sp>
      <p:sp>
        <p:nvSpPr>
          <p:cNvPr id="10" name="S12-text144"/>
          <p:cNvSpPr txBox="1"/>
          <p:nvPr/>
        </p:nvSpPr>
        <p:spPr>
          <a:xfrm>
            <a:off x="6277356" y="3154680"/>
            <a:ext cx="5362956" cy="196596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잎을 딴 쪽에는 거의</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없었어요. 잎에서 나왔어요.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잎이 하는 일 ② 광합성</a:t>
            </a:r>
            <a:endParaRPr lang="ko-KR" sz="4000" dirty="0"/>
          </a:p>
        </p:txBody>
      </p:sp>
      <p:sp>
        <p:nvSpPr>
          <p:cNvPr id="3" name="S13-text145"/>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식물은 잎에서 스스로 양분을 만들어요.</a:t>
            </a:r>
            <a:endParaRPr lang="ko-KR" sz="2800" dirty="0"/>
          </a:p>
        </p:txBody>
      </p:sp>
      <p:sp>
        <p:nvSpPr>
          <p:cNvPr id="4" name="S13-figure146" descr="광합성 그림: 해에서 오는 빛, 공기 중의 이산화 탄소, 줄기로 올라온 물이 잎으로 들어가고, 잎에서 양분(녹말)이 만들어지며 산소가 나감"/>
          <p:cNvSpPr/>
          <p:nvPr/>
        </p:nvSpPr>
        <p:spPr>
          <a:xfrm>
            <a:off x="2340829" y="3588765"/>
            <a:ext cx="2562553" cy="1372390"/>
          </a:xfrm>
          <a:custGeom>
            <a:avLst/>
            <a:gdLst/>
            <a:ahLst/>
            <a:cxnLst/>
            <a:rect l="l" t="t" r="r" b="b"/>
            <a:pathLst>
              <a:path w="2562553" h="1372390">
                <a:moveTo>
                  <a:pt x="0" y="935332"/>
                </a:moveTo>
                <a:lnTo>
                  <a:pt x="144500" y="700431"/>
                </a:lnTo>
                <a:lnTo>
                  <a:pt x="299676" y="523900"/>
                </a:lnTo>
                <a:lnTo>
                  <a:pt x="460548" y="373706"/>
                </a:lnTo>
                <a:lnTo>
                  <a:pt x="626402" y="247713"/>
                </a:lnTo>
                <a:lnTo>
                  <a:pt x="796527" y="146635"/>
                </a:lnTo>
                <a:lnTo>
                  <a:pt x="971635" y="71182"/>
                </a:lnTo>
                <a:lnTo>
                  <a:pt x="1152437" y="22066"/>
                </a:lnTo>
                <a:lnTo>
                  <a:pt x="1337510" y="0"/>
                </a:lnTo>
                <a:lnTo>
                  <a:pt x="1528278" y="4271"/>
                </a:lnTo>
                <a:lnTo>
                  <a:pt x="1724741" y="34167"/>
                </a:lnTo>
                <a:lnTo>
                  <a:pt x="1924762" y="88978"/>
                </a:lnTo>
                <a:lnTo>
                  <a:pt x="2130478" y="167990"/>
                </a:lnTo>
                <a:lnTo>
                  <a:pt x="2340465" y="273339"/>
                </a:lnTo>
                <a:lnTo>
                  <a:pt x="2562553" y="437058"/>
                </a:lnTo>
                <a:lnTo>
                  <a:pt x="2418054" y="671958"/>
                </a:lnTo>
                <a:lnTo>
                  <a:pt x="2262877" y="848490"/>
                </a:lnTo>
                <a:lnTo>
                  <a:pt x="2102005" y="998684"/>
                </a:lnTo>
                <a:lnTo>
                  <a:pt x="1936151" y="1124676"/>
                </a:lnTo>
                <a:lnTo>
                  <a:pt x="1766026" y="1225755"/>
                </a:lnTo>
                <a:lnTo>
                  <a:pt x="1590918" y="1301207"/>
                </a:lnTo>
                <a:lnTo>
                  <a:pt x="1410116" y="1350323"/>
                </a:lnTo>
                <a:lnTo>
                  <a:pt x="1225043" y="1372390"/>
                </a:lnTo>
                <a:lnTo>
                  <a:pt x="1034275" y="1368119"/>
                </a:lnTo>
                <a:lnTo>
                  <a:pt x="837812" y="1338222"/>
                </a:lnTo>
                <a:lnTo>
                  <a:pt x="637791" y="1283412"/>
                </a:lnTo>
                <a:lnTo>
                  <a:pt x="432075" y="1204400"/>
                </a:lnTo>
                <a:lnTo>
                  <a:pt x="222088" y="1099051"/>
                </a:lnTo>
                <a:lnTo>
                  <a:pt x="0" y="935332"/>
                </a:lnTo>
                <a:close/>
              </a:path>
            </a:pathLst>
          </a:custGeom>
          <a:solidFill>
            <a:srgbClr val="8CC46B"/>
          </a:solidFill>
          <a:ln w="19050">
            <a:solidFill>
              <a:srgbClr val="4E8F3A"/>
            </a:solidFill>
            <a:prstDash val="solid"/>
          </a:ln>
        </p:spPr>
      </p:sp>
      <p:sp>
        <p:nvSpPr>
          <p:cNvPr id="5" name="S13-mark147"/>
          <p:cNvSpPr/>
          <p:nvPr/>
        </p:nvSpPr>
        <p:spPr>
          <a:xfrm>
            <a:off x="632460" y="2139499"/>
            <a:ext cx="854184" cy="854184"/>
          </a:xfrm>
          <a:prstGeom prst="ellipse">
            <a:avLst/>
          </a:prstGeom>
          <a:solidFill>
            <a:srgbClr val="F2C14E"/>
          </a:solidFill>
          <a:ln w="15875">
            <a:solidFill>
              <a:srgbClr val="B08A1E"/>
            </a:solidFill>
            <a:prstDash val="solid"/>
          </a:ln>
        </p:spPr>
      </p:sp>
      <p:sp>
        <p:nvSpPr>
          <p:cNvPr id="6" name="S13-mark148"/>
          <p:cNvSpPr/>
          <p:nvPr/>
        </p:nvSpPr>
        <p:spPr>
          <a:xfrm>
            <a:off x="2340829" y="4524097"/>
            <a:ext cx="0" cy="1566005"/>
          </a:xfrm>
          <a:prstGeom prst="line">
            <a:avLst/>
          </a:prstGeom>
          <a:noFill/>
          <a:ln w="50800">
            <a:solidFill>
              <a:srgbClr val="4E8F3A"/>
            </a:solidFill>
            <a:prstDash val="solid"/>
          </a:ln>
        </p:spPr>
      </p:sp>
      <p:sp>
        <p:nvSpPr>
          <p:cNvPr id="7" name="S13-mark149"/>
          <p:cNvSpPr/>
          <p:nvPr/>
        </p:nvSpPr>
        <p:spPr>
          <a:xfrm flipV="1">
            <a:off x="3693287" y="4082768"/>
            <a:ext cx="1067730" cy="227782"/>
          </a:xfrm>
          <a:prstGeom prst="line">
            <a:avLst/>
          </a:prstGeom>
          <a:noFill/>
          <a:ln w="12700">
            <a:solidFill>
              <a:srgbClr val="4E8F3A"/>
            </a:solidFill>
            <a:prstDash val="solid"/>
          </a:ln>
        </p:spPr>
      </p:sp>
      <p:sp>
        <p:nvSpPr>
          <p:cNvPr id="8" name="S13-mark150"/>
          <p:cNvSpPr/>
          <p:nvPr/>
        </p:nvSpPr>
        <p:spPr>
          <a:xfrm>
            <a:off x="1415462" y="2886910"/>
            <a:ext cx="1352459" cy="1067730"/>
          </a:xfrm>
          <a:prstGeom prst="line">
            <a:avLst/>
          </a:prstGeom>
          <a:noFill/>
          <a:ln w="38100">
            <a:solidFill>
              <a:srgbClr val="E9A21F"/>
            </a:solidFill>
            <a:prstDash val="solid"/>
            <a:tailEnd type="triangle"/>
          </a:ln>
        </p:spPr>
      </p:sp>
      <p:sp>
        <p:nvSpPr>
          <p:cNvPr id="9" name="S13-mark151"/>
          <p:cNvSpPr/>
          <p:nvPr/>
        </p:nvSpPr>
        <p:spPr>
          <a:xfrm flipH="1">
            <a:off x="4333926" y="2958092"/>
            <a:ext cx="1708369" cy="854184"/>
          </a:xfrm>
          <a:prstGeom prst="line">
            <a:avLst/>
          </a:prstGeom>
          <a:noFill/>
          <a:ln w="31750">
            <a:solidFill>
              <a:srgbClr val="3D5A80"/>
            </a:solidFill>
            <a:prstDash val="solid"/>
            <a:tailEnd type="triangle"/>
          </a:ln>
        </p:spPr>
      </p:sp>
      <p:sp>
        <p:nvSpPr>
          <p:cNvPr id="10" name="S13-mark152"/>
          <p:cNvSpPr/>
          <p:nvPr/>
        </p:nvSpPr>
        <p:spPr>
          <a:xfrm flipV="1">
            <a:off x="1984919" y="4808825"/>
            <a:ext cx="0" cy="1138912"/>
          </a:xfrm>
          <a:prstGeom prst="line">
            <a:avLst/>
          </a:prstGeom>
          <a:noFill/>
          <a:ln w="31750">
            <a:solidFill>
              <a:srgbClr val="3D7CC9"/>
            </a:solidFill>
            <a:prstDash val="solid"/>
            <a:tailEnd type="triangle"/>
          </a:ln>
        </p:spPr>
      </p:sp>
      <p:sp>
        <p:nvSpPr>
          <p:cNvPr id="11" name="S13-mark153"/>
          <p:cNvSpPr/>
          <p:nvPr/>
        </p:nvSpPr>
        <p:spPr>
          <a:xfrm>
            <a:off x="4191561" y="4951189"/>
            <a:ext cx="1566005" cy="711820"/>
          </a:xfrm>
          <a:prstGeom prst="line">
            <a:avLst/>
          </a:prstGeom>
          <a:noFill/>
          <a:ln w="31750">
            <a:solidFill>
              <a:srgbClr val="2A9D8F"/>
            </a:solidFill>
            <a:prstDash val="solid"/>
            <a:tailEnd type="triangle"/>
          </a:ln>
        </p:spPr>
      </p:sp>
      <p:sp>
        <p:nvSpPr>
          <p:cNvPr id="12" name="S13-label155"/>
          <p:cNvSpPr txBox="1"/>
          <p:nvPr/>
        </p:nvSpPr>
        <p:spPr>
          <a:xfrm>
            <a:off x="1889223" y="2850808"/>
            <a:ext cx="333756"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빛</a:t>
            </a:r>
            <a:endParaRPr lang="ko-KR" sz="1800" dirty="0"/>
          </a:p>
        </p:txBody>
      </p:sp>
      <p:sp>
        <p:nvSpPr>
          <p:cNvPr id="13" name="S13-label157"/>
          <p:cNvSpPr txBox="1"/>
          <p:nvPr/>
        </p:nvSpPr>
        <p:spPr>
          <a:xfrm>
            <a:off x="4396522" y="2566080"/>
            <a:ext cx="1298448"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이산화 탄소</a:t>
            </a:r>
            <a:endParaRPr lang="ko-KR" sz="1800" dirty="0"/>
          </a:p>
        </p:txBody>
      </p:sp>
      <p:sp>
        <p:nvSpPr>
          <p:cNvPr id="14" name="S13-label159"/>
          <p:cNvSpPr txBox="1"/>
          <p:nvPr/>
        </p:nvSpPr>
        <p:spPr>
          <a:xfrm>
            <a:off x="1177402" y="5377770"/>
            <a:ext cx="333756"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물</a:t>
            </a:r>
            <a:endParaRPr lang="ko-KR" sz="1800" dirty="0"/>
          </a:p>
        </p:txBody>
      </p:sp>
      <p:sp>
        <p:nvSpPr>
          <p:cNvPr id="15" name="S13-label161"/>
          <p:cNvSpPr txBox="1"/>
          <p:nvPr/>
        </p:nvSpPr>
        <p:spPr>
          <a:xfrm>
            <a:off x="5621038" y="5840453"/>
            <a:ext cx="557784"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산소</a:t>
            </a:r>
            <a:endParaRPr lang="ko-KR" sz="1800" dirty="0"/>
          </a:p>
        </p:txBody>
      </p:sp>
      <p:sp>
        <p:nvSpPr>
          <p:cNvPr id="16" name="S13-labelbg163"/>
          <p:cNvSpPr/>
          <p:nvPr/>
        </p:nvSpPr>
        <p:spPr>
          <a:xfrm>
            <a:off x="3134518" y="4374206"/>
            <a:ext cx="1188720" cy="228600"/>
          </a:xfrm>
          <a:prstGeom prst="rect">
            <a:avLst/>
          </a:prstGeom>
          <a:solidFill>
            <a:srgbClr val="FFFFFF"/>
          </a:solidFill>
          <a:ln/>
        </p:spPr>
      </p:sp>
      <p:sp>
        <p:nvSpPr>
          <p:cNvPr id="17" name="S13-label164"/>
          <p:cNvSpPr txBox="1"/>
          <p:nvPr/>
        </p:nvSpPr>
        <p:spPr>
          <a:xfrm>
            <a:off x="3088798" y="4345631"/>
            <a:ext cx="1280160" cy="285750"/>
          </a:xfrm>
          <a:prstGeom prst="rect">
            <a:avLst/>
          </a:prstGeom>
          <a:noFill/>
          <a:ln/>
        </p:spPr>
        <p:txBody>
          <a:bodyPr wrap="square" lIns="0" tIns="0" rIns="0" bIns="0" rtlCol="0" anchor="ctr"/>
          <a:lstStyle/>
          <a:p>
            <a:pPr eaLnBrk="0" algn="ctr" indent="0" marL="0">
              <a:buNone/>
            </a:pPr>
            <a:r>
              <a:rPr lang="ko-KR" altLang="en-US" sz="1800" b="1" dirty="0">
                <a:solidFill>
                  <a:srgbClr val="1F2937"/>
                </a:solidFill>
                <a:latin typeface="맑은 고딕" pitchFamily="34" charset="0"/>
                <a:ea typeface="맑은 고딕" pitchFamily="34" charset="-122"/>
                <a:cs typeface="맑은 고딕" pitchFamily="34" charset="-120"/>
              </a:rPr>
              <a:t>양분(녹말)</a:t>
            </a:r>
            <a:endParaRPr lang="ko-KR" sz="1800" dirty="0"/>
          </a:p>
        </p:txBody>
      </p:sp>
      <p:sp>
        <p:nvSpPr>
          <p:cNvPr id="18" name="S13-card165"/>
          <p:cNvSpPr/>
          <p:nvPr/>
        </p:nvSpPr>
        <p:spPr>
          <a:xfrm>
            <a:off x="6491874" y="2090928"/>
            <a:ext cx="5148438" cy="1196848"/>
          </a:xfrm>
          <a:prstGeom prst="roundRect">
            <a:avLst>
              <a:gd name="adj" fmla="val 9168"/>
            </a:avLst>
          </a:prstGeom>
          <a:solidFill>
            <a:srgbClr val="EAF3F1"/>
          </a:solidFill>
          <a:ln w="12700">
            <a:solidFill>
              <a:srgbClr val="EAF3F1"/>
            </a:solidFill>
            <a:prstDash val="solid"/>
          </a:ln>
        </p:spPr>
      </p:sp>
      <p:sp>
        <p:nvSpPr>
          <p:cNvPr id="19" name="S13-cardtext166"/>
          <p:cNvSpPr txBox="1"/>
          <p:nvPr/>
        </p:nvSpPr>
        <p:spPr>
          <a:xfrm>
            <a:off x="6766194" y="2228088"/>
            <a:ext cx="4599798" cy="922528"/>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재료: 물, 이산화 탄소</a:t>
            </a:r>
            <a:endParaRPr lang="ko-KR" sz="2800" dirty="0"/>
          </a:p>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필요한 것: 빛</a:t>
            </a:r>
            <a:endParaRPr lang="ko-KR" sz="2800" dirty="0"/>
          </a:p>
        </p:txBody>
      </p:sp>
      <p:sp>
        <p:nvSpPr>
          <p:cNvPr id="20" name="S13-card167"/>
          <p:cNvSpPr/>
          <p:nvPr/>
        </p:nvSpPr>
        <p:spPr>
          <a:xfrm>
            <a:off x="6491874" y="3516376"/>
            <a:ext cx="5148438" cy="1196848"/>
          </a:xfrm>
          <a:prstGeom prst="roundRect">
            <a:avLst>
              <a:gd name="adj" fmla="val 9168"/>
            </a:avLst>
          </a:prstGeom>
          <a:solidFill>
            <a:srgbClr val="EAF3F1"/>
          </a:solidFill>
          <a:ln w="12700">
            <a:solidFill>
              <a:srgbClr val="EAF3F1"/>
            </a:solidFill>
            <a:prstDash val="solid"/>
          </a:ln>
        </p:spPr>
      </p:sp>
      <p:sp>
        <p:nvSpPr>
          <p:cNvPr id="21" name="S13-cardtext168"/>
          <p:cNvSpPr txBox="1"/>
          <p:nvPr/>
        </p:nvSpPr>
        <p:spPr>
          <a:xfrm>
            <a:off x="6766194" y="3653536"/>
            <a:ext cx="4599798" cy="922528"/>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만드는 것: 양분(녹말)</a:t>
            </a:r>
            <a:endParaRPr lang="ko-KR" sz="2800" dirty="0"/>
          </a:p>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나오는 것: 산소</a:t>
            </a:r>
            <a:endParaRPr lang="ko-KR" sz="2800" dirty="0"/>
          </a:p>
        </p:txBody>
      </p:sp>
      <p:sp>
        <p:nvSpPr>
          <p:cNvPr id="22" name="S13-card169"/>
          <p:cNvSpPr/>
          <p:nvPr/>
        </p:nvSpPr>
        <p:spPr>
          <a:xfrm>
            <a:off x="6491874" y="4941824"/>
            <a:ext cx="5148438" cy="1196848"/>
          </a:xfrm>
          <a:prstGeom prst="roundRect">
            <a:avLst>
              <a:gd name="adj" fmla="val 9168"/>
            </a:avLst>
          </a:prstGeom>
          <a:solidFill>
            <a:srgbClr val="EAF3F1"/>
          </a:solidFill>
          <a:ln w="12700">
            <a:solidFill>
              <a:srgbClr val="EAF3F1"/>
            </a:solidFill>
            <a:prstDash val="solid"/>
          </a:ln>
        </p:spPr>
      </p:sp>
      <p:sp>
        <p:nvSpPr>
          <p:cNvPr id="23" name="S13-cardtext170"/>
          <p:cNvSpPr txBox="1"/>
          <p:nvPr/>
        </p:nvSpPr>
        <p:spPr>
          <a:xfrm>
            <a:off x="6766194" y="5078984"/>
            <a:ext cx="4599798" cy="922528"/>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양분은 줄기를 거쳐</a:t>
            </a:r>
            <a:endParaRPr lang="ko-KR" sz="2800" dirty="0"/>
          </a:p>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뿌리·줄기·열매로 가요.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꽃과 열매가 하는 일</a:t>
            </a:r>
            <a:endParaRPr lang="ko-KR" sz="4000" dirty="0"/>
          </a:p>
        </p:txBody>
      </p:sp>
      <p:sp>
        <p:nvSpPr>
          <p:cNvPr id="3" name="S14-figure171" descr="꽃의 생김새: 가운데 암술, 그 양옆의 수술, 바깥의 꽃잎, 아래의 꽃받침"/>
          <p:cNvSpPr/>
          <p:nvPr/>
        </p:nvSpPr>
        <p:spPr>
          <a:xfrm>
            <a:off x="1380012" y="2468880"/>
            <a:ext cx="1428293" cy="1828800"/>
          </a:xfrm>
          <a:custGeom>
            <a:avLst/>
            <a:gdLst/>
            <a:ahLst/>
            <a:cxnLst/>
            <a:rect l="l" t="t" r="r" b="b"/>
            <a:pathLst>
              <a:path w="1428293" h="1828800">
                <a:moveTo>
                  <a:pt x="1399946" y="1828800"/>
                </a:moveTo>
                <a:lnTo>
                  <a:pt x="1143000" y="1783080"/>
                </a:lnTo>
                <a:lnTo>
                  <a:pt x="929945" y="1705356"/>
                </a:lnTo>
                <a:lnTo>
                  <a:pt x="737921" y="1610258"/>
                </a:lnTo>
                <a:lnTo>
                  <a:pt x="567842" y="1500530"/>
                </a:lnTo>
                <a:lnTo>
                  <a:pt x="419710" y="1373429"/>
                </a:lnTo>
                <a:lnTo>
                  <a:pt x="293522" y="1229868"/>
                </a:lnTo>
                <a:lnTo>
                  <a:pt x="191110" y="1068934"/>
                </a:lnTo>
                <a:lnTo>
                  <a:pt x="110642" y="890626"/>
                </a:lnTo>
                <a:lnTo>
                  <a:pt x="52121" y="695858"/>
                </a:lnTo>
                <a:lnTo>
                  <a:pt x="15545" y="485546"/>
                </a:lnTo>
                <a:lnTo>
                  <a:pt x="0" y="259690"/>
                </a:lnTo>
                <a:lnTo>
                  <a:pt x="28346" y="0"/>
                </a:lnTo>
                <a:lnTo>
                  <a:pt x="285293" y="45720"/>
                </a:lnTo>
                <a:lnTo>
                  <a:pt x="498348" y="123444"/>
                </a:lnTo>
                <a:lnTo>
                  <a:pt x="690372" y="218542"/>
                </a:lnTo>
                <a:lnTo>
                  <a:pt x="860450" y="328270"/>
                </a:lnTo>
                <a:lnTo>
                  <a:pt x="1008583" y="455371"/>
                </a:lnTo>
                <a:lnTo>
                  <a:pt x="1134770" y="598932"/>
                </a:lnTo>
                <a:lnTo>
                  <a:pt x="1237183" y="759866"/>
                </a:lnTo>
                <a:lnTo>
                  <a:pt x="1317650" y="938174"/>
                </a:lnTo>
                <a:lnTo>
                  <a:pt x="1376172" y="1132942"/>
                </a:lnTo>
                <a:lnTo>
                  <a:pt x="1412748" y="1343254"/>
                </a:lnTo>
                <a:lnTo>
                  <a:pt x="1428293" y="1569110"/>
                </a:lnTo>
                <a:lnTo>
                  <a:pt x="1399946" y="1828800"/>
                </a:lnTo>
                <a:close/>
              </a:path>
            </a:pathLst>
          </a:custGeom>
          <a:solidFill>
            <a:srgbClr val="F7B6C8"/>
          </a:solidFill>
          <a:ln w="15875">
            <a:solidFill>
              <a:srgbClr val="C0587A"/>
            </a:solidFill>
            <a:prstDash val="solid"/>
          </a:ln>
        </p:spPr>
      </p:sp>
      <p:sp>
        <p:nvSpPr>
          <p:cNvPr id="4" name="S14-mark172"/>
          <p:cNvSpPr/>
          <p:nvPr/>
        </p:nvSpPr>
        <p:spPr>
          <a:xfrm>
            <a:off x="3117372" y="2468880"/>
            <a:ext cx="1428293" cy="1828800"/>
          </a:xfrm>
          <a:custGeom>
            <a:avLst/>
            <a:gdLst/>
            <a:ahLst/>
            <a:cxnLst/>
            <a:rect l="l" t="t" r="r" b="b"/>
            <a:pathLst>
              <a:path w="1428293" h="1828800">
                <a:moveTo>
                  <a:pt x="28346" y="1828800"/>
                </a:moveTo>
                <a:lnTo>
                  <a:pt x="0" y="1569110"/>
                </a:lnTo>
                <a:lnTo>
                  <a:pt x="15545" y="1343254"/>
                </a:lnTo>
                <a:lnTo>
                  <a:pt x="52121" y="1132942"/>
                </a:lnTo>
                <a:lnTo>
                  <a:pt x="110642" y="938174"/>
                </a:lnTo>
                <a:lnTo>
                  <a:pt x="191110" y="759866"/>
                </a:lnTo>
                <a:lnTo>
                  <a:pt x="293522" y="598932"/>
                </a:lnTo>
                <a:lnTo>
                  <a:pt x="419710" y="455371"/>
                </a:lnTo>
                <a:lnTo>
                  <a:pt x="567842" y="328270"/>
                </a:lnTo>
                <a:lnTo>
                  <a:pt x="737921" y="218542"/>
                </a:lnTo>
                <a:lnTo>
                  <a:pt x="929945" y="123444"/>
                </a:lnTo>
                <a:lnTo>
                  <a:pt x="1143000" y="45720"/>
                </a:lnTo>
                <a:lnTo>
                  <a:pt x="1399946" y="0"/>
                </a:lnTo>
                <a:lnTo>
                  <a:pt x="1428293" y="259690"/>
                </a:lnTo>
                <a:lnTo>
                  <a:pt x="1412748" y="485546"/>
                </a:lnTo>
                <a:lnTo>
                  <a:pt x="1376172" y="695858"/>
                </a:lnTo>
                <a:lnTo>
                  <a:pt x="1317650" y="890626"/>
                </a:lnTo>
                <a:lnTo>
                  <a:pt x="1237183" y="1068934"/>
                </a:lnTo>
                <a:lnTo>
                  <a:pt x="1134770" y="1229868"/>
                </a:lnTo>
                <a:lnTo>
                  <a:pt x="1008583" y="1373429"/>
                </a:lnTo>
                <a:lnTo>
                  <a:pt x="860450" y="1500530"/>
                </a:lnTo>
                <a:lnTo>
                  <a:pt x="690372" y="1610258"/>
                </a:lnTo>
                <a:lnTo>
                  <a:pt x="498348" y="1705356"/>
                </a:lnTo>
                <a:lnTo>
                  <a:pt x="285293" y="1783080"/>
                </a:lnTo>
                <a:lnTo>
                  <a:pt x="28346" y="1828800"/>
                </a:lnTo>
                <a:close/>
              </a:path>
            </a:pathLst>
          </a:custGeom>
          <a:solidFill>
            <a:srgbClr val="F7B6C8"/>
          </a:solidFill>
          <a:ln w="15875">
            <a:solidFill>
              <a:srgbClr val="C0587A"/>
            </a:solidFill>
            <a:prstDash val="solid"/>
          </a:ln>
        </p:spPr>
      </p:sp>
      <p:sp>
        <p:nvSpPr>
          <p:cNvPr id="5" name="S14-mark173"/>
          <p:cNvSpPr/>
          <p:nvPr/>
        </p:nvSpPr>
        <p:spPr>
          <a:xfrm>
            <a:off x="2048439" y="4011473"/>
            <a:ext cx="914400" cy="526694"/>
          </a:xfrm>
          <a:custGeom>
            <a:avLst/>
            <a:gdLst/>
            <a:ahLst/>
            <a:cxnLst/>
            <a:rect l="l" t="t" r="r" b="b"/>
            <a:pathLst>
              <a:path w="914400" h="526694">
                <a:moveTo>
                  <a:pt x="914400" y="514807"/>
                </a:moveTo>
                <a:lnTo>
                  <a:pt x="788213" y="526694"/>
                </a:lnTo>
                <a:lnTo>
                  <a:pt x="673913" y="519379"/>
                </a:lnTo>
                <a:lnTo>
                  <a:pt x="566014" y="499262"/>
                </a:lnTo>
                <a:lnTo>
                  <a:pt x="463601" y="467258"/>
                </a:lnTo>
                <a:lnTo>
                  <a:pt x="369418" y="423367"/>
                </a:lnTo>
                <a:lnTo>
                  <a:pt x="280721" y="366674"/>
                </a:lnTo>
                <a:lnTo>
                  <a:pt x="200254" y="298094"/>
                </a:lnTo>
                <a:lnTo>
                  <a:pt x="125273" y="217627"/>
                </a:lnTo>
                <a:lnTo>
                  <a:pt x="56693" y="124358"/>
                </a:lnTo>
                <a:lnTo>
                  <a:pt x="0" y="11887"/>
                </a:lnTo>
                <a:lnTo>
                  <a:pt x="126187" y="0"/>
                </a:lnTo>
                <a:lnTo>
                  <a:pt x="240487" y="7315"/>
                </a:lnTo>
                <a:lnTo>
                  <a:pt x="348386" y="27432"/>
                </a:lnTo>
                <a:lnTo>
                  <a:pt x="450799" y="59436"/>
                </a:lnTo>
                <a:lnTo>
                  <a:pt x="544982" y="103327"/>
                </a:lnTo>
                <a:lnTo>
                  <a:pt x="633679" y="160020"/>
                </a:lnTo>
                <a:lnTo>
                  <a:pt x="714146" y="228600"/>
                </a:lnTo>
                <a:lnTo>
                  <a:pt x="789127" y="309067"/>
                </a:lnTo>
                <a:lnTo>
                  <a:pt x="857707" y="402336"/>
                </a:lnTo>
                <a:lnTo>
                  <a:pt x="914400" y="514807"/>
                </a:lnTo>
                <a:close/>
              </a:path>
            </a:pathLst>
          </a:custGeom>
          <a:solidFill>
            <a:srgbClr val="8CC46B"/>
          </a:solidFill>
          <a:ln w="15875">
            <a:solidFill>
              <a:srgbClr val="4E8F3A"/>
            </a:solidFill>
            <a:prstDash val="solid"/>
          </a:ln>
        </p:spPr>
      </p:sp>
      <p:sp>
        <p:nvSpPr>
          <p:cNvPr id="6" name="S14-mark174"/>
          <p:cNvSpPr/>
          <p:nvPr/>
        </p:nvSpPr>
        <p:spPr>
          <a:xfrm>
            <a:off x="2962839" y="4011473"/>
            <a:ext cx="914400" cy="526694"/>
          </a:xfrm>
          <a:custGeom>
            <a:avLst/>
            <a:gdLst/>
            <a:ahLst/>
            <a:cxnLst/>
            <a:rect l="l" t="t" r="r" b="b"/>
            <a:pathLst>
              <a:path w="914400" h="526694">
                <a:moveTo>
                  <a:pt x="0" y="514807"/>
                </a:moveTo>
                <a:lnTo>
                  <a:pt x="56693" y="402336"/>
                </a:lnTo>
                <a:lnTo>
                  <a:pt x="125273" y="309067"/>
                </a:lnTo>
                <a:lnTo>
                  <a:pt x="200254" y="228600"/>
                </a:lnTo>
                <a:lnTo>
                  <a:pt x="280721" y="160020"/>
                </a:lnTo>
                <a:lnTo>
                  <a:pt x="369418" y="103327"/>
                </a:lnTo>
                <a:lnTo>
                  <a:pt x="463601" y="59436"/>
                </a:lnTo>
                <a:lnTo>
                  <a:pt x="566014" y="27432"/>
                </a:lnTo>
                <a:lnTo>
                  <a:pt x="673913" y="7315"/>
                </a:lnTo>
                <a:lnTo>
                  <a:pt x="788213" y="0"/>
                </a:lnTo>
                <a:lnTo>
                  <a:pt x="914400" y="11887"/>
                </a:lnTo>
                <a:lnTo>
                  <a:pt x="857707" y="124358"/>
                </a:lnTo>
                <a:lnTo>
                  <a:pt x="789127" y="217627"/>
                </a:lnTo>
                <a:lnTo>
                  <a:pt x="714146" y="298094"/>
                </a:lnTo>
                <a:lnTo>
                  <a:pt x="633679" y="366674"/>
                </a:lnTo>
                <a:lnTo>
                  <a:pt x="544982" y="423367"/>
                </a:lnTo>
                <a:lnTo>
                  <a:pt x="450799" y="467258"/>
                </a:lnTo>
                <a:lnTo>
                  <a:pt x="348386" y="499262"/>
                </a:lnTo>
                <a:lnTo>
                  <a:pt x="240487" y="519379"/>
                </a:lnTo>
                <a:lnTo>
                  <a:pt x="126187" y="526694"/>
                </a:lnTo>
                <a:lnTo>
                  <a:pt x="0" y="514807"/>
                </a:lnTo>
                <a:close/>
              </a:path>
            </a:pathLst>
          </a:custGeom>
          <a:solidFill>
            <a:srgbClr val="8CC46B"/>
          </a:solidFill>
          <a:ln w="15875">
            <a:solidFill>
              <a:srgbClr val="4E8F3A"/>
            </a:solidFill>
            <a:prstDash val="solid"/>
          </a:ln>
        </p:spPr>
      </p:sp>
      <p:sp>
        <p:nvSpPr>
          <p:cNvPr id="7" name="S14-mark175"/>
          <p:cNvSpPr/>
          <p:nvPr/>
        </p:nvSpPr>
        <p:spPr>
          <a:xfrm>
            <a:off x="2688519" y="3749040"/>
            <a:ext cx="548640" cy="731520"/>
          </a:xfrm>
          <a:custGeom>
            <a:avLst/>
            <a:gdLst/>
            <a:ahLst/>
            <a:cxnLst/>
            <a:rect l="l" t="t" r="r" b="b"/>
            <a:pathLst>
              <a:path w="548640" h="731520">
                <a:moveTo>
                  <a:pt x="548640" y="365760"/>
                </a:moveTo>
                <a:lnTo>
                  <a:pt x="544068" y="302666"/>
                </a:lnTo>
                <a:lnTo>
                  <a:pt x="532181" y="240487"/>
                </a:lnTo>
                <a:lnTo>
                  <a:pt x="512064" y="182880"/>
                </a:lnTo>
                <a:lnTo>
                  <a:pt x="484632" y="130759"/>
                </a:lnTo>
                <a:lnTo>
                  <a:pt x="450799" y="85954"/>
                </a:lnTo>
                <a:lnTo>
                  <a:pt x="411480" y="49378"/>
                </a:lnTo>
                <a:lnTo>
                  <a:pt x="368503" y="21946"/>
                </a:lnTo>
                <a:lnTo>
                  <a:pt x="321869" y="5486"/>
                </a:lnTo>
                <a:lnTo>
                  <a:pt x="274320" y="0"/>
                </a:lnTo>
                <a:lnTo>
                  <a:pt x="226771" y="5486"/>
                </a:lnTo>
                <a:lnTo>
                  <a:pt x="180137" y="21946"/>
                </a:lnTo>
                <a:lnTo>
                  <a:pt x="137160" y="49378"/>
                </a:lnTo>
                <a:lnTo>
                  <a:pt x="97841" y="85954"/>
                </a:lnTo>
                <a:lnTo>
                  <a:pt x="64008" y="130759"/>
                </a:lnTo>
                <a:lnTo>
                  <a:pt x="36576" y="182880"/>
                </a:lnTo>
                <a:lnTo>
                  <a:pt x="16459" y="240487"/>
                </a:lnTo>
                <a:lnTo>
                  <a:pt x="4572" y="302666"/>
                </a:lnTo>
                <a:lnTo>
                  <a:pt x="0" y="365760"/>
                </a:lnTo>
                <a:lnTo>
                  <a:pt x="4572" y="428854"/>
                </a:lnTo>
                <a:lnTo>
                  <a:pt x="16459" y="491033"/>
                </a:lnTo>
                <a:lnTo>
                  <a:pt x="36576" y="548640"/>
                </a:lnTo>
                <a:lnTo>
                  <a:pt x="64008" y="600761"/>
                </a:lnTo>
                <a:lnTo>
                  <a:pt x="97841" y="645566"/>
                </a:lnTo>
                <a:lnTo>
                  <a:pt x="137160" y="682142"/>
                </a:lnTo>
                <a:lnTo>
                  <a:pt x="180137" y="709574"/>
                </a:lnTo>
                <a:lnTo>
                  <a:pt x="226771" y="726034"/>
                </a:lnTo>
                <a:lnTo>
                  <a:pt x="274320" y="731520"/>
                </a:lnTo>
                <a:lnTo>
                  <a:pt x="321869" y="726034"/>
                </a:lnTo>
                <a:lnTo>
                  <a:pt x="368503" y="709574"/>
                </a:lnTo>
                <a:lnTo>
                  <a:pt x="411480" y="682142"/>
                </a:lnTo>
                <a:lnTo>
                  <a:pt x="450799" y="645566"/>
                </a:lnTo>
                <a:lnTo>
                  <a:pt x="484632" y="600761"/>
                </a:lnTo>
                <a:lnTo>
                  <a:pt x="512064" y="548640"/>
                </a:lnTo>
                <a:lnTo>
                  <a:pt x="532181" y="491033"/>
                </a:lnTo>
                <a:lnTo>
                  <a:pt x="544068" y="428854"/>
                </a:lnTo>
                <a:lnTo>
                  <a:pt x="548640" y="365760"/>
                </a:lnTo>
                <a:close/>
              </a:path>
            </a:pathLst>
          </a:custGeom>
          <a:solidFill>
            <a:srgbClr val="BFE3A5"/>
          </a:solidFill>
          <a:ln w="15875">
            <a:solidFill>
              <a:srgbClr val="4E8F3A"/>
            </a:solidFill>
            <a:prstDash val="solid"/>
          </a:ln>
        </p:spPr>
      </p:sp>
      <p:sp>
        <p:nvSpPr>
          <p:cNvPr id="8" name="S14-mark176"/>
          <p:cNvSpPr/>
          <p:nvPr/>
        </p:nvSpPr>
        <p:spPr>
          <a:xfrm>
            <a:off x="2185599" y="2478024"/>
            <a:ext cx="237744" cy="402336"/>
          </a:xfrm>
          <a:custGeom>
            <a:avLst/>
            <a:gdLst/>
            <a:ahLst/>
            <a:cxnLst/>
            <a:rect l="l" t="t" r="r" b="b"/>
            <a:pathLst>
              <a:path w="237744" h="402336">
                <a:moveTo>
                  <a:pt x="237744" y="201168"/>
                </a:moveTo>
                <a:lnTo>
                  <a:pt x="235915" y="166421"/>
                </a:lnTo>
                <a:lnTo>
                  <a:pt x="230429" y="132588"/>
                </a:lnTo>
                <a:lnTo>
                  <a:pt x="222199" y="100584"/>
                </a:lnTo>
                <a:lnTo>
                  <a:pt x="210312" y="72238"/>
                </a:lnTo>
                <a:lnTo>
                  <a:pt x="195682" y="46634"/>
                </a:lnTo>
                <a:lnTo>
                  <a:pt x="178308" y="26518"/>
                </a:lnTo>
                <a:lnTo>
                  <a:pt x="159106" y="11887"/>
                </a:lnTo>
                <a:lnTo>
                  <a:pt x="139903" y="2743"/>
                </a:lnTo>
                <a:lnTo>
                  <a:pt x="118872" y="0"/>
                </a:lnTo>
                <a:lnTo>
                  <a:pt x="97841" y="2743"/>
                </a:lnTo>
                <a:lnTo>
                  <a:pt x="78638" y="11887"/>
                </a:lnTo>
                <a:lnTo>
                  <a:pt x="59436" y="26518"/>
                </a:lnTo>
                <a:lnTo>
                  <a:pt x="42062" y="46634"/>
                </a:lnTo>
                <a:lnTo>
                  <a:pt x="27432" y="72238"/>
                </a:lnTo>
                <a:lnTo>
                  <a:pt x="15545" y="100584"/>
                </a:lnTo>
                <a:lnTo>
                  <a:pt x="7315" y="132588"/>
                </a:lnTo>
                <a:lnTo>
                  <a:pt x="1829" y="166421"/>
                </a:lnTo>
                <a:lnTo>
                  <a:pt x="0" y="201168"/>
                </a:lnTo>
                <a:lnTo>
                  <a:pt x="1829" y="235915"/>
                </a:lnTo>
                <a:lnTo>
                  <a:pt x="7315" y="269748"/>
                </a:lnTo>
                <a:lnTo>
                  <a:pt x="15545" y="301752"/>
                </a:lnTo>
                <a:lnTo>
                  <a:pt x="27432" y="330098"/>
                </a:lnTo>
                <a:lnTo>
                  <a:pt x="42062" y="355702"/>
                </a:lnTo>
                <a:lnTo>
                  <a:pt x="59436" y="375818"/>
                </a:lnTo>
                <a:lnTo>
                  <a:pt x="78638" y="390449"/>
                </a:lnTo>
                <a:lnTo>
                  <a:pt x="97841" y="399593"/>
                </a:lnTo>
                <a:lnTo>
                  <a:pt x="118872" y="402336"/>
                </a:lnTo>
                <a:lnTo>
                  <a:pt x="139903" y="399593"/>
                </a:lnTo>
                <a:lnTo>
                  <a:pt x="159106" y="390449"/>
                </a:lnTo>
                <a:lnTo>
                  <a:pt x="178308" y="375818"/>
                </a:lnTo>
                <a:lnTo>
                  <a:pt x="195682" y="355702"/>
                </a:lnTo>
                <a:lnTo>
                  <a:pt x="210312" y="330098"/>
                </a:lnTo>
                <a:lnTo>
                  <a:pt x="222199" y="301752"/>
                </a:lnTo>
                <a:lnTo>
                  <a:pt x="230429" y="269748"/>
                </a:lnTo>
                <a:lnTo>
                  <a:pt x="235915" y="235915"/>
                </a:lnTo>
                <a:lnTo>
                  <a:pt x="237744" y="201168"/>
                </a:lnTo>
                <a:close/>
              </a:path>
            </a:pathLst>
          </a:custGeom>
          <a:solidFill>
            <a:srgbClr val="F2C14E"/>
          </a:solidFill>
          <a:ln w="12700">
            <a:solidFill>
              <a:srgbClr val="B08A1E"/>
            </a:solidFill>
            <a:prstDash val="solid"/>
          </a:ln>
        </p:spPr>
      </p:sp>
      <p:sp>
        <p:nvSpPr>
          <p:cNvPr id="9" name="S14-mark177"/>
          <p:cNvSpPr/>
          <p:nvPr/>
        </p:nvSpPr>
        <p:spPr>
          <a:xfrm>
            <a:off x="3502335" y="2478024"/>
            <a:ext cx="237744" cy="402336"/>
          </a:xfrm>
          <a:custGeom>
            <a:avLst/>
            <a:gdLst/>
            <a:ahLst/>
            <a:cxnLst/>
            <a:rect l="l" t="t" r="r" b="b"/>
            <a:pathLst>
              <a:path w="237744" h="402336">
                <a:moveTo>
                  <a:pt x="237744" y="201168"/>
                </a:moveTo>
                <a:lnTo>
                  <a:pt x="235915" y="166421"/>
                </a:lnTo>
                <a:lnTo>
                  <a:pt x="230429" y="132588"/>
                </a:lnTo>
                <a:lnTo>
                  <a:pt x="222199" y="100584"/>
                </a:lnTo>
                <a:lnTo>
                  <a:pt x="210312" y="72238"/>
                </a:lnTo>
                <a:lnTo>
                  <a:pt x="195682" y="46634"/>
                </a:lnTo>
                <a:lnTo>
                  <a:pt x="178308" y="26518"/>
                </a:lnTo>
                <a:lnTo>
                  <a:pt x="159106" y="11887"/>
                </a:lnTo>
                <a:lnTo>
                  <a:pt x="139903" y="2743"/>
                </a:lnTo>
                <a:lnTo>
                  <a:pt x="118872" y="0"/>
                </a:lnTo>
                <a:lnTo>
                  <a:pt x="97841" y="2743"/>
                </a:lnTo>
                <a:lnTo>
                  <a:pt x="78638" y="11887"/>
                </a:lnTo>
                <a:lnTo>
                  <a:pt x="59436" y="26518"/>
                </a:lnTo>
                <a:lnTo>
                  <a:pt x="42062" y="46634"/>
                </a:lnTo>
                <a:lnTo>
                  <a:pt x="27432" y="72238"/>
                </a:lnTo>
                <a:lnTo>
                  <a:pt x="15545" y="100584"/>
                </a:lnTo>
                <a:lnTo>
                  <a:pt x="7315" y="132588"/>
                </a:lnTo>
                <a:lnTo>
                  <a:pt x="1829" y="166421"/>
                </a:lnTo>
                <a:lnTo>
                  <a:pt x="0" y="201168"/>
                </a:lnTo>
                <a:lnTo>
                  <a:pt x="1829" y="235915"/>
                </a:lnTo>
                <a:lnTo>
                  <a:pt x="7315" y="269748"/>
                </a:lnTo>
                <a:lnTo>
                  <a:pt x="15545" y="301752"/>
                </a:lnTo>
                <a:lnTo>
                  <a:pt x="27432" y="330098"/>
                </a:lnTo>
                <a:lnTo>
                  <a:pt x="42062" y="355702"/>
                </a:lnTo>
                <a:lnTo>
                  <a:pt x="59436" y="375818"/>
                </a:lnTo>
                <a:lnTo>
                  <a:pt x="78638" y="390449"/>
                </a:lnTo>
                <a:lnTo>
                  <a:pt x="97841" y="399593"/>
                </a:lnTo>
                <a:lnTo>
                  <a:pt x="118872" y="402336"/>
                </a:lnTo>
                <a:lnTo>
                  <a:pt x="139903" y="399593"/>
                </a:lnTo>
                <a:lnTo>
                  <a:pt x="159106" y="390449"/>
                </a:lnTo>
                <a:lnTo>
                  <a:pt x="178308" y="375818"/>
                </a:lnTo>
                <a:lnTo>
                  <a:pt x="195682" y="355702"/>
                </a:lnTo>
                <a:lnTo>
                  <a:pt x="210312" y="330098"/>
                </a:lnTo>
                <a:lnTo>
                  <a:pt x="222199" y="301752"/>
                </a:lnTo>
                <a:lnTo>
                  <a:pt x="230429" y="269748"/>
                </a:lnTo>
                <a:lnTo>
                  <a:pt x="235915" y="235915"/>
                </a:lnTo>
                <a:lnTo>
                  <a:pt x="237744" y="201168"/>
                </a:lnTo>
                <a:close/>
              </a:path>
            </a:pathLst>
          </a:custGeom>
          <a:solidFill>
            <a:srgbClr val="F2C14E"/>
          </a:solidFill>
          <a:ln w="12700">
            <a:solidFill>
              <a:srgbClr val="B08A1E"/>
            </a:solidFill>
            <a:prstDash val="solid"/>
          </a:ln>
        </p:spPr>
      </p:sp>
      <p:sp>
        <p:nvSpPr>
          <p:cNvPr id="10" name="S14-mark178"/>
          <p:cNvSpPr/>
          <p:nvPr/>
        </p:nvSpPr>
        <p:spPr>
          <a:xfrm>
            <a:off x="2834823" y="2249424"/>
            <a:ext cx="256032" cy="256032"/>
          </a:xfrm>
          <a:prstGeom prst="ellipse">
            <a:avLst/>
          </a:prstGeom>
          <a:solidFill>
            <a:srgbClr val="8CC46B"/>
          </a:solidFill>
          <a:ln w="15875">
            <a:solidFill>
              <a:srgbClr val="4E8F3A"/>
            </a:solidFill>
            <a:prstDash val="solid"/>
          </a:ln>
        </p:spPr>
      </p:sp>
      <p:sp>
        <p:nvSpPr>
          <p:cNvPr id="11" name="S14-mark179"/>
          <p:cNvSpPr/>
          <p:nvPr/>
        </p:nvSpPr>
        <p:spPr>
          <a:xfrm>
            <a:off x="2962839" y="4526280"/>
            <a:ext cx="0" cy="1554480"/>
          </a:xfrm>
          <a:prstGeom prst="line">
            <a:avLst/>
          </a:prstGeom>
          <a:noFill/>
          <a:ln w="50800">
            <a:solidFill>
              <a:srgbClr val="4E8F3A"/>
            </a:solidFill>
            <a:prstDash val="solid"/>
          </a:ln>
        </p:spPr>
      </p:sp>
      <p:sp>
        <p:nvSpPr>
          <p:cNvPr id="12" name="S14-mark180"/>
          <p:cNvSpPr/>
          <p:nvPr/>
        </p:nvSpPr>
        <p:spPr>
          <a:xfrm flipV="1">
            <a:off x="2962839" y="2468880"/>
            <a:ext cx="0" cy="1307592"/>
          </a:xfrm>
          <a:prstGeom prst="line">
            <a:avLst/>
          </a:prstGeom>
          <a:noFill/>
          <a:ln w="44450">
            <a:solidFill>
              <a:srgbClr val="4E8F3A"/>
            </a:solidFill>
            <a:prstDash val="solid"/>
          </a:ln>
        </p:spPr>
      </p:sp>
      <p:sp>
        <p:nvSpPr>
          <p:cNvPr id="13" name="S14-mark181"/>
          <p:cNvSpPr/>
          <p:nvPr/>
        </p:nvSpPr>
        <p:spPr>
          <a:xfrm flipH="1" flipV="1">
            <a:off x="2322759" y="2880360"/>
            <a:ext cx="438912" cy="1280160"/>
          </a:xfrm>
          <a:prstGeom prst="line">
            <a:avLst/>
          </a:prstGeom>
          <a:noFill/>
          <a:ln w="25400">
            <a:solidFill>
              <a:srgbClr val="B08A1E"/>
            </a:solidFill>
            <a:prstDash val="solid"/>
          </a:ln>
        </p:spPr>
      </p:sp>
      <p:sp>
        <p:nvSpPr>
          <p:cNvPr id="14" name="S14-mark182"/>
          <p:cNvSpPr/>
          <p:nvPr/>
        </p:nvSpPr>
        <p:spPr>
          <a:xfrm flipV="1">
            <a:off x="3164007" y="2880360"/>
            <a:ext cx="438912" cy="1280160"/>
          </a:xfrm>
          <a:prstGeom prst="line">
            <a:avLst/>
          </a:prstGeom>
          <a:noFill/>
          <a:ln w="25400">
            <a:solidFill>
              <a:srgbClr val="B08A1E"/>
            </a:solidFill>
            <a:prstDash val="solid"/>
          </a:ln>
        </p:spPr>
      </p:sp>
      <p:sp>
        <p:nvSpPr>
          <p:cNvPr id="15" name="S14-mark183"/>
          <p:cNvSpPr/>
          <p:nvPr/>
        </p:nvSpPr>
        <p:spPr>
          <a:xfrm flipV="1">
            <a:off x="2962839" y="1645920"/>
            <a:ext cx="822960" cy="640080"/>
          </a:xfrm>
          <a:prstGeom prst="line">
            <a:avLst/>
          </a:prstGeom>
          <a:noFill/>
          <a:ln w="15875">
            <a:solidFill>
              <a:srgbClr val="64748B"/>
            </a:solidFill>
            <a:prstDash val="solid"/>
          </a:ln>
        </p:spPr>
      </p:sp>
      <p:sp>
        <p:nvSpPr>
          <p:cNvPr id="16" name="S14-mark184"/>
          <p:cNvSpPr/>
          <p:nvPr/>
        </p:nvSpPr>
        <p:spPr>
          <a:xfrm flipH="1" flipV="1">
            <a:off x="1271199" y="1645920"/>
            <a:ext cx="914400" cy="914400"/>
          </a:xfrm>
          <a:prstGeom prst="line">
            <a:avLst/>
          </a:prstGeom>
          <a:noFill/>
          <a:ln w="15875">
            <a:solidFill>
              <a:srgbClr val="64748B"/>
            </a:solidFill>
            <a:prstDash val="solid"/>
          </a:ln>
        </p:spPr>
      </p:sp>
      <p:sp>
        <p:nvSpPr>
          <p:cNvPr id="17" name="S14-mark185"/>
          <p:cNvSpPr/>
          <p:nvPr/>
        </p:nvSpPr>
        <p:spPr>
          <a:xfrm>
            <a:off x="4288719" y="3337560"/>
            <a:ext cx="685800" cy="228600"/>
          </a:xfrm>
          <a:prstGeom prst="line">
            <a:avLst/>
          </a:prstGeom>
          <a:noFill/>
          <a:ln w="15875">
            <a:solidFill>
              <a:srgbClr val="64748B"/>
            </a:solidFill>
            <a:prstDash val="solid"/>
          </a:ln>
        </p:spPr>
      </p:sp>
      <p:sp>
        <p:nvSpPr>
          <p:cNvPr id="18" name="S14-mark186"/>
          <p:cNvSpPr/>
          <p:nvPr/>
        </p:nvSpPr>
        <p:spPr>
          <a:xfrm flipH="1">
            <a:off x="1225479" y="4160520"/>
            <a:ext cx="960120" cy="594360"/>
          </a:xfrm>
          <a:prstGeom prst="line">
            <a:avLst/>
          </a:prstGeom>
          <a:noFill/>
          <a:ln w="15875">
            <a:solidFill>
              <a:srgbClr val="64748B"/>
            </a:solidFill>
            <a:prstDash val="solid"/>
          </a:ln>
        </p:spPr>
      </p:sp>
      <p:sp>
        <p:nvSpPr>
          <p:cNvPr id="19" name="S14-label188"/>
          <p:cNvSpPr txBox="1"/>
          <p:nvPr/>
        </p:nvSpPr>
        <p:spPr>
          <a:xfrm>
            <a:off x="3868603" y="1288415"/>
            <a:ext cx="657352"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암술</a:t>
            </a:r>
            <a:endParaRPr lang="ko-KR" sz="2200" dirty="0"/>
          </a:p>
        </p:txBody>
      </p:sp>
      <p:sp>
        <p:nvSpPr>
          <p:cNvPr id="20" name="S14-label190"/>
          <p:cNvSpPr txBox="1"/>
          <p:nvPr/>
        </p:nvSpPr>
        <p:spPr>
          <a:xfrm>
            <a:off x="576763" y="1288415"/>
            <a:ext cx="657352"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수술</a:t>
            </a:r>
            <a:endParaRPr lang="ko-KR" sz="2200" dirty="0"/>
          </a:p>
        </p:txBody>
      </p:sp>
      <p:sp>
        <p:nvSpPr>
          <p:cNvPr id="21" name="S14-label192"/>
          <p:cNvSpPr txBox="1"/>
          <p:nvPr/>
        </p:nvSpPr>
        <p:spPr>
          <a:xfrm>
            <a:off x="5148763" y="3391535"/>
            <a:ext cx="657352"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꽃잎</a:t>
            </a:r>
            <a:endParaRPr lang="ko-KR" sz="2200" dirty="0"/>
          </a:p>
        </p:txBody>
      </p:sp>
      <p:sp>
        <p:nvSpPr>
          <p:cNvPr id="22" name="S14-label194"/>
          <p:cNvSpPr txBox="1"/>
          <p:nvPr/>
        </p:nvSpPr>
        <p:spPr>
          <a:xfrm>
            <a:off x="302697" y="4763135"/>
            <a:ext cx="931164"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꽃받침</a:t>
            </a:r>
            <a:endParaRPr lang="ko-KR" sz="2200" dirty="0"/>
          </a:p>
        </p:txBody>
      </p:sp>
      <p:sp>
        <p:nvSpPr>
          <p:cNvPr id="23" name="S14-card195"/>
          <p:cNvSpPr/>
          <p:nvPr/>
        </p:nvSpPr>
        <p:spPr>
          <a:xfrm>
            <a:off x="6062838" y="1773174"/>
            <a:ext cx="5577474" cy="1180084"/>
          </a:xfrm>
          <a:prstGeom prst="roundRect">
            <a:avLst>
              <a:gd name="adj" fmla="val 9298"/>
            </a:avLst>
          </a:prstGeom>
          <a:solidFill>
            <a:srgbClr val="EAF3F1"/>
          </a:solidFill>
          <a:ln w="12700">
            <a:solidFill>
              <a:srgbClr val="EAF3F1"/>
            </a:solidFill>
            <a:prstDash val="solid"/>
          </a:ln>
        </p:spPr>
      </p:sp>
      <p:sp>
        <p:nvSpPr>
          <p:cNvPr id="24" name="S14-cardtext196"/>
          <p:cNvSpPr txBox="1"/>
          <p:nvPr/>
        </p:nvSpPr>
        <p:spPr>
          <a:xfrm>
            <a:off x="6337158" y="1910334"/>
            <a:ext cx="5028834" cy="905764"/>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꽃</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씨를 만들어요.</a:t>
            </a:r>
            <a:endParaRPr lang="ko-KR" sz="2800" dirty="0"/>
          </a:p>
        </p:txBody>
      </p:sp>
      <p:sp>
        <p:nvSpPr>
          <p:cNvPr id="25" name="S14-card197"/>
          <p:cNvSpPr/>
          <p:nvPr/>
        </p:nvSpPr>
        <p:spPr>
          <a:xfrm>
            <a:off x="6062838" y="3181858"/>
            <a:ext cx="5577474" cy="1180084"/>
          </a:xfrm>
          <a:prstGeom prst="roundRect">
            <a:avLst>
              <a:gd name="adj" fmla="val 9298"/>
            </a:avLst>
          </a:prstGeom>
          <a:solidFill>
            <a:srgbClr val="EAF3F1"/>
          </a:solidFill>
          <a:ln w="12700">
            <a:solidFill>
              <a:srgbClr val="EAF3F1"/>
            </a:solidFill>
            <a:prstDash val="solid"/>
          </a:ln>
        </p:spPr>
      </p:sp>
      <p:sp>
        <p:nvSpPr>
          <p:cNvPr id="26" name="S14-cardtext198"/>
          <p:cNvSpPr txBox="1"/>
          <p:nvPr/>
        </p:nvSpPr>
        <p:spPr>
          <a:xfrm>
            <a:off x="6337158" y="3319018"/>
            <a:ext cx="5028834" cy="905764"/>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꽃가루받이</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꽃가루가 암술에 붙는 것</a:t>
            </a:r>
            <a:endParaRPr lang="ko-KR" sz="2800" dirty="0"/>
          </a:p>
        </p:txBody>
      </p:sp>
      <p:sp>
        <p:nvSpPr>
          <p:cNvPr id="27" name="S14-card199"/>
          <p:cNvSpPr/>
          <p:nvPr/>
        </p:nvSpPr>
        <p:spPr>
          <a:xfrm>
            <a:off x="6062838" y="4590542"/>
            <a:ext cx="5577474" cy="1180084"/>
          </a:xfrm>
          <a:prstGeom prst="roundRect">
            <a:avLst>
              <a:gd name="adj" fmla="val 9298"/>
            </a:avLst>
          </a:prstGeom>
          <a:solidFill>
            <a:srgbClr val="EAF3F1"/>
          </a:solidFill>
          <a:ln w="12700">
            <a:solidFill>
              <a:srgbClr val="EAF3F1"/>
            </a:solidFill>
            <a:prstDash val="solid"/>
          </a:ln>
        </p:spPr>
      </p:sp>
      <p:sp>
        <p:nvSpPr>
          <p:cNvPr id="28" name="S14-cardtext200"/>
          <p:cNvSpPr txBox="1"/>
          <p:nvPr/>
        </p:nvSpPr>
        <p:spPr>
          <a:xfrm>
            <a:off x="6337158" y="4727702"/>
            <a:ext cx="5028834" cy="905764"/>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열매</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씨를 보호하고 퍼뜨려요.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어느 부분이 하는 일일까요?</a:t>
            </a:r>
            <a:endParaRPr lang="ko-KR" sz="4000" dirty="0"/>
          </a:p>
        </p:txBody>
      </p:sp>
      <p:sp>
        <p:nvSpPr>
          <p:cNvPr id="3" name="S15-card201"/>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4" name="S15-cardtext202"/>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뿌리·줄기·잎·꽃·열매 중에서 골라요.</a:t>
            </a:r>
            <a:endParaRPr lang="ko-KR" sz="2800" dirty="0"/>
          </a:p>
        </p:txBody>
      </p:sp>
      <p:sp>
        <p:nvSpPr>
          <p:cNvPr id="5" name="S15-chip203"/>
          <p:cNvSpPr txBox="1"/>
          <p:nvPr/>
        </p:nvSpPr>
        <p:spPr>
          <a:xfrm>
            <a:off x="548640" y="16139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6" name="S15-text204"/>
          <p:cNvSpPr txBox="1"/>
          <p:nvPr/>
        </p:nvSpPr>
        <p:spPr>
          <a:xfrm>
            <a:off x="1344168" y="1325880"/>
            <a:ext cx="4567428" cy="114300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물을 흡수하고</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식물을 지지해요.</a:t>
            </a:r>
            <a:endParaRPr lang="ko-KR" sz="2800" dirty="0"/>
          </a:p>
        </p:txBody>
      </p:sp>
      <p:sp>
        <p:nvSpPr>
          <p:cNvPr id="7" name="S15-chip205"/>
          <p:cNvSpPr txBox="1"/>
          <p:nvPr/>
        </p:nvSpPr>
        <p:spPr>
          <a:xfrm>
            <a:off x="6277356" y="16139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8" name="S15-text206"/>
          <p:cNvSpPr txBox="1"/>
          <p:nvPr/>
        </p:nvSpPr>
        <p:spPr>
          <a:xfrm>
            <a:off x="7072884" y="1325880"/>
            <a:ext cx="4567428" cy="114300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물이 이동하는</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통로가 있어요.</a:t>
            </a:r>
            <a:endParaRPr lang="ko-KR" sz="2800" dirty="0"/>
          </a:p>
        </p:txBody>
      </p:sp>
      <p:sp>
        <p:nvSpPr>
          <p:cNvPr id="9" name="S15-chip207"/>
          <p:cNvSpPr txBox="1"/>
          <p:nvPr/>
        </p:nvSpPr>
        <p:spPr>
          <a:xfrm>
            <a:off x="548640" y="29397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10" name="S15-text208"/>
          <p:cNvSpPr txBox="1"/>
          <p:nvPr/>
        </p:nvSpPr>
        <p:spPr>
          <a:xfrm>
            <a:off x="1344168" y="2651760"/>
            <a:ext cx="4567428" cy="114300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빛을 받아</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양분을 만들어요.</a:t>
            </a:r>
            <a:endParaRPr lang="ko-KR" sz="2800" dirty="0"/>
          </a:p>
        </p:txBody>
      </p:sp>
      <p:sp>
        <p:nvSpPr>
          <p:cNvPr id="11" name="S15-chip209"/>
          <p:cNvSpPr txBox="1"/>
          <p:nvPr/>
        </p:nvSpPr>
        <p:spPr>
          <a:xfrm>
            <a:off x="6277356" y="29397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④</a:t>
            </a:r>
            <a:endParaRPr lang="ko-KR" sz="2200" dirty="0"/>
          </a:p>
        </p:txBody>
      </p:sp>
      <p:sp>
        <p:nvSpPr>
          <p:cNvPr id="12" name="S15-text210"/>
          <p:cNvSpPr txBox="1"/>
          <p:nvPr/>
        </p:nvSpPr>
        <p:spPr>
          <a:xfrm>
            <a:off x="7072884" y="2651760"/>
            <a:ext cx="4567428" cy="114300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물이 수증기가</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되어 빠져나가요.</a:t>
            </a:r>
            <a:endParaRPr lang="ko-KR" sz="2800" dirty="0"/>
          </a:p>
        </p:txBody>
      </p:sp>
      <p:sp>
        <p:nvSpPr>
          <p:cNvPr id="13" name="S15-chip211"/>
          <p:cNvSpPr txBox="1"/>
          <p:nvPr/>
        </p:nvSpPr>
        <p:spPr>
          <a:xfrm>
            <a:off x="548640" y="42656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⑤</a:t>
            </a:r>
            <a:endParaRPr lang="ko-KR" sz="2200" dirty="0"/>
          </a:p>
        </p:txBody>
      </p:sp>
      <p:sp>
        <p:nvSpPr>
          <p:cNvPr id="14" name="S15-text212"/>
          <p:cNvSpPr txBox="1"/>
          <p:nvPr/>
        </p:nvSpPr>
        <p:spPr>
          <a:xfrm>
            <a:off x="1344168" y="3977640"/>
            <a:ext cx="4567428" cy="114300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꽃가루받이로</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씨를 만들어요.</a:t>
            </a:r>
            <a:endParaRPr lang="ko-KR" sz="2800" dirty="0"/>
          </a:p>
        </p:txBody>
      </p:sp>
      <p:sp>
        <p:nvSpPr>
          <p:cNvPr id="15" name="S15-chip213"/>
          <p:cNvSpPr txBox="1"/>
          <p:nvPr/>
        </p:nvSpPr>
        <p:spPr>
          <a:xfrm>
            <a:off x="6277356" y="42656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⑥</a:t>
            </a:r>
            <a:endParaRPr lang="ko-KR" sz="2200" dirty="0"/>
          </a:p>
        </p:txBody>
      </p:sp>
      <p:sp>
        <p:nvSpPr>
          <p:cNvPr id="16" name="S15-text214"/>
          <p:cNvSpPr txBox="1"/>
          <p:nvPr/>
        </p:nvSpPr>
        <p:spPr>
          <a:xfrm>
            <a:off x="7072884" y="3977640"/>
            <a:ext cx="4567428" cy="114300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씨를 보호하고</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퍼뜨려요.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혼자 해 보기</a:t>
            </a:r>
            <a:endParaRPr lang="ko-KR" sz="4000" dirty="0"/>
          </a:p>
        </p:txBody>
      </p:sp>
      <p:sp>
        <p:nvSpPr>
          <p:cNvPr id="3" name="S16-chip215"/>
          <p:cNvSpPr txBox="1"/>
          <p:nvPr/>
        </p:nvSpPr>
        <p:spPr>
          <a:xfrm>
            <a:off x="548640" y="17739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4" name="S16-text216"/>
          <p:cNvSpPr txBox="1"/>
          <p:nvPr/>
        </p:nvSpPr>
        <p:spPr>
          <a:xfrm>
            <a:off x="1344168" y="132588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고구마는 식물의 어느</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부분에 양분을 저장했나요?</a:t>
            </a:r>
            <a:endParaRPr lang="ko-KR" sz="2800" dirty="0"/>
          </a:p>
        </p:txBody>
      </p:sp>
      <p:sp>
        <p:nvSpPr>
          <p:cNvPr id="5" name="S16-chip217"/>
          <p:cNvSpPr txBox="1"/>
          <p:nvPr/>
        </p:nvSpPr>
        <p:spPr>
          <a:xfrm>
            <a:off x="6277356" y="17739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6" name="S16-text218"/>
          <p:cNvSpPr txBox="1"/>
          <p:nvPr/>
        </p:nvSpPr>
        <p:spPr>
          <a:xfrm>
            <a:off x="7072884" y="132588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잎을 딴 쪽 봉지에 물방울이</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거의 없던 까닭은?</a:t>
            </a:r>
            <a:endParaRPr lang="ko-KR" sz="2800" dirty="0"/>
          </a:p>
        </p:txBody>
      </p:sp>
      <p:sp>
        <p:nvSpPr>
          <p:cNvPr id="7" name="S16-chip219"/>
          <p:cNvSpPr txBox="1"/>
          <p:nvPr/>
        </p:nvSpPr>
        <p:spPr>
          <a:xfrm>
            <a:off x="548640" y="43113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8" name="S16-text220"/>
          <p:cNvSpPr txBox="1"/>
          <p:nvPr/>
        </p:nvSpPr>
        <p:spPr>
          <a:xfrm>
            <a:off x="1344168" y="386334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광합성에 필요한</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세 가지는?</a:t>
            </a:r>
            <a:endParaRPr lang="ko-KR" sz="2800" dirty="0"/>
          </a:p>
        </p:txBody>
      </p:sp>
      <p:sp>
        <p:nvSpPr>
          <p:cNvPr id="9" name="S16-chip221"/>
          <p:cNvSpPr txBox="1"/>
          <p:nvPr/>
        </p:nvSpPr>
        <p:spPr>
          <a:xfrm>
            <a:off x="6277356" y="43113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④</a:t>
            </a:r>
            <a:endParaRPr lang="ko-KR" sz="2200" dirty="0"/>
          </a:p>
        </p:txBody>
      </p:sp>
      <p:sp>
        <p:nvSpPr>
          <p:cNvPr id="10" name="S16-text222"/>
          <p:cNvSpPr txBox="1"/>
          <p:nvPr/>
        </p:nvSpPr>
        <p:spPr>
          <a:xfrm>
            <a:off x="7072884" y="386334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벌이 꽃을 옮겨 다니면</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어떤 일을 돕나요?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혼자 해 보기 정답</a:t>
            </a:r>
            <a:endParaRPr lang="ko-KR" sz="4000" dirty="0"/>
          </a:p>
        </p:txBody>
      </p:sp>
      <p:sp>
        <p:nvSpPr>
          <p:cNvPr id="3" name="S17-card223"/>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7-cardtext22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실험에서 본 것을 증거로 말하면 잘한 거예요.</a:t>
            </a:r>
            <a:endParaRPr lang="ko-KR" sz="2800" dirty="0"/>
          </a:p>
        </p:txBody>
      </p:sp>
      <p:sp>
        <p:nvSpPr>
          <p:cNvPr id="5" name="S17-chip225"/>
          <p:cNvSpPr txBox="1"/>
          <p:nvPr/>
        </p:nvSpPr>
        <p:spPr>
          <a:xfrm>
            <a:off x="548640" y="1325880"/>
            <a:ext cx="5362956" cy="548640"/>
          </a:xfrm>
          <a:prstGeom prst="roundRect">
            <a:avLst>
              <a:gd name="adj" fmla="val 26667"/>
            </a:avLst>
          </a:prstGeom>
          <a:solidFill>
            <a:srgbClr val="E3F4F1"/>
          </a:solidFill>
          <a:ln>
            <a:solidFill>
              <a:srgbClr val="E3F4F1"/>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 정답</a:t>
            </a:r>
            <a:endParaRPr lang="ko-KR" sz="2200" dirty="0"/>
          </a:p>
        </p:txBody>
      </p:sp>
      <p:sp>
        <p:nvSpPr>
          <p:cNvPr id="6" name="S17-text226"/>
          <p:cNvSpPr txBox="1"/>
          <p:nvPr/>
        </p:nvSpPr>
        <p:spPr>
          <a:xfrm>
            <a:off x="548640" y="2057400"/>
            <a:ext cx="2681478" cy="6629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① 뿌리</a:t>
            </a:r>
            <a:endParaRPr lang="ko-KR" sz="2800" dirty="0"/>
          </a:p>
        </p:txBody>
      </p:sp>
      <p:sp>
        <p:nvSpPr>
          <p:cNvPr id="7" name="S17-text227"/>
          <p:cNvSpPr txBox="1"/>
          <p:nvPr/>
        </p:nvSpPr>
        <p:spPr>
          <a:xfrm>
            <a:off x="3367278" y="2057400"/>
            <a:ext cx="2544318" cy="66294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감자는 줄기</a:t>
            </a:r>
            <a:endParaRPr lang="ko-KR" sz="2200" dirty="0"/>
          </a:p>
        </p:txBody>
      </p:sp>
      <p:sp>
        <p:nvSpPr>
          <p:cNvPr id="8" name="S17-text228"/>
          <p:cNvSpPr txBox="1"/>
          <p:nvPr/>
        </p:nvSpPr>
        <p:spPr>
          <a:xfrm>
            <a:off x="548640" y="2857500"/>
            <a:ext cx="2681478" cy="6629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② 잎이 없어서</a:t>
            </a:r>
            <a:endParaRPr lang="ko-KR" sz="2800" dirty="0"/>
          </a:p>
        </p:txBody>
      </p:sp>
      <p:sp>
        <p:nvSpPr>
          <p:cNvPr id="9" name="S17-text229"/>
          <p:cNvSpPr txBox="1"/>
          <p:nvPr/>
        </p:nvSpPr>
        <p:spPr>
          <a:xfrm>
            <a:off x="3367278" y="2857500"/>
            <a:ext cx="2544318" cy="66294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증산 작용</a:t>
            </a:r>
            <a:endParaRPr lang="ko-KR" sz="2200" dirty="0"/>
          </a:p>
        </p:txBody>
      </p:sp>
      <p:sp>
        <p:nvSpPr>
          <p:cNvPr id="10" name="S17-text230"/>
          <p:cNvSpPr txBox="1"/>
          <p:nvPr/>
        </p:nvSpPr>
        <p:spPr>
          <a:xfrm>
            <a:off x="548640" y="3657600"/>
            <a:ext cx="5362956" cy="6629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③ 빛, 물, 이산화 탄소</a:t>
            </a:r>
            <a:endParaRPr lang="ko-KR" sz="2800" dirty="0"/>
          </a:p>
        </p:txBody>
      </p:sp>
      <p:sp>
        <p:nvSpPr>
          <p:cNvPr id="11" name="S17-text231"/>
          <p:cNvSpPr txBox="1"/>
          <p:nvPr/>
        </p:nvSpPr>
        <p:spPr>
          <a:xfrm>
            <a:off x="548640" y="4457700"/>
            <a:ext cx="2681478" cy="6629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④ 꽃가루받이</a:t>
            </a:r>
            <a:endParaRPr lang="ko-KR" sz="2800" dirty="0"/>
          </a:p>
        </p:txBody>
      </p:sp>
      <p:sp>
        <p:nvSpPr>
          <p:cNvPr id="12" name="S17-text232"/>
          <p:cNvSpPr txBox="1"/>
          <p:nvPr/>
        </p:nvSpPr>
        <p:spPr>
          <a:xfrm>
            <a:off x="3367278" y="4457700"/>
            <a:ext cx="2544318" cy="66294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씨를 만듦</a:t>
            </a:r>
            <a:endParaRPr lang="ko-KR" sz="2200" dirty="0"/>
          </a:p>
        </p:txBody>
      </p:sp>
      <p:sp>
        <p:nvSpPr>
          <p:cNvPr id="13" name="S17-chip233"/>
          <p:cNvSpPr txBox="1"/>
          <p:nvPr/>
        </p:nvSpPr>
        <p:spPr>
          <a:xfrm>
            <a:off x="6277356" y="1325880"/>
            <a:ext cx="5362956" cy="548640"/>
          </a:xfrm>
          <a:prstGeom prst="roundRect">
            <a:avLst>
              <a:gd name="adj" fmla="val 26667"/>
            </a:avLst>
          </a:prstGeom>
          <a:solidFill>
            <a:srgbClr val="FBE6E7"/>
          </a:solidFill>
          <a:ln>
            <a:solidFill>
              <a:srgbClr val="FBE6E7"/>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 흔한 실수</a:t>
            </a:r>
            <a:endParaRPr lang="ko-KR" sz="2200" dirty="0"/>
          </a:p>
        </p:txBody>
      </p:sp>
      <p:sp>
        <p:nvSpPr>
          <p:cNvPr id="14" name="S17-text234"/>
          <p:cNvSpPr txBox="1"/>
          <p:nvPr/>
        </p:nvSpPr>
        <p:spPr>
          <a:xfrm>
            <a:off x="6277356" y="2057400"/>
            <a:ext cx="2681478" cy="12344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② 물이 적어서</a:t>
            </a:r>
            <a:endParaRPr lang="ko-KR" sz="2800" dirty="0"/>
          </a:p>
        </p:txBody>
      </p:sp>
      <p:sp>
        <p:nvSpPr>
          <p:cNvPr id="15" name="S17-text235"/>
          <p:cNvSpPr txBox="1"/>
          <p:nvPr/>
        </p:nvSpPr>
        <p:spPr>
          <a:xfrm>
            <a:off x="9095994" y="2057400"/>
            <a:ext cx="2544318" cy="123444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물은 같게 했음</a:t>
            </a:r>
            <a:endParaRPr lang="ko-KR" sz="2200" dirty="0"/>
          </a:p>
        </p:txBody>
      </p:sp>
      <p:sp>
        <p:nvSpPr>
          <p:cNvPr id="16" name="S17-text236"/>
          <p:cNvSpPr txBox="1"/>
          <p:nvPr/>
        </p:nvSpPr>
        <p:spPr>
          <a:xfrm>
            <a:off x="6277356" y="3429000"/>
            <a:ext cx="2681478" cy="12344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③ 흙, 거름</a:t>
            </a:r>
            <a:endParaRPr lang="ko-KR" sz="2800" dirty="0"/>
          </a:p>
        </p:txBody>
      </p:sp>
      <p:sp>
        <p:nvSpPr>
          <p:cNvPr id="17" name="S17-text237"/>
          <p:cNvSpPr txBox="1"/>
          <p:nvPr/>
        </p:nvSpPr>
        <p:spPr>
          <a:xfrm>
            <a:off x="9095994" y="3429000"/>
            <a:ext cx="2544318" cy="123444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잎이 만듦(M3)</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녹말은 어디에서 왔을까요?</a:t>
            </a:r>
            <a:endParaRPr lang="ko-KR" sz="4000" dirty="0"/>
          </a:p>
        </p:txBody>
      </p:sp>
      <p:sp>
        <p:nvSpPr>
          <p:cNvPr id="3" name="S18-text238"/>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감자와 고구마에는 녹말이 많아요. 그 까닭은?</a:t>
            </a:r>
            <a:endParaRPr lang="ko-KR" sz="2800" dirty="0"/>
          </a:p>
        </p:txBody>
      </p:sp>
      <p:sp>
        <p:nvSpPr>
          <p:cNvPr id="4" name="S18-card239"/>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5" name="S18-cardtext24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고르고, 그렇게 생각한 까닭을 말해요.</a:t>
            </a:r>
            <a:endParaRPr lang="ko-KR" sz="2800" dirty="0"/>
          </a:p>
        </p:txBody>
      </p:sp>
      <p:sp>
        <p:nvSpPr>
          <p:cNvPr id="6" name="S18-chip241"/>
          <p:cNvSpPr txBox="1"/>
          <p:nvPr/>
        </p:nvSpPr>
        <p:spPr>
          <a:xfrm>
            <a:off x="1991868" y="201168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가</a:t>
            </a:r>
            <a:endParaRPr lang="ko-KR" sz="2800" dirty="0"/>
          </a:p>
        </p:txBody>
      </p:sp>
      <p:sp>
        <p:nvSpPr>
          <p:cNvPr id="7" name="S18-card242"/>
          <p:cNvSpPr/>
          <p:nvPr/>
        </p:nvSpPr>
        <p:spPr>
          <a:xfrm>
            <a:off x="548640" y="2715768"/>
            <a:ext cx="3453384" cy="2404872"/>
          </a:xfrm>
          <a:prstGeom prst="roundRect">
            <a:avLst>
              <a:gd name="adj" fmla="val 4563"/>
            </a:avLst>
          </a:prstGeom>
          <a:solidFill>
            <a:srgbClr val="EAF3F1"/>
          </a:solidFill>
          <a:ln w="12700">
            <a:solidFill>
              <a:srgbClr val="EAF3F1"/>
            </a:solidFill>
            <a:prstDash val="solid"/>
          </a:ln>
        </p:spPr>
      </p:sp>
      <p:sp>
        <p:nvSpPr>
          <p:cNvPr id="8" name="S18-cardtext243"/>
          <p:cNvSpPr txBox="1"/>
          <p:nvPr/>
        </p:nvSpPr>
        <p:spPr>
          <a:xfrm>
            <a:off x="822960" y="2852928"/>
            <a:ext cx="2904744" cy="2130552"/>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뿌리와 줄기가</a:t>
            </a:r>
            <a:endParaRPr lang="ko-KR" sz="2800" dirty="0"/>
          </a:p>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흙 속의 녹말을</a:t>
            </a:r>
            <a:endParaRPr lang="ko-KR" sz="2800" dirty="0"/>
          </a:p>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빨아들여서</a:t>
            </a:r>
            <a:endParaRPr lang="ko-KR" sz="2800" dirty="0"/>
          </a:p>
        </p:txBody>
      </p:sp>
      <p:sp>
        <p:nvSpPr>
          <p:cNvPr id="9" name="S18-chip244"/>
          <p:cNvSpPr txBox="1"/>
          <p:nvPr/>
        </p:nvSpPr>
        <p:spPr>
          <a:xfrm>
            <a:off x="5811012" y="201168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나</a:t>
            </a:r>
            <a:endParaRPr lang="ko-KR" sz="2800" dirty="0"/>
          </a:p>
        </p:txBody>
      </p:sp>
      <p:sp>
        <p:nvSpPr>
          <p:cNvPr id="10" name="S18-card245"/>
          <p:cNvSpPr/>
          <p:nvPr/>
        </p:nvSpPr>
        <p:spPr>
          <a:xfrm>
            <a:off x="4367784" y="2715768"/>
            <a:ext cx="3453384" cy="2404872"/>
          </a:xfrm>
          <a:prstGeom prst="roundRect">
            <a:avLst>
              <a:gd name="adj" fmla="val 4563"/>
            </a:avLst>
          </a:prstGeom>
          <a:solidFill>
            <a:srgbClr val="EAF3F1"/>
          </a:solidFill>
          <a:ln w="12700">
            <a:solidFill>
              <a:srgbClr val="EAF3F1"/>
            </a:solidFill>
            <a:prstDash val="solid"/>
          </a:ln>
        </p:spPr>
      </p:sp>
      <p:sp>
        <p:nvSpPr>
          <p:cNvPr id="11" name="S18-cardtext246"/>
          <p:cNvSpPr txBox="1"/>
          <p:nvPr/>
        </p:nvSpPr>
        <p:spPr>
          <a:xfrm>
            <a:off x="4642104" y="2852928"/>
            <a:ext cx="2904744" cy="2130552"/>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잎에서 만든</a:t>
            </a:r>
            <a:endParaRPr lang="ko-KR" sz="2800" dirty="0"/>
          </a:p>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양분이 옮겨 와</a:t>
            </a:r>
            <a:endParaRPr lang="ko-KR" sz="2800" dirty="0"/>
          </a:p>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저장되어서</a:t>
            </a:r>
            <a:endParaRPr lang="ko-KR" sz="2800" dirty="0"/>
          </a:p>
        </p:txBody>
      </p:sp>
      <p:sp>
        <p:nvSpPr>
          <p:cNvPr id="12" name="S18-chip247"/>
          <p:cNvSpPr txBox="1"/>
          <p:nvPr/>
        </p:nvSpPr>
        <p:spPr>
          <a:xfrm>
            <a:off x="9630156" y="201168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다</a:t>
            </a:r>
            <a:endParaRPr lang="ko-KR" sz="2800" dirty="0"/>
          </a:p>
        </p:txBody>
      </p:sp>
      <p:sp>
        <p:nvSpPr>
          <p:cNvPr id="13" name="S18-card248"/>
          <p:cNvSpPr/>
          <p:nvPr/>
        </p:nvSpPr>
        <p:spPr>
          <a:xfrm>
            <a:off x="8186928" y="2715768"/>
            <a:ext cx="3453384" cy="2404872"/>
          </a:xfrm>
          <a:prstGeom prst="roundRect">
            <a:avLst>
              <a:gd name="adj" fmla="val 4563"/>
            </a:avLst>
          </a:prstGeom>
          <a:solidFill>
            <a:srgbClr val="EAF3F1"/>
          </a:solidFill>
          <a:ln w="12700">
            <a:solidFill>
              <a:srgbClr val="EAF3F1"/>
            </a:solidFill>
            <a:prstDash val="solid"/>
          </a:ln>
        </p:spPr>
      </p:sp>
      <p:sp>
        <p:nvSpPr>
          <p:cNvPr id="14" name="S18-cardtext249"/>
          <p:cNvSpPr txBox="1"/>
          <p:nvPr/>
        </p:nvSpPr>
        <p:spPr>
          <a:xfrm>
            <a:off x="8461248" y="2852928"/>
            <a:ext cx="2904744" cy="2130552"/>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땅속에서</a:t>
            </a:r>
            <a:endParaRPr lang="ko-KR" sz="2800" dirty="0"/>
          </a:p>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스스로 녹말을</a:t>
            </a:r>
            <a:endParaRPr lang="ko-KR" sz="2800" dirty="0"/>
          </a:p>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만들어서</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FFFFFF"/>
                </a:solidFill>
                <a:latin typeface="맑은 고딕" pitchFamily="34" charset="0"/>
                <a:ea typeface="맑은 고딕" pitchFamily="34" charset="-122"/>
                <a:cs typeface="맑은 고딕" pitchFamily="34" charset="-120"/>
              </a:rPr>
              <a:t>오늘 배운 것</a:t>
            </a:r>
            <a:endParaRPr lang="ko-KR" sz="4000" dirty="0"/>
          </a:p>
        </p:txBody>
      </p:sp>
      <p:sp>
        <p:nvSpPr>
          <p:cNvPr id="3" name="S19-card250"/>
          <p:cNvSpPr/>
          <p:nvPr/>
        </p:nvSpPr>
        <p:spPr>
          <a:xfrm>
            <a:off x="548640" y="1325880"/>
            <a:ext cx="11091672" cy="1630680"/>
          </a:xfrm>
          <a:prstGeom prst="roundRect">
            <a:avLst>
              <a:gd name="adj" fmla="val 6729"/>
            </a:avLst>
          </a:prstGeom>
          <a:solidFill>
            <a:srgbClr val="32606F"/>
          </a:solidFill>
          <a:ln w="12700">
            <a:solidFill>
              <a:srgbClr val="32606F"/>
            </a:solidFill>
            <a:prstDash val="solid"/>
          </a:ln>
        </p:spPr>
      </p:sp>
      <p:sp>
        <p:nvSpPr>
          <p:cNvPr id="4" name="S19-cardtext251"/>
          <p:cNvSpPr txBox="1"/>
          <p:nvPr/>
        </p:nvSpPr>
        <p:spPr>
          <a:xfrm>
            <a:off x="822960" y="1463040"/>
            <a:ext cx="10543032" cy="1356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FFFFFF"/>
                </a:solidFill>
                <a:latin typeface="맑은 고딕" pitchFamily="34" charset="0"/>
                <a:ea typeface="맑은 고딕" pitchFamily="34" charset="-122"/>
                <a:cs typeface="맑은 고딕" pitchFamily="34" charset="-120"/>
              </a:rPr>
              <a:t>뿌리는 물을 흡수하고, 줄기는 물이 이동하는 통로예요.</a:t>
            </a:r>
            <a:endParaRPr lang="ko-KR" sz="2800" dirty="0"/>
          </a:p>
          <a:p>
            <a:pPr eaLnBrk="0" indent="0" marL="0">
              <a:spcAft>
                <a:spcPts val="600"/>
              </a:spcAft>
              <a:buNone/>
            </a:pPr>
            <a:r>
              <a:rPr lang="ko-KR" altLang="en-US" sz="2800" dirty="0">
                <a:solidFill>
                  <a:srgbClr val="FFFFFF"/>
                </a:solidFill>
                <a:latin typeface="맑은 고딕" pitchFamily="34" charset="0"/>
                <a:ea typeface="맑은 고딕" pitchFamily="34" charset="-122"/>
                <a:cs typeface="맑은 고딕" pitchFamily="34" charset="-120"/>
              </a:rPr>
              <a:t>잎은 광합성과 증산 작용을 하고, 꽃과 열매는 씨를 만들고 퍼뜨려요.</a:t>
            </a:r>
            <a:endParaRPr lang="ko-KR" sz="2800" dirty="0"/>
          </a:p>
        </p:txBody>
      </p:sp>
      <p:sp>
        <p:nvSpPr>
          <p:cNvPr id="5" name="S19-chip252"/>
          <p:cNvSpPr txBox="1"/>
          <p:nvPr/>
        </p:nvSpPr>
        <p:spPr>
          <a:xfrm>
            <a:off x="548640" y="3185160"/>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 실험 결과를 증거로 설명하기</a:t>
            </a:r>
            <a:endParaRPr lang="ko-KR" sz="2200" dirty="0"/>
          </a:p>
        </p:txBody>
      </p:sp>
      <p:sp>
        <p:nvSpPr>
          <p:cNvPr id="6" name="S19-chip253"/>
          <p:cNvSpPr txBox="1"/>
          <p:nvPr/>
        </p:nvSpPr>
        <p:spPr>
          <a:xfrm>
            <a:off x="6208776" y="3185160"/>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ko-KR" altLang="en-US" sz="2000" b="1" dirty="0">
                <a:solidFill>
                  <a:srgbClr val="FFFFFF"/>
                </a:solidFill>
                <a:latin typeface="맑은 고딕" pitchFamily="34" charset="0"/>
                <a:ea typeface="맑은 고딕" pitchFamily="34" charset="-122"/>
                <a:cs typeface="맑은 고딕" pitchFamily="34" charset="-120"/>
              </a:rPr>
              <a:t>× 식물이 흙에서 양분을 먹는다고 생각하기</a:t>
            </a:r>
            <a:endParaRPr lang="ko-KR" sz="2000" dirty="0"/>
          </a:p>
        </p:txBody>
      </p:sp>
      <p:sp>
        <p:nvSpPr>
          <p:cNvPr id="7" name="S19-text254"/>
          <p:cNvSpPr txBox="1"/>
          <p:nvPr/>
        </p:nvSpPr>
        <p:spPr>
          <a:xfrm>
            <a:off x="548640" y="4008120"/>
            <a:ext cx="11091672" cy="457200"/>
          </a:xfrm>
          <a:prstGeom prst="rect">
            <a:avLst/>
          </a:prstGeom>
          <a:noFill/>
          <a:ln/>
        </p:spPr>
        <p:txBody>
          <a:bodyPr wrap="square" lIns="0" tIns="0" rIns="0" bIns="0" rtlCol="0" anchor="t"/>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200" dirty="0"/>
          </a:p>
        </p:txBody>
      </p:sp>
      <p:sp>
        <p:nvSpPr>
          <p:cNvPr id="8" name="S19-text255"/>
          <p:cNvSpPr txBox="1"/>
          <p:nvPr/>
        </p:nvSpPr>
        <p:spPr>
          <a:xfrm>
            <a:off x="548640" y="4511040"/>
            <a:ext cx="3544824" cy="1066800"/>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① 줄기 자른 면에</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색 점이 생긴 까닭은?</a:t>
            </a:r>
            <a:endParaRPr lang="ko-KR" sz="2200" dirty="0"/>
          </a:p>
        </p:txBody>
      </p:sp>
      <p:sp>
        <p:nvSpPr>
          <p:cNvPr id="9" name="S19-text256"/>
          <p:cNvSpPr txBox="1"/>
          <p:nvPr/>
        </p:nvSpPr>
        <p:spPr>
          <a:xfrm>
            <a:off x="4322064" y="4511040"/>
            <a:ext cx="3544824" cy="1066800"/>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② 잎에서 물이 수증기로</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빠져나가는 것은?</a:t>
            </a:r>
            <a:endParaRPr lang="ko-KR" sz="2200" dirty="0"/>
          </a:p>
        </p:txBody>
      </p:sp>
      <p:sp>
        <p:nvSpPr>
          <p:cNvPr id="10" name="S19-text257"/>
          <p:cNvSpPr txBox="1"/>
          <p:nvPr/>
        </p:nvSpPr>
        <p:spPr>
          <a:xfrm>
            <a:off x="8095488" y="4511040"/>
            <a:ext cx="3544824" cy="1066800"/>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③ 광합성으로</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만드는 양분은?</a:t>
            </a:r>
            <a:endParaRPr lang="ko-KR" sz="2200" dirty="0"/>
          </a:p>
        </p:txBody>
      </p:sp>
      <p:sp>
        <p:nvSpPr>
          <p:cNvPr id="11" name="S19-text258"/>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200" dirty="0">
                <a:solidFill>
                  <a:srgbClr val="C9DCD8"/>
                </a:solidFill>
                <a:latin typeface="맑은 고딕" pitchFamily="34" charset="0"/>
                <a:ea typeface="맑은 고딕" pitchFamily="34" charset="-122"/>
                <a:cs typeface="맑은 고딕" pitchFamily="34" charset="-120"/>
              </a:rPr>
              <a:t>다음 시간: 전기 회로</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보충: 식물의 부분</a:t>
            </a:r>
            <a:endParaRPr lang="ko-KR" sz="4000" dirty="0"/>
          </a:p>
        </p:txBody>
      </p:sp>
      <p:sp>
        <p:nvSpPr>
          <p:cNvPr id="3" name="S20-figure259" descr="식물의 부분: 꽃, 열매, 잎, 줄기(땅 위), 뿌리(땅속)"/>
          <p:cNvSpPr/>
          <p:nvPr/>
        </p:nvSpPr>
        <p:spPr>
          <a:xfrm>
            <a:off x="1565910" y="4498391"/>
            <a:ext cx="3328416" cy="1280160"/>
          </a:xfrm>
          <a:custGeom>
            <a:avLst/>
            <a:gdLst/>
            <a:ahLst/>
            <a:cxnLst/>
            <a:rect l="l" t="t" r="r" b="b"/>
            <a:pathLst>
              <a:path w="3328416" h="1280160">
                <a:moveTo>
                  <a:pt x="0" y="1280160"/>
                </a:moveTo>
                <a:lnTo>
                  <a:pt x="3328416" y="1280160"/>
                </a:lnTo>
                <a:lnTo>
                  <a:pt x="3328416" y="0"/>
                </a:lnTo>
                <a:lnTo>
                  <a:pt x="0" y="0"/>
                </a:lnTo>
                <a:close/>
              </a:path>
            </a:pathLst>
          </a:custGeom>
          <a:solidFill>
            <a:srgbClr val="EFE4D2"/>
          </a:solidFill>
          <a:ln/>
        </p:spPr>
      </p:sp>
      <p:sp>
        <p:nvSpPr>
          <p:cNvPr id="4" name="S20-mark260"/>
          <p:cNvSpPr/>
          <p:nvPr/>
        </p:nvSpPr>
        <p:spPr>
          <a:xfrm>
            <a:off x="2205990" y="3355848"/>
            <a:ext cx="1024128" cy="556870"/>
          </a:xfrm>
          <a:custGeom>
            <a:avLst/>
            <a:gdLst/>
            <a:ahLst/>
            <a:cxnLst/>
            <a:rect l="l" t="t" r="r" b="b"/>
            <a:pathLst>
              <a:path w="1024128" h="556870">
                <a:moveTo>
                  <a:pt x="1024128" y="502463"/>
                </a:moveTo>
                <a:lnTo>
                  <a:pt x="883950" y="543428"/>
                </a:lnTo>
                <a:lnTo>
                  <a:pt x="756575" y="556870"/>
                </a:lnTo>
                <a:lnTo>
                  <a:pt x="635599" y="553669"/>
                </a:lnTo>
                <a:lnTo>
                  <a:pt x="522305" y="534467"/>
                </a:lnTo>
                <a:lnTo>
                  <a:pt x="416052" y="498622"/>
                </a:lnTo>
                <a:lnTo>
                  <a:pt x="317480" y="444856"/>
                </a:lnTo>
                <a:lnTo>
                  <a:pt x="225948" y="374447"/>
                </a:lnTo>
                <a:lnTo>
                  <a:pt x="142098" y="288036"/>
                </a:lnTo>
                <a:lnTo>
                  <a:pt x="64648" y="184983"/>
                </a:lnTo>
                <a:lnTo>
                  <a:pt x="0" y="54407"/>
                </a:lnTo>
                <a:lnTo>
                  <a:pt x="140178" y="13442"/>
                </a:lnTo>
                <a:lnTo>
                  <a:pt x="267553" y="0"/>
                </a:lnTo>
                <a:lnTo>
                  <a:pt x="388529" y="3200"/>
                </a:lnTo>
                <a:lnTo>
                  <a:pt x="501823" y="22403"/>
                </a:lnTo>
                <a:lnTo>
                  <a:pt x="608076" y="58247"/>
                </a:lnTo>
                <a:lnTo>
                  <a:pt x="706648" y="112014"/>
                </a:lnTo>
                <a:lnTo>
                  <a:pt x="798180" y="182423"/>
                </a:lnTo>
                <a:lnTo>
                  <a:pt x="882030" y="268834"/>
                </a:lnTo>
                <a:lnTo>
                  <a:pt x="959480" y="371886"/>
                </a:lnTo>
                <a:lnTo>
                  <a:pt x="1024128" y="502463"/>
                </a:lnTo>
                <a:close/>
              </a:path>
            </a:pathLst>
          </a:custGeom>
          <a:solidFill>
            <a:srgbClr val="8CC46B"/>
          </a:solidFill>
          <a:ln w="15875">
            <a:solidFill>
              <a:srgbClr val="4E8F3A"/>
            </a:solidFill>
            <a:prstDash val="solid"/>
          </a:ln>
        </p:spPr>
      </p:sp>
      <p:sp>
        <p:nvSpPr>
          <p:cNvPr id="5" name="S20-mark261"/>
          <p:cNvSpPr/>
          <p:nvPr/>
        </p:nvSpPr>
        <p:spPr>
          <a:xfrm>
            <a:off x="3230118" y="2887950"/>
            <a:ext cx="1024128" cy="532547"/>
          </a:xfrm>
          <a:custGeom>
            <a:avLst/>
            <a:gdLst/>
            <a:ahLst/>
            <a:cxnLst/>
            <a:rect l="l" t="t" r="r" b="b"/>
            <a:pathLst>
              <a:path w="1024128" h="532547">
                <a:moveTo>
                  <a:pt x="0" y="458297"/>
                </a:moveTo>
                <a:lnTo>
                  <a:pt x="69769" y="332202"/>
                </a:lnTo>
                <a:lnTo>
                  <a:pt x="149779" y="234269"/>
                </a:lnTo>
                <a:lnTo>
                  <a:pt x="236190" y="153619"/>
                </a:lnTo>
                <a:lnTo>
                  <a:pt x="329001" y="88971"/>
                </a:lnTo>
                <a:lnTo>
                  <a:pt x="427573" y="41605"/>
                </a:lnTo>
                <a:lnTo>
                  <a:pt x="533827" y="12162"/>
                </a:lnTo>
                <a:lnTo>
                  <a:pt x="645841" y="0"/>
                </a:lnTo>
                <a:lnTo>
                  <a:pt x="764256" y="3840"/>
                </a:lnTo>
                <a:lnTo>
                  <a:pt x="889071" y="24963"/>
                </a:lnTo>
                <a:lnTo>
                  <a:pt x="1024128" y="74249"/>
                </a:lnTo>
                <a:lnTo>
                  <a:pt x="954359" y="200345"/>
                </a:lnTo>
                <a:lnTo>
                  <a:pt x="874349" y="298277"/>
                </a:lnTo>
                <a:lnTo>
                  <a:pt x="787938" y="378927"/>
                </a:lnTo>
                <a:lnTo>
                  <a:pt x="695127" y="443575"/>
                </a:lnTo>
                <a:lnTo>
                  <a:pt x="596555" y="490941"/>
                </a:lnTo>
                <a:lnTo>
                  <a:pt x="490301" y="520385"/>
                </a:lnTo>
                <a:lnTo>
                  <a:pt x="378287" y="532547"/>
                </a:lnTo>
                <a:lnTo>
                  <a:pt x="259872" y="528706"/>
                </a:lnTo>
                <a:lnTo>
                  <a:pt x="135057" y="507583"/>
                </a:lnTo>
                <a:lnTo>
                  <a:pt x="0" y="458297"/>
                </a:lnTo>
                <a:close/>
              </a:path>
            </a:pathLst>
          </a:custGeom>
          <a:solidFill>
            <a:srgbClr val="8CC46B"/>
          </a:solidFill>
          <a:ln w="15875">
            <a:solidFill>
              <a:srgbClr val="4E8F3A"/>
            </a:solidFill>
            <a:prstDash val="solid"/>
          </a:ln>
        </p:spPr>
      </p:sp>
      <p:sp>
        <p:nvSpPr>
          <p:cNvPr id="6" name="S20-mark262"/>
          <p:cNvSpPr/>
          <p:nvPr/>
        </p:nvSpPr>
        <p:spPr>
          <a:xfrm>
            <a:off x="3230118" y="3954323"/>
            <a:ext cx="768096" cy="384048"/>
          </a:xfrm>
          <a:custGeom>
            <a:avLst/>
            <a:gdLst/>
            <a:ahLst/>
            <a:cxnLst/>
            <a:rect l="l" t="t" r="r" b="b"/>
            <a:pathLst>
              <a:path w="768096" h="384048">
                <a:moveTo>
                  <a:pt x="0" y="320040"/>
                </a:moveTo>
                <a:lnTo>
                  <a:pt x="55047" y="229149"/>
                </a:lnTo>
                <a:lnTo>
                  <a:pt x="117135" y="159380"/>
                </a:lnTo>
                <a:lnTo>
                  <a:pt x="183703" y="102413"/>
                </a:lnTo>
                <a:lnTo>
                  <a:pt x="253472" y="56967"/>
                </a:lnTo>
                <a:lnTo>
                  <a:pt x="328361" y="24963"/>
                </a:lnTo>
                <a:lnTo>
                  <a:pt x="407091" y="5761"/>
                </a:lnTo>
                <a:lnTo>
                  <a:pt x="490941" y="0"/>
                </a:lnTo>
                <a:lnTo>
                  <a:pt x="577992" y="5761"/>
                </a:lnTo>
                <a:lnTo>
                  <a:pt x="669524" y="24323"/>
                </a:lnTo>
                <a:lnTo>
                  <a:pt x="768096" y="64008"/>
                </a:lnTo>
                <a:lnTo>
                  <a:pt x="713049" y="154899"/>
                </a:lnTo>
                <a:lnTo>
                  <a:pt x="650961" y="224668"/>
                </a:lnTo>
                <a:lnTo>
                  <a:pt x="584393" y="281635"/>
                </a:lnTo>
                <a:lnTo>
                  <a:pt x="514624" y="327081"/>
                </a:lnTo>
                <a:lnTo>
                  <a:pt x="439735" y="359085"/>
                </a:lnTo>
                <a:lnTo>
                  <a:pt x="361005" y="378287"/>
                </a:lnTo>
                <a:lnTo>
                  <a:pt x="277155" y="384048"/>
                </a:lnTo>
                <a:lnTo>
                  <a:pt x="190104" y="378287"/>
                </a:lnTo>
                <a:lnTo>
                  <a:pt x="98572" y="359725"/>
                </a:lnTo>
                <a:lnTo>
                  <a:pt x="0" y="320040"/>
                </a:lnTo>
                <a:close/>
              </a:path>
            </a:pathLst>
          </a:custGeom>
          <a:solidFill>
            <a:srgbClr val="8CC46B"/>
          </a:solidFill>
          <a:ln w="15875">
            <a:solidFill>
              <a:srgbClr val="4E8F3A"/>
            </a:solidFill>
            <a:prstDash val="solid"/>
          </a:ln>
        </p:spPr>
      </p:sp>
      <p:sp>
        <p:nvSpPr>
          <p:cNvPr id="7" name="S20-mark263"/>
          <p:cNvSpPr/>
          <p:nvPr/>
        </p:nvSpPr>
        <p:spPr>
          <a:xfrm>
            <a:off x="3025292" y="1765249"/>
            <a:ext cx="409651" cy="409651"/>
          </a:xfrm>
          <a:prstGeom prst="ellipse">
            <a:avLst/>
          </a:prstGeom>
          <a:solidFill>
            <a:srgbClr val="F7B6C8"/>
          </a:solidFill>
          <a:ln w="15875">
            <a:solidFill>
              <a:srgbClr val="C0587A"/>
            </a:solidFill>
            <a:prstDash val="solid"/>
          </a:ln>
        </p:spPr>
      </p:sp>
      <p:sp>
        <p:nvSpPr>
          <p:cNvPr id="8" name="S20-mark264"/>
          <p:cNvSpPr/>
          <p:nvPr/>
        </p:nvSpPr>
        <p:spPr>
          <a:xfrm>
            <a:off x="2782062" y="1941911"/>
            <a:ext cx="409651" cy="409651"/>
          </a:xfrm>
          <a:prstGeom prst="ellipse">
            <a:avLst/>
          </a:prstGeom>
          <a:solidFill>
            <a:srgbClr val="F7B6C8"/>
          </a:solidFill>
          <a:ln w="15875">
            <a:solidFill>
              <a:srgbClr val="C0587A"/>
            </a:solidFill>
            <a:prstDash val="solid"/>
          </a:ln>
        </p:spPr>
      </p:sp>
      <p:sp>
        <p:nvSpPr>
          <p:cNvPr id="9" name="S20-mark265"/>
          <p:cNvSpPr/>
          <p:nvPr/>
        </p:nvSpPr>
        <p:spPr>
          <a:xfrm>
            <a:off x="2874874" y="2228667"/>
            <a:ext cx="409651" cy="409651"/>
          </a:xfrm>
          <a:prstGeom prst="ellipse">
            <a:avLst/>
          </a:prstGeom>
          <a:solidFill>
            <a:srgbClr val="F7B6C8"/>
          </a:solidFill>
          <a:ln w="15875">
            <a:solidFill>
              <a:srgbClr val="C0587A"/>
            </a:solidFill>
            <a:prstDash val="solid"/>
          </a:ln>
        </p:spPr>
      </p:sp>
      <p:sp>
        <p:nvSpPr>
          <p:cNvPr id="10" name="S20-mark266"/>
          <p:cNvSpPr/>
          <p:nvPr/>
        </p:nvSpPr>
        <p:spPr>
          <a:xfrm>
            <a:off x="3175711" y="2228667"/>
            <a:ext cx="409651" cy="409651"/>
          </a:xfrm>
          <a:prstGeom prst="ellipse">
            <a:avLst/>
          </a:prstGeom>
          <a:solidFill>
            <a:srgbClr val="F7B6C8"/>
          </a:solidFill>
          <a:ln w="15875">
            <a:solidFill>
              <a:srgbClr val="C0587A"/>
            </a:solidFill>
            <a:prstDash val="solid"/>
          </a:ln>
        </p:spPr>
      </p:sp>
      <p:sp>
        <p:nvSpPr>
          <p:cNvPr id="11" name="S20-mark267"/>
          <p:cNvSpPr/>
          <p:nvPr/>
        </p:nvSpPr>
        <p:spPr>
          <a:xfrm>
            <a:off x="3268523" y="1941911"/>
            <a:ext cx="409651" cy="409651"/>
          </a:xfrm>
          <a:prstGeom prst="ellipse">
            <a:avLst/>
          </a:prstGeom>
          <a:solidFill>
            <a:srgbClr val="F7B6C8"/>
          </a:solidFill>
          <a:ln w="15875">
            <a:solidFill>
              <a:srgbClr val="C0587A"/>
            </a:solidFill>
            <a:prstDash val="solid"/>
          </a:ln>
        </p:spPr>
      </p:sp>
      <p:sp>
        <p:nvSpPr>
          <p:cNvPr id="12" name="S20-mark268"/>
          <p:cNvSpPr/>
          <p:nvPr/>
        </p:nvSpPr>
        <p:spPr>
          <a:xfrm>
            <a:off x="3102102" y="2098091"/>
            <a:ext cx="256032" cy="256032"/>
          </a:xfrm>
          <a:prstGeom prst="ellipse">
            <a:avLst/>
          </a:prstGeom>
          <a:solidFill>
            <a:srgbClr val="F2C14E"/>
          </a:solidFill>
          <a:ln w="15875">
            <a:solidFill>
              <a:srgbClr val="B08A1E"/>
            </a:solidFill>
            <a:prstDash val="solid"/>
          </a:ln>
        </p:spPr>
      </p:sp>
      <p:sp>
        <p:nvSpPr>
          <p:cNvPr id="13" name="S20-mark269"/>
          <p:cNvSpPr/>
          <p:nvPr/>
        </p:nvSpPr>
        <p:spPr>
          <a:xfrm>
            <a:off x="2398014" y="2802179"/>
            <a:ext cx="384048" cy="384048"/>
          </a:xfrm>
          <a:prstGeom prst="ellipse">
            <a:avLst/>
          </a:prstGeom>
          <a:solidFill>
            <a:srgbClr val="E05A47"/>
          </a:solidFill>
          <a:ln w="15875">
            <a:solidFill>
              <a:srgbClr val="9B2C20"/>
            </a:solidFill>
            <a:prstDash val="solid"/>
          </a:ln>
        </p:spPr>
      </p:sp>
      <p:sp>
        <p:nvSpPr>
          <p:cNvPr id="14" name="S20-mark270"/>
          <p:cNvSpPr/>
          <p:nvPr/>
        </p:nvSpPr>
        <p:spPr>
          <a:xfrm>
            <a:off x="1565910" y="4498391"/>
            <a:ext cx="3328416" cy="0"/>
          </a:xfrm>
          <a:prstGeom prst="line">
            <a:avLst/>
          </a:prstGeom>
          <a:noFill/>
          <a:ln w="25400">
            <a:solidFill>
              <a:srgbClr val="A08560"/>
            </a:solidFill>
            <a:prstDash val="solid"/>
          </a:ln>
        </p:spPr>
      </p:sp>
      <p:sp>
        <p:nvSpPr>
          <p:cNvPr id="15" name="S20-mark271"/>
          <p:cNvSpPr/>
          <p:nvPr/>
        </p:nvSpPr>
        <p:spPr>
          <a:xfrm>
            <a:off x="3230118" y="4498391"/>
            <a:ext cx="0" cy="1088136"/>
          </a:xfrm>
          <a:prstGeom prst="line">
            <a:avLst/>
          </a:prstGeom>
          <a:noFill/>
          <a:ln w="31750">
            <a:solidFill>
              <a:srgbClr val="8B6B4A"/>
            </a:solidFill>
            <a:prstDash val="solid"/>
          </a:ln>
        </p:spPr>
      </p:sp>
      <p:sp>
        <p:nvSpPr>
          <p:cNvPr id="16" name="S20-mark272"/>
          <p:cNvSpPr/>
          <p:nvPr/>
        </p:nvSpPr>
        <p:spPr>
          <a:xfrm flipH="1">
            <a:off x="2654046" y="4722419"/>
            <a:ext cx="576072" cy="512064"/>
          </a:xfrm>
          <a:prstGeom prst="line">
            <a:avLst/>
          </a:prstGeom>
          <a:noFill/>
          <a:ln w="25400">
            <a:solidFill>
              <a:srgbClr val="8B6B4A"/>
            </a:solidFill>
            <a:prstDash val="solid"/>
          </a:ln>
        </p:spPr>
      </p:sp>
      <p:sp>
        <p:nvSpPr>
          <p:cNvPr id="17" name="S20-mark273"/>
          <p:cNvSpPr/>
          <p:nvPr/>
        </p:nvSpPr>
        <p:spPr>
          <a:xfrm>
            <a:off x="3230118" y="4722419"/>
            <a:ext cx="544068" cy="448056"/>
          </a:xfrm>
          <a:prstGeom prst="line">
            <a:avLst/>
          </a:prstGeom>
          <a:noFill/>
          <a:ln w="25400">
            <a:solidFill>
              <a:srgbClr val="8B6B4A"/>
            </a:solidFill>
            <a:prstDash val="solid"/>
          </a:ln>
        </p:spPr>
      </p:sp>
      <p:sp>
        <p:nvSpPr>
          <p:cNvPr id="18" name="S20-mark274"/>
          <p:cNvSpPr/>
          <p:nvPr/>
        </p:nvSpPr>
        <p:spPr>
          <a:xfrm flipH="1">
            <a:off x="2878074" y="5074463"/>
            <a:ext cx="352044" cy="448056"/>
          </a:xfrm>
          <a:prstGeom prst="line">
            <a:avLst/>
          </a:prstGeom>
          <a:noFill/>
          <a:ln w="22225">
            <a:solidFill>
              <a:srgbClr val="8B6B4A"/>
            </a:solidFill>
            <a:prstDash val="solid"/>
          </a:ln>
        </p:spPr>
      </p:sp>
      <p:sp>
        <p:nvSpPr>
          <p:cNvPr id="19" name="S20-mark275"/>
          <p:cNvSpPr/>
          <p:nvPr/>
        </p:nvSpPr>
        <p:spPr>
          <a:xfrm>
            <a:off x="3230118" y="5074463"/>
            <a:ext cx="384048" cy="448056"/>
          </a:xfrm>
          <a:prstGeom prst="line">
            <a:avLst/>
          </a:prstGeom>
          <a:noFill/>
          <a:ln w="22225">
            <a:solidFill>
              <a:srgbClr val="8B6B4A"/>
            </a:solidFill>
            <a:prstDash val="solid"/>
          </a:ln>
        </p:spPr>
      </p:sp>
      <p:sp>
        <p:nvSpPr>
          <p:cNvPr id="20" name="S20-mark276"/>
          <p:cNvSpPr/>
          <p:nvPr/>
        </p:nvSpPr>
        <p:spPr>
          <a:xfrm flipV="1">
            <a:off x="3230118" y="2418131"/>
            <a:ext cx="0" cy="2080260"/>
          </a:xfrm>
          <a:prstGeom prst="line">
            <a:avLst/>
          </a:prstGeom>
          <a:noFill/>
          <a:ln w="50800">
            <a:solidFill>
              <a:srgbClr val="4E8F3A"/>
            </a:solidFill>
            <a:prstDash val="solid"/>
          </a:ln>
        </p:spPr>
      </p:sp>
      <p:sp>
        <p:nvSpPr>
          <p:cNvPr id="21" name="S20-mark277"/>
          <p:cNvSpPr/>
          <p:nvPr/>
        </p:nvSpPr>
        <p:spPr>
          <a:xfrm flipH="1" flipV="1">
            <a:off x="2750058" y="2674163"/>
            <a:ext cx="480060" cy="256032"/>
          </a:xfrm>
          <a:prstGeom prst="line">
            <a:avLst/>
          </a:prstGeom>
          <a:noFill/>
          <a:ln w="31750">
            <a:solidFill>
              <a:srgbClr val="4E8F3A"/>
            </a:solidFill>
            <a:prstDash val="solid"/>
          </a:ln>
        </p:spPr>
      </p:sp>
      <p:sp>
        <p:nvSpPr>
          <p:cNvPr id="22" name="S20-mark278"/>
          <p:cNvSpPr/>
          <p:nvPr/>
        </p:nvSpPr>
        <p:spPr>
          <a:xfrm flipH="1">
            <a:off x="2622042" y="2674163"/>
            <a:ext cx="128016" cy="160020"/>
          </a:xfrm>
          <a:prstGeom prst="line">
            <a:avLst/>
          </a:prstGeom>
          <a:noFill/>
          <a:ln w="25400">
            <a:solidFill>
              <a:srgbClr val="4E8F3A"/>
            </a:solidFill>
            <a:prstDash val="solid"/>
          </a:ln>
        </p:spPr>
      </p:sp>
      <p:sp>
        <p:nvSpPr>
          <p:cNvPr id="23" name="S20-mark279"/>
          <p:cNvSpPr/>
          <p:nvPr/>
        </p:nvSpPr>
        <p:spPr>
          <a:xfrm flipV="1">
            <a:off x="3710178" y="1970075"/>
            <a:ext cx="512064" cy="128016"/>
          </a:xfrm>
          <a:prstGeom prst="line">
            <a:avLst/>
          </a:prstGeom>
          <a:noFill/>
          <a:ln w="15875">
            <a:solidFill>
              <a:srgbClr val="64748B"/>
            </a:solidFill>
            <a:prstDash val="solid"/>
          </a:ln>
        </p:spPr>
      </p:sp>
      <p:sp>
        <p:nvSpPr>
          <p:cNvPr id="24" name="S20-mark280"/>
          <p:cNvSpPr/>
          <p:nvPr/>
        </p:nvSpPr>
        <p:spPr>
          <a:xfrm flipH="1">
            <a:off x="1981962" y="3058211"/>
            <a:ext cx="416052" cy="128016"/>
          </a:xfrm>
          <a:prstGeom prst="line">
            <a:avLst/>
          </a:prstGeom>
          <a:noFill/>
          <a:ln w="15875">
            <a:solidFill>
              <a:srgbClr val="64748B"/>
            </a:solidFill>
            <a:prstDash val="solid"/>
          </a:ln>
        </p:spPr>
      </p:sp>
      <p:sp>
        <p:nvSpPr>
          <p:cNvPr id="25" name="S20-mark281"/>
          <p:cNvSpPr/>
          <p:nvPr/>
        </p:nvSpPr>
        <p:spPr>
          <a:xfrm>
            <a:off x="4030218" y="3026207"/>
            <a:ext cx="416052" cy="192024"/>
          </a:xfrm>
          <a:prstGeom prst="line">
            <a:avLst/>
          </a:prstGeom>
          <a:noFill/>
          <a:ln w="15875">
            <a:solidFill>
              <a:srgbClr val="64748B"/>
            </a:solidFill>
            <a:prstDash val="solid"/>
          </a:ln>
        </p:spPr>
      </p:sp>
      <p:sp>
        <p:nvSpPr>
          <p:cNvPr id="26" name="S20-mark282"/>
          <p:cNvSpPr/>
          <p:nvPr/>
        </p:nvSpPr>
        <p:spPr>
          <a:xfrm>
            <a:off x="3281324" y="3602279"/>
            <a:ext cx="1196950" cy="128016"/>
          </a:xfrm>
          <a:prstGeom prst="line">
            <a:avLst/>
          </a:prstGeom>
          <a:noFill/>
          <a:ln w="15875">
            <a:solidFill>
              <a:srgbClr val="64748B"/>
            </a:solidFill>
            <a:prstDash val="solid"/>
          </a:ln>
        </p:spPr>
      </p:sp>
      <p:sp>
        <p:nvSpPr>
          <p:cNvPr id="27" name="S20-mark283"/>
          <p:cNvSpPr/>
          <p:nvPr/>
        </p:nvSpPr>
        <p:spPr>
          <a:xfrm>
            <a:off x="3774186" y="5170475"/>
            <a:ext cx="576072" cy="128016"/>
          </a:xfrm>
          <a:prstGeom prst="line">
            <a:avLst/>
          </a:prstGeom>
          <a:noFill/>
          <a:ln w="15875">
            <a:solidFill>
              <a:srgbClr val="64748B"/>
            </a:solidFill>
            <a:prstDash val="solid"/>
          </a:ln>
        </p:spPr>
      </p:sp>
      <p:sp>
        <p:nvSpPr>
          <p:cNvPr id="28" name="S20-label285"/>
          <p:cNvSpPr txBox="1"/>
          <p:nvPr/>
        </p:nvSpPr>
        <p:spPr>
          <a:xfrm>
            <a:off x="4350512" y="1795450"/>
            <a:ext cx="383540"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꽃</a:t>
            </a:r>
            <a:endParaRPr lang="ko-KR" sz="2200" dirty="0"/>
          </a:p>
        </p:txBody>
      </p:sp>
      <p:sp>
        <p:nvSpPr>
          <p:cNvPr id="29" name="S20-label287"/>
          <p:cNvSpPr txBox="1"/>
          <p:nvPr/>
        </p:nvSpPr>
        <p:spPr>
          <a:xfrm>
            <a:off x="1269238" y="3011602"/>
            <a:ext cx="657352"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열매</a:t>
            </a:r>
            <a:endParaRPr lang="ko-KR" sz="2200" dirty="0"/>
          </a:p>
        </p:txBody>
      </p:sp>
      <p:sp>
        <p:nvSpPr>
          <p:cNvPr id="30" name="S20-label289"/>
          <p:cNvSpPr txBox="1"/>
          <p:nvPr/>
        </p:nvSpPr>
        <p:spPr>
          <a:xfrm>
            <a:off x="4542536" y="3043606"/>
            <a:ext cx="383540"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잎</a:t>
            </a:r>
            <a:endParaRPr lang="ko-KR" sz="2200" dirty="0"/>
          </a:p>
        </p:txBody>
      </p:sp>
      <p:sp>
        <p:nvSpPr>
          <p:cNvPr id="31" name="S20-label291"/>
          <p:cNvSpPr txBox="1"/>
          <p:nvPr/>
        </p:nvSpPr>
        <p:spPr>
          <a:xfrm>
            <a:off x="4501642" y="3555670"/>
            <a:ext cx="657352"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줄기</a:t>
            </a:r>
            <a:endParaRPr lang="ko-KR" sz="2200" dirty="0"/>
          </a:p>
        </p:txBody>
      </p:sp>
      <p:sp>
        <p:nvSpPr>
          <p:cNvPr id="32" name="S20-label293"/>
          <p:cNvSpPr txBox="1"/>
          <p:nvPr/>
        </p:nvSpPr>
        <p:spPr>
          <a:xfrm>
            <a:off x="4373626" y="5123866"/>
            <a:ext cx="657352" cy="349250"/>
          </a:xfrm>
          <a:prstGeom prst="rect">
            <a:avLst/>
          </a:prstGeom>
          <a:noFill/>
          <a:ln/>
        </p:spPr>
        <p:txBody>
          <a:bodyPr wrap="square" lIns="0" tIns="0" rIns="0" bIns="0" rtlCol="0" anchor="ctr"/>
          <a:lstStyle/>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뿌리</a:t>
            </a:r>
            <a:endParaRPr lang="ko-KR" sz="2200" dirty="0"/>
          </a:p>
        </p:txBody>
      </p:sp>
      <p:sp>
        <p:nvSpPr>
          <p:cNvPr id="33" name="S20-card294"/>
          <p:cNvSpPr/>
          <p:nvPr/>
        </p:nvSpPr>
        <p:spPr>
          <a:xfrm>
            <a:off x="6277356" y="1531112"/>
            <a:ext cx="5362956" cy="1630680"/>
          </a:xfrm>
          <a:prstGeom prst="roundRect">
            <a:avLst>
              <a:gd name="adj" fmla="val 6729"/>
            </a:avLst>
          </a:prstGeom>
          <a:solidFill>
            <a:srgbClr val="EAF3F1"/>
          </a:solidFill>
          <a:ln w="12700">
            <a:solidFill>
              <a:srgbClr val="EAF3F1"/>
            </a:solidFill>
            <a:prstDash val="solid"/>
          </a:ln>
        </p:spPr>
      </p:sp>
      <p:sp>
        <p:nvSpPr>
          <p:cNvPr id="34" name="S20-cardtext295"/>
          <p:cNvSpPr txBox="1"/>
          <p:nvPr/>
        </p:nvSpPr>
        <p:spPr>
          <a:xfrm>
            <a:off x="6551676" y="1668272"/>
            <a:ext cx="4814316" cy="1356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땅속에 뿌리, 땅 위에</a:t>
            </a:r>
            <a:endParaRPr lang="ko-KR" sz="2800" dirty="0"/>
          </a:p>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줄기·잎·꽃·열매가 있어요.</a:t>
            </a:r>
            <a:endParaRPr lang="ko-KR" sz="2800" dirty="0"/>
          </a:p>
        </p:txBody>
      </p:sp>
      <p:sp>
        <p:nvSpPr>
          <p:cNvPr id="35" name="S20-card296"/>
          <p:cNvSpPr/>
          <p:nvPr/>
        </p:nvSpPr>
        <p:spPr>
          <a:xfrm>
            <a:off x="6277356" y="3390392"/>
            <a:ext cx="5362956" cy="1196848"/>
          </a:xfrm>
          <a:prstGeom prst="roundRect">
            <a:avLst>
              <a:gd name="adj" fmla="val 9168"/>
            </a:avLst>
          </a:prstGeom>
          <a:solidFill>
            <a:srgbClr val="EAF3F1"/>
          </a:solidFill>
          <a:ln w="12700">
            <a:solidFill>
              <a:srgbClr val="EAF3F1"/>
            </a:solidFill>
            <a:prstDash val="solid"/>
          </a:ln>
        </p:spPr>
      </p:sp>
      <p:sp>
        <p:nvSpPr>
          <p:cNvPr id="36" name="S20-cardtext297"/>
          <p:cNvSpPr txBox="1"/>
          <p:nvPr/>
        </p:nvSpPr>
        <p:spPr>
          <a:xfrm>
            <a:off x="6551676" y="3527552"/>
            <a:ext cx="4814316" cy="922528"/>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꽃이 지면 열매가 맺히고,</a:t>
            </a:r>
            <a:endParaRPr lang="ko-KR" sz="2800" dirty="0"/>
          </a:p>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열매 속에 씨가 생겨요.</a:t>
            </a:r>
            <a:endParaRPr lang="ko-KR" sz="2800" dirty="0"/>
          </a:p>
        </p:txBody>
      </p:sp>
      <p:sp>
        <p:nvSpPr>
          <p:cNvPr id="37" name="S20-card298"/>
          <p:cNvSpPr/>
          <p:nvPr/>
        </p:nvSpPr>
        <p:spPr>
          <a:xfrm>
            <a:off x="6277356" y="4815840"/>
            <a:ext cx="5362956" cy="1196848"/>
          </a:xfrm>
          <a:prstGeom prst="roundRect">
            <a:avLst>
              <a:gd name="adj" fmla="val 9168"/>
            </a:avLst>
          </a:prstGeom>
          <a:solidFill>
            <a:srgbClr val="EAF3F1"/>
          </a:solidFill>
          <a:ln w="12700">
            <a:solidFill>
              <a:srgbClr val="EAF3F1"/>
            </a:solidFill>
            <a:prstDash val="solid"/>
          </a:ln>
        </p:spPr>
      </p:sp>
      <p:sp>
        <p:nvSpPr>
          <p:cNvPr id="38" name="S20-cardtext299"/>
          <p:cNvSpPr txBox="1"/>
          <p:nvPr/>
        </p:nvSpPr>
        <p:spPr>
          <a:xfrm>
            <a:off x="6551676" y="4953000"/>
            <a:ext cx="4814316" cy="922528"/>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강낭콩: 씨 → 싹 → 잎·줄기</a:t>
            </a:r>
            <a:endParaRPr lang="ko-KR" sz="2800" dirty="0"/>
          </a:p>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 꽃 → 열매</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초6 과학 식물의 구조와 기능</dc:title>
  <dc:subject>KR22-G06-SCI-PLANTPART-L01</dc:subject>
  <dc:creator>education-ppt</dc:creator>
  <cp:lastModifiedBy>education-ppt</cp:lastModifiedBy>
  <cp:revision>1</cp:revision>
  <dcterms:created xsi:type="dcterms:W3CDTF">2026-10-26T13:48:05Z</dcterms:created>
  <dcterms:modified xsi:type="dcterms:W3CDTF">2026-10-26T13:48:05Z</dcterms:modified>
</cp:coreProperties>
</file>