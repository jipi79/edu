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24c2251-b55a-4cd0-f548-50b2d939fab5}">
          <p14:sldIdLst>
            <p14:sldId id="256"/>
            <p14:sldId id="257"/>
          </p14:sldIdLst>
        </p14:section>
        <p14:section name="연습" id="{27416dee-1d1f-303e-8a20-ed0e267bfdf3}">
          <p14:sldIdLst>
            <p14:sldId id="258"/>
            <p14:sldId id="259"/>
            <p14:sldId id="260"/>
            <p14:sldId id="262"/>
            <p14:sldId id="265"/>
            <p14:sldId id="266"/>
            <p14:sldId id="267"/>
            <p14:sldId id="269"/>
          </p14:sldIdLst>
        </p14:section>
        <p14:section name="개념" id="{17a79bac-eaba-f1de-57ac-faf74094d3ca}">
          <p14:sldIdLst>
            <p14:sldId id="261"/>
            <p14:sldId id="263"/>
            <p14:sldId id="264"/>
            <p14:sldId id="268"/>
          </p14:sldIdLst>
        </p14:section>
        <p14:section name="연습" id="{1d0d7323-dc24-c34c-9813-ae11056fe4cf}">
          <p14:sldIdLst/>
        </p14:section>
        <p14:section name="개념" id="{460c63a8-002b-e5f8-b6e9-c56faf35ca1b}">
          <p14:sldIdLst/>
        </p14:section>
        <p14:section name="연습" id="{5b1704b8-ee3d-71da-a3d0-0eda3456c703}">
          <p14:sldIdLst/>
        </p14:section>
        <p14:section name="개념" id="{3176a12a-789f-34b9-eaf8-bcd179fa89fb}">
          <p14:sldIdLst/>
        </p14:section>
        <p14:section name="연습" id="{fd0c5d5c-c04e-29df-65ac-966d77a7f1d4}">
          <p14:sldIdLst/>
        </p14:section>
        <p14:section name="확인" id="{530c17ab-497b-a5ba-99eb-f58181023a87}">
          <p14:sldIdLst>
            <p14:sldId id="270"/>
            <p14:sldId id="271"/>
          </p14:sldIdLst>
        </p14:section>
        <p14:section name="정리" id="{ad7076b0-bcb9-3e27-defc-600b6f99061f}">
          <p14:sldIdLst>
            <p14:sldId id="272"/>
          </p14:sldIdLst>
        </p14:section>
        <p14:section name="보충" id="{c0837c18-06de-7363-801a-6362f27f0e5e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식물과전기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전기 회로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전기 회로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과학 · 전기 회로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회로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어떻게 이으면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밝게 켜질까?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전지 끼우개와 전선 두 개로 이어 불이 켜진 꼬마전구"/>
          <p:cNvSpPr/>
          <p:nvPr/>
        </p:nvSpPr>
        <p:spPr>
          <a:xfrm>
            <a:off x="10629854" y="1482873"/>
            <a:ext cx="705888" cy="705888"/>
          </a:xfrm>
          <a:prstGeom prst="ellipse">
            <a:avLst/>
          </a:prstGeom>
          <a:solidFill>
            <a:srgbClr val="FFE27A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80008" y="1991527"/>
            <a:ext cx="1764720" cy="467132"/>
          </a:xfrm>
          <a:custGeom>
            <a:avLst/>
            <a:gdLst/>
            <a:ahLst/>
            <a:cxnLst/>
            <a:rect l="l" t="t" r="r" b="b"/>
            <a:pathLst>
              <a:path w="1764720" h="467132">
                <a:moveTo>
                  <a:pt x="0" y="467132"/>
                </a:moveTo>
                <a:lnTo>
                  <a:pt x="1764720" y="467132"/>
                </a:lnTo>
                <a:lnTo>
                  <a:pt x="1764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257863" y="2069383"/>
            <a:ext cx="752601" cy="311421"/>
          </a:xfrm>
          <a:custGeom>
            <a:avLst/>
            <a:gdLst/>
            <a:ahLst/>
            <a:cxnLst/>
            <a:rect l="l" t="t" r="r" b="b"/>
            <a:pathLst>
              <a:path w="752601" h="311421">
                <a:moveTo>
                  <a:pt x="0" y="311421"/>
                </a:moveTo>
                <a:lnTo>
                  <a:pt x="752601" y="311421"/>
                </a:lnTo>
                <a:lnTo>
                  <a:pt x="7526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114272" y="2069383"/>
            <a:ext cx="752601" cy="311421"/>
          </a:xfrm>
          <a:custGeom>
            <a:avLst/>
            <a:gdLst/>
            <a:ahLst/>
            <a:cxnLst/>
            <a:rect l="l" t="t" r="r" b="b"/>
            <a:pathLst>
              <a:path w="752601" h="311421">
                <a:moveTo>
                  <a:pt x="0" y="311421"/>
                </a:moveTo>
                <a:lnTo>
                  <a:pt x="752601" y="311421"/>
                </a:lnTo>
                <a:lnTo>
                  <a:pt x="7526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102153" y="2147238"/>
            <a:ext cx="77855" cy="155711"/>
          </a:xfrm>
          <a:custGeom>
            <a:avLst/>
            <a:gdLst/>
            <a:ahLst/>
            <a:cxnLst/>
            <a:rect l="l" t="t" r="r" b="b"/>
            <a:pathLst>
              <a:path w="77855" h="155711">
                <a:moveTo>
                  <a:pt x="0" y="155711"/>
                </a:moveTo>
                <a:lnTo>
                  <a:pt x="77855" y="155711"/>
                </a:lnTo>
                <a:lnTo>
                  <a:pt x="7785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944728" y="2147238"/>
            <a:ext cx="77855" cy="155711"/>
          </a:xfrm>
          <a:custGeom>
            <a:avLst/>
            <a:gdLst/>
            <a:ahLst/>
            <a:cxnLst/>
            <a:rect l="l" t="t" r="r" b="b"/>
            <a:pathLst>
              <a:path w="77855" h="155711">
                <a:moveTo>
                  <a:pt x="0" y="155711"/>
                </a:moveTo>
                <a:lnTo>
                  <a:pt x="77855" y="155711"/>
                </a:lnTo>
                <a:lnTo>
                  <a:pt x="7785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941276" y="2650702"/>
            <a:ext cx="83046" cy="93426"/>
          </a:xfrm>
          <a:custGeom>
            <a:avLst/>
            <a:gdLst/>
            <a:ahLst/>
            <a:cxnLst/>
            <a:rect l="l" t="t" r="r" b="b"/>
            <a:pathLst>
              <a:path w="83046" h="93426">
                <a:moveTo>
                  <a:pt x="0" y="93426"/>
                </a:moveTo>
                <a:lnTo>
                  <a:pt x="83046" y="93426"/>
                </a:lnTo>
                <a:lnTo>
                  <a:pt x="830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868611" y="2562466"/>
            <a:ext cx="228375" cy="88236"/>
          </a:xfrm>
          <a:custGeom>
            <a:avLst/>
            <a:gdLst/>
            <a:ahLst/>
            <a:cxnLst/>
            <a:rect l="l" t="t" r="r" b="b"/>
            <a:pathLst>
              <a:path w="228375" h="88236">
                <a:moveTo>
                  <a:pt x="0" y="88236"/>
                </a:moveTo>
                <a:lnTo>
                  <a:pt x="228375" y="88236"/>
                </a:lnTo>
                <a:lnTo>
                  <a:pt x="228375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801136" y="2199142"/>
            <a:ext cx="363325" cy="363325"/>
          </a:xfrm>
          <a:custGeom>
            <a:avLst/>
            <a:gdLst/>
            <a:ahLst/>
            <a:cxnLst/>
            <a:rect l="l" t="t" r="r" b="b"/>
            <a:pathLst>
              <a:path w="363325" h="363325">
                <a:moveTo>
                  <a:pt x="0" y="363325"/>
                </a:moveTo>
                <a:lnTo>
                  <a:pt x="363325" y="363325"/>
                </a:lnTo>
                <a:lnTo>
                  <a:pt x="363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10022583" y="2225093"/>
            <a:ext cx="285469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308053" y="2225093"/>
            <a:ext cx="0" cy="726649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308053" y="2951743"/>
            <a:ext cx="674746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0982798" y="2744129"/>
            <a:ext cx="0" cy="207614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H="1">
            <a:off x="7764780" y="2225093"/>
            <a:ext cx="337373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7764780" y="1680106"/>
            <a:ext cx="0" cy="544987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7764780" y="1680106"/>
            <a:ext cx="2673031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10437811" y="1680106"/>
            <a:ext cx="0" cy="70069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10437811" y="2380804"/>
            <a:ext cx="36332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10801136" y="2458659"/>
            <a:ext cx="36332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10801136" y="2354852"/>
            <a:ext cx="36332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10801136" y="2251045"/>
            <a:ext cx="36332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 flipV="1">
            <a:off x="10920514" y="1913672"/>
            <a:ext cx="0" cy="285469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 flipV="1">
            <a:off x="11045083" y="1913672"/>
            <a:ext cx="0" cy="285469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>
            <a:off x="10920514" y="1913672"/>
            <a:ext cx="124568" cy="0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29" name="S01-mark26"/>
          <p:cNvSpPr/>
          <p:nvPr/>
        </p:nvSpPr>
        <p:spPr>
          <a:xfrm flipV="1">
            <a:off x="11382740" y="1636994"/>
            <a:ext cx="146320" cy="53256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0" name="S01-mark27"/>
          <p:cNvSpPr/>
          <p:nvPr/>
        </p:nvSpPr>
        <p:spPr>
          <a:xfrm flipV="1">
            <a:off x="11226918" y="1359628"/>
            <a:ext cx="89312" cy="127551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1" name="S01-mark28"/>
          <p:cNvSpPr/>
          <p:nvPr/>
        </p:nvSpPr>
        <p:spPr>
          <a:xfrm flipV="1">
            <a:off x="10982798" y="1254497"/>
            <a:ext cx="0" cy="155711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2" name="S01-mark29"/>
          <p:cNvSpPr/>
          <p:nvPr/>
        </p:nvSpPr>
        <p:spPr>
          <a:xfrm flipH="1" flipV="1">
            <a:off x="10649367" y="1359628"/>
            <a:ext cx="89312" cy="127551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3" name="S01-mark30"/>
          <p:cNvSpPr/>
          <p:nvPr/>
        </p:nvSpPr>
        <p:spPr>
          <a:xfrm flipH="1" flipV="1">
            <a:off x="10436537" y="1636994"/>
            <a:ext cx="146320" cy="53256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4" name="S01-label32"/>
          <p:cNvSpPr txBox="1"/>
          <p:nvPr/>
        </p:nvSpPr>
        <p:spPr>
          <a:xfrm>
            <a:off x="7832904" y="1739047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35" name="S01-label34"/>
          <p:cNvSpPr txBox="1"/>
          <p:nvPr/>
        </p:nvSpPr>
        <p:spPr>
          <a:xfrm>
            <a:off x="10064756" y="1739047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36" name="S01-card3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7" name="S01-cardtext3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전구에 불이 켜지는 조건을 찾아 전기 회로를 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전구의 직렬연결과 병렬연결의 밝기를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컵은 물체예요. 컵을 만든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유리는 무엇이라고 하나요?</a:t>
            </a:r>
            <a:endParaRPr lang="ko-KR" sz="2800" dirty="0"/>
          </a:p>
        </p:txBody>
      </p:sp>
      <p:sp>
        <p:nvSpPr>
          <p:cNvPr id="5" name="S02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4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전선 속의 반짝이는 선은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물질로 만들었을까요?</a:t>
            </a:r>
            <a:endParaRPr lang="ko-KR" sz="2800" dirty="0"/>
          </a:p>
        </p:txBody>
      </p:sp>
      <p:sp>
        <p:nvSpPr>
          <p:cNvPr id="7" name="S02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4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전선 겉을 감싼 말랑한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껍질은 어떤 물질일까요?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켜질까요?</a:t>
            </a:r>
            <a:endParaRPr lang="ko-KR" sz="4000" dirty="0"/>
          </a:p>
        </p:txBody>
      </p:sp>
      <p:sp>
        <p:nvSpPr>
          <p:cNvPr id="3" name="S03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켜질지 예상해 활동지 1에 ○, ×로 써요.</a:t>
            </a:r>
            <a:endParaRPr lang="ko-KR" sz="2800" dirty="0"/>
          </a:p>
        </p:txBody>
      </p:sp>
      <p:sp>
        <p:nvSpPr>
          <p:cNvPr id="5" name="S03-chip4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3-figure46" descr="전지 끼우개의 +극 전선은 전구의 꼭지(아래 끝)에, −극 전선은 꼭지쇠(옆의 금속)에 이은 그림"/>
          <p:cNvSpPr/>
          <p:nvPr/>
        </p:nvSpPr>
        <p:spPr>
          <a:xfrm>
            <a:off x="4680722" y="149975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7" name="S03-mark47"/>
          <p:cNvSpPr/>
          <p:nvPr/>
        </p:nvSpPr>
        <p:spPr>
          <a:xfrm>
            <a:off x="2220620" y="201053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48"/>
          <p:cNvSpPr/>
          <p:nvPr/>
        </p:nvSpPr>
        <p:spPr>
          <a:xfrm>
            <a:off x="2298802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03-mark49"/>
          <p:cNvSpPr/>
          <p:nvPr/>
        </p:nvSpPr>
        <p:spPr>
          <a:xfrm>
            <a:off x="3158795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03-mark50"/>
          <p:cNvSpPr/>
          <p:nvPr/>
        </p:nvSpPr>
        <p:spPr>
          <a:xfrm>
            <a:off x="2142439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mark51"/>
          <p:cNvSpPr/>
          <p:nvPr/>
        </p:nvSpPr>
        <p:spPr>
          <a:xfrm>
            <a:off x="3992728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52"/>
          <p:cNvSpPr/>
          <p:nvPr/>
        </p:nvSpPr>
        <p:spPr>
          <a:xfrm>
            <a:off x="4993447" y="267247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mark53"/>
          <p:cNvSpPr/>
          <p:nvPr/>
        </p:nvSpPr>
        <p:spPr>
          <a:xfrm>
            <a:off x="4920478" y="258386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mark54"/>
          <p:cNvSpPr/>
          <p:nvPr/>
        </p:nvSpPr>
        <p:spPr>
          <a:xfrm>
            <a:off x="4852721" y="221902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3-mark55"/>
          <p:cNvSpPr/>
          <p:nvPr/>
        </p:nvSpPr>
        <p:spPr>
          <a:xfrm>
            <a:off x="4070909" y="2245081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6" name="S03-mark56"/>
          <p:cNvSpPr/>
          <p:nvPr/>
        </p:nvSpPr>
        <p:spPr>
          <a:xfrm>
            <a:off x="4357573" y="2245081"/>
            <a:ext cx="0" cy="72969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7" name="S03-mark57"/>
          <p:cNvSpPr/>
          <p:nvPr/>
        </p:nvSpPr>
        <p:spPr>
          <a:xfrm>
            <a:off x="4357573" y="2974772"/>
            <a:ext cx="677570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8" name="S03-mark58"/>
          <p:cNvSpPr/>
          <p:nvPr/>
        </p:nvSpPr>
        <p:spPr>
          <a:xfrm flipV="1">
            <a:off x="5035144" y="2766289"/>
            <a:ext cx="0" cy="208483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9" name="S03-mark59"/>
          <p:cNvSpPr/>
          <p:nvPr/>
        </p:nvSpPr>
        <p:spPr>
          <a:xfrm flipH="1">
            <a:off x="1803654" y="224508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0" name="S03-mark60"/>
          <p:cNvSpPr/>
          <p:nvPr/>
        </p:nvSpPr>
        <p:spPr>
          <a:xfrm flipV="1">
            <a:off x="1803654" y="1697812"/>
            <a:ext cx="0" cy="54726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1" name="S03-mark61"/>
          <p:cNvSpPr/>
          <p:nvPr/>
        </p:nvSpPr>
        <p:spPr>
          <a:xfrm>
            <a:off x="1803654" y="1697812"/>
            <a:ext cx="2684221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2" name="S03-mark62"/>
          <p:cNvSpPr/>
          <p:nvPr/>
        </p:nvSpPr>
        <p:spPr>
          <a:xfrm>
            <a:off x="4487875" y="1697812"/>
            <a:ext cx="0" cy="70363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3" name="S03-mark63"/>
          <p:cNvSpPr/>
          <p:nvPr/>
        </p:nvSpPr>
        <p:spPr>
          <a:xfrm>
            <a:off x="4487875" y="2401443"/>
            <a:ext cx="364846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4" name="S03-mark64"/>
          <p:cNvSpPr/>
          <p:nvPr/>
        </p:nvSpPr>
        <p:spPr>
          <a:xfrm>
            <a:off x="4852721" y="247962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03-mark65"/>
          <p:cNvSpPr/>
          <p:nvPr/>
        </p:nvSpPr>
        <p:spPr>
          <a:xfrm>
            <a:off x="4852721" y="237538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03-mark66"/>
          <p:cNvSpPr/>
          <p:nvPr/>
        </p:nvSpPr>
        <p:spPr>
          <a:xfrm>
            <a:off x="4852721" y="227114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03-mark67"/>
          <p:cNvSpPr/>
          <p:nvPr/>
        </p:nvSpPr>
        <p:spPr>
          <a:xfrm flipV="1">
            <a:off x="4972599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03-mark68"/>
          <p:cNvSpPr/>
          <p:nvPr/>
        </p:nvSpPr>
        <p:spPr>
          <a:xfrm flipV="1">
            <a:off x="5097689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03-mark69"/>
          <p:cNvSpPr/>
          <p:nvPr/>
        </p:nvSpPr>
        <p:spPr>
          <a:xfrm>
            <a:off x="4972599" y="193235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0" name="S03-label71"/>
          <p:cNvSpPr txBox="1"/>
          <p:nvPr/>
        </p:nvSpPr>
        <p:spPr>
          <a:xfrm>
            <a:off x="1872539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31" name="S03-label73"/>
          <p:cNvSpPr txBox="1"/>
          <p:nvPr/>
        </p:nvSpPr>
        <p:spPr>
          <a:xfrm>
            <a:off x="4113733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32" name="S03-chip74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3" name="S03-figure75" descr="전지 끼우개의 +극 전선은 전구의 꼭지에 이었고, −극 전선은 전구에 닿지 않고 끝이 떨어져 있는 그림"/>
          <p:cNvSpPr/>
          <p:nvPr/>
        </p:nvSpPr>
        <p:spPr>
          <a:xfrm>
            <a:off x="10409438" y="149975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34" name="S03-mark76"/>
          <p:cNvSpPr/>
          <p:nvPr/>
        </p:nvSpPr>
        <p:spPr>
          <a:xfrm>
            <a:off x="7949336" y="201053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mark77"/>
          <p:cNvSpPr/>
          <p:nvPr/>
        </p:nvSpPr>
        <p:spPr>
          <a:xfrm>
            <a:off x="8027518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03-mark78"/>
          <p:cNvSpPr/>
          <p:nvPr/>
        </p:nvSpPr>
        <p:spPr>
          <a:xfrm>
            <a:off x="8887511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03-mark79"/>
          <p:cNvSpPr/>
          <p:nvPr/>
        </p:nvSpPr>
        <p:spPr>
          <a:xfrm>
            <a:off x="7871155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3-mark80"/>
          <p:cNvSpPr/>
          <p:nvPr/>
        </p:nvSpPr>
        <p:spPr>
          <a:xfrm>
            <a:off x="9721444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3-mark81"/>
          <p:cNvSpPr/>
          <p:nvPr/>
        </p:nvSpPr>
        <p:spPr>
          <a:xfrm>
            <a:off x="10722163" y="267247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3-mark82"/>
          <p:cNvSpPr/>
          <p:nvPr/>
        </p:nvSpPr>
        <p:spPr>
          <a:xfrm>
            <a:off x="10649194" y="258386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3-mark83"/>
          <p:cNvSpPr/>
          <p:nvPr/>
        </p:nvSpPr>
        <p:spPr>
          <a:xfrm>
            <a:off x="10581437" y="221902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2" name="S03-mark84"/>
          <p:cNvSpPr/>
          <p:nvPr/>
        </p:nvSpPr>
        <p:spPr>
          <a:xfrm>
            <a:off x="9565081" y="1645691"/>
            <a:ext cx="104242" cy="1042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43" name="S03-mark85"/>
          <p:cNvSpPr/>
          <p:nvPr/>
        </p:nvSpPr>
        <p:spPr>
          <a:xfrm>
            <a:off x="9799625" y="2245081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4" name="S03-mark86"/>
          <p:cNvSpPr/>
          <p:nvPr/>
        </p:nvSpPr>
        <p:spPr>
          <a:xfrm>
            <a:off x="10086289" y="2245081"/>
            <a:ext cx="0" cy="72969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5" name="S03-mark87"/>
          <p:cNvSpPr/>
          <p:nvPr/>
        </p:nvSpPr>
        <p:spPr>
          <a:xfrm>
            <a:off x="10086289" y="2974772"/>
            <a:ext cx="677570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6" name="S03-mark88"/>
          <p:cNvSpPr/>
          <p:nvPr/>
        </p:nvSpPr>
        <p:spPr>
          <a:xfrm flipV="1">
            <a:off x="10763860" y="2766289"/>
            <a:ext cx="0" cy="208483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7" name="S03-mark89"/>
          <p:cNvSpPr/>
          <p:nvPr/>
        </p:nvSpPr>
        <p:spPr>
          <a:xfrm flipH="1">
            <a:off x="7532370" y="224508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48" name="S03-mark90"/>
          <p:cNvSpPr/>
          <p:nvPr/>
        </p:nvSpPr>
        <p:spPr>
          <a:xfrm flipV="1">
            <a:off x="7532370" y="1697812"/>
            <a:ext cx="0" cy="54726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49" name="S03-mark91"/>
          <p:cNvSpPr/>
          <p:nvPr/>
        </p:nvSpPr>
        <p:spPr>
          <a:xfrm>
            <a:off x="7532370" y="1697812"/>
            <a:ext cx="2084832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50" name="S03-mark92"/>
          <p:cNvSpPr/>
          <p:nvPr/>
        </p:nvSpPr>
        <p:spPr>
          <a:xfrm>
            <a:off x="10581437" y="247962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1" name="S03-mark93"/>
          <p:cNvSpPr/>
          <p:nvPr/>
        </p:nvSpPr>
        <p:spPr>
          <a:xfrm>
            <a:off x="10581437" y="237538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2" name="S03-mark94"/>
          <p:cNvSpPr/>
          <p:nvPr/>
        </p:nvSpPr>
        <p:spPr>
          <a:xfrm>
            <a:off x="10581437" y="227114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3" name="S03-mark95"/>
          <p:cNvSpPr/>
          <p:nvPr/>
        </p:nvSpPr>
        <p:spPr>
          <a:xfrm flipV="1">
            <a:off x="10701315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4" name="S03-mark96"/>
          <p:cNvSpPr/>
          <p:nvPr/>
        </p:nvSpPr>
        <p:spPr>
          <a:xfrm flipV="1">
            <a:off x="10826405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5" name="S03-mark97"/>
          <p:cNvSpPr/>
          <p:nvPr/>
        </p:nvSpPr>
        <p:spPr>
          <a:xfrm>
            <a:off x="10701315" y="193235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56" name="S03-label99"/>
          <p:cNvSpPr txBox="1"/>
          <p:nvPr/>
        </p:nvSpPr>
        <p:spPr>
          <a:xfrm>
            <a:off x="7601255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57" name="S03-label101"/>
          <p:cNvSpPr txBox="1"/>
          <p:nvPr/>
        </p:nvSpPr>
        <p:spPr>
          <a:xfrm>
            <a:off x="9842449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58" name="S03-chip10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59" name="S03-figure103" descr="전지 끼우개의 +극 전선은 전구의 꼭지쇠에, −극 전선은 전구의 꼭지에 이은 그림"/>
          <p:cNvSpPr/>
          <p:nvPr/>
        </p:nvSpPr>
        <p:spPr>
          <a:xfrm>
            <a:off x="4680722" y="353429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60" name="S03-mark104"/>
          <p:cNvSpPr/>
          <p:nvPr/>
        </p:nvSpPr>
        <p:spPr>
          <a:xfrm>
            <a:off x="2220620" y="404507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mark105"/>
          <p:cNvSpPr/>
          <p:nvPr/>
        </p:nvSpPr>
        <p:spPr>
          <a:xfrm>
            <a:off x="2298802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S03-mark106"/>
          <p:cNvSpPr/>
          <p:nvPr/>
        </p:nvSpPr>
        <p:spPr>
          <a:xfrm>
            <a:off x="3158795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03-mark107"/>
          <p:cNvSpPr/>
          <p:nvPr/>
        </p:nvSpPr>
        <p:spPr>
          <a:xfrm>
            <a:off x="2142439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3-mark108"/>
          <p:cNvSpPr/>
          <p:nvPr/>
        </p:nvSpPr>
        <p:spPr>
          <a:xfrm>
            <a:off x="3992728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3-mark109"/>
          <p:cNvSpPr/>
          <p:nvPr/>
        </p:nvSpPr>
        <p:spPr>
          <a:xfrm>
            <a:off x="4993447" y="470701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3-mark110"/>
          <p:cNvSpPr/>
          <p:nvPr/>
        </p:nvSpPr>
        <p:spPr>
          <a:xfrm>
            <a:off x="4920478" y="461840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3-mark111"/>
          <p:cNvSpPr/>
          <p:nvPr/>
        </p:nvSpPr>
        <p:spPr>
          <a:xfrm>
            <a:off x="4852721" y="425356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8" name="S03-mark112"/>
          <p:cNvSpPr/>
          <p:nvPr/>
        </p:nvSpPr>
        <p:spPr>
          <a:xfrm>
            <a:off x="4070909" y="4279621"/>
            <a:ext cx="495148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69" name="S03-mark113"/>
          <p:cNvSpPr/>
          <p:nvPr/>
        </p:nvSpPr>
        <p:spPr>
          <a:xfrm>
            <a:off x="4566056" y="4279621"/>
            <a:ext cx="0" cy="156362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70" name="S03-mark114"/>
          <p:cNvSpPr/>
          <p:nvPr/>
        </p:nvSpPr>
        <p:spPr>
          <a:xfrm>
            <a:off x="4566056" y="4435983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71" name="S03-mark115"/>
          <p:cNvSpPr/>
          <p:nvPr/>
        </p:nvSpPr>
        <p:spPr>
          <a:xfrm flipH="1">
            <a:off x="1803654" y="427962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2" name="S03-mark116"/>
          <p:cNvSpPr/>
          <p:nvPr/>
        </p:nvSpPr>
        <p:spPr>
          <a:xfrm>
            <a:off x="1803654" y="4279621"/>
            <a:ext cx="0" cy="72969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3" name="S03-mark117"/>
          <p:cNvSpPr/>
          <p:nvPr/>
        </p:nvSpPr>
        <p:spPr>
          <a:xfrm>
            <a:off x="1803654" y="5009312"/>
            <a:ext cx="323149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4" name="S03-mark118"/>
          <p:cNvSpPr/>
          <p:nvPr/>
        </p:nvSpPr>
        <p:spPr>
          <a:xfrm flipV="1">
            <a:off x="5035144" y="4800829"/>
            <a:ext cx="0" cy="208483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5" name="S03-mark119"/>
          <p:cNvSpPr/>
          <p:nvPr/>
        </p:nvSpPr>
        <p:spPr>
          <a:xfrm>
            <a:off x="4852721" y="451416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6" name="S03-mark120"/>
          <p:cNvSpPr/>
          <p:nvPr/>
        </p:nvSpPr>
        <p:spPr>
          <a:xfrm>
            <a:off x="4852721" y="440992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7" name="S03-mark121"/>
          <p:cNvSpPr/>
          <p:nvPr/>
        </p:nvSpPr>
        <p:spPr>
          <a:xfrm>
            <a:off x="4852721" y="430568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8" name="S03-mark122"/>
          <p:cNvSpPr/>
          <p:nvPr/>
        </p:nvSpPr>
        <p:spPr>
          <a:xfrm flipV="1">
            <a:off x="4972599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9" name="S03-mark123"/>
          <p:cNvSpPr/>
          <p:nvPr/>
        </p:nvSpPr>
        <p:spPr>
          <a:xfrm flipV="1">
            <a:off x="5097689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0" name="S03-mark124"/>
          <p:cNvSpPr/>
          <p:nvPr/>
        </p:nvSpPr>
        <p:spPr>
          <a:xfrm>
            <a:off x="4972599" y="396689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1" name="S03-label126"/>
          <p:cNvSpPr txBox="1"/>
          <p:nvPr/>
        </p:nvSpPr>
        <p:spPr>
          <a:xfrm>
            <a:off x="1872539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82" name="S03-label128"/>
          <p:cNvSpPr txBox="1"/>
          <p:nvPr/>
        </p:nvSpPr>
        <p:spPr>
          <a:xfrm>
            <a:off x="4113733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83" name="S03-chip12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84" name="S03-figure130" descr="전지 끼우개의 +극 전선은 전구의 꼭지에, −극 전선은 전구의 둥근 유리 부분에 댄 그림"/>
          <p:cNvSpPr/>
          <p:nvPr/>
        </p:nvSpPr>
        <p:spPr>
          <a:xfrm>
            <a:off x="10409438" y="353429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85" name="S03-mark131"/>
          <p:cNvSpPr/>
          <p:nvPr/>
        </p:nvSpPr>
        <p:spPr>
          <a:xfrm>
            <a:off x="7949336" y="404507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mark132"/>
          <p:cNvSpPr/>
          <p:nvPr/>
        </p:nvSpPr>
        <p:spPr>
          <a:xfrm>
            <a:off x="8027518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7" name="S03-mark133"/>
          <p:cNvSpPr/>
          <p:nvPr/>
        </p:nvSpPr>
        <p:spPr>
          <a:xfrm>
            <a:off x="8887511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8" name="S03-mark134"/>
          <p:cNvSpPr/>
          <p:nvPr/>
        </p:nvSpPr>
        <p:spPr>
          <a:xfrm>
            <a:off x="7871155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9" name="S03-mark135"/>
          <p:cNvSpPr/>
          <p:nvPr/>
        </p:nvSpPr>
        <p:spPr>
          <a:xfrm>
            <a:off x="9721444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0" name="S03-mark136"/>
          <p:cNvSpPr/>
          <p:nvPr/>
        </p:nvSpPr>
        <p:spPr>
          <a:xfrm>
            <a:off x="10722163" y="470701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1" name="S03-mark137"/>
          <p:cNvSpPr/>
          <p:nvPr/>
        </p:nvSpPr>
        <p:spPr>
          <a:xfrm>
            <a:off x="10649194" y="461840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2" name="S03-mark138"/>
          <p:cNvSpPr/>
          <p:nvPr/>
        </p:nvSpPr>
        <p:spPr>
          <a:xfrm>
            <a:off x="10581437" y="425356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3" name="S03-mark139"/>
          <p:cNvSpPr/>
          <p:nvPr/>
        </p:nvSpPr>
        <p:spPr>
          <a:xfrm>
            <a:off x="9799625" y="4279621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4" name="S03-mark140"/>
          <p:cNvSpPr/>
          <p:nvPr/>
        </p:nvSpPr>
        <p:spPr>
          <a:xfrm>
            <a:off x="10086289" y="4279621"/>
            <a:ext cx="0" cy="72969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5" name="S03-mark141"/>
          <p:cNvSpPr/>
          <p:nvPr/>
        </p:nvSpPr>
        <p:spPr>
          <a:xfrm>
            <a:off x="10086289" y="5009312"/>
            <a:ext cx="677570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6" name="S03-mark142"/>
          <p:cNvSpPr/>
          <p:nvPr/>
        </p:nvSpPr>
        <p:spPr>
          <a:xfrm flipV="1">
            <a:off x="10763860" y="4800829"/>
            <a:ext cx="0" cy="208483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7" name="S03-mark143"/>
          <p:cNvSpPr/>
          <p:nvPr/>
        </p:nvSpPr>
        <p:spPr>
          <a:xfrm flipH="1">
            <a:off x="7532370" y="427962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98" name="S03-mark144"/>
          <p:cNvSpPr/>
          <p:nvPr/>
        </p:nvSpPr>
        <p:spPr>
          <a:xfrm flipV="1">
            <a:off x="7532370" y="3888715"/>
            <a:ext cx="0" cy="39090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99" name="S03-mark145"/>
          <p:cNvSpPr/>
          <p:nvPr/>
        </p:nvSpPr>
        <p:spPr>
          <a:xfrm>
            <a:off x="7532370" y="3888715"/>
            <a:ext cx="2877068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00" name="S03-mark146"/>
          <p:cNvSpPr/>
          <p:nvPr/>
        </p:nvSpPr>
        <p:spPr>
          <a:xfrm>
            <a:off x="10581437" y="451416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1" name="S03-mark147"/>
          <p:cNvSpPr/>
          <p:nvPr/>
        </p:nvSpPr>
        <p:spPr>
          <a:xfrm>
            <a:off x="10581437" y="440992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2" name="S03-mark148"/>
          <p:cNvSpPr/>
          <p:nvPr/>
        </p:nvSpPr>
        <p:spPr>
          <a:xfrm>
            <a:off x="10581437" y="430568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3" name="S03-mark149"/>
          <p:cNvSpPr/>
          <p:nvPr/>
        </p:nvSpPr>
        <p:spPr>
          <a:xfrm flipV="1">
            <a:off x="10701315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4" name="S03-mark150"/>
          <p:cNvSpPr/>
          <p:nvPr/>
        </p:nvSpPr>
        <p:spPr>
          <a:xfrm flipV="1">
            <a:off x="10826405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5" name="S03-mark151"/>
          <p:cNvSpPr/>
          <p:nvPr/>
        </p:nvSpPr>
        <p:spPr>
          <a:xfrm>
            <a:off x="10701315" y="396689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6" name="S03-label153"/>
          <p:cNvSpPr txBox="1"/>
          <p:nvPr/>
        </p:nvSpPr>
        <p:spPr>
          <a:xfrm>
            <a:off x="7601255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107" name="S03-label155"/>
          <p:cNvSpPr txBox="1"/>
          <p:nvPr/>
        </p:nvSpPr>
        <p:spPr>
          <a:xfrm>
            <a:off x="9842449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이어 봐요</a:t>
            </a:r>
            <a:endParaRPr lang="ko-KR" sz="4000" dirty="0"/>
          </a:p>
        </p:txBody>
      </p:sp>
      <p:sp>
        <p:nvSpPr>
          <p:cNvPr id="3" name="S04-card15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콘센트는 절대 쓰지 않아요. 전지의 두 극을 전선으로 바로 잇지 않아요.</a:t>
            </a:r>
            <a:endParaRPr lang="ko-KR" sz="2800" dirty="0"/>
          </a:p>
        </p:txBody>
      </p:sp>
      <p:sp>
        <p:nvSpPr>
          <p:cNvPr id="5" name="S04-card158"/>
          <p:cNvSpPr/>
          <p:nvPr/>
        </p:nvSpPr>
        <p:spPr>
          <a:xfrm>
            <a:off x="6813652" y="1325880"/>
            <a:ext cx="4826660" cy="3466592"/>
          </a:xfrm>
          <a:prstGeom prst="roundRect">
            <a:avLst>
              <a:gd name="adj" fmla="val 316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59"/>
          <p:cNvSpPr txBox="1"/>
          <p:nvPr/>
        </p:nvSpPr>
        <p:spPr>
          <a:xfrm>
            <a:off x="7087972" y="1463040"/>
            <a:ext cx="4278020" cy="319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전선이 닿은 곳을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2800" dirty="0"/>
          </a:p>
        </p:txBody>
      </p:sp>
      <p:sp>
        <p:nvSpPr>
          <p:cNvPr id="7" name="S04-stepno160"/>
          <p:cNvSpPr txBox="1"/>
          <p:nvPr/>
        </p:nvSpPr>
        <p:spPr>
          <a:xfrm>
            <a:off x="548640" y="1561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161"/>
          <p:cNvSpPr txBox="1"/>
          <p:nvPr/>
        </p:nvSpPr>
        <p:spPr>
          <a:xfrm>
            <a:off x="1325880" y="151536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집게 전선 두 개를 전지 끼우개의 두 극에 하나씩 물려요.</a:t>
            </a:r>
            <a:endParaRPr lang="ko-KR" sz="2200" dirty="0"/>
          </a:p>
        </p:txBody>
      </p:sp>
      <p:sp>
        <p:nvSpPr>
          <p:cNvPr id="9" name="S04-stepno162"/>
          <p:cNvSpPr txBox="1"/>
          <p:nvPr/>
        </p:nvSpPr>
        <p:spPr>
          <a:xfrm>
            <a:off x="548640" y="23616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163"/>
          <p:cNvSpPr txBox="1"/>
          <p:nvPr/>
        </p:nvSpPr>
        <p:spPr>
          <a:xfrm>
            <a:off x="1325880" y="23616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가~라처럼 전구에 대어 봐요.</a:t>
            </a:r>
            <a:endParaRPr lang="ko-KR" sz="2200" dirty="0"/>
          </a:p>
        </p:txBody>
      </p:sp>
      <p:sp>
        <p:nvSpPr>
          <p:cNvPr id="11" name="S04-stepno164"/>
          <p:cNvSpPr txBox="1"/>
          <p:nvPr/>
        </p:nvSpPr>
        <p:spPr>
          <a:xfrm>
            <a:off x="548640" y="31206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165"/>
          <p:cNvSpPr txBox="1"/>
          <p:nvPr/>
        </p:nvSpPr>
        <p:spPr>
          <a:xfrm>
            <a:off x="1325880" y="307492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켜지면 ○, 안 켜지면 ×를 결과 칸에 써요.</a:t>
            </a:r>
            <a:endParaRPr lang="ko-KR" sz="2200" dirty="0"/>
          </a:p>
        </p:txBody>
      </p:sp>
      <p:sp>
        <p:nvSpPr>
          <p:cNvPr id="13" name="S04-stepno166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4-text167"/>
          <p:cNvSpPr txBox="1"/>
          <p:nvPr/>
        </p:nvSpPr>
        <p:spPr>
          <a:xfrm>
            <a:off x="1325880" y="3921252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가처럼 이은 회로에 스위치를 넣어 켜고 꺼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1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켜진 것끼리 무엇이 같았나요?</a:t>
            </a:r>
            <a:endParaRPr lang="ko-KR" sz="2800" dirty="0"/>
          </a:p>
        </p:txBody>
      </p:sp>
      <p:graphicFrame>
        <p:nvGraphicFramePr>
          <p:cNvPr id="6" name="S05-table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1367028"/>
                <a:gridCol w="3364992"/>
                <a:gridCol w="3364992"/>
                <a:gridCol w="241858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+극 전선이 닿은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−극 전선이 닿은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닿지 않음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회로</a:t>
            </a:r>
            <a:endParaRPr lang="ko-KR" sz="4000" dirty="0"/>
          </a:p>
        </p:txBody>
      </p:sp>
      <p:sp>
        <p:nvSpPr>
          <p:cNvPr id="3" name="S06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전지·전구·전선을 끊긴 곳 없이 이은 것을 전기 회로라고 해요.</a:t>
            </a:r>
            <a:endParaRPr lang="ko-KR" sz="2800" dirty="0"/>
          </a:p>
        </p:txBody>
      </p:sp>
      <p:sp>
        <p:nvSpPr>
          <p:cNvPr id="4" name="S06-card173"/>
          <p:cNvSpPr/>
          <p:nvPr/>
        </p:nvSpPr>
        <p:spPr>
          <a:xfrm>
            <a:off x="548640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74"/>
          <p:cNvSpPr txBox="1"/>
          <p:nvPr/>
        </p:nvSpPr>
        <p:spPr>
          <a:xfrm>
            <a:off x="822960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꼭지와 꼭지쇠에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이어요.</a:t>
            </a:r>
            <a:endParaRPr lang="ko-KR" sz="2800" dirty="0"/>
          </a:p>
        </p:txBody>
      </p:sp>
      <p:sp>
        <p:nvSpPr>
          <p:cNvPr id="6" name="S06-card175"/>
          <p:cNvSpPr/>
          <p:nvPr/>
        </p:nvSpPr>
        <p:spPr>
          <a:xfrm>
            <a:off x="4322064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76"/>
          <p:cNvSpPr txBox="1"/>
          <p:nvPr/>
        </p:nvSpPr>
        <p:spPr>
          <a:xfrm>
            <a:off x="4596384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끊긴 곳 없이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바퀴로 이어요.</a:t>
            </a:r>
            <a:endParaRPr lang="ko-KR" sz="2800" dirty="0"/>
          </a:p>
        </p:txBody>
      </p:sp>
      <p:sp>
        <p:nvSpPr>
          <p:cNvPr id="8" name="S06-card177"/>
          <p:cNvSpPr/>
          <p:nvPr/>
        </p:nvSpPr>
        <p:spPr>
          <a:xfrm>
            <a:off x="8095488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78"/>
          <p:cNvSpPr txBox="1"/>
          <p:nvPr/>
        </p:nvSpPr>
        <p:spPr>
          <a:xfrm>
            <a:off x="8369808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전기는 금속을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흘러요.</a:t>
            </a:r>
            <a:endParaRPr lang="ko-KR" sz="2800" dirty="0"/>
          </a:p>
        </p:txBody>
      </p:sp>
      <p:sp>
        <p:nvSpPr>
          <p:cNvPr id="10" name="S06-figure179" descr="불이 켜진 회로: +극 전선은 꼭지에, −극 전선은 꼭지쇠에 이어져 한 바퀴로 이어짐. 꼭지와 꼭지쇠에 이름표"/>
          <p:cNvSpPr/>
          <p:nvPr/>
        </p:nvSpPr>
        <p:spPr>
          <a:xfrm>
            <a:off x="6989501" y="2447117"/>
            <a:ext cx="1086816" cy="1086816"/>
          </a:xfrm>
          <a:prstGeom prst="ellipse">
            <a:avLst/>
          </a:prstGeom>
          <a:solidFill>
            <a:srgbClr val="FFE27A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1" name="S06-mark180"/>
          <p:cNvSpPr/>
          <p:nvPr/>
        </p:nvSpPr>
        <p:spPr>
          <a:xfrm>
            <a:off x="3217611" y="3230263"/>
            <a:ext cx="2717039" cy="719216"/>
          </a:xfrm>
          <a:custGeom>
            <a:avLst/>
            <a:gdLst/>
            <a:ahLst/>
            <a:cxnLst/>
            <a:rect l="l" t="t" r="r" b="b"/>
            <a:pathLst>
              <a:path w="2717039" h="719216">
                <a:moveTo>
                  <a:pt x="0" y="719216"/>
                </a:moveTo>
                <a:lnTo>
                  <a:pt x="2717039" y="719216"/>
                </a:lnTo>
                <a:lnTo>
                  <a:pt x="2717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181"/>
          <p:cNvSpPr/>
          <p:nvPr/>
        </p:nvSpPr>
        <p:spPr>
          <a:xfrm>
            <a:off x="3337481" y="3350133"/>
            <a:ext cx="1158737" cy="479477"/>
          </a:xfrm>
          <a:custGeom>
            <a:avLst/>
            <a:gdLst/>
            <a:ahLst/>
            <a:cxnLst/>
            <a:rect l="l" t="t" r="r" b="b"/>
            <a:pathLst>
              <a:path w="1158737" h="479477">
                <a:moveTo>
                  <a:pt x="0" y="479477"/>
                </a:moveTo>
                <a:lnTo>
                  <a:pt x="1158737" y="479477"/>
                </a:lnTo>
                <a:lnTo>
                  <a:pt x="11587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06-mark182"/>
          <p:cNvSpPr/>
          <p:nvPr/>
        </p:nvSpPr>
        <p:spPr>
          <a:xfrm>
            <a:off x="4656044" y="3350133"/>
            <a:ext cx="1158737" cy="479477"/>
          </a:xfrm>
          <a:custGeom>
            <a:avLst/>
            <a:gdLst/>
            <a:ahLst/>
            <a:cxnLst/>
            <a:rect l="l" t="t" r="r" b="b"/>
            <a:pathLst>
              <a:path w="1158737" h="479477">
                <a:moveTo>
                  <a:pt x="0" y="479477"/>
                </a:moveTo>
                <a:lnTo>
                  <a:pt x="1158737" y="479477"/>
                </a:lnTo>
                <a:lnTo>
                  <a:pt x="11587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06-mark183"/>
          <p:cNvSpPr/>
          <p:nvPr/>
        </p:nvSpPr>
        <p:spPr>
          <a:xfrm>
            <a:off x="3097742" y="3470002"/>
            <a:ext cx="119869" cy="239739"/>
          </a:xfrm>
          <a:custGeom>
            <a:avLst/>
            <a:gdLst/>
            <a:ahLst/>
            <a:cxnLst/>
            <a:rect l="l" t="t" r="r" b="b"/>
            <a:pathLst>
              <a:path w="119869" h="239739">
                <a:moveTo>
                  <a:pt x="0" y="239739"/>
                </a:moveTo>
                <a:lnTo>
                  <a:pt x="119869" y="239739"/>
                </a:lnTo>
                <a:lnTo>
                  <a:pt x="119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84"/>
          <p:cNvSpPr/>
          <p:nvPr/>
        </p:nvSpPr>
        <p:spPr>
          <a:xfrm>
            <a:off x="5934650" y="3470002"/>
            <a:ext cx="119869" cy="239739"/>
          </a:xfrm>
          <a:custGeom>
            <a:avLst/>
            <a:gdLst/>
            <a:ahLst/>
            <a:cxnLst/>
            <a:rect l="l" t="t" r="r" b="b"/>
            <a:pathLst>
              <a:path w="119869" h="239739">
                <a:moveTo>
                  <a:pt x="0" y="239739"/>
                </a:moveTo>
                <a:lnTo>
                  <a:pt x="119869" y="239739"/>
                </a:lnTo>
                <a:lnTo>
                  <a:pt x="119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185"/>
          <p:cNvSpPr/>
          <p:nvPr/>
        </p:nvSpPr>
        <p:spPr>
          <a:xfrm>
            <a:off x="7468978" y="4245157"/>
            <a:ext cx="127861" cy="143843"/>
          </a:xfrm>
          <a:custGeom>
            <a:avLst/>
            <a:gdLst/>
            <a:ahLst/>
            <a:cxnLst/>
            <a:rect l="l" t="t" r="r" b="b"/>
            <a:pathLst>
              <a:path w="127861" h="143843">
                <a:moveTo>
                  <a:pt x="0" y="143843"/>
                </a:moveTo>
                <a:lnTo>
                  <a:pt x="127861" y="143843"/>
                </a:lnTo>
                <a:lnTo>
                  <a:pt x="12786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186"/>
          <p:cNvSpPr/>
          <p:nvPr/>
        </p:nvSpPr>
        <p:spPr>
          <a:xfrm>
            <a:off x="7357100" y="4109305"/>
            <a:ext cx="351617" cy="135852"/>
          </a:xfrm>
          <a:custGeom>
            <a:avLst/>
            <a:gdLst/>
            <a:ahLst/>
            <a:cxnLst/>
            <a:rect l="l" t="t" r="r" b="b"/>
            <a:pathLst>
              <a:path w="351617" h="135852">
                <a:moveTo>
                  <a:pt x="0" y="135852"/>
                </a:moveTo>
                <a:lnTo>
                  <a:pt x="351617" y="135852"/>
                </a:lnTo>
                <a:lnTo>
                  <a:pt x="351617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187"/>
          <p:cNvSpPr/>
          <p:nvPr/>
        </p:nvSpPr>
        <p:spPr>
          <a:xfrm>
            <a:off x="7253213" y="3549915"/>
            <a:ext cx="559390" cy="559390"/>
          </a:xfrm>
          <a:custGeom>
            <a:avLst/>
            <a:gdLst/>
            <a:ahLst/>
            <a:cxnLst/>
            <a:rect l="l" t="t" r="r" b="b"/>
            <a:pathLst>
              <a:path w="559390" h="559390">
                <a:moveTo>
                  <a:pt x="0" y="559390"/>
                </a:moveTo>
                <a:lnTo>
                  <a:pt x="559390" y="559390"/>
                </a:lnTo>
                <a:lnTo>
                  <a:pt x="55939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6-mark188"/>
          <p:cNvSpPr/>
          <p:nvPr/>
        </p:nvSpPr>
        <p:spPr>
          <a:xfrm>
            <a:off x="6054520" y="3589871"/>
            <a:ext cx="439521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0" name="S06-mark189"/>
          <p:cNvSpPr/>
          <p:nvPr/>
        </p:nvSpPr>
        <p:spPr>
          <a:xfrm>
            <a:off x="6494041" y="3589871"/>
            <a:ext cx="0" cy="111878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1" name="S06-mark190"/>
          <p:cNvSpPr/>
          <p:nvPr/>
        </p:nvSpPr>
        <p:spPr>
          <a:xfrm>
            <a:off x="6494041" y="4708652"/>
            <a:ext cx="1038868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2" name="S06-mark191"/>
          <p:cNvSpPr/>
          <p:nvPr/>
        </p:nvSpPr>
        <p:spPr>
          <a:xfrm flipV="1">
            <a:off x="7532908" y="4389000"/>
            <a:ext cx="0" cy="319652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3" name="S06-mark192"/>
          <p:cNvSpPr/>
          <p:nvPr/>
        </p:nvSpPr>
        <p:spPr>
          <a:xfrm flipH="1">
            <a:off x="2578308" y="3589871"/>
            <a:ext cx="519434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4" name="S06-mark193"/>
          <p:cNvSpPr/>
          <p:nvPr/>
        </p:nvSpPr>
        <p:spPr>
          <a:xfrm flipV="1">
            <a:off x="2578308" y="2750786"/>
            <a:ext cx="0" cy="83908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5" name="S06-mark194"/>
          <p:cNvSpPr/>
          <p:nvPr/>
        </p:nvSpPr>
        <p:spPr>
          <a:xfrm>
            <a:off x="2578308" y="2750786"/>
            <a:ext cx="411551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6" name="S06-mark195"/>
          <p:cNvSpPr/>
          <p:nvPr/>
        </p:nvSpPr>
        <p:spPr>
          <a:xfrm>
            <a:off x="6693823" y="2750786"/>
            <a:ext cx="0" cy="1078824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7" name="S06-mark196"/>
          <p:cNvSpPr/>
          <p:nvPr/>
        </p:nvSpPr>
        <p:spPr>
          <a:xfrm>
            <a:off x="6693823" y="3829610"/>
            <a:ext cx="55939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8" name="S06-mark197"/>
          <p:cNvSpPr/>
          <p:nvPr/>
        </p:nvSpPr>
        <p:spPr>
          <a:xfrm>
            <a:off x="7628804" y="4349044"/>
            <a:ext cx="503451" cy="15982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9" name="S06-mark198"/>
          <p:cNvSpPr/>
          <p:nvPr/>
        </p:nvSpPr>
        <p:spPr>
          <a:xfrm>
            <a:off x="7820595" y="3829610"/>
            <a:ext cx="3116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0" name="S06-mark199"/>
          <p:cNvSpPr/>
          <p:nvPr/>
        </p:nvSpPr>
        <p:spPr>
          <a:xfrm>
            <a:off x="7253213" y="3949479"/>
            <a:ext cx="55939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S06-mark200"/>
          <p:cNvSpPr/>
          <p:nvPr/>
        </p:nvSpPr>
        <p:spPr>
          <a:xfrm>
            <a:off x="7253213" y="3789654"/>
            <a:ext cx="55939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06-mark201"/>
          <p:cNvSpPr/>
          <p:nvPr/>
        </p:nvSpPr>
        <p:spPr>
          <a:xfrm>
            <a:off x="7253213" y="3629828"/>
            <a:ext cx="55939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06-mark202"/>
          <p:cNvSpPr/>
          <p:nvPr/>
        </p:nvSpPr>
        <p:spPr>
          <a:xfrm flipV="1">
            <a:off x="7437013" y="3110394"/>
            <a:ext cx="0" cy="439521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4" name="S06-mark203"/>
          <p:cNvSpPr/>
          <p:nvPr/>
        </p:nvSpPr>
        <p:spPr>
          <a:xfrm flipV="1">
            <a:off x="7628804" y="3110394"/>
            <a:ext cx="0" cy="439521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5" name="S06-mark204"/>
          <p:cNvSpPr/>
          <p:nvPr/>
        </p:nvSpPr>
        <p:spPr>
          <a:xfrm>
            <a:off x="7437013" y="3110394"/>
            <a:ext cx="191791" cy="0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36" name="S06-mark205"/>
          <p:cNvSpPr/>
          <p:nvPr/>
        </p:nvSpPr>
        <p:spPr>
          <a:xfrm flipV="1">
            <a:off x="8148676" y="2684408"/>
            <a:ext cx="225281" cy="81995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7" name="S06-mark206"/>
          <p:cNvSpPr/>
          <p:nvPr/>
        </p:nvSpPr>
        <p:spPr>
          <a:xfrm flipV="1">
            <a:off x="7908765" y="2257363"/>
            <a:ext cx="137508" cy="196382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8" name="S06-mark207"/>
          <p:cNvSpPr/>
          <p:nvPr/>
        </p:nvSpPr>
        <p:spPr>
          <a:xfrm flipV="1">
            <a:off x="7532908" y="2095500"/>
            <a:ext cx="0" cy="239739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9" name="S06-mark208"/>
          <p:cNvSpPr/>
          <p:nvPr/>
        </p:nvSpPr>
        <p:spPr>
          <a:xfrm flipH="1" flipV="1">
            <a:off x="7019543" y="2257363"/>
            <a:ext cx="137508" cy="196382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40" name="S06-mark209"/>
          <p:cNvSpPr/>
          <p:nvPr/>
        </p:nvSpPr>
        <p:spPr>
          <a:xfrm flipH="1" flipV="1">
            <a:off x="6691860" y="2684408"/>
            <a:ext cx="225281" cy="81995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41" name="S06-label211"/>
          <p:cNvSpPr txBox="1"/>
          <p:nvPr/>
        </p:nvSpPr>
        <p:spPr>
          <a:xfrm>
            <a:off x="2744465" y="2935769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42" name="S06-label213"/>
          <p:cNvSpPr txBox="1"/>
          <p:nvPr/>
        </p:nvSpPr>
        <p:spPr>
          <a:xfrm>
            <a:off x="6180720" y="2935769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43" name="S06-label215"/>
          <p:cNvSpPr txBox="1"/>
          <p:nvPr/>
        </p:nvSpPr>
        <p:spPr>
          <a:xfrm>
            <a:off x="8212168" y="4365995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꼭지</a:t>
            </a:r>
            <a:endParaRPr lang="ko-KR" sz="1800" dirty="0"/>
          </a:p>
        </p:txBody>
      </p:sp>
      <p:sp>
        <p:nvSpPr>
          <p:cNvPr id="44" name="S06-label217"/>
          <p:cNvSpPr txBox="1"/>
          <p:nvPr/>
        </p:nvSpPr>
        <p:spPr>
          <a:xfrm>
            <a:off x="8212168" y="3686735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꼭지쇠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2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전지에서 나온 전기가 전구까지 가면 불이 켜질까요?</a:t>
            </a:r>
            <a:endParaRPr lang="ko-KR" sz="2800" dirty="0"/>
          </a:p>
        </p:txBody>
      </p:sp>
      <p:sp>
        <p:nvSpPr>
          <p:cNvPr id="5" name="S07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2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22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+극에서 전구까지 전선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이으면 켜져요.</a:t>
            </a:r>
            <a:endParaRPr lang="ko-KR" sz="2800" dirty="0"/>
          </a:p>
        </p:txBody>
      </p:sp>
      <p:sp>
        <p:nvSpPr>
          <p:cNvPr id="9" name="S07-chip22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22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나처럼 이으니 안 켜졌어요.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전지로 돌아오는 길도 필요해요.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기호로 나타내요</a:t>
            </a:r>
            <a:endParaRPr lang="ko-KR" sz="4000" dirty="0"/>
          </a:p>
        </p:txBody>
      </p:sp>
      <p:sp>
        <p:nvSpPr>
          <p:cNvPr id="3" name="S08-text2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부품을 간단한 기호로 그리면 회로를 쉽게 나타낼 수 있어요.</a:t>
            </a:r>
            <a:endParaRPr lang="ko-KR" sz="2800" dirty="0"/>
          </a:p>
        </p:txBody>
      </p:sp>
      <p:sp>
        <p:nvSpPr>
          <p:cNvPr id="4" name="S08-figure227" descr="기호로 그린 전기 회로: 아래쪽 전선에 전지 기호 두 개(짧고 굵은 선이 −극, 긴 선이 +극)와 열린 스위치, 위쪽 전선에 전구 기호(원 안에 ×)"/>
          <p:cNvSpPr/>
          <p:nvPr/>
        </p:nvSpPr>
        <p:spPr>
          <a:xfrm>
            <a:off x="3948803" y="5136545"/>
            <a:ext cx="121224" cy="12122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8-mark228"/>
          <p:cNvSpPr/>
          <p:nvPr/>
        </p:nvSpPr>
        <p:spPr>
          <a:xfrm>
            <a:off x="4814689" y="5136545"/>
            <a:ext cx="121224" cy="12122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8-mark229"/>
          <p:cNvSpPr/>
          <p:nvPr/>
        </p:nvSpPr>
        <p:spPr>
          <a:xfrm>
            <a:off x="2901081" y="2616817"/>
            <a:ext cx="658073" cy="65807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8-mark230"/>
          <p:cNvSpPr/>
          <p:nvPr/>
        </p:nvSpPr>
        <p:spPr>
          <a:xfrm flipV="1">
            <a:off x="2234349" y="5006663"/>
            <a:ext cx="0" cy="380990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8" name="S08-mark231"/>
          <p:cNvSpPr/>
          <p:nvPr/>
        </p:nvSpPr>
        <p:spPr>
          <a:xfrm flipV="1">
            <a:off x="2494115" y="4807509"/>
            <a:ext cx="0" cy="77929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mark232"/>
          <p:cNvSpPr/>
          <p:nvPr/>
        </p:nvSpPr>
        <p:spPr>
          <a:xfrm>
            <a:off x="2494115" y="5197158"/>
            <a:ext cx="43294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8-mark233"/>
          <p:cNvSpPr/>
          <p:nvPr/>
        </p:nvSpPr>
        <p:spPr>
          <a:xfrm flipV="1">
            <a:off x="2927058" y="5006663"/>
            <a:ext cx="0" cy="380990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1" name="S08-mark234"/>
          <p:cNvSpPr/>
          <p:nvPr/>
        </p:nvSpPr>
        <p:spPr>
          <a:xfrm flipV="1">
            <a:off x="3186824" y="4807509"/>
            <a:ext cx="0" cy="77929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8-mark235"/>
          <p:cNvSpPr/>
          <p:nvPr/>
        </p:nvSpPr>
        <p:spPr>
          <a:xfrm>
            <a:off x="632460" y="5197158"/>
            <a:ext cx="160188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mark236"/>
          <p:cNvSpPr/>
          <p:nvPr/>
        </p:nvSpPr>
        <p:spPr>
          <a:xfrm>
            <a:off x="3186824" y="5197158"/>
            <a:ext cx="82259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8-mark237"/>
          <p:cNvSpPr/>
          <p:nvPr/>
        </p:nvSpPr>
        <p:spPr>
          <a:xfrm>
            <a:off x="4875301" y="5197158"/>
            <a:ext cx="952475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8-mark238"/>
          <p:cNvSpPr/>
          <p:nvPr/>
        </p:nvSpPr>
        <p:spPr>
          <a:xfrm flipV="1">
            <a:off x="4009415" y="4720920"/>
            <a:ext cx="736003" cy="47623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6" name="S08-mark239"/>
          <p:cNvSpPr/>
          <p:nvPr/>
        </p:nvSpPr>
        <p:spPr>
          <a:xfrm flipV="1">
            <a:off x="632460" y="2945854"/>
            <a:ext cx="0" cy="2251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mark240"/>
          <p:cNvSpPr/>
          <p:nvPr/>
        </p:nvSpPr>
        <p:spPr>
          <a:xfrm flipV="1">
            <a:off x="5827776" y="2945854"/>
            <a:ext cx="0" cy="2251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8-mark241"/>
          <p:cNvSpPr/>
          <p:nvPr/>
        </p:nvSpPr>
        <p:spPr>
          <a:xfrm flipV="1">
            <a:off x="2997489" y="2713225"/>
            <a:ext cx="465258" cy="46525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8-mark242"/>
          <p:cNvSpPr/>
          <p:nvPr/>
        </p:nvSpPr>
        <p:spPr>
          <a:xfrm>
            <a:off x="2997489" y="2713225"/>
            <a:ext cx="465258" cy="46525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mark243"/>
          <p:cNvSpPr/>
          <p:nvPr/>
        </p:nvSpPr>
        <p:spPr>
          <a:xfrm>
            <a:off x="632460" y="2945854"/>
            <a:ext cx="22686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8-mark244"/>
          <p:cNvSpPr/>
          <p:nvPr/>
        </p:nvSpPr>
        <p:spPr>
          <a:xfrm>
            <a:off x="3559155" y="2945854"/>
            <a:ext cx="22686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8-label246"/>
          <p:cNvSpPr txBox="1"/>
          <p:nvPr/>
        </p:nvSpPr>
        <p:spPr>
          <a:xfrm>
            <a:off x="2431694" y="570369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</a:t>
            </a:r>
            <a:endParaRPr lang="ko-KR" sz="1800" dirty="0"/>
          </a:p>
        </p:txBody>
      </p:sp>
      <p:sp>
        <p:nvSpPr>
          <p:cNvPr id="23" name="S08-label248"/>
          <p:cNvSpPr txBox="1"/>
          <p:nvPr/>
        </p:nvSpPr>
        <p:spPr>
          <a:xfrm>
            <a:off x="2951226" y="224015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</a:t>
            </a:r>
            <a:endParaRPr lang="ko-KR" sz="1800" dirty="0"/>
          </a:p>
        </p:txBody>
      </p:sp>
      <p:sp>
        <p:nvSpPr>
          <p:cNvPr id="24" name="S08-label250"/>
          <p:cNvSpPr txBox="1"/>
          <p:nvPr/>
        </p:nvSpPr>
        <p:spPr>
          <a:xfrm>
            <a:off x="4051452" y="4231691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</a:t>
            </a:r>
            <a:endParaRPr lang="ko-KR" sz="1800" dirty="0"/>
          </a:p>
        </p:txBody>
      </p:sp>
      <p:sp>
        <p:nvSpPr>
          <p:cNvPr id="25" name="S08-label252"/>
          <p:cNvSpPr txBox="1"/>
          <p:nvPr/>
        </p:nvSpPr>
        <p:spPr>
          <a:xfrm>
            <a:off x="2131479" y="4534751"/>
            <a:ext cx="205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1800" dirty="0"/>
          </a:p>
        </p:txBody>
      </p:sp>
      <p:sp>
        <p:nvSpPr>
          <p:cNvPr id="26" name="S08-label254"/>
          <p:cNvSpPr txBox="1"/>
          <p:nvPr/>
        </p:nvSpPr>
        <p:spPr>
          <a:xfrm>
            <a:off x="3300425" y="4491457"/>
            <a:ext cx="205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1800" dirty="0"/>
          </a:p>
        </p:txBody>
      </p:sp>
      <p:sp>
        <p:nvSpPr>
          <p:cNvPr id="27" name="S08-card255"/>
          <p:cNvSpPr/>
          <p:nvPr/>
        </p:nvSpPr>
        <p:spPr>
          <a:xfrm>
            <a:off x="6277356" y="225501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8-cardtext256"/>
          <p:cNvSpPr txBox="1"/>
          <p:nvPr/>
        </p:nvSpPr>
        <p:spPr>
          <a:xfrm>
            <a:off x="6551676" y="239217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전지: 긴 선이 +극,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짧고 굵은 선이 −극</a:t>
            </a:r>
            <a:endParaRPr lang="ko-KR" sz="2800" dirty="0"/>
          </a:p>
        </p:txBody>
      </p:sp>
      <p:sp>
        <p:nvSpPr>
          <p:cNvPr id="29" name="S08-card257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8-cardtext258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전구: 원 안에 ×</a:t>
            </a:r>
            <a:endParaRPr lang="ko-KR" sz="2800" dirty="0"/>
          </a:p>
        </p:txBody>
      </p:sp>
      <p:sp>
        <p:nvSpPr>
          <p:cNvPr id="31" name="S08-card259"/>
          <p:cNvSpPr/>
          <p:nvPr/>
        </p:nvSpPr>
        <p:spPr>
          <a:xfrm>
            <a:off x="6277356" y="477774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8-cardtext260"/>
          <p:cNvSpPr txBox="1"/>
          <p:nvPr/>
        </p:nvSpPr>
        <p:spPr>
          <a:xfrm>
            <a:off x="6551676" y="491490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스위치: 닫으면 켜지고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열면 꺼져요.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잇는 방법</a:t>
            </a:r>
            <a:endParaRPr lang="ko-KR" sz="4000" dirty="0"/>
          </a:p>
        </p:txBody>
      </p:sp>
      <p:sp>
        <p:nvSpPr>
          <p:cNvPr id="3" name="S09-card2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2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방법으로 이으면 밝기가 어떻게 다를까요?</a:t>
            </a:r>
            <a:endParaRPr lang="ko-KR" sz="2800" dirty="0"/>
          </a:p>
        </p:txBody>
      </p:sp>
      <p:sp>
        <p:nvSpPr>
          <p:cNvPr id="5" name="S09-figure263" descr="직렬연결 회로: 전지 두 개, 스위치, 전구 두 개가 한 줄로 이어짐"/>
          <p:cNvSpPr/>
          <p:nvPr/>
        </p:nvSpPr>
        <p:spPr>
          <a:xfrm>
            <a:off x="3963396" y="4037376"/>
            <a:ext cx="121757" cy="12175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mark264"/>
          <p:cNvSpPr/>
          <p:nvPr/>
        </p:nvSpPr>
        <p:spPr>
          <a:xfrm>
            <a:off x="4833092" y="4037376"/>
            <a:ext cx="121757" cy="12175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mark265"/>
          <p:cNvSpPr/>
          <p:nvPr/>
        </p:nvSpPr>
        <p:spPr>
          <a:xfrm>
            <a:off x="2041368" y="1506560"/>
            <a:ext cx="660969" cy="6609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9-mark266"/>
          <p:cNvSpPr/>
          <p:nvPr/>
        </p:nvSpPr>
        <p:spPr>
          <a:xfrm>
            <a:off x="3780760" y="1506560"/>
            <a:ext cx="660969" cy="6609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9-mark267"/>
          <p:cNvSpPr/>
          <p:nvPr/>
        </p:nvSpPr>
        <p:spPr>
          <a:xfrm flipV="1">
            <a:off x="2241398" y="3906921"/>
            <a:ext cx="0" cy="382666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0" name="S09-mark268"/>
          <p:cNvSpPr/>
          <p:nvPr/>
        </p:nvSpPr>
        <p:spPr>
          <a:xfrm flipV="1">
            <a:off x="2502306" y="3706891"/>
            <a:ext cx="0" cy="7827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mark269"/>
          <p:cNvSpPr/>
          <p:nvPr/>
        </p:nvSpPr>
        <p:spPr>
          <a:xfrm>
            <a:off x="2502306" y="4098254"/>
            <a:ext cx="4348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9-mark270"/>
          <p:cNvSpPr/>
          <p:nvPr/>
        </p:nvSpPr>
        <p:spPr>
          <a:xfrm flipV="1">
            <a:off x="2937154" y="3906921"/>
            <a:ext cx="0" cy="382666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3" name="S09-mark271"/>
          <p:cNvSpPr/>
          <p:nvPr/>
        </p:nvSpPr>
        <p:spPr>
          <a:xfrm flipV="1">
            <a:off x="3198063" y="3706891"/>
            <a:ext cx="0" cy="7827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9-mark272"/>
          <p:cNvSpPr/>
          <p:nvPr/>
        </p:nvSpPr>
        <p:spPr>
          <a:xfrm>
            <a:off x="632460" y="4098254"/>
            <a:ext cx="16089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9-mark273"/>
          <p:cNvSpPr/>
          <p:nvPr/>
        </p:nvSpPr>
        <p:spPr>
          <a:xfrm>
            <a:off x="3198063" y="4098254"/>
            <a:ext cx="82621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mark274"/>
          <p:cNvSpPr/>
          <p:nvPr/>
        </p:nvSpPr>
        <p:spPr>
          <a:xfrm>
            <a:off x="4893970" y="4098254"/>
            <a:ext cx="95666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9-mark275"/>
          <p:cNvSpPr/>
          <p:nvPr/>
        </p:nvSpPr>
        <p:spPr>
          <a:xfrm flipV="1">
            <a:off x="4024274" y="3993891"/>
            <a:ext cx="869696" cy="10436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8" name="S09-mark276"/>
          <p:cNvSpPr/>
          <p:nvPr/>
        </p:nvSpPr>
        <p:spPr>
          <a:xfrm flipV="1">
            <a:off x="632460" y="1837045"/>
            <a:ext cx="0" cy="22612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9-mark277"/>
          <p:cNvSpPr/>
          <p:nvPr/>
        </p:nvSpPr>
        <p:spPr>
          <a:xfrm flipV="1">
            <a:off x="5850636" y="1837045"/>
            <a:ext cx="0" cy="22612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9-mark278"/>
          <p:cNvSpPr/>
          <p:nvPr/>
        </p:nvSpPr>
        <p:spPr>
          <a:xfrm flipV="1">
            <a:off x="2138199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9-mark279"/>
          <p:cNvSpPr/>
          <p:nvPr/>
        </p:nvSpPr>
        <p:spPr>
          <a:xfrm>
            <a:off x="2138199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mark280"/>
          <p:cNvSpPr/>
          <p:nvPr/>
        </p:nvSpPr>
        <p:spPr>
          <a:xfrm>
            <a:off x="632460" y="1837045"/>
            <a:ext cx="14089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9-mark281"/>
          <p:cNvSpPr/>
          <p:nvPr/>
        </p:nvSpPr>
        <p:spPr>
          <a:xfrm flipV="1">
            <a:off x="3877591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mark282"/>
          <p:cNvSpPr/>
          <p:nvPr/>
        </p:nvSpPr>
        <p:spPr>
          <a:xfrm>
            <a:off x="3877591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mark283"/>
          <p:cNvSpPr/>
          <p:nvPr/>
        </p:nvSpPr>
        <p:spPr>
          <a:xfrm>
            <a:off x="2702336" y="1837045"/>
            <a:ext cx="107842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9-mark284"/>
          <p:cNvSpPr/>
          <p:nvPr/>
        </p:nvSpPr>
        <p:spPr>
          <a:xfrm>
            <a:off x="4441728" y="1837045"/>
            <a:ext cx="14089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9-label285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직렬연결: 한 줄로</a:t>
            </a:r>
            <a:endParaRPr lang="ko-KR" sz="2200" dirty="0"/>
          </a:p>
        </p:txBody>
      </p:sp>
      <p:sp>
        <p:nvSpPr>
          <p:cNvPr id="28" name="S09-figure286" descr="병렬연결 회로: 전지 두 개와 스위치에 전구 두 개가 두 갈래로 나뉘어 이어짐"/>
          <p:cNvSpPr/>
          <p:nvPr/>
        </p:nvSpPr>
        <p:spPr>
          <a:xfrm>
            <a:off x="9570743" y="4195952"/>
            <a:ext cx="105142" cy="1051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9-mark287"/>
          <p:cNvSpPr/>
          <p:nvPr/>
        </p:nvSpPr>
        <p:spPr>
          <a:xfrm>
            <a:off x="10321755" y="4195952"/>
            <a:ext cx="105142" cy="1051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9-mark288"/>
          <p:cNvSpPr/>
          <p:nvPr/>
        </p:nvSpPr>
        <p:spPr>
          <a:xfrm>
            <a:off x="8662020" y="1409700"/>
            <a:ext cx="570769" cy="5707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1" name="S09-mark289"/>
          <p:cNvSpPr/>
          <p:nvPr/>
        </p:nvSpPr>
        <p:spPr>
          <a:xfrm>
            <a:off x="8662020" y="2386015"/>
            <a:ext cx="570769" cy="5707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2" name="S09-mark290"/>
          <p:cNvSpPr/>
          <p:nvPr/>
        </p:nvSpPr>
        <p:spPr>
          <a:xfrm>
            <a:off x="6634289" y="2611318"/>
            <a:ext cx="120162" cy="12016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mark291"/>
          <p:cNvSpPr/>
          <p:nvPr/>
        </p:nvSpPr>
        <p:spPr>
          <a:xfrm>
            <a:off x="11140357" y="2611318"/>
            <a:ext cx="120162" cy="12016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9-mark292"/>
          <p:cNvSpPr/>
          <p:nvPr/>
        </p:nvSpPr>
        <p:spPr>
          <a:xfrm flipV="1">
            <a:off x="8083741" y="4083300"/>
            <a:ext cx="0" cy="33044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35" name="S09-mark293"/>
          <p:cNvSpPr/>
          <p:nvPr/>
        </p:nvSpPr>
        <p:spPr>
          <a:xfrm flipV="1">
            <a:off x="8309044" y="3910568"/>
            <a:ext cx="0" cy="6759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9-mark294"/>
          <p:cNvSpPr/>
          <p:nvPr/>
        </p:nvSpPr>
        <p:spPr>
          <a:xfrm>
            <a:off x="8309044" y="4248523"/>
            <a:ext cx="37550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9-mark295"/>
          <p:cNvSpPr/>
          <p:nvPr/>
        </p:nvSpPr>
        <p:spPr>
          <a:xfrm flipV="1">
            <a:off x="8684550" y="4083300"/>
            <a:ext cx="0" cy="33044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38" name="S09-mark296"/>
          <p:cNvSpPr/>
          <p:nvPr/>
        </p:nvSpPr>
        <p:spPr>
          <a:xfrm flipV="1">
            <a:off x="8909853" y="3910568"/>
            <a:ext cx="0" cy="6759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09-mark297"/>
          <p:cNvSpPr/>
          <p:nvPr/>
        </p:nvSpPr>
        <p:spPr>
          <a:xfrm>
            <a:off x="6694370" y="4248523"/>
            <a:ext cx="138937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9-mark298"/>
          <p:cNvSpPr/>
          <p:nvPr/>
        </p:nvSpPr>
        <p:spPr>
          <a:xfrm>
            <a:off x="8909853" y="4248523"/>
            <a:ext cx="71346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9-mark299"/>
          <p:cNvSpPr/>
          <p:nvPr/>
        </p:nvSpPr>
        <p:spPr>
          <a:xfrm>
            <a:off x="10374326" y="4248523"/>
            <a:ext cx="8261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9-mark300"/>
          <p:cNvSpPr/>
          <p:nvPr/>
        </p:nvSpPr>
        <p:spPr>
          <a:xfrm flipV="1">
            <a:off x="9623314" y="4158402"/>
            <a:ext cx="751011" cy="90121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3" name="S09-mark301"/>
          <p:cNvSpPr/>
          <p:nvPr/>
        </p:nvSpPr>
        <p:spPr>
          <a:xfrm flipV="1">
            <a:off x="6694370" y="1695084"/>
            <a:ext cx="0" cy="255343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09-mark302"/>
          <p:cNvSpPr/>
          <p:nvPr/>
        </p:nvSpPr>
        <p:spPr>
          <a:xfrm flipV="1">
            <a:off x="11200438" y="1695084"/>
            <a:ext cx="0" cy="255343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9-mark303"/>
          <p:cNvSpPr/>
          <p:nvPr/>
        </p:nvSpPr>
        <p:spPr>
          <a:xfrm flipV="1">
            <a:off x="8745637" y="1493318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9-mark304"/>
          <p:cNvSpPr/>
          <p:nvPr/>
        </p:nvSpPr>
        <p:spPr>
          <a:xfrm>
            <a:off x="8745637" y="1493318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9-mark305"/>
          <p:cNvSpPr/>
          <p:nvPr/>
        </p:nvSpPr>
        <p:spPr>
          <a:xfrm>
            <a:off x="6694370" y="1695084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9-mark306"/>
          <p:cNvSpPr/>
          <p:nvPr/>
        </p:nvSpPr>
        <p:spPr>
          <a:xfrm>
            <a:off x="9232788" y="1695084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09-mark307"/>
          <p:cNvSpPr/>
          <p:nvPr/>
        </p:nvSpPr>
        <p:spPr>
          <a:xfrm flipV="1">
            <a:off x="8745637" y="2469632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9-mark308"/>
          <p:cNvSpPr/>
          <p:nvPr/>
        </p:nvSpPr>
        <p:spPr>
          <a:xfrm>
            <a:off x="8745637" y="2469632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9-mark309"/>
          <p:cNvSpPr/>
          <p:nvPr/>
        </p:nvSpPr>
        <p:spPr>
          <a:xfrm>
            <a:off x="6694370" y="2671399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9-mark310"/>
          <p:cNvSpPr/>
          <p:nvPr/>
        </p:nvSpPr>
        <p:spPr>
          <a:xfrm>
            <a:off x="9232788" y="2671399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9-label311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병렬연결: 두 갈래로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10-text3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한 개일 때와 비교하면?</a:t>
            </a:r>
            <a:endParaRPr lang="ko-KR" sz="2800" dirty="0"/>
          </a:p>
        </p:txBody>
      </p:sp>
      <p:sp>
        <p:nvSpPr>
          <p:cNvPr id="4" name="S10-card3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2800" dirty="0"/>
          </a:p>
        </p:txBody>
      </p:sp>
      <p:graphicFrame>
        <p:nvGraphicFramePr>
          <p:cNvPr id="11" name="S10-table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5632704"/>
                <a:gridCol w="44256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직렬연결한 전구의 밝기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병렬연결한 전구의 밝기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직렬에서 전구 하나를 빼면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병렬에서 전구 하나를 빼면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밝기를 비교해요</a:t>
            </a:r>
            <a:endParaRPr lang="ko-KR" sz="4000" dirty="0"/>
          </a:p>
        </p:txBody>
      </p:sp>
      <p:sp>
        <p:nvSpPr>
          <p:cNvPr id="3" name="S11-card31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31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전지의 두 극을 전선으로 바로 잇지 않아요. 켜진 전구는 만지지 않아요.</a:t>
            </a:r>
            <a:endParaRPr lang="ko-KR" sz="2800" dirty="0"/>
          </a:p>
        </p:txBody>
      </p:sp>
      <p:sp>
        <p:nvSpPr>
          <p:cNvPr id="5" name="S11-card318"/>
          <p:cNvSpPr/>
          <p:nvPr/>
        </p:nvSpPr>
        <p:spPr>
          <a:xfrm>
            <a:off x="6813652" y="1325880"/>
            <a:ext cx="4826660" cy="3466592"/>
          </a:xfrm>
          <a:prstGeom prst="roundRect">
            <a:avLst>
              <a:gd name="adj" fmla="val 316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319"/>
          <p:cNvSpPr txBox="1"/>
          <p:nvPr/>
        </p:nvSpPr>
        <p:spPr>
          <a:xfrm>
            <a:off x="7087972" y="1463040"/>
            <a:ext cx="4278020" cy="319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전지는 늘 같은 것을 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전구 한 개일 때와 견주어요</a:t>
            </a:r>
            <a:endParaRPr lang="ko-KR" sz="2800" dirty="0"/>
          </a:p>
        </p:txBody>
      </p:sp>
      <p:sp>
        <p:nvSpPr>
          <p:cNvPr id="7" name="S11-stepno320"/>
          <p:cNvSpPr txBox="1"/>
          <p:nvPr/>
        </p:nvSpPr>
        <p:spPr>
          <a:xfrm>
            <a:off x="548640" y="15153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1-text321"/>
          <p:cNvSpPr txBox="1"/>
          <p:nvPr/>
        </p:nvSpPr>
        <p:spPr>
          <a:xfrm>
            <a:off x="1325880" y="15153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한 개 회로를 만들고 밝기를 봐요.</a:t>
            </a:r>
            <a:endParaRPr lang="ko-KR" sz="2200" dirty="0"/>
          </a:p>
        </p:txBody>
      </p:sp>
      <p:sp>
        <p:nvSpPr>
          <p:cNvPr id="9" name="S11-stepno322"/>
          <p:cNvSpPr txBox="1"/>
          <p:nvPr/>
        </p:nvSpPr>
        <p:spPr>
          <a:xfrm>
            <a:off x="548640" y="2274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1-text323"/>
          <p:cNvSpPr txBox="1"/>
          <p:nvPr/>
        </p:nvSpPr>
        <p:spPr>
          <a:xfrm>
            <a:off x="1325880" y="222859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직렬로 이어 밝기를 견주어요.</a:t>
            </a:r>
            <a:endParaRPr lang="ko-KR" sz="2200" dirty="0"/>
          </a:p>
        </p:txBody>
      </p:sp>
      <p:sp>
        <p:nvSpPr>
          <p:cNvPr id="11" name="S11-stepno324"/>
          <p:cNvSpPr txBox="1"/>
          <p:nvPr/>
        </p:nvSpPr>
        <p:spPr>
          <a:xfrm>
            <a:off x="548640" y="31206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1-text325"/>
          <p:cNvSpPr txBox="1"/>
          <p:nvPr/>
        </p:nvSpPr>
        <p:spPr>
          <a:xfrm>
            <a:off x="1325880" y="307492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병렬로 이어 밝기를 견주어요.</a:t>
            </a:r>
            <a:endParaRPr lang="ko-KR" sz="2200" dirty="0"/>
          </a:p>
        </p:txBody>
      </p:sp>
      <p:sp>
        <p:nvSpPr>
          <p:cNvPr id="13" name="S11-stepno326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11-text327"/>
          <p:cNvSpPr txBox="1"/>
          <p:nvPr/>
        </p:nvSpPr>
        <p:spPr>
          <a:xfrm>
            <a:off x="1325880" y="3921252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직렬과 병렬에서 전구 하나를 끼우개에서 빼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3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2800" dirty="0"/>
          </a:p>
        </p:txBody>
      </p:sp>
      <p:sp>
        <p:nvSpPr>
          <p:cNvPr id="4" name="S12-card3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3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연결에서 전구가 더 밝았나요?</a:t>
            </a:r>
            <a:endParaRPr lang="ko-KR" sz="2800" dirty="0"/>
          </a:p>
        </p:txBody>
      </p:sp>
      <p:graphicFrame>
        <p:nvGraphicFramePr>
          <p:cNvPr id="13" name="S12-table3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3785616"/>
                <a:gridCol w="3364992"/>
                <a:gridCol w="33649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밝기(한 개와 비교)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전구 하나를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직렬연결과 병렬연결</a:t>
            </a:r>
            <a:endParaRPr lang="ko-KR" sz="4000" dirty="0"/>
          </a:p>
        </p:txBody>
      </p:sp>
      <p:sp>
        <p:nvSpPr>
          <p:cNvPr id="3" name="S13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전구를 병렬로 이으면 직렬로 이을 때보다 밝아요.</a:t>
            </a:r>
            <a:endParaRPr lang="ko-KR" sz="2800" dirty="0"/>
          </a:p>
        </p:txBody>
      </p:sp>
      <p:graphicFrame>
        <p:nvGraphicFramePr>
          <p:cNvPr id="14" name="S13-table3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941830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575304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잇는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갈래로 나누어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어두워요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밝아요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하나를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 꺼져요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나머지는 켜져요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속 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 안의 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4-card3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3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직렬로 이었어요.</a:t>
            </a:r>
            <a:endParaRPr lang="ko-KR" sz="2800" dirty="0"/>
          </a:p>
        </p:txBody>
      </p:sp>
      <p:sp>
        <p:nvSpPr>
          <p:cNvPr id="5" name="S14-card3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3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4-chip3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4-text3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전구가 두 개니까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개일 때보다 밝아요.</a:t>
            </a:r>
            <a:endParaRPr lang="ko-KR" sz="2800" dirty="0"/>
          </a:p>
        </p:txBody>
      </p:sp>
      <p:sp>
        <p:nvSpPr>
          <p:cNvPr id="9" name="S14-chip3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4-text3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보니 두 전구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개일 때보다 어두웠어요.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5-chip34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5-text34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전구에 불이 켜지려면 전선을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전구의 어디어디에 이어야 하나요?</a:t>
            </a:r>
            <a:endParaRPr lang="ko-KR" sz="2800" dirty="0"/>
          </a:p>
        </p:txBody>
      </p:sp>
      <p:sp>
        <p:nvSpPr>
          <p:cNvPr id="5" name="S15-chip34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5-text34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 기호에서 긴 선은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극일까요?</a:t>
            </a:r>
            <a:endParaRPr lang="ko-KR" sz="2800" dirty="0"/>
          </a:p>
        </p:txBody>
      </p:sp>
      <p:sp>
        <p:nvSpPr>
          <p:cNvPr id="7" name="S15-chip34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5-text34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하나가 고장 나도 다른 전구가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켜져 있는 연결은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밝게 켜지는 회로는?</a:t>
            </a:r>
            <a:endParaRPr lang="ko-KR" sz="4000" dirty="0"/>
          </a:p>
        </p:txBody>
      </p:sp>
      <p:sp>
        <p:nvSpPr>
          <p:cNvPr id="3" name="S17-text3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전지와 같은 전구를 썼어요.</a:t>
            </a:r>
            <a:endParaRPr lang="ko-KR" sz="2800" dirty="0"/>
          </a:p>
        </p:txBody>
      </p:sp>
      <p:sp>
        <p:nvSpPr>
          <p:cNvPr id="4" name="S17-card3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3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다른 두 회로는 어떻게 될지 말해요.</a:t>
            </a:r>
            <a:endParaRPr lang="ko-KR" sz="2800" dirty="0"/>
          </a:p>
        </p:txBody>
      </p:sp>
      <p:sp>
        <p:nvSpPr>
          <p:cNvPr id="6" name="S17-chip35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7-figure353" descr="가: 전지 두 개, 닫힌 스위치, 전구 두 개를 한 줄로 이은 직렬 회로"/>
          <p:cNvSpPr/>
          <p:nvPr/>
        </p:nvSpPr>
        <p:spPr>
          <a:xfrm>
            <a:off x="2729860" y="4572615"/>
            <a:ext cx="76667" cy="7666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7-mark354"/>
          <p:cNvSpPr/>
          <p:nvPr/>
        </p:nvSpPr>
        <p:spPr>
          <a:xfrm>
            <a:off x="3277484" y="4572615"/>
            <a:ext cx="76667" cy="7666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7-mark355"/>
          <p:cNvSpPr/>
          <p:nvPr/>
        </p:nvSpPr>
        <p:spPr>
          <a:xfrm>
            <a:off x="1519611" y="2979029"/>
            <a:ext cx="416194" cy="41619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7-mark356"/>
          <p:cNvSpPr/>
          <p:nvPr/>
        </p:nvSpPr>
        <p:spPr>
          <a:xfrm>
            <a:off x="2614859" y="2979029"/>
            <a:ext cx="416194" cy="41619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7-mark357"/>
          <p:cNvSpPr/>
          <p:nvPr/>
        </p:nvSpPr>
        <p:spPr>
          <a:xfrm flipV="1">
            <a:off x="1645564" y="4490471"/>
            <a:ext cx="0" cy="24095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2" name="S17-mark358"/>
          <p:cNvSpPr/>
          <p:nvPr/>
        </p:nvSpPr>
        <p:spPr>
          <a:xfrm flipV="1">
            <a:off x="1809852" y="4364518"/>
            <a:ext cx="0" cy="4928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7-mark359"/>
          <p:cNvSpPr/>
          <p:nvPr/>
        </p:nvSpPr>
        <p:spPr>
          <a:xfrm>
            <a:off x="1809852" y="4610948"/>
            <a:ext cx="273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7-mark360"/>
          <p:cNvSpPr/>
          <p:nvPr/>
        </p:nvSpPr>
        <p:spPr>
          <a:xfrm flipV="1">
            <a:off x="2083664" y="4490471"/>
            <a:ext cx="0" cy="24095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5" name="S17-mark361"/>
          <p:cNvSpPr/>
          <p:nvPr/>
        </p:nvSpPr>
        <p:spPr>
          <a:xfrm flipV="1">
            <a:off x="2247951" y="4364518"/>
            <a:ext cx="0" cy="4928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17-mark362"/>
          <p:cNvSpPr/>
          <p:nvPr/>
        </p:nvSpPr>
        <p:spPr>
          <a:xfrm>
            <a:off x="632460" y="4610948"/>
            <a:ext cx="10131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7-mark363"/>
          <p:cNvSpPr/>
          <p:nvPr/>
        </p:nvSpPr>
        <p:spPr>
          <a:xfrm>
            <a:off x="2247951" y="4610948"/>
            <a:ext cx="52024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7-mark364"/>
          <p:cNvSpPr/>
          <p:nvPr/>
        </p:nvSpPr>
        <p:spPr>
          <a:xfrm>
            <a:off x="3315818" y="4610948"/>
            <a:ext cx="60238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7-mark365"/>
          <p:cNvSpPr/>
          <p:nvPr/>
        </p:nvSpPr>
        <p:spPr>
          <a:xfrm flipV="1">
            <a:off x="2768194" y="4545233"/>
            <a:ext cx="547624" cy="6571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7-mark366"/>
          <p:cNvSpPr/>
          <p:nvPr/>
        </p:nvSpPr>
        <p:spPr>
          <a:xfrm flipV="1">
            <a:off x="632460" y="3187126"/>
            <a:ext cx="0" cy="142382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7-mark367"/>
          <p:cNvSpPr/>
          <p:nvPr/>
        </p:nvSpPr>
        <p:spPr>
          <a:xfrm flipV="1">
            <a:off x="3918204" y="3187126"/>
            <a:ext cx="0" cy="142382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7-mark368"/>
          <p:cNvSpPr/>
          <p:nvPr/>
        </p:nvSpPr>
        <p:spPr>
          <a:xfrm flipV="1">
            <a:off x="1580583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7-mark369"/>
          <p:cNvSpPr/>
          <p:nvPr/>
        </p:nvSpPr>
        <p:spPr>
          <a:xfrm>
            <a:off x="1580583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7-mark370"/>
          <p:cNvSpPr/>
          <p:nvPr/>
        </p:nvSpPr>
        <p:spPr>
          <a:xfrm>
            <a:off x="632460" y="3187126"/>
            <a:ext cx="88715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7-mark371"/>
          <p:cNvSpPr/>
          <p:nvPr/>
        </p:nvSpPr>
        <p:spPr>
          <a:xfrm flipV="1">
            <a:off x="2675831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7-mark372"/>
          <p:cNvSpPr/>
          <p:nvPr/>
        </p:nvSpPr>
        <p:spPr>
          <a:xfrm>
            <a:off x="2675831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7-mark373"/>
          <p:cNvSpPr/>
          <p:nvPr/>
        </p:nvSpPr>
        <p:spPr>
          <a:xfrm>
            <a:off x="1935805" y="3187126"/>
            <a:ext cx="67905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7-mark374"/>
          <p:cNvSpPr/>
          <p:nvPr/>
        </p:nvSpPr>
        <p:spPr>
          <a:xfrm>
            <a:off x="3031053" y="3187126"/>
            <a:ext cx="88715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17-chip37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0" name="S17-figure376" descr="나: 전지 두 개, 닫힌 스위치, 전구 두 개를 두 갈래로 이은 병렬 회로"/>
          <p:cNvSpPr/>
          <p:nvPr/>
        </p:nvSpPr>
        <p:spPr>
          <a:xfrm>
            <a:off x="6533460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7-mark377"/>
          <p:cNvSpPr/>
          <p:nvPr/>
        </p:nvSpPr>
        <p:spPr>
          <a:xfrm>
            <a:off x="7062357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7-mark378"/>
          <p:cNvSpPr/>
          <p:nvPr/>
        </p:nvSpPr>
        <p:spPr>
          <a:xfrm>
            <a:off x="5893495" y="2799588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3" name="S17-mark379"/>
          <p:cNvSpPr/>
          <p:nvPr/>
        </p:nvSpPr>
        <p:spPr>
          <a:xfrm>
            <a:off x="5893495" y="3487153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4" name="S17-mark380"/>
          <p:cNvSpPr/>
          <p:nvPr/>
        </p:nvSpPr>
        <p:spPr>
          <a:xfrm>
            <a:off x="4465475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7-mark381"/>
          <p:cNvSpPr/>
          <p:nvPr/>
        </p:nvSpPr>
        <p:spPr>
          <a:xfrm>
            <a:off x="7638854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7-mark382"/>
          <p:cNvSpPr/>
          <p:nvPr/>
        </p:nvSpPr>
        <p:spPr>
          <a:xfrm flipV="1">
            <a:off x="5486245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37" name="S17-mark383"/>
          <p:cNvSpPr/>
          <p:nvPr/>
        </p:nvSpPr>
        <p:spPr>
          <a:xfrm flipV="1">
            <a:off x="5644914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7-mark384"/>
          <p:cNvSpPr/>
          <p:nvPr/>
        </p:nvSpPr>
        <p:spPr>
          <a:xfrm>
            <a:off x="5644914" y="4798817"/>
            <a:ext cx="264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7-mark385"/>
          <p:cNvSpPr/>
          <p:nvPr/>
        </p:nvSpPr>
        <p:spPr>
          <a:xfrm flipV="1">
            <a:off x="5909362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40" name="S17-mark386"/>
          <p:cNvSpPr/>
          <p:nvPr/>
        </p:nvSpPr>
        <p:spPr>
          <a:xfrm flipV="1">
            <a:off x="6068031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17-mark387"/>
          <p:cNvSpPr/>
          <p:nvPr/>
        </p:nvSpPr>
        <p:spPr>
          <a:xfrm>
            <a:off x="4507787" y="4798817"/>
            <a:ext cx="97845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7-mark388"/>
          <p:cNvSpPr/>
          <p:nvPr/>
        </p:nvSpPr>
        <p:spPr>
          <a:xfrm>
            <a:off x="6068031" y="4798817"/>
            <a:ext cx="50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7-mark389"/>
          <p:cNvSpPr/>
          <p:nvPr/>
        </p:nvSpPr>
        <p:spPr>
          <a:xfrm>
            <a:off x="7099379" y="4798817"/>
            <a:ext cx="58178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17-mark390"/>
          <p:cNvSpPr/>
          <p:nvPr/>
        </p:nvSpPr>
        <p:spPr>
          <a:xfrm flipV="1">
            <a:off x="6570483" y="4735349"/>
            <a:ext cx="528896" cy="6346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5" name="S17-mark391"/>
          <p:cNvSpPr/>
          <p:nvPr/>
        </p:nvSpPr>
        <p:spPr>
          <a:xfrm flipV="1">
            <a:off x="4507787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17-mark392"/>
          <p:cNvSpPr/>
          <p:nvPr/>
        </p:nvSpPr>
        <p:spPr>
          <a:xfrm flipV="1">
            <a:off x="7681165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7-mark393"/>
          <p:cNvSpPr/>
          <p:nvPr/>
        </p:nvSpPr>
        <p:spPr>
          <a:xfrm flipV="1">
            <a:off x="5952383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7-mark394"/>
          <p:cNvSpPr/>
          <p:nvPr/>
        </p:nvSpPr>
        <p:spPr>
          <a:xfrm>
            <a:off x="5952383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17-mark395"/>
          <p:cNvSpPr/>
          <p:nvPr/>
        </p:nvSpPr>
        <p:spPr>
          <a:xfrm>
            <a:off x="4507787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17-mark396"/>
          <p:cNvSpPr/>
          <p:nvPr/>
        </p:nvSpPr>
        <p:spPr>
          <a:xfrm>
            <a:off x="6295457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7-mark397"/>
          <p:cNvSpPr/>
          <p:nvPr/>
        </p:nvSpPr>
        <p:spPr>
          <a:xfrm flipV="1">
            <a:off x="5952383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7-mark398"/>
          <p:cNvSpPr/>
          <p:nvPr/>
        </p:nvSpPr>
        <p:spPr>
          <a:xfrm>
            <a:off x="5952383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17-mark399"/>
          <p:cNvSpPr/>
          <p:nvPr/>
        </p:nvSpPr>
        <p:spPr>
          <a:xfrm>
            <a:off x="4507787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17-mark400"/>
          <p:cNvSpPr/>
          <p:nvPr/>
        </p:nvSpPr>
        <p:spPr>
          <a:xfrm>
            <a:off x="6295457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7-chip40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56" name="S17-figure402" descr="다: 전지 두 개, 열린 스위치, 전구 두 개를 두 갈래로 이은 병렬 회로"/>
          <p:cNvSpPr/>
          <p:nvPr/>
        </p:nvSpPr>
        <p:spPr>
          <a:xfrm>
            <a:off x="10352604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7-mark403"/>
          <p:cNvSpPr/>
          <p:nvPr/>
        </p:nvSpPr>
        <p:spPr>
          <a:xfrm>
            <a:off x="10881501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7-mark404"/>
          <p:cNvSpPr/>
          <p:nvPr/>
        </p:nvSpPr>
        <p:spPr>
          <a:xfrm>
            <a:off x="9712639" y="2799588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9" name="S17-mark405"/>
          <p:cNvSpPr/>
          <p:nvPr/>
        </p:nvSpPr>
        <p:spPr>
          <a:xfrm>
            <a:off x="9712639" y="3487153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0" name="S17-mark406"/>
          <p:cNvSpPr/>
          <p:nvPr/>
        </p:nvSpPr>
        <p:spPr>
          <a:xfrm>
            <a:off x="8284619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17-mark407"/>
          <p:cNvSpPr/>
          <p:nvPr/>
        </p:nvSpPr>
        <p:spPr>
          <a:xfrm>
            <a:off x="11457998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17-mark408"/>
          <p:cNvSpPr/>
          <p:nvPr/>
        </p:nvSpPr>
        <p:spPr>
          <a:xfrm flipV="1">
            <a:off x="9305389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63" name="S17-mark409"/>
          <p:cNvSpPr/>
          <p:nvPr/>
        </p:nvSpPr>
        <p:spPr>
          <a:xfrm flipV="1">
            <a:off x="9464058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7-mark410"/>
          <p:cNvSpPr/>
          <p:nvPr/>
        </p:nvSpPr>
        <p:spPr>
          <a:xfrm>
            <a:off x="9464058" y="4798817"/>
            <a:ext cx="264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5" name="S17-mark411"/>
          <p:cNvSpPr/>
          <p:nvPr/>
        </p:nvSpPr>
        <p:spPr>
          <a:xfrm flipV="1">
            <a:off x="9728506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66" name="S17-mark412"/>
          <p:cNvSpPr/>
          <p:nvPr/>
        </p:nvSpPr>
        <p:spPr>
          <a:xfrm flipV="1">
            <a:off x="9887175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7" name="S17-mark413"/>
          <p:cNvSpPr/>
          <p:nvPr/>
        </p:nvSpPr>
        <p:spPr>
          <a:xfrm>
            <a:off x="8326931" y="4798817"/>
            <a:ext cx="97845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8" name="S17-mark414"/>
          <p:cNvSpPr/>
          <p:nvPr/>
        </p:nvSpPr>
        <p:spPr>
          <a:xfrm>
            <a:off x="9887175" y="4798817"/>
            <a:ext cx="50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9" name="S17-mark415"/>
          <p:cNvSpPr/>
          <p:nvPr/>
        </p:nvSpPr>
        <p:spPr>
          <a:xfrm>
            <a:off x="10918523" y="4798817"/>
            <a:ext cx="58178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0" name="S17-mark416"/>
          <p:cNvSpPr/>
          <p:nvPr/>
        </p:nvSpPr>
        <p:spPr>
          <a:xfrm flipV="1">
            <a:off x="10389627" y="4507924"/>
            <a:ext cx="449562" cy="290893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1" name="S17-mark417"/>
          <p:cNvSpPr/>
          <p:nvPr/>
        </p:nvSpPr>
        <p:spPr>
          <a:xfrm flipV="1">
            <a:off x="8326931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2" name="S17-mark418"/>
          <p:cNvSpPr/>
          <p:nvPr/>
        </p:nvSpPr>
        <p:spPr>
          <a:xfrm flipV="1">
            <a:off x="11500309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3" name="S17-mark419"/>
          <p:cNvSpPr/>
          <p:nvPr/>
        </p:nvSpPr>
        <p:spPr>
          <a:xfrm flipV="1">
            <a:off x="9771527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4" name="S17-mark420"/>
          <p:cNvSpPr/>
          <p:nvPr/>
        </p:nvSpPr>
        <p:spPr>
          <a:xfrm>
            <a:off x="9771527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5" name="S17-mark421"/>
          <p:cNvSpPr/>
          <p:nvPr/>
        </p:nvSpPr>
        <p:spPr>
          <a:xfrm>
            <a:off x="8326931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6" name="S17-mark422"/>
          <p:cNvSpPr/>
          <p:nvPr/>
        </p:nvSpPr>
        <p:spPr>
          <a:xfrm>
            <a:off x="10114601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7" name="S17-mark423"/>
          <p:cNvSpPr/>
          <p:nvPr/>
        </p:nvSpPr>
        <p:spPr>
          <a:xfrm flipV="1">
            <a:off x="9771527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8" name="S17-mark424"/>
          <p:cNvSpPr/>
          <p:nvPr/>
        </p:nvSpPr>
        <p:spPr>
          <a:xfrm>
            <a:off x="9771527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9" name="S17-mark425"/>
          <p:cNvSpPr/>
          <p:nvPr/>
        </p:nvSpPr>
        <p:spPr>
          <a:xfrm>
            <a:off x="8326931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0" name="S17-mark426"/>
          <p:cNvSpPr/>
          <p:nvPr/>
        </p:nvSpPr>
        <p:spPr>
          <a:xfrm>
            <a:off x="10114601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8-card42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8-cardtext42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전지·전구·전선을 끊긴 곳 없이 이어야 불이 켜져요(전기 회로).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전구를 병렬로 이으면 직렬로 이을 때보다 밝아요.</a:t>
            </a:r>
            <a:endParaRPr lang="ko-KR" sz="2800" dirty="0"/>
          </a:p>
        </p:txBody>
      </p:sp>
      <p:sp>
        <p:nvSpPr>
          <p:cNvPr id="5" name="S18-chip42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전지에서 출발해 길을 따라가 보기</a:t>
            </a:r>
            <a:endParaRPr lang="ko-KR" sz="2200" dirty="0"/>
          </a:p>
        </p:txBody>
      </p:sp>
      <p:sp>
        <p:nvSpPr>
          <p:cNvPr id="6" name="S18-chip43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전지의 두 극을 전선으로 바로 잇기</a:t>
            </a:r>
            <a:endParaRPr lang="ko-KR" sz="2200" dirty="0"/>
          </a:p>
        </p:txBody>
      </p:sp>
      <p:sp>
        <p:nvSpPr>
          <p:cNvPr id="7" name="S18-text43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8-text43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꼬마전구에서 전선을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이어야 하는 두 곳은?</a:t>
            </a:r>
            <a:endParaRPr lang="ko-KR" sz="2200" dirty="0"/>
          </a:p>
        </p:txBody>
      </p:sp>
      <p:sp>
        <p:nvSpPr>
          <p:cNvPr id="9" name="S18-text43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전구를 한 줄로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잇는 연결은?</a:t>
            </a:r>
            <a:endParaRPr lang="ko-KR" sz="2200" dirty="0"/>
          </a:p>
        </p:txBody>
      </p:sp>
      <p:sp>
        <p:nvSpPr>
          <p:cNvPr id="10" name="S18-text43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더 밝게 켜지는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연결은?</a:t>
            </a:r>
            <a:endParaRPr lang="ko-KR" sz="2200" dirty="0"/>
          </a:p>
        </p:txBody>
      </p:sp>
      <p:sp>
        <p:nvSpPr>
          <p:cNvPr id="11" name="S18-text43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전자석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무엇으로 만들었나요?</a:t>
            </a:r>
            <a:endParaRPr lang="ko-KR" sz="4000" dirty="0"/>
          </a:p>
        </p:txBody>
      </p:sp>
      <p:sp>
        <p:nvSpPr>
          <p:cNvPr id="3" name="S19-text4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만든 재료가 물질이에요.</a:t>
            </a:r>
            <a:endParaRPr lang="ko-KR" sz="2800" dirty="0"/>
          </a:p>
        </p:txBody>
      </p:sp>
      <p:sp>
        <p:nvSpPr>
          <p:cNvPr id="4" name="S19-card4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9-cardtext4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‘무엇이야?’는 물체, ‘무엇으로 만들었어?’는 물질이에요.</a:t>
            </a:r>
            <a:endParaRPr lang="ko-KR" sz="2800" dirty="0"/>
          </a:p>
        </p:txBody>
      </p:sp>
      <p:graphicFrame>
        <p:nvGraphicFramePr>
          <p:cNvPr id="19" name="S19-table4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8473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물체(부분)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전선 속의 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금속(구리)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전선의 겉 껍질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플라스틱(고무)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전구의 꼭지쇠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전구의 둥근 부분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과학 전기 회로</dc:title>
  <dc:subject>KR22-G06-SCI-CIRCUIT-L01</dc:subject>
  <dc:creator>education-ppt</dc:creator>
  <cp:lastModifiedBy>education-ppt</cp:lastModifiedBy>
  <cp:revision>1</cp:revision>
  <dcterms:created xsi:type="dcterms:W3CDTF">2026-10-26T13:54:05Z</dcterms:created>
  <dcterms:modified xsi:type="dcterms:W3CDTF">2026-10-26T13:54:05Z</dcterms:modified>
</cp:coreProperties>
</file>