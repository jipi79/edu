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4890304-adb0-f028-36dc-4e1ea3462282}">
          <p14:sldIdLst>
            <p14:sldId id="256"/>
            <p14:sldId id="257"/>
          </p14:sldIdLst>
        </p14:section>
        <p14:section name="연습" id="{8f7450e9-99cc-23de-2d43-1b4cb965c6d3}">
          <p14:sldIdLst>
            <p14:sldId id="258"/>
            <p14:sldId id="259"/>
            <p14:sldId id="260"/>
            <p14:sldId id="262"/>
            <p14:sldId id="265"/>
            <p14:sldId id="266"/>
            <p14:sldId id="267"/>
            <p14:sldId id="269"/>
          </p14:sldIdLst>
        </p14:section>
        <p14:section name="개념" id="{4591c0f7-1478-a105-816b-809e943a6353}">
          <p14:sldIdLst>
            <p14:sldId id="261"/>
            <p14:sldId id="263"/>
            <p14:sldId id="264"/>
            <p14:sldId id="268"/>
          </p14:sldIdLst>
        </p14:section>
        <p14:section name="연습" id="{f312393b-306f-2d90-ca89-cebcca424982}">
          <p14:sldIdLst/>
        </p14:section>
        <p14:section name="개념" id="{fc44d77e-aad4-5c8f-dbbc-4525a102fe62}">
          <p14:sldIdLst/>
        </p14:section>
        <p14:section name="연습" id="{d0156a3a-cb95-0594-7224-43c55fce6fef}">
          <p14:sldIdLst/>
        </p14:section>
        <p14:section name="개념" id="{f590e89a-01b1-7e85-0380-59264e55e6a5}">
          <p14:sldIdLst/>
        </p14:section>
        <p14:section name="연습" id="{2db609f9-1050-85f6-8021-6f50a89ff7ac}">
          <p14:sldIdLst/>
        </p14:section>
        <p14:section name="확인" id="{4802212b-857a-4401-da80-33d78ba143a2}">
          <p14:sldIdLst>
            <p14:sldId id="270"/>
            <p14:sldId id="271"/>
            <p14:sldId id="272"/>
          </p14:sldIdLst>
        </p14:section>
        <p14:section name="정리" id="{670f4498-4645-7e13-7e9d-89a3da1b8732}">
          <p14:sldIdLst>
            <p14:sldId id="273"/>
          </p14:sldIdLst>
        </p14:section>
        <p14:section name="보충" id="{75ef4a98-df5b-baf0-6f6e-312ee325293a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알리고, 전구에 불을 켜는 방법에 궁금증을 갖게 합니다.
시간: 약 2분
이렇게 말해 보세요
- “손전등은 건전지를 넣고 스위치를 누르면 불이 켜지지? 안에서는 무엇이 어떻게 이어져 있을까?”
- “오늘은 건전지, 꼬마전구, 전선으로 직접 불을 켜 보고, 전구 두 개를 어떻게 이으면 더 밝은지 비교해 볼 거야.”
예상 답
- “전선으로 이어져 있어요.” “건전지에서 전기가 나와요.” 어떤 답이든 괜찮습니다.
막히면
- 집의 손전등이나 장난감의 전지 넣는 곳을 보여 주기만 합니다.
주의
- 이 차시는 1.5 V 건전지(AA)만 씁니다. 벽의 콘센트(가정용 전기)에는 어떤 것도 꽂지 않는다고 처음에 약속합니다.
- 준비물: 전지 끼우개(AA 건전지 2개가 한 줄로 들어가는 것), 같은 꼬마전구 2개와 전구 끼우개 2개, 집게 전선 4~5개, 스위치 1개(과학 준비물 전기 회로 세트에 들어 있음). 끼우개에서 뺀 꼬마전구 1개는 S04에서 씁니다.
- LED는 +·−의 방향이 있고 두 개를 직렬로 이으면 켜지지 않을 수 있어, 이 차시에는 꼬마전구를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확인(물체와 물질)]
목적: 초3 ‘물체와 물질’에서 배운 물체와 물질의 구별, 금속·플라스틱 같은 물질을 확인합니다. 오늘 전선·전구가 무엇으로 되어 있는지 말할 때 씁니다.
시간: 약 2분
이렇게 말해 보세요
- “① 컵은 물체야. 그럼 유리는 물체일까, 물질일까?”
- “②③ 집게 전선의 끝을 볼래? 속의 반짝이는 선과 겉의 껍질은 무엇으로 만들었을까?”
정답
- ① 물질
- ② 금속(구리)
- ③ 플라스틱(또는 고무)
막히면
- ①이 흔들리면 S19(보충)를 먼저 합니다. 보충으로도 어려우면 초3 ‘물체와 물질’(KR22-G03-SCI-MATERIAL-L01)을 먼저 다시 합니다.
주의
- 전선 속 금속은 주로 구리입니다. ‘금속’이라고만 해도 맞습니다. 금속을 따라 전기가 흐르는 것은 오늘 S06에서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실험 전 예상하기(불이 켜지는 연결)]
목적: 네 가지 연결을 보고 전구에 불이 켜질지 예상하고 까닭을 말합니다(목표 A). 결과는 S04에서 직접 이어 확인합니다.
시간: 약 2분
이렇게 말해 보세요
- “전선이 전구의 어디에 닿아 있는지 잘 봐. 아래 끝의 작은 금속이 ‘꼭지’, 옆의 나사처럼 생긴 금속이 ‘꼭지쇠’야.”
- “가, 나, 다, 라 중 불이 켜질 것 같은 것은? 왜 그렇게 생각해? 활동지 1의 ‘예상’ 칸에 써 줘.”
예상 답
- 어떤 예상이든 괜찮습니다. “가는 켜질 것 같아요.” “나도 +극이 이어져 있으니까 켜질 것 같아요.” “라는 유리에 댔으니 안 켜질 것 같아요.”
막히면
- 실제 꼬마전구를 손에 들고 꼭지와 꼭지쇠를 손가락으로 짚어 보게 합니다.
주의
- 결과를 알려 주지 않습니다. 그림의 전선 색(빨강·파랑)은 두 전선을 구별하려고 칠한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전구에 불을 켜 보기]
목적: 네 가지 연결을 직접 만들어 보고 결과를 기록하며, 스위치로 회로를 끊고 잇습니다(목표 A, 오해 M1).
시간: 약 4분
이렇게 말해 보세요
- “가처럼 이어 볼래? 불이 켜졌어?”
- “나는 어때? 파란 전선이 전구에 닿지 않으면?”
- “라처럼 유리 부분에 대면?”
- “이제 가 회로의 전선 하나를 스위치로 이어 볼까? 스위치를 누르면? 떼면?”
예상 답
- 가 ○, 나 ×, 다 ○, 라 ×
- “전선 두 개가 꼭지와 꼭지쇠에 따로 닿아야 켜져요.” “스위치를 누르면 켜지고 떼면 꺼져요.”
막히면
- 불이 약하게 켜져 잘 보이지 않으면 방을 조금 어둡게 합니다.
- 꼭지에 전선이 잘 닿지 않으면 부모가 전구를 잡고 아이가 집게 끝을 꼭지에 꾹 대게 합니다.
주의
- 두 전선을 꼭지쇠 한 곳에 함께 대거나, 전선으로 +극과 −극을 바로 이으면 전지가 바로 이어져(합선) 전선과 전지가 뜨거워집니다. 하지 않게 하고, 그런 모양이 되면 바로 뗍니다.
- 켜 둔 꼬마전구의 유리는 뜨거워질 수 있습니다. 오래 켜 두지 않고, 다 보면 전선을 뗍니다.
- 다(+극과 −극을 바꾸어 이음)도 켜집니다. 꼬마전구는 방향과 상관없이 켜집니다(LED는 방향이 있습니다).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결과 정리(불이 켜진 연결)]
목적: 결과를 표로 정리하고 불이 켜진 연결의 공통점을 찾습니다(목표 A).
시간: 약 2분
이렇게 말해 보세요
- “결과 칸을 차례로 말해 줄래? 켜진 것은 어느 것이었어?”
- “켜진 가와 다는 전선이 전구의 어디어디에 닿았어?”
예상 답
- 가 ○, 나 ×, 다 ○, 라 ×
- “전선 하나는 꼭지에, 다른 하나는 꼭지쇠에 닿았어요.” “나는 전선이 끊겨 있었어요.”
막히면
- S03의 그림을 다시 보며 켜진 것과 켜지지 않은 것을 나란히 놓고 비교합니다.
주의
- 화면의 결과 칸은 아이가 말로 채우는 자리입니다. 예상이 달랐다면 예상 칸은 고치지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결과로 설명하기(전기 회로와 불이 켜지는 조건)]
목적: 실험 결과를 증거로 전기 회로의 뜻과 전구에 불이 켜지는 조건을 정리합니다(목표 A, 오해 M1).
시간: 약 3분
이렇게 말해 보세요
- “가와 다는 켜지고, 나와 라는 안 켜졌지? 켜진 회로는 전지에서 나와 전구를 지나 다시 전지로 돌아오는 길이 끊기지 않았어.”
- “이렇게 전지·전구·전선을 끊긴 곳 없이 이어 놓은 것을 ‘전기 회로’라고 해.”
- “라는 왜 안 켜졌을까? 유리는 어떤 물질이지? 전선 속, 꼭지, 꼭지쇠는 모두 무엇으로 되어 있었어?”
예상 답
- “나는 전선이 떨어져 있어서요.” “라는 유리에 대서 그래요.” “전선 속이랑 꼭지쇠는 금속이에요.”
막히면
- 손가락으로 +극에서 출발해 전선 → 전구 → 다른 전선 → −극까지 길을 따라가 보게 합니다. 길이 끊기는 곳에서 멈춥니다.
주의
- 스위치는 회로의 한 곳을 끊었다 이었다 하는 부품입니다. 스위치를 누르면 회로가 이어져 켜집니다.
- 전기가 잘 통하는 물질(금속)과 잘 통하지 않는 물질(유리·플라스틱·고무)의 구별은 오늘 결과를 설명할 만큼만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비교(전선 하나로도 켜진다)]
목적: ‘전선 하나만 이어도 켜진다’는 생각을 실험 결과(나)로 바로잡습니다(목표 A, 오해 M1).
시간: 약 2분
이렇게 말해 보세요
- “토끼 말대로라면 나도 켜져야 하지 않을까? 실제로는 어땠어?”
정답
- 곰. 증거: 나는 +극 전선이 꼭지에 닿았지만 −극 전선이 떨어져 있어 켜지지 않았습니다. 전지 → 전구 → 전지로 끊긴 곳 없이 이어져야 켜집니다.
막히면
- 실제로 나처럼 다시 이어 보고, 파란 전선을 꼭지쇠에 대는 순간 켜지는 것을 보게 합니다.
주의
- 증거를 하나 이상 말하면 잘한 것입니다.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전기 회로를 기호로 나타내기]
목적: 전기 회로를 기호로 나타내는 방법을 알고, 실험한 회로를 기호 그림과 연결합니다(목표 A).
시간: 약 2분
이렇게 말해 보세요
- “전지 기호에서 긴 선과 짧은 선 중 어느 쪽이 +극일까?”
- “이 그림처럼 스위치가 열려 있으면 전구는 켜질까? 스위치를 닫으면?”
- “가 회로를 기호로 그리면 이런 모양이 돼. 활동지 2에 직접 그려 보자.”
예상 답
- “긴 선이 +극이에요.” “열려 있으면 길이 끊겨서 안 켜져요.”
막히면
- 실제 회로 옆에 그림을 놓고 부품을 하나씩 손가락으로 짝지어 봅니다.
주의
- 그림의 전지 기호 두 개는 전지 끼우개에 넣은 건전지 두 개를 나타냅니다.
- 기호는 학교마다 조금씩 다르게 그리기도 합니다. 부품을 알아볼 수 있으면 됩니다. 기호 그리기는 활동지 2에서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전구의 직렬연결과 병렬연결의 뜻]
목적: 전구 두 개를 잇는 두 가지 방법(직렬연결·병렬연결)을 그림으로 구별합니다. 밝기는 아직 말하지 않습니다(목표 B).
시간: 약 2분
이렇게 말해 보세요
- “왼쪽은 전구 두 개를 한 줄로 이었어. 이것을 ‘직렬연결’이라고 해.”
- “오른쪽은 전구를 두 갈래로 나누어 각각 이었어. 이것을 ‘병렬연결’이라고 해.”
- “손가락으로 전지에서 출발해 길을 따라가 볼까? 직렬은 길이 몇 갈래야? 병렬은?”
예상 답
- “직렬은 한 길로 전구 두 개를 다 지나요.” “병렬은 길이 두 갈래로 나뉘어요.”
막히면
- 두 회로의 길을 색연필로 따라 그려 보게 합니다.
주의
- 밝기는 S10에서 예상하고 S11에서 직접 확인합니다. 여기서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실험 전 예상하기(직렬·병렬 밝기)]
목적: 직렬연결과 병렬연결에서 전구의 밝기와 전구 하나를 뺐을 때를 예상합니다(목표 B). 결과는 S11에서 확인합니다.
시간: 약 1분
이렇게 말해 보세요
- “전구 한 개일 때보다 더 밝을까, 비슷할까, 더 어두울까? 왜 그렇게 생각해?”
- “전구 하나를 빼면 다른 하나는 어떻게 될까?”
예상 답
- 어떤 예상이든 괜찮습니다. “직렬은 전구가 두 개니까 더 밝을 것 같아요.” “하나를 빼면 둘 다 꺼질 것 같아요.”
주의
- 결과를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직렬·병렬 회로를 만들어 밝기 비교하기]
목적: 전구 한 개 회로와 비교해 직렬연결·병렬연결의 밝기, 전구 하나를 뺐을 때를 관찰합니다(목표 B, 오해 M2·M3).
시간: 약 5분
이렇게 말해 보세요
- “먼저 전구 한 개일 때 밝기를 잘 기억해 둬.”
- “이번엔 S09의 왼쪽 그림처럼 한 줄로 이어 볼까? 한 개일 때보다 어때?”
- “이제 두 갈래로 이어 보자. 밝기는?”
- “직렬에서 전구 하나를 돌려 빼 봐. 다른 전구는? 병렬에서는?”
예상 답
- “직렬은 두 전구 모두 한 개일 때보다 어두워요.” “병렬은 한 개일 때와 비슷하게 밝아요.” “직렬은 하나를 빼니 둘 다 꺼졌고, 병렬은 남은 하나가 켜져 있어요.”
막히면
- 직렬은 전선 한 개로 두 전구 끼우개를 이어 ‘한 줄’을 만들고, 병렬은 두 전구 끼우개의 양쪽 끝을 각각 서로 이어 ‘사다리’ 모양을 만든다고 알려 줍니다.
- 밝기 차이가 잘 안 보이면 방을 어둡게 하고, 전구 한 개 회로를 옆에 나란히 켜 두고 견줍니다.
주의
- 회로를 바꿀 때는 스위치를 끄거나 전선 하나를 뗀 뒤에 바꿉니다.
- 병렬연결은 전지가 더 빨리 닳습니다. 실험이 끝나면 전지를 끼우개에서 빼 둡니다.
- 전지가 많이 닳았으면 밝기 차이가 작게 보일 수 있습니다. 새 건전지로 하면 잘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결과 정리(직렬·병렬)]
목적: 직렬연결과 병렬연결의 결과를 정리하고 예상과 비교합니다(목표 B).
시간: 약 2분
이렇게 말해 보세요
- “직렬일 때 전구는 한 개일 때보다 어땠어? 병렬일 때는?”
- “전구 하나를 뺐을 때 어느 쪽에서 남은 전구가 켜져 있었어?”
예상 답
- 직렬: 한 개일 때보다 어두움 / 하나를 빼면 다른 전구도 꺼짐
- 병렬: 한 개일 때와 비슷하게 밝음 / 하나를 빼도 다른 전구는 켜져 있음
막히면
- 두 회로를 다시 켜서 나란히 놓고 봅니다.
주의
- 화면의 빈칸은 아이가 말로 채우는 자리입니다.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결과로 설명하기(직렬과 병렬 비교)]
목적: 실험 결과를 증거로 직렬연결과 병렬연결을 잇는 방법·밝기·전구 하나를 뺐을 때로 비교합니다(목표 B).
시간: 약 2분
이렇게 말해 보세요
- “직렬은 길이 한 줄이라 전구 하나를 빼면 길이 끊겨. 그래서 다른 전구도 꺼졌어.”
- “병렬은 길이 두 갈래라 하나가 끊겨도 다른 길로 전기가 흘러.”
- “집 안의 전등은 어느 연결일까? 거실 불을 꺼도 방 불은 켜져 있지?”
예상 답
- “병렬이요. 하나를 꺼도 다른 건 켜져 있어요.”
막히면
- S09의 두 그림에서 전구 하나를 손가락으로 가리고 길이 이어지는지 따라가 봅니다.
주의
- 표의 ‘더 어두워요/더 밝아요’는 직렬과 병렬을 서로 견준 것입니다. 병렬연결한 전구 하나하나는 전구 한 개일 때와 밝기가 비슷합니다.
- 집 안의 전등과 콘센트는 병렬로 이어져 있습니다. 하지만 집의 전기는 매우 위험하므로 절대 직접 만지거나 실험하지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오해 비교(전구가 많으면 더 밝다)]
목적: ‘전구를 더 이으면 무조건 더 밝다’는 생각을 실험 결과로 바로잡습니다(목표 B, 오해 M2).
시간: 약 2분
이렇게 말해 보세요
- “토끼는 전구가 두 개니까 더 밝대. 우리 실험에서 직렬로 이은 전구 하나하나는 어땠어?”
정답
- 곰. 증거: 직렬연결한 두 전구는 전구 한 개일 때보다 하나하나가 어두웠습니다. 전구를 더 밝게 켜려면 병렬로 잇습니다.
막히면
- 전구 한 개 회로와 직렬 회로를 나란히 켜서 다시 봅니다.
주의
- ‘방 전체가 더 밝아 보인다’고 말하면, 전구 하나하나의 밝기를 견주자고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혼자 해결]
목적: 도움 없이 불이 켜지는 조건(①), 기호(②), 직렬·병렬의 차이(③)를 말하는지 확인합니다(목표 A·B).
시간: 약 3분
이렇게 말해 보세요
- “이번에는 혼자 답해 볼래? 왜 그렇게 생각했는지도 말해 줘.”
정답
- ① 꼭지와 꼭지쇠에 하나씩(전지의 +극·−극과 각각 이어 끊긴 곳 없이)
- ② +극
- ③ 병렬연결(두 갈래 길이라 하나가 끊겨도 다른 길로 전기가 흐름)
막히면
- 바로 알려 주지 말고 “가와 다는 전선이 어디에 닿았지?”, “하나를 뺐을 때 남은 전구가 켜져 있던 것은?”이라고만 묻습니다.
- 도움을 받아 해결했다면 기록표에 ‘도움’으로 표시합니다.
주의
- 활동지 2의 기호 그리기도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꼭지와 꼭지쇠에 하나씩 ② +극 ③ 병렬연결
막히면
- ①이 틀리면 S05·S06으로, ②가 틀리면 S08로, ③이 틀리면 S12·S13으로 돌아갑니다.
주의
- 두 전선을 꼭지쇠 한 곳에 대는 것은 전지를 바로 잇는 것과 같아 위험합니다. 다시 한번 짚어 줍니다.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마무리 확인(가장 밝게 켜지는 회로)]
목적: 처음 보는 기호 회로에서 직렬·병렬과 스위치를 구별해 전구의 밝기를 판단하는지 확인합니다(목표 A·B).
시간: 약 2분
이렇게 말해 보세요
- “세 회로를 차례로 손가락으로 따라가 볼래? 어느 것이 직렬이고 어느 것이 병렬이야? 스위치는?”
정답
- 나. 병렬연결이고 스위치가 닫혀 있어 두 전구가 밝게 켜집니다. 가는 직렬연결이라 두 전구가 어둡게 켜지고, 다는 스위치가 열려 있어 켜지지 않습니다.
막히면
- S08의 스위치 기호와 S09의 두 그림을 다시 보여 줍니다.
주의
- 답만 맞히고 다른 두 회로를 설명하지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[S18 · 정리와 다음 수업 복습]
목적: 핵심을 정리하고 다음 수업 첫 5분에 풀 복습 문제를 알려 줍니다.
시간: 약 1분
이렇게 말해 보세요
- “전구에 불이 켜지는 조건을 말해 볼래? 직렬과 병렬은 무엇이 달랐어?”
예상 답
- “꼭지와 꼭지쇠에 전선을 이어 한 바퀴가 되게 해야 해요.” “병렬이 더 밝고 하나를 빼도 켜져요.”
정답
- ① 꼭지, 꼭지쇠 ② 직렬연결 ③ 병렬연결
막히면
- S06과 S13을 다시 보여 줍니다.
주의
- 복습 세 문제는 다음 수업을 시작할 때 활동지 마지막 쪽과 함께 풉니다. 다음 차시(전자석)에서도 전지 끼우개, 집게 전선, 스위치를 다시 씁니다.
- 실험이 끝나면 전지를 끼우개에서 빼서 보관합니다.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[S19 · 선수 학습 보충(물체와 물질)]
목적: S02가 흔들리면, 물체와 물질을 구별하고 전선·전구의 각 부분이 어떤 물질인지 실물을 보며 익힙니다.
시간: 약 4분
이렇게 말해 보세요
- “집게 전선의 끝을 보자. 속의 반짝이는 선은 무엇으로 만들었을까? 겉은?”
- “꼬마전구의 둥근 부분은 무엇으로 만들었을까? 컵과 같은 물질이야.”
예상 답
- “속은 금속이고 겉은 플라스틱이에요.” “둥근 부분은 유리예요.”
막히면
- 실물을 하나씩 들고 ‘○○로 만든 □□’ 문장으로 말하게 합니다(예: 유리로 만든 전구의 둥근 부분).
주의
- 계획상 선수 차시는 초3 ‘물체와 물질’(KR22-G03-SCI-MATERIAL-L01)입니다. 보충으로도 물체와 물질을 구별하기 어려우면 그 차시를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식물과전기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전기 회로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과학 · 전기 회로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과학 · 전기 회로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회로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어떻게 이으면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밝게 켜질까?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전지 끼우개와 전선 두 개로 이어 불이 켜진 꼬마전구"/>
          <p:cNvSpPr/>
          <p:nvPr/>
        </p:nvSpPr>
        <p:spPr>
          <a:xfrm>
            <a:off x="10629854" y="1482873"/>
            <a:ext cx="705888" cy="705888"/>
          </a:xfrm>
          <a:prstGeom prst="ellipse">
            <a:avLst/>
          </a:prstGeom>
          <a:solidFill>
            <a:srgbClr val="FFE27A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180008" y="1991527"/>
            <a:ext cx="1764720" cy="467132"/>
          </a:xfrm>
          <a:custGeom>
            <a:avLst/>
            <a:gdLst/>
            <a:ahLst/>
            <a:cxnLst/>
            <a:rect l="l" t="t" r="r" b="b"/>
            <a:pathLst>
              <a:path w="1764720" h="467132">
                <a:moveTo>
                  <a:pt x="0" y="467132"/>
                </a:moveTo>
                <a:lnTo>
                  <a:pt x="1764720" y="467132"/>
                </a:lnTo>
                <a:lnTo>
                  <a:pt x="17647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8257863" y="2069383"/>
            <a:ext cx="752601" cy="311421"/>
          </a:xfrm>
          <a:custGeom>
            <a:avLst/>
            <a:gdLst/>
            <a:ahLst/>
            <a:cxnLst/>
            <a:rect l="l" t="t" r="r" b="b"/>
            <a:pathLst>
              <a:path w="752601" h="311421">
                <a:moveTo>
                  <a:pt x="0" y="311421"/>
                </a:moveTo>
                <a:lnTo>
                  <a:pt x="752601" y="311421"/>
                </a:lnTo>
                <a:lnTo>
                  <a:pt x="7526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9114272" y="2069383"/>
            <a:ext cx="752601" cy="311421"/>
          </a:xfrm>
          <a:custGeom>
            <a:avLst/>
            <a:gdLst/>
            <a:ahLst/>
            <a:cxnLst/>
            <a:rect l="l" t="t" r="r" b="b"/>
            <a:pathLst>
              <a:path w="752601" h="311421">
                <a:moveTo>
                  <a:pt x="0" y="311421"/>
                </a:moveTo>
                <a:lnTo>
                  <a:pt x="752601" y="311421"/>
                </a:lnTo>
                <a:lnTo>
                  <a:pt x="7526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>
            <a:off x="8102153" y="2147238"/>
            <a:ext cx="77855" cy="155711"/>
          </a:xfrm>
          <a:custGeom>
            <a:avLst/>
            <a:gdLst/>
            <a:ahLst/>
            <a:cxnLst/>
            <a:rect l="l" t="t" r="r" b="b"/>
            <a:pathLst>
              <a:path w="77855" h="155711">
                <a:moveTo>
                  <a:pt x="0" y="155711"/>
                </a:moveTo>
                <a:lnTo>
                  <a:pt x="77855" y="155711"/>
                </a:lnTo>
                <a:lnTo>
                  <a:pt x="7785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>
            <a:off x="9944728" y="2147238"/>
            <a:ext cx="77855" cy="155711"/>
          </a:xfrm>
          <a:custGeom>
            <a:avLst/>
            <a:gdLst/>
            <a:ahLst/>
            <a:cxnLst/>
            <a:rect l="l" t="t" r="r" b="b"/>
            <a:pathLst>
              <a:path w="77855" h="155711">
                <a:moveTo>
                  <a:pt x="0" y="155711"/>
                </a:moveTo>
                <a:lnTo>
                  <a:pt x="77855" y="155711"/>
                </a:lnTo>
                <a:lnTo>
                  <a:pt x="7785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>
            <a:off x="10941276" y="2650702"/>
            <a:ext cx="83046" cy="93426"/>
          </a:xfrm>
          <a:custGeom>
            <a:avLst/>
            <a:gdLst/>
            <a:ahLst/>
            <a:cxnLst/>
            <a:rect l="l" t="t" r="r" b="b"/>
            <a:pathLst>
              <a:path w="83046" h="93426">
                <a:moveTo>
                  <a:pt x="0" y="93426"/>
                </a:moveTo>
                <a:lnTo>
                  <a:pt x="83046" y="93426"/>
                </a:lnTo>
                <a:lnTo>
                  <a:pt x="830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10868611" y="2562466"/>
            <a:ext cx="228375" cy="88236"/>
          </a:xfrm>
          <a:custGeom>
            <a:avLst/>
            <a:gdLst/>
            <a:ahLst/>
            <a:cxnLst/>
            <a:rect l="l" t="t" r="r" b="b"/>
            <a:pathLst>
              <a:path w="228375" h="88236">
                <a:moveTo>
                  <a:pt x="0" y="88236"/>
                </a:moveTo>
                <a:lnTo>
                  <a:pt x="228375" y="88236"/>
                </a:lnTo>
                <a:lnTo>
                  <a:pt x="228375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10801136" y="2199142"/>
            <a:ext cx="363325" cy="363325"/>
          </a:xfrm>
          <a:custGeom>
            <a:avLst/>
            <a:gdLst/>
            <a:ahLst/>
            <a:cxnLst/>
            <a:rect l="l" t="t" r="r" b="b"/>
            <a:pathLst>
              <a:path w="363325" h="363325">
                <a:moveTo>
                  <a:pt x="0" y="363325"/>
                </a:moveTo>
                <a:lnTo>
                  <a:pt x="363325" y="363325"/>
                </a:lnTo>
                <a:lnTo>
                  <a:pt x="363325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10022583" y="2225093"/>
            <a:ext cx="285469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10308053" y="2225093"/>
            <a:ext cx="0" cy="726649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10308053" y="2951743"/>
            <a:ext cx="674746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0982798" y="2744129"/>
            <a:ext cx="0" cy="207614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H="1">
            <a:off x="7764780" y="2225093"/>
            <a:ext cx="337373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7764780" y="1680106"/>
            <a:ext cx="0" cy="544987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7764780" y="1680106"/>
            <a:ext cx="2673031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10437811" y="1680106"/>
            <a:ext cx="0" cy="70069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10437811" y="2380804"/>
            <a:ext cx="36332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10801136" y="2458659"/>
            <a:ext cx="36332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10801136" y="2354852"/>
            <a:ext cx="36332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10801136" y="2251045"/>
            <a:ext cx="363325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 flipV="1">
            <a:off x="10920514" y="1913672"/>
            <a:ext cx="0" cy="285469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 flipV="1">
            <a:off x="11045083" y="1913672"/>
            <a:ext cx="0" cy="285469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>
            <a:off x="10920514" y="1913672"/>
            <a:ext cx="124568" cy="0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29" name="S01-mark26"/>
          <p:cNvSpPr/>
          <p:nvPr/>
        </p:nvSpPr>
        <p:spPr>
          <a:xfrm flipV="1">
            <a:off x="11382740" y="1636994"/>
            <a:ext cx="146320" cy="53256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0" name="S01-mark27"/>
          <p:cNvSpPr/>
          <p:nvPr/>
        </p:nvSpPr>
        <p:spPr>
          <a:xfrm flipV="1">
            <a:off x="11226918" y="1359628"/>
            <a:ext cx="89312" cy="127551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1" name="S01-mark28"/>
          <p:cNvSpPr/>
          <p:nvPr/>
        </p:nvSpPr>
        <p:spPr>
          <a:xfrm flipV="1">
            <a:off x="10982798" y="1254497"/>
            <a:ext cx="0" cy="155711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2" name="S01-mark29"/>
          <p:cNvSpPr/>
          <p:nvPr/>
        </p:nvSpPr>
        <p:spPr>
          <a:xfrm flipH="1" flipV="1">
            <a:off x="10649367" y="1359628"/>
            <a:ext cx="89312" cy="127551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3" name="S01-mark30"/>
          <p:cNvSpPr/>
          <p:nvPr/>
        </p:nvSpPr>
        <p:spPr>
          <a:xfrm flipH="1" flipV="1">
            <a:off x="10436537" y="1636994"/>
            <a:ext cx="146320" cy="53256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4" name="S01-label32"/>
          <p:cNvSpPr txBox="1"/>
          <p:nvPr/>
        </p:nvSpPr>
        <p:spPr>
          <a:xfrm>
            <a:off x="7832904" y="1739047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35" name="S01-label34"/>
          <p:cNvSpPr txBox="1"/>
          <p:nvPr/>
        </p:nvSpPr>
        <p:spPr>
          <a:xfrm>
            <a:off x="10064756" y="1739047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36" name="S01-card3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7" name="S01-cardtext3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전구에 불이 켜지는 조건을 찾아 전기 회로를 만들어요.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전구의 직렬연결과 병렬연결의 밝기를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3학년 기억하기</a:t>
            </a:r>
            <a:endParaRPr lang="ko-KR" sz="4000" dirty="0"/>
          </a:p>
        </p:txBody>
      </p:sp>
      <p:sp>
        <p:nvSpPr>
          <p:cNvPr id="3" name="S02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컵은 물체예요. 컵을 만든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유리는 무엇이라고 하나요?</a:t>
            </a:r>
            <a:endParaRPr lang="ko-KR" sz="2800" dirty="0"/>
          </a:p>
        </p:txBody>
      </p:sp>
      <p:sp>
        <p:nvSpPr>
          <p:cNvPr id="5" name="S02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4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전선 속의 반짝이는 선은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물질로 만들었을까요?</a:t>
            </a:r>
            <a:endParaRPr lang="ko-KR" sz="2800" dirty="0"/>
          </a:p>
        </p:txBody>
      </p:sp>
      <p:sp>
        <p:nvSpPr>
          <p:cNvPr id="7" name="S02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4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전선 겉을 감싼 말랑한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껍질은 어떤 물질일까요?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켜질까요?</a:t>
            </a:r>
            <a:endParaRPr lang="ko-KR" sz="4000" dirty="0"/>
          </a:p>
        </p:txBody>
      </p:sp>
      <p:sp>
        <p:nvSpPr>
          <p:cNvPr id="3" name="S03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켜질지 예상해 활동지 1에 ○, ×로 써요.</a:t>
            </a:r>
            <a:endParaRPr lang="ko-KR" sz="2800" dirty="0"/>
          </a:p>
        </p:txBody>
      </p:sp>
      <p:sp>
        <p:nvSpPr>
          <p:cNvPr id="5" name="S03-chip4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03-figure46" descr="전지 끼우개의 +극 전선은 전구의 꼭지(아래 끝)에, −극 전선은 꼭지쇠(옆의 금속)에 이은 그림"/>
          <p:cNvSpPr/>
          <p:nvPr/>
        </p:nvSpPr>
        <p:spPr>
          <a:xfrm>
            <a:off x="4680722" y="149975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7" name="S03-mark47"/>
          <p:cNvSpPr/>
          <p:nvPr/>
        </p:nvSpPr>
        <p:spPr>
          <a:xfrm>
            <a:off x="2220620" y="201053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3-mark48"/>
          <p:cNvSpPr/>
          <p:nvPr/>
        </p:nvSpPr>
        <p:spPr>
          <a:xfrm>
            <a:off x="2298802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03-mark49"/>
          <p:cNvSpPr/>
          <p:nvPr/>
        </p:nvSpPr>
        <p:spPr>
          <a:xfrm>
            <a:off x="3158795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03-mark50"/>
          <p:cNvSpPr/>
          <p:nvPr/>
        </p:nvSpPr>
        <p:spPr>
          <a:xfrm>
            <a:off x="2142439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3-mark51"/>
          <p:cNvSpPr/>
          <p:nvPr/>
        </p:nvSpPr>
        <p:spPr>
          <a:xfrm>
            <a:off x="3992728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mark52"/>
          <p:cNvSpPr/>
          <p:nvPr/>
        </p:nvSpPr>
        <p:spPr>
          <a:xfrm>
            <a:off x="4993447" y="267247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mark53"/>
          <p:cNvSpPr/>
          <p:nvPr/>
        </p:nvSpPr>
        <p:spPr>
          <a:xfrm>
            <a:off x="4920478" y="258386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mark54"/>
          <p:cNvSpPr/>
          <p:nvPr/>
        </p:nvSpPr>
        <p:spPr>
          <a:xfrm>
            <a:off x="4852721" y="221902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5" name="S03-mark55"/>
          <p:cNvSpPr/>
          <p:nvPr/>
        </p:nvSpPr>
        <p:spPr>
          <a:xfrm>
            <a:off x="4070909" y="2245081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6" name="S03-mark56"/>
          <p:cNvSpPr/>
          <p:nvPr/>
        </p:nvSpPr>
        <p:spPr>
          <a:xfrm>
            <a:off x="4357573" y="2245081"/>
            <a:ext cx="0" cy="72969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7" name="S03-mark57"/>
          <p:cNvSpPr/>
          <p:nvPr/>
        </p:nvSpPr>
        <p:spPr>
          <a:xfrm>
            <a:off x="4357573" y="2974772"/>
            <a:ext cx="677570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8" name="S03-mark58"/>
          <p:cNvSpPr/>
          <p:nvPr/>
        </p:nvSpPr>
        <p:spPr>
          <a:xfrm flipV="1">
            <a:off x="5035144" y="2766289"/>
            <a:ext cx="0" cy="208483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19" name="S03-mark59"/>
          <p:cNvSpPr/>
          <p:nvPr/>
        </p:nvSpPr>
        <p:spPr>
          <a:xfrm flipH="1">
            <a:off x="1803654" y="224508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0" name="S03-mark60"/>
          <p:cNvSpPr/>
          <p:nvPr/>
        </p:nvSpPr>
        <p:spPr>
          <a:xfrm flipV="1">
            <a:off x="1803654" y="1697812"/>
            <a:ext cx="0" cy="54726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1" name="S03-mark61"/>
          <p:cNvSpPr/>
          <p:nvPr/>
        </p:nvSpPr>
        <p:spPr>
          <a:xfrm>
            <a:off x="1803654" y="1697812"/>
            <a:ext cx="2684221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2" name="S03-mark62"/>
          <p:cNvSpPr/>
          <p:nvPr/>
        </p:nvSpPr>
        <p:spPr>
          <a:xfrm>
            <a:off x="4487875" y="1697812"/>
            <a:ext cx="0" cy="70363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3" name="S03-mark63"/>
          <p:cNvSpPr/>
          <p:nvPr/>
        </p:nvSpPr>
        <p:spPr>
          <a:xfrm>
            <a:off x="4487875" y="2401443"/>
            <a:ext cx="364846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4" name="S03-mark64"/>
          <p:cNvSpPr/>
          <p:nvPr/>
        </p:nvSpPr>
        <p:spPr>
          <a:xfrm>
            <a:off x="4852721" y="247962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5" name="S03-mark65"/>
          <p:cNvSpPr/>
          <p:nvPr/>
        </p:nvSpPr>
        <p:spPr>
          <a:xfrm>
            <a:off x="4852721" y="237538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6" name="S03-mark66"/>
          <p:cNvSpPr/>
          <p:nvPr/>
        </p:nvSpPr>
        <p:spPr>
          <a:xfrm>
            <a:off x="4852721" y="227114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7" name="S03-mark67"/>
          <p:cNvSpPr/>
          <p:nvPr/>
        </p:nvSpPr>
        <p:spPr>
          <a:xfrm flipV="1">
            <a:off x="4972599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03-mark68"/>
          <p:cNvSpPr/>
          <p:nvPr/>
        </p:nvSpPr>
        <p:spPr>
          <a:xfrm flipV="1">
            <a:off x="5097689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9" name="S03-mark69"/>
          <p:cNvSpPr/>
          <p:nvPr/>
        </p:nvSpPr>
        <p:spPr>
          <a:xfrm>
            <a:off x="4972599" y="193235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30" name="S03-label71"/>
          <p:cNvSpPr txBox="1"/>
          <p:nvPr/>
        </p:nvSpPr>
        <p:spPr>
          <a:xfrm>
            <a:off x="1872539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31" name="S03-label73"/>
          <p:cNvSpPr txBox="1"/>
          <p:nvPr/>
        </p:nvSpPr>
        <p:spPr>
          <a:xfrm>
            <a:off x="4113733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32" name="S03-chip74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3" name="S03-figure75" descr="전지 끼우개의 +극 전선은 전구의 꼭지에 이었고, −극 전선은 전구에 닿지 않고 끝이 떨어져 있는 그림"/>
          <p:cNvSpPr/>
          <p:nvPr/>
        </p:nvSpPr>
        <p:spPr>
          <a:xfrm>
            <a:off x="10409438" y="149975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34" name="S03-mark76"/>
          <p:cNvSpPr/>
          <p:nvPr/>
        </p:nvSpPr>
        <p:spPr>
          <a:xfrm>
            <a:off x="7949336" y="201053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mark77"/>
          <p:cNvSpPr/>
          <p:nvPr/>
        </p:nvSpPr>
        <p:spPr>
          <a:xfrm>
            <a:off x="8027518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03-mark78"/>
          <p:cNvSpPr/>
          <p:nvPr/>
        </p:nvSpPr>
        <p:spPr>
          <a:xfrm>
            <a:off x="8887511" y="208871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03-mark79"/>
          <p:cNvSpPr/>
          <p:nvPr/>
        </p:nvSpPr>
        <p:spPr>
          <a:xfrm>
            <a:off x="7871155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3-mark80"/>
          <p:cNvSpPr/>
          <p:nvPr/>
        </p:nvSpPr>
        <p:spPr>
          <a:xfrm>
            <a:off x="9721444" y="216689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3-mark81"/>
          <p:cNvSpPr/>
          <p:nvPr/>
        </p:nvSpPr>
        <p:spPr>
          <a:xfrm>
            <a:off x="10722163" y="267247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3-mark82"/>
          <p:cNvSpPr/>
          <p:nvPr/>
        </p:nvSpPr>
        <p:spPr>
          <a:xfrm>
            <a:off x="10649194" y="258386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3-mark83"/>
          <p:cNvSpPr/>
          <p:nvPr/>
        </p:nvSpPr>
        <p:spPr>
          <a:xfrm>
            <a:off x="10581437" y="221902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42" name="S03-mark84"/>
          <p:cNvSpPr/>
          <p:nvPr/>
        </p:nvSpPr>
        <p:spPr>
          <a:xfrm>
            <a:off x="9565081" y="1645691"/>
            <a:ext cx="104242" cy="104242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43" name="S03-mark85"/>
          <p:cNvSpPr/>
          <p:nvPr/>
        </p:nvSpPr>
        <p:spPr>
          <a:xfrm>
            <a:off x="9799625" y="2245081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4" name="S03-mark86"/>
          <p:cNvSpPr/>
          <p:nvPr/>
        </p:nvSpPr>
        <p:spPr>
          <a:xfrm>
            <a:off x="10086289" y="2245081"/>
            <a:ext cx="0" cy="72969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5" name="S03-mark87"/>
          <p:cNvSpPr/>
          <p:nvPr/>
        </p:nvSpPr>
        <p:spPr>
          <a:xfrm>
            <a:off x="10086289" y="2974772"/>
            <a:ext cx="677570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6" name="S03-mark88"/>
          <p:cNvSpPr/>
          <p:nvPr/>
        </p:nvSpPr>
        <p:spPr>
          <a:xfrm flipV="1">
            <a:off x="10763860" y="2766289"/>
            <a:ext cx="0" cy="208483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47" name="S03-mark89"/>
          <p:cNvSpPr/>
          <p:nvPr/>
        </p:nvSpPr>
        <p:spPr>
          <a:xfrm flipH="1">
            <a:off x="7532370" y="224508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48" name="S03-mark90"/>
          <p:cNvSpPr/>
          <p:nvPr/>
        </p:nvSpPr>
        <p:spPr>
          <a:xfrm flipV="1">
            <a:off x="7532370" y="1697812"/>
            <a:ext cx="0" cy="547268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49" name="S03-mark91"/>
          <p:cNvSpPr/>
          <p:nvPr/>
        </p:nvSpPr>
        <p:spPr>
          <a:xfrm>
            <a:off x="7532370" y="1697812"/>
            <a:ext cx="2084832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50" name="S03-mark92"/>
          <p:cNvSpPr/>
          <p:nvPr/>
        </p:nvSpPr>
        <p:spPr>
          <a:xfrm>
            <a:off x="10581437" y="247962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1" name="S03-mark93"/>
          <p:cNvSpPr/>
          <p:nvPr/>
        </p:nvSpPr>
        <p:spPr>
          <a:xfrm>
            <a:off x="10581437" y="237538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2" name="S03-mark94"/>
          <p:cNvSpPr/>
          <p:nvPr/>
        </p:nvSpPr>
        <p:spPr>
          <a:xfrm>
            <a:off x="10581437" y="227114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3" name="S03-mark95"/>
          <p:cNvSpPr/>
          <p:nvPr/>
        </p:nvSpPr>
        <p:spPr>
          <a:xfrm flipV="1">
            <a:off x="10701315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4" name="S03-mark96"/>
          <p:cNvSpPr/>
          <p:nvPr/>
        </p:nvSpPr>
        <p:spPr>
          <a:xfrm flipV="1">
            <a:off x="10826405" y="193235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55" name="S03-mark97"/>
          <p:cNvSpPr/>
          <p:nvPr/>
        </p:nvSpPr>
        <p:spPr>
          <a:xfrm>
            <a:off x="10701315" y="193235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56" name="S03-label99"/>
          <p:cNvSpPr txBox="1"/>
          <p:nvPr/>
        </p:nvSpPr>
        <p:spPr>
          <a:xfrm>
            <a:off x="7601255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57" name="S03-label101"/>
          <p:cNvSpPr txBox="1"/>
          <p:nvPr/>
        </p:nvSpPr>
        <p:spPr>
          <a:xfrm>
            <a:off x="9842449" y="175773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58" name="S03-chip102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59" name="S03-figure103" descr="전지 끼우개의 +극 전선은 전구의 꼭지쇠에, −극 전선은 전구의 꼭지에 이은 그림"/>
          <p:cNvSpPr/>
          <p:nvPr/>
        </p:nvSpPr>
        <p:spPr>
          <a:xfrm>
            <a:off x="4680722" y="353429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60" name="S03-mark104"/>
          <p:cNvSpPr/>
          <p:nvPr/>
        </p:nvSpPr>
        <p:spPr>
          <a:xfrm>
            <a:off x="2220620" y="404507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03-mark105"/>
          <p:cNvSpPr/>
          <p:nvPr/>
        </p:nvSpPr>
        <p:spPr>
          <a:xfrm>
            <a:off x="2298802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2" name="S03-mark106"/>
          <p:cNvSpPr/>
          <p:nvPr/>
        </p:nvSpPr>
        <p:spPr>
          <a:xfrm>
            <a:off x="3158795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3" name="S03-mark107"/>
          <p:cNvSpPr/>
          <p:nvPr/>
        </p:nvSpPr>
        <p:spPr>
          <a:xfrm>
            <a:off x="2142439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3-mark108"/>
          <p:cNvSpPr/>
          <p:nvPr/>
        </p:nvSpPr>
        <p:spPr>
          <a:xfrm>
            <a:off x="3992728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3-mark109"/>
          <p:cNvSpPr/>
          <p:nvPr/>
        </p:nvSpPr>
        <p:spPr>
          <a:xfrm>
            <a:off x="4993447" y="470701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3-mark110"/>
          <p:cNvSpPr/>
          <p:nvPr/>
        </p:nvSpPr>
        <p:spPr>
          <a:xfrm>
            <a:off x="4920478" y="461840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3-mark111"/>
          <p:cNvSpPr/>
          <p:nvPr/>
        </p:nvSpPr>
        <p:spPr>
          <a:xfrm>
            <a:off x="4852721" y="425356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8" name="S03-mark112"/>
          <p:cNvSpPr/>
          <p:nvPr/>
        </p:nvSpPr>
        <p:spPr>
          <a:xfrm>
            <a:off x="4070909" y="4279621"/>
            <a:ext cx="495148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69" name="S03-mark113"/>
          <p:cNvSpPr/>
          <p:nvPr/>
        </p:nvSpPr>
        <p:spPr>
          <a:xfrm>
            <a:off x="4566056" y="4279621"/>
            <a:ext cx="0" cy="156362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70" name="S03-mark114"/>
          <p:cNvSpPr/>
          <p:nvPr/>
        </p:nvSpPr>
        <p:spPr>
          <a:xfrm>
            <a:off x="4566056" y="4435983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71" name="S03-mark115"/>
          <p:cNvSpPr/>
          <p:nvPr/>
        </p:nvSpPr>
        <p:spPr>
          <a:xfrm flipH="1">
            <a:off x="1803654" y="427962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2" name="S03-mark116"/>
          <p:cNvSpPr/>
          <p:nvPr/>
        </p:nvSpPr>
        <p:spPr>
          <a:xfrm>
            <a:off x="1803654" y="4279621"/>
            <a:ext cx="0" cy="729691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3" name="S03-mark117"/>
          <p:cNvSpPr/>
          <p:nvPr/>
        </p:nvSpPr>
        <p:spPr>
          <a:xfrm>
            <a:off x="1803654" y="5009312"/>
            <a:ext cx="323149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4" name="S03-mark118"/>
          <p:cNvSpPr/>
          <p:nvPr/>
        </p:nvSpPr>
        <p:spPr>
          <a:xfrm flipV="1">
            <a:off x="5035144" y="4800829"/>
            <a:ext cx="0" cy="208483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75" name="S03-mark119"/>
          <p:cNvSpPr/>
          <p:nvPr/>
        </p:nvSpPr>
        <p:spPr>
          <a:xfrm>
            <a:off x="4852721" y="451416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6" name="S03-mark120"/>
          <p:cNvSpPr/>
          <p:nvPr/>
        </p:nvSpPr>
        <p:spPr>
          <a:xfrm>
            <a:off x="4852721" y="440992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7" name="S03-mark121"/>
          <p:cNvSpPr/>
          <p:nvPr/>
        </p:nvSpPr>
        <p:spPr>
          <a:xfrm>
            <a:off x="4852721" y="430568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8" name="S03-mark122"/>
          <p:cNvSpPr/>
          <p:nvPr/>
        </p:nvSpPr>
        <p:spPr>
          <a:xfrm flipV="1">
            <a:off x="4972599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79" name="S03-mark123"/>
          <p:cNvSpPr/>
          <p:nvPr/>
        </p:nvSpPr>
        <p:spPr>
          <a:xfrm flipV="1">
            <a:off x="5097689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0" name="S03-mark124"/>
          <p:cNvSpPr/>
          <p:nvPr/>
        </p:nvSpPr>
        <p:spPr>
          <a:xfrm>
            <a:off x="4972599" y="396689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81" name="S03-label126"/>
          <p:cNvSpPr txBox="1"/>
          <p:nvPr/>
        </p:nvSpPr>
        <p:spPr>
          <a:xfrm>
            <a:off x="1872539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82" name="S03-label128"/>
          <p:cNvSpPr txBox="1"/>
          <p:nvPr/>
        </p:nvSpPr>
        <p:spPr>
          <a:xfrm>
            <a:off x="4113733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83" name="S03-chip12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84" name="S03-figure130" descr="전지 끼우개의 +극 전선은 전구의 꼭지에, −극 전선은 전구의 둥근 유리 부분에 댄 그림"/>
          <p:cNvSpPr/>
          <p:nvPr/>
        </p:nvSpPr>
        <p:spPr>
          <a:xfrm>
            <a:off x="10409438" y="3534293"/>
            <a:ext cx="708843" cy="708843"/>
          </a:xfrm>
          <a:prstGeom prst="ellipse">
            <a:avLst/>
          </a:prstGeom>
          <a:solidFill>
            <a:srgbClr val="F8FAFC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85" name="S03-mark131"/>
          <p:cNvSpPr/>
          <p:nvPr/>
        </p:nvSpPr>
        <p:spPr>
          <a:xfrm>
            <a:off x="7949336" y="4045077"/>
            <a:ext cx="1772107" cy="469087"/>
          </a:xfrm>
          <a:custGeom>
            <a:avLst/>
            <a:gdLst/>
            <a:ahLst/>
            <a:cxnLst/>
            <a:rect l="l" t="t" r="r" b="b"/>
            <a:pathLst>
              <a:path w="1772107" h="469087">
                <a:moveTo>
                  <a:pt x="0" y="469087"/>
                </a:moveTo>
                <a:lnTo>
                  <a:pt x="1772107" y="469087"/>
                </a:lnTo>
                <a:lnTo>
                  <a:pt x="177210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3-mark132"/>
          <p:cNvSpPr/>
          <p:nvPr/>
        </p:nvSpPr>
        <p:spPr>
          <a:xfrm>
            <a:off x="8027518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7" name="S03-mark133"/>
          <p:cNvSpPr/>
          <p:nvPr/>
        </p:nvSpPr>
        <p:spPr>
          <a:xfrm>
            <a:off x="8887511" y="4123258"/>
            <a:ext cx="755752" cy="312725"/>
          </a:xfrm>
          <a:custGeom>
            <a:avLst/>
            <a:gdLst/>
            <a:ahLst/>
            <a:cxnLst/>
            <a:rect l="l" t="t" r="r" b="b"/>
            <a:pathLst>
              <a:path w="755752" h="312725">
                <a:moveTo>
                  <a:pt x="0" y="312725"/>
                </a:moveTo>
                <a:lnTo>
                  <a:pt x="755752" y="312725"/>
                </a:lnTo>
                <a:lnTo>
                  <a:pt x="755752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8" name="S03-mark134"/>
          <p:cNvSpPr/>
          <p:nvPr/>
        </p:nvSpPr>
        <p:spPr>
          <a:xfrm>
            <a:off x="7871155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9" name="S03-mark135"/>
          <p:cNvSpPr/>
          <p:nvPr/>
        </p:nvSpPr>
        <p:spPr>
          <a:xfrm>
            <a:off x="9721444" y="4201439"/>
            <a:ext cx="78181" cy="156362"/>
          </a:xfrm>
          <a:custGeom>
            <a:avLst/>
            <a:gdLst/>
            <a:ahLst/>
            <a:cxnLst/>
            <a:rect l="l" t="t" r="r" b="b"/>
            <a:pathLst>
              <a:path w="78181" h="156362">
                <a:moveTo>
                  <a:pt x="0" y="156362"/>
                </a:moveTo>
                <a:lnTo>
                  <a:pt x="78181" y="156362"/>
                </a:lnTo>
                <a:lnTo>
                  <a:pt x="7818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0" name="S03-mark136"/>
          <p:cNvSpPr/>
          <p:nvPr/>
        </p:nvSpPr>
        <p:spPr>
          <a:xfrm>
            <a:off x="10722163" y="4707011"/>
            <a:ext cx="83393" cy="93817"/>
          </a:xfrm>
          <a:custGeom>
            <a:avLst/>
            <a:gdLst/>
            <a:ahLst/>
            <a:cxnLst/>
            <a:rect l="l" t="t" r="r" b="b"/>
            <a:pathLst>
              <a:path w="83393" h="93817">
                <a:moveTo>
                  <a:pt x="0" y="93817"/>
                </a:moveTo>
                <a:lnTo>
                  <a:pt x="83393" y="93817"/>
                </a:lnTo>
                <a:lnTo>
                  <a:pt x="83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1" name="S03-mark137"/>
          <p:cNvSpPr/>
          <p:nvPr/>
        </p:nvSpPr>
        <p:spPr>
          <a:xfrm>
            <a:off x="10649194" y="4618406"/>
            <a:ext cx="229332" cy="88605"/>
          </a:xfrm>
          <a:custGeom>
            <a:avLst/>
            <a:gdLst/>
            <a:ahLst/>
            <a:cxnLst/>
            <a:rect l="l" t="t" r="r" b="b"/>
            <a:pathLst>
              <a:path w="229332" h="88605">
                <a:moveTo>
                  <a:pt x="0" y="88605"/>
                </a:moveTo>
                <a:lnTo>
                  <a:pt x="229332" y="88605"/>
                </a:lnTo>
                <a:lnTo>
                  <a:pt x="229332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2" name="S03-mark138"/>
          <p:cNvSpPr/>
          <p:nvPr/>
        </p:nvSpPr>
        <p:spPr>
          <a:xfrm>
            <a:off x="10581437" y="4253560"/>
            <a:ext cx="364846" cy="364846"/>
          </a:xfrm>
          <a:custGeom>
            <a:avLst/>
            <a:gdLst/>
            <a:ahLst/>
            <a:cxnLst/>
            <a:rect l="l" t="t" r="r" b="b"/>
            <a:pathLst>
              <a:path w="364846" h="364846">
                <a:moveTo>
                  <a:pt x="0" y="364846"/>
                </a:moveTo>
                <a:lnTo>
                  <a:pt x="364846" y="364846"/>
                </a:lnTo>
                <a:lnTo>
                  <a:pt x="364846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93" name="S03-mark139"/>
          <p:cNvSpPr/>
          <p:nvPr/>
        </p:nvSpPr>
        <p:spPr>
          <a:xfrm>
            <a:off x="9799625" y="4279621"/>
            <a:ext cx="286664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4" name="S03-mark140"/>
          <p:cNvSpPr/>
          <p:nvPr/>
        </p:nvSpPr>
        <p:spPr>
          <a:xfrm>
            <a:off x="10086289" y="4279621"/>
            <a:ext cx="0" cy="72969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5" name="S03-mark141"/>
          <p:cNvSpPr/>
          <p:nvPr/>
        </p:nvSpPr>
        <p:spPr>
          <a:xfrm>
            <a:off x="10086289" y="5009312"/>
            <a:ext cx="677570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6" name="S03-mark142"/>
          <p:cNvSpPr/>
          <p:nvPr/>
        </p:nvSpPr>
        <p:spPr>
          <a:xfrm flipV="1">
            <a:off x="10763860" y="4800829"/>
            <a:ext cx="0" cy="208483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97" name="S03-mark143"/>
          <p:cNvSpPr/>
          <p:nvPr/>
        </p:nvSpPr>
        <p:spPr>
          <a:xfrm flipH="1">
            <a:off x="7532370" y="4279621"/>
            <a:ext cx="33878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98" name="S03-mark144"/>
          <p:cNvSpPr/>
          <p:nvPr/>
        </p:nvSpPr>
        <p:spPr>
          <a:xfrm flipV="1">
            <a:off x="7532370" y="3888715"/>
            <a:ext cx="0" cy="39090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99" name="S03-mark145"/>
          <p:cNvSpPr/>
          <p:nvPr/>
        </p:nvSpPr>
        <p:spPr>
          <a:xfrm>
            <a:off x="7532370" y="3888715"/>
            <a:ext cx="2877068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00" name="S03-mark146"/>
          <p:cNvSpPr/>
          <p:nvPr/>
        </p:nvSpPr>
        <p:spPr>
          <a:xfrm>
            <a:off x="10581437" y="4514164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1" name="S03-mark147"/>
          <p:cNvSpPr/>
          <p:nvPr/>
        </p:nvSpPr>
        <p:spPr>
          <a:xfrm>
            <a:off x="10581437" y="4409923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2" name="S03-mark148"/>
          <p:cNvSpPr/>
          <p:nvPr/>
        </p:nvSpPr>
        <p:spPr>
          <a:xfrm>
            <a:off x="10581437" y="4305681"/>
            <a:ext cx="364846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3" name="S03-mark149"/>
          <p:cNvSpPr/>
          <p:nvPr/>
        </p:nvSpPr>
        <p:spPr>
          <a:xfrm flipV="1">
            <a:off x="10701315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4" name="S03-mark150"/>
          <p:cNvSpPr/>
          <p:nvPr/>
        </p:nvSpPr>
        <p:spPr>
          <a:xfrm flipV="1">
            <a:off x="10826405" y="3966896"/>
            <a:ext cx="0" cy="28666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05" name="S03-mark151"/>
          <p:cNvSpPr/>
          <p:nvPr/>
        </p:nvSpPr>
        <p:spPr>
          <a:xfrm>
            <a:off x="10701315" y="3966896"/>
            <a:ext cx="12509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6" name="S03-label153"/>
          <p:cNvSpPr txBox="1"/>
          <p:nvPr/>
        </p:nvSpPr>
        <p:spPr>
          <a:xfrm>
            <a:off x="7601255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107" name="S03-label155"/>
          <p:cNvSpPr txBox="1"/>
          <p:nvPr/>
        </p:nvSpPr>
        <p:spPr>
          <a:xfrm>
            <a:off x="9842449" y="3792271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이어 봐요</a:t>
            </a:r>
            <a:endParaRPr lang="ko-KR" sz="4000" dirty="0"/>
          </a:p>
        </p:txBody>
      </p:sp>
      <p:sp>
        <p:nvSpPr>
          <p:cNvPr id="3" name="S04-card15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콘센트는 절대 쓰지 않아요. 전지의 두 극을 전선으로 바로 잇지 않아요.</a:t>
            </a:r>
            <a:endParaRPr lang="ko-KR" sz="2800" dirty="0"/>
          </a:p>
        </p:txBody>
      </p:sp>
      <p:sp>
        <p:nvSpPr>
          <p:cNvPr id="5" name="S04-card158"/>
          <p:cNvSpPr/>
          <p:nvPr/>
        </p:nvSpPr>
        <p:spPr>
          <a:xfrm>
            <a:off x="6813652" y="1325880"/>
            <a:ext cx="4826660" cy="3466592"/>
          </a:xfrm>
          <a:prstGeom prst="roundRect">
            <a:avLst>
              <a:gd name="adj" fmla="val 316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59"/>
          <p:cNvSpPr txBox="1"/>
          <p:nvPr/>
        </p:nvSpPr>
        <p:spPr>
          <a:xfrm>
            <a:off x="7087972" y="1463040"/>
            <a:ext cx="4278020" cy="319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전선이 닿은 곳을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달라도 본 대로 써요</a:t>
            </a:r>
            <a:endParaRPr lang="ko-KR" sz="2800" dirty="0"/>
          </a:p>
        </p:txBody>
      </p:sp>
      <p:sp>
        <p:nvSpPr>
          <p:cNvPr id="7" name="S04-stepno160"/>
          <p:cNvSpPr txBox="1"/>
          <p:nvPr/>
        </p:nvSpPr>
        <p:spPr>
          <a:xfrm>
            <a:off x="548640" y="1561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161"/>
          <p:cNvSpPr txBox="1"/>
          <p:nvPr/>
        </p:nvSpPr>
        <p:spPr>
          <a:xfrm>
            <a:off x="1325880" y="151536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집게 전선 두 개를 전지 끼우개의 두 극에 하나씩 물려요.</a:t>
            </a:r>
            <a:endParaRPr lang="ko-KR" sz="2200" dirty="0"/>
          </a:p>
        </p:txBody>
      </p:sp>
      <p:sp>
        <p:nvSpPr>
          <p:cNvPr id="9" name="S04-stepno162"/>
          <p:cNvSpPr txBox="1"/>
          <p:nvPr/>
        </p:nvSpPr>
        <p:spPr>
          <a:xfrm>
            <a:off x="548640" y="23616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163"/>
          <p:cNvSpPr txBox="1"/>
          <p:nvPr/>
        </p:nvSpPr>
        <p:spPr>
          <a:xfrm>
            <a:off x="1325880" y="23616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가~라처럼 전구에 대어 봐요.</a:t>
            </a:r>
            <a:endParaRPr lang="ko-KR" sz="2200" dirty="0"/>
          </a:p>
        </p:txBody>
      </p:sp>
      <p:sp>
        <p:nvSpPr>
          <p:cNvPr id="11" name="S04-stepno164"/>
          <p:cNvSpPr txBox="1"/>
          <p:nvPr/>
        </p:nvSpPr>
        <p:spPr>
          <a:xfrm>
            <a:off x="548640" y="31206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165"/>
          <p:cNvSpPr txBox="1"/>
          <p:nvPr/>
        </p:nvSpPr>
        <p:spPr>
          <a:xfrm>
            <a:off x="1325880" y="307492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켜지면 ○, 안 켜지면 ×를 결과 칸에 써요.</a:t>
            </a:r>
            <a:endParaRPr lang="ko-KR" sz="2200" dirty="0"/>
          </a:p>
        </p:txBody>
      </p:sp>
      <p:sp>
        <p:nvSpPr>
          <p:cNvPr id="13" name="S04-stepno166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04-text167"/>
          <p:cNvSpPr txBox="1"/>
          <p:nvPr/>
        </p:nvSpPr>
        <p:spPr>
          <a:xfrm>
            <a:off x="1325880" y="3921252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가처럼 이은 회로에 스위치를 넣어 켜고 꺼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1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1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켜진 것끼리 무엇이 같았나요?</a:t>
            </a:r>
            <a:endParaRPr lang="ko-KR" sz="2800" dirty="0"/>
          </a:p>
        </p:txBody>
      </p:sp>
      <p:graphicFrame>
        <p:nvGraphicFramePr>
          <p:cNvPr id="6" name="S05-table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1367028"/>
                <a:gridCol w="3364992"/>
                <a:gridCol w="3364992"/>
                <a:gridCol w="241858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+극 전선이 닿은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−극 전선이 닿은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닿지 않음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 회로</a:t>
            </a:r>
            <a:endParaRPr lang="ko-KR" sz="4000" dirty="0"/>
          </a:p>
        </p:txBody>
      </p:sp>
      <p:sp>
        <p:nvSpPr>
          <p:cNvPr id="3" name="S06-text1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전지·전구·전선을 끊긴 곳 없이 이은 것을 전기 회로라고 해요.</a:t>
            </a:r>
            <a:endParaRPr lang="ko-KR" sz="2800" dirty="0"/>
          </a:p>
        </p:txBody>
      </p:sp>
      <p:sp>
        <p:nvSpPr>
          <p:cNvPr id="4" name="S06-card173"/>
          <p:cNvSpPr/>
          <p:nvPr/>
        </p:nvSpPr>
        <p:spPr>
          <a:xfrm>
            <a:off x="548640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174"/>
          <p:cNvSpPr txBox="1"/>
          <p:nvPr/>
        </p:nvSpPr>
        <p:spPr>
          <a:xfrm>
            <a:off x="822960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꼭지와 꼭지쇠에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이어요.</a:t>
            </a:r>
            <a:endParaRPr lang="ko-KR" sz="2800" dirty="0"/>
          </a:p>
        </p:txBody>
      </p:sp>
      <p:sp>
        <p:nvSpPr>
          <p:cNvPr id="6" name="S06-card175"/>
          <p:cNvSpPr/>
          <p:nvPr/>
        </p:nvSpPr>
        <p:spPr>
          <a:xfrm>
            <a:off x="4322064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76"/>
          <p:cNvSpPr txBox="1"/>
          <p:nvPr/>
        </p:nvSpPr>
        <p:spPr>
          <a:xfrm>
            <a:off x="4596384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끊긴 곳 없이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바퀴로 이어요.</a:t>
            </a:r>
            <a:endParaRPr lang="ko-KR" sz="2800" dirty="0"/>
          </a:p>
        </p:txBody>
      </p:sp>
      <p:sp>
        <p:nvSpPr>
          <p:cNvPr id="8" name="S06-card177"/>
          <p:cNvSpPr/>
          <p:nvPr/>
        </p:nvSpPr>
        <p:spPr>
          <a:xfrm>
            <a:off x="8095488" y="5021072"/>
            <a:ext cx="3544824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178"/>
          <p:cNvSpPr txBox="1"/>
          <p:nvPr/>
        </p:nvSpPr>
        <p:spPr>
          <a:xfrm>
            <a:off x="8369808" y="5158232"/>
            <a:ext cx="2996184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전기는 금속을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 흘러요.</a:t>
            </a:r>
            <a:endParaRPr lang="ko-KR" sz="2800" dirty="0"/>
          </a:p>
        </p:txBody>
      </p:sp>
      <p:sp>
        <p:nvSpPr>
          <p:cNvPr id="10" name="S06-figure179" descr="불이 켜진 회로: +극 전선은 꼭지에, −극 전선은 꼭지쇠에 이어져 한 바퀴로 이어짐. 꼭지와 꼭지쇠에 이름표"/>
          <p:cNvSpPr/>
          <p:nvPr/>
        </p:nvSpPr>
        <p:spPr>
          <a:xfrm>
            <a:off x="6989501" y="2447117"/>
            <a:ext cx="1086816" cy="1086816"/>
          </a:xfrm>
          <a:prstGeom prst="ellipse">
            <a:avLst/>
          </a:prstGeom>
          <a:solidFill>
            <a:srgbClr val="FFE27A"/>
          </a:solidFill>
          <a:ln w="15875">
            <a:solidFill>
              <a:srgbClr val="64748B"/>
            </a:solidFill>
            <a:prstDash val="solid"/>
          </a:ln>
        </p:spPr>
      </p:sp>
      <p:sp>
        <p:nvSpPr>
          <p:cNvPr id="11" name="S06-mark180"/>
          <p:cNvSpPr/>
          <p:nvPr/>
        </p:nvSpPr>
        <p:spPr>
          <a:xfrm>
            <a:off x="3217611" y="3230263"/>
            <a:ext cx="2717039" cy="719216"/>
          </a:xfrm>
          <a:custGeom>
            <a:avLst/>
            <a:gdLst/>
            <a:ahLst/>
            <a:cxnLst/>
            <a:rect l="l" t="t" r="r" b="b"/>
            <a:pathLst>
              <a:path w="2717039" h="719216">
                <a:moveTo>
                  <a:pt x="0" y="719216"/>
                </a:moveTo>
                <a:lnTo>
                  <a:pt x="2717039" y="719216"/>
                </a:lnTo>
                <a:lnTo>
                  <a:pt x="2717039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mark181"/>
          <p:cNvSpPr/>
          <p:nvPr/>
        </p:nvSpPr>
        <p:spPr>
          <a:xfrm>
            <a:off x="3337481" y="3350133"/>
            <a:ext cx="1158737" cy="479477"/>
          </a:xfrm>
          <a:custGeom>
            <a:avLst/>
            <a:gdLst/>
            <a:ahLst/>
            <a:cxnLst/>
            <a:rect l="l" t="t" r="r" b="b"/>
            <a:pathLst>
              <a:path w="1158737" h="479477">
                <a:moveTo>
                  <a:pt x="0" y="479477"/>
                </a:moveTo>
                <a:lnTo>
                  <a:pt x="1158737" y="479477"/>
                </a:lnTo>
                <a:lnTo>
                  <a:pt x="11587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06-mark182"/>
          <p:cNvSpPr/>
          <p:nvPr/>
        </p:nvSpPr>
        <p:spPr>
          <a:xfrm>
            <a:off x="4656044" y="3350133"/>
            <a:ext cx="1158737" cy="479477"/>
          </a:xfrm>
          <a:custGeom>
            <a:avLst/>
            <a:gdLst/>
            <a:ahLst/>
            <a:cxnLst/>
            <a:rect l="l" t="t" r="r" b="b"/>
            <a:pathLst>
              <a:path w="1158737" h="479477">
                <a:moveTo>
                  <a:pt x="0" y="479477"/>
                </a:moveTo>
                <a:lnTo>
                  <a:pt x="1158737" y="479477"/>
                </a:lnTo>
                <a:lnTo>
                  <a:pt x="115873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06-mark183"/>
          <p:cNvSpPr/>
          <p:nvPr/>
        </p:nvSpPr>
        <p:spPr>
          <a:xfrm>
            <a:off x="3097742" y="3470002"/>
            <a:ext cx="119869" cy="239739"/>
          </a:xfrm>
          <a:custGeom>
            <a:avLst/>
            <a:gdLst/>
            <a:ahLst/>
            <a:cxnLst/>
            <a:rect l="l" t="t" r="r" b="b"/>
            <a:pathLst>
              <a:path w="119869" h="239739">
                <a:moveTo>
                  <a:pt x="0" y="239739"/>
                </a:moveTo>
                <a:lnTo>
                  <a:pt x="119869" y="239739"/>
                </a:lnTo>
                <a:lnTo>
                  <a:pt x="119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mark184"/>
          <p:cNvSpPr/>
          <p:nvPr/>
        </p:nvSpPr>
        <p:spPr>
          <a:xfrm>
            <a:off x="5934650" y="3470002"/>
            <a:ext cx="119869" cy="239739"/>
          </a:xfrm>
          <a:custGeom>
            <a:avLst/>
            <a:gdLst/>
            <a:ahLst/>
            <a:cxnLst/>
            <a:rect l="l" t="t" r="r" b="b"/>
            <a:pathLst>
              <a:path w="119869" h="239739">
                <a:moveTo>
                  <a:pt x="0" y="239739"/>
                </a:moveTo>
                <a:lnTo>
                  <a:pt x="119869" y="239739"/>
                </a:lnTo>
                <a:lnTo>
                  <a:pt x="119869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mark185"/>
          <p:cNvSpPr/>
          <p:nvPr/>
        </p:nvSpPr>
        <p:spPr>
          <a:xfrm>
            <a:off x="7468978" y="4245157"/>
            <a:ext cx="127861" cy="143843"/>
          </a:xfrm>
          <a:custGeom>
            <a:avLst/>
            <a:gdLst/>
            <a:ahLst/>
            <a:cxnLst/>
            <a:rect l="l" t="t" r="r" b="b"/>
            <a:pathLst>
              <a:path w="127861" h="143843">
                <a:moveTo>
                  <a:pt x="0" y="143843"/>
                </a:moveTo>
                <a:lnTo>
                  <a:pt x="127861" y="143843"/>
                </a:lnTo>
                <a:lnTo>
                  <a:pt x="127861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mark186"/>
          <p:cNvSpPr/>
          <p:nvPr/>
        </p:nvSpPr>
        <p:spPr>
          <a:xfrm>
            <a:off x="7357100" y="4109305"/>
            <a:ext cx="351617" cy="135852"/>
          </a:xfrm>
          <a:custGeom>
            <a:avLst/>
            <a:gdLst/>
            <a:ahLst/>
            <a:cxnLst/>
            <a:rect l="l" t="t" r="r" b="b"/>
            <a:pathLst>
              <a:path w="351617" h="135852">
                <a:moveTo>
                  <a:pt x="0" y="135852"/>
                </a:moveTo>
                <a:lnTo>
                  <a:pt x="351617" y="135852"/>
                </a:lnTo>
                <a:lnTo>
                  <a:pt x="351617" y="0"/>
                </a:lnTo>
                <a:lnTo>
                  <a:pt x="0" y="0"/>
                </a:lnTo>
                <a:close/>
              </a:path>
            </a:pathLst>
          </a:custGeom>
          <a:solidFill>
            <a:srgbClr val="374151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mark187"/>
          <p:cNvSpPr/>
          <p:nvPr/>
        </p:nvSpPr>
        <p:spPr>
          <a:xfrm>
            <a:off x="7253213" y="3549915"/>
            <a:ext cx="559390" cy="559390"/>
          </a:xfrm>
          <a:custGeom>
            <a:avLst/>
            <a:gdLst/>
            <a:ahLst/>
            <a:cxnLst/>
            <a:rect l="l" t="t" r="r" b="b"/>
            <a:pathLst>
              <a:path w="559390" h="559390">
                <a:moveTo>
                  <a:pt x="0" y="559390"/>
                </a:moveTo>
                <a:lnTo>
                  <a:pt x="559390" y="559390"/>
                </a:lnTo>
                <a:lnTo>
                  <a:pt x="559390" y="0"/>
                </a:lnTo>
                <a:lnTo>
                  <a:pt x="0" y="0"/>
                </a:lnTo>
                <a:close/>
              </a:path>
            </a:pathLst>
          </a:custGeom>
          <a:solidFill>
            <a:srgbClr val="C0C7D0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9" name="S06-mark188"/>
          <p:cNvSpPr/>
          <p:nvPr/>
        </p:nvSpPr>
        <p:spPr>
          <a:xfrm>
            <a:off x="6054520" y="3589871"/>
            <a:ext cx="439521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0" name="S06-mark189"/>
          <p:cNvSpPr/>
          <p:nvPr/>
        </p:nvSpPr>
        <p:spPr>
          <a:xfrm>
            <a:off x="6494041" y="3589871"/>
            <a:ext cx="0" cy="1118781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1" name="S06-mark190"/>
          <p:cNvSpPr/>
          <p:nvPr/>
        </p:nvSpPr>
        <p:spPr>
          <a:xfrm>
            <a:off x="6494041" y="4708652"/>
            <a:ext cx="1038868" cy="0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2" name="S06-mark191"/>
          <p:cNvSpPr/>
          <p:nvPr/>
        </p:nvSpPr>
        <p:spPr>
          <a:xfrm flipV="1">
            <a:off x="7532908" y="4389000"/>
            <a:ext cx="0" cy="319652"/>
          </a:xfrm>
          <a:prstGeom prst="line">
            <a:avLst/>
          </a:prstGeom>
          <a:noFill/>
          <a:ln w="38100">
            <a:solidFill>
              <a:srgbClr val="C8434E"/>
            </a:solidFill>
            <a:prstDash val="solid"/>
          </a:ln>
        </p:spPr>
      </p:sp>
      <p:sp>
        <p:nvSpPr>
          <p:cNvPr id="23" name="S06-mark192"/>
          <p:cNvSpPr/>
          <p:nvPr/>
        </p:nvSpPr>
        <p:spPr>
          <a:xfrm flipH="1">
            <a:off x="2578308" y="3589871"/>
            <a:ext cx="519434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4" name="S06-mark193"/>
          <p:cNvSpPr/>
          <p:nvPr/>
        </p:nvSpPr>
        <p:spPr>
          <a:xfrm flipV="1">
            <a:off x="2578308" y="2750786"/>
            <a:ext cx="0" cy="839086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5" name="S06-mark194"/>
          <p:cNvSpPr/>
          <p:nvPr/>
        </p:nvSpPr>
        <p:spPr>
          <a:xfrm>
            <a:off x="2578308" y="2750786"/>
            <a:ext cx="4115515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6" name="S06-mark195"/>
          <p:cNvSpPr/>
          <p:nvPr/>
        </p:nvSpPr>
        <p:spPr>
          <a:xfrm>
            <a:off x="6693823" y="2750786"/>
            <a:ext cx="0" cy="1078824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7" name="S06-mark196"/>
          <p:cNvSpPr/>
          <p:nvPr/>
        </p:nvSpPr>
        <p:spPr>
          <a:xfrm>
            <a:off x="6693823" y="3829610"/>
            <a:ext cx="559390" cy="0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8" name="S06-mark197"/>
          <p:cNvSpPr/>
          <p:nvPr/>
        </p:nvSpPr>
        <p:spPr>
          <a:xfrm>
            <a:off x="7628804" y="4349044"/>
            <a:ext cx="503451" cy="159826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9" name="S06-mark198"/>
          <p:cNvSpPr/>
          <p:nvPr/>
        </p:nvSpPr>
        <p:spPr>
          <a:xfrm>
            <a:off x="7820595" y="3829610"/>
            <a:ext cx="31166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0" name="S06-mark199"/>
          <p:cNvSpPr/>
          <p:nvPr/>
        </p:nvSpPr>
        <p:spPr>
          <a:xfrm>
            <a:off x="7253213" y="3949479"/>
            <a:ext cx="55939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1" name="S06-mark200"/>
          <p:cNvSpPr/>
          <p:nvPr/>
        </p:nvSpPr>
        <p:spPr>
          <a:xfrm>
            <a:off x="7253213" y="3789654"/>
            <a:ext cx="55939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06-mark201"/>
          <p:cNvSpPr/>
          <p:nvPr/>
        </p:nvSpPr>
        <p:spPr>
          <a:xfrm>
            <a:off x="7253213" y="3629828"/>
            <a:ext cx="55939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3" name="S06-mark202"/>
          <p:cNvSpPr/>
          <p:nvPr/>
        </p:nvSpPr>
        <p:spPr>
          <a:xfrm flipV="1">
            <a:off x="7437013" y="3110394"/>
            <a:ext cx="0" cy="439521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4" name="S06-mark203"/>
          <p:cNvSpPr/>
          <p:nvPr/>
        </p:nvSpPr>
        <p:spPr>
          <a:xfrm flipV="1">
            <a:off x="7628804" y="3110394"/>
            <a:ext cx="0" cy="439521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5" name="S06-mark204"/>
          <p:cNvSpPr/>
          <p:nvPr/>
        </p:nvSpPr>
        <p:spPr>
          <a:xfrm>
            <a:off x="7437013" y="3110394"/>
            <a:ext cx="191791" cy="0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36" name="S06-mark205"/>
          <p:cNvSpPr/>
          <p:nvPr/>
        </p:nvSpPr>
        <p:spPr>
          <a:xfrm flipV="1">
            <a:off x="8148676" y="2684408"/>
            <a:ext cx="225281" cy="81995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7" name="S06-mark206"/>
          <p:cNvSpPr/>
          <p:nvPr/>
        </p:nvSpPr>
        <p:spPr>
          <a:xfrm flipV="1">
            <a:off x="7908765" y="2257363"/>
            <a:ext cx="137508" cy="196382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8" name="S06-mark207"/>
          <p:cNvSpPr/>
          <p:nvPr/>
        </p:nvSpPr>
        <p:spPr>
          <a:xfrm flipV="1">
            <a:off x="7532908" y="2095500"/>
            <a:ext cx="0" cy="239739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39" name="S06-mark208"/>
          <p:cNvSpPr/>
          <p:nvPr/>
        </p:nvSpPr>
        <p:spPr>
          <a:xfrm flipH="1" flipV="1">
            <a:off x="7019543" y="2257363"/>
            <a:ext cx="137508" cy="196382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40" name="S06-mark209"/>
          <p:cNvSpPr/>
          <p:nvPr/>
        </p:nvSpPr>
        <p:spPr>
          <a:xfrm flipH="1" flipV="1">
            <a:off x="6691860" y="2684408"/>
            <a:ext cx="225281" cy="81995"/>
          </a:xfrm>
          <a:prstGeom prst="line">
            <a:avLst/>
          </a:prstGeom>
          <a:noFill/>
          <a:ln w="25400">
            <a:solidFill>
              <a:srgbClr val="E9A21F"/>
            </a:solidFill>
            <a:prstDash val="solid"/>
          </a:ln>
        </p:spPr>
      </p:sp>
      <p:sp>
        <p:nvSpPr>
          <p:cNvPr id="41" name="S06-label211"/>
          <p:cNvSpPr txBox="1"/>
          <p:nvPr/>
        </p:nvSpPr>
        <p:spPr>
          <a:xfrm>
            <a:off x="2744465" y="2935769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2200" dirty="0"/>
          </a:p>
        </p:txBody>
      </p:sp>
      <p:sp>
        <p:nvSpPr>
          <p:cNvPr id="42" name="S06-label213"/>
          <p:cNvSpPr txBox="1"/>
          <p:nvPr/>
        </p:nvSpPr>
        <p:spPr>
          <a:xfrm>
            <a:off x="6180720" y="2935769"/>
            <a:ext cx="22707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200" dirty="0"/>
          </a:p>
        </p:txBody>
      </p:sp>
      <p:sp>
        <p:nvSpPr>
          <p:cNvPr id="43" name="S06-label215"/>
          <p:cNvSpPr txBox="1"/>
          <p:nvPr/>
        </p:nvSpPr>
        <p:spPr>
          <a:xfrm>
            <a:off x="8212168" y="4365995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꼭지</a:t>
            </a:r>
            <a:endParaRPr lang="ko-KR" sz="1800" dirty="0"/>
          </a:p>
        </p:txBody>
      </p:sp>
      <p:sp>
        <p:nvSpPr>
          <p:cNvPr id="44" name="S06-label217"/>
          <p:cNvSpPr txBox="1"/>
          <p:nvPr/>
        </p:nvSpPr>
        <p:spPr>
          <a:xfrm>
            <a:off x="8212168" y="3686735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꼭지쇠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7-card2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전지에서 나온 전기가 전구까지 가면 불이 켜질까요?</a:t>
            </a:r>
            <a:endParaRPr lang="ko-KR" sz="2800" dirty="0"/>
          </a:p>
        </p:txBody>
      </p:sp>
      <p:sp>
        <p:nvSpPr>
          <p:cNvPr id="5" name="S07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7-chip2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7-text22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+극에서 전구까지 전선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하나만 이으면 켜져요.</a:t>
            </a:r>
            <a:endParaRPr lang="ko-KR" sz="2800" dirty="0"/>
          </a:p>
        </p:txBody>
      </p:sp>
      <p:sp>
        <p:nvSpPr>
          <p:cNvPr id="9" name="S07-chip22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7-text22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나처럼 이으니 안 켜졌어요.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전지로 돌아오는 길도 필요해요.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기호로 나타내요</a:t>
            </a:r>
            <a:endParaRPr lang="ko-KR" sz="4000" dirty="0"/>
          </a:p>
        </p:txBody>
      </p:sp>
      <p:sp>
        <p:nvSpPr>
          <p:cNvPr id="3" name="S08-text2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부품을 간단한 기호로 그리면 회로를 쉽게 나타낼 수 있어요.</a:t>
            </a:r>
            <a:endParaRPr lang="ko-KR" sz="2800" dirty="0"/>
          </a:p>
        </p:txBody>
      </p:sp>
      <p:sp>
        <p:nvSpPr>
          <p:cNvPr id="4" name="S08-figure227" descr="기호로 그린 전기 회로: 아래쪽 전선에 전지 기호 두 개(짧고 굵은 선이 −극, 긴 선이 +극)와 열린 스위치, 위쪽 전선에 전구 기호(원 안에 ×)"/>
          <p:cNvSpPr/>
          <p:nvPr/>
        </p:nvSpPr>
        <p:spPr>
          <a:xfrm>
            <a:off x="3948803" y="5136545"/>
            <a:ext cx="121224" cy="12122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8-mark228"/>
          <p:cNvSpPr/>
          <p:nvPr/>
        </p:nvSpPr>
        <p:spPr>
          <a:xfrm>
            <a:off x="4814689" y="5136545"/>
            <a:ext cx="121224" cy="12122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8-mark229"/>
          <p:cNvSpPr/>
          <p:nvPr/>
        </p:nvSpPr>
        <p:spPr>
          <a:xfrm>
            <a:off x="2901081" y="2616817"/>
            <a:ext cx="658073" cy="658073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08-mark230"/>
          <p:cNvSpPr/>
          <p:nvPr/>
        </p:nvSpPr>
        <p:spPr>
          <a:xfrm flipV="1">
            <a:off x="2234349" y="5006663"/>
            <a:ext cx="0" cy="380990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8" name="S08-mark231"/>
          <p:cNvSpPr/>
          <p:nvPr/>
        </p:nvSpPr>
        <p:spPr>
          <a:xfrm flipV="1">
            <a:off x="2494115" y="4807509"/>
            <a:ext cx="0" cy="77929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mark232"/>
          <p:cNvSpPr/>
          <p:nvPr/>
        </p:nvSpPr>
        <p:spPr>
          <a:xfrm>
            <a:off x="2494115" y="5197158"/>
            <a:ext cx="43294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8-mark233"/>
          <p:cNvSpPr/>
          <p:nvPr/>
        </p:nvSpPr>
        <p:spPr>
          <a:xfrm flipV="1">
            <a:off x="2927058" y="5006663"/>
            <a:ext cx="0" cy="380990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1" name="S08-mark234"/>
          <p:cNvSpPr/>
          <p:nvPr/>
        </p:nvSpPr>
        <p:spPr>
          <a:xfrm flipV="1">
            <a:off x="3186824" y="4807509"/>
            <a:ext cx="0" cy="77929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8-mark235"/>
          <p:cNvSpPr/>
          <p:nvPr/>
        </p:nvSpPr>
        <p:spPr>
          <a:xfrm>
            <a:off x="632460" y="5197158"/>
            <a:ext cx="160188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mark236"/>
          <p:cNvSpPr/>
          <p:nvPr/>
        </p:nvSpPr>
        <p:spPr>
          <a:xfrm>
            <a:off x="3186824" y="5197158"/>
            <a:ext cx="82259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8-mark237"/>
          <p:cNvSpPr/>
          <p:nvPr/>
        </p:nvSpPr>
        <p:spPr>
          <a:xfrm>
            <a:off x="4875301" y="5197158"/>
            <a:ext cx="952475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8-mark238"/>
          <p:cNvSpPr/>
          <p:nvPr/>
        </p:nvSpPr>
        <p:spPr>
          <a:xfrm flipV="1">
            <a:off x="4009415" y="4720920"/>
            <a:ext cx="736003" cy="47623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6" name="S08-mark239"/>
          <p:cNvSpPr/>
          <p:nvPr/>
        </p:nvSpPr>
        <p:spPr>
          <a:xfrm flipV="1">
            <a:off x="632460" y="2945854"/>
            <a:ext cx="0" cy="2251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8-mark240"/>
          <p:cNvSpPr/>
          <p:nvPr/>
        </p:nvSpPr>
        <p:spPr>
          <a:xfrm flipV="1">
            <a:off x="5827776" y="2945854"/>
            <a:ext cx="0" cy="225130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8-mark241"/>
          <p:cNvSpPr/>
          <p:nvPr/>
        </p:nvSpPr>
        <p:spPr>
          <a:xfrm flipV="1">
            <a:off x="2997489" y="2713225"/>
            <a:ext cx="465258" cy="46525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8-mark242"/>
          <p:cNvSpPr/>
          <p:nvPr/>
        </p:nvSpPr>
        <p:spPr>
          <a:xfrm>
            <a:off x="2997489" y="2713225"/>
            <a:ext cx="465258" cy="46525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mark243"/>
          <p:cNvSpPr/>
          <p:nvPr/>
        </p:nvSpPr>
        <p:spPr>
          <a:xfrm>
            <a:off x="632460" y="2945854"/>
            <a:ext cx="22686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8-mark244"/>
          <p:cNvSpPr/>
          <p:nvPr/>
        </p:nvSpPr>
        <p:spPr>
          <a:xfrm>
            <a:off x="3559155" y="2945854"/>
            <a:ext cx="22686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8-label246"/>
          <p:cNvSpPr txBox="1"/>
          <p:nvPr/>
        </p:nvSpPr>
        <p:spPr>
          <a:xfrm>
            <a:off x="2431694" y="570369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</a:t>
            </a:r>
            <a:endParaRPr lang="ko-KR" sz="1800" dirty="0"/>
          </a:p>
        </p:txBody>
      </p:sp>
      <p:sp>
        <p:nvSpPr>
          <p:cNvPr id="23" name="S08-label248"/>
          <p:cNvSpPr txBox="1"/>
          <p:nvPr/>
        </p:nvSpPr>
        <p:spPr>
          <a:xfrm>
            <a:off x="2951226" y="2240153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</a:t>
            </a:r>
            <a:endParaRPr lang="ko-KR" sz="1800" dirty="0"/>
          </a:p>
        </p:txBody>
      </p:sp>
      <p:sp>
        <p:nvSpPr>
          <p:cNvPr id="24" name="S08-label250"/>
          <p:cNvSpPr txBox="1"/>
          <p:nvPr/>
        </p:nvSpPr>
        <p:spPr>
          <a:xfrm>
            <a:off x="4051452" y="4231691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</a:t>
            </a:r>
            <a:endParaRPr lang="ko-KR" sz="1800" dirty="0"/>
          </a:p>
        </p:txBody>
      </p:sp>
      <p:sp>
        <p:nvSpPr>
          <p:cNvPr id="25" name="S08-label252"/>
          <p:cNvSpPr txBox="1"/>
          <p:nvPr/>
        </p:nvSpPr>
        <p:spPr>
          <a:xfrm>
            <a:off x="2131479" y="4534751"/>
            <a:ext cx="205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</a:t>
            </a:r>
            <a:endParaRPr lang="ko-KR" sz="1800" dirty="0"/>
          </a:p>
        </p:txBody>
      </p:sp>
      <p:sp>
        <p:nvSpPr>
          <p:cNvPr id="26" name="S08-label254"/>
          <p:cNvSpPr txBox="1"/>
          <p:nvPr/>
        </p:nvSpPr>
        <p:spPr>
          <a:xfrm>
            <a:off x="3300425" y="4491457"/>
            <a:ext cx="2057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1800" dirty="0"/>
          </a:p>
        </p:txBody>
      </p:sp>
      <p:sp>
        <p:nvSpPr>
          <p:cNvPr id="27" name="S08-card255"/>
          <p:cNvSpPr/>
          <p:nvPr/>
        </p:nvSpPr>
        <p:spPr>
          <a:xfrm>
            <a:off x="6277356" y="225501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8-cardtext256"/>
          <p:cNvSpPr txBox="1"/>
          <p:nvPr/>
        </p:nvSpPr>
        <p:spPr>
          <a:xfrm>
            <a:off x="6551676" y="239217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전지: 긴 선이 +극,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짧고 굵은 선이 −극</a:t>
            </a:r>
            <a:endParaRPr lang="ko-KR" sz="2800" dirty="0"/>
          </a:p>
        </p:txBody>
      </p:sp>
      <p:sp>
        <p:nvSpPr>
          <p:cNvPr id="29" name="S08-card257"/>
          <p:cNvSpPr/>
          <p:nvPr/>
        </p:nvSpPr>
        <p:spPr>
          <a:xfrm>
            <a:off x="6277356" y="368046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8-cardtext258"/>
          <p:cNvSpPr txBox="1"/>
          <p:nvPr/>
        </p:nvSpPr>
        <p:spPr>
          <a:xfrm>
            <a:off x="6551676" y="381762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전구: 원 안에 ×</a:t>
            </a:r>
            <a:endParaRPr lang="ko-KR" sz="2800" dirty="0"/>
          </a:p>
        </p:txBody>
      </p:sp>
      <p:sp>
        <p:nvSpPr>
          <p:cNvPr id="31" name="S08-card259"/>
          <p:cNvSpPr/>
          <p:nvPr/>
        </p:nvSpPr>
        <p:spPr>
          <a:xfrm>
            <a:off x="6277356" y="477774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8-cardtext260"/>
          <p:cNvSpPr txBox="1"/>
          <p:nvPr/>
        </p:nvSpPr>
        <p:spPr>
          <a:xfrm>
            <a:off x="6551676" y="491490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스위치: 닫으면 켜지고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열면 꺼져요.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잇는 방법</a:t>
            </a:r>
            <a:endParaRPr lang="ko-KR" sz="4000" dirty="0"/>
          </a:p>
        </p:txBody>
      </p:sp>
      <p:sp>
        <p:nvSpPr>
          <p:cNvPr id="3" name="S09-card2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2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방법으로 이으면 밝기가 어떻게 다를까요?</a:t>
            </a:r>
            <a:endParaRPr lang="ko-KR" sz="2800" dirty="0"/>
          </a:p>
        </p:txBody>
      </p:sp>
      <p:sp>
        <p:nvSpPr>
          <p:cNvPr id="5" name="S09-figure263" descr="직렬연결 회로: 전지 두 개, 스위치, 전구 두 개가 한 줄로 이어짐"/>
          <p:cNvSpPr/>
          <p:nvPr/>
        </p:nvSpPr>
        <p:spPr>
          <a:xfrm>
            <a:off x="3963396" y="4037376"/>
            <a:ext cx="121757" cy="12175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9-mark264"/>
          <p:cNvSpPr/>
          <p:nvPr/>
        </p:nvSpPr>
        <p:spPr>
          <a:xfrm>
            <a:off x="4833092" y="4037376"/>
            <a:ext cx="121757" cy="12175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9-mark265"/>
          <p:cNvSpPr/>
          <p:nvPr/>
        </p:nvSpPr>
        <p:spPr>
          <a:xfrm>
            <a:off x="2041368" y="1506560"/>
            <a:ext cx="660969" cy="6609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9-mark266"/>
          <p:cNvSpPr/>
          <p:nvPr/>
        </p:nvSpPr>
        <p:spPr>
          <a:xfrm>
            <a:off x="3780760" y="1506560"/>
            <a:ext cx="660969" cy="6609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9" name="S09-mark267"/>
          <p:cNvSpPr/>
          <p:nvPr/>
        </p:nvSpPr>
        <p:spPr>
          <a:xfrm flipV="1">
            <a:off x="2241398" y="3906921"/>
            <a:ext cx="0" cy="382666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0" name="S09-mark268"/>
          <p:cNvSpPr/>
          <p:nvPr/>
        </p:nvSpPr>
        <p:spPr>
          <a:xfrm flipV="1">
            <a:off x="2502306" y="3706891"/>
            <a:ext cx="0" cy="7827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mark269"/>
          <p:cNvSpPr/>
          <p:nvPr/>
        </p:nvSpPr>
        <p:spPr>
          <a:xfrm>
            <a:off x="2502306" y="4098254"/>
            <a:ext cx="4348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9-mark270"/>
          <p:cNvSpPr/>
          <p:nvPr/>
        </p:nvSpPr>
        <p:spPr>
          <a:xfrm flipV="1">
            <a:off x="2937154" y="3906921"/>
            <a:ext cx="0" cy="382666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3" name="S09-mark271"/>
          <p:cNvSpPr/>
          <p:nvPr/>
        </p:nvSpPr>
        <p:spPr>
          <a:xfrm flipV="1">
            <a:off x="3198063" y="3706891"/>
            <a:ext cx="0" cy="7827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9-mark272"/>
          <p:cNvSpPr/>
          <p:nvPr/>
        </p:nvSpPr>
        <p:spPr>
          <a:xfrm>
            <a:off x="632460" y="4098254"/>
            <a:ext cx="160893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9-mark273"/>
          <p:cNvSpPr/>
          <p:nvPr/>
        </p:nvSpPr>
        <p:spPr>
          <a:xfrm>
            <a:off x="3198063" y="4098254"/>
            <a:ext cx="82621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mark274"/>
          <p:cNvSpPr/>
          <p:nvPr/>
        </p:nvSpPr>
        <p:spPr>
          <a:xfrm>
            <a:off x="4893970" y="4098254"/>
            <a:ext cx="95666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9-mark275"/>
          <p:cNvSpPr/>
          <p:nvPr/>
        </p:nvSpPr>
        <p:spPr>
          <a:xfrm flipV="1">
            <a:off x="4024274" y="3993891"/>
            <a:ext cx="869696" cy="10436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8" name="S09-mark276"/>
          <p:cNvSpPr/>
          <p:nvPr/>
        </p:nvSpPr>
        <p:spPr>
          <a:xfrm flipV="1">
            <a:off x="632460" y="1837045"/>
            <a:ext cx="0" cy="22612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9-mark277"/>
          <p:cNvSpPr/>
          <p:nvPr/>
        </p:nvSpPr>
        <p:spPr>
          <a:xfrm flipV="1">
            <a:off x="5850636" y="1837045"/>
            <a:ext cx="0" cy="22612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09-mark278"/>
          <p:cNvSpPr/>
          <p:nvPr/>
        </p:nvSpPr>
        <p:spPr>
          <a:xfrm flipV="1">
            <a:off x="2138199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9-mark279"/>
          <p:cNvSpPr/>
          <p:nvPr/>
        </p:nvSpPr>
        <p:spPr>
          <a:xfrm>
            <a:off x="2138199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9-mark280"/>
          <p:cNvSpPr/>
          <p:nvPr/>
        </p:nvSpPr>
        <p:spPr>
          <a:xfrm>
            <a:off x="632460" y="1837045"/>
            <a:ext cx="14089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9-mark281"/>
          <p:cNvSpPr/>
          <p:nvPr/>
        </p:nvSpPr>
        <p:spPr>
          <a:xfrm flipV="1">
            <a:off x="3877591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mark282"/>
          <p:cNvSpPr/>
          <p:nvPr/>
        </p:nvSpPr>
        <p:spPr>
          <a:xfrm>
            <a:off x="3877591" y="1603392"/>
            <a:ext cx="467305" cy="46730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mark283"/>
          <p:cNvSpPr/>
          <p:nvPr/>
        </p:nvSpPr>
        <p:spPr>
          <a:xfrm>
            <a:off x="2702336" y="1837045"/>
            <a:ext cx="107842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9-mark284"/>
          <p:cNvSpPr/>
          <p:nvPr/>
        </p:nvSpPr>
        <p:spPr>
          <a:xfrm>
            <a:off x="4441728" y="1837045"/>
            <a:ext cx="140890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9-label285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직렬연결: 한 줄로</a:t>
            </a:r>
            <a:endParaRPr lang="ko-KR" sz="2200" dirty="0"/>
          </a:p>
        </p:txBody>
      </p:sp>
      <p:sp>
        <p:nvSpPr>
          <p:cNvPr id="28" name="S09-figure286" descr="병렬연결 회로: 전지 두 개와 스위치에 전구 두 개가 두 갈래로 나뉘어 이어짐"/>
          <p:cNvSpPr/>
          <p:nvPr/>
        </p:nvSpPr>
        <p:spPr>
          <a:xfrm>
            <a:off x="9570743" y="4195952"/>
            <a:ext cx="105142" cy="1051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9-mark287"/>
          <p:cNvSpPr/>
          <p:nvPr/>
        </p:nvSpPr>
        <p:spPr>
          <a:xfrm>
            <a:off x="10321755" y="4195952"/>
            <a:ext cx="105142" cy="10514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9-mark288"/>
          <p:cNvSpPr/>
          <p:nvPr/>
        </p:nvSpPr>
        <p:spPr>
          <a:xfrm>
            <a:off x="8662020" y="1409700"/>
            <a:ext cx="570769" cy="5707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1" name="S09-mark289"/>
          <p:cNvSpPr/>
          <p:nvPr/>
        </p:nvSpPr>
        <p:spPr>
          <a:xfrm>
            <a:off x="8662020" y="2386015"/>
            <a:ext cx="570769" cy="57076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2" name="S09-mark290"/>
          <p:cNvSpPr/>
          <p:nvPr/>
        </p:nvSpPr>
        <p:spPr>
          <a:xfrm>
            <a:off x="6634289" y="2611318"/>
            <a:ext cx="120162" cy="12016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9-mark291"/>
          <p:cNvSpPr/>
          <p:nvPr/>
        </p:nvSpPr>
        <p:spPr>
          <a:xfrm>
            <a:off x="11140357" y="2611318"/>
            <a:ext cx="120162" cy="12016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9-mark292"/>
          <p:cNvSpPr/>
          <p:nvPr/>
        </p:nvSpPr>
        <p:spPr>
          <a:xfrm flipV="1">
            <a:off x="8083741" y="4083300"/>
            <a:ext cx="0" cy="33044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35" name="S09-mark293"/>
          <p:cNvSpPr/>
          <p:nvPr/>
        </p:nvSpPr>
        <p:spPr>
          <a:xfrm flipV="1">
            <a:off x="8309044" y="3910568"/>
            <a:ext cx="0" cy="6759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9-mark294"/>
          <p:cNvSpPr/>
          <p:nvPr/>
        </p:nvSpPr>
        <p:spPr>
          <a:xfrm>
            <a:off x="8309044" y="4248523"/>
            <a:ext cx="37550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9-mark295"/>
          <p:cNvSpPr/>
          <p:nvPr/>
        </p:nvSpPr>
        <p:spPr>
          <a:xfrm flipV="1">
            <a:off x="8684550" y="4083300"/>
            <a:ext cx="0" cy="33044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38" name="S09-mark296"/>
          <p:cNvSpPr/>
          <p:nvPr/>
        </p:nvSpPr>
        <p:spPr>
          <a:xfrm flipV="1">
            <a:off x="8909853" y="3910568"/>
            <a:ext cx="0" cy="67591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09-mark297"/>
          <p:cNvSpPr/>
          <p:nvPr/>
        </p:nvSpPr>
        <p:spPr>
          <a:xfrm>
            <a:off x="6694370" y="4248523"/>
            <a:ext cx="138937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0" name="S09-mark298"/>
          <p:cNvSpPr/>
          <p:nvPr/>
        </p:nvSpPr>
        <p:spPr>
          <a:xfrm>
            <a:off x="8909853" y="4248523"/>
            <a:ext cx="71346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9-mark299"/>
          <p:cNvSpPr/>
          <p:nvPr/>
        </p:nvSpPr>
        <p:spPr>
          <a:xfrm>
            <a:off x="10374326" y="4248523"/>
            <a:ext cx="8261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9-mark300"/>
          <p:cNvSpPr/>
          <p:nvPr/>
        </p:nvSpPr>
        <p:spPr>
          <a:xfrm flipV="1">
            <a:off x="9623314" y="4158402"/>
            <a:ext cx="751011" cy="90121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3" name="S09-mark301"/>
          <p:cNvSpPr/>
          <p:nvPr/>
        </p:nvSpPr>
        <p:spPr>
          <a:xfrm flipV="1">
            <a:off x="6694370" y="1695084"/>
            <a:ext cx="0" cy="255343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09-mark302"/>
          <p:cNvSpPr/>
          <p:nvPr/>
        </p:nvSpPr>
        <p:spPr>
          <a:xfrm flipV="1">
            <a:off x="11200438" y="1695084"/>
            <a:ext cx="0" cy="255343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5" name="S09-mark303"/>
          <p:cNvSpPr/>
          <p:nvPr/>
        </p:nvSpPr>
        <p:spPr>
          <a:xfrm flipV="1">
            <a:off x="8745637" y="1493318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09-mark304"/>
          <p:cNvSpPr/>
          <p:nvPr/>
        </p:nvSpPr>
        <p:spPr>
          <a:xfrm>
            <a:off x="8745637" y="1493318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9-mark305"/>
          <p:cNvSpPr/>
          <p:nvPr/>
        </p:nvSpPr>
        <p:spPr>
          <a:xfrm>
            <a:off x="6694370" y="1695084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9-mark306"/>
          <p:cNvSpPr/>
          <p:nvPr/>
        </p:nvSpPr>
        <p:spPr>
          <a:xfrm>
            <a:off x="9232788" y="1695084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09-mark307"/>
          <p:cNvSpPr/>
          <p:nvPr/>
        </p:nvSpPr>
        <p:spPr>
          <a:xfrm flipV="1">
            <a:off x="8745637" y="2469632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09-mark308"/>
          <p:cNvSpPr/>
          <p:nvPr/>
        </p:nvSpPr>
        <p:spPr>
          <a:xfrm>
            <a:off x="8745637" y="2469632"/>
            <a:ext cx="403533" cy="4035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9-mark309"/>
          <p:cNvSpPr/>
          <p:nvPr/>
        </p:nvSpPr>
        <p:spPr>
          <a:xfrm>
            <a:off x="6694370" y="2671399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9-mark310"/>
          <p:cNvSpPr/>
          <p:nvPr/>
        </p:nvSpPr>
        <p:spPr>
          <a:xfrm>
            <a:off x="9232788" y="2671399"/>
            <a:ext cx="196765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9-label311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병렬연결: 두 갈래로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10-text3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한 개일 때와 비교하면?</a:t>
            </a:r>
            <a:endParaRPr lang="ko-KR" sz="2800" dirty="0"/>
          </a:p>
        </p:txBody>
      </p:sp>
      <p:sp>
        <p:nvSpPr>
          <p:cNvPr id="4" name="S10-card3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3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3에 써요.</a:t>
            </a:r>
            <a:endParaRPr lang="ko-KR" sz="2800" dirty="0"/>
          </a:p>
        </p:txBody>
      </p:sp>
      <p:graphicFrame>
        <p:nvGraphicFramePr>
          <p:cNvPr id="11" name="S10-table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362200"/>
          <a:ext cx="10058400" cy="914400"/>
        </p:xfrm>
        <a:graphic>
          <a:graphicData uri="http://schemas.openxmlformats.org/drawingml/2006/table">
            <a:tbl>
              <a:tblPr/>
              <a:tblGrid>
                <a:gridCol w="5632704"/>
                <a:gridCol w="4425696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궁금한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직렬연결한 전구의 밝기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병렬연결한 전구의 밝기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직렬에서 전구 하나를 빼면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병렬에서 전구 하나를 빼면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밝기를 비교해요</a:t>
            </a:r>
            <a:endParaRPr lang="ko-KR" sz="4000" dirty="0"/>
          </a:p>
        </p:txBody>
      </p:sp>
      <p:sp>
        <p:nvSpPr>
          <p:cNvPr id="3" name="S11-card316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317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전지의 두 극을 전선으로 바로 잇지 않아요. 켜진 전구는 만지지 않아요.</a:t>
            </a:r>
            <a:endParaRPr lang="ko-KR" sz="2800" dirty="0"/>
          </a:p>
        </p:txBody>
      </p:sp>
      <p:sp>
        <p:nvSpPr>
          <p:cNvPr id="5" name="S11-card318"/>
          <p:cNvSpPr/>
          <p:nvPr/>
        </p:nvSpPr>
        <p:spPr>
          <a:xfrm>
            <a:off x="6813652" y="1325880"/>
            <a:ext cx="4826660" cy="3466592"/>
          </a:xfrm>
          <a:prstGeom prst="roundRect">
            <a:avLst>
              <a:gd name="adj" fmla="val 3165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1-cardtext319"/>
          <p:cNvSpPr txBox="1"/>
          <p:nvPr/>
        </p:nvSpPr>
        <p:spPr>
          <a:xfrm>
            <a:off x="7087972" y="1463040"/>
            <a:ext cx="4278020" cy="319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전지는 늘 같은 것을 써요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전구 한 개일 때와 견주어요</a:t>
            </a:r>
            <a:endParaRPr lang="ko-KR" sz="2800" dirty="0"/>
          </a:p>
        </p:txBody>
      </p:sp>
      <p:sp>
        <p:nvSpPr>
          <p:cNvPr id="7" name="S11-stepno320"/>
          <p:cNvSpPr txBox="1"/>
          <p:nvPr/>
        </p:nvSpPr>
        <p:spPr>
          <a:xfrm>
            <a:off x="548640" y="15153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11-text321"/>
          <p:cNvSpPr txBox="1"/>
          <p:nvPr/>
        </p:nvSpPr>
        <p:spPr>
          <a:xfrm>
            <a:off x="1325880" y="15153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한 개 회로를 만들고 밝기를 봐요.</a:t>
            </a:r>
            <a:endParaRPr lang="ko-KR" sz="2200" dirty="0"/>
          </a:p>
        </p:txBody>
      </p:sp>
      <p:sp>
        <p:nvSpPr>
          <p:cNvPr id="9" name="S11-stepno322"/>
          <p:cNvSpPr txBox="1"/>
          <p:nvPr/>
        </p:nvSpPr>
        <p:spPr>
          <a:xfrm>
            <a:off x="548640" y="2274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11-text323"/>
          <p:cNvSpPr txBox="1"/>
          <p:nvPr/>
        </p:nvSpPr>
        <p:spPr>
          <a:xfrm>
            <a:off x="1325880" y="222859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직렬로 이어 밝기를 견주어요.</a:t>
            </a:r>
            <a:endParaRPr lang="ko-KR" sz="2200" dirty="0"/>
          </a:p>
        </p:txBody>
      </p:sp>
      <p:sp>
        <p:nvSpPr>
          <p:cNvPr id="11" name="S11-stepno324"/>
          <p:cNvSpPr txBox="1"/>
          <p:nvPr/>
        </p:nvSpPr>
        <p:spPr>
          <a:xfrm>
            <a:off x="548640" y="31206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11-text325"/>
          <p:cNvSpPr txBox="1"/>
          <p:nvPr/>
        </p:nvSpPr>
        <p:spPr>
          <a:xfrm>
            <a:off x="1325880" y="307492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병렬로 이어 밝기를 견주어요.</a:t>
            </a:r>
            <a:endParaRPr lang="ko-KR" sz="2200" dirty="0"/>
          </a:p>
        </p:txBody>
      </p:sp>
      <p:sp>
        <p:nvSpPr>
          <p:cNvPr id="13" name="S11-stepno326"/>
          <p:cNvSpPr txBox="1"/>
          <p:nvPr/>
        </p:nvSpPr>
        <p:spPr>
          <a:xfrm>
            <a:off x="548640" y="3966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4" name="S11-text327"/>
          <p:cNvSpPr txBox="1"/>
          <p:nvPr/>
        </p:nvSpPr>
        <p:spPr>
          <a:xfrm>
            <a:off x="1325880" y="3921252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직렬과 병렬에서 전구 하나를 끼우개에서 빼 봐요.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3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3을 보며 빈칸을 말로 채워요.</a:t>
            </a:r>
            <a:endParaRPr lang="ko-KR" sz="2800" dirty="0"/>
          </a:p>
        </p:txBody>
      </p:sp>
      <p:sp>
        <p:nvSpPr>
          <p:cNvPr id="4" name="S12-card3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3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연결에서 전구가 더 밝았나요?</a:t>
            </a:r>
            <a:endParaRPr lang="ko-KR" sz="2800" dirty="0"/>
          </a:p>
        </p:txBody>
      </p:sp>
      <p:graphicFrame>
        <p:nvGraphicFramePr>
          <p:cNvPr id="13" name="S12-table3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797302"/>
          <a:ext cx="10515600" cy="914400"/>
        </p:xfrm>
        <a:graphic>
          <a:graphicData uri="http://schemas.openxmlformats.org/drawingml/2006/table">
            <a:tbl>
              <a:tblPr/>
              <a:tblGrid>
                <a:gridCol w="3785616"/>
                <a:gridCol w="3364992"/>
                <a:gridCol w="336499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밝기(한 개와 비교)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전구 하나를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직렬연결과 병렬연결</a:t>
            </a:r>
            <a:endParaRPr lang="ko-KR" sz="4000" dirty="0"/>
          </a:p>
        </p:txBody>
      </p:sp>
      <p:sp>
        <p:nvSpPr>
          <p:cNvPr id="3" name="S13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전구를 병렬로 이으면 직렬로 이을 때보다 밝아요.</a:t>
            </a:r>
            <a:endParaRPr lang="ko-KR" sz="2800" dirty="0"/>
          </a:p>
        </p:txBody>
      </p:sp>
      <p:graphicFrame>
        <p:nvGraphicFramePr>
          <p:cNvPr id="14" name="S13-table3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1941830"/>
          <a:ext cx="10515600" cy="914400"/>
        </p:xfrm>
        <a:graphic>
          <a:graphicData uri="http://schemas.openxmlformats.org/drawingml/2006/table">
            <a:tbl>
              <a:tblPr/>
              <a:tblGrid>
                <a:gridCol w="2734056"/>
                <a:gridCol w="3575304"/>
                <a:gridCol w="42062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병렬연결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잇는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줄로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갈래로 나누어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어두워요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더 밝아요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하나를 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모두 꺼져요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나머지는 켜져요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생활 속 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 안의 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4-card3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3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두 개를 직렬로 이었어요.</a:t>
            </a:r>
            <a:endParaRPr lang="ko-KR" sz="2800" dirty="0"/>
          </a:p>
        </p:txBody>
      </p:sp>
      <p:sp>
        <p:nvSpPr>
          <p:cNvPr id="5" name="S14-card3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3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4-chip3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4-text3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전구가 두 개니까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개일 때보다 밝아요.</a:t>
            </a:r>
            <a:endParaRPr lang="ko-KR" sz="2800" dirty="0"/>
          </a:p>
        </p:txBody>
      </p:sp>
      <p:sp>
        <p:nvSpPr>
          <p:cNvPr id="9" name="S14-chip3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4-text3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 보니 두 전구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개일 때보다 어두웠어요.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5-chip34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5-text34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전구에 불이 켜지려면 전선을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전구의 어디어디에 이어야 하나요?</a:t>
            </a:r>
            <a:endParaRPr lang="ko-KR" sz="2800" dirty="0"/>
          </a:p>
        </p:txBody>
      </p:sp>
      <p:sp>
        <p:nvSpPr>
          <p:cNvPr id="5" name="S15-chip34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5-text34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 기호에서 긴 선은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극일까요?</a:t>
            </a:r>
            <a:endParaRPr lang="ko-KR" sz="2800" dirty="0"/>
          </a:p>
        </p:txBody>
      </p:sp>
      <p:sp>
        <p:nvSpPr>
          <p:cNvPr id="7" name="S15-chip34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5-text34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 하나가 고장 나도 다른 전구가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켜져 있는 연결은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6-card3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6-cardtext3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끊긴 곳 없이 한 바퀴 이어졌는지 따라가 봐요.</a:t>
            </a:r>
            <a:endParaRPr lang="ko-KR" sz="2800" dirty="0"/>
          </a:p>
        </p:txBody>
      </p:sp>
      <p:sp>
        <p:nvSpPr>
          <p:cNvPr id="5" name="S16-chip35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6-text35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꼭지와 꼭지쇠</a:t>
            </a:r>
            <a:endParaRPr lang="ko-KR" sz="2800" dirty="0"/>
          </a:p>
        </p:txBody>
      </p:sp>
      <p:sp>
        <p:nvSpPr>
          <p:cNvPr id="7" name="S16-text35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</a:t>
            </a:r>
            <a:endParaRPr lang="ko-KR" sz="2200" dirty="0"/>
          </a:p>
        </p:txBody>
      </p:sp>
      <p:sp>
        <p:nvSpPr>
          <p:cNvPr id="8" name="S16-text35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+극</a:t>
            </a:r>
            <a:endParaRPr lang="ko-KR" sz="2800" dirty="0"/>
          </a:p>
        </p:txBody>
      </p:sp>
      <p:sp>
        <p:nvSpPr>
          <p:cNvPr id="9" name="S16-text35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선은 −극</a:t>
            </a:r>
            <a:endParaRPr lang="ko-KR" sz="2200" dirty="0"/>
          </a:p>
        </p:txBody>
      </p:sp>
      <p:sp>
        <p:nvSpPr>
          <p:cNvPr id="10" name="S16-text35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병렬연결</a:t>
            </a:r>
            <a:endParaRPr lang="ko-KR" sz="2800" dirty="0"/>
          </a:p>
        </p:txBody>
      </p:sp>
      <p:sp>
        <p:nvSpPr>
          <p:cNvPr id="11" name="S16-text35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갈래 길</a:t>
            </a:r>
            <a:endParaRPr lang="ko-KR" sz="2200" dirty="0"/>
          </a:p>
        </p:txBody>
      </p:sp>
      <p:sp>
        <p:nvSpPr>
          <p:cNvPr id="12" name="S16-chip35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6-text35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꼭지쇠 한 곳에 둘 다</a:t>
            </a:r>
            <a:endParaRPr lang="ko-KR" sz="2800" dirty="0"/>
          </a:p>
        </p:txBody>
      </p:sp>
      <p:sp>
        <p:nvSpPr>
          <p:cNvPr id="14" name="S16-text36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위험(합선)</a:t>
            </a:r>
            <a:endParaRPr lang="ko-KR" sz="2200" dirty="0"/>
          </a:p>
        </p:txBody>
      </p:sp>
      <p:sp>
        <p:nvSpPr>
          <p:cNvPr id="15" name="S16-text36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직렬연결</a:t>
            </a:r>
            <a:endParaRPr lang="ko-KR" sz="2800" dirty="0"/>
          </a:p>
        </p:txBody>
      </p:sp>
      <p:sp>
        <p:nvSpPr>
          <p:cNvPr id="16" name="S16-text36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꺼짐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밝게 켜지는 회로는?</a:t>
            </a:r>
            <a:endParaRPr lang="ko-KR" sz="4000" dirty="0"/>
          </a:p>
        </p:txBody>
      </p:sp>
      <p:sp>
        <p:nvSpPr>
          <p:cNvPr id="3" name="S17-text3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전지와 같은 전구를 썼어요.</a:t>
            </a:r>
            <a:endParaRPr lang="ko-KR" sz="2800" dirty="0"/>
          </a:p>
        </p:txBody>
      </p:sp>
      <p:sp>
        <p:nvSpPr>
          <p:cNvPr id="4" name="S17-card3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7-cardtext3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다른 두 회로는 어떻게 될지 말해요.</a:t>
            </a:r>
            <a:endParaRPr lang="ko-KR" sz="2800" dirty="0"/>
          </a:p>
        </p:txBody>
      </p:sp>
      <p:sp>
        <p:nvSpPr>
          <p:cNvPr id="6" name="S17-chip36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7-figure367" descr="가: 전지 두 개, 닫힌 스위치, 전구 두 개를 한 줄로 이은 직렬 회로"/>
          <p:cNvSpPr/>
          <p:nvPr/>
        </p:nvSpPr>
        <p:spPr>
          <a:xfrm>
            <a:off x="2729860" y="4572615"/>
            <a:ext cx="76667" cy="7666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7-mark368"/>
          <p:cNvSpPr/>
          <p:nvPr/>
        </p:nvSpPr>
        <p:spPr>
          <a:xfrm>
            <a:off x="3277484" y="4572615"/>
            <a:ext cx="76667" cy="76667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7-mark369"/>
          <p:cNvSpPr/>
          <p:nvPr/>
        </p:nvSpPr>
        <p:spPr>
          <a:xfrm>
            <a:off x="1519611" y="2979029"/>
            <a:ext cx="416194" cy="41619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0" name="S17-mark370"/>
          <p:cNvSpPr/>
          <p:nvPr/>
        </p:nvSpPr>
        <p:spPr>
          <a:xfrm>
            <a:off x="2614859" y="2979029"/>
            <a:ext cx="416194" cy="41619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17-mark371"/>
          <p:cNvSpPr/>
          <p:nvPr/>
        </p:nvSpPr>
        <p:spPr>
          <a:xfrm flipV="1">
            <a:off x="1645564" y="4490471"/>
            <a:ext cx="0" cy="24095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2" name="S17-mark372"/>
          <p:cNvSpPr/>
          <p:nvPr/>
        </p:nvSpPr>
        <p:spPr>
          <a:xfrm flipV="1">
            <a:off x="1809852" y="4364518"/>
            <a:ext cx="0" cy="4928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7-mark373"/>
          <p:cNvSpPr/>
          <p:nvPr/>
        </p:nvSpPr>
        <p:spPr>
          <a:xfrm>
            <a:off x="1809852" y="4610948"/>
            <a:ext cx="27381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7-mark374"/>
          <p:cNvSpPr/>
          <p:nvPr/>
        </p:nvSpPr>
        <p:spPr>
          <a:xfrm flipV="1">
            <a:off x="2083664" y="4490471"/>
            <a:ext cx="0" cy="240955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15" name="S17-mark375"/>
          <p:cNvSpPr/>
          <p:nvPr/>
        </p:nvSpPr>
        <p:spPr>
          <a:xfrm flipV="1">
            <a:off x="2247951" y="4364518"/>
            <a:ext cx="0" cy="4928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17-mark376"/>
          <p:cNvSpPr/>
          <p:nvPr/>
        </p:nvSpPr>
        <p:spPr>
          <a:xfrm>
            <a:off x="632460" y="4610948"/>
            <a:ext cx="101310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7-mark377"/>
          <p:cNvSpPr/>
          <p:nvPr/>
        </p:nvSpPr>
        <p:spPr>
          <a:xfrm>
            <a:off x="2247951" y="4610948"/>
            <a:ext cx="52024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7-mark378"/>
          <p:cNvSpPr/>
          <p:nvPr/>
        </p:nvSpPr>
        <p:spPr>
          <a:xfrm>
            <a:off x="3315818" y="4610948"/>
            <a:ext cx="60238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7-mark379"/>
          <p:cNvSpPr/>
          <p:nvPr/>
        </p:nvSpPr>
        <p:spPr>
          <a:xfrm flipV="1">
            <a:off x="2768194" y="4545233"/>
            <a:ext cx="547624" cy="65715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0" name="S17-mark380"/>
          <p:cNvSpPr/>
          <p:nvPr/>
        </p:nvSpPr>
        <p:spPr>
          <a:xfrm flipV="1">
            <a:off x="632460" y="3187126"/>
            <a:ext cx="0" cy="142382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7-mark381"/>
          <p:cNvSpPr/>
          <p:nvPr/>
        </p:nvSpPr>
        <p:spPr>
          <a:xfrm flipV="1">
            <a:off x="3918204" y="3187126"/>
            <a:ext cx="0" cy="142382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17-mark382"/>
          <p:cNvSpPr/>
          <p:nvPr/>
        </p:nvSpPr>
        <p:spPr>
          <a:xfrm flipV="1">
            <a:off x="1580583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7-mark383"/>
          <p:cNvSpPr/>
          <p:nvPr/>
        </p:nvSpPr>
        <p:spPr>
          <a:xfrm>
            <a:off x="1580583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7-mark384"/>
          <p:cNvSpPr/>
          <p:nvPr/>
        </p:nvSpPr>
        <p:spPr>
          <a:xfrm>
            <a:off x="632460" y="3187126"/>
            <a:ext cx="88715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7-mark385"/>
          <p:cNvSpPr/>
          <p:nvPr/>
        </p:nvSpPr>
        <p:spPr>
          <a:xfrm flipV="1">
            <a:off x="2675831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7-mark386"/>
          <p:cNvSpPr/>
          <p:nvPr/>
        </p:nvSpPr>
        <p:spPr>
          <a:xfrm>
            <a:off x="2675831" y="3040001"/>
            <a:ext cx="294249" cy="294249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7-mark387"/>
          <p:cNvSpPr/>
          <p:nvPr/>
        </p:nvSpPr>
        <p:spPr>
          <a:xfrm>
            <a:off x="1935805" y="3187126"/>
            <a:ext cx="67905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7-mark388"/>
          <p:cNvSpPr/>
          <p:nvPr/>
        </p:nvSpPr>
        <p:spPr>
          <a:xfrm>
            <a:off x="3031053" y="3187126"/>
            <a:ext cx="88715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17-chip38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30" name="S17-figure390" descr="나: 전지 두 개, 닫힌 스위치, 전구 두 개를 두 갈래로 이은 병렬 회로"/>
          <p:cNvSpPr/>
          <p:nvPr/>
        </p:nvSpPr>
        <p:spPr>
          <a:xfrm>
            <a:off x="6533460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7-mark391"/>
          <p:cNvSpPr/>
          <p:nvPr/>
        </p:nvSpPr>
        <p:spPr>
          <a:xfrm>
            <a:off x="7062357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7-mark392"/>
          <p:cNvSpPr/>
          <p:nvPr/>
        </p:nvSpPr>
        <p:spPr>
          <a:xfrm>
            <a:off x="5893495" y="2799588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3" name="S17-mark393"/>
          <p:cNvSpPr/>
          <p:nvPr/>
        </p:nvSpPr>
        <p:spPr>
          <a:xfrm>
            <a:off x="5893495" y="3487153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34" name="S17-mark394"/>
          <p:cNvSpPr/>
          <p:nvPr/>
        </p:nvSpPr>
        <p:spPr>
          <a:xfrm>
            <a:off x="4465475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17-mark395"/>
          <p:cNvSpPr/>
          <p:nvPr/>
        </p:nvSpPr>
        <p:spPr>
          <a:xfrm>
            <a:off x="7638854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7-mark396"/>
          <p:cNvSpPr/>
          <p:nvPr/>
        </p:nvSpPr>
        <p:spPr>
          <a:xfrm flipV="1">
            <a:off x="5486245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37" name="S17-mark397"/>
          <p:cNvSpPr/>
          <p:nvPr/>
        </p:nvSpPr>
        <p:spPr>
          <a:xfrm flipV="1">
            <a:off x="5644914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7-mark398"/>
          <p:cNvSpPr/>
          <p:nvPr/>
        </p:nvSpPr>
        <p:spPr>
          <a:xfrm>
            <a:off x="5644914" y="4798817"/>
            <a:ext cx="264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7-mark399"/>
          <p:cNvSpPr/>
          <p:nvPr/>
        </p:nvSpPr>
        <p:spPr>
          <a:xfrm flipV="1">
            <a:off x="5909362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40" name="S17-mark400"/>
          <p:cNvSpPr/>
          <p:nvPr/>
        </p:nvSpPr>
        <p:spPr>
          <a:xfrm flipV="1">
            <a:off x="6068031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17-mark401"/>
          <p:cNvSpPr/>
          <p:nvPr/>
        </p:nvSpPr>
        <p:spPr>
          <a:xfrm>
            <a:off x="4507787" y="4798817"/>
            <a:ext cx="97845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17-mark402"/>
          <p:cNvSpPr/>
          <p:nvPr/>
        </p:nvSpPr>
        <p:spPr>
          <a:xfrm>
            <a:off x="6068031" y="4798817"/>
            <a:ext cx="50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7-mark403"/>
          <p:cNvSpPr/>
          <p:nvPr/>
        </p:nvSpPr>
        <p:spPr>
          <a:xfrm>
            <a:off x="7099379" y="4798817"/>
            <a:ext cx="58178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17-mark404"/>
          <p:cNvSpPr/>
          <p:nvPr/>
        </p:nvSpPr>
        <p:spPr>
          <a:xfrm flipV="1">
            <a:off x="6570483" y="4735349"/>
            <a:ext cx="528896" cy="6346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45" name="S17-mark405"/>
          <p:cNvSpPr/>
          <p:nvPr/>
        </p:nvSpPr>
        <p:spPr>
          <a:xfrm flipV="1">
            <a:off x="4507787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17-mark406"/>
          <p:cNvSpPr/>
          <p:nvPr/>
        </p:nvSpPr>
        <p:spPr>
          <a:xfrm flipV="1">
            <a:off x="7681165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7-mark407"/>
          <p:cNvSpPr/>
          <p:nvPr/>
        </p:nvSpPr>
        <p:spPr>
          <a:xfrm flipV="1">
            <a:off x="5952383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7-mark408"/>
          <p:cNvSpPr/>
          <p:nvPr/>
        </p:nvSpPr>
        <p:spPr>
          <a:xfrm>
            <a:off x="5952383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17-mark409"/>
          <p:cNvSpPr/>
          <p:nvPr/>
        </p:nvSpPr>
        <p:spPr>
          <a:xfrm>
            <a:off x="4507787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0" name="S17-mark410"/>
          <p:cNvSpPr/>
          <p:nvPr/>
        </p:nvSpPr>
        <p:spPr>
          <a:xfrm>
            <a:off x="6295457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7-mark411"/>
          <p:cNvSpPr/>
          <p:nvPr/>
        </p:nvSpPr>
        <p:spPr>
          <a:xfrm flipV="1">
            <a:off x="5952383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7-mark412"/>
          <p:cNvSpPr/>
          <p:nvPr/>
        </p:nvSpPr>
        <p:spPr>
          <a:xfrm>
            <a:off x="5952383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17-mark413"/>
          <p:cNvSpPr/>
          <p:nvPr/>
        </p:nvSpPr>
        <p:spPr>
          <a:xfrm>
            <a:off x="4507787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17-mark414"/>
          <p:cNvSpPr/>
          <p:nvPr/>
        </p:nvSpPr>
        <p:spPr>
          <a:xfrm>
            <a:off x="6295457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5" name="S17-chip41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56" name="S17-figure416" descr="다: 전지 두 개, 열린 스위치, 전구 두 개를 두 갈래로 이은 병렬 회로"/>
          <p:cNvSpPr/>
          <p:nvPr/>
        </p:nvSpPr>
        <p:spPr>
          <a:xfrm>
            <a:off x="10352604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17-mark417"/>
          <p:cNvSpPr/>
          <p:nvPr/>
        </p:nvSpPr>
        <p:spPr>
          <a:xfrm>
            <a:off x="10881501" y="4761794"/>
            <a:ext cx="74046" cy="74046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17-mark418"/>
          <p:cNvSpPr/>
          <p:nvPr/>
        </p:nvSpPr>
        <p:spPr>
          <a:xfrm>
            <a:off x="9712639" y="2799588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9" name="S17-mark419"/>
          <p:cNvSpPr/>
          <p:nvPr/>
        </p:nvSpPr>
        <p:spPr>
          <a:xfrm>
            <a:off x="9712639" y="3487153"/>
            <a:ext cx="401961" cy="401961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0" name="S17-mark420"/>
          <p:cNvSpPr/>
          <p:nvPr/>
        </p:nvSpPr>
        <p:spPr>
          <a:xfrm>
            <a:off x="8284619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17-mark421"/>
          <p:cNvSpPr/>
          <p:nvPr/>
        </p:nvSpPr>
        <p:spPr>
          <a:xfrm>
            <a:off x="11457998" y="3645822"/>
            <a:ext cx="84623" cy="84623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17-mark422"/>
          <p:cNvSpPr/>
          <p:nvPr/>
        </p:nvSpPr>
        <p:spPr>
          <a:xfrm flipV="1">
            <a:off x="9305389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63" name="S17-mark423"/>
          <p:cNvSpPr/>
          <p:nvPr/>
        </p:nvSpPr>
        <p:spPr>
          <a:xfrm flipV="1">
            <a:off x="9464058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7-mark424"/>
          <p:cNvSpPr/>
          <p:nvPr/>
        </p:nvSpPr>
        <p:spPr>
          <a:xfrm>
            <a:off x="9464058" y="4798817"/>
            <a:ext cx="264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5" name="S17-mark425"/>
          <p:cNvSpPr/>
          <p:nvPr/>
        </p:nvSpPr>
        <p:spPr>
          <a:xfrm flipV="1">
            <a:off x="9728506" y="4682459"/>
            <a:ext cx="0" cy="232714"/>
          </a:xfrm>
          <a:prstGeom prst="line">
            <a:avLst/>
          </a:prstGeom>
          <a:noFill/>
          <a:ln w="63500">
            <a:solidFill>
              <a:srgbClr val="1F2937"/>
            </a:solidFill>
            <a:prstDash val="solid"/>
          </a:ln>
        </p:spPr>
      </p:sp>
      <p:sp>
        <p:nvSpPr>
          <p:cNvPr id="66" name="S17-mark426"/>
          <p:cNvSpPr/>
          <p:nvPr/>
        </p:nvSpPr>
        <p:spPr>
          <a:xfrm flipV="1">
            <a:off x="9887175" y="4560813"/>
            <a:ext cx="0" cy="47600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7" name="S17-mark427"/>
          <p:cNvSpPr/>
          <p:nvPr/>
        </p:nvSpPr>
        <p:spPr>
          <a:xfrm>
            <a:off x="8326931" y="4798817"/>
            <a:ext cx="97845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8" name="S17-mark428"/>
          <p:cNvSpPr/>
          <p:nvPr/>
        </p:nvSpPr>
        <p:spPr>
          <a:xfrm>
            <a:off x="9887175" y="4798817"/>
            <a:ext cx="50245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9" name="S17-mark429"/>
          <p:cNvSpPr/>
          <p:nvPr/>
        </p:nvSpPr>
        <p:spPr>
          <a:xfrm>
            <a:off x="10918523" y="4798817"/>
            <a:ext cx="58178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0" name="S17-mark430"/>
          <p:cNvSpPr/>
          <p:nvPr/>
        </p:nvSpPr>
        <p:spPr>
          <a:xfrm flipV="1">
            <a:off x="10389627" y="4507924"/>
            <a:ext cx="449562" cy="290893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1" name="S17-mark431"/>
          <p:cNvSpPr/>
          <p:nvPr/>
        </p:nvSpPr>
        <p:spPr>
          <a:xfrm flipV="1">
            <a:off x="8326931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2" name="S17-mark432"/>
          <p:cNvSpPr/>
          <p:nvPr/>
        </p:nvSpPr>
        <p:spPr>
          <a:xfrm flipV="1">
            <a:off x="11500309" y="3000569"/>
            <a:ext cx="0" cy="179824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3" name="S17-mark433"/>
          <p:cNvSpPr/>
          <p:nvPr/>
        </p:nvSpPr>
        <p:spPr>
          <a:xfrm flipV="1">
            <a:off x="9771527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4" name="S17-mark434"/>
          <p:cNvSpPr/>
          <p:nvPr/>
        </p:nvSpPr>
        <p:spPr>
          <a:xfrm>
            <a:off x="9771527" y="2858475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5" name="S17-mark435"/>
          <p:cNvSpPr/>
          <p:nvPr/>
        </p:nvSpPr>
        <p:spPr>
          <a:xfrm>
            <a:off x="8326931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6" name="S17-mark436"/>
          <p:cNvSpPr/>
          <p:nvPr/>
        </p:nvSpPr>
        <p:spPr>
          <a:xfrm>
            <a:off x="10114601" y="3000569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7" name="S17-mark437"/>
          <p:cNvSpPr/>
          <p:nvPr/>
        </p:nvSpPr>
        <p:spPr>
          <a:xfrm flipV="1">
            <a:off x="9771527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8" name="S17-mark438"/>
          <p:cNvSpPr/>
          <p:nvPr/>
        </p:nvSpPr>
        <p:spPr>
          <a:xfrm>
            <a:off x="9771527" y="3546041"/>
            <a:ext cx="284187" cy="28418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9" name="S17-mark439"/>
          <p:cNvSpPr/>
          <p:nvPr/>
        </p:nvSpPr>
        <p:spPr>
          <a:xfrm>
            <a:off x="8326931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0" name="S17-mark440"/>
          <p:cNvSpPr/>
          <p:nvPr/>
        </p:nvSpPr>
        <p:spPr>
          <a:xfrm>
            <a:off x="10114601" y="3688134"/>
            <a:ext cx="1385709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8-card44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8-cardtext44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전지·전구·전선을 끊긴 곳 없이 이어야 불이 켜져요(전기 회로).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전구를 병렬로 이으면 직렬로 이을 때보다 밝아요.</a:t>
            </a:r>
            <a:endParaRPr lang="ko-KR" sz="2800" dirty="0"/>
          </a:p>
        </p:txBody>
      </p:sp>
      <p:sp>
        <p:nvSpPr>
          <p:cNvPr id="5" name="S18-chip44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전지에서 출발해 길을 따라가 보기</a:t>
            </a:r>
            <a:endParaRPr lang="ko-KR" sz="2200" dirty="0"/>
          </a:p>
        </p:txBody>
      </p:sp>
      <p:sp>
        <p:nvSpPr>
          <p:cNvPr id="6" name="S18-chip44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전지의 두 극을 전선으로 바로 잇기</a:t>
            </a:r>
            <a:endParaRPr lang="ko-KR" sz="2200" dirty="0"/>
          </a:p>
        </p:txBody>
      </p:sp>
      <p:sp>
        <p:nvSpPr>
          <p:cNvPr id="7" name="S18-text44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8-text44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꼬마전구에서 전선을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이어야 하는 두 곳은?</a:t>
            </a:r>
            <a:endParaRPr lang="ko-KR" sz="2200" dirty="0"/>
          </a:p>
        </p:txBody>
      </p:sp>
      <p:sp>
        <p:nvSpPr>
          <p:cNvPr id="9" name="S18-text44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전구를 한 줄로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잇는 연결은?</a:t>
            </a:r>
            <a:endParaRPr lang="ko-KR" sz="2200" dirty="0"/>
          </a:p>
        </p:txBody>
      </p:sp>
      <p:sp>
        <p:nvSpPr>
          <p:cNvPr id="10" name="S18-text44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더 밝게 켜지는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연결은?</a:t>
            </a:r>
            <a:endParaRPr lang="ko-KR" sz="2200" dirty="0"/>
          </a:p>
        </p:txBody>
      </p:sp>
      <p:sp>
        <p:nvSpPr>
          <p:cNvPr id="11" name="S18-text44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전자석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무엇으로 만들었나요?</a:t>
            </a:r>
            <a:endParaRPr lang="ko-KR" sz="4000" dirty="0"/>
          </a:p>
        </p:txBody>
      </p:sp>
      <p:sp>
        <p:nvSpPr>
          <p:cNvPr id="3" name="S19-text45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물체를 만든 재료가 물질이에요.</a:t>
            </a:r>
            <a:endParaRPr lang="ko-KR" sz="2800" dirty="0"/>
          </a:p>
        </p:txBody>
      </p:sp>
      <p:sp>
        <p:nvSpPr>
          <p:cNvPr id="4" name="S19-card45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9-cardtext45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‘무엇이야?’는 물체, ‘무엇으로 만들었어?’는 물질이에요.</a:t>
            </a:r>
            <a:endParaRPr lang="ko-KR" sz="2800" dirty="0"/>
          </a:p>
        </p:txBody>
      </p:sp>
      <p:graphicFrame>
        <p:nvGraphicFramePr>
          <p:cNvPr id="20" name="S19-table4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8473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물체(부분)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전선 속의 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금속(구리)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전선의 겉 껍질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플라스틱(고무)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전구의 꼭지쇠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금속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전구의 둥근 부분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과학 전기 회로</dc:title>
  <dc:subject>KR22-G06-SCI-CIRCUIT-L01</dc:subject>
  <dc:creator>education-ppt</dc:creator>
  <cp:lastModifiedBy>education-ppt</cp:lastModifiedBy>
  <cp:revision>1</cp:revision>
  <dcterms:created xsi:type="dcterms:W3CDTF">2026-10-26T13:54:04Z</dcterms:created>
  <dcterms:modified xsi:type="dcterms:W3CDTF">2026-10-26T13:54:04Z</dcterms:modified>
</cp:coreProperties>
</file>