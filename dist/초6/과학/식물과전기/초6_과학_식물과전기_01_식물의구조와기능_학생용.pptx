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8b733a2-4c96-8cc2-733c-39777b87124b}">
          <p14:sldIdLst>
            <p14:sldId id="256"/>
            <p14:sldId id="257"/>
          </p14:sldIdLst>
        </p14:section>
        <p14:section name="연습" id="{79d55b25-e70e-764b-b3a3-638091cf4c67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7"/>
            <p14:sldId id="270"/>
          </p14:sldIdLst>
        </p14:section>
        <p14:section name="개념" id="{14c0a0fc-eeaf-f687-5cd5-1ef437d400b4}">
          <p14:sldIdLst>
            <p14:sldId id="261"/>
            <p14:sldId id="266"/>
            <p14:sldId id="268"/>
            <p14:sldId id="269"/>
          </p14:sldIdLst>
        </p14:section>
        <p14:section name="연습" id="{b179968f-2dad-f3b2-d9cb-89c5cf30e3c1}">
          <p14:sldIdLst/>
        </p14:section>
        <p14:section name="개념" id="{534e5dcf-cc80-6eec-aab1-1633a82949fd}">
          <p14:sldIdLst/>
        </p14:section>
        <p14:section name="연습" id="{c08c5d5f-8dc8-7fb5-42ef-a2f9847fbdfc}">
          <p14:sldIdLst/>
        </p14:section>
        <p14:section name="개념" id="{c58da4d0-5cbc-5e87-5ec6-50f189d950a3}">
          <p14:sldIdLst/>
        </p14:section>
        <p14:section name="연습" id="{5687426a-9730-2259-a8b1-5e00f235f580}">
          <p14:sldIdLst/>
        </p14:section>
        <p14:section name="확인" id="{d16e2c56-da6e-9016-cde9-a1e734024dde}">
          <p14:sldIdLst>
            <p14:sldId id="271"/>
            <p14:sldId id="272"/>
          </p14:sldIdLst>
        </p14:section>
        <p14:section name="정리" id="{b471dd50-c7a8-bcc4-365a-5a55db90e3e0}">
          <p14:sldIdLst>
            <p14:sldId id="273"/>
          </p14:sldIdLst>
        </p14:section>
        <p14:section name="보충" id="{239de140-dcd9-aca5-3539-d4d6dcdc6a92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과학 · 식물과전기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과학 · 식물의 구조와 기능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과학 · 식물의 구조와 기능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과학 · 식물의 구조와 기능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식물의 구조와 기능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식물의 뿌리·줄기·잎·꽃은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무슨 일을 할까?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뿌리·줄기·잎·꽃·열매가 있는 식물"/>
          <p:cNvSpPr/>
          <p:nvPr/>
        </p:nvSpPr>
        <p:spPr>
          <a:xfrm>
            <a:off x="8503069" y="2602455"/>
            <a:ext cx="2287701" cy="879885"/>
          </a:xfrm>
          <a:custGeom>
            <a:avLst/>
            <a:gdLst/>
            <a:ahLst/>
            <a:cxnLst/>
            <a:rect l="l" t="t" r="r" b="b"/>
            <a:pathLst>
              <a:path w="2287701" h="879885">
                <a:moveTo>
                  <a:pt x="0" y="879885"/>
                </a:moveTo>
                <a:lnTo>
                  <a:pt x="2287701" y="879885"/>
                </a:lnTo>
                <a:lnTo>
                  <a:pt x="2287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EFE4D2"/>
          </a:solidFill>
          <a:ln/>
        </p:spPr>
      </p:sp>
      <p:sp>
        <p:nvSpPr>
          <p:cNvPr id="6" name="S01-mark3"/>
          <p:cNvSpPr/>
          <p:nvPr/>
        </p:nvSpPr>
        <p:spPr>
          <a:xfrm>
            <a:off x="8943012" y="1817157"/>
            <a:ext cx="703908" cy="382750"/>
          </a:xfrm>
          <a:custGeom>
            <a:avLst/>
            <a:gdLst/>
            <a:ahLst/>
            <a:cxnLst/>
            <a:rect l="l" t="t" r="r" b="b"/>
            <a:pathLst>
              <a:path w="703908" h="382750">
                <a:moveTo>
                  <a:pt x="703908" y="345355"/>
                </a:moveTo>
                <a:lnTo>
                  <a:pt x="607561" y="373511"/>
                </a:lnTo>
                <a:lnTo>
                  <a:pt x="520012" y="382750"/>
                </a:lnTo>
                <a:lnTo>
                  <a:pt x="436863" y="380550"/>
                </a:lnTo>
                <a:lnTo>
                  <a:pt x="358993" y="367352"/>
                </a:lnTo>
                <a:lnTo>
                  <a:pt x="285963" y="342715"/>
                </a:lnTo>
                <a:lnTo>
                  <a:pt x="218212" y="305760"/>
                </a:lnTo>
                <a:lnTo>
                  <a:pt x="155300" y="257366"/>
                </a:lnTo>
                <a:lnTo>
                  <a:pt x="97667" y="197974"/>
                </a:lnTo>
                <a:lnTo>
                  <a:pt x="44434" y="127143"/>
                </a:lnTo>
                <a:lnTo>
                  <a:pt x="0" y="37395"/>
                </a:lnTo>
                <a:lnTo>
                  <a:pt x="96347" y="9239"/>
                </a:lnTo>
                <a:lnTo>
                  <a:pt x="183896" y="0"/>
                </a:lnTo>
                <a:lnTo>
                  <a:pt x="267045" y="2200"/>
                </a:lnTo>
                <a:lnTo>
                  <a:pt x="344915" y="15398"/>
                </a:lnTo>
                <a:lnTo>
                  <a:pt x="417945" y="40035"/>
                </a:lnTo>
                <a:lnTo>
                  <a:pt x="485697" y="76990"/>
                </a:lnTo>
                <a:lnTo>
                  <a:pt x="548608" y="125384"/>
                </a:lnTo>
                <a:lnTo>
                  <a:pt x="606241" y="184776"/>
                </a:lnTo>
                <a:lnTo>
                  <a:pt x="659474" y="255607"/>
                </a:lnTo>
                <a:lnTo>
                  <a:pt x="703908" y="345355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646920" y="1495559"/>
            <a:ext cx="703908" cy="366032"/>
          </a:xfrm>
          <a:custGeom>
            <a:avLst/>
            <a:gdLst/>
            <a:ahLst/>
            <a:cxnLst/>
            <a:rect l="l" t="t" r="r" b="b"/>
            <a:pathLst>
              <a:path w="703908" h="366032">
                <a:moveTo>
                  <a:pt x="0" y="314999"/>
                </a:moveTo>
                <a:lnTo>
                  <a:pt x="47954" y="228330"/>
                </a:lnTo>
                <a:lnTo>
                  <a:pt x="102947" y="161019"/>
                </a:lnTo>
                <a:lnTo>
                  <a:pt x="162339" y="105586"/>
                </a:lnTo>
                <a:lnTo>
                  <a:pt x="226130" y="61152"/>
                </a:lnTo>
                <a:lnTo>
                  <a:pt x="293882" y="28596"/>
                </a:lnTo>
                <a:lnTo>
                  <a:pt x="366912" y="8359"/>
                </a:lnTo>
                <a:lnTo>
                  <a:pt x="443902" y="0"/>
                </a:lnTo>
                <a:lnTo>
                  <a:pt x="525291" y="2640"/>
                </a:lnTo>
                <a:lnTo>
                  <a:pt x="611080" y="17158"/>
                </a:lnTo>
                <a:lnTo>
                  <a:pt x="703908" y="51033"/>
                </a:lnTo>
                <a:lnTo>
                  <a:pt x="655954" y="137702"/>
                </a:lnTo>
                <a:lnTo>
                  <a:pt x="600962" y="205013"/>
                </a:lnTo>
                <a:lnTo>
                  <a:pt x="541569" y="260446"/>
                </a:lnTo>
                <a:lnTo>
                  <a:pt x="477778" y="304880"/>
                </a:lnTo>
                <a:lnTo>
                  <a:pt x="410026" y="337436"/>
                </a:lnTo>
                <a:lnTo>
                  <a:pt x="336996" y="357673"/>
                </a:lnTo>
                <a:lnTo>
                  <a:pt x="260006" y="366032"/>
                </a:lnTo>
                <a:lnTo>
                  <a:pt x="178617" y="363393"/>
                </a:lnTo>
                <a:lnTo>
                  <a:pt x="92828" y="348874"/>
                </a:lnTo>
                <a:lnTo>
                  <a:pt x="0" y="314999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646920" y="2228504"/>
            <a:ext cx="527931" cy="263966"/>
          </a:xfrm>
          <a:custGeom>
            <a:avLst/>
            <a:gdLst/>
            <a:ahLst/>
            <a:cxnLst/>
            <a:rect l="l" t="t" r="r" b="b"/>
            <a:pathLst>
              <a:path w="527931" h="263966">
                <a:moveTo>
                  <a:pt x="0" y="219971"/>
                </a:moveTo>
                <a:lnTo>
                  <a:pt x="37835" y="157499"/>
                </a:lnTo>
                <a:lnTo>
                  <a:pt x="80509" y="109546"/>
                </a:lnTo>
                <a:lnTo>
                  <a:pt x="126264" y="70391"/>
                </a:lnTo>
                <a:lnTo>
                  <a:pt x="174217" y="39155"/>
                </a:lnTo>
                <a:lnTo>
                  <a:pt x="225691" y="17158"/>
                </a:lnTo>
                <a:lnTo>
                  <a:pt x="279803" y="3959"/>
                </a:lnTo>
                <a:lnTo>
                  <a:pt x="337436" y="0"/>
                </a:lnTo>
                <a:lnTo>
                  <a:pt x="397268" y="3959"/>
                </a:lnTo>
                <a:lnTo>
                  <a:pt x="460180" y="16718"/>
                </a:lnTo>
                <a:lnTo>
                  <a:pt x="527931" y="43994"/>
                </a:lnTo>
                <a:lnTo>
                  <a:pt x="490096" y="106466"/>
                </a:lnTo>
                <a:lnTo>
                  <a:pt x="447422" y="154420"/>
                </a:lnTo>
                <a:lnTo>
                  <a:pt x="401668" y="193575"/>
                </a:lnTo>
                <a:lnTo>
                  <a:pt x="353714" y="224811"/>
                </a:lnTo>
                <a:lnTo>
                  <a:pt x="302241" y="246808"/>
                </a:lnTo>
                <a:lnTo>
                  <a:pt x="248128" y="260006"/>
                </a:lnTo>
                <a:lnTo>
                  <a:pt x="190495" y="263966"/>
                </a:lnTo>
                <a:lnTo>
                  <a:pt x="130663" y="260006"/>
                </a:lnTo>
                <a:lnTo>
                  <a:pt x="67751" y="247248"/>
                </a:lnTo>
                <a:lnTo>
                  <a:pt x="0" y="219971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506138" y="723900"/>
            <a:ext cx="281563" cy="281563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338960" y="845324"/>
            <a:ext cx="281563" cy="281563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402752" y="1042418"/>
            <a:ext cx="281563" cy="281563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609525" y="1042418"/>
            <a:ext cx="281563" cy="281563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9673317" y="845324"/>
            <a:ext cx="281563" cy="281563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558931" y="952670"/>
            <a:ext cx="175977" cy="175977"/>
          </a:xfrm>
          <a:prstGeom prst="ellipse">
            <a:avLst/>
          </a:prstGeom>
          <a:solidFill>
            <a:srgbClr val="F2C14E"/>
          </a:solidFill>
          <a:ln w="15875">
            <a:solidFill>
              <a:srgbClr val="B08A1E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9074995" y="1436607"/>
            <a:ext cx="263966" cy="263966"/>
          </a:xfrm>
          <a:prstGeom prst="ellipse">
            <a:avLst/>
          </a:prstGeom>
          <a:solidFill>
            <a:srgbClr val="E05A47"/>
          </a:solidFill>
          <a:ln w="15875">
            <a:solidFill>
              <a:srgbClr val="9B2C20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8503069" y="2602455"/>
            <a:ext cx="2287701" cy="0"/>
          </a:xfrm>
          <a:prstGeom prst="line">
            <a:avLst/>
          </a:prstGeom>
          <a:noFill/>
          <a:ln w="25400">
            <a:solidFill>
              <a:srgbClr val="A08560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646920" y="2602455"/>
            <a:ext cx="0" cy="747902"/>
          </a:xfrm>
          <a:prstGeom prst="line">
            <a:avLst/>
          </a:prstGeom>
          <a:noFill/>
          <a:ln w="31750">
            <a:solidFill>
              <a:srgbClr val="8B6B4A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 flipH="1">
            <a:off x="9250972" y="2756435"/>
            <a:ext cx="395948" cy="351954"/>
          </a:xfrm>
          <a:prstGeom prst="line">
            <a:avLst/>
          </a:prstGeom>
          <a:noFill/>
          <a:ln w="25400">
            <a:solidFill>
              <a:srgbClr val="8B6B4A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9646920" y="2756435"/>
            <a:ext cx="373951" cy="307960"/>
          </a:xfrm>
          <a:prstGeom prst="line">
            <a:avLst/>
          </a:prstGeom>
          <a:noFill/>
          <a:ln w="25400">
            <a:solidFill>
              <a:srgbClr val="8B6B4A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 flipH="1">
            <a:off x="9404952" y="2998403"/>
            <a:ext cx="241968" cy="307960"/>
          </a:xfrm>
          <a:prstGeom prst="line">
            <a:avLst/>
          </a:prstGeom>
          <a:noFill/>
          <a:ln w="22225">
            <a:solidFill>
              <a:srgbClr val="8B6B4A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9646920" y="2998403"/>
            <a:ext cx="263966" cy="307960"/>
          </a:xfrm>
          <a:prstGeom prst="line">
            <a:avLst/>
          </a:prstGeom>
          <a:noFill/>
          <a:ln w="22225">
            <a:solidFill>
              <a:srgbClr val="8B6B4A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 flipV="1">
            <a:off x="9646920" y="1172641"/>
            <a:ext cx="0" cy="1429813"/>
          </a:xfrm>
          <a:prstGeom prst="line">
            <a:avLst/>
          </a:prstGeom>
          <a:noFill/>
          <a:ln w="50800">
            <a:solidFill>
              <a:srgbClr val="4E8F3A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 flipH="1" flipV="1">
            <a:off x="9316963" y="1348618"/>
            <a:ext cx="329957" cy="175977"/>
          </a:xfrm>
          <a:prstGeom prst="line">
            <a:avLst/>
          </a:prstGeom>
          <a:noFill/>
          <a:ln w="31750">
            <a:solidFill>
              <a:srgbClr val="4E8F3A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 flipH="1">
            <a:off x="9228975" y="1348618"/>
            <a:ext cx="87989" cy="109986"/>
          </a:xfrm>
          <a:prstGeom prst="line">
            <a:avLst/>
          </a:prstGeom>
          <a:noFill/>
          <a:ln w="25400">
            <a:solidFill>
              <a:srgbClr val="4E8F3A"/>
            </a:solidFill>
            <a:prstDash val="solid"/>
          </a:ln>
        </p:spPr>
      </p:sp>
      <p:sp>
        <p:nvSpPr>
          <p:cNvPr id="25" name="S01-card2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6" name="S01-cardtext2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실험으로 물이 올라가고 잎에서 빠져나가는 것을 확인해요.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뿌리·줄기·잎·꽃·열매가 하는 일을 설명해요.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2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2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한살이: 씨 → 싹 트기 →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잎과 줄기 자라기 → □ → □</a:t>
            </a:r>
            <a:endParaRPr lang="ko-KR" sz="2800" dirty="0"/>
          </a:p>
        </p:txBody>
      </p:sp>
      <p:sp>
        <p:nvSpPr>
          <p:cNvPr id="5" name="S02-chip2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2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 꼬투리(열매) 속에는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생기나요?</a:t>
            </a:r>
            <a:endParaRPr lang="ko-KR" sz="2800" dirty="0"/>
          </a:p>
        </p:txBody>
      </p:sp>
      <p:sp>
        <p:nvSpPr>
          <p:cNvPr id="7" name="S02-chip2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2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식물의 부분 이름을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대로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색소 물에 셀러리를 꽂아 두면 어떻게 될까요?</a:t>
            </a:r>
            <a:endParaRPr lang="ko-KR" sz="2800" dirty="0"/>
          </a:p>
        </p:txBody>
      </p:sp>
      <p:sp>
        <p:nvSpPr>
          <p:cNvPr id="4" name="S03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45262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몇 시간 뒤 잎의 색은?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줄기를 가로로 자른 면은?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줄기를 세로로 자른 면은?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색소 물에 셀러리를 꽂아요</a:t>
            </a:r>
            <a:endParaRPr lang="ko-KR" sz="4000" dirty="0"/>
          </a:p>
        </p:txBody>
      </p:sp>
      <p:sp>
        <p:nvSpPr>
          <p:cNvPr id="3" name="S04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칼은 어른만 써요. 색소가 옷에 묻지 않게 해요.</a:t>
            </a:r>
            <a:endParaRPr lang="ko-KR" sz="2800" dirty="0"/>
          </a:p>
        </p:txBody>
      </p:sp>
      <p:sp>
        <p:nvSpPr>
          <p:cNvPr id="5" name="S04-figure36" descr="색소를 탄 물이 든 컵에 잎이 달린 셀러리 한 대를 꽂은 모습"/>
          <p:cNvSpPr/>
          <p:nvPr/>
        </p:nvSpPr>
        <p:spPr>
          <a:xfrm>
            <a:off x="8513499" y="2532906"/>
            <a:ext cx="960730" cy="678162"/>
          </a:xfrm>
          <a:custGeom>
            <a:avLst/>
            <a:gdLst/>
            <a:ahLst/>
            <a:cxnLst/>
            <a:rect l="l" t="t" r="r" b="b"/>
            <a:pathLst>
              <a:path w="960730" h="678162">
                <a:moveTo>
                  <a:pt x="56514" y="678162"/>
                </a:moveTo>
                <a:lnTo>
                  <a:pt x="904216" y="678162"/>
                </a:lnTo>
                <a:lnTo>
                  <a:pt x="960730" y="0"/>
                </a:lnTo>
                <a:lnTo>
                  <a:pt x="0" y="0"/>
                </a:lnTo>
                <a:close/>
              </a:path>
            </a:pathLst>
          </a:custGeom>
          <a:solidFill>
            <a:srgbClr val="F4A6A6"/>
          </a:solidFill>
          <a:ln/>
        </p:spPr>
      </p:sp>
      <p:sp>
        <p:nvSpPr>
          <p:cNvPr id="6" name="S04-mark37"/>
          <p:cNvSpPr/>
          <p:nvPr/>
        </p:nvSpPr>
        <p:spPr>
          <a:xfrm>
            <a:off x="8921809" y="1939514"/>
            <a:ext cx="207687" cy="1165591"/>
          </a:xfrm>
          <a:custGeom>
            <a:avLst/>
            <a:gdLst/>
            <a:ahLst/>
            <a:cxnLst/>
            <a:rect l="l" t="t" r="r" b="b"/>
            <a:pathLst>
              <a:path w="207687" h="1165591">
                <a:moveTo>
                  <a:pt x="0" y="1165591"/>
                </a:moveTo>
                <a:lnTo>
                  <a:pt x="144109" y="1165591"/>
                </a:lnTo>
                <a:lnTo>
                  <a:pt x="207687" y="0"/>
                </a:lnTo>
                <a:lnTo>
                  <a:pt x="80532" y="0"/>
                </a:lnTo>
                <a:close/>
              </a:path>
            </a:pathLst>
          </a:custGeom>
          <a:solidFill>
            <a:srgbClr val="A8D08D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7" name="S04-mark38"/>
          <p:cNvSpPr/>
          <p:nvPr/>
        </p:nvSpPr>
        <p:spPr>
          <a:xfrm>
            <a:off x="8684452" y="1558048"/>
            <a:ext cx="381466" cy="381466"/>
          </a:xfrm>
          <a:custGeom>
            <a:avLst/>
            <a:gdLst/>
            <a:ahLst/>
            <a:cxnLst/>
            <a:rect l="l" t="t" r="r" b="b"/>
            <a:pathLst>
              <a:path w="381466" h="381466">
                <a:moveTo>
                  <a:pt x="381466" y="381466"/>
                </a:moveTo>
                <a:lnTo>
                  <a:pt x="311107" y="375532"/>
                </a:lnTo>
                <a:lnTo>
                  <a:pt x="251344" y="359002"/>
                </a:lnTo>
                <a:lnTo>
                  <a:pt x="197515" y="336538"/>
                </a:lnTo>
                <a:lnTo>
                  <a:pt x="149620" y="308140"/>
                </a:lnTo>
                <a:lnTo>
                  <a:pt x="108506" y="272960"/>
                </a:lnTo>
                <a:lnTo>
                  <a:pt x="73326" y="231847"/>
                </a:lnTo>
                <a:lnTo>
                  <a:pt x="44928" y="183951"/>
                </a:lnTo>
                <a:lnTo>
                  <a:pt x="22464" y="130122"/>
                </a:lnTo>
                <a:lnTo>
                  <a:pt x="5934" y="70359"/>
                </a:lnTo>
                <a:lnTo>
                  <a:pt x="0" y="0"/>
                </a:lnTo>
                <a:lnTo>
                  <a:pt x="70359" y="5934"/>
                </a:lnTo>
                <a:lnTo>
                  <a:pt x="130122" y="22464"/>
                </a:lnTo>
                <a:lnTo>
                  <a:pt x="183951" y="44928"/>
                </a:lnTo>
                <a:lnTo>
                  <a:pt x="231847" y="73326"/>
                </a:lnTo>
                <a:lnTo>
                  <a:pt x="272960" y="108506"/>
                </a:lnTo>
                <a:lnTo>
                  <a:pt x="308140" y="149620"/>
                </a:lnTo>
                <a:lnTo>
                  <a:pt x="336538" y="197515"/>
                </a:lnTo>
                <a:lnTo>
                  <a:pt x="359002" y="251344"/>
                </a:lnTo>
                <a:lnTo>
                  <a:pt x="375532" y="311107"/>
                </a:lnTo>
                <a:lnTo>
                  <a:pt x="381466" y="381466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8" name="S04-mark39"/>
          <p:cNvSpPr/>
          <p:nvPr/>
        </p:nvSpPr>
        <p:spPr>
          <a:xfrm>
            <a:off x="8970976" y="1409700"/>
            <a:ext cx="232271" cy="529814"/>
          </a:xfrm>
          <a:custGeom>
            <a:avLst/>
            <a:gdLst/>
            <a:ahLst/>
            <a:cxnLst/>
            <a:rect l="l" t="t" r="r" b="b"/>
            <a:pathLst>
              <a:path w="232271" h="529814">
                <a:moveTo>
                  <a:pt x="94943" y="529814"/>
                </a:moveTo>
                <a:lnTo>
                  <a:pt x="53829" y="473018"/>
                </a:lnTo>
                <a:lnTo>
                  <a:pt x="27550" y="417917"/>
                </a:lnTo>
                <a:lnTo>
                  <a:pt x="9749" y="362817"/>
                </a:lnTo>
                <a:lnTo>
                  <a:pt x="424" y="308988"/>
                </a:lnTo>
                <a:lnTo>
                  <a:pt x="0" y="255582"/>
                </a:lnTo>
                <a:lnTo>
                  <a:pt x="8901" y="203025"/>
                </a:lnTo>
                <a:lnTo>
                  <a:pt x="26703" y="150891"/>
                </a:lnTo>
                <a:lnTo>
                  <a:pt x="52981" y="100029"/>
                </a:lnTo>
                <a:lnTo>
                  <a:pt x="87737" y="49167"/>
                </a:lnTo>
                <a:lnTo>
                  <a:pt x="137328" y="0"/>
                </a:lnTo>
                <a:lnTo>
                  <a:pt x="178441" y="56796"/>
                </a:lnTo>
                <a:lnTo>
                  <a:pt x="204720" y="111897"/>
                </a:lnTo>
                <a:lnTo>
                  <a:pt x="222522" y="166997"/>
                </a:lnTo>
                <a:lnTo>
                  <a:pt x="231847" y="220827"/>
                </a:lnTo>
                <a:lnTo>
                  <a:pt x="232271" y="274232"/>
                </a:lnTo>
                <a:lnTo>
                  <a:pt x="223370" y="326789"/>
                </a:lnTo>
                <a:lnTo>
                  <a:pt x="205568" y="378923"/>
                </a:lnTo>
                <a:lnTo>
                  <a:pt x="179289" y="429785"/>
                </a:lnTo>
                <a:lnTo>
                  <a:pt x="144533" y="480647"/>
                </a:lnTo>
                <a:lnTo>
                  <a:pt x="94943" y="529814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9" name="S04-mark40"/>
          <p:cNvSpPr/>
          <p:nvPr/>
        </p:nvSpPr>
        <p:spPr>
          <a:xfrm>
            <a:off x="9065918" y="1599585"/>
            <a:ext cx="402659" cy="340776"/>
          </a:xfrm>
          <a:custGeom>
            <a:avLst/>
            <a:gdLst/>
            <a:ahLst/>
            <a:cxnLst/>
            <a:rect l="l" t="t" r="r" b="b"/>
            <a:pathLst>
              <a:path w="402659" h="340776">
                <a:moveTo>
                  <a:pt x="0" y="339929"/>
                </a:moveTo>
                <a:lnTo>
                  <a:pt x="11020" y="271265"/>
                </a:lnTo>
                <a:lnTo>
                  <a:pt x="31365" y="213621"/>
                </a:lnTo>
                <a:lnTo>
                  <a:pt x="57220" y="162759"/>
                </a:lnTo>
                <a:lnTo>
                  <a:pt x="89009" y="118678"/>
                </a:lnTo>
                <a:lnTo>
                  <a:pt x="126308" y="81379"/>
                </a:lnTo>
                <a:lnTo>
                  <a:pt x="169541" y="50862"/>
                </a:lnTo>
                <a:lnTo>
                  <a:pt x="218283" y="27126"/>
                </a:lnTo>
                <a:lnTo>
                  <a:pt x="272960" y="10172"/>
                </a:lnTo>
                <a:lnTo>
                  <a:pt x="333147" y="0"/>
                </a:lnTo>
                <a:lnTo>
                  <a:pt x="402659" y="848"/>
                </a:lnTo>
                <a:lnTo>
                  <a:pt x="391639" y="69512"/>
                </a:lnTo>
                <a:lnTo>
                  <a:pt x="371294" y="127155"/>
                </a:lnTo>
                <a:lnTo>
                  <a:pt x="345439" y="178018"/>
                </a:lnTo>
                <a:lnTo>
                  <a:pt x="313650" y="222098"/>
                </a:lnTo>
                <a:lnTo>
                  <a:pt x="276351" y="259397"/>
                </a:lnTo>
                <a:lnTo>
                  <a:pt x="233118" y="289914"/>
                </a:lnTo>
                <a:lnTo>
                  <a:pt x="184375" y="313650"/>
                </a:lnTo>
                <a:lnTo>
                  <a:pt x="129698" y="330604"/>
                </a:lnTo>
                <a:lnTo>
                  <a:pt x="69512" y="340776"/>
                </a:lnTo>
                <a:lnTo>
                  <a:pt x="0" y="339929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10" name="S04-mark41"/>
          <p:cNvSpPr/>
          <p:nvPr/>
        </p:nvSpPr>
        <p:spPr>
          <a:xfrm>
            <a:off x="8485242" y="2193825"/>
            <a:ext cx="1017243" cy="1017243"/>
          </a:xfrm>
          <a:custGeom>
            <a:avLst/>
            <a:gdLst/>
            <a:ahLst/>
            <a:cxnLst/>
            <a:rect l="l" t="t" r="r" b="b"/>
            <a:pathLst>
              <a:path w="1017243" h="1017243">
                <a:moveTo>
                  <a:pt x="0" y="0"/>
                </a:moveTo>
                <a:lnTo>
                  <a:pt x="84770" y="1017243"/>
                </a:lnTo>
                <a:lnTo>
                  <a:pt x="932473" y="1017243"/>
                </a:lnTo>
                <a:lnTo>
                  <a:pt x="1017243" y="0"/>
                </a:lnTo>
              </a:path>
            </a:pathLst>
          </a:cu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04-mark42"/>
          <p:cNvSpPr/>
          <p:nvPr/>
        </p:nvSpPr>
        <p:spPr>
          <a:xfrm>
            <a:off x="9248174" y="2871987"/>
            <a:ext cx="551007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2" name="S04-label44"/>
          <p:cNvSpPr txBox="1"/>
          <p:nvPr/>
        </p:nvSpPr>
        <p:spPr>
          <a:xfrm>
            <a:off x="9968722" y="2729112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색소 물</a:t>
            </a:r>
            <a:endParaRPr lang="ko-KR" sz="1800" dirty="0"/>
          </a:p>
        </p:txBody>
      </p:sp>
      <p:sp>
        <p:nvSpPr>
          <p:cNvPr id="13" name="S04-card45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46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잎맥의 색을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자른 면의 색 든 곳을 찾아요</a:t>
            </a:r>
            <a:endParaRPr lang="ko-KR" sz="2800" dirty="0"/>
          </a:p>
        </p:txBody>
      </p:sp>
      <p:sp>
        <p:nvSpPr>
          <p:cNvPr id="15" name="S04-stepno47"/>
          <p:cNvSpPr txBox="1"/>
          <p:nvPr/>
        </p:nvSpPr>
        <p:spPr>
          <a:xfrm>
            <a:off x="548640" y="17459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4-text48"/>
          <p:cNvSpPr txBox="1"/>
          <p:nvPr/>
        </p:nvSpPr>
        <p:spPr>
          <a:xfrm>
            <a:off x="1325880" y="17459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물을 반쯤 붓고 색소를 진하게 타요.</a:t>
            </a:r>
            <a:endParaRPr lang="ko-KR" sz="2200" dirty="0"/>
          </a:p>
        </p:txBody>
      </p:sp>
      <p:sp>
        <p:nvSpPr>
          <p:cNvPr id="17" name="S04-stepno49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8" name="S04-text50"/>
          <p:cNvSpPr txBox="1"/>
          <p:nvPr/>
        </p:nvSpPr>
        <p:spPr>
          <a:xfrm>
            <a:off x="1325880" y="245922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셀러리 밑동을 새로 잘라 주면 꽂아요.</a:t>
            </a:r>
            <a:endParaRPr lang="ko-KR" sz="2200" dirty="0"/>
          </a:p>
        </p:txBody>
      </p:sp>
      <p:sp>
        <p:nvSpPr>
          <p:cNvPr id="19" name="S04-stepno51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0" name="S04-text52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꽂아 둔 셀러리의 잎을 살펴요.</a:t>
            </a:r>
            <a:endParaRPr lang="ko-KR" sz="2200" dirty="0"/>
          </a:p>
        </p:txBody>
      </p:sp>
      <p:sp>
        <p:nvSpPr>
          <p:cNvPr id="21" name="S04-stepno53"/>
          <p:cNvSpPr txBox="1"/>
          <p:nvPr/>
        </p:nvSpPr>
        <p:spPr>
          <a:xfrm>
            <a:off x="548640" y="4064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2" name="S04-text54"/>
          <p:cNvSpPr txBox="1"/>
          <p:nvPr/>
        </p:nvSpPr>
        <p:spPr>
          <a:xfrm>
            <a:off x="1325880" y="401878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줄기를 가로·세로로 자르면 자른 면을 봐요.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색소 물은 줄기의 어디를 지나 올라갔나요?</a:t>
            </a:r>
            <a:endParaRPr lang="ko-KR" sz="2800" dirty="0"/>
          </a:p>
        </p:txBody>
      </p:sp>
      <p:graphicFrame>
        <p:nvGraphicFramePr>
          <p:cNvPr id="6" name="S05-table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4526280"/>
                <a:gridCol w="55321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곳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셀러리 잎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줄기를 가로로 자른 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줄기를 세로로 자른 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뿌리와 줄기가 하는 일</a:t>
            </a:r>
            <a:endParaRPr lang="ko-KR" sz="4000" dirty="0"/>
          </a:p>
        </p:txBody>
      </p:sp>
      <p:sp>
        <p:nvSpPr>
          <p:cNvPr id="3" name="S06-card59"/>
          <p:cNvSpPr/>
          <p:nvPr/>
        </p:nvSpPr>
        <p:spPr>
          <a:xfrm>
            <a:off x="548640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60"/>
          <p:cNvSpPr txBox="1"/>
          <p:nvPr/>
        </p:nvSpPr>
        <p:spPr>
          <a:xfrm>
            <a:off x="822960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흡수하고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식물을 지지해요.</a:t>
            </a:r>
            <a:endParaRPr lang="ko-KR" sz="2800" dirty="0"/>
          </a:p>
        </p:txBody>
      </p:sp>
      <p:sp>
        <p:nvSpPr>
          <p:cNvPr id="5" name="S06-card61"/>
          <p:cNvSpPr/>
          <p:nvPr/>
        </p:nvSpPr>
        <p:spPr>
          <a:xfrm>
            <a:off x="4322064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62"/>
          <p:cNvSpPr txBox="1"/>
          <p:nvPr/>
        </p:nvSpPr>
        <p:spPr>
          <a:xfrm>
            <a:off x="4596384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이동하는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통로가 있어요.</a:t>
            </a:r>
            <a:endParaRPr lang="ko-KR" sz="2800" dirty="0"/>
          </a:p>
        </p:txBody>
      </p:sp>
      <p:sp>
        <p:nvSpPr>
          <p:cNvPr id="7" name="S06-card63"/>
          <p:cNvSpPr/>
          <p:nvPr/>
        </p:nvSpPr>
        <p:spPr>
          <a:xfrm>
            <a:off x="8095488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64"/>
          <p:cNvSpPr txBox="1"/>
          <p:nvPr/>
        </p:nvSpPr>
        <p:spPr>
          <a:xfrm>
            <a:off x="8369808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 → 줄기 → 잎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차례로 올라가요.</a:t>
            </a:r>
            <a:endParaRPr lang="ko-KR" sz="2800" dirty="0"/>
          </a:p>
        </p:txBody>
      </p:sp>
      <p:sp>
        <p:nvSpPr>
          <p:cNvPr id="9" name="S06-figure65" descr="셀러리를 가로로 자른 면: U자 모양 단면의 바깥쪽 가장자리를 따라 붉은 색 점 9개가 줄지어 있음"/>
          <p:cNvSpPr/>
          <p:nvPr/>
        </p:nvSpPr>
        <p:spPr>
          <a:xfrm>
            <a:off x="1412748" y="1917573"/>
            <a:ext cx="3657600" cy="1508760"/>
          </a:xfrm>
          <a:custGeom>
            <a:avLst/>
            <a:gdLst/>
            <a:ahLst/>
            <a:cxnLst/>
            <a:rect l="l" t="t" r="r" b="b"/>
            <a:pathLst>
              <a:path w="3657600" h="1508760">
                <a:moveTo>
                  <a:pt x="0" y="45720"/>
                </a:moveTo>
                <a:lnTo>
                  <a:pt x="7315" y="172822"/>
                </a:lnTo>
                <a:lnTo>
                  <a:pt x="27432" y="299923"/>
                </a:lnTo>
                <a:lnTo>
                  <a:pt x="62179" y="424282"/>
                </a:lnTo>
                <a:lnTo>
                  <a:pt x="110642" y="545897"/>
                </a:lnTo>
                <a:lnTo>
                  <a:pt x="170993" y="663854"/>
                </a:lnTo>
                <a:lnTo>
                  <a:pt x="245059" y="777240"/>
                </a:lnTo>
                <a:lnTo>
                  <a:pt x="331013" y="885139"/>
                </a:lnTo>
                <a:lnTo>
                  <a:pt x="427939" y="985723"/>
                </a:lnTo>
                <a:lnTo>
                  <a:pt x="535838" y="1079906"/>
                </a:lnTo>
                <a:lnTo>
                  <a:pt x="652882" y="1166774"/>
                </a:lnTo>
                <a:lnTo>
                  <a:pt x="779983" y="1244498"/>
                </a:lnTo>
                <a:lnTo>
                  <a:pt x="914400" y="1313078"/>
                </a:lnTo>
                <a:lnTo>
                  <a:pt x="1056132" y="1371600"/>
                </a:lnTo>
                <a:lnTo>
                  <a:pt x="1203350" y="1420978"/>
                </a:lnTo>
                <a:lnTo>
                  <a:pt x="1355141" y="1458468"/>
                </a:lnTo>
                <a:lnTo>
                  <a:pt x="1511503" y="1486814"/>
                </a:lnTo>
                <a:lnTo>
                  <a:pt x="1669694" y="1503274"/>
                </a:lnTo>
                <a:lnTo>
                  <a:pt x="1828800" y="1508760"/>
                </a:lnTo>
                <a:lnTo>
                  <a:pt x="1987906" y="1503274"/>
                </a:lnTo>
                <a:lnTo>
                  <a:pt x="2146097" y="1486814"/>
                </a:lnTo>
                <a:lnTo>
                  <a:pt x="2302459" y="1458468"/>
                </a:lnTo>
                <a:lnTo>
                  <a:pt x="2454250" y="1420978"/>
                </a:lnTo>
                <a:lnTo>
                  <a:pt x="2601468" y="1371600"/>
                </a:lnTo>
                <a:lnTo>
                  <a:pt x="2743200" y="1313078"/>
                </a:lnTo>
                <a:lnTo>
                  <a:pt x="2877617" y="1244498"/>
                </a:lnTo>
                <a:lnTo>
                  <a:pt x="3004718" y="1166774"/>
                </a:lnTo>
                <a:lnTo>
                  <a:pt x="3121762" y="1079906"/>
                </a:lnTo>
                <a:lnTo>
                  <a:pt x="3229661" y="985723"/>
                </a:lnTo>
                <a:lnTo>
                  <a:pt x="3326587" y="885139"/>
                </a:lnTo>
                <a:lnTo>
                  <a:pt x="3412541" y="777240"/>
                </a:lnTo>
                <a:lnTo>
                  <a:pt x="3486607" y="663854"/>
                </a:lnTo>
                <a:lnTo>
                  <a:pt x="3546958" y="545897"/>
                </a:lnTo>
                <a:lnTo>
                  <a:pt x="3595421" y="424282"/>
                </a:lnTo>
                <a:lnTo>
                  <a:pt x="3630168" y="299923"/>
                </a:lnTo>
                <a:lnTo>
                  <a:pt x="3650285" y="172822"/>
                </a:lnTo>
                <a:lnTo>
                  <a:pt x="3657600" y="45720"/>
                </a:lnTo>
                <a:lnTo>
                  <a:pt x="3657600" y="0"/>
                </a:lnTo>
                <a:lnTo>
                  <a:pt x="2880360" y="0"/>
                </a:lnTo>
                <a:lnTo>
                  <a:pt x="2876702" y="52121"/>
                </a:lnTo>
                <a:lnTo>
                  <a:pt x="2864815" y="103327"/>
                </a:lnTo>
                <a:lnTo>
                  <a:pt x="2844698" y="153619"/>
                </a:lnTo>
                <a:lnTo>
                  <a:pt x="2817266" y="202997"/>
                </a:lnTo>
                <a:lnTo>
                  <a:pt x="2781605" y="251460"/>
                </a:lnTo>
                <a:lnTo>
                  <a:pt x="2739542" y="297180"/>
                </a:lnTo>
                <a:lnTo>
                  <a:pt x="2690165" y="341071"/>
                </a:lnTo>
                <a:lnTo>
                  <a:pt x="2634386" y="382219"/>
                </a:lnTo>
                <a:lnTo>
                  <a:pt x="2572207" y="420624"/>
                </a:lnTo>
                <a:lnTo>
                  <a:pt x="2504542" y="455371"/>
                </a:lnTo>
                <a:lnTo>
                  <a:pt x="2432304" y="486461"/>
                </a:lnTo>
                <a:lnTo>
                  <a:pt x="2354580" y="514807"/>
                </a:lnTo>
                <a:lnTo>
                  <a:pt x="2273198" y="538582"/>
                </a:lnTo>
                <a:lnTo>
                  <a:pt x="2188159" y="558698"/>
                </a:lnTo>
                <a:lnTo>
                  <a:pt x="2101291" y="574243"/>
                </a:lnTo>
                <a:lnTo>
                  <a:pt x="2011680" y="585216"/>
                </a:lnTo>
                <a:lnTo>
                  <a:pt x="1920240" y="592531"/>
                </a:lnTo>
                <a:lnTo>
                  <a:pt x="1828800" y="594360"/>
                </a:lnTo>
                <a:lnTo>
                  <a:pt x="1737360" y="592531"/>
                </a:lnTo>
                <a:lnTo>
                  <a:pt x="1645920" y="585216"/>
                </a:lnTo>
                <a:lnTo>
                  <a:pt x="1556309" y="574243"/>
                </a:lnTo>
                <a:lnTo>
                  <a:pt x="1469441" y="558698"/>
                </a:lnTo>
                <a:lnTo>
                  <a:pt x="1384402" y="538582"/>
                </a:lnTo>
                <a:lnTo>
                  <a:pt x="1303020" y="514807"/>
                </a:lnTo>
                <a:lnTo>
                  <a:pt x="1225296" y="486461"/>
                </a:lnTo>
                <a:lnTo>
                  <a:pt x="1153058" y="455371"/>
                </a:lnTo>
                <a:lnTo>
                  <a:pt x="1085393" y="420624"/>
                </a:lnTo>
                <a:lnTo>
                  <a:pt x="1023214" y="382219"/>
                </a:lnTo>
                <a:lnTo>
                  <a:pt x="967435" y="341071"/>
                </a:lnTo>
                <a:lnTo>
                  <a:pt x="918058" y="297180"/>
                </a:lnTo>
                <a:lnTo>
                  <a:pt x="875995" y="251460"/>
                </a:lnTo>
                <a:lnTo>
                  <a:pt x="840334" y="202997"/>
                </a:lnTo>
                <a:lnTo>
                  <a:pt x="812902" y="153619"/>
                </a:lnTo>
                <a:lnTo>
                  <a:pt x="792785" y="103327"/>
                </a:lnTo>
                <a:lnTo>
                  <a:pt x="780898" y="52121"/>
                </a:lnTo>
                <a:lnTo>
                  <a:pt x="777240" y="0"/>
                </a:lnTo>
                <a:close/>
              </a:path>
            </a:pathLst>
          </a:custGeom>
          <a:solidFill>
            <a:srgbClr val="D9EDC8"/>
          </a:solidFill>
          <a:ln w="19050">
            <a:solidFill>
              <a:srgbClr val="4E8F3A"/>
            </a:solidFill>
            <a:prstDash val="solid"/>
          </a:ln>
        </p:spPr>
      </p:sp>
      <p:sp>
        <p:nvSpPr>
          <p:cNvPr id="10" name="S06-mark66"/>
          <p:cNvSpPr/>
          <p:nvPr/>
        </p:nvSpPr>
        <p:spPr>
          <a:xfrm>
            <a:off x="1698955" y="2141601"/>
            <a:ext cx="237744" cy="237744"/>
          </a:xfrm>
          <a:prstGeom prst="ellipse">
            <a:avLst/>
          </a:prstGeom>
          <a:solidFill>
            <a:srgbClr val="C8434E"/>
          </a:solidFill>
          <a:ln w="9525">
            <a:solidFill>
              <a:srgbClr val="8B1E2B"/>
            </a:solidFill>
            <a:prstDash val="solid"/>
          </a:ln>
        </p:spPr>
      </p:sp>
      <p:sp>
        <p:nvSpPr>
          <p:cNvPr id="11" name="S06-mark67"/>
          <p:cNvSpPr/>
          <p:nvPr/>
        </p:nvSpPr>
        <p:spPr>
          <a:xfrm>
            <a:off x="1901952" y="2455240"/>
            <a:ext cx="237744" cy="237744"/>
          </a:xfrm>
          <a:prstGeom prst="ellipse">
            <a:avLst/>
          </a:prstGeom>
          <a:solidFill>
            <a:srgbClr val="C8434E"/>
          </a:solidFill>
          <a:ln w="9525">
            <a:solidFill>
              <a:srgbClr val="8B1E2B"/>
            </a:solidFill>
            <a:prstDash val="solid"/>
          </a:ln>
        </p:spPr>
      </p:sp>
      <p:sp>
        <p:nvSpPr>
          <p:cNvPr id="12" name="S06-mark68"/>
          <p:cNvSpPr/>
          <p:nvPr/>
        </p:nvSpPr>
        <p:spPr>
          <a:xfrm>
            <a:off x="2231136" y="2705786"/>
            <a:ext cx="237744" cy="237744"/>
          </a:xfrm>
          <a:prstGeom prst="ellipse">
            <a:avLst/>
          </a:prstGeom>
          <a:solidFill>
            <a:srgbClr val="C8434E"/>
          </a:solidFill>
          <a:ln w="9525">
            <a:solidFill>
              <a:srgbClr val="8B1E2B"/>
            </a:solidFill>
            <a:prstDash val="solid"/>
          </a:ln>
        </p:spPr>
      </p:sp>
      <p:sp>
        <p:nvSpPr>
          <p:cNvPr id="13" name="S06-mark69"/>
          <p:cNvSpPr/>
          <p:nvPr/>
        </p:nvSpPr>
        <p:spPr>
          <a:xfrm>
            <a:off x="2652674" y="2867635"/>
            <a:ext cx="237744" cy="237744"/>
          </a:xfrm>
          <a:prstGeom prst="ellipse">
            <a:avLst/>
          </a:prstGeom>
          <a:solidFill>
            <a:srgbClr val="C8434E"/>
          </a:solidFill>
          <a:ln w="9525">
            <a:solidFill>
              <a:srgbClr val="8B1E2B"/>
            </a:solidFill>
            <a:prstDash val="solid"/>
          </a:ln>
        </p:spPr>
      </p:sp>
      <p:sp>
        <p:nvSpPr>
          <p:cNvPr id="14" name="S06-mark70"/>
          <p:cNvSpPr/>
          <p:nvPr/>
        </p:nvSpPr>
        <p:spPr>
          <a:xfrm>
            <a:off x="3122676" y="2923413"/>
            <a:ext cx="237744" cy="237744"/>
          </a:xfrm>
          <a:prstGeom prst="ellipse">
            <a:avLst/>
          </a:prstGeom>
          <a:solidFill>
            <a:srgbClr val="C8434E"/>
          </a:solidFill>
          <a:ln w="9525">
            <a:solidFill>
              <a:srgbClr val="8B1E2B"/>
            </a:solidFill>
            <a:prstDash val="solid"/>
          </a:ln>
        </p:spPr>
      </p:sp>
      <p:sp>
        <p:nvSpPr>
          <p:cNvPr id="15" name="S06-mark71"/>
          <p:cNvSpPr/>
          <p:nvPr/>
        </p:nvSpPr>
        <p:spPr>
          <a:xfrm>
            <a:off x="3592678" y="2867635"/>
            <a:ext cx="237744" cy="237744"/>
          </a:xfrm>
          <a:prstGeom prst="ellipse">
            <a:avLst/>
          </a:prstGeom>
          <a:solidFill>
            <a:srgbClr val="C8434E"/>
          </a:solidFill>
          <a:ln w="9525">
            <a:solidFill>
              <a:srgbClr val="8B1E2B"/>
            </a:solidFill>
            <a:prstDash val="solid"/>
          </a:ln>
        </p:spPr>
      </p:sp>
      <p:sp>
        <p:nvSpPr>
          <p:cNvPr id="16" name="S06-mark72"/>
          <p:cNvSpPr/>
          <p:nvPr/>
        </p:nvSpPr>
        <p:spPr>
          <a:xfrm>
            <a:off x="4014216" y="2705786"/>
            <a:ext cx="237744" cy="237744"/>
          </a:xfrm>
          <a:prstGeom prst="ellipse">
            <a:avLst/>
          </a:prstGeom>
          <a:solidFill>
            <a:srgbClr val="C8434E"/>
          </a:solidFill>
          <a:ln w="9525">
            <a:solidFill>
              <a:srgbClr val="8B1E2B"/>
            </a:solidFill>
            <a:prstDash val="solid"/>
          </a:ln>
        </p:spPr>
      </p:sp>
      <p:sp>
        <p:nvSpPr>
          <p:cNvPr id="17" name="S06-mark73"/>
          <p:cNvSpPr/>
          <p:nvPr/>
        </p:nvSpPr>
        <p:spPr>
          <a:xfrm>
            <a:off x="4343400" y="2455240"/>
            <a:ext cx="237744" cy="237744"/>
          </a:xfrm>
          <a:prstGeom prst="ellipse">
            <a:avLst/>
          </a:prstGeom>
          <a:solidFill>
            <a:srgbClr val="C8434E"/>
          </a:solidFill>
          <a:ln w="9525">
            <a:solidFill>
              <a:srgbClr val="8B1E2B"/>
            </a:solidFill>
            <a:prstDash val="solid"/>
          </a:ln>
        </p:spPr>
      </p:sp>
      <p:sp>
        <p:nvSpPr>
          <p:cNvPr id="18" name="S06-mark74"/>
          <p:cNvSpPr/>
          <p:nvPr/>
        </p:nvSpPr>
        <p:spPr>
          <a:xfrm>
            <a:off x="4546397" y="2141601"/>
            <a:ext cx="237744" cy="237744"/>
          </a:xfrm>
          <a:prstGeom prst="ellipse">
            <a:avLst/>
          </a:prstGeom>
          <a:solidFill>
            <a:srgbClr val="C8434E"/>
          </a:solidFill>
          <a:ln w="9525">
            <a:solidFill>
              <a:srgbClr val="8B1E2B"/>
            </a:solidFill>
            <a:prstDash val="solid"/>
          </a:ln>
        </p:spPr>
      </p:sp>
      <p:sp>
        <p:nvSpPr>
          <p:cNvPr id="19" name="S06-label75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가로로 자른 면</a:t>
            </a:r>
            <a:endParaRPr lang="ko-KR" sz="2200" dirty="0"/>
          </a:p>
        </p:txBody>
      </p:sp>
      <p:sp>
        <p:nvSpPr>
          <p:cNvPr id="20" name="S06-figure76" descr="셀러리를 세로로 자른 면: 아래에서 위로 이어진 붉은 줄 세 개"/>
          <p:cNvSpPr/>
          <p:nvPr/>
        </p:nvSpPr>
        <p:spPr>
          <a:xfrm>
            <a:off x="8410946" y="1409700"/>
            <a:ext cx="1072915" cy="2524506"/>
          </a:xfrm>
          <a:custGeom>
            <a:avLst/>
            <a:gdLst/>
            <a:ahLst/>
            <a:cxnLst/>
            <a:rect l="l" t="t" r="r" b="b"/>
            <a:pathLst>
              <a:path w="1072915" h="2524506">
                <a:moveTo>
                  <a:pt x="0" y="2524506"/>
                </a:moveTo>
                <a:lnTo>
                  <a:pt x="1072915" y="2524506"/>
                </a:lnTo>
                <a:lnTo>
                  <a:pt x="1072915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DC8"/>
          </a:solidFill>
          <a:ln w="19050">
            <a:solidFill>
              <a:srgbClr val="4E8F3A"/>
            </a:solidFill>
            <a:prstDash val="solid"/>
          </a:ln>
        </p:spPr>
      </p:sp>
      <p:sp>
        <p:nvSpPr>
          <p:cNvPr id="21" name="S06-mark77"/>
          <p:cNvSpPr/>
          <p:nvPr/>
        </p:nvSpPr>
        <p:spPr>
          <a:xfrm flipV="1">
            <a:off x="8631841" y="1504369"/>
            <a:ext cx="0" cy="2335168"/>
          </a:xfrm>
          <a:prstGeom prst="line">
            <a:avLst/>
          </a:prstGeom>
          <a:noFill/>
          <a:ln w="31750">
            <a:solidFill>
              <a:srgbClr val="C8434E"/>
            </a:solidFill>
            <a:prstDash val="solid"/>
          </a:ln>
        </p:spPr>
      </p:sp>
      <p:sp>
        <p:nvSpPr>
          <p:cNvPr id="22" name="S06-mark78"/>
          <p:cNvSpPr/>
          <p:nvPr/>
        </p:nvSpPr>
        <p:spPr>
          <a:xfrm flipV="1">
            <a:off x="8947404" y="1504369"/>
            <a:ext cx="0" cy="2335168"/>
          </a:xfrm>
          <a:prstGeom prst="line">
            <a:avLst/>
          </a:prstGeom>
          <a:noFill/>
          <a:ln w="31750">
            <a:solidFill>
              <a:srgbClr val="C8434E"/>
            </a:solidFill>
            <a:prstDash val="solid"/>
          </a:ln>
        </p:spPr>
      </p:sp>
      <p:sp>
        <p:nvSpPr>
          <p:cNvPr id="23" name="S06-mark79"/>
          <p:cNvSpPr/>
          <p:nvPr/>
        </p:nvSpPr>
        <p:spPr>
          <a:xfrm flipV="1">
            <a:off x="9262967" y="1504369"/>
            <a:ext cx="0" cy="2335168"/>
          </a:xfrm>
          <a:prstGeom prst="line">
            <a:avLst/>
          </a:prstGeom>
          <a:noFill/>
          <a:ln w="31750">
            <a:solidFill>
              <a:srgbClr val="C8434E"/>
            </a:solidFill>
            <a:prstDash val="solid"/>
          </a:ln>
        </p:spPr>
      </p:sp>
      <p:sp>
        <p:nvSpPr>
          <p:cNvPr id="24" name="S06-label80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자른 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셀러리 잎이 색소 물의 색으로 물들었어요.</a:t>
            </a:r>
            <a:endParaRPr lang="ko-KR" sz="2800" dirty="0"/>
          </a:p>
        </p:txBody>
      </p:sp>
      <p:sp>
        <p:nvSpPr>
          <p:cNvPr id="5" name="S07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7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7-text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줄기 전체가 스펀지처럼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빨아올렸어요.</a:t>
            </a:r>
            <a:endParaRPr lang="ko-KR" sz="2800" dirty="0"/>
          </a:p>
        </p:txBody>
      </p:sp>
      <p:sp>
        <p:nvSpPr>
          <p:cNvPr id="9" name="S07-chip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7-text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자른 면에 색 점만 있었어요.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통로로 올라갔어요.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8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비닐봉지를 씌워 햇빛 드는 곳에 두면?</a:t>
            </a:r>
            <a:endParaRPr lang="ko-KR" sz="2800" dirty="0"/>
          </a:p>
        </p:txBody>
      </p:sp>
      <p:sp>
        <p:nvSpPr>
          <p:cNvPr id="4" name="S08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9" name="S08-table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6309360"/>
                <a:gridCol w="42062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잎을 그대로 둔 셀러리의 봉지 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잎을 모두 딴 셀러리의 봉지 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비닐봉지를 씌워요</a:t>
            </a:r>
            <a:endParaRPr lang="ko-KR" sz="4000" dirty="0"/>
          </a:p>
        </p:txBody>
      </p:sp>
      <p:sp>
        <p:nvSpPr>
          <p:cNvPr id="3" name="S09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비닐봉지는 얼굴에 쓰거나 입에 대지 않아요.</a:t>
            </a:r>
            <a:endParaRPr lang="ko-KR" sz="2800" dirty="0"/>
          </a:p>
        </p:txBody>
      </p:sp>
      <p:sp>
        <p:nvSpPr>
          <p:cNvPr id="5" name="S09-figure95" descr="물컵 두 개에 셀러리를 한 대씩 꽂고 컵 입구를 랩으로 감싼 뒤 비닐봉지를 씌워 고무줄로 묶은 모습. 가는 잎을 그대로 둔 셀러리, 나는 잎을 모두 딴 셀러리"/>
          <p:cNvSpPr/>
          <p:nvPr/>
        </p:nvSpPr>
        <p:spPr>
          <a:xfrm>
            <a:off x="8235938" y="2459041"/>
            <a:ext cx="792835" cy="559648"/>
          </a:xfrm>
          <a:custGeom>
            <a:avLst/>
            <a:gdLst/>
            <a:ahLst/>
            <a:cxnLst/>
            <a:rect l="l" t="t" r="r" b="b"/>
            <a:pathLst>
              <a:path w="792835" h="559648">
                <a:moveTo>
                  <a:pt x="46637" y="559648"/>
                </a:moveTo>
                <a:lnTo>
                  <a:pt x="746198" y="559648"/>
                </a:lnTo>
                <a:lnTo>
                  <a:pt x="792835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8F5"/>
          </a:solidFill>
          <a:ln/>
        </p:spPr>
      </p:sp>
      <p:sp>
        <p:nvSpPr>
          <p:cNvPr id="6" name="S09-mark96"/>
          <p:cNvSpPr/>
          <p:nvPr/>
        </p:nvSpPr>
        <p:spPr>
          <a:xfrm>
            <a:off x="8572893" y="1899392"/>
            <a:ext cx="171392" cy="1031852"/>
          </a:xfrm>
          <a:custGeom>
            <a:avLst/>
            <a:gdLst/>
            <a:ahLst/>
            <a:cxnLst/>
            <a:rect l="l" t="t" r="r" b="b"/>
            <a:pathLst>
              <a:path w="171392" h="1031852">
                <a:moveTo>
                  <a:pt x="0" y="1031852"/>
                </a:moveTo>
                <a:lnTo>
                  <a:pt x="118925" y="1031852"/>
                </a:lnTo>
                <a:lnTo>
                  <a:pt x="171392" y="0"/>
                </a:lnTo>
                <a:lnTo>
                  <a:pt x="66458" y="0"/>
                </a:lnTo>
                <a:close/>
              </a:path>
            </a:pathLst>
          </a:custGeom>
          <a:solidFill>
            <a:srgbClr val="A8D08D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7" name="S09-mark97"/>
          <p:cNvSpPr/>
          <p:nvPr/>
        </p:nvSpPr>
        <p:spPr>
          <a:xfrm>
            <a:off x="8377016" y="1584590"/>
            <a:ext cx="314802" cy="314802"/>
          </a:xfrm>
          <a:custGeom>
            <a:avLst/>
            <a:gdLst/>
            <a:ahLst/>
            <a:cxnLst/>
            <a:rect l="l" t="t" r="r" b="b"/>
            <a:pathLst>
              <a:path w="314802" h="314802">
                <a:moveTo>
                  <a:pt x="314802" y="314802"/>
                </a:moveTo>
                <a:lnTo>
                  <a:pt x="256739" y="309905"/>
                </a:lnTo>
                <a:lnTo>
                  <a:pt x="207420" y="296264"/>
                </a:lnTo>
                <a:lnTo>
                  <a:pt x="162998" y="277725"/>
                </a:lnTo>
                <a:lnTo>
                  <a:pt x="123472" y="254290"/>
                </a:lnTo>
                <a:lnTo>
                  <a:pt x="89544" y="225258"/>
                </a:lnTo>
                <a:lnTo>
                  <a:pt x="60512" y="191330"/>
                </a:lnTo>
                <a:lnTo>
                  <a:pt x="37077" y="151805"/>
                </a:lnTo>
                <a:lnTo>
                  <a:pt x="18538" y="107383"/>
                </a:lnTo>
                <a:lnTo>
                  <a:pt x="4897" y="58064"/>
                </a:lnTo>
                <a:lnTo>
                  <a:pt x="0" y="0"/>
                </a:lnTo>
                <a:lnTo>
                  <a:pt x="58064" y="4897"/>
                </a:lnTo>
                <a:lnTo>
                  <a:pt x="107383" y="18538"/>
                </a:lnTo>
                <a:lnTo>
                  <a:pt x="151805" y="37077"/>
                </a:lnTo>
                <a:lnTo>
                  <a:pt x="191330" y="60512"/>
                </a:lnTo>
                <a:lnTo>
                  <a:pt x="225258" y="89544"/>
                </a:lnTo>
                <a:lnTo>
                  <a:pt x="254290" y="123472"/>
                </a:lnTo>
                <a:lnTo>
                  <a:pt x="277725" y="162998"/>
                </a:lnTo>
                <a:lnTo>
                  <a:pt x="296264" y="207420"/>
                </a:lnTo>
                <a:lnTo>
                  <a:pt x="309905" y="256739"/>
                </a:lnTo>
                <a:lnTo>
                  <a:pt x="314802" y="314802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8" name="S09-mark98"/>
          <p:cNvSpPr/>
          <p:nvPr/>
        </p:nvSpPr>
        <p:spPr>
          <a:xfrm>
            <a:off x="8613467" y="1462167"/>
            <a:ext cx="191680" cy="437225"/>
          </a:xfrm>
          <a:custGeom>
            <a:avLst/>
            <a:gdLst/>
            <a:ahLst/>
            <a:cxnLst/>
            <a:rect l="l" t="t" r="r" b="b"/>
            <a:pathLst>
              <a:path w="191680" h="437225">
                <a:moveTo>
                  <a:pt x="78351" y="437225"/>
                </a:moveTo>
                <a:lnTo>
                  <a:pt x="44422" y="390355"/>
                </a:lnTo>
                <a:lnTo>
                  <a:pt x="22736" y="344883"/>
                </a:lnTo>
                <a:lnTo>
                  <a:pt x="8045" y="299412"/>
                </a:lnTo>
                <a:lnTo>
                  <a:pt x="350" y="254990"/>
                </a:lnTo>
                <a:lnTo>
                  <a:pt x="0" y="210917"/>
                </a:lnTo>
                <a:lnTo>
                  <a:pt x="7345" y="167545"/>
                </a:lnTo>
                <a:lnTo>
                  <a:pt x="22036" y="124522"/>
                </a:lnTo>
                <a:lnTo>
                  <a:pt x="43723" y="82548"/>
                </a:lnTo>
                <a:lnTo>
                  <a:pt x="72405" y="40575"/>
                </a:lnTo>
                <a:lnTo>
                  <a:pt x="113329" y="0"/>
                </a:lnTo>
                <a:lnTo>
                  <a:pt x="147257" y="46871"/>
                </a:lnTo>
                <a:lnTo>
                  <a:pt x="168944" y="92342"/>
                </a:lnTo>
                <a:lnTo>
                  <a:pt x="183635" y="137813"/>
                </a:lnTo>
                <a:lnTo>
                  <a:pt x="191330" y="182235"/>
                </a:lnTo>
                <a:lnTo>
                  <a:pt x="191680" y="226308"/>
                </a:lnTo>
                <a:lnTo>
                  <a:pt x="184334" y="269681"/>
                </a:lnTo>
                <a:lnTo>
                  <a:pt x="169643" y="312703"/>
                </a:lnTo>
                <a:lnTo>
                  <a:pt x="147957" y="354677"/>
                </a:lnTo>
                <a:lnTo>
                  <a:pt x="119275" y="396651"/>
                </a:lnTo>
                <a:lnTo>
                  <a:pt x="78351" y="437225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9" name="S09-mark99"/>
          <p:cNvSpPr/>
          <p:nvPr/>
        </p:nvSpPr>
        <p:spPr>
          <a:xfrm>
            <a:off x="8691818" y="1618869"/>
            <a:ext cx="332291" cy="281223"/>
          </a:xfrm>
          <a:custGeom>
            <a:avLst/>
            <a:gdLst/>
            <a:ahLst/>
            <a:cxnLst/>
            <a:rect l="l" t="t" r="r" b="b"/>
            <a:pathLst>
              <a:path w="332291" h="281223">
                <a:moveTo>
                  <a:pt x="0" y="280524"/>
                </a:moveTo>
                <a:lnTo>
                  <a:pt x="9094" y="223859"/>
                </a:lnTo>
                <a:lnTo>
                  <a:pt x="25884" y="176289"/>
                </a:lnTo>
                <a:lnTo>
                  <a:pt x="47220" y="134316"/>
                </a:lnTo>
                <a:lnTo>
                  <a:pt x="73454" y="97938"/>
                </a:lnTo>
                <a:lnTo>
                  <a:pt x="104234" y="67158"/>
                </a:lnTo>
                <a:lnTo>
                  <a:pt x="139912" y="41974"/>
                </a:lnTo>
                <a:lnTo>
                  <a:pt x="180137" y="22386"/>
                </a:lnTo>
                <a:lnTo>
                  <a:pt x="225258" y="8395"/>
                </a:lnTo>
                <a:lnTo>
                  <a:pt x="274927" y="0"/>
                </a:lnTo>
                <a:lnTo>
                  <a:pt x="332291" y="700"/>
                </a:lnTo>
                <a:lnTo>
                  <a:pt x="323197" y="57364"/>
                </a:lnTo>
                <a:lnTo>
                  <a:pt x="306407" y="104934"/>
                </a:lnTo>
                <a:lnTo>
                  <a:pt x="285071" y="146908"/>
                </a:lnTo>
                <a:lnTo>
                  <a:pt x="258837" y="183285"/>
                </a:lnTo>
                <a:lnTo>
                  <a:pt x="228057" y="214065"/>
                </a:lnTo>
                <a:lnTo>
                  <a:pt x="192379" y="239250"/>
                </a:lnTo>
                <a:lnTo>
                  <a:pt x="152154" y="258837"/>
                </a:lnTo>
                <a:lnTo>
                  <a:pt x="107033" y="272829"/>
                </a:lnTo>
                <a:lnTo>
                  <a:pt x="57364" y="281223"/>
                </a:lnTo>
                <a:lnTo>
                  <a:pt x="0" y="280524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10" name="S09-mark100"/>
          <p:cNvSpPr/>
          <p:nvPr/>
        </p:nvSpPr>
        <p:spPr>
          <a:xfrm>
            <a:off x="8212619" y="2179216"/>
            <a:ext cx="839472" cy="839472"/>
          </a:xfrm>
          <a:custGeom>
            <a:avLst/>
            <a:gdLst/>
            <a:ahLst/>
            <a:cxnLst/>
            <a:rect l="l" t="t" r="r" b="b"/>
            <a:pathLst>
              <a:path w="839472" h="839472">
                <a:moveTo>
                  <a:pt x="0" y="0"/>
                </a:moveTo>
                <a:lnTo>
                  <a:pt x="69956" y="839472"/>
                </a:lnTo>
                <a:lnTo>
                  <a:pt x="769516" y="839472"/>
                </a:lnTo>
                <a:lnTo>
                  <a:pt x="839472" y="0"/>
                </a:lnTo>
              </a:path>
            </a:pathLst>
          </a:cu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09-mark101"/>
          <p:cNvSpPr/>
          <p:nvPr/>
        </p:nvSpPr>
        <p:spPr>
          <a:xfrm>
            <a:off x="8195130" y="2126749"/>
            <a:ext cx="874450" cy="52467"/>
          </a:xfrm>
          <a:custGeom>
            <a:avLst/>
            <a:gdLst/>
            <a:ahLst/>
            <a:cxnLst/>
            <a:rect l="l" t="t" r="r" b="b"/>
            <a:pathLst>
              <a:path w="874450" h="52467">
                <a:moveTo>
                  <a:pt x="0" y="52467"/>
                </a:moveTo>
                <a:lnTo>
                  <a:pt x="874450" y="52467"/>
                </a:lnTo>
                <a:lnTo>
                  <a:pt x="8744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09-mark102"/>
          <p:cNvSpPr/>
          <p:nvPr/>
        </p:nvSpPr>
        <p:spPr>
          <a:xfrm>
            <a:off x="8072707" y="1409700"/>
            <a:ext cx="1119297" cy="944407"/>
          </a:xfrm>
          <a:custGeom>
            <a:avLst/>
            <a:gdLst/>
            <a:ahLst/>
            <a:cxnLst/>
            <a:rect l="l" t="t" r="r" b="b"/>
            <a:pathLst>
              <a:path w="1119297" h="944407">
                <a:moveTo>
                  <a:pt x="104934" y="944407"/>
                </a:moveTo>
                <a:lnTo>
                  <a:pt x="0" y="0"/>
                </a:lnTo>
                <a:lnTo>
                  <a:pt x="1119297" y="0"/>
                </a:lnTo>
                <a:lnTo>
                  <a:pt x="1014363" y="944407"/>
                </a:lnTo>
                <a:close/>
              </a:path>
            </a:pathLst>
          </a:cu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3" name="S09-mark103"/>
          <p:cNvSpPr/>
          <p:nvPr/>
        </p:nvSpPr>
        <p:spPr>
          <a:xfrm>
            <a:off x="9425191" y="2459041"/>
            <a:ext cx="792835" cy="559648"/>
          </a:xfrm>
          <a:custGeom>
            <a:avLst/>
            <a:gdLst/>
            <a:ahLst/>
            <a:cxnLst/>
            <a:rect l="l" t="t" r="r" b="b"/>
            <a:pathLst>
              <a:path w="792835" h="559648">
                <a:moveTo>
                  <a:pt x="46637" y="559648"/>
                </a:moveTo>
                <a:lnTo>
                  <a:pt x="746198" y="559648"/>
                </a:lnTo>
                <a:lnTo>
                  <a:pt x="792835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8F5"/>
          </a:solidFill>
          <a:ln/>
        </p:spPr>
      </p:sp>
      <p:sp>
        <p:nvSpPr>
          <p:cNvPr id="14" name="S09-mark104"/>
          <p:cNvSpPr/>
          <p:nvPr/>
        </p:nvSpPr>
        <p:spPr>
          <a:xfrm>
            <a:off x="9762145" y="1899392"/>
            <a:ext cx="171392" cy="1031852"/>
          </a:xfrm>
          <a:custGeom>
            <a:avLst/>
            <a:gdLst/>
            <a:ahLst/>
            <a:cxnLst/>
            <a:rect l="l" t="t" r="r" b="b"/>
            <a:pathLst>
              <a:path w="171392" h="1031852">
                <a:moveTo>
                  <a:pt x="0" y="1031852"/>
                </a:moveTo>
                <a:lnTo>
                  <a:pt x="118925" y="1031852"/>
                </a:lnTo>
                <a:lnTo>
                  <a:pt x="171392" y="0"/>
                </a:lnTo>
                <a:lnTo>
                  <a:pt x="66458" y="0"/>
                </a:lnTo>
                <a:close/>
              </a:path>
            </a:pathLst>
          </a:custGeom>
          <a:solidFill>
            <a:srgbClr val="A8D08D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15" name="S09-mark105"/>
          <p:cNvSpPr/>
          <p:nvPr/>
        </p:nvSpPr>
        <p:spPr>
          <a:xfrm>
            <a:off x="9401872" y="2179216"/>
            <a:ext cx="839472" cy="839472"/>
          </a:xfrm>
          <a:custGeom>
            <a:avLst/>
            <a:gdLst/>
            <a:ahLst/>
            <a:cxnLst/>
            <a:rect l="l" t="t" r="r" b="b"/>
            <a:pathLst>
              <a:path w="839472" h="839472">
                <a:moveTo>
                  <a:pt x="0" y="0"/>
                </a:moveTo>
                <a:lnTo>
                  <a:pt x="69956" y="839472"/>
                </a:lnTo>
                <a:lnTo>
                  <a:pt x="769516" y="839472"/>
                </a:lnTo>
                <a:lnTo>
                  <a:pt x="839472" y="0"/>
                </a:lnTo>
              </a:path>
            </a:pathLst>
          </a:cu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09-mark106"/>
          <p:cNvSpPr/>
          <p:nvPr/>
        </p:nvSpPr>
        <p:spPr>
          <a:xfrm>
            <a:off x="9384383" y="2126749"/>
            <a:ext cx="874450" cy="52467"/>
          </a:xfrm>
          <a:custGeom>
            <a:avLst/>
            <a:gdLst/>
            <a:ahLst/>
            <a:cxnLst/>
            <a:rect l="l" t="t" r="r" b="b"/>
            <a:pathLst>
              <a:path w="874450" h="52467">
                <a:moveTo>
                  <a:pt x="0" y="52467"/>
                </a:moveTo>
                <a:lnTo>
                  <a:pt x="874450" y="52467"/>
                </a:lnTo>
                <a:lnTo>
                  <a:pt x="8744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09-mark107"/>
          <p:cNvSpPr/>
          <p:nvPr/>
        </p:nvSpPr>
        <p:spPr>
          <a:xfrm>
            <a:off x="9261960" y="1409700"/>
            <a:ext cx="1119297" cy="944407"/>
          </a:xfrm>
          <a:custGeom>
            <a:avLst/>
            <a:gdLst/>
            <a:ahLst/>
            <a:cxnLst/>
            <a:rect l="l" t="t" r="r" b="b"/>
            <a:pathLst>
              <a:path w="1119297" h="944407">
                <a:moveTo>
                  <a:pt x="104934" y="944407"/>
                </a:moveTo>
                <a:lnTo>
                  <a:pt x="0" y="0"/>
                </a:lnTo>
                <a:lnTo>
                  <a:pt x="1119297" y="0"/>
                </a:lnTo>
                <a:lnTo>
                  <a:pt x="1014363" y="944407"/>
                </a:lnTo>
                <a:close/>
              </a:path>
            </a:pathLst>
          </a:cu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8" name="S09-mark108"/>
          <p:cNvSpPr/>
          <p:nvPr/>
        </p:nvSpPr>
        <p:spPr>
          <a:xfrm>
            <a:off x="8170646" y="2301639"/>
            <a:ext cx="923420" cy="0"/>
          </a:xfrm>
          <a:prstGeom prst="line">
            <a:avLst/>
          </a:prstGeom>
          <a:noFill/>
          <a:ln w="31750">
            <a:solidFill>
              <a:srgbClr val="C0587A"/>
            </a:solidFill>
            <a:prstDash val="solid"/>
          </a:ln>
        </p:spPr>
      </p:sp>
      <p:sp>
        <p:nvSpPr>
          <p:cNvPr id="19" name="S09-mark109"/>
          <p:cNvSpPr/>
          <p:nvPr/>
        </p:nvSpPr>
        <p:spPr>
          <a:xfrm>
            <a:off x="9359898" y="2301639"/>
            <a:ext cx="923420" cy="0"/>
          </a:xfrm>
          <a:prstGeom prst="line">
            <a:avLst/>
          </a:prstGeom>
          <a:noFill/>
          <a:ln w="31750">
            <a:solidFill>
              <a:srgbClr val="C0587A"/>
            </a:solidFill>
            <a:prstDash val="solid"/>
          </a:ln>
        </p:spPr>
      </p:sp>
      <p:sp>
        <p:nvSpPr>
          <p:cNvPr id="20" name="S09-label111"/>
          <p:cNvSpPr txBox="1"/>
          <p:nvPr/>
        </p:nvSpPr>
        <p:spPr>
          <a:xfrm>
            <a:off x="8440585" y="303644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1" name="S09-label113"/>
          <p:cNvSpPr txBox="1"/>
          <p:nvPr/>
        </p:nvSpPr>
        <p:spPr>
          <a:xfrm>
            <a:off x="9629838" y="303644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2" name="S09-card114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9-cardtext115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잎만 다르게, 나머지는 같게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봉지 안쪽과 물 높이를 봐요</a:t>
            </a:r>
            <a:endParaRPr lang="ko-KR" sz="2800" dirty="0"/>
          </a:p>
        </p:txBody>
      </p:sp>
      <p:sp>
        <p:nvSpPr>
          <p:cNvPr id="24" name="S09-stepno11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5" name="S09-text117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셀러리 두 대 중 한 대는 잎을 모두 따요.</a:t>
            </a:r>
            <a:endParaRPr lang="ko-KR" sz="2200" dirty="0"/>
          </a:p>
        </p:txBody>
      </p:sp>
      <p:sp>
        <p:nvSpPr>
          <p:cNvPr id="26" name="S09-stepno11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7" name="S09-text119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컵에 같은 양의 물을 붓고 꽂아요.</a:t>
            </a:r>
            <a:endParaRPr lang="ko-KR" sz="2200" dirty="0"/>
          </a:p>
        </p:txBody>
      </p:sp>
      <p:sp>
        <p:nvSpPr>
          <p:cNvPr id="28" name="S09-stepno12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9" name="S09-text121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입구를 랩으로 감싸고 봉지를 씌워요.</a:t>
            </a:r>
            <a:endParaRPr lang="ko-KR" sz="2200" dirty="0"/>
          </a:p>
        </p:txBody>
      </p:sp>
      <p:sp>
        <p:nvSpPr>
          <p:cNvPr id="30" name="S09-stepno12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1" name="S09-text123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해 둔 두 봉지의 안쪽을 비교해요.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0-text1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10-card1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봉지의 차이는 무엇 때문에 생겼을까요?</a:t>
            </a:r>
            <a:endParaRPr lang="ko-KR" sz="2800" dirty="0"/>
          </a:p>
        </p:txBody>
      </p:sp>
      <p:graphicFrame>
        <p:nvGraphicFramePr>
          <p:cNvPr id="11" name="S10-table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3890772"/>
                <a:gridCol w="389077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잎을 그대로 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잎을 모두 딴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봉지 안쪽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컵의 물 높이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잎이 하는 일 ① 증산 작용</a:t>
            </a:r>
            <a:endParaRPr lang="ko-KR" sz="4000" dirty="0"/>
          </a:p>
        </p:txBody>
      </p:sp>
      <p:sp>
        <p:nvSpPr>
          <p:cNvPr id="3" name="S11-text1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잎에 온 물은 수증기가 되어 잎 밖으로 빠져나가요.</a:t>
            </a:r>
            <a:endParaRPr lang="ko-KR" sz="2800" dirty="0"/>
          </a:p>
        </p:txBody>
      </p:sp>
      <p:sp>
        <p:nvSpPr>
          <p:cNvPr id="4" name="S11-card1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잎이 있는 쪽 봉지에만 물방울이 많이 맺혔어요.</a:t>
            </a:r>
            <a:endParaRPr lang="ko-KR" sz="2800" dirty="0"/>
          </a:p>
        </p:txBody>
      </p:sp>
      <p:sp>
        <p:nvSpPr>
          <p:cNvPr id="6" name="S11-card13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13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증산 작용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잎에 온 물이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구멍(기공)으로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빠져나가는 것</a:t>
            </a:r>
            <a:endParaRPr lang="ko-KR" sz="2800" dirty="0"/>
          </a:p>
        </p:txBody>
      </p:sp>
      <p:sp>
        <p:nvSpPr>
          <p:cNvPr id="8" name="S11-card13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13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뿌리의 물을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끌어 올리고, 식물의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온도를 조절해요.</a:t>
            </a:r>
            <a:endParaRPr lang="ko-KR" sz="2800" dirty="0"/>
          </a:p>
        </p:txBody>
      </p:sp>
      <p:sp>
        <p:nvSpPr>
          <p:cNvPr id="10" name="S11-card13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13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봉지 안 물방울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수증기가 봉지에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닿아 물방울로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변했어요(응결).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2-card1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잎을 그대로 둔 셀러리의 봉지 안에 물방울이 맺혔어요.</a:t>
            </a:r>
            <a:endParaRPr lang="ko-KR" sz="2800" dirty="0"/>
          </a:p>
        </p:txBody>
      </p:sp>
      <p:sp>
        <p:nvSpPr>
          <p:cNvPr id="5" name="S12-card1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2-chip1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2-text14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컵의 물이 증발해서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생긴 거예요.</a:t>
            </a:r>
            <a:endParaRPr lang="ko-KR" sz="2800" dirty="0"/>
          </a:p>
        </p:txBody>
      </p:sp>
      <p:sp>
        <p:nvSpPr>
          <p:cNvPr id="9" name="S12-chip1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2-text14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잎을 딴 쪽에는 거의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없었어요. 잎에서 나왔어요.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잎이 하는 일 ② 광합성</a:t>
            </a:r>
            <a:endParaRPr lang="ko-KR" sz="4000" dirty="0"/>
          </a:p>
        </p:txBody>
      </p:sp>
      <p:sp>
        <p:nvSpPr>
          <p:cNvPr id="3" name="S13-text1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식물은 잎에서 스스로 양분을 만들어요.</a:t>
            </a:r>
            <a:endParaRPr lang="ko-KR" sz="2800" dirty="0"/>
          </a:p>
        </p:txBody>
      </p:sp>
      <p:sp>
        <p:nvSpPr>
          <p:cNvPr id="4" name="S13-figure146" descr="광합성 그림: 해에서 오는 빛, 공기 중의 이산화 탄소, 줄기로 올라온 물이 잎으로 들어가고, 잎에서 양분(녹말)이 만들어지며 산소가 나감"/>
          <p:cNvSpPr/>
          <p:nvPr/>
        </p:nvSpPr>
        <p:spPr>
          <a:xfrm>
            <a:off x="2340829" y="3588765"/>
            <a:ext cx="2562553" cy="1372390"/>
          </a:xfrm>
          <a:custGeom>
            <a:avLst/>
            <a:gdLst/>
            <a:ahLst/>
            <a:cxnLst/>
            <a:rect l="l" t="t" r="r" b="b"/>
            <a:pathLst>
              <a:path w="2562553" h="1372390">
                <a:moveTo>
                  <a:pt x="0" y="935332"/>
                </a:moveTo>
                <a:lnTo>
                  <a:pt x="144500" y="700431"/>
                </a:lnTo>
                <a:lnTo>
                  <a:pt x="299676" y="523900"/>
                </a:lnTo>
                <a:lnTo>
                  <a:pt x="460548" y="373706"/>
                </a:lnTo>
                <a:lnTo>
                  <a:pt x="626402" y="247713"/>
                </a:lnTo>
                <a:lnTo>
                  <a:pt x="796527" y="146635"/>
                </a:lnTo>
                <a:lnTo>
                  <a:pt x="971635" y="71182"/>
                </a:lnTo>
                <a:lnTo>
                  <a:pt x="1152437" y="22066"/>
                </a:lnTo>
                <a:lnTo>
                  <a:pt x="1337510" y="0"/>
                </a:lnTo>
                <a:lnTo>
                  <a:pt x="1528278" y="4271"/>
                </a:lnTo>
                <a:lnTo>
                  <a:pt x="1724741" y="34167"/>
                </a:lnTo>
                <a:lnTo>
                  <a:pt x="1924762" y="88978"/>
                </a:lnTo>
                <a:lnTo>
                  <a:pt x="2130478" y="167990"/>
                </a:lnTo>
                <a:lnTo>
                  <a:pt x="2340465" y="273339"/>
                </a:lnTo>
                <a:lnTo>
                  <a:pt x="2562553" y="437058"/>
                </a:lnTo>
                <a:lnTo>
                  <a:pt x="2418054" y="671958"/>
                </a:lnTo>
                <a:lnTo>
                  <a:pt x="2262877" y="848490"/>
                </a:lnTo>
                <a:lnTo>
                  <a:pt x="2102005" y="998684"/>
                </a:lnTo>
                <a:lnTo>
                  <a:pt x="1936151" y="1124676"/>
                </a:lnTo>
                <a:lnTo>
                  <a:pt x="1766026" y="1225755"/>
                </a:lnTo>
                <a:lnTo>
                  <a:pt x="1590918" y="1301207"/>
                </a:lnTo>
                <a:lnTo>
                  <a:pt x="1410116" y="1350323"/>
                </a:lnTo>
                <a:lnTo>
                  <a:pt x="1225043" y="1372390"/>
                </a:lnTo>
                <a:lnTo>
                  <a:pt x="1034275" y="1368119"/>
                </a:lnTo>
                <a:lnTo>
                  <a:pt x="837812" y="1338222"/>
                </a:lnTo>
                <a:lnTo>
                  <a:pt x="637791" y="1283412"/>
                </a:lnTo>
                <a:lnTo>
                  <a:pt x="432075" y="1204400"/>
                </a:lnTo>
                <a:lnTo>
                  <a:pt x="222088" y="1099051"/>
                </a:lnTo>
                <a:lnTo>
                  <a:pt x="0" y="935332"/>
                </a:lnTo>
                <a:close/>
              </a:path>
            </a:pathLst>
          </a:custGeom>
          <a:solidFill>
            <a:srgbClr val="8CC46B"/>
          </a:solidFill>
          <a:ln w="19050">
            <a:solidFill>
              <a:srgbClr val="4E8F3A"/>
            </a:solidFill>
            <a:prstDash val="solid"/>
          </a:ln>
        </p:spPr>
      </p:sp>
      <p:sp>
        <p:nvSpPr>
          <p:cNvPr id="5" name="S13-mark147"/>
          <p:cNvSpPr/>
          <p:nvPr/>
        </p:nvSpPr>
        <p:spPr>
          <a:xfrm>
            <a:off x="632460" y="2139499"/>
            <a:ext cx="854184" cy="854184"/>
          </a:xfrm>
          <a:prstGeom prst="ellipse">
            <a:avLst/>
          </a:prstGeom>
          <a:solidFill>
            <a:srgbClr val="F2C14E"/>
          </a:solidFill>
          <a:ln w="15875">
            <a:solidFill>
              <a:srgbClr val="B08A1E"/>
            </a:solidFill>
            <a:prstDash val="solid"/>
          </a:ln>
        </p:spPr>
      </p:sp>
      <p:sp>
        <p:nvSpPr>
          <p:cNvPr id="6" name="S13-mark148"/>
          <p:cNvSpPr/>
          <p:nvPr/>
        </p:nvSpPr>
        <p:spPr>
          <a:xfrm>
            <a:off x="2340829" y="4524097"/>
            <a:ext cx="0" cy="1566005"/>
          </a:xfrm>
          <a:prstGeom prst="line">
            <a:avLst/>
          </a:prstGeom>
          <a:noFill/>
          <a:ln w="50800">
            <a:solidFill>
              <a:srgbClr val="4E8F3A"/>
            </a:solidFill>
            <a:prstDash val="solid"/>
          </a:ln>
        </p:spPr>
      </p:sp>
      <p:sp>
        <p:nvSpPr>
          <p:cNvPr id="7" name="S13-mark149"/>
          <p:cNvSpPr/>
          <p:nvPr/>
        </p:nvSpPr>
        <p:spPr>
          <a:xfrm flipV="1">
            <a:off x="3693287" y="4082768"/>
            <a:ext cx="1067730" cy="227782"/>
          </a:xfrm>
          <a:prstGeom prst="line">
            <a:avLst/>
          </a:prstGeom>
          <a:noFill/>
          <a:ln w="12700">
            <a:solidFill>
              <a:srgbClr val="4E8F3A"/>
            </a:solidFill>
            <a:prstDash val="solid"/>
          </a:ln>
        </p:spPr>
      </p:sp>
      <p:sp>
        <p:nvSpPr>
          <p:cNvPr id="8" name="S13-mark150"/>
          <p:cNvSpPr/>
          <p:nvPr/>
        </p:nvSpPr>
        <p:spPr>
          <a:xfrm>
            <a:off x="1415462" y="2886910"/>
            <a:ext cx="1352459" cy="1067730"/>
          </a:xfrm>
          <a:prstGeom prst="line">
            <a:avLst/>
          </a:prstGeom>
          <a:noFill/>
          <a:ln w="38100">
            <a:solidFill>
              <a:srgbClr val="E9A21F"/>
            </a:solidFill>
            <a:prstDash val="solid"/>
            <a:tailEnd type="triangle"/>
          </a:ln>
        </p:spPr>
      </p:sp>
      <p:sp>
        <p:nvSpPr>
          <p:cNvPr id="9" name="S13-mark151"/>
          <p:cNvSpPr/>
          <p:nvPr/>
        </p:nvSpPr>
        <p:spPr>
          <a:xfrm flipH="1">
            <a:off x="4333926" y="2958092"/>
            <a:ext cx="1708369" cy="854184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mark152"/>
          <p:cNvSpPr/>
          <p:nvPr/>
        </p:nvSpPr>
        <p:spPr>
          <a:xfrm flipV="1">
            <a:off x="1984919" y="4808825"/>
            <a:ext cx="0" cy="1138912"/>
          </a:xfrm>
          <a:prstGeom prst="line">
            <a:avLst/>
          </a:prstGeom>
          <a:noFill/>
          <a:ln w="31750">
            <a:solidFill>
              <a:srgbClr val="3D7CC9"/>
            </a:solidFill>
            <a:prstDash val="solid"/>
            <a:tailEnd type="triangle"/>
          </a:ln>
        </p:spPr>
      </p:sp>
      <p:sp>
        <p:nvSpPr>
          <p:cNvPr id="11" name="S13-mark153"/>
          <p:cNvSpPr/>
          <p:nvPr/>
        </p:nvSpPr>
        <p:spPr>
          <a:xfrm>
            <a:off x="4191561" y="4951189"/>
            <a:ext cx="1566005" cy="71182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S13-label155"/>
          <p:cNvSpPr txBox="1"/>
          <p:nvPr/>
        </p:nvSpPr>
        <p:spPr>
          <a:xfrm>
            <a:off x="1889223" y="2850808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</a:t>
            </a:r>
            <a:endParaRPr lang="ko-KR" sz="1800" dirty="0"/>
          </a:p>
        </p:txBody>
      </p:sp>
      <p:sp>
        <p:nvSpPr>
          <p:cNvPr id="13" name="S13-label157"/>
          <p:cNvSpPr txBox="1"/>
          <p:nvPr/>
        </p:nvSpPr>
        <p:spPr>
          <a:xfrm>
            <a:off x="4396522" y="2566080"/>
            <a:ext cx="129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이산화 탄소</a:t>
            </a:r>
            <a:endParaRPr lang="ko-KR" sz="1800" dirty="0"/>
          </a:p>
        </p:txBody>
      </p:sp>
      <p:sp>
        <p:nvSpPr>
          <p:cNvPr id="14" name="S13-label159"/>
          <p:cNvSpPr txBox="1"/>
          <p:nvPr/>
        </p:nvSpPr>
        <p:spPr>
          <a:xfrm>
            <a:off x="1177402" y="5377770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1800" dirty="0"/>
          </a:p>
        </p:txBody>
      </p:sp>
      <p:sp>
        <p:nvSpPr>
          <p:cNvPr id="15" name="S13-label161"/>
          <p:cNvSpPr txBox="1"/>
          <p:nvPr/>
        </p:nvSpPr>
        <p:spPr>
          <a:xfrm>
            <a:off x="5621038" y="584045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산소</a:t>
            </a:r>
            <a:endParaRPr lang="ko-KR" sz="1800" dirty="0"/>
          </a:p>
        </p:txBody>
      </p:sp>
      <p:sp>
        <p:nvSpPr>
          <p:cNvPr id="16" name="S13-labelbg163"/>
          <p:cNvSpPr/>
          <p:nvPr/>
        </p:nvSpPr>
        <p:spPr>
          <a:xfrm>
            <a:off x="3134518" y="4374206"/>
            <a:ext cx="118872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13-label164"/>
          <p:cNvSpPr txBox="1"/>
          <p:nvPr/>
        </p:nvSpPr>
        <p:spPr>
          <a:xfrm>
            <a:off x="3088798" y="4345631"/>
            <a:ext cx="1280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양분(녹말)</a:t>
            </a:r>
            <a:endParaRPr lang="ko-KR" sz="1800" dirty="0"/>
          </a:p>
        </p:txBody>
      </p:sp>
      <p:sp>
        <p:nvSpPr>
          <p:cNvPr id="18" name="S13-card165"/>
          <p:cNvSpPr/>
          <p:nvPr/>
        </p:nvSpPr>
        <p:spPr>
          <a:xfrm>
            <a:off x="6491874" y="2090928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13-cardtext166"/>
          <p:cNvSpPr txBox="1"/>
          <p:nvPr/>
        </p:nvSpPr>
        <p:spPr>
          <a:xfrm>
            <a:off x="6766194" y="2228088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물, 이산화 탄소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것: 빛</a:t>
            </a:r>
            <a:endParaRPr lang="ko-KR" sz="2800" dirty="0"/>
          </a:p>
        </p:txBody>
      </p:sp>
      <p:sp>
        <p:nvSpPr>
          <p:cNvPr id="20" name="S13-card167"/>
          <p:cNvSpPr/>
          <p:nvPr/>
        </p:nvSpPr>
        <p:spPr>
          <a:xfrm>
            <a:off x="6491874" y="3516376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13-cardtext168"/>
          <p:cNvSpPr txBox="1"/>
          <p:nvPr/>
        </p:nvSpPr>
        <p:spPr>
          <a:xfrm>
            <a:off x="6766194" y="3653536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것: 양분(녹말)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나오는 것: 산소</a:t>
            </a:r>
            <a:endParaRPr lang="ko-KR" sz="2800" dirty="0"/>
          </a:p>
        </p:txBody>
      </p:sp>
      <p:sp>
        <p:nvSpPr>
          <p:cNvPr id="22" name="S13-card169"/>
          <p:cNvSpPr/>
          <p:nvPr/>
        </p:nvSpPr>
        <p:spPr>
          <a:xfrm>
            <a:off x="6491874" y="4941824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3-cardtext170"/>
          <p:cNvSpPr txBox="1"/>
          <p:nvPr/>
        </p:nvSpPr>
        <p:spPr>
          <a:xfrm>
            <a:off x="6766194" y="5078984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양분은 줄기를 거쳐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뿌리·줄기·열매로 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꽃과 열매가 하는 일</a:t>
            </a:r>
            <a:endParaRPr lang="ko-KR" sz="4000" dirty="0"/>
          </a:p>
        </p:txBody>
      </p:sp>
      <p:sp>
        <p:nvSpPr>
          <p:cNvPr id="3" name="S14-figure171" descr="꽃의 생김새: 가운데 암술, 그 양옆의 수술, 바깥의 꽃잎, 아래의 꽃받침"/>
          <p:cNvSpPr/>
          <p:nvPr/>
        </p:nvSpPr>
        <p:spPr>
          <a:xfrm>
            <a:off x="1380012" y="2468880"/>
            <a:ext cx="1428293" cy="1828800"/>
          </a:xfrm>
          <a:custGeom>
            <a:avLst/>
            <a:gdLst/>
            <a:ahLst/>
            <a:cxnLst/>
            <a:rect l="l" t="t" r="r" b="b"/>
            <a:pathLst>
              <a:path w="1428293" h="1828800">
                <a:moveTo>
                  <a:pt x="1399946" y="1828800"/>
                </a:moveTo>
                <a:lnTo>
                  <a:pt x="1143000" y="1783080"/>
                </a:lnTo>
                <a:lnTo>
                  <a:pt x="929945" y="1705356"/>
                </a:lnTo>
                <a:lnTo>
                  <a:pt x="737921" y="1610258"/>
                </a:lnTo>
                <a:lnTo>
                  <a:pt x="567842" y="1500530"/>
                </a:lnTo>
                <a:lnTo>
                  <a:pt x="419710" y="1373429"/>
                </a:lnTo>
                <a:lnTo>
                  <a:pt x="293522" y="1229868"/>
                </a:lnTo>
                <a:lnTo>
                  <a:pt x="191110" y="1068934"/>
                </a:lnTo>
                <a:lnTo>
                  <a:pt x="110642" y="890626"/>
                </a:lnTo>
                <a:lnTo>
                  <a:pt x="52121" y="695858"/>
                </a:lnTo>
                <a:lnTo>
                  <a:pt x="15545" y="485546"/>
                </a:lnTo>
                <a:lnTo>
                  <a:pt x="0" y="259690"/>
                </a:lnTo>
                <a:lnTo>
                  <a:pt x="28346" y="0"/>
                </a:lnTo>
                <a:lnTo>
                  <a:pt x="285293" y="45720"/>
                </a:lnTo>
                <a:lnTo>
                  <a:pt x="498348" y="123444"/>
                </a:lnTo>
                <a:lnTo>
                  <a:pt x="690372" y="218542"/>
                </a:lnTo>
                <a:lnTo>
                  <a:pt x="860450" y="328270"/>
                </a:lnTo>
                <a:lnTo>
                  <a:pt x="1008583" y="455371"/>
                </a:lnTo>
                <a:lnTo>
                  <a:pt x="1134770" y="598932"/>
                </a:lnTo>
                <a:lnTo>
                  <a:pt x="1237183" y="759866"/>
                </a:lnTo>
                <a:lnTo>
                  <a:pt x="1317650" y="938174"/>
                </a:lnTo>
                <a:lnTo>
                  <a:pt x="1376172" y="1132942"/>
                </a:lnTo>
                <a:lnTo>
                  <a:pt x="1412748" y="1343254"/>
                </a:lnTo>
                <a:lnTo>
                  <a:pt x="1428293" y="1569110"/>
                </a:lnTo>
                <a:lnTo>
                  <a:pt x="1399946" y="1828800"/>
                </a:lnTo>
                <a:close/>
              </a:path>
            </a:pathLst>
          </a:cu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4" name="S14-mark172"/>
          <p:cNvSpPr/>
          <p:nvPr/>
        </p:nvSpPr>
        <p:spPr>
          <a:xfrm>
            <a:off x="3117372" y="2468880"/>
            <a:ext cx="1428293" cy="1828800"/>
          </a:xfrm>
          <a:custGeom>
            <a:avLst/>
            <a:gdLst/>
            <a:ahLst/>
            <a:cxnLst/>
            <a:rect l="l" t="t" r="r" b="b"/>
            <a:pathLst>
              <a:path w="1428293" h="1828800">
                <a:moveTo>
                  <a:pt x="28346" y="1828800"/>
                </a:moveTo>
                <a:lnTo>
                  <a:pt x="0" y="1569110"/>
                </a:lnTo>
                <a:lnTo>
                  <a:pt x="15545" y="1343254"/>
                </a:lnTo>
                <a:lnTo>
                  <a:pt x="52121" y="1132942"/>
                </a:lnTo>
                <a:lnTo>
                  <a:pt x="110642" y="938174"/>
                </a:lnTo>
                <a:lnTo>
                  <a:pt x="191110" y="759866"/>
                </a:lnTo>
                <a:lnTo>
                  <a:pt x="293522" y="598932"/>
                </a:lnTo>
                <a:lnTo>
                  <a:pt x="419710" y="455371"/>
                </a:lnTo>
                <a:lnTo>
                  <a:pt x="567842" y="328270"/>
                </a:lnTo>
                <a:lnTo>
                  <a:pt x="737921" y="218542"/>
                </a:lnTo>
                <a:lnTo>
                  <a:pt x="929945" y="123444"/>
                </a:lnTo>
                <a:lnTo>
                  <a:pt x="1143000" y="45720"/>
                </a:lnTo>
                <a:lnTo>
                  <a:pt x="1399946" y="0"/>
                </a:lnTo>
                <a:lnTo>
                  <a:pt x="1428293" y="259690"/>
                </a:lnTo>
                <a:lnTo>
                  <a:pt x="1412748" y="485546"/>
                </a:lnTo>
                <a:lnTo>
                  <a:pt x="1376172" y="695858"/>
                </a:lnTo>
                <a:lnTo>
                  <a:pt x="1317650" y="890626"/>
                </a:lnTo>
                <a:lnTo>
                  <a:pt x="1237183" y="1068934"/>
                </a:lnTo>
                <a:lnTo>
                  <a:pt x="1134770" y="1229868"/>
                </a:lnTo>
                <a:lnTo>
                  <a:pt x="1008583" y="1373429"/>
                </a:lnTo>
                <a:lnTo>
                  <a:pt x="860450" y="1500530"/>
                </a:lnTo>
                <a:lnTo>
                  <a:pt x="690372" y="1610258"/>
                </a:lnTo>
                <a:lnTo>
                  <a:pt x="498348" y="1705356"/>
                </a:lnTo>
                <a:lnTo>
                  <a:pt x="285293" y="1783080"/>
                </a:lnTo>
                <a:lnTo>
                  <a:pt x="28346" y="1828800"/>
                </a:lnTo>
                <a:close/>
              </a:path>
            </a:pathLst>
          </a:cu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5" name="S14-mark173"/>
          <p:cNvSpPr/>
          <p:nvPr/>
        </p:nvSpPr>
        <p:spPr>
          <a:xfrm>
            <a:off x="2048439" y="4011473"/>
            <a:ext cx="914400" cy="526694"/>
          </a:xfrm>
          <a:custGeom>
            <a:avLst/>
            <a:gdLst/>
            <a:ahLst/>
            <a:cxnLst/>
            <a:rect l="l" t="t" r="r" b="b"/>
            <a:pathLst>
              <a:path w="914400" h="526694">
                <a:moveTo>
                  <a:pt x="914400" y="514807"/>
                </a:moveTo>
                <a:lnTo>
                  <a:pt x="788213" y="526694"/>
                </a:lnTo>
                <a:lnTo>
                  <a:pt x="673913" y="519379"/>
                </a:lnTo>
                <a:lnTo>
                  <a:pt x="566014" y="499262"/>
                </a:lnTo>
                <a:lnTo>
                  <a:pt x="463601" y="467258"/>
                </a:lnTo>
                <a:lnTo>
                  <a:pt x="369418" y="423367"/>
                </a:lnTo>
                <a:lnTo>
                  <a:pt x="280721" y="366674"/>
                </a:lnTo>
                <a:lnTo>
                  <a:pt x="200254" y="298094"/>
                </a:lnTo>
                <a:lnTo>
                  <a:pt x="125273" y="217627"/>
                </a:lnTo>
                <a:lnTo>
                  <a:pt x="56693" y="124358"/>
                </a:lnTo>
                <a:lnTo>
                  <a:pt x="0" y="11887"/>
                </a:lnTo>
                <a:lnTo>
                  <a:pt x="126187" y="0"/>
                </a:lnTo>
                <a:lnTo>
                  <a:pt x="240487" y="7315"/>
                </a:lnTo>
                <a:lnTo>
                  <a:pt x="348386" y="27432"/>
                </a:lnTo>
                <a:lnTo>
                  <a:pt x="450799" y="59436"/>
                </a:lnTo>
                <a:lnTo>
                  <a:pt x="544982" y="103327"/>
                </a:lnTo>
                <a:lnTo>
                  <a:pt x="633679" y="160020"/>
                </a:lnTo>
                <a:lnTo>
                  <a:pt x="714146" y="228600"/>
                </a:lnTo>
                <a:lnTo>
                  <a:pt x="789127" y="309067"/>
                </a:lnTo>
                <a:lnTo>
                  <a:pt x="857707" y="402336"/>
                </a:lnTo>
                <a:lnTo>
                  <a:pt x="914400" y="514807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6" name="S14-mark174"/>
          <p:cNvSpPr/>
          <p:nvPr/>
        </p:nvSpPr>
        <p:spPr>
          <a:xfrm>
            <a:off x="2962839" y="4011473"/>
            <a:ext cx="914400" cy="526694"/>
          </a:xfrm>
          <a:custGeom>
            <a:avLst/>
            <a:gdLst/>
            <a:ahLst/>
            <a:cxnLst/>
            <a:rect l="l" t="t" r="r" b="b"/>
            <a:pathLst>
              <a:path w="914400" h="526694">
                <a:moveTo>
                  <a:pt x="0" y="514807"/>
                </a:moveTo>
                <a:lnTo>
                  <a:pt x="56693" y="402336"/>
                </a:lnTo>
                <a:lnTo>
                  <a:pt x="125273" y="309067"/>
                </a:lnTo>
                <a:lnTo>
                  <a:pt x="200254" y="228600"/>
                </a:lnTo>
                <a:lnTo>
                  <a:pt x="280721" y="160020"/>
                </a:lnTo>
                <a:lnTo>
                  <a:pt x="369418" y="103327"/>
                </a:lnTo>
                <a:lnTo>
                  <a:pt x="463601" y="59436"/>
                </a:lnTo>
                <a:lnTo>
                  <a:pt x="566014" y="27432"/>
                </a:lnTo>
                <a:lnTo>
                  <a:pt x="673913" y="7315"/>
                </a:lnTo>
                <a:lnTo>
                  <a:pt x="788213" y="0"/>
                </a:lnTo>
                <a:lnTo>
                  <a:pt x="914400" y="11887"/>
                </a:lnTo>
                <a:lnTo>
                  <a:pt x="857707" y="124358"/>
                </a:lnTo>
                <a:lnTo>
                  <a:pt x="789127" y="217627"/>
                </a:lnTo>
                <a:lnTo>
                  <a:pt x="714146" y="298094"/>
                </a:lnTo>
                <a:lnTo>
                  <a:pt x="633679" y="366674"/>
                </a:lnTo>
                <a:lnTo>
                  <a:pt x="544982" y="423367"/>
                </a:lnTo>
                <a:lnTo>
                  <a:pt x="450799" y="467258"/>
                </a:lnTo>
                <a:lnTo>
                  <a:pt x="348386" y="499262"/>
                </a:lnTo>
                <a:lnTo>
                  <a:pt x="240487" y="519379"/>
                </a:lnTo>
                <a:lnTo>
                  <a:pt x="126187" y="526694"/>
                </a:lnTo>
                <a:lnTo>
                  <a:pt x="0" y="514807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7" name="S14-mark175"/>
          <p:cNvSpPr/>
          <p:nvPr/>
        </p:nvSpPr>
        <p:spPr>
          <a:xfrm>
            <a:off x="2688519" y="3749040"/>
            <a:ext cx="548640" cy="731520"/>
          </a:xfrm>
          <a:custGeom>
            <a:avLst/>
            <a:gdLst/>
            <a:ahLst/>
            <a:cxnLst/>
            <a:rect l="l" t="t" r="r" b="b"/>
            <a:pathLst>
              <a:path w="548640" h="731520">
                <a:moveTo>
                  <a:pt x="548640" y="365760"/>
                </a:moveTo>
                <a:lnTo>
                  <a:pt x="544068" y="302666"/>
                </a:lnTo>
                <a:lnTo>
                  <a:pt x="532181" y="240487"/>
                </a:lnTo>
                <a:lnTo>
                  <a:pt x="512064" y="182880"/>
                </a:lnTo>
                <a:lnTo>
                  <a:pt x="484632" y="130759"/>
                </a:lnTo>
                <a:lnTo>
                  <a:pt x="450799" y="85954"/>
                </a:lnTo>
                <a:lnTo>
                  <a:pt x="411480" y="49378"/>
                </a:lnTo>
                <a:lnTo>
                  <a:pt x="368503" y="21946"/>
                </a:lnTo>
                <a:lnTo>
                  <a:pt x="321869" y="5486"/>
                </a:lnTo>
                <a:lnTo>
                  <a:pt x="274320" y="0"/>
                </a:lnTo>
                <a:lnTo>
                  <a:pt x="226771" y="5486"/>
                </a:lnTo>
                <a:lnTo>
                  <a:pt x="180137" y="21946"/>
                </a:lnTo>
                <a:lnTo>
                  <a:pt x="137160" y="49378"/>
                </a:lnTo>
                <a:lnTo>
                  <a:pt x="97841" y="85954"/>
                </a:lnTo>
                <a:lnTo>
                  <a:pt x="64008" y="130759"/>
                </a:lnTo>
                <a:lnTo>
                  <a:pt x="36576" y="182880"/>
                </a:lnTo>
                <a:lnTo>
                  <a:pt x="16459" y="240487"/>
                </a:lnTo>
                <a:lnTo>
                  <a:pt x="4572" y="302666"/>
                </a:lnTo>
                <a:lnTo>
                  <a:pt x="0" y="365760"/>
                </a:lnTo>
                <a:lnTo>
                  <a:pt x="4572" y="428854"/>
                </a:lnTo>
                <a:lnTo>
                  <a:pt x="16459" y="491033"/>
                </a:lnTo>
                <a:lnTo>
                  <a:pt x="36576" y="548640"/>
                </a:lnTo>
                <a:lnTo>
                  <a:pt x="64008" y="600761"/>
                </a:lnTo>
                <a:lnTo>
                  <a:pt x="97841" y="645566"/>
                </a:lnTo>
                <a:lnTo>
                  <a:pt x="137160" y="682142"/>
                </a:lnTo>
                <a:lnTo>
                  <a:pt x="180137" y="709574"/>
                </a:lnTo>
                <a:lnTo>
                  <a:pt x="226771" y="726034"/>
                </a:lnTo>
                <a:lnTo>
                  <a:pt x="274320" y="731520"/>
                </a:lnTo>
                <a:lnTo>
                  <a:pt x="321869" y="726034"/>
                </a:lnTo>
                <a:lnTo>
                  <a:pt x="368503" y="709574"/>
                </a:lnTo>
                <a:lnTo>
                  <a:pt x="411480" y="682142"/>
                </a:lnTo>
                <a:lnTo>
                  <a:pt x="450799" y="645566"/>
                </a:lnTo>
                <a:lnTo>
                  <a:pt x="484632" y="600761"/>
                </a:lnTo>
                <a:lnTo>
                  <a:pt x="512064" y="548640"/>
                </a:lnTo>
                <a:lnTo>
                  <a:pt x="532181" y="491033"/>
                </a:lnTo>
                <a:lnTo>
                  <a:pt x="544068" y="428854"/>
                </a:lnTo>
                <a:lnTo>
                  <a:pt x="548640" y="365760"/>
                </a:lnTo>
                <a:close/>
              </a:path>
            </a:pathLst>
          </a:custGeom>
          <a:solidFill>
            <a:srgbClr val="BFE3A5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8" name="S14-mark176"/>
          <p:cNvSpPr/>
          <p:nvPr/>
        </p:nvSpPr>
        <p:spPr>
          <a:xfrm>
            <a:off x="2185599" y="2478024"/>
            <a:ext cx="237744" cy="402336"/>
          </a:xfrm>
          <a:custGeom>
            <a:avLst/>
            <a:gdLst/>
            <a:ahLst/>
            <a:cxnLst/>
            <a:rect l="l" t="t" r="r" b="b"/>
            <a:pathLst>
              <a:path w="237744" h="402336">
                <a:moveTo>
                  <a:pt x="237744" y="201168"/>
                </a:moveTo>
                <a:lnTo>
                  <a:pt x="235915" y="166421"/>
                </a:lnTo>
                <a:lnTo>
                  <a:pt x="230429" y="132588"/>
                </a:lnTo>
                <a:lnTo>
                  <a:pt x="222199" y="100584"/>
                </a:lnTo>
                <a:lnTo>
                  <a:pt x="210312" y="72238"/>
                </a:lnTo>
                <a:lnTo>
                  <a:pt x="195682" y="46634"/>
                </a:lnTo>
                <a:lnTo>
                  <a:pt x="178308" y="26518"/>
                </a:lnTo>
                <a:lnTo>
                  <a:pt x="159106" y="11887"/>
                </a:lnTo>
                <a:lnTo>
                  <a:pt x="139903" y="2743"/>
                </a:lnTo>
                <a:lnTo>
                  <a:pt x="118872" y="0"/>
                </a:lnTo>
                <a:lnTo>
                  <a:pt x="97841" y="2743"/>
                </a:lnTo>
                <a:lnTo>
                  <a:pt x="78638" y="11887"/>
                </a:lnTo>
                <a:lnTo>
                  <a:pt x="59436" y="26518"/>
                </a:lnTo>
                <a:lnTo>
                  <a:pt x="42062" y="46634"/>
                </a:lnTo>
                <a:lnTo>
                  <a:pt x="27432" y="72238"/>
                </a:lnTo>
                <a:lnTo>
                  <a:pt x="15545" y="100584"/>
                </a:lnTo>
                <a:lnTo>
                  <a:pt x="7315" y="132588"/>
                </a:lnTo>
                <a:lnTo>
                  <a:pt x="1829" y="166421"/>
                </a:lnTo>
                <a:lnTo>
                  <a:pt x="0" y="201168"/>
                </a:lnTo>
                <a:lnTo>
                  <a:pt x="1829" y="235915"/>
                </a:lnTo>
                <a:lnTo>
                  <a:pt x="7315" y="269748"/>
                </a:lnTo>
                <a:lnTo>
                  <a:pt x="15545" y="301752"/>
                </a:lnTo>
                <a:lnTo>
                  <a:pt x="27432" y="330098"/>
                </a:lnTo>
                <a:lnTo>
                  <a:pt x="42062" y="355702"/>
                </a:lnTo>
                <a:lnTo>
                  <a:pt x="59436" y="375818"/>
                </a:lnTo>
                <a:lnTo>
                  <a:pt x="78638" y="390449"/>
                </a:lnTo>
                <a:lnTo>
                  <a:pt x="97841" y="399593"/>
                </a:lnTo>
                <a:lnTo>
                  <a:pt x="118872" y="402336"/>
                </a:lnTo>
                <a:lnTo>
                  <a:pt x="139903" y="399593"/>
                </a:lnTo>
                <a:lnTo>
                  <a:pt x="159106" y="390449"/>
                </a:lnTo>
                <a:lnTo>
                  <a:pt x="178308" y="375818"/>
                </a:lnTo>
                <a:lnTo>
                  <a:pt x="195682" y="355702"/>
                </a:lnTo>
                <a:lnTo>
                  <a:pt x="210312" y="330098"/>
                </a:lnTo>
                <a:lnTo>
                  <a:pt x="222199" y="301752"/>
                </a:lnTo>
                <a:lnTo>
                  <a:pt x="230429" y="269748"/>
                </a:lnTo>
                <a:lnTo>
                  <a:pt x="235915" y="235915"/>
                </a:lnTo>
                <a:lnTo>
                  <a:pt x="237744" y="201168"/>
                </a:lnTo>
                <a:close/>
              </a:path>
            </a:pathLst>
          </a:custGeom>
          <a:solidFill>
            <a:srgbClr val="F2C14E"/>
          </a:solidFill>
          <a:ln w="12700">
            <a:solidFill>
              <a:srgbClr val="B08A1E"/>
            </a:solidFill>
            <a:prstDash val="solid"/>
          </a:ln>
        </p:spPr>
      </p:sp>
      <p:sp>
        <p:nvSpPr>
          <p:cNvPr id="9" name="S14-mark177"/>
          <p:cNvSpPr/>
          <p:nvPr/>
        </p:nvSpPr>
        <p:spPr>
          <a:xfrm>
            <a:off x="3502335" y="2478024"/>
            <a:ext cx="237744" cy="402336"/>
          </a:xfrm>
          <a:custGeom>
            <a:avLst/>
            <a:gdLst/>
            <a:ahLst/>
            <a:cxnLst/>
            <a:rect l="l" t="t" r="r" b="b"/>
            <a:pathLst>
              <a:path w="237744" h="402336">
                <a:moveTo>
                  <a:pt x="237744" y="201168"/>
                </a:moveTo>
                <a:lnTo>
                  <a:pt x="235915" y="166421"/>
                </a:lnTo>
                <a:lnTo>
                  <a:pt x="230429" y="132588"/>
                </a:lnTo>
                <a:lnTo>
                  <a:pt x="222199" y="100584"/>
                </a:lnTo>
                <a:lnTo>
                  <a:pt x="210312" y="72238"/>
                </a:lnTo>
                <a:lnTo>
                  <a:pt x="195682" y="46634"/>
                </a:lnTo>
                <a:lnTo>
                  <a:pt x="178308" y="26518"/>
                </a:lnTo>
                <a:lnTo>
                  <a:pt x="159106" y="11887"/>
                </a:lnTo>
                <a:lnTo>
                  <a:pt x="139903" y="2743"/>
                </a:lnTo>
                <a:lnTo>
                  <a:pt x="118872" y="0"/>
                </a:lnTo>
                <a:lnTo>
                  <a:pt x="97841" y="2743"/>
                </a:lnTo>
                <a:lnTo>
                  <a:pt x="78638" y="11887"/>
                </a:lnTo>
                <a:lnTo>
                  <a:pt x="59436" y="26518"/>
                </a:lnTo>
                <a:lnTo>
                  <a:pt x="42062" y="46634"/>
                </a:lnTo>
                <a:lnTo>
                  <a:pt x="27432" y="72238"/>
                </a:lnTo>
                <a:lnTo>
                  <a:pt x="15545" y="100584"/>
                </a:lnTo>
                <a:lnTo>
                  <a:pt x="7315" y="132588"/>
                </a:lnTo>
                <a:lnTo>
                  <a:pt x="1829" y="166421"/>
                </a:lnTo>
                <a:lnTo>
                  <a:pt x="0" y="201168"/>
                </a:lnTo>
                <a:lnTo>
                  <a:pt x="1829" y="235915"/>
                </a:lnTo>
                <a:lnTo>
                  <a:pt x="7315" y="269748"/>
                </a:lnTo>
                <a:lnTo>
                  <a:pt x="15545" y="301752"/>
                </a:lnTo>
                <a:lnTo>
                  <a:pt x="27432" y="330098"/>
                </a:lnTo>
                <a:lnTo>
                  <a:pt x="42062" y="355702"/>
                </a:lnTo>
                <a:lnTo>
                  <a:pt x="59436" y="375818"/>
                </a:lnTo>
                <a:lnTo>
                  <a:pt x="78638" y="390449"/>
                </a:lnTo>
                <a:lnTo>
                  <a:pt x="97841" y="399593"/>
                </a:lnTo>
                <a:lnTo>
                  <a:pt x="118872" y="402336"/>
                </a:lnTo>
                <a:lnTo>
                  <a:pt x="139903" y="399593"/>
                </a:lnTo>
                <a:lnTo>
                  <a:pt x="159106" y="390449"/>
                </a:lnTo>
                <a:lnTo>
                  <a:pt x="178308" y="375818"/>
                </a:lnTo>
                <a:lnTo>
                  <a:pt x="195682" y="355702"/>
                </a:lnTo>
                <a:lnTo>
                  <a:pt x="210312" y="330098"/>
                </a:lnTo>
                <a:lnTo>
                  <a:pt x="222199" y="301752"/>
                </a:lnTo>
                <a:lnTo>
                  <a:pt x="230429" y="269748"/>
                </a:lnTo>
                <a:lnTo>
                  <a:pt x="235915" y="235915"/>
                </a:lnTo>
                <a:lnTo>
                  <a:pt x="237744" y="201168"/>
                </a:lnTo>
                <a:close/>
              </a:path>
            </a:pathLst>
          </a:custGeom>
          <a:solidFill>
            <a:srgbClr val="F2C14E"/>
          </a:solidFill>
          <a:ln w="12700">
            <a:solidFill>
              <a:srgbClr val="B08A1E"/>
            </a:solidFill>
            <a:prstDash val="solid"/>
          </a:ln>
        </p:spPr>
      </p:sp>
      <p:sp>
        <p:nvSpPr>
          <p:cNvPr id="10" name="S14-mark178"/>
          <p:cNvSpPr/>
          <p:nvPr/>
        </p:nvSpPr>
        <p:spPr>
          <a:xfrm>
            <a:off x="2834823" y="2249424"/>
            <a:ext cx="256032" cy="256032"/>
          </a:xfrm>
          <a:prstGeom prst="ellipse">
            <a:avLst/>
          </a:pr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11" name="S14-mark179"/>
          <p:cNvSpPr/>
          <p:nvPr/>
        </p:nvSpPr>
        <p:spPr>
          <a:xfrm>
            <a:off x="2962839" y="4526280"/>
            <a:ext cx="0" cy="1554480"/>
          </a:xfrm>
          <a:prstGeom prst="line">
            <a:avLst/>
          </a:prstGeom>
          <a:noFill/>
          <a:ln w="50800">
            <a:solidFill>
              <a:srgbClr val="4E8F3A"/>
            </a:solidFill>
            <a:prstDash val="solid"/>
          </a:ln>
        </p:spPr>
      </p:sp>
      <p:sp>
        <p:nvSpPr>
          <p:cNvPr id="12" name="S14-mark180"/>
          <p:cNvSpPr/>
          <p:nvPr/>
        </p:nvSpPr>
        <p:spPr>
          <a:xfrm flipV="1">
            <a:off x="2962839" y="2468880"/>
            <a:ext cx="0" cy="1307592"/>
          </a:xfrm>
          <a:prstGeom prst="line">
            <a:avLst/>
          </a:prstGeom>
          <a:noFill/>
          <a:ln w="44450">
            <a:solidFill>
              <a:srgbClr val="4E8F3A"/>
            </a:solidFill>
            <a:prstDash val="solid"/>
          </a:ln>
        </p:spPr>
      </p:sp>
      <p:sp>
        <p:nvSpPr>
          <p:cNvPr id="13" name="S14-mark181"/>
          <p:cNvSpPr/>
          <p:nvPr/>
        </p:nvSpPr>
        <p:spPr>
          <a:xfrm flipH="1" flipV="1">
            <a:off x="2322759" y="2880360"/>
            <a:ext cx="438912" cy="1280160"/>
          </a:xfrm>
          <a:prstGeom prst="line">
            <a:avLst/>
          </a:prstGeom>
          <a:noFill/>
          <a:ln w="25400">
            <a:solidFill>
              <a:srgbClr val="B08A1E"/>
            </a:solidFill>
            <a:prstDash val="solid"/>
          </a:ln>
        </p:spPr>
      </p:sp>
      <p:sp>
        <p:nvSpPr>
          <p:cNvPr id="14" name="S14-mark182"/>
          <p:cNvSpPr/>
          <p:nvPr/>
        </p:nvSpPr>
        <p:spPr>
          <a:xfrm flipV="1">
            <a:off x="3164007" y="2880360"/>
            <a:ext cx="438912" cy="1280160"/>
          </a:xfrm>
          <a:prstGeom prst="line">
            <a:avLst/>
          </a:prstGeom>
          <a:noFill/>
          <a:ln w="25400">
            <a:solidFill>
              <a:srgbClr val="B08A1E"/>
            </a:solidFill>
            <a:prstDash val="solid"/>
          </a:ln>
        </p:spPr>
      </p:sp>
      <p:sp>
        <p:nvSpPr>
          <p:cNvPr id="15" name="S14-mark183"/>
          <p:cNvSpPr/>
          <p:nvPr/>
        </p:nvSpPr>
        <p:spPr>
          <a:xfrm flipV="1">
            <a:off x="2962839" y="1645920"/>
            <a:ext cx="822960" cy="6400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6" name="S14-mark184"/>
          <p:cNvSpPr/>
          <p:nvPr/>
        </p:nvSpPr>
        <p:spPr>
          <a:xfrm flipH="1" flipV="1">
            <a:off x="1271199" y="1645920"/>
            <a:ext cx="914400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7" name="S14-mark185"/>
          <p:cNvSpPr/>
          <p:nvPr/>
        </p:nvSpPr>
        <p:spPr>
          <a:xfrm>
            <a:off x="4288719" y="3337560"/>
            <a:ext cx="685800" cy="2286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8" name="S14-mark186"/>
          <p:cNvSpPr/>
          <p:nvPr/>
        </p:nvSpPr>
        <p:spPr>
          <a:xfrm flipH="1">
            <a:off x="1225479" y="4160520"/>
            <a:ext cx="960120" cy="5943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9" name="S14-label188"/>
          <p:cNvSpPr txBox="1"/>
          <p:nvPr/>
        </p:nvSpPr>
        <p:spPr>
          <a:xfrm>
            <a:off x="3868603" y="128841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암술</a:t>
            </a:r>
            <a:endParaRPr lang="ko-KR" sz="2200" dirty="0"/>
          </a:p>
        </p:txBody>
      </p:sp>
      <p:sp>
        <p:nvSpPr>
          <p:cNvPr id="20" name="S14-label190"/>
          <p:cNvSpPr txBox="1"/>
          <p:nvPr/>
        </p:nvSpPr>
        <p:spPr>
          <a:xfrm>
            <a:off x="576763" y="128841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</a:t>
            </a:r>
            <a:endParaRPr lang="ko-KR" sz="2200" dirty="0"/>
          </a:p>
        </p:txBody>
      </p:sp>
      <p:sp>
        <p:nvSpPr>
          <p:cNvPr id="21" name="S14-label192"/>
          <p:cNvSpPr txBox="1"/>
          <p:nvPr/>
        </p:nvSpPr>
        <p:spPr>
          <a:xfrm>
            <a:off x="5148763" y="33915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꽃잎</a:t>
            </a:r>
            <a:endParaRPr lang="ko-KR" sz="2200" dirty="0"/>
          </a:p>
        </p:txBody>
      </p:sp>
      <p:sp>
        <p:nvSpPr>
          <p:cNvPr id="22" name="S14-label194"/>
          <p:cNvSpPr txBox="1"/>
          <p:nvPr/>
        </p:nvSpPr>
        <p:spPr>
          <a:xfrm>
            <a:off x="302697" y="476313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꽃받침</a:t>
            </a:r>
            <a:endParaRPr lang="ko-KR" sz="2200" dirty="0"/>
          </a:p>
        </p:txBody>
      </p:sp>
      <p:sp>
        <p:nvSpPr>
          <p:cNvPr id="23" name="S14-card195"/>
          <p:cNvSpPr/>
          <p:nvPr/>
        </p:nvSpPr>
        <p:spPr>
          <a:xfrm>
            <a:off x="6062838" y="1773174"/>
            <a:ext cx="5577474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14-cardtext196"/>
          <p:cNvSpPr txBox="1"/>
          <p:nvPr/>
        </p:nvSpPr>
        <p:spPr>
          <a:xfrm>
            <a:off x="6337158" y="1910334"/>
            <a:ext cx="5028834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씨를 만들어요.</a:t>
            </a:r>
            <a:endParaRPr lang="ko-KR" sz="2800" dirty="0"/>
          </a:p>
        </p:txBody>
      </p:sp>
      <p:sp>
        <p:nvSpPr>
          <p:cNvPr id="25" name="S14-card197"/>
          <p:cNvSpPr/>
          <p:nvPr/>
        </p:nvSpPr>
        <p:spPr>
          <a:xfrm>
            <a:off x="6062838" y="3181858"/>
            <a:ext cx="5577474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4-cardtext198"/>
          <p:cNvSpPr txBox="1"/>
          <p:nvPr/>
        </p:nvSpPr>
        <p:spPr>
          <a:xfrm>
            <a:off x="6337158" y="3319018"/>
            <a:ext cx="5028834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꽃가루받이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꽃가루가 암술에 붙는 것</a:t>
            </a:r>
            <a:endParaRPr lang="ko-KR" sz="2800" dirty="0"/>
          </a:p>
        </p:txBody>
      </p:sp>
      <p:sp>
        <p:nvSpPr>
          <p:cNvPr id="27" name="S14-card199"/>
          <p:cNvSpPr/>
          <p:nvPr/>
        </p:nvSpPr>
        <p:spPr>
          <a:xfrm>
            <a:off x="6062838" y="4590542"/>
            <a:ext cx="5577474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14-cardtext200"/>
          <p:cNvSpPr txBox="1"/>
          <p:nvPr/>
        </p:nvSpPr>
        <p:spPr>
          <a:xfrm>
            <a:off x="6337158" y="4727702"/>
            <a:ext cx="5028834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씨를 보호하고 퍼뜨려요.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부분이 하는 일일까요?</a:t>
            </a:r>
            <a:endParaRPr lang="ko-KR" sz="4000" dirty="0"/>
          </a:p>
        </p:txBody>
      </p:sp>
      <p:sp>
        <p:nvSpPr>
          <p:cNvPr id="3" name="S15-card2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5-cardtext2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뿌리·줄기·잎·꽃·열매 중에서 골라요.</a:t>
            </a:r>
            <a:endParaRPr lang="ko-KR" sz="2800" dirty="0"/>
          </a:p>
        </p:txBody>
      </p:sp>
      <p:sp>
        <p:nvSpPr>
          <p:cNvPr id="5" name="S15-chip20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5-text204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흡수하고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식물을 지지해요.</a:t>
            </a:r>
            <a:endParaRPr lang="ko-KR" sz="2800" dirty="0"/>
          </a:p>
        </p:txBody>
      </p:sp>
      <p:sp>
        <p:nvSpPr>
          <p:cNvPr id="7" name="S15-chip205"/>
          <p:cNvSpPr txBox="1"/>
          <p:nvPr/>
        </p:nvSpPr>
        <p:spPr>
          <a:xfrm>
            <a:off x="6277356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5-text206"/>
          <p:cNvSpPr txBox="1"/>
          <p:nvPr/>
        </p:nvSpPr>
        <p:spPr>
          <a:xfrm>
            <a:off x="7072884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이동하는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통로가 있어요.</a:t>
            </a:r>
            <a:endParaRPr lang="ko-KR" sz="2800" dirty="0"/>
          </a:p>
        </p:txBody>
      </p:sp>
      <p:sp>
        <p:nvSpPr>
          <p:cNvPr id="9" name="S15-chip20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5-text208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빛을 받아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양분을 만들어요.</a:t>
            </a:r>
            <a:endParaRPr lang="ko-KR" sz="2800" dirty="0"/>
          </a:p>
        </p:txBody>
      </p:sp>
      <p:sp>
        <p:nvSpPr>
          <p:cNvPr id="11" name="S15-chip209"/>
          <p:cNvSpPr txBox="1"/>
          <p:nvPr/>
        </p:nvSpPr>
        <p:spPr>
          <a:xfrm>
            <a:off x="6277356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15-text210"/>
          <p:cNvSpPr txBox="1"/>
          <p:nvPr/>
        </p:nvSpPr>
        <p:spPr>
          <a:xfrm>
            <a:off x="7072884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수증기가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되어 빠져나가요.</a:t>
            </a:r>
            <a:endParaRPr lang="ko-KR" sz="2800" dirty="0"/>
          </a:p>
        </p:txBody>
      </p:sp>
      <p:sp>
        <p:nvSpPr>
          <p:cNvPr id="13" name="S15-chip21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14" name="S15-text212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꽃가루받이로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씨를 만들어요.</a:t>
            </a:r>
            <a:endParaRPr lang="ko-KR" sz="2800" dirty="0"/>
          </a:p>
        </p:txBody>
      </p:sp>
      <p:sp>
        <p:nvSpPr>
          <p:cNvPr id="15" name="S15-chip213"/>
          <p:cNvSpPr txBox="1"/>
          <p:nvPr/>
        </p:nvSpPr>
        <p:spPr>
          <a:xfrm>
            <a:off x="6277356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16" name="S15-text214"/>
          <p:cNvSpPr txBox="1"/>
          <p:nvPr/>
        </p:nvSpPr>
        <p:spPr>
          <a:xfrm>
            <a:off x="7072884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씨를 보호하고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퍼뜨려요.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6-chip2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6-text21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고구마는 식물의 어느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부분에 양분을 저장했나요?</a:t>
            </a:r>
            <a:endParaRPr lang="ko-KR" sz="2800" dirty="0"/>
          </a:p>
        </p:txBody>
      </p:sp>
      <p:sp>
        <p:nvSpPr>
          <p:cNvPr id="5" name="S16-chip21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6-text21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잎을 딴 쪽 봉지에 물방울이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없던 까닭은?</a:t>
            </a:r>
            <a:endParaRPr lang="ko-KR" sz="2800" dirty="0"/>
          </a:p>
        </p:txBody>
      </p:sp>
      <p:sp>
        <p:nvSpPr>
          <p:cNvPr id="7" name="S16-chip21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6-text22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광합성에 필요한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가지는?</a:t>
            </a:r>
            <a:endParaRPr lang="ko-KR" sz="2800" dirty="0"/>
          </a:p>
        </p:txBody>
      </p:sp>
      <p:sp>
        <p:nvSpPr>
          <p:cNvPr id="9" name="S16-chip22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6-text22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벌이 꽃을 옮겨 다니면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일을 돕나요?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녹말은 어디에서 왔을까요?</a:t>
            </a:r>
            <a:endParaRPr lang="ko-KR" sz="4000" dirty="0"/>
          </a:p>
        </p:txBody>
      </p:sp>
      <p:sp>
        <p:nvSpPr>
          <p:cNvPr id="3" name="S18-text2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감자와 고구마에는 녹말이 많아요. 그 까닭은?</a:t>
            </a:r>
            <a:endParaRPr lang="ko-KR" sz="2800" dirty="0"/>
          </a:p>
        </p:txBody>
      </p:sp>
      <p:sp>
        <p:nvSpPr>
          <p:cNvPr id="4" name="S18-card2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8-cardtext2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2800" dirty="0"/>
          </a:p>
        </p:txBody>
      </p:sp>
      <p:sp>
        <p:nvSpPr>
          <p:cNvPr id="6" name="S18-chip22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8-card22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8-cardtext22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뿌리와 줄기가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 속의 녹말을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빨아들여서</a:t>
            </a:r>
            <a:endParaRPr lang="ko-KR" sz="2800" dirty="0"/>
          </a:p>
        </p:txBody>
      </p:sp>
      <p:sp>
        <p:nvSpPr>
          <p:cNvPr id="9" name="S18-chip22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8-card23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8-cardtext23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잎에서 만든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양분이 옮겨 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저장되어서</a:t>
            </a:r>
            <a:endParaRPr lang="ko-KR" sz="2800" dirty="0"/>
          </a:p>
        </p:txBody>
      </p:sp>
      <p:sp>
        <p:nvSpPr>
          <p:cNvPr id="12" name="S18-chip23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8-card23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8-cardtext23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땅속에서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녹말을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9-card235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9-cardtext236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뿌리는 물을 흡수하고, 줄기는 물이 이동하는 통로예요.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잎은 광합성과 증산 작용을 하고, 꽃과 열매는 씨를 만들고 퍼뜨려요.</a:t>
            </a:r>
            <a:endParaRPr lang="ko-KR" sz="2800" dirty="0"/>
          </a:p>
        </p:txBody>
      </p:sp>
      <p:sp>
        <p:nvSpPr>
          <p:cNvPr id="5" name="S19-chip237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실험 결과를 증거로 설명하기</a:t>
            </a:r>
            <a:endParaRPr lang="ko-KR" sz="2200" dirty="0"/>
          </a:p>
        </p:txBody>
      </p:sp>
      <p:sp>
        <p:nvSpPr>
          <p:cNvPr id="6" name="S19-chip238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식물이 흙에서 양분을 먹는다고 생각하기</a:t>
            </a:r>
            <a:endParaRPr lang="ko-KR" sz="2000" dirty="0"/>
          </a:p>
        </p:txBody>
      </p:sp>
      <p:sp>
        <p:nvSpPr>
          <p:cNvPr id="7" name="S19-text239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9-text240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줄기 자른 면에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점이 생긴 까닭은?</a:t>
            </a:r>
            <a:endParaRPr lang="ko-KR" sz="2200" dirty="0"/>
          </a:p>
        </p:txBody>
      </p:sp>
      <p:sp>
        <p:nvSpPr>
          <p:cNvPr id="9" name="S19-text241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잎에서 물이 수증기로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빠져나가는 것은?</a:t>
            </a:r>
            <a:endParaRPr lang="ko-KR" sz="2200" dirty="0"/>
          </a:p>
        </p:txBody>
      </p:sp>
      <p:sp>
        <p:nvSpPr>
          <p:cNvPr id="10" name="S19-text242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광합성으로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양분은?</a:t>
            </a:r>
            <a:endParaRPr lang="ko-KR" sz="2200" dirty="0"/>
          </a:p>
        </p:txBody>
      </p:sp>
      <p:sp>
        <p:nvSpPr>
          <p:cNvPr id="11" name="S19-text24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전기 회로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식물의 부분</a:t>
            </a:r>
            <a:endParaRPr lang="ko-KR" sz="4000" dirty="0"/>
          </a:p>
        </p:txBody>
      </p:sp>
      <p:sp>
        <p:nvSpPr>
          <p:cNvPr id="3" name="S20-figure244" descr="식물의 부분: 꽃, 열매, 잎, 줄기(땅 위), 뿌리(땅속)"/>
          <p:cNvSpPr/>
          <p:nvPr/>
        </p:nvSpPr>
        <p:spPr>
          <a:xfrm>
            <a:off x="1565910" y="4498391"/>
            <a:ext cx="3328416" cy="1280160"/>
          </a:xfrm>
          <a:custGeom>
            <a:avLst/>
            <a:gdLst/>
            <a:ahLst/>
            <a:cxnLst/>
            <a:rect l="l" t="t" r="r" b="b"/>
            <a:pathLst>
              <a:path w="3328416" h="1280160">
                <a:moveTo>
                  <a:pt x="0" y="1280160"/>
                </a:moveTo>
                <a:lnTo>
                  <a:pt x="3328416" y="1280160"/>
                </a:lnTo>
                <a:lnTo>
                  <a:pt x="33284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FE4D2"/>
          </a:solidFill>
          <a:ln/>
        </p:spPr>
      </p:sp>
      <p:sp>
        <p:nvSpPr>
          <p:cNvPr id="4" name="S20-mark245"/>
          <p:cNvSpPr/>
          <p:nvPr/>
        </p:nvSpPr>
        <p:spPr>
          <a:xfrm>
            <a:off x="2205990" y="3355848"/>
            <a:ext cx="1024128" cy="556870"/>
          </a:xfrm>
          <a:custGeom>
            <a:avLst/>
            <a:gdLst/>
            <a:ahLst/>
            <a:cxnLst/>
            <a:rect l="l" t="t" r="r" b="b"/>
            <a:pathLst>
              <a:path w="1024128" h="556870">
                <a:moveTo>
                  <a:pt x="1024128" y="502463"/>
                </a:moveTo>
                <a:lnTo>
                  <a:pt x="883950" y="543428"/>
                </a:lnTo>
                <a:lnTo>
                  <a:pt x="756575" y="556870"/>
                </a:lnTo>
                <a:lnTo>
                  <a:pt x="635599" y="553669"/>
                </a:lnTo>
                <a:lnTo>
                  <a:pt x="522305" y="534467"/>
                </a:lnTo>
                <a:lnTo>
                  <a:pt x="416052" y="498622"/>
                </a:lnTo>
                <a:lnTo>
                  <a:pt x="317480" y="444856"/>
                </a:lnTo>
                <a:lnTo>
                  <a:pt x="225948" y="374447"/>
                </a:lnTo>
                <a:lnTo>
                  <a:pt x="142098" y="288036"/>
                </a:lnTo>
                <a:lnTo>
                  <a:pt x="64648" y="184983"/>
                </a:lnTo>
                <a:lnTo>
                  <a:pt x="0" y="54407"/>
                </a:lnTo>
                <a:lnTo>
                  <a:pt x="140178" y="13442"/>
                </a:lnTo>
                <a:lnTo>
                  <a:pt x="267553" y="0"/>
                </a:lnTo>
                <a:lnTo>
                  <a:pt x="388529" y="3200"/>
                </a:lnTo>
                <a:lnTo>
                  <a:pt x="501823" y="22403"/>
                </a:lnTo>
                <a:lnTo>
                  <a:pt x="608076" y="58247"/>
                </a:lnTo>
                <a:lnTo>
                  <a:pt x="706648" y="112014"/>
                </a:lnTo>
                <a:lnTo>
                  <a:pt x="798180" y="182423"/>
                </a:lnTo>
                <a:lnTo>
                  <a:pt x="882030" y="268834"/>
                </a:lnTo>
                <a:lnTo>
                  <a:pt x="959480" y="371886"/>
                </a:lnTo>
                <a:lnTo>
                  <a:pt x="1024128" y="502463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5" name="S20-mark246"/>
          <p:cNvSpPr/>
          <p:nvPr/>
        </p:nvSpPr>
        <p:spPr>
          <a:xfrm>
            <a:off x="3230118" y="2887950"/>
            <a:ext cx="1024128" cy="532547"/>
          </a:xfrm>
          <a:custGeom>
            <a:avLst/>
            <a:gdLst/>
            <a:ahLst/>
            <a:cxnLst/>
            <a:rect l="l" t="t" r="r" b="b"/>
            <a:pathLst>
              <a:path w="1024128" h="532547">
                <a:moveTo>
                  <a:pt x="0" y="458297"/>
                </a:moveTo>
                <a:lnTo>
                  <a:pt x="69769" y="332202"/>
                </a:lnTo>
                <a:lnTo>
                  <a:pt x="149779" y="234269"/>
                </a:lnTo>
                <a:lnTo>
                  <a:pt x="236190" y="153619"/>
                </a:lnTo>
                <a:lnTo>
                  <a:pt x="329001" y="88971"/>
                </a:lnTo>
                <a:lnTo>
                  <a:pt x="427573" y="41605"/>
                </a:lnTo>
                <a:lnTo>
                  <a:pt x="533827" y="12162"/>
                </a:lnTo>
                <a:lnTo>
                  <a:pt x="645841" y="0"/>
                </a:lnTo>
                <a:lnTo>
                  <a:pt x="764256" y="3840"/>
                </a:lnTo>
                <a:lnTo>
                  <a:pt x="889071" y="24963"/>
                </a:lnTo>
                <a:lnTo>
                  <a:pt x="1024128" y="74249"/>
                </a:lnTo>
                <a:lnTo>
                  <a:pt x="954359" y="200345"/>
                </a:lnTo>
                <a:lnTo>
                  <a:pt x="874349" y="298277"/>
                </a:lnTo>
                <a:lnTo>
                  <a:pt x="787938" y="378927"/>
                </a:lnTo>
                <a:lnTo>
                  <a:pt x="695127" y="443575"/>
                </a:lnTo>
                <a:lnTo>
                  <a:pt x="596555" y="490941"/>
                </a:lnTo>
                <a:lnTo>
                  <a:pt x="490301" y="520385"/>
                </a:lnTo>
                <a:lnTo>
                  <a:pt x="378287" y="532547"/>
                </a:lnTo>
                <a:lnTo>
                  <a:pt x="259872" y="528706"/>
                </a:lnTo>
                <a:lnTo>
                  <a:pt x="135057" y="507583"/>
                </a:lnTo>
                <a:lnTo>
                  <a:pt x="0" y="458297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6" name="S20-mark247"/>
          <p:cNvSpPr/>
          <p:nvPr/>
        </p:nvSpPr>
        <p:spPr>
          <a:xfrm>
            <a:off x="3230118" y="3954323"/>
            <a:ext cx="768096" cy="384048"/>
          </a:xfrm>
          <a:custGeom>
            <a:avLst/>
            <a:gdLst/>
            <a:ahLst/>
            <a:cxnLst/>
            <a:rect l="l" t="t" r="r" b="b"/>
            <a:pathLst>
              <a:path w="768096" h="384048">
                <a:moveTo>
                  <a:pt x="0" y="320040"/>
                </a:moveTo>
                <a:lnTo>
                  <a:pt x="55047" y="229149"/>
                </a:lnTo>
                <a:lnTo>
                  <a:pt x="117135" y="159380"/>
                </a:lnTo>
                <a:lnTo>
                  <a:pt x="183703" y="102413"/>
                </a:lnTo>
                <a:lnTo>
                  <a:pt x="253472" y="56967"/>
                </a:lnTo>
                <a:lnTo>
                  <a:pt x="328361" y="24963"/>
                </a:lnTo>
                <a:lnTo>
                  <a:pt x="407091" y="5761"/>
                </a:lnTo>
                <a:lnTo>
                  <a:pt x="490941" y="0"/>
                </a:lnTo>
                <a:lnTo>
                  <a:pt x="577992" y="5761"/>
                </a:lnTo>
                <a:lnTo>
                  <a:pt x="669524" y="24323"/>
                </a:lnTo>
                <a:lnTo>
                  <a:pt x="768096" y="64008"/>
                </a:lnTo>
                <a:lnTo>
                  <a:pt x="713049" y="154899"/>
                </a:lnTo>
                <a:lnTo>
                  <a:pt x="650961" y="224668"/>
                </a:lnTo>
                <a:lnTo>
                  <a:pt x="584393" y="281635"/>
                </a:lnTo>
                <a:lnTo>
                  <a:pt x="514624" y="327081"/>
                </a:lnTo>
                <a:lnTo>
                  <a:pt x="439735" y="359085"/>
                </a:lnTo>
                <a:lnTo>
                  <a:pt x="361005" y="378287"/>
                </a:lnTo>
                <a:lnTo>
                  <a:pt x="277155" y="384048"/>
                </a:lnTo>
                <a:lnTo>
                  <a:pt x="190104" y="378287"/>
                </a:lnTo>
                <a:lnTo>
                  <a:pt x="98572" y="359725"/>
                </a:lnTo>
                <a:lnTo>
                  <a:pt x="0" y="320040"/>
                </a:lnTo>
                <a:close/>
              </a:path>
            </a:pathLst>
          </a:custGeom>
          <a:solidFill>
            <a:srgbClr val="8CC46B"/>
          </a:solidFill>
          <a:ln w="15875">
            <a:solidFill>
              <a:srgbClr val="4E8F3A"/>
            </a:solidFill>
            <a:prstDash val="solid"/>
          </a:ln>
        </p:spPr>
      </p:sp>
      <p:sp>
        <p:nvSpPr>
          <p:cNvPr id="7" name="S20-mark248"/>
          <p:cNvSpPr/>
          <p:nvPr/>
        </p:nvSpPr>
        <p:spPr>
          <a:xfrm>
            <a:off x="3025292" y="1765249"/>
            <a:ext cx="409651" cy="409651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8" name="S20-mark249"/>
          <p:cNvSpPr/>
          <p:nvPr/>
        </p:nvSpPr>
        <p:spPr>
          <a:xfrm>
            <a:off x="2782062" y="1941911"/>
            <a:ext cx="409651" cy="409651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9" name="S20-mark250"/>
          <p:cNvSpPr/>
          <p:nvPr/>
        </p:nvSpPr>
        <p:spPr>
          <a:xfrm>
            <a:off x="2874874" y="2228667"/>
            <a:ext cx="409651" cy="409651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10" name="S20-mark251"/>
          <p:cNvSpPr/>
          <p:nvPr/>
        </p:nvSpPr>
        <p:spPr>
          <a:xfrm>
            <a:off x="3175711" y="2228667"/>
            <a:ext cx="409651" cy="409651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11" name="S20-mark252"/>
          <p:cNvSpPr/>
          <p:nvPr/>
        </p:nvSpPr>
        <p:spPr>
          <a:xfrm>
            <a:off x="3268523" y="1941911"/>
            <a:ext cx="409651" cy="409651"/>
          </a:xfrm>
          <a:prstGeom prst="ellipse">
            <a:avLst/>
          </a:prstGeom>
          <a:solidFill>
            <a:srgbClr val="F7B6C8"/>
          </a:solidFill>
          <a:ln w="15875">
            <a:solidFill>
              <a:srgbClr val="C0587A"/>
            </a:solidFill>
            <a:prstDash val="solid"/>
          </a:ln>
        </p:spPr>
      </p:sp>
      <p:sp>
        <p:nvSpPr>
          <p:cNvPr id="12" name="S20-mark253"/>
          <p:cNvSpPr/>
          <p:nvPr/>
        </p:nvSpPr>
        <p:spPr>
          <a:xfrm>
            <a:off x="3102102" y="2098091"/>
            <a:ext cx="256032" cy="256032"/>
          </a:xfrm>
          <a:prstGeom prst="ellipse">
            <a:avLst/>
          </a:prstGeom>
          <a:solidFill>
            <a:srgbClr val="F2C14E"/>
          </a:solidFill>
          <a:ln w="15875">
            <a:solidFill>
              <a:srgbClr val="B08A1E"/>
            </a:solidFill>
            <a:prstDash val="solid"/>
          </a:ln>
        </p:spPr>
      </p:sp>
      <p:sp>
        <p:nvSpPr>
          <p:cNvPr id="13" name="S20-mark254"/>
          <p:cNvSpPr/>
          <p:nvPr/>
        </p:nvSpPr>
        <p:spPr>
          <a:xfrm>
            <a:off x="2398014" y="2802179"/>
            <a:ext cx="384048" cy="384048"/>
          </a:xfrm>
          <a:prstGeom prst="ellipse">
            <a:avLst/>
          </a:prstGeom>
          <a:solidFill>
            <a:srgbClr val="E05A47"/>
          </a:solidFill>
          <a:ln w="15875">
            <a:solidFill>
              <a:srgbClr val="9B2C20"/>
            </a:solidFill>
            <a:prstDash val="solid"/>
          </a:ln>
        </p:spPr>
      </p:sp>
      <p:sp>
        <p:nvSpPr>
          <p:cNvPr id="14" name="S20-mark255"/>
          <p:cNvSpPr/>
          <p:nvPr/>
        </p:nvSpPr>
        <p:spPr>
          <a:xfrm>
            <a:off x="1565910" y="4498391"/>
            <a:ext cx="3328416" cy="0"/>
          </a:xfrm>
          <a:prstGeom prst="line">
            <a:avLst/>
          </a:prstGeom>
          <a:noFill/>
          <a:ln w="25400">
            <a:solidFill>
              <a:srgbClr val="A08560"/>
            </a:solidFill>
            <a:prstDash val="solid"/>
          </a:ln>
        </p:spPr>
      </p:sp>
      <p:sp>
        <p:nvSpPr>
          <p:cNvPr id="15" name="S20-mark256"/>
          <p:cNvSpPr/>
          <p:nvPr/>
        </p:nvSpPr>
        <p:spPr>
          <a:xfrm>
            <a:off x="3230118" y="4498391"/>
            <a:ext cx="0" cy="1088136"/>
          </a:xfrm>
          <a:prstGeom prst="line">
            <a:avLst/>
          </a:prstGeom>
          <a:noFill/>
          <a:ln w="31750">
            <a:solidFill>
              <a:srgbClr val="8B6B4A"/>
            </a:solidFill>
            <a:prstDash val="solid"/>
          </a:ln>
        </p:spPr>
      </p:sp>
      <p:sp>
        <p:nvSpPr>
          <p:cNvPr id="16" name="S20-mark257"/>
          <p:cNvSpPr/>
          <p:nvPr/>
        </p:nvSpPr>
        <p:spPr>
          <a:xfrm flipH="1">
            <a:off x="2654046" y="4722419"/>
            <a:ext cx="576072" cy="512064"/>
          </a:xfrm>
          <a:prstGeom prst="line">
            <a:avLst/>
          </a:prstGeom>
          <a:noFill/>
          <a:ln w="25400">
            <a:solidFill>
              <a:srgbClr val="8B6B4A"/>
            </a:solidFill>
            <a:prstDash val="solid"/>
          </a:ln>
        </p:spPr>
      </p:sp>
      <p:sp>
        <p:nvSpPr>
          <p:cNvPr id="17" name="S20-mark258"/>
          <p:cNvSpPr/>
          <p:nvPr/>
        </p:nvSpPr>
        <p:spPr>
          <a:xfrm>
            <a:off x="3230118" y="4722419"/>
            <a:ext cx="544068" cy="448056"/>
          </a:xfrm>
          <a:prstGeom prst="line">
            <a:avLst/>
          </a:prstGeom>
          <a:noFill/>
          <a:ln w="25400">
            <a:solidFill>
              <a:srgbClr val="8B6B4A"/>
            </a:solidFill>
            <a:prstDash val="solid"/>
          </a:ln>
        </p:spPr>
      </p:sp>
      <p:sp>
        <p:nvSpPr>
          <p:cNvPr id="18" name="S20-mark259"/>
          <p:cNvSpPr/>
          <p:nvPr/>
        </p:nvSpPr>
        <p:spPr>
          <a:xfrm flipH="1">
            <a:off x="2878074" y="5074463"/>
            <a:ext cx="352044" cy="448056"/>
          </a:xfrm>
          <a:prstGeom prst="line">
            <a:avLst/>
          </a:prstGeom>
          <a:noFill/>
          <a:ln w="22225">
            <a:solidFill>
              <a:srgbClr val="8B6B4A"/>
            </a:solidFill>
            <a:prstDash val="solid"/>
          </a:ln>
        </p:spPr>
      </p:sp>
      <p:sp>
        <p:nvSpPr>
          <p:cNvPr id="19" name="S20-mark260"/>
          <p:cNvSpPr/>
          <p:nvPr/>
        </p:nvSpPr>
        <p:spPr>
          <a:xfrm>
            <a:off x="3230118" y="5074463"/>
            <a:ext cx="384048" cy="448056"/>
          </a:xfrm>
          <a:prstGeom prst="line">
            <a:avLst/>
          </a:prstGeom>
          <a:noFill/>
          <a:ln w="22225">
            <a:solidFill>
              <a:srgbClr val="8B6B4A"/>
            </a:solidFill>
            <a:prstDash val="solid"/>
          </a:ln>
        </p:spPr>
      </p:sp>
      <p:sp>
        <p:nvSpPr>
          <p:cNvPr id="20" name="S20-mark261"/>
          <p:cNvSpPr/>
          <p:nvPr/>
        </p:nvSpPr>
        <p:spPr>
          <a:xfrm flipV="1">
            <a:off x="3230118" y="2418131"/>
            <a:ext cx="0" cy="2080260"/>
          </a:xfrm>
          <a:prstGeom prst="line">
            <a:avLst/>
          </a:prstGeom>
          <a:noFill/>
          <a:ln w="50800">
            <a:solidFill>
              <a:srgbClr val="4E8F3A"/>
            </a:solidFill>
            <a:prstDash val="solid"/>
          </a:ln>
        </p:spPr>
      </p:sp>
      <p:sp>
        <p:nvSpPr>
          <p:cNvPr id="21" name="S20-mark262"/>
          <p:cNvSpPr/>
          <p:nvPr/>
        </p:nvSpPr>
        <p:spPr>
          <a:xfrm flipH="1" flipV="1">
            <a:off x="2750058" y="2674163"/>
            <a:ext cx="480060" cy="256032"/>
          </a:xfrm>
          <a:prstGeom prst="line">
            <a:avLst/>
          </a:prstGeom>
          <a:noFill/>
          <a:ln w="31750">
            <a:solidFill>
              <a:srgbClr val="4E8F3A"/>
            </a:solidFill>
            <a:prstDash val="solid"/>
          </a:ln>
        </p:spPr>
      </p:sp>
      <p:sp>
        <p:nvSpPr>
          <p:cNvPr id="22" name="S20-mark263"/>
          <p:cNvSpPr/>
          <p:nvPr/>
        </p:nvSpPr>
        <p:spPr>
          <a:xfrm flipH="1">
            <a:off x="2622042" y="2674163"/>
            <a:ext cx="128016" cy="160020"/>
          </a:xfrm>
          <a:prstGeom prst="line">
            <a:avLst/>
          </a:prstGeom>
          <a:noFill/>
          <a:ln w="25400">
            <a:solidFill>
              <a:srgbClr val="4E8F3A"/>
            </a:solidFill>
            <a:prstDash val="solid"/>
          </a:ln>
        </p:spPr>
      </p:sp>
      <p:sp>
        <p:nvSpPr>
          <p:cNvPr id="23" name="S20-mark264"/>
          <p:cNvSpPr/>
          <p:nvPr/>
        </p:nvSpPr>
        <p:spPr>
          <a:xfrm flipV="1">
            <a:off x="3710178" y="1970075"/>
            <a:ext cx="512064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4" name="S20-mark265"/>
          <p:cNvSpPr/>
          <p:nvPr/>
        </p:nvSpPr>
        <p:spPr>
          <a:xfrm flipH="1">
            <a:off x="1981962" y="3058211"/>
            <a:ext cx="416052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5" name="S20-mark266"/>
          <p:cNvSpPr/>
          <p:nvPr/>
        </p:nvSpPr>
        <p:spPr>
          <a:xfrm>
            <a:off x="4030218" y="3026207"/>
            <a:ext cx="416052" cy="19202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6" name="S20-mark267"/>
          <p:cNvSpPr/>
          <p:nvPr/>
        </p:nvSpPr>
        <p:spPr>
          <a:xfrm>
            <a:off x="3281324" y="3602279"/>
            <a:ext cx="1196950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7" name="S20-mark268"/>
          <p:cNvSpPr/>
          <p:nvPr/>
        </p:nvSpPr>
        <p:spPr>
          <a:xfrm>
            <a:off x="3774186" y="5170475"/>
            <a:ext cx="576072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8" name="S20-label270"/>
          <p:cNvSpPr txBox="1"/>
          <p:nvPr/>
        </p:nvSpPr>
        <p:spPr>
          <a:xfrm>
            <a:off x="4350512" y="179545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</a:t>
            </a:r>
            <a:endParaRPr lang="ko-KR" sz="2200" dirty="0"/>
          </a:p>
        </p:txBody>
      </p:sp>
      <p:sp>
        <p:nvSpPr>
          <p:cNvPr id="29" name="S20-label272"/>
          <p:cNvSpPr txBox="1"/>
          <p:nvPr/>
        </p:nvSpPr>
        <p:spPr>
          <a:xfrm>
            <a:off x="1269238" y="3011602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열매</a:t>
            </a:r>
            <a:endParaRPr lang="ko-KR" sz="2200" dirty="0"/>
          </a:p>
        </p:txBody>
      </p:sp>
      <p:sp>
        <p:nvSpPr>
          <p:cNvPr id="30" name="S20-label274"/>
          <p:cNvSpPr txBox="1"/>
          <p:nvPr/>
        </p:nvSpPr>
        <p:spPr>
          <a:xfrm>
            <a:off x="4542536" y="304360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</a:t>
            </a:r>
            <a:endParaRPr lang="ko-KR" sz="2200" dirty="0"/>
          </a:p>
        </p:txBody>
      </p:sp>
      <p:sp>
        <p:nvSpPr>
          <p:cNvPr id="31" name="S20-label276"/>
          <p:cNvSpPr txBox="1"/>
          <p:nvPr/>
        </p:nvSpPr>
        <p:spPr>
          <a:xfrm>
            <a:off x="4501642" y="355567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줄기</a:t>
            </a:r>
            <a:endParaRPr lang="ko-KR" sz="2200" dirty="0"/>
          </a:p>
        </p:txBody>
      </p:sp>
      <p:sp>
        <p:nvSpPr>
          <p:cNvPr id="32" name="S20-label278"/>
          <p:cNvSpPr txBox="1"/>
          <p:nvPr/>
        </p:nvSpPr>
        <p:spPr>
          <a:xfrm>
            <a:off x="4373626" y="512386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</a:t>
            </a:r>
            <a:endParaRPr lang="ko-KR" sz="2200" dirty="0"/>
          </a:p>
        </p:txBody>
      </p:sp>
      <p:sp>
        <p:nvSpPr>
          <p:cNvPr id="33" name="S20-card279"/>
          <p:cNvSpPr/>
          <p:nvPr/>
        </p:nvSpPr>
        <p:spPr>
          <a:xfrm>
            <a:off x="6277356" y="1531112"/>
            <a:ext cx="5362956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20-cardtext280"/>
          <p:cNvSpPr txBox="1"/>
          <p:nvPr/>
        </p:nvSpPr>
        <p:spPr>
          <a:xfrm>
            <a:off x="6551676" y="1668272"/>
            <a:ext cx="4814316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땅속에 뿌리, 땅 위에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줄기·잎·꽃·열매가 있어요.</a:t>
            </a:r>
            <a:endParaRPr lang="ko-KR" sz="2800" dirty="0"/>
          </a:p>
        </p:txBody>
      </p:sp>
      <p:sp>
        <p:nvSpPr>
          <p:cNvPr id="35" name="S20-card281"/>
          <p:cNvSpPr/>
          <p:nvPr/>
        </p:nvSpPr>
        <p:spPr>
          <a:xfrm>
            <a:off x="6277356" y="339039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20-cardtext282"/>
          <p:cNvSpPr txBox="1"/>
          <p:nvPr/>
        </p:nvSpPr>
        <p:spPr>
          <a:xfrm>
            <a:off x="6551676" y="352755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지면 열매가 맺히고,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열매 속에 씨가 생겨요.</a:t>
            </a:r>
            <a:endParaRPr lang="ko-KR" sz="2800" dirty="0"/>
          </a:p>
        </p:txBody>
      </p:sp>
      <p:sp>
        <p:nvSpPr>
          <p:cNvPr id="37" name="S20-card283"/>
          <p:cNvSpPr/>
          <p:nvPr/>
        </p:nvSpPr>
        <p:spPr>
          <a:xfrm>
            <a:off x="6277356" y="4815840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8" name="S20-cardtext284"/>
          <p:cNvSpPr txBox="1"/>
          <p:nvPr/>
        </p:nvSpPr>
        <p:spPr>
          <a:xfrm>
            <a:off x="6551676" y="4953000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강낭콩: 씨 → 싹 → 잎·줄기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꽃 → 열매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과학 식물의 구조와 기능</dc:title>
  <dc:subject>KR22-G06-SCI-PLANTPART-L01</dc:subject>
  <dc:creator>education-ppt</dc:creator>
  <cp:lastModifiedBy>education-ppt</cp:lastModifiedBy>
  <cp:revision>1</cp:revision>
  <dcterms:created xsi:type="dcterms:W3CDTF">2026-10-26T13:48:05Z</dcterms:created>
  <dcterms:modified xsi:type="dcterms:W3CDTF">2026-10-26T13:48:05Z</dcterms:modified>
</cp:coreProperties>
</file>