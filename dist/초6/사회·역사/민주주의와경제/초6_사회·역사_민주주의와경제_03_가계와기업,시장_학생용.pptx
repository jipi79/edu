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915f36-5257-2232-40b6-c066cd1636e9}">
          <p14:sldIdLst>
            <p14:sldId id="256"/>
            <p14:sldId id="257"/>
          </p14:sldIdLst>
        </p14:section>
        <p14:section name="개념" id="{7bbc4e33-313d-84d1-a95c-e97e20b33170}">
          <p14:sldIdLst>
            <p14:sldId id="258"/>
            <p14:sldId id="259"/>
            <p14:sldId id="263"/>
            <p14:sldId id="265"/>
          </p14:sldIdLst>
        </p14:section>
        <p14:section name="연습" id="{8fb41d32-0fb5-d8c5-aea0-f35b5e48cf29}">
          <p14:sldIdLst>
            <p14:sldId id="260"/>
            <p14:sldId id="261"/>
            <p14:sldId id="262"/>
            <p14:sldId id="264"/>
            <p14:sldId id="266"/>
          </p14:sldIdLst>
        </p14:section>
        <p14:section name="개념" id="{76574c69-a957-92f1-105a-899271d8189e}">
          <p14:sldIdLst/>
        </p14:section>
        <p14:section name="연습" id="{d9ec5c91-54a8-d44e-0953-952f5b074d79}">
          <p14:sldIdLst/>
        </p14:section>
        <p14:section name="개념" id="{ecc11f80-28f1-9fd0-7f64-24018f609c2c}">
          <p14:sldIdLst/>
        </p14:section>
        <p14:section name="연습" id="{e955922e-3832-3297-aa4a-ee01a456c3dd}">
          <p14:sldIdLst/>
        </p14:section>
        <p14:section name="확인" id="{7006bee5-82e3-de89-b64c-4395bd18603b}">
          <p14:sldIdLst>
            <p14:sldId id="267"/>
            <p14:sldId id="268"/>
          </p14:sldIdLst>
        </p14:section>
        <p14:section name="정리" id="{296b340a-38ed-57bf-ca3a-19c4ca4fcdd4}">
          <p14:sldIdLst>
            <p14:sldId id="269"/>
          </p14:sldIdLst>
        </p14:section>
        <p14:section name="보충" id="{6058f5f7-0eb7-1e47-aa80-f71e5a9d79d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민주주의와경제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가계와 기업, 시장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가계와 기업, 시장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가계와 기업, 시장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기업, 시장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운동화는 누가 만들고,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어떻게 샀을까요?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가계와 기업이 하는 일과 주고받는 것을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시장을 나누고, 기준을 세워 합리적으로 골라요.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생산과 소비의 뜻은?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용돈을 쓸 때 고르는 기준 하나는?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지역끼리 물건을 교환하는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이윤: 판 돈에서 만드는 데 든 돈을 빼고 남은 돈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살림하는 집이에요.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일해서 번 돈(소득)으로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사서 써요.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물건이나 서비스를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팔아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이윤을 얻으려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기업이 주고받는 것</a:t>
            </a:r>
            <a:endParaRPr lang="ko-KR" sz="40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기업은 시장에서 서로 필요한 것을 주고받아요.</a:t>
            </a:r>
            <a:endParaRPr lang="ko-KR" sz="2800" dirty="0"/>
          </a:p>
        </p:txBody>
      </p:sp>
      <p:sp>
        <p:nvSpPr>
          <p:cNvPr id="4" name="S04-card1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가계는 일해서 번 돈으로 물건을 사고,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기업은 물건을 판 돈으로 임금을 줘요.</a:t>
            </a:r>
            <a:endParaRPr lang="ko-KR" sz="2800" dirty="0"/>
          </a:p>
        </p:txBody>
      </p:sp>
      <p:sp>
        <p:nvSpPr>
          <p:cNvPr id="6" name="S04-figure18" descr="왼쪽에 가계, 오른쪽에 기업 상자가 있다. 위에서부터 네 화살표: 기업에서 가계로 물건·서비스, 가계에서 기업으로 물건값(돈), 가계에서 기업으로 일(노동), 기업에서 가계로 임금(소득)."/>
          <p:cNvSpPr/>
          <p:nvPr/>
        </p:nvSpPr>
        <p:spPr>
          <a:xfrm>
            <a:off x="1739223" y="2095500"/>
            <a:ext cx="2322802" cy="2613152"/>
          </a:xfrm>
          <a:custGeom>
            <a:avLst/>
            <a:gdLst/>
            <a:ahLst/>
            <a:cxnLst/>
            <a:rect l="l" t="t" r="r" b="b"/>
            <a:pathLst>
              <a:path w="2322802" h="2613152">
                <a:moveTo>
                  <a:pt x="0" y="2613152"/>
                </a:moveTo>
                <a:lnTo>
                  <a:pt x="2322802" y="2613152"/>
                </a:lnTo>
                <a:lnTo>
                  <a:pt x="232280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AF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19"/>
          <p:cNvSpPr/>
          <p:nvPr/>
        </p:nvSpPr>
        <p:spPr>
          <a:xfrm>
            <a:off x="8126928" y="2095500"/>
            <a:ext cx="2322802" cy="2613152"/>
          </a:xfrm>
          <a:custGeom>
            <a:avLst/>
            <a:gdLst/>
            <a:ahLst/>
            <a:cxnLst/>
            <a:rect l="l" t="t" r="r" b="b"/>
            <a:pathLst>
              <a:path w="2322802" h="2613152">
                <a:moveTo>
                  <a:pt x="0" y="2613152"/>
                </a:moveTo>
                <a:lnTo>
                  <a:pt x="2322802" y="2613152"/>
                </a:lnTo>
                <a:lnTo>
                  <a:pt x="232280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20"/>
          <p:cNvSpPr/>
          <p:nvPr/>
        </p:nvSpPr>
        <p:spPr>
          <a:xfrm flipH="1">
            <a:off x="4134612" y="2531025"/>
            <a:ext cx="3919728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9" name="S04-mark21"/>
          <p:cNvSpPr/>
          <p:nvPr/>
        </p:nvSpPr>
        <p:spPr>
          <a:xfrm>
            <a:off x="4134612" y="3111726"/>
            <a:ext cx="3919728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0" name="S04-mark22"/>
          <p:cNvSpPr/>
          <p:nvPr/>
        </p:nvSpPr>
        <p:spPr>
          <a:xfrm>
            <a:off x="4134612" y="3837601"/>
            <a:ext cx="3919728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4-mark23"/>
          <p:cNvSpPr/>
          <p:nvPr/>
        </p:nvSpPr>
        <p:spPr>
          <a:xfrm flipH="1">
            <a:off x="4134612" y="4418302"/>
            <a:ext cx="3919728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2" name="S04-label25"/>
          <p:cNvSpPr txBox="1"/>
          <p:nvPr/>
        </p:nvSpPr>
        <p:spPr>
          <a:xfrm>
            <a:off x="2571948" y="322745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</a:t>
            </a:r>
            <a:endParaRPr lang="ko-KR" sz="2200" dirty="0"/>
          </a:p>
        </p:txBody>
      </p:sp>
      <p:sp>
        <p:nvSpPr>
          <p:cNvPr id="13" name="S04-label27"/>
          <p:cNvSpPr txBox="1"/>
          <p:nvPr/>
        </p:nvSpPr>
        <p:spPr>
          <a:xfrm>
            <a:off x="8959652" y="322745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</a:t>
            </a:r>
            <a:endParaRPr lang="ko-KR" sz="2200" dirty="0"/>
          </a:p>
        </p:txBody>
      </p:sp>
      <p:sp>
        <p:nvSpPr>
          <p:cNvPr id="14" name="S04-label29"/>
          <p:cNvSpPr txBox="1"/>
          <p:nvPr/>
        </p:nvSpPr>
        <p:spPr>
          <a:xfrm>
            <a:off x="5367528" y="2148611"/>
            <a:ext cx="1453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물건·서비스</a:t>
            </a:r>
            <a:endParaRPr lang="ko-KR" sz="1800" dirty="0"/>
          </a:p>
        </p:txBody>
      </p:sp>
      <p:sp>
        <p:nvSpPr>
          <p:cNvPr id="15" name="S04-label31"/>
          <p:cNvSpPr txBox="1"/>
          <p:nvPr/>
        </p:nvSpPr>
        <p:spPr>
          <a:xfrm>
            <a:off x="5454396" y="2729312"/>
            <a:ext cx="1280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물건값(돈)</a:t>
            </a:r>
            <a:endParaRPr lang="ko-KR" sz="1800" dirty="0"/>
          </a:p>
        </p:txBody>
      </p:sp>
      <p:sp>
        <p:nvSpPr>
          <p:cNvPr id="16" name="S04-label33"/>
          <p:cNvSpPr txBox="1"/>
          <p:nvPr/>
        </p:nvSpPr>
        <p:spPr>
          <a:xfrm>
            <a:off x="5566410" y="3455187"/>
            <a:ext cx="10561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일(노동)</a:t>
            </a:r>
            <a:endParaRPr lang="ko-KR" sz="1800" dirty="0"/>
          </a:p>
        </p:txBody>
      </p:sp>
      <p:sp>
        <p:nvSpPr>
          <p:cNvPr id="17" name="S04-label35"/>
          <p:cNvSpPr txBox="1"/>
          <p:nvPr/>
        </p:nvSpPr>
        <p:spPr>
          <a:xfrm>
            <a:off x="5454396" y="4035888"/>
            <a:ext cx="1280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임금(소득)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할까요?</a:t>
            </a:r>
            <a:endParaRPr lang="ko-KR" sz="4000" dirty="0"/>
          </a:p>
        </p:txBody>
      </p:sp>
      <p:sp>
        <p:nvSpPr>
          <p:cNvPr id="3" name="S05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가계의 일인지 기업의 일인지 말해요.</a:t>
            </a:r>
            <a:endParaRPr lang="ko-KR" sz="2800" dirty="0"/>
          </a:p>
        </p:txBody>
      </p:sp>
      <p:sp>
        <p:nvSpPr>
          <p:cNvPr id="4" name="S05-card3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가계: 일해서 번 돈으로 사서 써요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기업: 만들어 팔고 임금을 줘요</a:t>
            </a:r>
            <a:endParaRPr lang="ko-KR" sz="2800" dirty="0"/>
          </a:p>
        </p:txBody>
      </p:sp>
      <p:sp>
        <p:nvSpPr>
          <p:cNvPr id="6" name="S05-chip39"/>
          <p:cNvSpPr txBox="1"/>
          <p:nvPr/>
        </p:nvSpPr>
        <p:spPr>
          <a:xfrm>
            <a:off x="548640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40"/>
          <p:cNvSpPr txBox="1"/>
          <p:nvPr/>
        </p:nvSpPr>
        <p:spPr>
          <a:xfrm>
            <a:off x="1344168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 엄마가 회사에서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일하고 월급을 받아요.</a:t>
            </a:r>
            <a:endParaRPr lang="ko-KR" sz="2800" dirty="0"/>
          </a:p>
        </p:txBody>
      </p:sp>
      <p:sp>
        <p:nvSpPr>
          <p:cNvPr id="8" name="S05-chip41"/>
          <p:cNvSpPr txBox="1"/>
          <p:nvPr/>
        </p:nvSpPr>
        <p:spPr>
          <a:xfrm>
            <a:off x="6277356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42"/>
          <p:cNvSpPr txBox="1"/>
          <p:nvPr/>
        </p:nvSpPr>
        <p:spPr>
          <a:xfrm>
            <a:off x="7072884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 회사가 과자를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가게에 팔아요.</a:t>
            </a:r>
            <a:endParaRPr lang="ko-KR" sz="2800" dirty="0"/>
          </a:p>
        </p:txBody>
      </p:sp>
      <p:sp>
        <p:nvSpPr>
          <p:cNvPr id="10" name="S05-chip43"/>
          <p:cNvSpPr txBox="1"/>
          <p:nvPr/>
        </p:nvSpPr>
        <p:spPr>
          <a:xfrm>
            <a:off x="548640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44"/>
          <p:cNvSpPr txBox="1"/>
          <p:nvPr/>
        </p:nvSpPr>
        <p:spPr>
          <a:xfrm>
            <a:off x="1344168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민지네 가족이 마트에서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과자를 사요.</a:t>
            </a:r>
            <a:endParaRPr lang="ko-KR" sz="2800" dirty="0"/>
          </a:p>
        </p:txBody>
      </p:sp>
      <p:sp>
        <p:nvSpPr>
          <p:cNvPr id="12" name="S05-chip45"/>
          <p:cNvSpPr txBox="1"/>
          <p:nvPr/>
        </p:nvSpPr>
        <p:spPr>
          <a:xfrm>
            <a:off x="6277356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46"/>
          <p:cNvSpPr txBox="1"/>
          <p:nvPr/>
        </p:nvSpPr>
        <p:spPr>
          <a:xfrm>
            <a:off x="7072884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빵집이 제빵사를 뽑아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월급을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별빛빵집의 하루</a:t>
            </a:r>
            <a:endParaRPr lang="ko-KR" sz="4000" dirty="0"/>
          </a:p>
        </p:txBody>
      </p:sp>
      <p:sp>
        <p:nvSpPr>
          <p:cNvPr id="3" name="S06-text47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별빛빵집은 오늘 빵을 팔아 300,000원을 받았고,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재료값과 임금 등으로 180,000원이 들었어요.</a:t>
            </a:r>
            <a:endParaRPr lang="ko-KR" sz="2800" dirty="0"/>
          </a:p>
        </p:txBody>
      </p:sp>
      <p:sp>
        <p:nvSpPr>
          <p:cNvPr id="4" name="S06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이윤 = 판 돈 − 든 돈</a:t>
            </a:r>
            <a:endParaRPr lang="ko-KR" sz="2800" dirty="0"/>
          </a:p>
        </p:txBody>
      </p:sp>
      <p:sp>
        <p:nvSpPr>
          <p:cNvPr id="6" name="S06-chip50"/>
          <p:cNvSpPr txBox="1"/>
          <p:nvPr/>
        </p:nvSpPr>
        <p:spPr>
          <a:xfrm>
            <a:off x="548640" y="248936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51"/>
          <p:cNvSpPr txBox="1"/>
          <p:nvPr/>
        </p:nvSpPr>
        <p:spPr>
          <a:xfrm>
            <a:off x="1344168" y="2376424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이윤은 얼마인가요?</a:t>
            </a:r>
            <a:endParaRPr lang="ko-KR" sz="2800" dirty="0"/>
          </a:p>
        </p:txBody>
      </p:sp>
      <p:sp>
        <p:nvSpPr>
          <p:cNvPr id="8" name="S06-chip52"/>
          <p:cNvSpPr txBox="1"/>
          <p:nvPr/>
        </p:nvSpPr>
        <p:spPr>
          <a:xfrm>
            <a:off x="548640" y="34650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53"/>
          <p:cNvSpPr txBox="1"/>
          <p:nvPr/>
        </p:nvSpPr>
        <p:spPr>
          <a:xfrm>
            <a:off x="1344168" y="3352123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이윤을 늘리려면 어떻게 할까요?</a:t>
            </a:r>
            <a:endParaRPr lang="ko-KR" sz="2800" dirty="0"/>
          </a:p>
        </p:txBody>
      </p:sp>
      <p:sp>
        <p:nvSpPr>
          <p:cNvPr id="10" name="S06-chip54"/>
          <p:cNvSpPr txBox="1"/>
          <p:nvPr/>
        </p:nvSpPr>
        <p:spPr>
          <a:xfrm>
            <a:off x="548640" y="44407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55"/>
          <p:cNvSpPr txBox="1"/>
          <p:nvPr/>
        </p:nvSpPr>
        <p:spPr>
          <a:xfrm>
            <a:off x="1344168" y="4327821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무엇을 얻었나요?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이익일까?</a:t>
            </a:r>
            <a:endParaRPr lang="ko-KR" sz="4000" dirty="0"/>
          </a:p>
        </p:txBody>
      </p:sp>
      <p:sp>
        <p:nvSpPr>
          <p:cNvPr id="3" name="S07-card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민지네 가족이 별빛빵집에서 빵을 4,000원에 샀어요.</a:t>
            </a:r>
            <a:endParaRPr lang="ko-KR" sz="2800" dirty="0"/>
          </a:p>
        </p:txBody>
      </p:sp>
      <p:sp>
        <p:nvSpPr>
          <p:cNvPr id="5" name="S07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더 알맞을까요? 왜요?</a:t>
            </a:r>
            <a:endParaRPr lang="ko-KR" sz="2800" dirty="0"/>
          </a:p>
        </p:txBody>
      </p:sp>
      <p:sp>
        <p:nvSpPr>
          <p:cNvPr id="7" name="S07-chip6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6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“돈을 받은 빵집만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이익이에요.”</a:t>
            </a:r>
            <a:endParaRPr lang="ko-KR" sz="2800" dirty="0"/>
          </a:p>
        </p:txBody>
      </p:sp>
      <p:sp>
        <p:nvSpPr>
          <p:cNvPr id="9" name="S07-chip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6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“가족은 먹고 싶은 빵을,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빵집은 돈을 얻었으니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이익이에요.”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시장</a:t>
            </a:r>
            <a:endParaRPr lang="ko-KR" sz="4000" dirty="0"/>
          </a:p>
        </p:txBody>
      </p:sp>
      <p:sp>
        <p:nvSpPr>
          <p:cNvPr id="3" name="S08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시장: 물건이나 서비스를 사고파는 곳</a:t>
            </a:r>
            <a:endParaRPr lang="ko-KR" sz="2800" dirty="0"/>
          </a:p>
        </p:txBody>
      </p:sp>
      <p:sp>
        <p:nvSpPr>
          <p:cNvPr id="5" name="S08-card66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6" name="S08-cardtext67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시장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가서 보고 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전통 시장, 마트,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문구점</a:t>
            </a:r>
            <a:endParaRPr lang="ko-KR" sz="2800" dirty="0"/>
          </a:p>
        </p:txBody>
      </p:sp>
      <p:sp>
        <p:nvSpPr>
          <p:cNvPr id="7" name="S08-card68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8" name="S08-cardtext69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시장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만나지 않고 사고팔아요.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인터넷 쇼핑, 홈 쇼핑,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일자리를 구하는 시장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시장일까요?</a:t>
            </a:r>
            <a:endParaRPr lang="ko-KR" sz="4000" dirty="0"/>
          </a:p>
        </p:txBody>
      </p:sp>
      <p:sp>
        <p:nvSpPr>
          <p:cNvPr id="3" name="S09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시장인지, 보이지 않는 시장인지 말해요.</a:t>
            </a:r>
            <a:endParaRPr lang="ko-KR" sz="2800" dirty="0"/>
          </a:p>
        </p:txBody>
      </p:sp>
      <p:sp>
        <p:nvSpPr>
          <p:cNvPr id="4" name="S09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파는 사람을 직접 만나나요?</a:t>
            </a:r>
            <a:endParaRPr lang="ko-KR" sz="2800" dirty="0"/>
          </a:p>
        </p:txBody>
      </p:sp>
      <p:sp>
        <p:nvSpPr>
          <p:cNvPr id="6" name="S09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동네 전통 시장에서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고등어를 사요.</a:t>
            </a:r>
            <a:endParaRPr lang="ko-KR" sz="2800" dirty="0"/>
          </a:p>
        </p:txBody>
      </p:sp>
      <p:sp>
        <p:nvSpPr>
          <p:cNvPr id="8" name="S09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 전화 앱으로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주문해요.</a:t>
            </a:r>
            <a:endParaRPr lang="ko-KR" sz="2800" dirty="0"/>
          </a:p>
        </p:txBody>
      </p:sp>
      <p:sp>
        <p:nvSpPr>
          <p:cNvPr id="10" name="S09-chip7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7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 홈 쇼핑으로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이불을 사요.</a:t>
            </a:r>
            <a:endParaRPr lang="ko-KR" sz="2800" dirty="0"/>
          </a:p>
        </p:txBody>
      </p:sp>
      <p:sp>
        <p:nvSpPr>
          <p:cNvPr id="12" name="S09-chip7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text8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문구점에서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공책을 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합리적 선택의 순서</a:t>
            </a:r>
            <a:endParaRPr lang="ko-KR" sz="4000" dirty="0"/>
          </a:p>
        </p:txBody>
      </p:sp>
      <p:sp>
        <p:nvSpPr>
          <p:cNvPr id="3" name="S10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합리적 선택: 기준을 세워 비교해 적은 비용으로 큰 만족을 얻는 것</a:t>
            </a:r>
            <a:endParaRPr lang="ko-KR" sz="2800" dirty="0"/>
          </a:p>
        </p:txBody>
      </p:sp>
      <p:sp>
        <p:nvSpPr>
          <p:cNvPr id="5" name="S10-stepno83"/>
          <p:cNvSpPr txBox="1"/>
          <p:nvPr/>
        </p:nvSpPr>
        <p:spPr>
          <a:xfrm>
            <a:off x="548640" y="1522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0-text84"/>
          <p:cNvSpPr txBox="1"/>
          <p:nvPr/>
        </p:nvSpPr>
        <p:spPr>
          <a:xfrm>
            <a:off x="1325880" y="15224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필요한지 정해요.</a:t>
            </a:r>
            <a:endParaRPr lang="ko-KR" sz="2800" dirty="0"/>
          </a:p>
        </p:txBody>
      </p:sp>
      <p:sp>
        <p:nvSpPr>
          <p:cNvPr id="7" name="S10-stepno85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0-text86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 모아요(값, 품질 등).</a:t>
            </a:r>
            <a:endParaRPr lang="ko-KR" sz="2800" dirty="0"/>
          </a:p>
        </p:txBody>
      </p:sp>
      <p:sp>
        <p:nvSpPr>
          <p:cNvPr id="9" name="S10-stepno87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0-text88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비교해요.</a:t>
            </a:r>
            <a:endParaRPr lang="ko-KR" sz="2800" dirty="0"/>
          </a:p>
        </p:txBody>
      </p:sp>
      <p:sp>
        <p:nvSpPr>
          <p:cNvPr id="11" name="S10-stepno89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0-text90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알맞은 것을 골라요.</a:t>
            </a:r>
            <a:endParaRPr lang="ko-KR" sz="2800" dirty="0"/>
          </a:p>
        </p:txBody>
      </p:sp>
      <p:sp>
        <p:nvSpPr>
          <p:cNvPr id="13" name="S10-stepno91"/>
          <p:cNvSpPr txBox="1"/>
          <p:nvPr/>
        </p:nvSpPr>
        <p:spPr>
          <a:xfrm>
            <a:off x="548640" y="437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" name="S10-text92"/>
          <p:cNvSpPr txBox="1"/>
          <p:nvPr/>
        </p:nvSpPr>
        <p:spPr>
          <a:xfrm>
            <a:off x="1325880" y="437540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 뒤에 돌아봐요.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운동화 고르기</a:t>
            </a:r>
            <a:endParaRPr lang="ko-KR" sz="4000" dirty="0"/>
          </a:p>
        </p:txBody>
      </p:sp>
      <p:sp>
        <p:nvSpPr>
          <p:cNvPr id="3" name="S11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 운동화를 사요. 쓸 수 있는 돈(예산)은 50,000원이에요.</a:t>
            </a:r>
            <a:endParaRPr lang="ko-KR" sz="2800" dirty="0"/>
          </a:p>
        </p:txBody>
      </p:sp>
      <p:sp>
        <p:nvSpPr>
          <p:cNvPr id="4" name="S11-card9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9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나는 배송비까지 모두 얼마? ② 예산 안에서 살 수 있는 것은?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무엇을 고를까요? 기준과 까닭을 말해요.</a:t>
            </a:r>
            <a:endParaRPr lang="ko-KR" sz="2800" dirty="0"/>
          </a:p>
        </p:txBody>
      </p:sp>
      <p:graphicFrame>
        <p:nvGraphicFramePr>
          <p:cNvPr id="12" name="S11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05152"/>
          <a:ext cx="109728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2414016"/>
                <a:gridCol w="3072384"/>
                <a:gridCol w="241401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매장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인터넷 쇼핑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할인 매장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45,000원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38,000원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(배송비 3,000원)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52,000원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신어 볼 수 있나요?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튼튼한가요?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집이 이용한 시장</a:t>
            </a:r>
            <a:endParaRPr lang="ko-KR" sz="4000" dirty="0"/>
          </a:p>
        </p:txBody>
      </p:sp>
      <p:sp>
        <p:nvSpPr>
          <p:cNvPr id="3" name="S12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영수증의 카드 번호나 주소는 어른이 가린 뒤 봐요.</a:t>
            </a:r>
            <a:endParaRPr lang="ko-KR" sz="2800" dirty="0"/>
          </a:p>
        </p:txBody>
      </p:sp>
      <p:sp>
        <p:nvSpPr>
          <p:cNvPr id="5" name="S12-card99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100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 네 가지를 적었어요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시장을 바르게 나누었어요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 시장을 고른 까닭을 알았어요</a:t>
            </a:r>
            <a:endParaRPr lang="ko-KR" sz="2800" dirty="0"/>
          </a:p>
        </p:txBody>
      </p:sp>
      <p:sp>
        <p:nvSpPr>
          <p:cNvPr id="7" name="S12-stepno101"/>
          <p:cNvSpPr txBox="1"/>
          <p:nvPr/>
        </p:nvSpPr>
        <p:spPr>
          <a:xfrm>
            <a:off x="548640" y="18125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12-text102"/>
          <p:cNvSpPr txBox="1"/>
          <p:nvPr/>
        </p:nvSpPr>
        <p:spPr>
          <a:xfrm>
            <a:off x="1325880" y="18125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 산 물건 네 가지를 떠올려요.</a:t>
            </a:r>
            <a:endParaRPr lang="ko-KR" sz="2200" dirty="0"/>
          </a:p>
        </p:txBody>
      </p:sp>
      <p:sp>
        <p:nvSpPr>
          <p:cNvPr id="9" name="S12-stepno103"/>
          <p:cNvSpPr txBox="1"/>
          <p:nvPr/>
        </p:nvSpPr>
        <p:spPr>
          <a:xfrm>
            <a:off x="548640" y="25257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2-text104"/>
          <p:cNvSpPr txBox="1"/>
          <p:nvPr/>
        </p:nvSpPr>
        <p:spPr>
          <a:xfrm>
            <a:off x="1325880" y="25257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영수증이나 주문 기록을 함께 봐요.</a:t>
            </a:r>
            <a:endParaRPr lang="ko-KR" sz="2200" dirty="0"/>
          </a:p>
        </p:txBody>
      </p:sp>
      <p:sp>
        <p:nvSpPr>
          <p:cNvPr id="11" name="S12-stepno105"/>
          <p:cNvSpPr txBox="1"/>
          <p:nvPr/>
        </p:nvSpPr>
        <p:spPr>
          <a:xfrm>
            <a:off x="548640" y="3239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12-text106"/>
          <p:cNvSpPr txBox="1"/>
          <p:nvPr/>
        </p:nvSpPr>
        <p:spPr>
          <a:xfrm>
            <a:off x="1325880" y="32390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샀는지 활동지 5에 적어요.</a:t>
            </a:r>
            <a:endParaRPr lang="ko-KR" sz="2200" dirty="0"/>
          </a:p>
        </p:txBody>
      </p:sp>
      <p:sp>
        <p:nvSpPr>
          <p:cNvPr id="13" name="S12-stepno107"/>
          <p:cNvSpPr txBox="1"/>
          <p:nvPr/>
        </p:nvSpPr>
        <p:spPr>
          <a:xfrm>
            <a:off x="548640" y="39979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12-text108"/>
          <p:cNvSpPr txBox="1"/>
          <p:nvPr/>
        </p:nvSpPr>
        <p:spPr>
          <a:xfrm>
            <a:off x="1325880" y="3952240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시장과 보이지 않는 시장으로 나누어요.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선풍기를 사요. 예산은 60,000원이에요.</a:t>
            </a:r>
            <a:endParaRPr lang="ko-KR" sz="2800" dirty="0"/>
          </a:p>
        </p:txBody>
      </p:sp>
      <p:sp>
        <p:nvSpPr>
          <p:cNvPr id="4" name="S13-card110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11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선풍기 비교</a:t>
            </a:r>
            <a:endParaRPr lang="ko-KR" sz="2800" dirty="0"/>
          </a:p>
        </p:txBody>
      </p:sp>
      <p:graphicFrame>
        <p:nvGraphicFramePr>
          <p:cNvPr id="14" name="S13-table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1676" y="3317240"/>
          <a:ext cx="4814316" cy="914400"/>
        </p:xfrm>
        <a:graphic>
          <a:graphicData uri="http://schemas.openxmlformats.org/drawingml/2006/table">
            <a:tbl>
              <a:tblPr/>
              <a:tblGrid>
                <a:gridCol w="1636867"/>
                <a:gridCol w="1588724"/>
                <a:gridCol w="1588724"/>
              </a:tblGrid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매장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인터넷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55,000원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48,000원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배송비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4,000원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바람 세기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3단계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5단계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소리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조용함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조금 큼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3-chip1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8" name="S13-text114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기업이 주고받는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두 가지는?</a:t>
            </a:r>
            <a:endParaRPr lang="ko-KR" sz="2800" dirty="0"/>
          </a:p>
        </p:txBody>
      </p:sp>
      <p:sp>
        <p:nvSpPr>
          <p:cNvPr id="9" name="S13-chip11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0" name="S13-text116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선풍기는 배송비까지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얼마인가요?</a:t>
            </a:r>
            <a:endParaRPr lang="ko-KR" sz="2800" dirty="0"/>
          </a:p>
        </p:txBody>
      </p:sp>
      <p:sp>
        <p:nvSpPr>
          <p:cNvPr id="11" name="S13-chip11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2" name="S13-text11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하나를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 까닭을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1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2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기업은 시장에서 일과 임금, 물건과 물건값을 주고받아요.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세워 비교하면 합리적으로 고를 수 있어요.</a:t>
            </a:r>
            <a:endParaRPr lang="ko-KR" sz="2800" dirty="0"/>
          </a:p>
        </p:txBody>
      </p:sp>
      <p:sp>
        <p:nvSpPr>
          <p:cNvPr id="5" name="S15-chip12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추가 비용까지 계산해 비교하기</a:t>
            </a:r>
            <a:endParaRPr lang="ko-KR" sz="2200" dirty="0"/>
          </a:p>
        </p:txBody>
      </p:sp>
      <p:sp>
        <p:nvSpPr>
          <p:cNvPr id="6" name="S15-chip12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가장 싼 것이 늘 좋다고 여기기</a:t>
            </a:r>
            <a:endParaRPr lang="ko-KR" sz="2200" dirty="0"/>
          </a:p>
        </p:txBody>
      </p:sp>
      <p:sp>
        <p:nvSpPr>
          <p:cNvPr id="7" name="S15-text12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12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가계가 기업에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것 하나는?</a:t>
            </a:r>
            <a:endParaRPr lang="ko-KR" sz="2200" dirty="0"/>
          </a:p>
        </p:txBody>
      </p:sp>
      <p:sp>
        <p:nvSpPr>
          <p:cNvPr id="9" name="S15-text12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보이지 않는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시장의 예는?</a:t>
            </a:r>
            <a:endParaRPr lang="ko-KR" sz="2200" dirty="0"/>
          </a:p>
        </p:txBody>
      </p:sp>
      <p:sp>
        <p:nvSpPr>
          <p:cNvPr id="10" name="S15-text12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합리적 선택이란?</a:t>
            </a:r>
            <a:endParaRPr lang="ko-KR" sz="2200" dirty="0"/>
          </a:p>
        </p:txBody>
      </p:sp>
      <p:sp>
        <p:nvSpPr>
          <p:cNvPr id="11" name="S15-text12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세계 여러 나라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생산, 소비, 선택</a:t>
            </a:r>
            <a:endParaRPr lang="ko-KR" sz="4000" dirty="0"/>
          </a:p>
        </p:txBody>
      </p:sp>
      <p:sp>
        <p:nvSpPr>
          <p:cNvPr id="3" name="S16-text1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5,000원이 있어요.</a:t>
            </a:r>
            <a:endParaRPr lang="ko-KR" sz="2800" dirty="0"/>
          </a:p>
        </p:txBody>
      </p:sp>
      <p:sp>
        <p:nvSpPr>
          <p:cNvPr id="4" name="S16-card1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6-cardtext1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생산: 만들거나 서비스를 줘요 / 소비: 사서 써요</a:t>
            </a:r>
            <a:endParaRPr lang="ko-KR" sz="2800" dirty="0"/>
          </a:p>
        </p:txBody>
      </p:sp>
      <p:sp>
        <p:nvSpPr>
          <p:cNvPr id="6" name="S16-chip13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6-text13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3,000원짜리 공책과 2,500원짜리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펜을 모두 살 수 있나요?</a:t>
            </a:r>
            <a:endParaRPr lang="ko-KR" sz="2800" dirty="0"/>
          </a:p>
        </p:txBody>
      </p:sp>
      <p:sp>
        <p:nvSpPr>
          <p:cNvPr id="8" name="S16-chip13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6-text13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빵집에서 빵을 굽는 것은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생산일까요, 소비일까요?</a:t>
            </a:r>
            <a:endParaRPr lang="ko-KR" sz="2800" dirty="0"/>
          </a:p>
        </p:txBody>
      </p:sp>
      <p:sp>
        <p:nvSpPr>
          <p:cNvPr id="10" name="S16-chip13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6-text13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고른다면 무엇을? 기준은?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가계와 기업, 시장</dc:title>
  <dc:subject>KR22-G06-SOC-MARKET-L01</dc:subject>
  <dc:creator>education-ppt</dc:creator>
  <cp:lastModifiedBy>education-ppt</cp:lastModifiedBy>
  <cp:revision>1</cp:revision>
  <dcterms:created xsi:type="dcterms:W3CDTF">2026-10-26T13:52:20Z</dcterms:created>
  <dcterms:modified xsi:type="dcterms:W3CDTF">2026-10-26T13:52:20Z</dcterms:modified>
</cp:coreProperties>
</file>