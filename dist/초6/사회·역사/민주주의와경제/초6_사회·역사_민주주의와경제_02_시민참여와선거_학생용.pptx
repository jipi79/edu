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e4014f6-56f7-1377-7cc4-80965324fe26}">
          <p14:sldIdLst>
            <p14:sldId id="256"/>
            <p14:sldId id="257"/>
          </p14:sldIdLst>
        </p14:section>
        <p14:section name="개념" id="{baa72dc7-3c3e-57bd-3c2d-b5b8e2a7183c}">
          <p14:sldIdLst>
            <p14:sldId id="258"/>
            <p14:sldId id="259"/>
            <p14:sldId id="262"/>
            <p14:sldId id="264"/>
          </p14:sldIdLst>
        </p14:section>
        <p14:section name="연습" id="{e08e863f-e388-8b70-d00d-61304b4ca220}">
          <p14:sldIdLst>
            <p14:sldId id="260"/>
            <p14:sldId id="261"/>
            <p14:sldId id="263"/>
            <p14:sldId id="265"/>
            <p14:sldId id="266"/>
          </p14:sldIdLst>
        </p14:section>
        <p14:section name="개념" id="{05fe4e71-786e-e9be-de8e-e6ff7d44686c}">
          <p14:sldIdLst/>
        </p14:section>
        <p14:section name="연습" id="{6522fd75-75a6-b067-1cf2-031bac365f37}">
          <p14:sldIdLst/>
        </p14:section>
        <p14:section name="개념" id="{acd6773d-49e9-c079-82e4-49fa48e764c3}">
          <p14:sldIdLst/>
        </p14:section>
        <p14:section name="연습" id="{bfd21507-53c4-9070-f46d-064fff7b6b6d}">
          <p14:sldIdLst/>
        </p14:section>
        <p14:section name="확인" id="{a447d965-14c7-366e-d470-4f9f2b582cc1}">
          <p14:sldIdLst>
            <p14:sldId id="267"/>
          </p14:sldIdLst>
        </p14:section>
        <p14:section name="정리" id="{c82c512a-39fb-7f07-2194-4599cb755684}">
          <p14:sldIdLst>
            <p14:sldId id="268"/>
          </p14:sldIdLst>
        </p14:section>
        <p14:section name="보충" id="{c9e0dcf0-ceac-7cfe-bb20-496dfc92069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민주주의와경제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시민 참여와 선거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시민 참여와 선거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사회·역사 · 시민 참여와 선거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 참여와 선거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학급 회장 선거, 어떻게 해야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공정할까요?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선거의 네 가지 원칙을 알고 어긴 원칙을 찾아요.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선거 말고도 시민이 참여하는 방법을 골라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 만드는 기관은?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법에 따라 재판하는 기관은?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나라의 권력을 나누는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대표를 뽑을까요?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선거는 국민이 나라의 주인임을 보여 주는 일이에요.</a:t>
            </a:r>
            <a:endParaRPr lang="ko-KR" sz="2800" dirty="0"/>
          </a:p>
        </p:txBody>
      </p:sp>
      <p:sp>
        <p:nvSpPr>
          <p:cNvPr id="5" name="S03-card11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국민이 아주 많아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모여 정하기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어려워요.</a:t>
            </a:r>
            <a:endParaRPr lang="ko-KR" sz="2800" dirty="0"/>
          </a:p>
        </p:txBody>
      </p:sp>
      <p:sp>
        <p:nvSpPr>
          <p:cNvPr id="7" name="S03-card13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대표를 뽑아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나라의 일을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맡겨요.</a:t>
            </a:r>
            <a:endParaRPr lang="ko-KR" sz="2800" dirty="0"/>
          </a:p>
        </p:txBody>
      </p:sp>
      <p:sp>
        <p:nvSpPr>
          <p:cNvPr id="9" name="S03-card15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6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국민이 투표로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대표를 뽑는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선거의 네 가지 원칙</a:t>
            </a:r>
            <a:endParaRPr lang="ko-KR" sz="4000" dirty="0"/>
          </a:p>
        </p:txBody>
      </p:sp>
      <p:sp>
        <p:nvSpPr>
          <p:cNvPr id="3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만 18세 이상이면 선거에서 투표할 수 있어요.</a:t>
            </a:r>
            <a:endParaRPr lang="ko-KR" sz="2800" dirty="0"/>
          </a:p>
        </p:txBody>
      </p:sp>
      <p:sp>
        <p:nvSpPr>
          <p:cNvPr id="5" name="S04-card19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0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 선거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일정한 나이가 되면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투표해요.</a:t>
            </a:r>
            <a:endParaRPr lang="ko-KR" sz="2800" dirty="0"/>
          </a:p>
        </p:txBody>
      </p:sp>
      <p:sp>
        <p:nvSpPr>
          <p:cNvPr id="7" name="S04-card21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2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평등 선거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한 사람이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표씩 투표해요.</a:t>
            </a:r>
            <a:endParaRPr lang="ko-KR" sz="2800" dirty="0"/>
          </a:p>
        </p:txBody>
      </p:sp>
      <p:sp>
        <p:nvSpPr>
          <p:cNvPr id="9" name="S04-card23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4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선거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사람이 대신하지 않고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직접 투표해요.</a:t>
            </a:r>
            <a:endParaRPr lang="ko-KR" sz="2800" dirty="0"/>
          </a:p>
        </p:txBody>
      </p:sp>
      <p:sp>
        <p:nvSpPr>
          <p:cNvPr id="11" name="S04-card25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26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 선거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누구를 뽑았는지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남이 모르게 투표해요.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원칙을 어겼을까요?</a:t>
            </a:r>
            <a:endParaRPr lang="ko-KR" sz="4000" dirty="0"/>
          </a:p>
        </p:txBody>
      </p:sp>
      <p:sp>
        <p:nvSpPr>
          <p:cNvPr id="3" name="S05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별빛초 6학년 2반의 회장 선거예요.</a:t>
            </a:r>
            <a:endParaRPr lang="ko-KR" sz="2800" dirty="0"/>
          </a:p>
        </p:txBody>
      </p:sp>
      <p:sp>
        <p:nvSpPr>
          <p:cNvPr id="4" name="S05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보통(누구나) · 평등(한 표) · 직접(내가) · 비밀(몰래)</a:t>
            </a:r>
            <a:endParaRPr lang="ko-KR" sz="2800" dirty="0"/>
          </a:p>
        </p:txBody>
      </p:sp>
      <p:sp>
        <p:nvSpPr>
          <p:cNvPr id="6" name="S05-chip3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text3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“성적이 좋은 학생만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투표할 수 있어요.”</a:t>
            </a:r>
            <a:endParaRPr lang="ko-KR" sz="2800" dirty="0"/>
          </a:p>
        </p:txBody>
      </p:sp>
      <p:sp>
        <p:nvSpPr>
          <p:cNvPr id="8" name="S05-chip3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text3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“지난번 회장은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표씩 넣어요.”</a:t>
            </a:r>
            <a:endParaRPr lang="ko-KR" sz="2800" dirty="0"/>
          </a:p>
        </p:txBody>
      </p:sp>
      <p:sp>
        <p:nvSpPr>
          <p:cNvPr id="10" name="S05-chip3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text35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“아픈 친구 대신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투표해 줄게.”</a:t>
            </a:r>
            <a:endParaRPr lang="ko-KR" sz="2800" dirty="0"/>
          </a:p>
        </p:txBody>
      </p:sp>
      <p:sp>
        <p:nvSpPr>
          <p:cNvPr id="12" name="S05-chip3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5-text37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“누구 뽑았는지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투표지 좀 보여 줘.”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들어 뽑으면?</a:t>
            </a:r>
            <a:endParaRPr lang="ko-KR" sz="4000" dirty="0"/>
          </a:p>
        </p:txBody>
      </p:sp>
      <p:sp>
        <p:nvSpPr>
          <p:cNvPr id="3" name="S06-card3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회장을 뽑는 방법을 두고 두 친구가 말했어요.</a:t>
            </a:r>
            <a:endParaRPr lang="ko-KR" sz="2800" dirty="0"/>
          </a:p>
        </p:txBody>
      </p:sp>
      <p:sp>
        <p:nvSpPr>
          <p:cNvPr id="5" name="S06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방법이 더 알맞을까요? 어떤 원칙과 관계있나요?</a:t>
            </a:r>
            <a:endParaRPr lang="ko-KR" sz="2800" dirty="0"/>
          </a:p>
        </p:txBody>
      </p:sp>
      <p:sp>
        <p:nvSpPr>
          <p:cNvPr id="7" name="S06-chip4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6-text4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“손을 들어 뽑으면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빠르고 편해요.”</a:t>
            </a:r>
            <a:endParaRPr lang="ko-KR" sz="2800" dirty="0"/>
          </a:p>
        </p:txBody>
      </p:sp>
      <p:sp>
        <p:nvSpPr>
          <p:cNvPr id="9" name="S06-chip4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6-text4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“투표지에 몰래 쓰면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눈치 보지 않고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뽑을 수 있어요.”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시민 참여</a:t>
            </a:r>
            <a:endParaRPr lang="ko-KR" sz="4000" dirty="0"/>
          </a:p>
        </p:txBody>
      </p:sp>
      <p:sp>
        <p:nvSpPr>
          <p:cNvPr id="3" name="S07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선거 날뿐 아니라 언제든 의견을 내고 참여할 수 있어요.</a:t>
            </a:r>
            <a:endParaRPr lang="ko-KR" sz="2800" dirty="0"/>
          </a:p>
        </p:txBody>
      </p:sp>
      <p:graphicFrame>
        <p:nvGraphicFramePr>
          <p:cNvPr id="8" name="S07-table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01930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77824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 하나요?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서명 운동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뜻이 같은 사람들이 이름을 적어 의견을 모아요.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공청회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정책을 정하기 전에 여러 사람의 의견을 들어요.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민원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시청·구청 등에 불편을 알리고 해결을 부탁해요.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캠페인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많은 사람에게 알리고 함께하자고 권해요.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참여 방법일까요?</a:t>
            </a:r>
            <a:endParaRPr lang="ko-KR" sz="4000" dirty="0"/>
          </a:p>
        </p:txBody>
      </p:sp>
      <p:sp>
        <p:nvSpPr>
          <p:cNvPr id="3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서명 운동 · 공청회 · 민원 · 캠페인</a:t>
            </a:r>
            <a:endParaRPr lang="ko-KR" sz="2800" dirty="0"/>
          </a:p>
        </p:txBody>
      </p:sp>
      <p:sp>
        <p:nvSpPr>
          <p:cNvPr id="5" name="S08-chip5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8-text5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 공사 계획을 듣고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주민이 의견을 말하는 모임</a:t>
            </a:r>
            <a:endParaRPr lang="ko-KR" sz="2800" dirty="0"/>
          </a:p>
        </p:txBody>
      </p:sp>
      <p:sp>
        <p:nvSpPr>
          <p:cNvPr id="7" name="S08-chip5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8-text5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누리집에 고장 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가로등을 알려요.</a:t>
            </a:r>
            <a:endParaRPr lang="ko-KR" sz="2800" dirty="0"/>
          </a:p>
        </p:txBody>
      </p:sp>
      <p:sp>
        <p:nvSpPr>
          <p:cNvPr id="9" name="S08-chip55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8-text56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‘일회용품 줄이기’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홍보물을 나누어 줘요.</a:t>
            </a:r>
            <a:endParaRPr lang="ko-KR" sz="2800" dirty="0"/>
          </a:p>
        </p:txBody>
      </p:sp>
      <p:sp>
        <p:nvSpPr>
          <p:cNvPr id="11" name="S08-chip57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8-text58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횡단보도를 만들어 달라며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주민들의 이름을 모아요.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 강변 자전거 길</a:t>
            </a:r>
            <a:endParaRPr lang="ko-KR" sz="4000" dirty="0"/>
          </a:p>
        </p:txBody>
      </p:sp>
      <p:sp>
        <p:nvSpPr>
          <p:cNvPr id="3" name="S09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주민들은 어떤 방법으로 참여했나요? 결과는 어땠나요?</a:t>
            </a:r>
            <a:endParaRPr lang="ko-KR" sz="2800" dirty="0"/>
          </a:p>
        </p:txBody>
      </p:sp>
      <p:sp>
        <p:nvSpPr>
          <p:cNvPr id="5" name="S09-passagebox6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6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 소식(지어낸 이야기)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별빛시가 강변에 자전거 길을 만들려고 해요. 반기는 주민도 있었고, 나무가 베어질까 걱정하는 주민도 있었어요.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시청은 공청회를 열어 의견을 들었고, 주민들은 서명과 누리집 의견으로 생각을 전했어요.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의논 끝에 나무를 피해 길을 돌아가게 만들기로 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투표만 하면 끝일까?</a:t>
            </a:r>
            <a:endParaRPr lang="ko-KR" sz="4000" dirty="0"/>
          </a:p>
        </p:txBody>
      </p:sp>
      <p:sp>
        <p:nvSpPr>
          <p:cNvPr id="3" name="S10-card6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6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 참여를 배우고 두 친구가 말했어요.</a:t>
            </a:r>
            <a:endParaRPr lang="ko-KR" sz="2800" dirty="0"/>
          </a:p>
        </p:txBody>
      </p:sp>
      <p:sp>
        <p:nvSpPr>
          <p:cNvPr id="5" name="S10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생각에 더 찬성하나요? 왜요?</a:t>
            </a:r>
            <a:endParaRPr lang="ko-KR" sz="2800" dirty="0"/>
          </a:p>
        </p:txBody>
      </p:sp>
      <p:sp>
        <p:nvSpPr>
          <p:cNvPr id="7" name="S10-chip6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10-text6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“선거 날 투표했으니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시민이 할 일은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했어요.”</a:t>
            </a:r>
            <a:endParaRPr lang="ko-KR" sz="2800" dirty="0"/>
          </a:p>
        </p:txBody>
      </p:sp>
      <p:sp>
        <p:nvSpPr>
          <p:cNvPr id="9" name="S10-chip6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10-text7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“선거 뒤에도 의견을 내고,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대표가 일을 잘하는지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살펴봐요.”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집에서 해 봐요</a:t>
            </a:r>
            <a:endParaRPr lang="ko-KR" sz="4000" dirty="0"/>
          </a:p>
        </p:txBody>
      </p:sp>
      <p:sp>
        <p:nvSpPr>
          <p:cNvPr id="3" name="S11-card71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2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네 원칙을 지켜 투표했어요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참여 방법 하나를 찾았어요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어떻게 하는지 적었어요</a:t>
            </a:r>
            <a:endParaRPr lang="ko-KR" sz="2800" dirty="0"/>
          </a:p>
        </p:txBody>
      </p:sp>
      <p:sp>
        <p:nvSpPr>
          <p:cNvPr id="5" name="S11-stepno73"/>
          <p:cNvSpPr txBox="1"/>
          <p:nvPr/>
        </p:nvSpPr>
        <p:spPr>
          <a:xfrm>
            <a:off x="548640" y="1994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11-text74"/>
          <p:cNvSpPr txBox="1"/>
          <p:nvPr/>
        </p:nvSpPr>
        <p:spPr>
          <a:xfrm>
            <a:off x="1325880" y="19491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회의에서 정할 일을 하나 골라요.</a:t>
            </a:r>
            <a:endParaRPr lang="ko-KR" sz="2800" dirty="0"/>
          </a:p>
        </p:txBody>
      </p:sp>
      <p:sp>
        <p:nvSpPr>
          <p:cNvPr id="7" name="S11-stepno75"/>
          <p:cNvSpPr txBox="1"/>
          <p:nvPr/>
        </p:nvSpPr>
        <p:spPr>
          <a:xfrm>
            <a:off x="548640" y="3027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11-text76"/>
          <p:cNvSpPr txBox="1"/>
          <p:nvPr/>
        </p:nvSpPr>
        <p:spPr>
          <a:xfrm>
            <a:off x="1325880" y="298145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원칙을 지켜 쪽지로 투표해요.</a:t>
            </a:r>
            <a:endParaRPr lang="ko-KR" sz="2800" dirty="0"/>
          </a:p>
        </p:txBody>
      </p:sp>
      <p:sp>
        <p:nvSpPr>
          <p:cNvPr id="9" name="S11-stepno77"/>
          <p:cNvSpPr txBox="1"/>
          <p:nvPr/>
        </p:nvSpPr>
        <p:spPr>
          <a:xfrm>
            <a:off x="548640" y="4059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11-text78"/>
          <p:cNvSpPr txBox="1"/>
          <p:nvPr/>
        </p:nvSpPr>
        <p:spPr>
          <a:xfrm>
            <a:off x="1325880" y="401370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지역 누리집에서 주민 참여 방법을 찾아요.</a:t>
            </a:r>
            <a:endParaRPr lang="ko-KR" sz="2800" dirty="0"/>
          </a:p>
        </p:txBody>
      </p:sp>
      <p:sp>
        <p:nvSpPr>
          <p:cNvPr id="11" name="S11-stepno79"/>
          <p:cNvSpPr txBox="1"/>
          <p:nvPr/>
        </p:nvSpPr>
        <p:spPr>
          <a:xfrm>
            <a:off x="548640" y="5045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11-text80"/>
          <p:cNvSpPr txBox="1"/>
          <p:nvPr/>
        </p:nvSpPr>
        <p:spPr>
          <a:xfrm>
            <a:off x="1325880" y="50459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4·5에 적어요.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chip8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2-text82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선거의 네 원칙을 하나씩 뜻과 함께 말해요.</a:t>
            </a:r>
            <a:endParaRPr lang="ko-KR" sz="2800" dirty="0"/>
          </a:p>
        </p:txBody>
      </p:sp>
      <p:sp>
        <p:nvSpPr>
          <p:cNvPr id="5" name="S12-chip83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2-text84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“네가 누구 뽑았는지 투표지를 보여 줘.”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어긴 원칙과 고치는 방법은?</a:t>
            </a:r>
            <a:endParaRPr lang="ko-KR" sz="2800" dirty="0"/>
          </a:p>
        </p:txBody>
      </p:sp>
      <p:sp>
        <p:nvSpPr>
          <p:cNvPr id="7" name="S12-chip85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2-text86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‘학교 앞 횡단보도 신호가 짧아요.’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방법으로 참여할까요? 왜요?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보통·평등·직접·비밀 선거로 대표를 공정하게 뽑아요.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선거 뒤에도 서명, 공청회, 민원, 캠페인으로 참여해요.</a:t>
            </a:r>
            <a:endParaRPr lang="ko-KR" sz="2800" dirty="0"/>
          </a:p>
        </p:txBody>
      </p:sp>
      <p:sp>
        <p:nvSpPr>
          <p:cNvPr id="5" name="S14-chip8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네 원칙 지키기, 의견 내기</a:t>
            </a:r>
            <a:endParaRPr lang="ko-KR" sz="2200" dirty="0"/>
          </a:p>
        </p:txBody>
      </p:sp>
      <p:sp>
        <p:nvSpPr>
          <p:cNvPr id="6" name="S14-chip9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투표만 하면 끝이라고 여기기</a:t>
            </a:r>
            <a:endParaRPr lang="ko-KR" sz="2200" dirty="0"/>
          </a:p>
        </p:txBody>
      </p:sp>
      <p:sp>
        <p:nvSpPr>
          <p:cNvPr id="7" name="S14-text9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9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평등 선거란?</a:t>
            </a:r>
            <a:endParaRPr lang="ko-KR" sz="2200" dirty="0"/>
          </a:p>
        </p:txBody>
      </p:sp>
      <p:sp>
        <p:nvSpPr>
          <p:cNvPr id="9" name="S14-text93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누구를 뽑았는지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모르게 하는 원칙은?</a:t>
            </a:r>
            <a:endParaRPr lang="ko-KR" sz="2200" dirty="0"/>
          </a:p>
        </p:txBody>
      </p:sp>
      <p:sp>
        <p:nvSpPr>
          <p:cNvPr id="10" name="S14-text94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선거 말고 참여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두 가지는?</a:t>
            </a:r>
            <a:endParaRPr lang="ko-KR" sz="2200" dirty="0"/>
          </a:p>
        </p:txBody>
      </p:sp>
      <p:sp>
        <p:nvSpPr>
          <p:cNvPr id="11" name="S14-text9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가계와 기업, 시장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세 국가 기관</a:t>
            </a:r>
            <a:endParaRPr lang="ko-KR" sz="4000" dirty="0"/>
          </a:p>
        </p:txBody>
      </p:sp>
      <p:sp>
        <p:nvSpPr>
          <p:cNvPr id="3" name="S15-card96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97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기관이 권력을 나누어 서로 살피면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곳이 마음대로 하지 못해요.</a:t>
            </a:r>
            <a:endParaRPr lang="ko-KR" sz="2800" dirty="0"/>
          </a:p>
        </p:txBody>
      </p:sp>
      <p:sp>
        <p:nvSpPr>
          <p:cNvPr id="5" name="S15-card98"/>
          <p:cNvSpPr/>
          <p:nvPr/>
        </p:nvSpPr>
        <p:spPr>
          <a:xfrm>
            <a:off x="548640" y="19618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6" name="S15-cardtext99"/>
          <p:cNvSpPr txBox="1"/>
          <p:nvPr/>
        </p:nvSpPr>
        <p:spPr>
          <a:xfrm>
            <a:off x="822960" y="20990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만들어요.</a:t>
            </a:r>
            <a:endParaRPr lang="ko-KR" sz="2800" dirty="0"/>
          </a:p>
        </p:txBody>
      </p:sp>
      <p:sp>
        <p:nvSpPr>
          <p:cNvPr id="7" name="S15-card100"/>
          <p:cNvSpPr/>
          <p:nvPr/>
        </p:nvSpPr>
        <p:spPr>
          <a:xfrm>
            <a:off x="4322064" y="19618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8" name="S15-cardtext101"/>
          <p:cNvSpPr txBox="1"/>
          <p:nvPr/>
        </p:nvSpPr>
        <p:spPr>
          <a:xfrm>
            <a:off x="4596384" y="20990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법에 따라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 살림을 해요.</a:t>
            </a:r>
            <a:endParaRPr lang="ko-KR" sz="2800" dirty="0"/>
          </a:p>
        </p:txBody>
      </p:sp>
      <p:sp>
        <p:nvSpPr>
          <p:cNvPr id="9" name="S15-card102"/>
          <p:cNvSpPr/>
          <p:nvPr/>
        </p:nvSpPr>
        <p:spPr>
          <a:xfrm>
            <a:off x="8095488" y="19618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15-cardtext103"/>
          <p:cNvSpPr txBox="1"/>
          <p:nvPr/>
        </p:nvSpPr>
        <p:spPr>
          <a:xfrm>
            <a:off x="8369808" y="20990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법에 따라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사회·역사 시민 참여와 선거</dc:title>
  <dc:subject>KR22-G06-SOC-PARTICIPATE-L01</dc:subject>
  <dc:creator>education-ppt</dc:creator>
  <cp:lastModifiedBy>education-ppt</cp:lastModifiedBy>
  <cp:revision>1</cp:revision>
  <dcterms:created xsi:type="dcterms:W3CDTF">2026-10-26T13:52:17Z</dcterms:created>
  <dcterms:modified xsi:type="dcterms:W3CDTF">2026-10-26T13:52:17Z</dcterms:modified>
</cp:coreProperties>
</file>