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23c6fb0-803a-e810-a959-46bb2051c414}">
          <p14:sldIdLst>
            <p14:sldId id="256"/>
            <p14:sldId id="257"/>
          </p14:sldIdLst>
        </p14:section>
        <p14:section name="개념" id="{d43c7257-2bd1-9d81-88c5-6dd91d8271f7}">
          <p14:sldIdLst>
            <p14:sldId id="258"/>
            <p14:sldId id="259"/>
            <p14:sldId id="261"/>
            <p14:sldId id="262"/>
          </p14:sldIdLst>
        </p14:section>
        <p14:section name="연습" id="{6d3d59d2-7a3a-2dec-ef88-bb8702b30663}">
          <p14:sldIdLst>
            <p14:sldId id="260"/>
            <p14:sldId id="263"/>
            <p14:sldId id="264"/>
            <p14:sldId id="265"/>
          </p14:sldIdLst>
        </p14:section>
        <p14:section name="개념" id="{9f90be36-dab8-c701-b01c-5410c8d50e22}">
          <p14:sldIdLst/>
        </p14:section>
        <p14:section name="연습" id="{15254d8b-5a01-931a-c0eb-d14f2b360c04}">
          <p14:sldIdLst/>
        </p14:section>
        <p14:section name="확인" id="{f3073c69-3649-855a-a4e2-c406b7941b15}">
          <p14:sldIdLst>
            <p14:sldId id="266"/>
            <p14:sldId id="267"/>
          </p14:sldIdLst>
        </p14:section>
        <p14:section name="정리" id="{a7f73e27-2152-9869-e757-84e3ba57e893}">
          <p14:sldIdLst>
            <p14:sldId id="268"/>
          </p14:sldIdLst>
        </p14:section>
        <p14:section name="보충" id="{106eb21a-e697-142c-5d81-703ac53b52a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나라의 일을 누가 나누어 맡는지 관심을 갖게 합니다.
시간: 약 2분
이렇게 말해 보세요
- “축구 경기에서 한 팀 주장이 규칙도 정하고 심판도 본다면 어떨까?”
- “나라의 일도 비슷해. 오늘은 나라의 일을 세 곳이 어떻게 나누어 맡는지, 왜 나누는지 알아볼 거야.”
예상 답
- “그 팀만 이기게 할 것 같아요.” “불공평해요.”
막히면
- “가위바위보에서 한 사람이 규칙을 마음대로 바꿀 수 있다면?”처럼 더 쉬운 놀이로 묻습니다.
주의
- 오늘날의 정치인이나 정당 이야기로 넘어가지 않습니다. 기관이 ‘무슨 일을 하는지’에만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확인(법과 규칙)]
목적: 5학년 ‘법과 규칙’(KR22-G05-SOC-LAW-L01)에서 배운 법의 뜻과 역할을 기억하는지 확인합니다. 오늘 세 기관은 모두 ‘법’을 중심으로 일합니다.
시간: 약 3분
이렇게 말해 보세요
- “5학년 때 배운 법을 떠올려 보자. 세 가지를 물어볼게.”
정답
- ① 나라에서 만든, 모든 사람이 지켜야 하는 약속
- ② 사람들의 권리를 지켜 줘요, 사회의 질서를 지켜요, 다툼을 해결하는 기준이 돼요 가운데 하나
- ③ 규칙은 학교·가정처럼 정해진 곳의 약속이고, 법은 나라가 만든 약속이라 어기면 나라가 벌이나 제재를 줘요.
- 기준: 앞 차시의 표현과 조금 달라도 뜻이 맞으면 맞음
막히면
- “횡단보도 신호를 지키는 것은 집 규칙이야, 나라의 법이야?”라고 생활 예로 묻습니다.
- 세 문제 가운데 두 개 이상 어려워하면 S14(보충)를 먼저 합니다. 보충으로도 어려우면 ‘법과 규칙’(KR22-G05-SOC-LAW-L01)을 다시 합니다.
주의
- ③을 어려워해도 ①②를 말하면 오늘 수업을 시작해도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세 국가 기관의 핵심 역할]
목적: 국회·정부·법원의 핵심 역할을 한 문장씩 알려 줍니다(목표 A, 오해 M1·M4).
시간: 약 3분
이렇게 말해 보세요
- “국회는 나라의 법을 만들고 고치는 곳이야. 법을 세운다고 해서 ‘입법’이라고 해.”
- “정부는 국회가 만든 법에 따라 교육, 국방, 환경 같은 나라 살림을 맡아. 이걸 ‘행정’이라고 해.”
- “법원은 다툼이 생기거나 누가 법을 어겼을 때 법에 따라 판단하는 재판을 해. 이걸 ‘사법’이라고 해.”
- “세 카드에 모두 들어 있는 낱말은 무엇일까?”
예상 답
- “법이요.”
막히면
- 학교에 빗대어 “학급 회의에서 규칙 만들기(국회), 규칙대로 반을 운영하기(정부), 다툼을 공정하게 판단하기(법원)”처럼 짝지어 줍니다.
주의
- 일상에서는 ‘정부’를 나라 전체처럼 말하기도 합니다. 오늘 ‘정부’는 법에 따라 나라 살림을 맡는 기관(대통령, 국무총리, 여러 부)을 뜻한다고 짚어 줍니다(오해 M4).
- 입법·행정·사법이라는 한자어는 외우게 하지 않습니다. 뜻을 말하면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 기관이 하는 일 자세히]
목적: 세 기관이 하는 일을 조금 더 자세히 보고, 누가 일하는지 알려 줍니다(목표 A, 오해 M1·M2).
시간: 약 4분
이렇게 말해 보세요
- “국회는 법만 만드는 게 아니야. 나라가 한 해 동안 쓸 돈(예산)을 최종으로 정하고, 정부가 법대로 일을 잘하는지 살펴봐.”
- “정부의 가장 높은 대표는 대통령이야. 교육을 맡는 부, 나라를 지키는 부, 환경을 맡는 부처럼 여러 부가 나누어 일해.”
- “법원에서는 법관(판사)이 다툼이나 죄를 법에 따라 판단해. 경찰은 범죄를 수사하지만, 벌을 정하는 재판은 법원이 해.”
예상 답
- “국회 의원은 국민이 뽑아요.” “판사는 재판해요.”
막히면
- 한 줄씩 ‘기관 → 누가 → 하는 일’ 차례로 손가락으로 따라 읽습니다.
주의
- 국회 의원의 임기는 4년, 대통령의 임기는 5년입니다(궁금해하면 알려 주는 정도로).
- 법원에서는 판결에 따르기 어려우면 위의 법원에서 다시 재판을 받을 수 있어, 한 사건에 재판을 세 번까지 받을 수 있습니다(3심 제도). 공정한 재판을 위한 것입니다.
- 정부의 ‘부’ 이름은 시기에 따라 바뀌기도 하므로 이름을 외우게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생활 사례를 세 기관으로 나누기]
목적: 생활 사례를 세 기관의 일로 나누고 까닭을 말합니다(목표 A, 오해 M1·M2).
시간: 약 3분
이렇게 말해 보세요
- “①부터 어느 기관의 일인지 말하고, 왜 그렇게 생각했는지도 말해 줘.”
- “④는 조금 어려워. S04 표의 국회 줄을 다시 볼래?”
정답
- ① 국회(법을 만들어요)
- ② 정부(법에 따라 국민의 건강을 지키는 나라 살림을 해요)
- ③ 법원(다툼을 법에 따라 판단하는 재판이에요)
- ④ 국회(정부가 짠 나라 살림 계획을 살펴보고 쓸 돈을 확정해요)
막히면
- 아래 도움말을 함께 읽고 “이건 법을 만드는 일이야, 법대로 하는 일이야, 판단하는 일이야?”라고 묻습니다.
주의
- ④에서 ‘정부’라고 답하면 반쯤 맞습니다. 나라 살림 계획(예산안)은 정부가 짜고, 그것을 살펴보고 확정하는 것은 국회라고 알려 줍니다. 서로 살피는 이 관계는 S07에서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하나의 법을 두고 세 기관이 하는 일(흐름)]
목적: 지어낸 예로 하나의 법이 만들어지고 지켜지고 판단되기까지 세 기관이 각자 하는 일을 흐름으로 보여 줍니다(목표 A).
시간: 약 3분
이렇게 말해 보세요
- “이 법은 설명하려고 지어낸 예야. 놀이터 기구가 낡아 다치는 어린이가 있다고 해 보자.”
- “먼저 국회가 법을 만들어. 그다음 정부는 그 법에 따라 놀이터를 검사하고 고치게 해.”
- “만약 놀이터를 관리하는 곳이 검사를 하지 않아 어린이가 다쳤고, 누구 책임인지 다툼이 생긴다면 어디서 판단할까?”
예상 답
- “법원이요. 재판으로 판단해요.”
막히면
- S03의 세 카드를 다시 보며 화살표 순서대로 짚어 줍니다.
주의
- 실제로 어린이 놀이 시설은 법에 따라 정기적으로 안전 검사를 받습니다. 이 장의 법 이름과 내용은 흐름을 보이기 위한 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권력 분립과 견제(그림)]
목적: 권력 분립의 뜻과, 세 기관이 서로 견제해 국민의 자유와 권리를 지킨다는 것을 그림으로 보여 줍니다(목표 B).
시간: 약 4분
이렇게 말해 보세요
- “‘권력’은 나라의 일을 정하고 따르게 하는 힘이야. 이 힘을 세 기관이 나누어 가진 것을 권력 분립이라고 해.”
- “화살표가 양쪽으로 되어 있지? 서로 살피고, 잘못하면 막을 수 있다는 뜻이야. 이걸 ‘견제’라고 해.”
- “예를 들어 국회는 정부가 나라 살림을 잘하는지 살펴. 대통령은 국회가 만든 법에 문제가 있다고 보면 다시 의논해 달라고 할 수 있어. 법원은 정부가 한 일이 법에 어긋나는지 재판으로 판단해.”
- “가운데에 ‘국민’이 있는 까닭은 무엇일까?”
예상 답
- “세 기관 모두 국민을 위해 일하니까요.” “국민의 권리를 지키려고요.”
막히면
- “세 사람이 과자를 나눌 때, 한 사람이 자르고 다른 사람이 먼저 고르면 왜 공정할까?”라고 묻습니다.
주의
- 견제의 예는 하나만 이해해도 충분합니다. 모든 예를 외우게 하지 않습니다.
- 지난 학년에 배운 독재(한 사람이 권력을 마음대로 쓰는 것)를 막는 장치라고 이어 말해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학급 비유로 권력 분립 비교]
목적: 학급의 예로 일을 나누어 맡을 때와 한 사람이 모두 맡을 때를 견주며 권력 분립의 까닭을 말하게 합니다(목표 B, 오해 M3).
시간: 약 3분
이렇게 말해 보세요
- “가 반에서 반장과 친구가 다투면 누가 판단하지? 그 판단은 공정할까?”
- “가 반은 빨리 정할 수 있다는 좋은 점도 있어. 그래도 나 반이 더 나은 까닭은 무엇일까?”
- “나 반의 ‘학급 회의, 반장, 선생님’은 나라의 어느 기관과 닮았을까?”
정답
- 나. 한 사람이 규칙도 만들고 판단도 하면 자기에게 유리하게 할 수 있지만, 나누어 맡으면 서로 살펴 공정해지기 때문이에요.
- 닮은 기관: 학급 회의 – 국회, 반장 – 정부, 선생님 – 법원
- 기준: ‘한 사람이 마음대로’ 할 수 있다는 문제를 들어 까닭을 말하면 잘함
막히면
- “네가 반장과 다투었는데 반장이 ‘내가 맞아.’라고 판단하면 어떤 기분일까?”라고 묻습니다.
주의
- 가 반의 반장을 나쁜 사람으로 보게 하기보다, 아무리 좋은 사람이라도 혼자 모든 힘을 가지면 실수나 욕심을 막기 어렵다는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권력이 한 곳에 모이면 생길 문제 말하기]
목적: 권력이 한 곳에 모일 때의 문제와, 견제가 필요한 까닭을 말합니다(목표 B, 오해 M3).
시간: 약 3분
이렇게 말해 보세요
- “①, 자기에게 유리한 법을 만들고, 그 법으로 자기 편을 들어 재판하면 국민은 어떻게 될까?”
- “②, ③도 S07의 그림을 보며 말해 볼래?”
정답
- ① 자기에게 유리한 법을 만들고 자기 마음대로 재판해, 국민의 자유와 권리가 지켜지지 않을 수 있어요(독재).
- ② 정부가 법에 따라 나라 살림을 바르게 하는지 확인하고 잘못을 바로잡으려고
- ③ 다른 기관의 눈치를 보지 않고 법과 양심에 따라 공정하게 재판하려고
- 기준: 까닭에 ‘마음대로 못 하게’ 또는 ‘국민의 권리를 지키려고’가 들어 있으면 맞음
막히면
- S08의 가 반을 떠올리게 하고 “가 반의 일이 나라에서 일어난다면?”이라고 묻습니다.
주의
- ③과 관련해, 우리 헌법은 법관이 헌법과 법률, 양심에 따라 독립해 재판한다고 정하고 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뉴스 속 국가 기관 찾기(부모와 함께 조사)]
목적: 실제 소식에서 국가 기관이 한 일을 찾아, 오늘 배운 세 기관의 역할과 잇습니다(목표 A).
시간: 약 3분(조사는 수업 뒤에)
이렇게 말해 보세요
- “뉴스에는 국회, 정부, 법원이 자주 나와. 함께 찾아서 ‘누가 무슨 일을 했는지’만 활동지 4에 적어 보자.”
예상 답
- 예: “국회에서 새 법을 만들었대요. 법을 만드는 일이니까 국회예요.” “법원이 재판 결과를 알렸어요.”
정답
- 기준: ① 국가 기관이 나온 소식을 찾음(세 기관 모두가 아니어도 됨) ② 무슨 일을 했는지 적음 ③ 그 일이 법 만들기·법에 따른 나라 살림·재판 가운데 무엇인지 말함. 찾은 소식에 따라 답이 다릅니다.
막히면
- 부모가 먼저 소식 하나를 골라 읽어 주고 “이건 법을 만든 일이야, 법대로 한 일이야, 재판이야?”라고 묻습니다.
주의
- 사람 이름이나 누가 옳은지, 어느 편인지는 적지 않고 ‘기관이 한 일’만 적습니다. 정치적 논쟁이 담긴 소식은 피하고, 새 법, 안전·교육 정책, 재판 결과처럼 사실을 알리는 소식을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보기(세 기관의 일, 사례 나누기, 권력 분립의 까닭)]
목적: 세 기관이 하는 일, 처음 보는 사례의 기관, 권력 분립의 까닭을 도움 없이 말하는지 확인합니다(목표 A·B).
시간: 약 5분
이렇게 말해 보세요
- “이번에는 혼자 해 볼래? ②③은 어느 기관의 일인지 말하고 까닭도 말해 줘.”
정답
- ① 국회 – 법을 만들어요 / 정부 – 법에 따라 나라 살림을 해요 / 법원 – 법에 따라 재판해요
- ② 정부(날씨를 살피고 알리는 일도 법에 따라 정부가 맡는 나라 살림이에요. 기상청이 정부에 속해요.)
- ③ 법원(다툼을 법에 따라 판단하는 재판이에요)
- ④ 한 기관이 권력을 마음대로 쓰지 못하게 서로 살피고 막아(견제) 국민의 자유와 권리를 지키려고
- 기준: 네 문제 가운데 세 개 이상, 그리고 ④에서 ‘마음대로 못 하게’와 ‘국민의 권리’를 말하면 목표를 이룬 것으로 봅니다.
막히면
- 바로 알려 주지 말고 ②③은 “법을 만드는 일이야, 법대로 하는 일이야, 판단하는 일이야?”, ④는 “S08의 가 반을 떠올려 봐.”라고만 묻습니다.
- 도움을 받아 해결했다면 기록표에 ‘도움’으로 표시합니다.
주의
- ④를 ‘싸우지 않으려고’처럼만 말하면 “누가 마음대로 하면 안 될까?”라고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S11의 답을 확인하고 흔한 실수와 견줍니다.
시간: 약 2분
이렇게 말해 보세요
- “네 답과 왼쪽을 견주어 보자. 오른쪽 두 생각은 무엇을 놓쳤을까?”
예상 답
- “법은 국회가 만들어요.” “한 곳이 다 하면 마음대로 할 수 있어요.”
정답
- ① 국회 – 법을 만듦, 정부 – 법에 따라 나라 살림, 법원 – 법에 따라 재판 ② 정부 ③ 법원 ④ 서로 견제해 한 곳이 권력을 마음대로 쓰지 못하게 하고 국민의 자유와 권리를 지키려고
막히면
- ①②③은 S03·S04, ④는 S07·S08을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“세 기관이 하는 일을 손가락 세 개로 하나씩 말해 볼래?”
- “국회 의원과 대통령은 누가 뽑는다고 했지? 다음 시간에는 그 선거를 배울 거야.”
예상 답
- “국회는 법, 정부는 살림, 법원은 재판이요.” “국민이 뽑아요.”
정답
- ① 국회 ② 법원 ③ 한 기관이 권력을 마음대로 쓰지 못하게 서로 견제해 국민의 자유와 권리를 지키려고
막히면
- S03과 S07을 다시 보여 줍니다.
주의
- 활동지 4(뉴스 속 국가 기관 찾기)는 다음 수업 전까지 함께 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보충(법의 뜻과 역할 다시 보기)]
목적: S02에서 법의 뜻과 역할을 어려워하면 세 카드로 다시 익히고, 오늘 세 기관이 모두 ‘법’을 중심으로 일한다는 것으로 이어 줍니다.
시간: 약 4분
이렇게 말해 보세요
- “카드를 하나씩 읽어 보자. 법은 누가 만든 약속이지?”
- “우리 생활에서 지키는 법을 하나 말해 볼래? 횡단보도, 자전거, 쓰레기 버리기를 떠올려 봐.”
- “학급 규칙을 어기면 어떻게 되지? 법을 어기면?”
정답
- 법: 나라에서 만든, 모두가 지켜야 하는 약속 / 하는 일: 권리 보호, 질서 유지, 다툼 해결 / 규칙과 다른 점: 법을 어기면 나라가 벌이나 제재를 줌
- 생활 속 법의 예: 횡단보도 신호 지키기, 정해진 곳에 쓰레기 버리기
막히면
- 집의 규칙(예: 밤 9시에 잠자기)과 나라의 법(예: 신호 지키기)을 종이에 나란히 써서 견주어 봅니다.
주의
- 이 차시의 계획상 선수 차시는 ‘법과 규칙’(KR22-G05-SOC-LAW-L01)입니다. 보충 뒤에도 어려우면 그 차시를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민주주의와경제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국가 기관의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국가 기관의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국가 기관의 역할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기관의 역할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일을 한 곳에서 모두 맡으면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일이 생길까요?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국회·정부·법원이 하는 일을 구별해요.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나라의 권력을 나누는 까닭을 설명해요.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법이란 무엇인가요?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하는 일 하나는?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법과 규칙은 무엇이 다른가요?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일을 나누어 맡아요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기관 모두 ‘법’을 중심으로 일해요.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(입법)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살림을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(행정)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(사법)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기관이 하는 일</a:t>
            </a:r>
            <a:endParaRPr lang="ko-KR" sz="4000" dirty="0"/>
          </a:p>
        </p:txBody>
      </p:sp>
      <p:sp>
        <p:nvSpPr>
          <p:cNvPr id="3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 의원과 대통령은 국민이 선거로 뽑아요.</a:t>
            </a:r>
            <a:endParaRPr lang="ko-KR" sz="2800" dirty="0"/>
          </a:p>
        </p:txBody>
      </p:sp>
      <p:graphicFrame>
        <p:nvGraphicFramePr>
          <p:cNvPr id="5" name="S04-table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10766"/>
          <a:ext cx="10972800" cy="914400"/>
        </p:xfrm>
        <a:graphic>
          <a:graphicData uri="http://schemas.openxmlformats.org/drawingml/2006/table">
            <a:tbl>
              <a:tblPr/>
              <a:tblGrid>
                <a:gridCol w="1426464"/>
                <a:gridCol w="2962656"/>
                <a:gridCol w="6583680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국민이 뽑은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국회 의원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 만들기·고치기, 나라 살림 돈 확정,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정부가 일을 잘하는지 살피기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대통령, 국무총리,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교육·국방·환경 같은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나라 살림을 법에 따라 맡기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법관(판사)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다툼을 법에 따라 판단하기,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죄가 있는지 판단하기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기관의 일일까요?</a:t>
            </a:r>
            <a:endParaRPr lang="ko-KR" sz="4000" dirty="0"/>
          </a:p>
        </p:txBody>
      </p:sp>
      <p:sp>
        <p:nvSpPr>
          <p:cNvPr id="3" name="S05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만들면 국회, 법에 따라 살림하면 정부, 재판하면 법원</a:t>
            </a:r>
            <a:endParaRPr lang="ko-KR" sz="2800" dirty="0"/>
          </a:p>
        </p:txBody>
      </p:sp>
      <p:sp>
        <p:nvSpPr>
          <p:cNvPr id="5" name="S05-chip2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2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안전을 위한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새로 만들어요.</a:t>
            </a:r>
            <a:endParaRPr lang="ko-KR" sz="2800" dirty="0"/>
          </a:p>
        </p:txBody>
      </p:sp>
      <p:sp>
        <p:nvSpPr>
          <p:cNvPr id="7" name="S05-chip2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2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감염병을 막으려고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예방 접종을 준비해요.</a:t>
            </a:r>
            <a:endParaRPr lang="ko-KR" sz="2800" dirty="0"/>
          </a:p>
        </p:txBody>
      </p:sp>
      <p:sp>
        <p:nvSpPr>
          <p:cNvPr id="9" name="S05-chip26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27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물건값 다툼을 법에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판단해요.</a:t>
            </a:r>
            <a:endParaRPr lang="ko-KR" sz="2800" dirty="0"/>
          </a:p>
        </p:txBody>
      </p:sp>
      <p:sp>
        <p:nvSpPr>
          <p:cNvPr id="11" name="S05-chip28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5-text29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1년 동안 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돈을 확정해요.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생활에 오기까지</a:t>
            </a:r>
            <a:endParaRPr lang="ko-KR" sz="4000" dirty="0"/>
          </a:p>
        </p:txBody>
      </p:sp>
      <p:sp>
        <p:nvSpPr>
          <p:cNvPr id="3" name="S06-text30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‘놀이터 기구를 정해진 때마다 검사한다’는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생긴다면?</a:t>
            </a:r>
            <a:endParaRPr lang="ko-KR" sz="2800" dirty="0"/>
          </a:p>
        </p:txBody>
      </p:sp>
      <p:sp>
        <p:nvSpPr>
          <p:cNvPr id="4" name="S06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법을 두고 세 기관이 맡은 일을 해요.</a:t>
            </a:r>
            <a:endParaRPr lang="ko-KR" sz="2800" dirty="0"/>
          </a:p>
        </p:txBody>
      </p:sp>
      <p:sp>
        <p:nvSpPr>
          <p:cNvPr id="6" name="S06-step33"/>
          <p:cNvSpPr txBox="1"/>
          <p:nvPr/>
        </p:nvSpPr>
        <p:spPr>
          <a:xfrm>
            <a:off x="1293876" y="2834132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만들어요</a:t>
            </a:r>
            <a:endParaRPr lang="ko-KR" sz="2200" dirty="0"/>
          </a:p>
        </p:txBody>
      </p:sp>
      <p:sp>
        <p:nvSpPr>
          <p:cNvPr id="7" name="S06-line34"/>
          <p:cNvSpPr/>
          <p:nvPr/>
        </p:nvSpPr>
        <p:spPr>
          <a:xfrm>
            <a:off x="4274820" y="374853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6-step35"/>
          <p:cNvSpPr txBox="1"/>
          <p:nvPr/>
        </p:nvSpPr>
        <p:spPr>
          <a:xfrm>
            <a:off x="4631436" y="2834132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법에 따라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놀이터를 검사해요</a:t>
            </a:r>
            <a:endParaRPr lang="ko-KR" sz="2200" dirty="0"/>
          </a:p>
        </p:txBody>
      </p:sp>
      <p:sp>
        <p:nvSpPr>
          <p:cNvPr id="9" name="S06-line36"/>
          <p:cNvSpPr/>
          <p:nvPr/>
        </p:nvSpPr>
        <p:spPr>
          <a:xfrm>
            <a:off x="7612380" y="374853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6-step37"/>
          <p:cNvSpPr txBox="1"/>
          <p:nvPr/>
        </p:nvSpPr>
        <p:spPr>
          <a:xfrm>
            <a:off x="7968996" y="2834132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어겨 생긴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다툼을 재판해요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권력을 나누어요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국민의 자유와 권리를 지킬 수 있어요.</a:t>
            </a:r>
            <a:endParaRPr lang="ko-KR" sz="2800" dirty="0"/>
          </a:p>
        </p:txBody>
      </p:sp>
      <p:sp>
        <p:nvSpPr>
          <p:cNvPr id="5" name="S07-figure40" descr="위에 국회(법을 만듦), 왼쪽 아래에 정부(나라 살림), 오른쪽 아래에 법원(재판)이 있다. 세 기관 사이를 양쪽 화살표가 잇고, 화살표마다 ‘견제’라고 쓰여 있다. 가운데 동그라미에 ‘국민’이 있다."/>
          <p:cNvSpPr/>
          <p:nvPr/>
        </p:nvSpPr>
        <p:spPr>
          <a:xfrm>
            <a:off x="2294961" y="1456853"/>
            <a:ext cx="1870314" cy="831251"/>
          </a:xfrm>
          <a:custGeom>
            <a:avLst/>
            <a:gdLst/>
            <a:ahLst/>
            <a:cxnLst/>
            <a:rect l="l" t="t" r="r" b="b"/>
            <a:pathLst>
              <a:path w="1870314" h="831251">
                <a:moveTo>
                  <a:pt x="0" y="831251"/>
                </a:moveTo>
                <a:lnTo>
                  <a:pt x="1870314" y="831251"/>
                </a:lnTo>
                <a:lnTo>
                  <a:pt x="18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41"/>
          <p:cNvSpPr/>
          <p:nvPr/>
        </p:nvSpPr>
        <p:spPr>
          <a:xfrm>
            <a:off x="632460" y="4158417"/>
            <a:ext cx="1870314" cy="831251"/>
          </a:xfrm>
          <a:custGeom>
            <a:avLst/>
            <a:gdLst/>
            <a:ahLst/>
            <a:cxnLst/>
            <a:rect l="l" t="t" r="r" b="b"/>
            <a:pathLst>
              <a:path w="1870314" h="831251">
                <a:moveTo>
                  <a:pt x="0" y="831251"/>
                </a:moveTo>
                <a:lnTo>
                  <a:pt x="1870314" y="831251"/>
                </a:lnTo>
                <a:lnTo>
                  <a:pt x="18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mark42"/>
          <p:cNvSpPr/>
          <p:nvPr/>
        </p:nvSpPr>
        <p:spPr>
          <a:xfrm>
            <a:off x="3957462" y="4158417"/>
            <a:ext cx="1870314" cy="831251"/>
          </a:xfrm>
          <a:custGeom>
            <a:avLst/>
            <a:gdLst/>
            <a:ahLst/>
            <a:cxnLst/>
            <a:rect l="l" t="t" r="r" b="b"/>
            <a:pathLst>
              <a:path w="1870314" h="831251">
                <a:moveTo>
                  <a:pt x="0" y="831251"/>
                </a:moveTo>
                <a:lnTo>
                  <a:pt x="1870314" y="831251"/>
                </a:lnTo>
                <a:lnTo>
                  <a:pt x="1870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6A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mark43"/>
          <p:cNvSpPr/>
          <p:nvPr/>
        </p:nvSpPr>
        <p:spPr>
          <a:xfrm>
            <a:off x="2762540" y="2963494"/>
            <a:ext cx="935157" cy="935157"/>
          </a:xfrm>
          <a:prstGeom prst="ellipse">
            <a:avLst/>
          </a:pr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7-mark44"/>
          <p:cNvSpPr/>
          <p:nvPr/>
        </p:nvSpPr>
        <p:spPr>
          <a:xfrm flipH="1">
            <a:off x="1619570" y="2392009"/>
            <a:ext cx="779297" cy="1662501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0" name="S07-mark45"/>
          <p:cNvSpPr/>
          <p:nvPr/>
        </p:nvSpPr>
        <p:spPr>
          <a:xfrm>
            <a:off x="4061369" y="2392009"/>
            <a:ext cx="779297" cy="1662501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1" name="S07-mark46"/>
          <p:cNvSpPr/>
          <p:nvPr/>
        </p:nvSpPr>
        <p:spPr>
          <a:xfrm>
            <a:off x="2606680" y="4574042"/>
            <a:ext cx="124687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2" name="S07-label48"/>
          <p:cNvSpPr txBox="1"/>
          <p:nvPr/>
        </p:nvSpPr>
        <p:spPr>
          <a:xfrm>
            <a:off x="2901442" y="154199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</a:t>
            </a:r>
            <a:endParaRPr lang="ko-KR" sz="2200" dirty="0"/>
          </a:p>
        </p:txBody>
      </p:sp>
      <p:sp>
        <p:nvSpPr>
          <p:cNvPr id="13" name="S07-label50"/>
          <p:cNvSpPr txBox="1"/>
          <p:nvPr/>
        </p:nvSpPr>
        <p:spPr>
          <a:xfrm>
            <a:off x="2692908" y="1911439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만듦</a:t>
            </a:r>
            <a:endParaRPr lang="ko-KR" sz="1800" dirty="0"/>
          </a:p>
        </p:txBody>
      </p:sp>
      <p:sp>
        <p:nvSpPr>
          <p:cNvPr id="14" name="S07-label52"/>
          <p:cNvSpPr txBox="1"/>
          <p:nvPr/>
        </p:nvSpPr>
        <p:spPr>
          <a:xfrm>
            <a:off x="1238941" y="426953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200" dirty="0"/>
          </a:p>
        </p:txBody>
      </p:sp>
      <p:sp>
        <p:nvSpPr>
          <p:cNvPr id="15" name="S07-label54"/>
          <p:cNvSpPr txBox="1"/>
          <p:nvPr/>
        </p:nvSpPr>
        <p:spPr>
          <a:xfrm>
            <a:off x="1030407" y="4613003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</a:t>
            </a:r>
            <a:endParaRPr lang="ko-KR" sz="1800" dirty="0"/>
          </a:p>
        </p:txBody>
      </p:sp>
      <p:sp>
        <p:nvSpPr>
          <p:cNvPr id="16" name="S07-label56"/>
          <p:cNvSpPr txBox="1"/>
          <p:nvPr/>
        </p:nvSpPr>
        <p:spPr>
          <a:xfrm>
            <a:off x="4563943" y="4269534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</a:t>
            </a:r>
            <a:endParaRPr lang="ko-KR" sz="2200" dirty="0"/>
          </a:p>
        </p:txBody>
      </p:sp>
      <p:sp>
        <p:nvSpPr>
          <p:cNvPr id="17" name="S07-label58"/>
          <p:cNvSpPr txBox="1"/>
          <p:nvPr/>
        </p:nvSpPr>
        <p:spPr>
          <a:xfrm>
            <a:off x="4613727" y="461300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</a:t>
            </a:r>
            <a:endParaRPr lang="ko-KR" sz="1800" dirty="0"/>
          </a:p>
        </p:txBody>
      </p:sp>
      <p:sp>
        <p:nvSpPr>
          <p:cNvPr id="18" name="S07-label60"/>
          <p:cNvSpPr txBox="1"/>
          <p:nvPr/>
        </p:nvSpPr>
        <p:spPr>
          <a:xfrm>
            <a:off x="2901442" y="325644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</a:t>
            </a:r>
            <a:endParaRPr lang="ko-KR" sz="2200" dirty="0"/>
          </a:p>
        </p:txBody>
      </p:sp>
      <p:sp>
        <p:nvSpPr>
          <p:cNvPr id="19" name="S07-labelbg62"/>
          <p:cNvSpPr/>
          <p:nvPr/>
        </p:nvSpPr>
        <p:spPr>
          <a:xfrm>
            <a:off x="1438351" y="3005054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07-label63"/>
          <p:cNvSpPr txBox="1"/>
          <p:nvPr/>
        </p:nvSpPr>
        <p:spPr>
          <a:xfrm>
            <a:off x="1392631" y="297647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1800" dirty="0"/>
          </a:p>
        </p:txBody>
      </p:sp>
      <p:sp>
        <p:nvSpPr>
          <p:cNvPr id="21" name="S07-labelbg65"/>
          <p:cNvSpPr/>
          <p:nvPr/>
        </p:nvSpPr>
        <p:spPr>
          <a:xfrm>
            <a:off x="4555541" y="3005054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07-label66"/>
          <p:cNvSpPr txBox="1"/>
          <p:nvPr/>
        </p:nvSpPr>
        <p:spPr>
          <a:xfrm>
            <a:off x="4509821" y="297647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1800" dirty="0"/>
          </a:p>
        </p:txBody>
      </p:sp>
      <p:sp>
        <p:nvSpPr>
          <p:cNvPr id="23" name="S07-labelbg68"/>
          <p:cNvSpPr/>
          <p:nvPr/>
        </p:nvSpPr>
        <p:spPr>
          <a:xfrm>
            <a:off x="2996946" y="4225953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07-label69"/>
          <p:cNvSpPr txBox="1"/>
          <p:nvPr/>
        </p:nvSpPr>
        <p:spPr>
          <a:xfrm>
            <a:off x="2951226" y="419737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1800" dirty="0"/>
          </a:p>
        </p:txBody>
      </p:sp>
      <p:sp>
        <p:nvSpPr>
          <p:cNvPr id="25" name="S07-card70"/>
          <p:cNvSpPr/>
          <p:nvPr/>
        </p:nvSpPr>
        <p:spPr>
          <a:xfrm>
            <a:off x="6277356" y="1417574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7-cardtext71"/>
          <p:cNvSpPr txBox="1"/>
          <p:nvPr/>
        </p:nvSpPr>
        <p:spPr>
          <a:xfrm>
            <a:off x="6551676" y="1554734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 분립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권력을 세 기관이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맡는 것</a:t>
            </a:r>
            <a:endParaRPr lang="ko-KR" sz="2800" dirty="0"/>
          </a:p>
        </p:txBody>
      </p:sp>
      <p:sp>
        <p:nvSpPr>
          <p:cNvPr id="27" name="S07-card72"/>
          <p:cNvSpPr/>
          <p:nvPr/>
        </p:nvSpPr>
        <p:spPr>
          <a:xfrm>
            <a:off x="6277356" y="3167126"/>
            <a:ext cx="5362956" cy="1861820"/>
          </a:xfrm>
          <a:prstGeom prst="roundRect">
            <a:avLst>
              <a:gd name="adj" fmla="val 589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7-cardtext73"/>
          <p:cNvSpPr txBox="1"/>
          <p:nvPr/>
        </p:nvSpPr>
        <p:spPr>
          <a:xfrm>
            <a:off x="6551676" y="3304286"/>
            <a:ext cx="4814316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살피고 막아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곳이 마음대로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못하게 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반이 더 공정할까?</a:t>
            </a:r>
            <a:endParaRPr lang="ko-KR" sz="4000" dirty="0"/>
          </a:p>
        </p:txBody>
      </p:sp>
      <p:sp>
        <p:nvSpPr>
          <p:cNvPr id="3" name="S08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반이 학급의 일을 정하는 방법이에요.</a:t>
            </a:r>
            <a:endParaRPr lang="ko-KR" sz="2800" dirty="0"/>
          </a:p>
        </p:txBody>
      </p:sp>
      <p:sp>
        <p:nvSpPr>
          <p:cNvPr id="5" name="S08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반이 더 공정할까요? 왜요?</a:t>
            </a:r>
            <a:endParaRPr lang="ko-KR" sz="2800" dirty="0"/>
          </a:p>
        </p:txBody>
      </p:sp>
      <p:sp>
        <p:nvSpPr>
          <p:cNvPr id="7" name="S08-chip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반장 혼자 규칙을 만들고,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규칙대로 반을 이끌고,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다툼도 혼자 판단해요.</a:t>
            </a:r>
            <a:endParaRPr lang="ko-KR" sz="2800" dirty="0"/>
          </a:p>
        </p:txBody>
      </p:sp>
      <p:sp>
        <p:nvSpPr>
          <p:cNvPr id="9" name="S08-chip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학급 회의에서 만들고,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반장은 규칙대로 반을 이끌고,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다툼은 선생님이 판단해요.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권력을 나누지 않으면?</a:t>
            </a:r>
            <a:endParaRPr lang="ko-KR" sz="4000" dirty="0"/>
          </a:p>
        </p:txBody>
      </p:sp>
      <p:sp>
        <p:nvSpPr>
          <p:cNvPr id="3" name="S09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마음대로 할 수 있을까요? 누가 손해를 볼까요?</a:t>
            </a:r>
            <a:endParaRPr lang="ko-KR" sz="2800" dirty="0"/>
          </a:p>
        </p:txBody>
      </p:sp>
      <p:sp>
        <p:nvSpPr>
          <p:cNvPr id="5" name="S09-chip8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8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법도 만들고 재판도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한다면 어떤 문제가 생길까요?</a:t>
            </a:r>
            <a:endParaRPr lang="ko-KR" sz="2800" dirty="0"/>
          </a:p>
        </p:txBody>
      </p:sp>
      <p:sp>
        <p:nvSpPr>
          <p:cNvPr id="7" name="S09-chip8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8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국회가 정부의 일을 살피는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800" dirty="0"/>
          </a:p>
        </p:txBody>
      </p:sp>
      <p:sp>
        <p:nvSpPr>
          <p:cNvPr id="9" name="S09-chip8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8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법원이 다른 기관과 따로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속 국가 기관 찾기</a:t>
            </a:r>
            <a:endParaRPr lang="ko-KR" sz="4000" dirty="0"/>
          </a:p>
        </p:txBody>
      </p:sp>
      <p:sp>
        <p:nvSpPr>
          <p:cNvPr id="3" name="S10-card90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91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기관의 소식을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무슨 일을 했는지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기관이 하는 일과 이었어요</a:t>
            </a:r>
            <a:endParaRPr lang="ko-KR" sz="2800" dirty="0"/>
          </a:p>
        </p:txBody>
      </p:sp>
      <p:sp>
        <p:nvSpPr>
          <p:cNvPr id="5" name="S10-stepno92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0-text93"/>
          <p:cNvSpPr txBox="1"/>
          <p:nvPr/>
        </p:nvSpPr>
        <p:spPr>
          <a:xfrm>
            <a:off x="1325880" y="1789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부모님과 어린이 신문이나 뉴스를 봐요.</a:t>
            </a:r>
            <a:endParaRPr lang="ko-KR" sz="2800" dirty="0"/>
          </a:p>
        </p:txBody>
      </p:sp>
      <p:sp>
        <p:nvSpPr>
          <p:cNvPr id="7" name="S10-stepno94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0-text95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국회·정부·법원이 나온 소식을 찾아요.</a:t>
            </a:r>
            <a:endParaRPr lang="ko-KR" sz="2800" dirty="0"/>
          </a:p>
        </p:txBody>
      </p:sp>
      <p:sp>
        <p:nvSpPr>
          <p:cNvPr id="9" name="S10-stepno96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0-text97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기관이 무슨 일을 했는지 적어요.</a:t>
            </a:r>
            <a:endParaRPr lang="ko-KR" sz="2800" dirty="0"/>
          </a:p>
        </p:txBody>
      </p:sp>
      <p:sp>
        <p:nvSpPr>
          <p:cNvPr id="11" name="S10-stepno98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0-text99"/>
          <p:cNvSpPr txBox="1"/>
          <p:nvPr/>
        </p:nvSpPr>
        <p:spPr>
          <a:xfrm>
            <a:off x="1325880" y="4886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만든 일, 법에 따른 일, 재판 가운데 무엇인지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0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text10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국회·정부·법원이 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일을 하나씩 말해요.</a:t>
            </a:r>
            <a:endParaRPr lang="ko-KR" sz="2800" dirty="0"/>
          </a:p>
        </p:txBody>
      </p:sp>
      <p:sp>
        <p:nvSpPr>
          <p:cNvPr id="5" name="S11-chip102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text103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‘법에 따라 날씨를 살피고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예보해요.’는?</a:t>
            </a:r>
            <a:endParaRPr lang="ko-KR" sz="2800" dirty="0"/>
          </a:p>
        </p:txBody>
      </p:sp>
      <p:sp>
        <p:nvSpPr>
          <p:cNvPr id="7" name="S11-chip104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05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‘이웃끼리의 다툼을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재판해요.’는?</a:t>
            </a:r>
            <a:endParaRPr lang="ko-KR" sz="2800" dirty="0"/>
          </a:p>
        </p:txBody>
      </p:sp>
      <p:sp>
        <p:nvSpPr>
          <p:cNvPr id="9" name="S11-chip106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07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나라의 권력을 세 기관에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권력을 나누어 서로 살피면 국민의 자유와 권리를 지킬 수 있어요.</a:t>
            </a:r>
            <a:endParaRPr lang="ko-KR" sz="2800" dirty="0"/>
          </a:p>
        </p:txBody>
      </p:sp>
      <p:sp>
        <p:nvSpPr>
          <p:cNvPr id="5" name="S12-chip11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11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법 만들기 / 살림 / 재판</a:t>
            </a:r>
            <a:endParaRPr lang="ko-KR" sz="2800" dirty="0"/>
          </a:p>
        </p:txBody>
      </p:sp>
      <p:sp>
        <p:nvSpPr>
          <p:cNvPr id="7" name="S12-text112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정부</a:t>
            </a:r>
            <a:endParaRPr lang="ko-KR" sz="2800" dirty="0"/>
          </a:p>
        </p:txBody>
      </p:sp>
      <p:sp>
        <p:nvSpPr>
          <p:cNvPr id="8" name="S12-text113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법원</a:t>
            </a:r>
            <a:endParaRPr lang="ko-KR" sz="2800" dirty="0"/>
          </a:p>
        </p:txBody>
      </p:sp>
      <p:sp>
        <p:nvSpPr>
          <p:cNvPr id="9" name="S12-text114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마음대로 못 하게 견제</a:t>
            </a:r>
            <a:endParaRPr lang="ko-KR" sz="2800" dirty="0"/>
          </a:p>
        </p:txBody>
      </p:sp>
      <p:sp>
        <p:nvSpPr>
          <p:cNvPr id="10" name="S12-chip11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1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“대통령이 법을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만들어요”</a:t>
            </a:r>
            <a:endParaRPr lang="ko-KR" sz="2800" dirty="0"/>
          </a:p>
        </p:txBody>
      </p:sp>
      <p:sp>
        <p:nvSpPr>
          <p:cNvPr id="12" name="S12-text11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법은 국회가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</a:t>
            </a:r>
            <a:endParaRPr lang="ko-KR" sz="2200" dirty="0"/>
          </a:p>
        </p:txBody>
      </p:sp>
      <p:sp>
        <p:nvSpPr>
          <p:cNvPr id="13" name="S12-text11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곳이 다 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빨라서 좋아요”</a:t>
            </a:r>
            <a:endParaRPr lang="ko-KR" sz="2800" dirty="0"/>
          </a:p>
        </p:txBody>
      </p:sp>
      <p:sp>
        <p:nvSpPr>
          <p:cNvPr id="14" name="S12-text11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마음대로 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있어요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2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국회는 법을 만들고, 정부는 법에 따라 나라 살림을 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법원은 법에 따라 재판해요. 권력을 나누어 서로 살펴요.</a:t>
            </a:r>
            <a:endParaRPr lang="ko-KR" sz="2800" dirty="0"/>
          </a:p>
        </p:txBody>
      </p:sp>
      <p:sp>
        <p:nvSpPr>
          <p:cNvPr id="5" name="S13-chip12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기관이 하는 일을 법으로 구별하기</a:t>
            </a:r>
            <a:endParaRPr lang="ko-KR" sz="2200" dirty="0"/>
          </a:p>
        </p:txBody>
      </p:sp>
      <p:sp>
        <p:nvSpPr>
          <p:cNvPr id="6" name="S13-chip12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곳이 다 하면 좋다고 여기기</a:t>
            </a:r>
            <a:endParaRPr lang="ko-KR" sz="2200" dirty="0"/>
          </a:p>
        </p:txBody>
      </p:sp>
      <p:sp>
        <p:nvSpPr>
          <p:cNvPr id="7" name="S13-text12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2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법을 만드는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기관은?</a:t>
            </a:r>
            <a:endParaRPr lang="ko-KR" sz="2200" dirty="0"/>
          </a:p>
        </p:txBody>
      </p:sp>
      <p:sp>
        <p:nvSpPr>
          <p:cNvPr id="9" name="S13-text12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재판을 하는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기관은?</a:t>
            </a:r>
            <a:endParaRPr lang="ko-KR" sz="2200" dirty="0"/>
          </a:p>
        </p:txBody>
      </p:sp>
      <p:sp>
        <p:nvSpPr>
          <p:cNvPr id="10" name="S13-text12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권력을 나누는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까닭은?</a:t>
            </a:r>
            <a:endParaRPr lang="ko-KR" sz="2200" dirty="0"/>
          </a:p>
        </p:txBody>
      </p:sp>
      <p:sp>
        <p:nvSpPr>
          <p:cNvPr id="11" name="S13-text1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시민 참여와 선거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법이란?</a:t>
            </a:r>
            <a:endParaRPr lang="ko-KR" sz="4000" dirty="0"/>
          </a:p>
        </p:txBody>
      </p:sp>
      <p:sp>
        <p:nvSpPr>
          <p:cNvPr id="3" name="S14-card12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3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횡단보도 신호 지키기는 나라의 법(도로 교통에 관한 법)이에요.</a:t>
            </a:r>
            <a:endParaRPr lang="ko-KR" sz="2800" dirty="0"/>
          </a:p>
        </p:txBody>
      </p:sp>
      <p:sp>
        <p:nvSpPr>
          <p:cNvPr id="5" name="S14-card131"/>
          <p:cNvSpPr/>
          <p:nvPr/>
        </p:nvSpPr>
        <p:spPr>
          <a:xfrm>
            <a:off x="548640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32"/>
          <p:cNvSpPr txBox="1"/>
          <p:nvPr/>
        </p:nvSpPr>
        <p:spPr>
          <a:xfrm>
            <a:off x="822960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법의 뜻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나라에서 만든,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모두가 지켜야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약속</a:t>
            </a:r>
            <a:endParaRPr lang="ko-KR" sz="2800" dirty="0"/>
          </a:p>
        </p:txBody>
      </p:sp>
      <p:sp>
        <p:nvSpPr>
          <p:cNvPr id="7" name="S14-card133"/>
          <p:cNvSpPr/>
          <p:nvPr/>
        </p:nvSpPr>
        <p:spPr>
          <a:xfrm>
            <a:off x="4322064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34"/>
          <p:cNvSpPr txBox="1"/>
          <p:nvPr/>
        </p:nvSpPr>
        <p:spPr>
          <a:xfrm>
            <a:off x="4596384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법이 하는 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권리를 지키고,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질서를 지키고,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다툼을 해결해요.</a:t>
            </a:r>
            <a:endParaRPr lang="ko-KR" sz="2800" dirty="0"/>
          </a:p>
        </p:txBody>
      </p:sp>
      <p:sp>
        <p:nvSpPr>
          <p:cNvPr id="9" name="S14-card135"/>
          <p:cNvSpPr/>
          <p:nvPr/>
        </p:nvSpPr>
        <p:spPr>
          <a:xfrm>
            <a:off x="8095488" y="19618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36"/>
          <p:cNvSpPr txBox="1"/>
          <p:nvPr/>
        </p:nvSpPr>
        <p:spPr>
          <a:xfrm>
            <a:off x="8369808" y="20990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다른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법을 어기면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벌이나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제재를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국가 기관의 역할</dc:title>
  <dc:subject>KR22-G06-SOC-GOVERNMENT-L01</dc:subject>
  <dc:creator>education-ppt</dc:creator>
  <cp:lastModifiedBy>education-ppt</cp:lastModifiedBy>
  <cp:revision>1</cp:revision>
  <dcterms:created xsi:type="dcterms:W3CDTF">2026-10-26T13:43:10Z</dcterms:created>
  <dcterms:modified xsi:type="dcterms:W3CDTF">2026-10-26T13:43:10Z</dcterms:modified>
</cp:coreProperties>
</file>