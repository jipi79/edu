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35917d4-c271-5eaa-e9cc-3d85915ffb6c}">
          <p14:sldIdLst>
            <p14:sldId id="256"/>
            <p14:sldId id="257"/>
          </p14:sldIdLst>
        </p14:section>
        <p14:section name="개념" id="{499d6d21-9a08-e2ab-d990-86eca205dc29}">
          <p14:sldIdLst>
            <p14:sldId id="258"/>
            <p14:sldId id="259"/>
            <p14:sldId id="261"/>
            <p14:sldId id="262"/>
          </p14:sldIdLst>
        </p14:section>
        <p14:section name="연습" id="{ca8c0917-1fdf-f887-a949-b3c717dd4934}">
          <p14:sldIdLst>
            <p14:sldId id="260"/>
            <p14:sldId id="263"/>
            <p14:sldId id="264"/>
            <p14:sldId id="265"/>
          </p14:sldIdLst>
        </p14:section>
        <p14:section name="개념" id="{1160d239-b2d5-b0f6-2e80-84eab20be7a0}">
          <p14:sldIdLst/>
        </p14:section>
        <p14:section name="연습" id="{5a9d392c-4fe3-0210-f132-3c2bea653c01}">
          <p14:sldIdLst/>
        </p14:section>
        <p14:section name="확인" id="{da65a64a-febc-90f3-7929-c08124f365a7}">
          <p14:sldIdLst>
            <p14:sldId id="266"/>
          </p14:sldIdLst>
        </p14:section>
        <p14:section name="정리" id="{83a76050-accf-054c-edc6-9a1dae563b75}">
          <p14:sldIdLst>
            <p14:sldId id="267"/>
          </p14:sldIdLst>
        </p14:section>
        <p14:section name="보충" id="{be83674d-6a25-d9d1-9482-0d00c58474cd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민주주의와경제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국가 기관의 역할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국가 기관의 역할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사회·역사 · 국가 기관의 역할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 기관의 역할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나라의 일을 한 곳에서 모두 맡으면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일이 생길까요?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국회·정부·법원이 하는 일을 구별해요.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나라의 권력을 나누는 까닭을 설명해요.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법이란 무엇인가요?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법이 하는 일 하나는?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법과 규칙은 무엇이 다른가요?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나라의 일을 나누어 맡아요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기관 모두 ‘법’을 중심으로 일해요.</a:t>
            </a:r>
            <a:endParaRPr lang="ko-KR" sz="2800" dirty="0"/>
          </a:p>
        </p:txBody>
      </p:sp>
      <p:sp>
        <p:nvSpPr>
          <p:cNvPr id="5" name="S03-card11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(입법)</a:t>
            </a:r>
            <a:endParaRPr lang="ko-KR" sz="2800" dirty="0"/>
          </a:p>
        </p:txBody>
      </p:sp>
      <p:sp>
        <p:nvSpPr>
          <p:cNvPr id="7" name="S03-card13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법에 따라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 살림을 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(행정)</a:t>
            </a:r>
            <a:endParaRPr lang="ko-KR" sz="2800" dirty="0"/>
          </a:p>
        </p:txBody>
      </p:sp>
      <p:sp>
        <p:nvSpPr>
          <p:cNvPr id="9" name="S03-card15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6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법에 따라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(사법)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기관이 하는 일</a:t>
            </a:r>
            <a:endParaRPr lang="ko-KR" sz="4000" dirty="0"/>
          </a:p>
        </p:txBody>
      </p:sp>
      <p:sp>
        <p:nvSpPr>
          <p:cNvPr id="3" name="S04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 의원과 대통령은 국민이 선거로 뽑아요.</a:t>
            </a:r>
            <a:endParaRPr lang="ko-KR" sz="2800" dirty="0"/>
          </a:p>
        </p:txBody>
      </p:sp>
      <p:graphicFrame>
        <p:nvGraphicFramePr>
          <p:cNvPr id="5" name="S04-table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810766"/>
          <a:ext cx="10972800" cy="914400"/>
        </p:xfrm>
        <a:graphic>
          <a:graphicData uri="http://schemas.openxmlformats.org/drawingml/2006/table">
            <a:tbl>
              <a:tblPr/>
              <a:tblGrid>
                <a:gridCol w="1426464"/>
                <a:gridCol w="2962656"/>
                <a:gridCol w="6583680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누가?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국민이 뽑은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국회 의원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 만들기·고치기, 나라 살림 돈 확정,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정부가 일을 잘하는지 살피기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대통령, 국무총리,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교육·국방·환경 같은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나라 살림을 법에 따라 맡기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법관(판사)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다툼을 법에 따라 판단하기,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죄가 있는지 판단하기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기관의 일일까요?</a:t>
            </a:r>
            <a:endParaRPr lang="ko-KR" sz="4000" dirty="0"/>
          </a:p>
        </p:txBody>
      </p:sp>
      <p:sp>
        <p:nvSpPr>
          <p:cNvPr id="3" name="S05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 만들면 국회, 법에 따라 살림하면 정부, 재판하면 법원</a:t>
            </a:r>
            <a:endParaRPr lang="ko-KR" sz="2800" dirty="0"/>
          </a:p>
        </p:txBody>
      </p:sp>
      <p:sp>
        <p:nvSpPr>
          <p:cNvPr id="5" name="S05-chip2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5-text2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 안전을 위한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 새로 만들어요.</a:t>
            </a:r>
            <a:endParaRPr lang="ko-KR" sz="2800" dirty="0"/>
          </a:p>
        </p:txBody>
      </p:sp>
      <p:sp>
        <p:nvSpPr>
          <p:cNvPr id="7" name="S05-chip2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5-text2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감염병을 막으려고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예방 접종을 준비해요.</a:t>
            </a:r>
            <a:endParaRPr lang="ko-KR" sz="2800" dirty="0"/>
          </a:p>
        </p:txBody>
      </p:sp>
      <p:sp>
        <p:nvSpPr>
          <p:cNvPr id="9" name="S05-chip26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5-text27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물건값 다툼을 법에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판단해요.</a:t>
            </a:r>
            <a:endParaRPr lang="ko-KR" sz="2800" dirty="0"/>
          </a:p>
        </p:txBody>
      </p:sp>
      <p:sp>
        <p:nvSpPr>
          <p:cNvPr id="11" name="S05-chip28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5-text29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나라가 1년 동안 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돈을 확정해요.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법이 생활에 오기까지</a:t>
            </a:r>
            <a:endParaRPr lang="ko-KR" sz="4000" dirty="0"/>
          </a:p>
        </p:txBody>
      </p:sp>
      <p:sp>
        <p:nvSpPr>
          <p:cNvPr id="3" name="S06-text30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‘놀이터 기구를 정해진 때마다 검사한다’는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법이 생긴다면?</a:t>
            </a:r>
            <a:endParaRPr lang="ko-KR" sz="2800" dirty="0"/>
          </a:p>
        </p:txBody>
      </p:sp>
      <p:sp>
        <p:nvSpPr>
          <p:cNvPr id="4" name="S06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법을 두고 세 기관이 맡은 일을 해요.</a:t>
            </a:r>
            <a:endParaRPr lang="ko-KR" sz="2800" dirty="0"/>
          </a:p>
        </p:txBody>
      </p:sp>
      <p:sp>
        <p:nvSpPr>
          <p:cNvPr id="6" name="S06-step33"/>
          <p:cNvSpPr txBox="1"/>
          <p:nvPr/>
        </p:nvSpPr>
        <p:spPr>
          <a:xfrm>
            <a:off x="1293876" y="2834132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 만들어요</a:t>
            </a:r>
            <a:endParaRPr lang="ko-KR" sz="2200" dirty="0"/>
          </a:p>
        </p:txBody>
      </p:sp>
      <p:sp>
        <p:nvSpPr>
          <p:cNvPr id="7" name="S06-line34"/>
          <p:cNvSpPr/>
          <p:nvPr/>
        </p:nvSpPr>
        <p:spPr>
          <a:xfrm>
            <a:off x="4274820" y="374853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6-step35"/>
          <p:cNvSpPr txBox="1"/>
          <p:nvPr/>
        </p:nvSpPr>
        <p:spPr>
          <a:xfrm>
            <a:off x="4631436" y="2834132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법에 따라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놀이터를 검사해요</a:t>
            </a:r>
            <a:endParaRPr lang="ko-KR" sz="2200" dirty="0"/>
          </a:p>
        </p:txBody>
      </p:sp>
      <p:sp>
        <p:nvSpPr>
          <p:cNvPr id="9" name="S06-line36"/>
          <p:cNvSpPr/>
          <p:nvPr/>
        </p:nvSpPr>
        <p:spPr>
          <a:xfrm>
            <a:off x="7612380" y="374853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6-step37"/>
          <p:cNvSpPr txBox="1"/>
          <p:nvPr/>
        </p:nvSpPr>
        <p:spPr>
          <a:xfrm>
            <a:off x="7968996" y="2834132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법원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 어겨 생긴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다툼을 재판해요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권력을 나누어요</a:t>
            </a:r>
            <a:endParaRPr lang="ko-KR" sz="4000" dirty="0"/>
          </a:p>
        </p:txBody>
      </p:sp>
      <p:sp>
        <p:nvSpPr>
          <p:cNvPr id="3" name="S07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국민의 자유와 권리를 지킬 수 있어요.</a:t>
            </a:r>
            <a:endParaRPr lang="ko-KR" sz="2800" dirty="0"/>
          </a:p>
        </p:txBody>
      </p:sp>
      <p:sp>
        <p:nvSpPr>
          <p:cNvPr id="5" name="S07-figure40" descr="위에 국회(법을 만듦), 왼쪽 아래에 정부(나라 살림), 오른쪽 아래에 법원(재판)이 있다. 세 기관 사이를 양쪽 화살표가 잇고, 화살표마다 ‘견제’라고 쓰여 있다. 가운데 동그라미에 ‘국민’이 있다."/>
          <p:cNvSpPr/>
          <p:nvPr/>
        </p:nvSpPr>
        <p:spPr>
          <a:xfrm>
            <a:off x="2294961" y="1456853"/>
            <a:ext cx="1870314" cy="831251"/>
          </a:xfrm>
          <a:custGeom>
            <a:avLst/>
            <a:gdLst/>
            <a:ahLst/>
            <a:cxnLst/>
            <a:rect l="l" t="t" r="r" b="b"/>
            <a:pathLst>
              <a:path w="1870314" h="831251">
                <a:moveTo>
                  <a:pt x="0" y="831251"/>
                </a:moveTo>
                <a:lnTo>
                  <a:pt x="1870314" y="831251"/>
                </a:lnTo>
                <a:lnTo>
                  <a:pt x="1870314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AF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7-mark41"/>
          <p:cNvSpPr/>
          <p:nvPr/>
        </p:nvSpPr>
        <p:spPr>
          <a:xfrm>
            <a:off x="632460" y="4158417"/>
            <a:ext cx="1870314" cy="831251"/>
          </a:xfrm>
          <a:custGeom>
            <a:avLst/>
            <a:gdLst/>
            <a:ahLst/>
            <a:cxnLst/>
            <a:rect l="l" t="t" r="r" b="b"/>
            <a:pathLst>
              <a:path w="1870314" h="831251">
                <a:moveTo>
                  <a:pt x="0" y="831251"/>
                </a:moveTo>
                <a:lnTo>
                  <a:pt x="1870314" y="831251"/>
                </a:lnTo>
                <a:lnTo>
                  <a:pt x="1870314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FD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7-mark42"/>
          <p:cNvSpPr/>
          <p:nvPr/>
        </p:nvSpPr>
        <p:spPr>
          <a:xfrm>
            <a:off x="3957462" y="4158417"/>
            <a:ext cx="1870314" cy="831251"/>
          </a:xfrm>
          <a:custGeom>
            <a:avLst/>
            <a:gdLst/>
            <a:ahLst/>
            <a:cxnLst/>
            <a:rect l="l" t="t" r="r" b="b"/>
            <a:pathLst>
              <a:path w="1870314" h="831251">
                <a:moveTo>
                  <a:pt x="0" y="831251"/>
                </a:moveTo>
                <a:lnTo>
                  <a:pt x="1870314" y="831251"/>
                </a:lnTo>
                <a:lnTo>
                  <a:pt x="1870314" y="0"/>
                </a:lnTo>
                <a:lnTo>
                  <a:pt x="0" y="0"/>
                </a:lnTo>
                <a:close/>
              </a:path>
            </a:pathLst>
          </a:custGeom>
          <a:solidFill>
            <a:srgbClr val="F3E6A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7-mark43"/>
          <p:cNvSpPr/>
          <p:nvPr/>
        </p:nvSpPr>
        <p:spPr>
          <a:xfrm>
            <a:off x="2762540" y="2963494"/>
            <a:ext cx="935157" cy="935157"/>
          </a:xfrm>
          <a:prstGeom prst="ellipse">
            <a:avLst/>
          </a:pr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7-mark44"/>
          <p:cNvSpPr/>
          <p:nvPr/>
        </p:nvSpPr>
        <p:spPr>
          <a:xfrm flipH="1">
            <a:off x="1619570" y="2392009"/>
            <a:ext cx="779297" cy="1662501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headEnd type="triangle"/>
            <a:tailEnd type="triangle"/>
          </a:ln>
        </p:spPr>
      </p:sp>
      <p:sp>
        <p:nvSpPr>
          <p:cNvPr id="10" name="S07-mark45"/>
          <p:cNvSpPr/>
          <p:nvPr/>
        </p:nvSpPr>
        <p:spPr>
          <a:xfrm>
            <a:off x="4061369" y="2392009"/>
            <a:ext cx="779297" cy="1662501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headEnd type="triangle"/>
            <a:tailEnd type="triangle"/>
          </a:ln>
        </p:spPr>
      </p:sp>
      <p:sp>
        <p:nvSpPr>
          <p:cNvPr id="11" name="S07-mark46"/>
          <p:cNvSpPr/>
          <p:nvPr/>
        </p:nvSpPr>
        <p:spPr>
          <a:xfrm>
            <a:off x="2606680" y="4574042"/>
            <a:ext cx="1246876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headEnd type="triangle"/>
            <a:tailEnd type="triangle"/>
          </a:ln>
        </p:spPr>
      </p:sp>
      <p:sp>
        <p:nvSpPr>
          <p:cNvPr id="12" name="S07-label48"/>
          <p:cNvSpPr txBox="1"/>
          <p:nvPr/>
        </p:nvSpPr>
        <p:spPr>
          <a:xfrm>
            <a:off x="2901442" y="1541993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</a:t>
            </a:r>
            <a:endParaRPr lang="ko-KR" sz="2200" dirty="0"/>
          </a:p>
        </p:txBody>
      </p:sp>
      <p:sp>
        <p:nvSpPr>
          <p:cNvPr id="13" name="S07-label50"/>
          <p:cNvSpPr txBox="1"/>
          <p:nvPr/>
        </p:nvSpPr>
        <p:spPr>
          <a:xfrm>
            <a:off x="2692908" y="1911439"/>
            <a:ext cx="1074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 만듦</a:t>
            </a:r>
            <a:endParaRPr lang="ko-KR" sz="1800" dirty="0"/>
          </a:p>
        </p:txBody>
      </p:sp>
      <p:sp>
        <p:nvSpPr>
          <p:cNvPr id="14" name="S07-label52"/>
          <p:cNvSpPr txBox="1"/>
          <p:nvPr/>
        </p:nvSpPr>
        <p:spPr>
          <a:xfrm>
            <a:off x="1238941" y="4269534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</a:t>
            </a:r>
            <a:endParaRPr lang="ko-KR" sz="2200" dirty="0"/>
          </a:p>
        </p:txBody>
      </p:sp>
      <p:sp>
        <p:nvSpPr>
          <p:cNvPr id="15" name="S07-label54"/>
          <p:cNvSpPr txBox="1"/>
          <p:nvPr/>
        </p:nvSpPr>
        <p:spPr>
          <a:xfrm>
            <a:off x="1030407" y="4613003"/>
            <a:ext cx="1074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 살림</a:t>
            </a:r>
            <a:endParaRPr lang="ko-KR" sz="1800" dirty="0"/>
          </a:p>
        </p:txBody>
      </p:sp>
      <p:sp>
        <p:nvSpPr>
          <p:cNvPr id="16" name="S07-label56"/>
          <p:cNvSpPr txBox="1"/>
          <p:nvPr/>
        </p:nvSpPr>
        <p:spPr>
          <a:xfrm>
            <a:off x="4563943" y="4269534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법원</a:t>
            </a:r>
            <a:endParaRPr lang="ko-KR" sz="2200" dirty="0"/>
          </a:p>
        </p:txBody>
      </p:sp>
      <p:sp>
        <p:nvSpPr>
          <p:cNvPr id="17" name="S07-label58"/>
          <p:cNvSpPr txBox="1"/>
          <p:nvPr/>
        </p:nvSpPr>
        <p:spPr>
          <a:xfrm>
            <a:off x="4613727" y="461300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재판</a:t>
            </a:r>
            <a:endParaRPr lang="ko-KR" sz="1800" dirty="0"/>
          </a:p>
        </p:txBody>
      </p:sp>
      <p:sp>
        <p:nvSpPr>
          <p:cNvPr id="18" name="S07-label60"/>
          <p:cNvSpPr txBox="1"/>
          <p:nvPr/>
        </p:nvSpPr>
        <p:spPr>
          <a:xfrm>
            <a:off x="2901442" y="3256448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</a:t>
            </a:r>
            <a:endParaRPr lang="ko-KR" sz="2200" dirty="0"/>
          </a:p>
        </p:txBody>
      </p:sp>
      <p:sp>
        <p:nvSpPr>
          <p:cNvPr id="19" name="S07-labelbg62"/>
          <p:cNvSpPr/>
          <p:nvPr/>
        </p:nvSpPr>
        <p:spPr>
          <a:xfrm>
            <a:off x="1438351" y="3005054"/>
            <a:ext cx="466344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07-label63"/>
          <p:cNvSpPr txBox="1"/>
          <p:nvPr/>
        </p:nvSpPr>
        <p:spPr>
          <a:xfrm>
            <a:off x="1392631" y="2976479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견제</a:t>
            </a:r>
            <a:endParaRPr lang="ko-KR" sz="1800" dirty="0"/>
          </a:p>
        </p:txBody>
      </p:sp>
      <p:sp>
        <p:nvSpPr>
          <p:cNvPr id="21" name="S07-labelbg65"/>
          <p:cNvSpPr/>
          <p:nvPr/>
        </p:nvSpPr>
        <p:spPr>
          <a:xfrm>
            <a:off x="4555541" y="3005054"/>
            <a:ext cx="466344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07-label66"/>
          <p:cNvSpPr txBox="1"/>
          <p:nvPr/>
        </p:nvSpPr>
        <p:spPr>
          <a:xfrm>
            <a:off x="4509821" y="2976479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견제</a:t>
            </a:r>
            <a:endParaRPr lang="ko-KR" sz="1800" dirty="0"/>
          </a:p>
        </p:txBody>
      </p:sp>
      <p:sp>
        <p:nvSpPr>
          <p:cNvPr id="23" name="S07-labelbg68"/>
          <p:cNvSpPr/>
          <p:nvPr/>
        </p:nvSpPr>
        <p:spPr>
          <a:xfrm>
            <a:off x="2996946" y="4225953"/>
            <a:ext cx="466344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07-label69"/>
          <p:cNvSpPr txBox="1"/>
          <p:nvPr/>
        </p:nvSpPr>
        <p:spPr>
          <a:xfrm>
            <a:off x="2951226" y="4197378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견제</a:t>
            </a:r>
            <a:endParaRPr lang="ko-KR" sz="1800" dirty="0"/>
          </a:p>
        </p:txBody>
      </p:sp>
      <p:sp>
        <p:nvSpPr>
          <p:cNvPr id="25" name="S07-card70"/>
          <p:cNvSpPr/>
          <p:nvPr/>
        </p:nvSpPr>
        <p:spPr>
          <a:xfrm>
            <a:off x="6277356" y="1417574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S07-cardtext71"/>
          <p:cNvSpPr txBox="1"/>
          <p:nvPr/>
        </p:nvSpPr>
        <p:spPr>
          <a:xfrm>
            <a:off x="6551676" y="1554734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권력 분립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나라의 권력을 세 기관이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 맡는 것</a:t>
            </a:r>
            <a:endParaRPr lang="ko-KR" sz="2800" dirty="0"/>
          </a:p>
        </p:txBody>
      </p:sp>
      <p:sp>
        <p:nvSpPr>
          <p:cNvPr id="27" name="S07-card72"/>
          <p:cNvSpPr/>
          <p:nvPr/>
        </p:nvSpPr>
        <p:spPr>
          <a:xfrm>
            <a:off x="6277356" y="3167126"/>
            <a:ext cx="5362956" cy="1861820"/>
          </a:xfrm>
          <a:prstGeom prst="roundRect">
            <a:avLst>
              <a:gd name="adj" fmla="val 589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8" name="S07-cardtext73"/>
          <p:cNvSpPr txBox="1"/>
          <p:nvPr/>
        </p:nvSpPr>
        <p:spPr>
          <a:xfrm>
            <a:off x="6551676" y="3304286"/>
            <a:ext cx="4814316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살피고 막아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곳이 마음대로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 못하게 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반이 더 공정할까?</a:t>
            </a:r>
            <a:endParaRPr lang="ko-KR" sz="4000" dirty="0"/>
          </a:p>
        </p:txBody>
      </p:sp>
      <p:sp>
        <p:nvSpPr>
          <p:cNvPr id="3" name="S08-card7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7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반이 학급의 일을 정하는 방법이에요.</a:t>
            </a:r>
            <a:endParaRPr lang="ko-KR" sz="2800" dirty="0"/>
          </a:p>
        </p:txBody>
      </p:sp>
      <p:sp>
        <p:nvSpPr>
          <p:cNvPr id="5" name="S08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반이 더 공정할까요? 왜요?</a:t>
            </a:r>
            <a:endParaRPr lang="ko-KR" sz="2800" dirty="0"/>
          </a:p>
        </p:txBody>
      </p:sp>
      <p:sp>
        <p:nvSpPr>
          <p:cNvPr id="7" name="S08-chip7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7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반장 혼자 규칙을 만들고,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규칙대로 반을 이끌고,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다툼도 혼자 판단해요.</a:t>
            </a:r>
            <a:endParaRPr lang="ko-KR" sz="2800" dirty="0"/>
          </a:p>
        </p:txBody>
      </p:sp>
      <p:sp>
        <p:nvSpPr>
          <p:cNvPr id="9" name="S08-chip8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8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규칙은 학급 회의에서 만들고,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반장은 규칙대로 반을 이끌고,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다툼은 선생님이 판단해요.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권력을 나누지 않으면?</a:t>
            </a:r>
            <a:endParaRPr lang="ko-KR" sz="4000" dirty="0"/>
          </a:p>
        </p:txBody>
      </p:sp>
      <p:sp>
        <p:nvSpPr>
          <p:cNvPr id="3" name="S09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마음대로 할 수 있을까요? 누가 손해를 볼까요?</a:t>
            </a:r>
            <a:endParaRPr lang="ko-KR" sz="2800" dirty="0"/>
          </a:p>
        </p:txBody>
      </p:sp>
      <p:sp>
        <p:nvSpPr>
          <p:cNvPr id="5" name="S09-chip84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text85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사람이 법도 만들고 재판도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한다면 어떤 문제가 생길까요?</a:t>
            </a:r>
            <a:endParaRPr lang="ko-KR" sz="2800" dirty="0"/>
          </a:p>
        </p:txBody>
      </p:sp>
      <p:sp>
        <p:nvSpPr>
          <p:cNvPr id="7" name="S09-chip86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9-text87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국회가 정부의 일을 살피는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까닭은?</a:t>
            </a:r>
            <a:endParaRPr lang="ko-KR" sz="2800" dirty="0"/>
          </a:p>
        </p:txBody>
      </p:sp>
      <p:sp>
        <p:nvSpPr>
          <p:cNvPr id="9" name="S09-chip88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9-text89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법원이 다른 기관과 따로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재판하는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 속 국가 기관 찾기</a:t>
            </a:r>
            <a:endParaRPr lang="ko-KR" sz="4000" dirty="0"/>
          </a:p>
        </p:txBody>
      </p:sp>
      <p:sp>
        <p:nvSpPr>
          <p:cNvPr id="3" name="S10-card90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91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기관의 소식을 찾았어요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무슨 일을 했는지 적었어요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기관이 하는 일과 이었어요</a:t>
            </a:r>
            <a:endParaRPr lang="ko-KR" sz="2800" dirty="0"/>
          </a:p>
        </p:txBody>
      </p:sp>
      <p:sp>
        <p:nvSpPr>
          <p:cNvPr id="5" name="S10-stepno92"/>
          <p:cNvSpPr txBox="1"/>
          <p:nvPr/>
        </p:nvSpPr>
        <p:spPr>
          <a:xfrm>
            <a:off x="548640" y="1835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10-text93"/>
          <p:cNvSpPr txBox="1"/>
          <p:nvPr/>
        </p:nvSpPr>
        <p:spPr>
          <a:xfrm>
            <a:off x="1325880" y="17896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부모님과 어린이 신문이나 뉴스를 봐요.</a:t>
            </a:r>
            <a:endParaRPr lang="ko-KR" sz="2800" dirty="0"/>
          </a:p>
        </p:txBody>
      </p:sp>
      <p:sp>
        <p:nvSpPr>
          <p:cNvPr id="7" name="S10-stepno94"/>
          <p:cNvSpPr txBox="1"/>
          <p:nvPr/>
        </p:nvSpPr>
        <p:spPr>
          <a:xfrm>
            <a:off x="548640" y="286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10-text95"/>
          <p:cNvSpPr txBox="1"/>
          <p:nvPr/>
        </p:nvSpPr>
        <p:spPr>
          <a:xfrm>
            <a:off x="1325880" y="28219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국회·정부·법원이 나온 소식을 찾아요.</a:t>
            </a:r>
            <a:endParaRPr lang="ko-KR" sz="2800" dirty="0"/>
          </a:p>
        </p:txBody>
      </p:sp>
      <p:sp>
        <p:nvSpPr>
          <p:cNvPr id="9" name="S10-stepno96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10-text97"/>
          <p:cNvSpPr txBox="1"/>
          <p:nvPr/>
        </p:nvSpPr>
        <p:spPr>
          <a:xfrm>
            <a:off x="1325880" y="38541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기관이 무슨 일을 했는지 적어요.</a:t>
            </a:r>
            <a:endParaRPr lang="ko-KR" sz="2800" dirty="0"/>
          </a:p>
        </p:txBody>
      </p:sp>
      <p:sp>
        <p:nvSpPr>
          <p:cNvPr id="11" name="S10-stepno98"/>
          <p:cNvSpPr txBox="1"/>
          <p:nvPr/>
        </p:nvSpPr>
        <p:spPr>
          <a:xfrm>
            <a:off x="548640" y="493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10-text99"/>
          <p:cNvSpPr txBox="1"/>
          <p:nvPr/>
        </p:nvSpPr>
        <p:spPr>
          <a:xfrm>
            <a:off x="1325880" y="488645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 만든 일, 법에 따른 일, 재판 가운데 무엇인지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10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text101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국회·정부·법원이 하는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일을 하나씩 말해요.</a:t>
            </a:r>
            <a:endParaRPr lang="ko-KR" sz="2800" dirty="0"/>
          </a:p>
        </p:txBody>
      </p:sp>
      <p:sp>
        <p:nvSpPr>
          <p:cNvPr id="5" name="S11-chip102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text103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‘법에 따라 날씨를 살피고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예보해요.’는?</a:t>
            </a:r>
            <a:endParaRPr lang="ko-KR" sz="2800" dirty="0"/>
          </a:p>
        </p:txBody>
      </p:sp>
      <p:sp>
        <p:nvSpPr>
          <p:cNvPr id="7" name="S11-chip104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text105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‘이웃끼리의 다툼을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재판해요.’는?</a:t>
            </a:r>
            <a:endParaRPr lang="ko-KR" sz="2800" dirty="0"/>
          </a:p>
        </p:txBody>
      </p:sp>
      <p:sp>
        <p:nvSpPr>
          <p:cNvPr id="9" name="S11-chip106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1-text107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나라의 권력을 세 기관에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08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9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국회는 법을 만들고, 정부는 법에 따라 나라 살림을 하고,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법원은 법에 따라 재판해요. 권력을 나누어 서로 살펴요.</a:t>
            </a:r>
            <a:endParaRPr lang="ko-KR" sz="2800" dirty="0"/>
          </a:p>
        </p:txBody>
      </p:sp>
      <p:sp>
        <p:nvSpPr>
          <p:cNvPr id="5" name="S13-chip110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기관이 하는 일을 법으로 구별하기</a:t>
            </a:r>
            <a:endParaRPr lang="ko-KR" sz="2200" dirty="0"/>
          </a:p>
        </p:txBody>
      </p:sp>
      <p:sp>
        <p:nvSpPr>
          <p:cNvPr id="6" name="S13-chip111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 곳이 다 하면 좋다고 여기기</a:t>
            </a:r>
            <a:endParaRPr lang="ko-KR" sz="2200" dirty="0"/>
          </a:p>
        </p:txBody>
      </p:sp>
      <p:sp>
        <p:nvSpPr>
          <p:cNvPr id="7" name="S13-text112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13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법을 만드는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기관은?</a:t>
            </a:r>
            <a:endParaRPr lang="ko-KR" sz="2200" dirty="0"/>
          </a:p>
        </p:txBody>
      </p:sp>
      <p:sp>
        <p:nvSpPr>
          <p:cNvPr id="9" name="S13-text114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재판을 하는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기관은?</a:t>
            </a:r>
            <a:endParaRPr lang="ko-KR" sz="2200" dirty="0"/>
          </a:p>
        </p:txBody>
      </p:sp>
      <p:sp>
        <p:nvSpPr>
          <p:cNvPr id="10" name="S13-text115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권력을 나누는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까닭은?</a:t>
            </a:r>
            <a:endParaRPr lang="ko-KR" sz="2200" dirty="0"/>
          </a:p>
        </p:txBody>
      </p:sp>
      <p:sp>
        <p:nvSpPr>
          <p:cNvPr id="11" name="S13-text11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시민 참여와 선거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법이란?</a:t>
            </a:r>
            <a:endParaRPr lang="ko-KR" sz="4000" dirty="0"/>
          </a:p>
        </p:txBody>
      </p:sp>
      <p:sp>
        <p:nvSpPr>
          <p:cNvPr id="3" name="S14-card117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18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횡단보도 신호 지키기는 나라의 법(도로 교통에 관한 법)이에요.</a:t>
            </a:r>
            <a:endParaRPr lang="ko-KR" sz="2800" dirty="0"/>
          </a:p>
        </p:txBody>
      </p:sp>
      <p:sp>
        <p:nvSpPr>
          <p:cNvPr id="5" name="S14-card119"/>
          <p:cNvSpPr/>
          <p:nvPr/>
        </p:nvSpPr>
        <p:spPr>
          <a:xfrm>
            <a:off x="548640" y="19618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20"/>
          <p:cNvSpPr txBox="1"/>
          <p:nvPr/>
        </p:nvSpPr>
        <p:spPr>
          <a:xfrm>
            <a:off x="822960" y="20990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법의 뜻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나라에서 만든,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모두가 지켜야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약속</a:t>
            </a:r>
            <a:endParaRPr lang="ko-KR" sz="2800" dirty="0"/>
          </a:p>
        </p:txBody>
      </p:sp>
      <p:sp>
        <p:nvSpPr>
          <p:cNvPr id="7" name="S14-card121"/>
          <p:cNvSpPr/>
          <p:nvPr/>
        </p:nvSpPr>
        <p:spPr>
          <a:xfrm>
            <a:off x="4322064" y="19618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122"/>
          <p:cNvSpPr txBox="1"/>
          <p:nvPr/>
        </p:nvSpPr>
        <p:spPr>
          <a:xfrm>
            <a:off x="4596384" y="20990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법이 하는 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권리를 지키고,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질서를 지키고,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다툼을 해결해요.</a:t>
            </a:r>
            <a:endParaRPr lang="ko-KR" sz="2800" dirty="0"/>
          </a:p>
        </p:txBody>
      </p:sp>
      <p:sp>
        <p:nvSpPr>
          <p:cNvPr id="9" name="S14-card123"/>
          <p:cNvSpPr/>
          <p:nvPr/>
        </p:nvSpPr>
        <p:spPr>
          <a:xfrm>
            <a:off x="8095488" y="19618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124"/>
          <p:cNvSpPr txBox="1"/>
          <p:nvPr/>
        </p:nvSpPr>
        <p:spPr>
          <a:xfrm>
            <a:off x="8369808" y="20990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규칙과 다른 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 어기면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나라가 벌이나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제재를 줘요.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사회·역사 국가 기관의 역할</dc:title>
  <dc:subject>KR22-G06-SOC-GOVERNMENT-L01</dc:subject>
  <dc:creator>education-ppt</dc:creator>
  <cp:lastModifiedBy>education-ppt</cp:lastModifiedBy>
  <cp:revision>1</cp:revision>
  <dcterms:created xsi:type="dcterms:W3CDTF">2026-10-26T13:52:15Z</dcterms:created>
  <dcterms:modified xsi:type="dcterms:W3CDTF">2026-10-26T13:52:15Z</dcterms:modified>
</cp:coreProperties>
</file>