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f32566d-e4eb-1b82-1e6c-b22f7afa09f7}">
          <p14:sldIdLst>
            <p14:sldId id="256"/>
            <p14:sldId id="257"/>
          </p14:sldIdLst>
        </p14:section>
        <p14:section name="개념" id="{7f391c2b-2bd0-9e78-2c77-766caceffc4a}">
          <p14:sldIdLst>
            <p14:sldId id="258"/>
            <p14:sldId id="259"/>
            <p14:sldId id="263"/>
            <p14:sldId id="265"/>
          </p14:sldIdLst>
        </p14:section>
        <p14:section name="연습" id="{f52e1e36-cad0-f1a1-c62f-a79be8b1d2b4}">
          <p14:sldIdLst>
            <p14:sldId id="260"/>
            <p14:sldId id="261"/>
            <p14:sldId id="262"/>
            <p14:sldId id="264"/>
            <p14:sldId id="266"/>
          </p14:sldIdLst>
        </p14:section>
        <p14:section name="개념" id="{ab63f763-06cc-84ab-0c27-6892c235844d}">
          <p14:sldIdLst/>
        </p14:section>
        <p14:section name="연습" id="{e6a0a8f5-6903-9333-0c46-7b17071a8cf3}">
          <p14:sldIdLst/>
        </p14:section>
        <p14:section name="개념" id="{91f2c572-6e92-6a86-442f-f6100c9cc585}">
          <p14:sldIdLst/>
        </p14:section>
        <p14:section name="연습" id="{69527221-1a5f-2ea5-255f-f70509446a57}">
          <p14:sldIdLst/>
        </p14:section>
        <p14:section name="확인" id="{765a1a7c-af25-66d7-53cd-a29804d0d9d4}">
          <p14:sldIdLst>
            <p14:sldId id="267"/>
            <p14:sldId id="268"/>
            <p14:sldId id="269"/>
          </p14:sldIdLst>
        </p14:section>
        <p14:section name="정리" id="{7ea70830-8673-1ba7-e766-076ac0151047}">
          <p14:sldIdLst>
            <p14:sldId id="270"/>
          </p14:sldIdLst>
        </p14:section>
        <p14:section name="보충" id="{4cbd7812-02f5-f629-a548-758c9ddb46c1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우리 집이 물건을 사는 일이 경제 활동이라는 데 관심을 갖게 합니다.
시간: 약 2분
이렇게 말해 보세요
- “네 운동화는 누가 만들었을까? 우리는 어디에서 샀지? 그 돈은 어디에서 났을까?”
- “오늘은 우리 집(가계)과 회사(기업)가 시장에서 무엇을 주고받는지, 그리고 물건을 똑똑하게 고르는 방법을 배울 거야.”
예상 답
- “신발 회사가 만들었어요.” “인터넷으로 샀어요.” “엄마(아빠)가 일해서 번 돈이요.”
막히면
- 실제 운동화나 옷의 상표를 함께 보며 “여기 적힌 회사가 만들었어.”라고 알려 줍니다.
주의
- 별빛빵집, 민지네 가족, 화면의 값은 모두 수업을 위해 지어낸 예입니다. 우리 집이 이용한 시장은 S12와 활동지 5에서 직접 조사합니다.
- 집의 소득이나 씀씀이를 자세히 말할 필요는 없습니다. ‘일해서 번 돈으로 산다’는 정도로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확인(경제적 선택, 교환과 교류)]
목적: 5학년 ‘경제적 선택’(KR22-G05-SOC-SPENDING-L01)의 선택 기준과 4학년 ‘교환과 교류’(KR22-G04-SOC-TRADE-L01)의 생산·소비·교환을 기억하는지 확인합니다. 오늘은 가계와 기업, 시장, 합리적 선택으로 이어집니다.
시간: 약 3분
이렇게 말해 보세요
- “앞에서 배운 경제 이야기를 떠올려 보자. 세 가지를 물어볼게.”
정답
- ① 생산: 필요한 것을 기르거나 만들거나 서비스를 주는 일 / 소비: 생산한 것을 사서 쓰는 일
- ② 꼭 필요한가, 값, 품질(튼튼한가), 오래 쓸 수 있는가 가운데 하나
- ③ 지역마다 생산하는 것이 달라서, 서로 필요한 것을 얻으려고(서로 이익)
- 기준: 앞 차시의 표현과 조금 달라도 뜻이 맞으면 맞음
막히면
- ①②를 어려워하면 S16(보충)을 먼저 합니다. 보충으로도 어려우면 ‘경제적 선택’(KR22-G05-SOC-SPENDING-L01)이나 ‘교환과 교류’(KR22-G04-SOC-TRADE-L01)를 다시 합니다.
- ③은 “너른들마을은 쌀을, 물빛마을은 김을 바꾸었지? 왜 그랬어?”라고 4학년 때의 예로 묻습니다.
주의
- ②의 ‘기준을 세워 고르기’는 오늘 S10~S11의 합리적 선택으로 바로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가계와 기업의 뜻]
목적: 가계와 기업의 뜻과 이윤의 뜻을 알려 줍니다(목표 A).
시간: 약 2분
이렇게 말해 보세요
- “우리 집처럼 함께 살림하는 곳을 ‘가계’라고 해. 가계는 주로 무엇을 할까?”
- “과자 회사, 빵집, 병원처럼 물건이나 서비스를 만들어 파는 곳을 ‘기업’이라고 해. 기업은 왜 물건을 만들어 팔까?”
예상 답
- “물건을 사요.” “돈을 벌려고요.”
막히면
- “동네 빵집 사장님은 빵을 왜 구울까?”라고 가까운 가게로 묻습니다.
주의
- 가계는 물건을 사서 쓰는 소비의 주체, 기업은 물건과 서비스를 만드는 생산의 주체입니다. 4학년 때 배운 ‘생산과 소비’와 이어 줍니다.
- 작은 가게도 물건을 만들어 팔아 이윤을 얻으려 하면 기업입니다.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가계와 기업이 주고받는 것(그림)]
목적: 가계와 기업이 주고받는 네 가지(물건·서비스, 물건값, 일, 임금)를 그림으로 보여 줍니다(목표 A, 오해 M1).
시간: 약 3분
이렇게 말해 보세요
- “위의 두 화살표부터 보자. 기업은 가계에 무엇을 주고, 가계는 기업에 무엇을 줘?”
- “아래 두 화살표는 일할 때야. 엄마(아빠)가 회사에 무엇을 주고, 회사는 무엇을 줘?”
- “가계는 돈을 쓰기만 할까? 기업은 돈을 벌기만 할까?”
예상 답
- “기업은 물건을 주고, 가계는 돈을 줘요.” “엄마는 일을 하고 월급을 받아요.” “둘 다 돈을 받기도 하고 쓰기도 해요.”
막히면
- 손가락으로 화살표를 하나씩 따라가며 “어디에서 어디로 가?”라고 묻습니다.
주의
- ‘임금’은 일한 대가로 받는 돈(월급)입니다. 가계는 임금 말고도 다른 소득이 있을 수 있지만 오늘은 임금만 다룹니다.
- 일자리를 구하고 사람을 뽑는 것도 시장(노동 시장)에서 이루어진다고 S08에서 다시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생활 사례를 가계와 기업의 일로 나누기]
목적: 생활 사례를 가계와 기업의 일로 나누고, 무엇을 주고받는지 말합니다(목표 A, 오해 M1).
시간: 약 3분
이렇게 말해 보세요
- “①부터 가계의 일인지 기업의 일인지 말하고, S04 그림의 어느 화살표인지도 짚어 줘.”
정답
- ① 가계(일을 주고 임금을 받아요 – 아래 두 화살표)
- ② 기업(물건을 만들어 팔아요 – 위의 물건·서비스 화살표)
- ③ 가계(물건값을 주고 물건을 사요 – 위의 두 화살표)
- ④ 기업(일자리를 주고 임금을 줘요 – 아래 두 화살표)
막히면
- S04의 그림을 다시 보여 주고 “이 사람은 집 쪽이야, 회사 쪽이야?”라고 묻습니다.
주의
- ①처럼 한 사람이 회사에서 일할 때는 가계의 한 사람으로서 일을 주는 것입니다. 회사 안에서 일하지만 가계의 경제 활동이라는 점을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기업의 이윤 계산과 기업의 선택]
목적: 지어낸 빵집의 예로 이윤을 계산하고, 기업이 이윤을 늘리려고 어떤 선택을 하는지, 손님은 무엇을 얻는지 말합니다(목표 A).
시간: 약 3분
이렇게 말해 보세요
- “①, 판 돈에서 든 돈을 빼면 돼. 300,000 빼기 180,000은?”
- “②, 빵집 사장님이라면 손님이 더 많이 사게 하려고 무엇을 해 볼까?”
- “③, 손님은 돈을 냈지. 대신 무엇을 얻었어?”
정답
- ① 300,000 − 180,000 = 120,000, 120,000원
- ② 예: 손님이 좋아하는 빵을 더 만들기, 맛과 품질을 좋게 하기, 재료를 낭비하지 않기 (까닭이 있으면 맞음)
- ③ 먹고 싶은(필요한) 빵
막히면
- ①은 “30만 빼기 18만”으로 만 원 단위로 바꾸어 계산하게 합니다(30 − 18 = 12, 12만 원).
주의
- ②에서 ‘값을 마구 올린다’고 하면 “그럼 손님은 어떻게 할까?”라고 물어, 기업도 손님(가계)이 원하는 것을 생각해야 한다는 데로 이어 줍니다.
- 별빛빵집과 금액은 지어낸 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오해 비교(사고팔면 누가 이익일까)]
목적: 사고팔면 가계와 기업이 모두 필요한 것을 얻어 서로 이익이라는 것을 말하게 합니다(목표 A, 오해 M2).
시간: 약 2분
이렇게 말해 보세요
- “민지네 가족은 4,000원을 냈어. 대신 무엇을 얻었지? 그 빵이 4,000원보다 더 필요하다고 생각했으니까 산 거겠지?”
- “4학년 때 너른들마을과 물빛마을이 쌀과 김을 바꾼 것과 닮은 점이 있을까?”
정답
- 나. 가족은 돈을 내고 필요한 빵을 얻었고, 빵집은 빵을 팔아 돈을 얻었으니 둘 다 원하는 것을 얻어 이익이에요.
- 기준: 두 쪽이 각각 얻은 것을 들어 말하면 잘함
막히면
- “빵집이 빵을 팔지 않으면, 가족은 빵을 먹을 수 있을까?”라고 반대로 묻습니다.
주의
- 값이 너무 비싸다고 느끼면 사지 않으면 됩니다. 그래서 기업도 알맞은 값을 정하려 한다고 짧게 말해 줍니다(값이 정해지는 원리는 다루지 않음).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보이는 시장과 보이지 않는 시장]
목적: 시장의 뜻을 넓히고, 보이는 시장과 보이지 않는 시장을 나누어 알려 줍니다(목표 B, 오해 M3).
시간: 약 2분
이렇게 말해 보세요
- “시장이라고 하면 무엇이 떠올라? 전통 시장만 시장일까?”
- “휴대 전화로 물건을 주문하면 파는 사람을 만나지 않아도 사고팔 수 있지? 이것도 시장이야. 눈에 보이는 장소가 없어서 ‘보이지 않는 시장’이라고 해.”
- “회사가 일할 사람을 뽑고, 사람들이 일자리를 구하는 것도 시장이야.”
예상 답
- “전통 시장, 마트요.” “인터넷 쇼핑도 시장이에요?”
막히면
- 최근에 산 물건 하나를 떠올리게 하고 “그때 파는 사람을 직접 만났어?”라고 묻습니다.
주의
- 이 밖에도 주식을 사고파는 시장, 다른 나라 돈을 바꾸는 시장 같은 보이지 않는 시장이 있습니다(궁금해하면 알려 주는 정도로).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시장의 예 나누기]
목적: 생활 속 시장의 예를 보이는 시장과 보이지 않는 시장으로 나누고 까닭을 말합니다(목표 B, 오해 M3).
시간: 약 2분
이렇게 말해 보세요
- “①부터 말하고, 파는 사람을 직접 만나는지도 말해 줘.”
정답
- ① 보이는 시장(직접 가서 보고 사요)
- ② 보이지 않는 시장(만나지 않고 앱으로 사요)
- ③ 보이지 않는 시장(텔레비전을 보고 전화나 앱으로 사요)
- ④ 보이는 시장(직접 가서 사요)
막히면
- S08의 두 카드에 적힌 예와 하나씩 견주어 봅니다.
주의
- 여기까지가 가계·기업과 시장을 배우는 부분입니다. 아이가 지치면 여기서 나누어 다음 날 S10부터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합리적 선택의 순서]
목적: 가계가 물건을 살 때 합리적으로 선택하는 순서를 알려 줍니다(목표 C, 오해 M4).
시간: 약 2분
이렇게 말해 보세요
- “5학년 때 용돈을 쓸 때 기준을 세웠지? 가계도 물건을 살 때 이 순서로 골라.”
- “‘비용’은 무엇을 얻으려고 내는 돈이나 시간이야. 같은 돈으로 더 만족스러운 것을 고르면 합리적 선택이야.”
- “합리적 선택은 무조건 가장 싼 것을 사는 걸까?”
예상 답
- “아니요. 싸도 금방 망가지면 손해예요.”
막히면
- “2,000원짜리 우산이 한 번 쓰고 망가지는 것과 5,000원짜리가 오래가는 것 중에 무엇이 나을까?”라고 묻습니다.
주의
- 기업도 무엇을 얼마나 만들지 합리적으로 선택합니다(S06의 빵집처럼). 오늘 연습은 가계의 선택으로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우리 집 물건 고르기(값 계산과 기준 비교)]
목적: 배송비를 더한 값을 계산하고 예산을 넘는 것을 가려낸 뒤, 기준으로 비교해 고르고 까닭을 말합니다(목표 C, 오해 M4).
시간: 약 4분
이렇게 말해 보세요
- “①, 나는 값만 보면 38,000원인데 집까지 보내 주는 값(배송비)이 따로 있어. 모두 얼마일까?”
- “②, 50,000원으로 살 수 있는 것은 무엇이야? 다는 왜 안 될까?”
- “③, 남은 두 개 가운데 무엇을 고를래? 어떤 기준으로?”
정답
- ① 38,000 + 3,000 = 41,000, 41,000원
- ② 가(45,000원)와 나(41,000원). 다는 52,000원으로 예산 50,000원을 넘어요.
- ③ 예: 나 – 모두 41,000원으로 가장 싸고 디자인도 좋아요. 남는 9,000원(50,000 − 41,000)은 저축할 수 있어요. / 가 – 신어 보고 발에 맞는지 확인할 수 있어요. 남는 돈은 5,000원(50,000 − 45,000)이에요.
- 기준: 배송비를 더해 계산하고, 기준 두 가지 이상으로 비교해 고른 까닭을 말하면 맞음. 고른 운동화는 아이마다 다를 수 있습니다.
막히면
- ①은 “38천에 3천을 더하면?”처럼 천 원 단위로 바꾸어 셉니다.
- ③은 “너에게 가장 중요한 것은 값이야, 발에 맞는 거야, 디자인이야?”라고 먼저 기준 하나를 고르게 합니다.
주의
- ‘다’가 마음에 들어도 예산을 넘으면 고를 수 없다는 것을 짚어 줍니다(희소성).
- 실제 운동화 값은 이와 다를 수 있습니다. 표의 값은 지어낸 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우리 집이 이용한 시장 조사(부모와 함께)]
목적: 부모와 함께 우리 집이 이번 주에 이용한 시장을 영수증·주문 기록으로 조사해, 보이는 시장과 보이지 않는 시장으로 나누어 기록합니다(목표 B).
시간: 약 2분(조사는 수업 뒤에)
이렇게 말해 보세요
- “이번 주에 우리 집이 산 것을 떠올려 볼까? 영수증이나 휴대 전화 주문 기록을 같이 보자.”
- “이건 직접 가서 샀어, 주문해서 받았어? 왜 거기서 샀는지 엄마(아빠)께 여쭈어 봐.”
예상 답
- 예: “우유는 동네 마트(보이는 시장), 휴지는 인터넷 쇼핑(보이지 않는 시장). 휴지는 무거워서 집으로 받으려고 인터넷으로 샀대요.”
정답
- 기준: ① 물건 네 가지와 산 곳을 적음 ② 보이는 시장과 보이지 않는 시장으로 바르게 나눔 ③ 그 시장을 고른 까닭을 여쭈어 적음. 세 가지를 모두 하면 목표 B를 이룬 것으로 봅니다. 집마다 답이 다릅니다.
막히면
- 영수증이 없으면 냉장고와 욕실의 물건을 보며 “이건 어디에서 샀어요?”라고 부모님께 여쭙게 합니다.
주의
- 영수증과 주문 기록의 카드 번호, 주소, 전화번호는 부모가 먼저 가립니다. 금액은 보여 주지 않아도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혼자 해 보기(주고받는 것, 값 계산, 합리적 선택)]
목적: 가계와 기업이 주고받는 것, 배송비를 더한 값 계산, 기준으로 비교한 합리적 선택을 도움 없이 하는지 확인합니다(목표 A·C).
시간: 약 5분
이렇게 말해 보세요
- “이번에는 혼자 해 볼래? 오른쪽 표를 보고 ②③을 해 봐. 계산은 종이에 써도 돼.”
- “다 하면 왜 그렇게 골랐는지 말해 줘.”
정답
- ① 가계 → 기업: 일(노동), 물건값 / 기업 → 가계: 임금(소득), 물건·서비스 가운데 두 가지
- ② 48,000 + 4,000 = 52,000, 52,000원
- ③ 예: 가 – 밤에 잘 때 켜 두려면 조용한 것이 중요해서(55,000원, 예산 안) / 나 – 모두 52,000원으로 가보다 3,000원(55,000 − 52,000) 싸고 바람이 세서. 두 개 모두 예산 60,000원 안이에요.
- 기준: ①에서 두 가지, ②를 바르게 계산하고, ③에서 기준을 들어 까닭을 말하면 목표를 이룬 것으로 봅니다. 고른 선풍기는 아이마다 다를 수 있습니다.
막히면
- 바로 알려 주지 말고 ①은 “S04의 화살표를 떠올려 봐.”, ②는 “배송비를 빼먹지 않았니?”라고만 묻습니다.
- 도움을 받아 해결했다면 기록표에 ‘도움’으로 표시합니다.
주의
- ③에서 ‘싸니까’만 말하면 “값 말고 다른 기준도 볼까?”라고 한 번 더 묻습니다(오해 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정답과 피드백]
목적: S13의 답을 확인하고 흔한 실수와 견줍니다.
시간: 약 2분
이렇게 말해 보세요
- “네 답과 왼쪽을 견주어 보자. 오른쪽 두 생각은 무엇을 놓쳤을까?”
예상 답
- “배송비 4,000원을 더해야 해요.” “조용한 것도 중요해요.”
정답
- ① 일과 임금, 물건·서비스와 물건값 가운데 두 가지 ② 48,000 + 4,000 = 52,000원 ③ 기준을 들어 가나 나를 고르면 맞음
막히면
- ①은 S04, ②③은 S11을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다음 학습과 복습]
목적: 핵심을 정리하고 다음 수업 첫 5분에 풀 복습 질문을 알려 줍니다. ‘민주주의와 경제’ 묶음(국가 기관, 시민 참여와 선거, 가계와 기업)을 마무리합니다.
시간: 약 2분
이렇게 말해 보세요
- “다음에 우리 집이 물건을 살 때 네가 도울 수 있는 일은 무엇일까?”
예상 답
- “배송비까지 더해서 비교해 볼게요.” “기준을 먼저 정할게요.”
정답
- ① 일(노동), 물건값 가운데 하나 ② 인터넷 쇼핑, 홈 쇼핑, 일자리를 구하는 시장 가운데 하나 ③ 기준을 세워 비교해 적은 비용으로 큰 만족을 얻는 선택
막히면
- S04와 S10을 다시 보여 줍니다.
주의
- 활동지 5(우리 집이 이용한 시장)는 다음 수업 전까지 함께 해 두면 좋습니다.
- 다음 차시 ‘세계 여러 나라’는 새 묶음(세계와 공존)의 첫 차시입니다.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보충(생산과 소비, 기준으로 고르기 다시 보기)]
목적: S02에서 생산·소비나 기준으로 고르기를 어려워하면, 용돈 상황으로 다시 익히고 오늘 수업으로 이어 줍니다.
시간: 약 4분
이렇게 말해 보세요
- “①, 두 개를 모두 사려면 얼마가 필요해? 가진 돈은?”
- “②, 빵을 굽는 사람은 만드는 쪽이야, 사서 쓰는 쪽이야?”
- “③, 하나만 고른다면 무엇을 고를래? 어떤 기준으로 골랐어?”
정답
- ① 살 수 없어요. 3,000 + 2,500 = 5,500원이 필요한데 5,000원뿐이에요.
- ② 생산
- ③ 예: “공책이요. 숙제에 꼭 필요해서요.” (기준을 들어 말하면 맞음)
막히면
- 종이에 ‘1,000원’ 카드 다섯 장을 만들어 직접 놓아 보며 셉니다.
주의
- 이 차시의 계획상 선수 차시는 ‘경제적 선택’(KR22-G05-SOC-SPENDING-L01)과 ‘교환과 교류’(KR22-G04-SOC-TRADE-L01)입니다. 보충 뒤에도 흔들리면 그 차시들을 먼저 다시 하고 오늘 수업은 다음 날 S02부터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민주주의와경제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가계와 기업, 시장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가계와 기업, 시장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사회·역사 · 가계와 기업, 시장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가계와 기업, 시장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운동화는 누가 만들고,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어떻게 샀을까요?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가계와 기업이 하는 일과 주고받는 것을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시장을 나누고, 기준을 세워 합리적으로 골라요.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생산과 소비의 뜻은?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용돈을 쓸 때 고르는 기준 하나는?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지역끼리 물건을 교환하는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가계와 기업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이윤: 판 돈에서 만드는 데 든 돈을 빼고 남은 돈</a:t>
            </a:r>
            <a:endParaRPr lang="ko-KR" sz="2800" dirty="0"/>
          </a:p>
        </p:txBody>
      </p:sp>
      <p:sp>
        <p:nvSpPr>
          <p:cNvPr id="5" name="S03-card11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살림하는 집이에요.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일해서 번 돈(소득)으로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것을 사서 써요.</a:t>
            </a:r>
            <a:endParaRPr lang="ko-KR" sz="2800" dirty="0"/>
          </a:p>
        </p:txBody>
      </p:sp>
      <p:sp>
        <p:nvSpPr>
          <p:cNvPr id="7" name="S03-card13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물건이나 서비스를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 팔아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이윤을 얻으려 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가계와 기업이 주고받는 것</a:t>
            </a:r>
            <a:endParaRPr lang="ko-KR" sz="4000" dirty="0"/>
          </a:p>
        </p:txBody>
      </p:sp>
      <p:sp>
        <p:nvSpPr>
          <p:cNvPr id="3" name="S04-text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가계와 기업은 시장에서 서로 필요한 것을 주고받아요.</a:t>
            </a:r>
            <a:endParaRPr lang="ko-KR" sz="2800" dirty="0"/>
          </a:p>
        </p:txBody>
      </p:sp>
      <p:sp>
        <p:nvSpPr>
          <p:cNvPr id="4" name="S04-card16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7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가계는 일해서 번 돈으로 물건을 사고,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기업은 물건을 판 돈으로 임금을 줘요.</a:t>
            </a:r>
            <a:endParaRPr lang="ko-KR" sz="2800" dirty="0"/>
          </a:p>
        </p:txBody>
      </p:sp>
      <p:sp>
        <p:nvSpPr>
          <p:cNvPr id="6" name="S04-figure18" descr="왼쪽에 가계, 오른쪽에 기업 상자가 있다. 위에서부터 네 화살표: 기업에서 가계로 물건·서비스, 가계에서 기업으로 물건값(돈), 가계에서 기업으로 일(노동), 기업에서 가계로 임금(소득)."/>
          <p:cNvSpPr/>
          <p:nvPr/>
        </p:nvSpPr>
        <p:spPr>
          <a:xfrm>
            <a:off x="1739223" y="2095500"/>
            <a:ext cx="2322802" cy="2613152"/>
          </a:xfrm>
          <a:custGeom>
            <a:avLst/>
            <a:gdLst/>
            <a:ahLst/>
            <a:cxnLst/>
            <a:rect l="l" t="t" r="r" b="b"/>
            <a:pathLst>
              <a:path w="2322802" h="2613152">
                <a:moveTo>
                  <a:pt x="0" y="2613152"/>
                </a:moveTo>
                <a:lnTo>
                  <a:pt x="2322802" y="2613152"/>
                </a:lnTo>
                <a:lnTo>
                  <a:pt x="2322802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AF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mark19"/>
          <p:cNvSpPr/>
          <p:nvPr/>
        </p:nvSpPr>
        <p:spPr>
          <a:xfrm>
            <a:off x="8126928" y="2095500"/>
            <a:ext cx="2322802" cy="2613152"/>
          </a:xfrm>
          <a:custGeom>
            <a:avLst/>
            <a:gdLst/>
            <a:ahLst/>
            <a:cxnLst/>
            <a:rect l="l" t="t" r="r" b="b"/>
            <a:pathLst>
              <a:path w="2322802" h="2613152">
                <a:moveTo>
                  <a:pt x="0" y="2613152"/>
                </a:moveTo>
                <a:lnTo>
                  <a:pt x="2322802" y="2613152"/>
                </a:lnTo>
                <a:lnTo>
                  <a:pt x="2322802" y="0"/>
                </a:lnTo>
                <a:lnTo>
                  <a:pt x="0" y="0"/>
                </a:lnTo>
                <a:close/>
              </a:path>
            </a:pathLst>
          </a:custGeom>
          <a:solidFill>
            <a:srgbClr val="D9EFD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mark20"/>
          <p:cNvSpPr/>
          <p:nvPr/>
        </p:nvSpPr>
        <p:spPr>
          <a:xfrm flipH="1">
            <a:off x="4134612" y="2531025"/>
            <a:ext cx="3919728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9" name="S04-mark21"/>
          <p:cNvSpPr/>
          <p:nvPr/>
        </p:nvSpPr>
        <p:spPr>
          <a:xfrm>
            <a:off x="4134612" y="3111726"/>
            <a:ext cx="3919728" cy="0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0" name="S04-mark22"/>
          <p:cNvSpPr/>
          <p:nvPr/>
        </p:nvSpPr>
        <p:spPr>
          <a:xfrm>
            <a:off x="4134612" y="3837601"/>
            <a:ext cx="3919728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1" name="S04-mark23"/>
          <p:cNvSpPr/>
          <p:nvPr/>
        </p:nvSpPr>
        <p:spPr>
          <a:xfrm flipH="1">
            <a:off x="4134612" y="4418302"/>
            <a:ext cx="3919728" cy="0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2" name="S04-label25"/>
          <p:cNvSpPr txBox="1"/>
          <p:nvPr/>
        </p:nvSpPr>
        <p:spPr>
          <a:xfrm>
            <a:off x="2571948" y="3227451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</a:t>
            </a:r>
            <a:endParaRPr lang="ko-KR" sz="2200" dirty="0"/>
          </a:p>
        </p:txBody>
      </p:sp>
      <p:sp>
        <p:nvSpPr>
          <p:cNvPr id="13" name="S04-label27"/>
          <p:cNvSpPr txBox="1"/>
          <p:nvPr/>
        </p:nvSpPr>
        <p:spPr>
          <a:xfrm>
            <a:off x="8959652" y="3227451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</a:t>
            </a:r>
            <a:endParaRPr lang="ko-KR" sz="2200" dirty="0"/>
          </a:p>
        </p:txBody>
      </p:sp>
      <p:sp>
        <p:nvSpPr>
          <p:cNvPr id="14" name="S04-label29"/>
          <p:cNvSpPr txBox="1"/>
          <p:nvPr/>
        </p:nvSpPr>
        <p:spPr>
          <a:xfrm>
            <a:off x="5367528" y="2148611"/>
            <a:ext cx="14538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물건·서비스</a:t>
            </a:r>
            <a:endParaRPr lang="ko-KR" sz="1800" dirty="0"/>
          </a:p>
        </p:txBody>
      </p:sp>
      <p:sp>
        <p:nvSpPr>
          <p:cNvPr id="15" name="S04-label31"/>
          <p:cNvSpPr txBox="1"/>
          <p:nvPr/>
        </p:nvSpPr>
        <p:spPr>
          <a:xfrm>
            <a:off x="5454396" y="2729312"/>
            <a:ext cx="12801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물건값(돈)</a:t>
            </a:r>
            <a:endParaRPr lang="ko-KR" sz="1800" dirty="0"/>
          </a:p>
        </p:txBody>
      </p:sp>
      <p:sp>
        <p:nvSpPr>
          <p:cNvPr id="16" name="S04-label33"/>
          <p:cNvSpPr txBox="1"/>
          <p:nvPr/>
        </p:nvSpPr>
        <p:spPr>
          <a:xfrm>
            <a:off x="5566410" y="3455187"/>
            <a:ext cx="10561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일(노동)</a:t>
            </a:r>
            <a:endParaRPr lang="ko-KR" sz="1800" dirty="0"/>
          </a:p>
        </p:txBody>
      </p:sp>
      <p:sp>
        <p:nvSpPr>
          <p:cNvPr id="17" name="S04-label35"/>
          <p:cNvSpPr txBox="1"/>
          <p:nvPr/>
        </p:nvSpPr>
        <p:spPr>
          <a:xfrm>
            <a:off x="5454396" y="4035888"/>
            <a:ext cx="12801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임금(소득)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무엇을 할까요?</a:t>
            </a:r>
            <a:endParaRPr lang="ko-KR" sz="4000" dirty="0"/>
          </a:p>
        </p:txBody>
      </p:sp>
      <p:sp>
        <p:nvSpPr>
          <p:cNvPr id="3" name="S05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가계의 일인지 기업의 일인지 말해요.</a:t>
            </a:r>
            <a:endParaRPr lang="ko-KR" sz="2800" dirty="0"/>
          </a:p>
        </p:txBody>
      </p:sp>
      <p:sp>
        <p:nvSpPr>
          <p:cNvPr id="4" name="S05-card37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38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가계: 일해서 번 돈으로 사서 써요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기업: 만들어 팔고 임금을 줘요</a:t>
            </a:r>
            <a:endParaRPr lang="ko-KR" sz="2800" dirty="0"/>
          </a:p>
        </p:txBody>
      </p:sp>
      <p:sp>
        <p:nvSpPr>
          <p:cNvPr id="6" name="S05-chip39"/>
          <p:cNvSpPr txBox="1"/>
          <p:nvPr/>
        </p:nvSpPr>
        <p:spPr>
          <a:xfrm>
            <a:off x="548640" y="237769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text40"/>
          <p:cNvSpPr txBox="1"/>
          <p:nvPr/>
        </p:nvSpPr>
        <p:spPr>
          <a:xfrm>
            <a:off x="1344168" y="2011680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 엄마가 회사에서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일하고 월급을 받아요.</a:t>
            </a:r>
            <a:endParaRPr lang="ko-KR" sz="2800" dirty="0"/>
          </a:p>
        </p:txBody>
      </p:sp>
      <p:sp>
        <p:nvSpPr>
          <p:cNvPr id="8" name="S05-chip41"/>
          <p:cNvSpPr txBox="1"/>
          <p:nvPr/>
        </p:nvSpPr>
        <p:spPr>
          <a:xfrm>
            <a:off x="6277356" y="237769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text42"/>
          <p:cNvSpPr txBox="1"/>
          <p:nvPr/>
        </p:nvSpPr>
        <p:spPr>
          <a:xfrm>
            <a:off x="7072884" y="2011680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 회사가 과자를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 가게에 팔아요.</a:t>
            </a:r>
            <a:endParaRPr lang="ko-KR" sz="2800" dirty="0"/>
          </a:p>
        </p:txBody>
      </p:sp>
      <p:sp>
        <p:nvSpPr>
          <p:cNvPr id="10" name="S05-chip43"/>
          <p:cNvSpPr txBox="1"/>
          <p:nvPr/>
        </p:nvSpPr>
        <p:spPr>
          <a:xfrm>
            <a:off x="548640" y="385953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text44"/>
          <p:cNvSpPr txBox="1"/>
          <p:nvPr/>
        </p:nvSpPr>
        <p:spPr>
          <a:xfrm>
            <a:off x="1344168" y="3493516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민지네 가족이 마트에서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과자를 사요.</a:t>
            </a:r>
            <a:endParaRPr lang="ko-KR" sz="2800" dirty="0"/>
          </a:p>
        </p:txBody>
      </p:sp>
      <p:sp>
        <p:nvSpPr>
          <p:cNvPr id="12" name="S05-chip45"/>
          <p:cNvSpPr txBox="1"/>
          <p:nvPr/>
        </p:nvSpPr>
        <p:spPr>
          <a:xfrm>
            <a:off x="6277356" y="385953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5-text46"/>
          <p:cNvSpPr txBox="1"/>
          <p:nvPr/>
        </p:nvSpPr>
        <p:spPr>
          <a:xfrm>
            <a:off x="7072884" y="3493516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빵집이 제빵사를 뽑아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월급을 줘요.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별빛빵집의 하루</a:t>
            </a:r>
            <a:endParaRPr lang="ko-KR" sz="4000" dirty="0"/>
          </a:p>
        </p:txBody>
      </p:sp>
      <p:sp>
        <p:nvSpPr>
          <p:cNvPr id="3" name="S06-text47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별빛빵집은 오늘 빵을 팔아 300,000원을 받았고,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재료값과 임금 등으로 180,000원이 들었어요.</a:t>
            </a:r>
            <a:endParaRPr lang="ko-KR" sz="2800" dirty="0"/>
          </a:p>
        </p:txBody>
      </p:sp>
      <p:sp>
        <p:nvSpPr>
          <p:cNvPr id="4" name="S06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이윤 = 판 돈 − 든 돈</a:t>
            </a:r>
            <a:endParaRPr lang="ko-KR" sz="2800" dirty="0"/>
          </a:p>
        </p:txBody>
      </p:sp>
      <p:sp>
        <p:nvSpPr>
          <p:cNvPr id="6" name="S06-chip50"/>
          <p:cNvSpPr txBox="1"/>
          <p:nvPr/>
        </p:nvSpPr>
        <p:spPr>
          <a:xfrm>
            <a:off x="548640" y="248936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6-text51"/>
          <p:cNvSpPr txBox="1"/>
          <p:nvPr/>
        </p:nvSpPr>
        <p:spPr>
          <a:xfrm>
            <a:off x="1344168" y="2376424"/>
            <a:ext cx="10296144" cy="79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이윤은 얼마인가요?</a:t>
            </a:r>
            <a:endParaRPr lang="ko-KR" sz="2800" dirty="0"/>
          </a:p>
        </p:txBody>
      </p:sp>
      <p:sp>
        <p:nvSpPr>
          <p:cNvPr id="8" name="S06-chip52"/>
          <p:cNvSpPr txBox="1"/>
          <p:nvPr/>
        </p:nvSpPr>
        <p:spPr>
          <a:xfrm>
            <a:off x="548640" y="346506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6-text53"/>
          <p:cNvSpPr txBox="1"/>
          <p:nvPr/>
        </p:nvSpPr>
        <p:spPr>
          <a:xfrm>
            <a:off x="1344168" y="3352123"/>
            <a:ext cx="10296144" cy="79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이윤을 늘리려면 어떻게 할까요?</a:t>
            </a:r>
            <a:endParaRPr lang="ko-KR" sz="2800" dirty="0"/>
          </a:p>
        </p:txBody>
      </p:sp>
      <p:sp>
        <p:nvSpPr>
          <p:cNvPr id="10" name="S06-chip54"/>
          <p:cNvSpPr txBox="1"/>
          <p:nvPr/>
        </p:nvSpPr>
        <p:spPr>
          <a:xfrm>
            <a:off x="548640" y="4440767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6-text55"/>
          <p:cNvSpPr txBox="1"/>
          <p:nvPr/>
        </p:nvSpPr>
        <p:spPr>
          <a:xfrm>
            <a:off x="1344168" y="4327821"/>
            <a:ext cx="10296144" cy="79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손님은 무엇을 얻었나요?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이익일까?</a:t>
            </a:r>
            <a:endParaRPr lang="ko-KR" sz="4000" dirty="0"/>
          </a:p>
        </p:txBody>
      </p:sp>
      <p:sp>
        <p:nvSpPr>
          <p:cNvPr id="3" name="S07-card5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5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민지네 가족이 별빛빵집에서 빵을 4,000원에 샀어요.</a:t>
            </a:r>
            <a:endParaRPr lang="ko-KR" sz="2800" dirty="0"/>
          </a:p>
        </p:txBody>
      </p:sp>
      <p:sp>
        <p:nvSpPr>
          <p:cNvPr id="5" name="S07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생각이 더 알맞을까요? 왜요?</a:t>
            </a:r>
            <a:endParaRPr lang="ko-KR" sz="2800" dirty="0"/>
          </a:p>
        </p:txBody>
      </p:sp>
      <p:sp>
        <p:nvSpPr>
          <p:cNvPr id="7" name="S07-chip6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7-text6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“돈을 받은 빵집만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이익이에요.”</a:t>
            </a:r>
            <a:endParaRPr lang="ko-KR" sz="2800" dirty="0"/>
          </a:p>
        </p:txBody>
      </p:sp>
      <p:sp>
        <p:nvSpPr>
          <p:cNvPr id="9" name="S07-chip6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7-text6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“가족은 먹고 싶은 빵을,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빵집은 돈을 얻었으니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이익이에요.”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시장</a:t>
            </a:r>
            <a:endParaRPr lang="ko-KR" sz="4000" dirty="0"/>
          </a:p>
        </p:txBody>
      </p:sp>
      <p:sp>
        <p:nvSpPr>
          <p:cNvPr id="3" name="S08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시장: 물건이나 서비스를 사고파는 곳</a:t>
            </a:r>
            <a:endParaRPr lang="ko-KR" sz="2800" dirty="0"/>
          </a:p>
        </p:txBody>
      </p:sp>
      <p:sp>
        <p:nvSpPr>
          <p:cNvPr id="5" name="S08-card66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6" name="S08-cardtext67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 시장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가서 보고 사요.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전통 시장, 마트,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문구점</a:t>
            </a:r>
            <a:endParaRPr lang="ko-KR" sz="2800" dirty="0"/>
          </a:p>
        </p:txBody>
      </p:sp>
      <p:sp>
        <p:nvSpPr>
          <p:cNvPr id="7" name="S08-card68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8" name="S08-cardtext69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보이지 않는 시장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만나지 않고 사고팔아요.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인터넷 쇼핑, 홈 쇼핑,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일자리를 구하는 시장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시장일까요?</a:t>
            </a:r>
            <a:endParaRPr lang="ko-KR" sz="4000" dirty="0"/>
          </a:p>
        </p:txBody>
      </p:sp>
      <p:sp>
        <p:nvSpPr>
          <p:cNvPr id="3" name="S09-text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 시장인지, 보이지 않는 시장인지 말해요.</a:t>
            </a:r>
            <a:endParaRPr lang="ko-KR" sz="2800" dirty="0"/>
          </a:p>
        </p:txBody>
      </p:sp>
      <p:sp>
        <p:nvSpPr>
          <p:cNvPr id="4" name="S09-card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파는 사람을 직접 만나나요?</a:t>
            </a:r>
            <a:endParaRPr lang="ko-KR" sz="2800" dirty="0"/>
          </a:p>
        </p:txBody>
      </p:sp>
      <p:sp>
        <p:nvSpPr>
          <p:cNvPr id="6" name="S09-chip7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7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동네 전통 시장에서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고등어를 사요.</a:t>
            </a:r>
            <a:endParaRPr lang="ko-KR" sz="2800" dirty="0"/>
          </a:p>
        </p:txBody>
      </p:sp>
      <p:sp>
        <p:nvSpPr>
          <p:cNvPr id="8" name="S09-chip7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7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 전화 앱으로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책을 주문해요.</a:t>
            </a:r>
            <a:endParaRPr lang="ko-KR" sz="2800" dirty="0"/>
          </a:p>
        </p:txBody>
      </p:sp>
      <p:sp>
        <p:nvSpPr>
          <p:cNvPr id="10" name="S09-chip7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78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텔레비전 홈 쇼핑으로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이불을 사요.</a:t>
            </a:r>
            <a:endParaRPr lang="ko-KR" sz="2800" dirty="0"/>
          </a:p>
        </p:txBody>
      </p:sp>
      <p:sp>
        <p:nvSpPr>
          <p:cNvPr id="12" name="S09-chip79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9-text80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문구점에서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공책을 사요.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합리적 선택의 순서</a:t>
            </a:r>
            <a:endParaRPr lang="ko-KR" sz="4000" dirty="0"/>
          </a:p>
        </p:txBody>
      </p:sp>
      <p:sp>
        <p:nvSpPr>
          <p:cNvPr id="3" name="S10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합리적 선택: 기준을 세워 비교해 적은 비용으로 큰 만족을 얻는 것</a:t>
            </a:r>
            <a:endParaRPr lang="ko-KR" sz="2800" dirty="0"/>
          </a:p>
        </p:txBody>
      </p:sp>
      <p:sp>
        <p:nvSpPr>
          <p:cNvPr id="5" name="S10-stepno83"/>
          <p:cNvSpPr txBox="1"/>
          <p:nvPr/>
        </p:nvSpPr>
        <p:spPr>
          <a:xfrm>
            <a:off x="548640" y="1522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10-text84"/>
          <p:cNvSpPr txBox="1"/>
          <p:nvPr/>
        </p:nvSpPr>
        <p:spPr>
          <a:xfrm>
            <a:off x="1325880" y="152247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필요한지 정해요.</a:t>
            </a:r>
            <a:endParaRPr lang="ko-KR" sz="2800" dirty="0"/>
          </a:p>
        </p:txBody>
      </p:sp>
      <p:sp>
        <p:nvSpPr>
          <p:cNvPr id="7" name="S10-stepno85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10-text86"/>
          <p:cNvSpPr txBox="1"/>
          <p:nvPr/>
        </p:nvSpPr>
        <p:spPr>
          <a:xfrm>
            <a:off x="1325880" y="22357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정보를 모아요(값, 품질 등).</a:t>
            </a:r>
            <a:endParaRPr lang="ko-KR" sz="2800" dirty="0"/>
          </a:p>
        </p:txBody>
      </p:sp>
      <p:sp>
        <p:nvSpPr>
          <p:cNvPr id="9" name="S10-stepno87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10-text88"/>
          <p:cNvSpPr txBox="1"/>
          <p:nvPr/>
        </p:nvSpPr>
        <p:spPr>
          <a:xfrm>
            <a:off x="1325880" y="29489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정해 비교해요.</a:t>
            </a:r>
            <a:endParaRPr lang="ko-KR" sz="2800" dirty="0"/>
          </a:p>
        </p:txBody>
      </p:sp>
      <p:sp>
        <p:nvSpPr>
          <p:cNvPr id="11" name="S10-stepno89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10-text90"/>
          <p:cNvSpPr txBox="1"/>
          <p:nvPr/>
        </p:nvSpPr>
        <p:spPr>
          <a:xfrm>
            <a:off x="1325880" y="36621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알맞은 것을 골라요.</a:t>
            </a:r>
            <a:endParaRPr lang="ko-KR" sz="2800" dirty="0"/>
          </a:p>
        </p:txBody>
      </p:sp>
      <p:sp>
        <p:nvSpPr>
          <p:cNvPr id="13" name="S10-stepno91"/>
          <p:cNvSpPr txBox="1"/>
          <p:nvPr/>
        </p:nvSpPr>
        <p:spPr>
          <a:xfrm>
            <a:off x="548640" y="4375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14" name="S10-text92"/>
          <p:cNvSpPr txBox="1"/>
          <p:nvPr/>
        </p:nvSpPr>
        <p:spPr>
          <a:xfrm>
            <a:off x="1325880" y="437540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 뒤에 돌아봐요.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운동화 고르기</a:t>
            </a:r>
            <a:endParaRPr lang="ko-KR" sz="4000" dirty="0"/>
          </a:p>
        </p:txBody>
      </p:sp>
      <p:sp>
        <p:nvSpPr>
          <p:cNvPr id="3" name="S11-text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 운동화를 사요. 쓸 수 있는 돈(예산)은 50,000원이에요.</a:t>
            </a:r>
            <a:endParaRPr lang="ko-KR" sz="2800" dirty="0"/>
          </a:p>
        </p:txBody>
      </p:sp>
      <p:sp>
        <p:nvSpPr>
          <p:cNvPr id="4" name="S11-card94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95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나는 배송비까지 모두 얼마? ② 예산 안에서 살 수 있는 것은?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무엇을 고를까요? 기준과 까닭을 말해요.</a:t>
            </a:r>
            <a:endParaRPr lang="ko-KR" sz="2800" dirty="0"/>
          </a:p>
        </p:txBody>
      </p:sp>
      <p:graphicFrame>
        <p:nvGraphicFramePr>
          <p:cNvPr id="12" name="S11-table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105152"/>
          <a:ext cx="10972800" cy="914400"/>
        </p:xfrm>
        <a:graphic>
          <a:graphicData uri="http://schemas.openxmlformats.org/drawingml/2006/table">
            <a:tbl>
              <a:tblPr/>
              <a:tblGrid>
                <a:gridCol w="3072384"/>
                <a:gridCol w="2414016"/>
                <a:gridCol w="3072384"/>
                <a:gridCol w="2414016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 매장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 인터넷 쇼핑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 할인 매장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45,000원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38,000원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(배송비 3,000원)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52,000원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신어 볼 수 있나요?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튼튼한가요?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집이 이용한 시장</a:t>
            </a:r>
            <a:endParaRPr lang="ko-KR" sz="4000" dirty="0"/>
          </a:p>
        </p:txBody>
      </p:sp>
      <p:sp>
        <p:nvSpPr>
          <p:cNvPr id="3" name="S12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영수증의 카드 번호나 주소는 어른이 가린 뒤 봐요.</a:t>
            </a:r>
            <a:endParaRPr lang="ko-KR" sz="2800" dirty="0"/>
          </a:p>
        </p:txBody>
      </p:sp>
      <p:sp>
        <p:nvSpPr>
          <p:cNvPr id="5" name="S12-card99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2-cardtext100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물건 네 가지를 적었어요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시장을 바르게 나누었어요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그 시장을 고른 까닭을 알았어요</a:t>
            </a:r>
            <a:endParaRPr lang="ko-KR" sz="2800" dirty="0"/>
          </a:p>
        </p:txBody>
      </p:sp>
      <p:sp>
        <p:nvSpPr>
          <p:cNvPr id="7" name="S12-stepno101"/>
          <p:cNvSpPr txBox="1"/>
          <p:nvPr/>
        </p:nvSpPr>
        <p:spPr>
          <a:xfrm>
            <a:off x="548640" y="18125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12-text102"/>
          <p:cNvSpPr txBox="1"/>
          <p:nvPr/>
        </p:nvSpPr>
        <p:spPr>
          <a:xfrm>
            <a:off x="1325880" y="181254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주에 산 물건 네 가지를 떠올려요.</a:t>
            </a:r>
            <a:endParaRPr lang="ko-KR" sz="2200" dirty="0"/>
          </a:p>
        </p:txBody>
      </p:sp>
      <p:sp>
        <p:nvSpPr>
          <p:cNvPr id="9" name="S12-stepno103"/>
          <p:cNvSpPr txBox="1"/>
          <p:nvPr/>
        </p:nvSpPr>
        <p:spPr>
          <a:xfrm>
            <a:off x="548640" y="25257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12-text104"/>
          <p:cNvSpPr txBox="1"/>
          <p:nvPr/>
        </p:nvSpPr>
        <p:spPr>
          <a:xfrm>
            <a:off x="1325880" y="252577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영수증이나 주문 기록을 함께 봐요.</a:t>
            </a:r>
            <a:endParaRPr lang="ko-KR" sz="2200" dirty="0"/>
          </a:p>
        </p:txBody>
      </p:sp>
      <p:sp>
        <p:nvSpPr>
          <p:cNvPr id="11" name="S12-stepno105"/>
          <p:cNvSpPr txBox="1"/>
          <p:nvPr/>
        </p:nvSpPr>
        <p:spPr>
          <a:xfrm>
            <a:off x="548640" y="32390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12-text106"/>
          <p:cNvSpPr txBox="1"/>
          <p:nvPr/>
        </p:nvSpPr>
        <p:spPr>
          <a:xfrm>
            <a:off x="1325880" y="32390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샀는지 활동지 5에 적어요.</a:t>
            </a:r>
            <a:endParaRPr lang="ko-KR" sz="2200" dirty="0"/>
          </a:p>
        </p:txBody>
      </p:sp>
      <p:sp>
        <p:nvSpPr>
          <p:cNvPr id="13" name="S12-stepno107"/>
          <p:cNvSpPr txBox="1"/>
          <p:nvPr/>
        </p:nvSpPr>
        <p:spPr>
          <a:xfrm>
            <a:off x="548640" y="39979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4" name="S12-text108"/>
          <p:cNvSpPr txBox="1"/>
          <p:nvPr/>
        </p:nvSpPr>
        <p:spPr>
          <a:xfrm>
            <a:off x="1325880" y="3952240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 시장과 보이지 않는 시장으로 나누어요.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3-text10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선풍기를 사요. 예산은 60,000원이에요.</a:t>
            </a:r>
            <a:endParaRPr lang="ko-KR" sz="2800" dirty="0"/>
          </a:p>
        </p:txBody>
      </p:sp>
      <p:sp>
        <p:nvSpPr>
          <p:cNvPr id="4" name="S13-card110"/>
          <p:cNvSpPr/>
          <p:nvPr/>
        </p:nvSpPr>
        <p:spPr>
          <a:xfrm>
            <a:off x="6277356" y="2011680"/>
            <a:ext cx="5362956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111"/>
          <p:cNvSpPr txBox="1"/>
          <p:nvPr/>
        </p:nvSpPr>
        <p:spPr>
          <a:xfrm>
            <a:off x="6551676" y="2148840"/>
            <a:ext cx="48143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선풍기 비교</a:t>
            </a:r>
            <a:endParaRPr lang="ko-KR" sz="2800" dirty="0"/>
          </a:p>
        </p:txBody>
      </p:sp>
      <p:graphicFrame>
        <p:nvGraphicFramePr>
          <p:cNvPr id="14" name="S13-table1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1676" y="3317240"/>
          <a:ext cx="4814316" cy="914400"/>
        </p:xfrm>
        <a:graphic>
          <a:graphicData uri="http://schemas.openxmlformats.org/drawingml/2006/table">
            <a:tbl>
              <a:tblPr/>
              <a:tblGrid>
                <a:gridCol w="1636867"/>
                <a:gridCol w="1588724"/>
                <a:gridCol w="1588724"/>
              </a:tblGrid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 매장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 인터넷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55,000원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48,000원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배송비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4,000원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바람 세기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3단계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5단계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소리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조용함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조금 큼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3-chip11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8" name="S13-text114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가계와 기업이 주고받는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 두 가지는?</a:t>
            </a:r>
            <a:endParaRPr lang="ko-KR" sz="2800" dirty="0"/>
          </a:p>
        </p:txBody>
      </p:sp>
      <p:sp>
        <p:nvSpPr>
          <p:cNvPr id="9" name="S13-chip115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0" name="S13-text116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선풍기는 배송비까지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얼마인가요?</a:t>
            </a:r>
            <a:endParaRPr lang="ko-KR" sz="2800" dirty="0"/>
          </a:p>
        </p:txBody>
      </p:sp>
      <p:sp>
        <p:nvSpPr>
          <p:cNvPr id="11" name="S13-chip11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2" name="S13-text118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정해 하나를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 까닭을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4-card1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비용까지 계산하고, 기준을 세워 비교해 골라요.</a:t>
            </a:r>
            <a:endParaRPr lang="ko-KR" sz="2800" dirty="0"/>
          </a:p>
        </p:txBody>
      </p:sp>
      <p:sp>
        <p:nvSpPr>
          <p:cNvPr id="5" name="S14-chip12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4-text122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일↔임금,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물건↔물건값</a:t>
            </a:r>
            <a:endParaRPr lang="ko-KR" sz="2800" dirty="0"/>
          </a:p>
        </p:txBody>
      </p:sp>
      <p:sp>
        <p:nvSpPr>
          <p:cNvPr id="7" name="S14-text123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52,000원</a:t>
            </a:r>
            <a:endParaRPr lang="ko-KR" sz="2800" dirty="0"/>
          </a:p>
        </p:txBody>
      </p:sp>
      <p:sp>
        <p:nvSpPr>
          <p:cNvPr id="8" name="S14-text124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기준 + 까닭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(가·나 모두 가능)</a:t>
            </a:r>
            <a:endParaRPr lang="ko-KR" sz="2800" dirty="0"/>
          </a:p>
        </p:txBody>
      </p:sp>
      <p:sp>
        <p:nvSpPr>
          <p:cNvPr id="9" name="S14-chip12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0" name="S14-text126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48,000원”</a:t>
            </a:r>
            <a:endParaRPr lang="ko-KR" sz="2800" dirty="0"/>
          </a:p>
        </p:txBody>
      </p:sp>
      <p:sp>
        <p:nvSpPr>
          <p:cNvPr id="11" name="S14-text127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배송비를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빠뜨림</a:t>
            </a:r>
            <a:endParaRPr lang="ko-KR" sz="2200" dirty="0"/>
          </a:p>
        </p:txBody>
      </p:sp>
      <p:sp>
        <p:nvSpPr>
          <p:cNvPr id="12" name="S14-text128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“싼 게 무조건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좋아요”</a:t>
            </a:r>
            <a:endParaRPr lang="ko-KR" sz="2800" dirty="0"/>
          </a:p>
        </p:txBody>
      </p:sp>
      <p:sp>
        <p:nvSpPr>
          <p:cNvPr id="13" name="S14-text12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기준도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살펴요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130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31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가계와 기업은 시장에서 일과 임금, 물건과 물건값을 주고받아요.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세워 비교하면 합리적으로 고를 수 있어요.</a:t>
            </a:r>
            <a:endParaRPr lang="ko-KR" sz="2800" dirty="0"/>
          </a:p>
        </p:txBody>
      </p:sp>
      <p:sp>
        <p:nvSpPr>
          <p:cNvPr id="5" name="S15-chip132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추가 비용까지 계산해 비교하기</a:t>
            </a:r>
            <a:endParaRPr lang="ko-KR" sz="2200" dirty="0"/>
          </a:p>
        </p:txBody>
      </p:sp>
      <p:sp>
        <p:nvSpPr>
          <p:cNvPr id="6" name="S15-chip133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가장 싼 것이 늘 좋다고 여기기</a:t>
            </a:r>
            <a:endParaRPr lang="ko-KR" sz="2200" dirty="0"/>
          </a:p>
        </p:txBody>
      </p:sp>
      <p:sp>
        <p:nvSpPr>
          <p:cNvPr id="7" name="S15-text134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5-text135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가계가 기업에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주는 것 하나는?</a:t>
            </a:r>
            <a:endParaRPr lang="ko-KR" sz="2200" dirty="0"/>
          </a:p>
        </p:txBody>
      </p:sp>
      <p:sp>
        <p:nvSpPr>
          <p:cNvPr id="9" name="S15-text136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보이지 않는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시장의 예는?</a:t>
            </a:r>
            <a:endParaRPr lang="ko-KR" sz="2200" dirty="0"/>
          </a:p>
        </p:txBody>
      </p:sp>
      <p:sp>
        <p:nvSpPr>
          <p:cNvPr id="10" name="S15-text137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합리적 선택이란?</a:t>
            </a:r>
            <a:endParaRPr lang="ko-KR" sz="2200" dirty="0"/>
          </a:p>
        </p:txBody>
      </p:sp>
      <p:sp>
        <p:nvSpPr>
          <p:cNvPr id="11" name="S15-text13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세계 여러 나라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생산, 소비, 선택</a:t>
            </a:r>
            <a:endParaRPr lang="ko-KR" sz="4000" dirty="0"/>
          </a:p>
        </p:txBody>
      </p:sp>
      <p:sp>
        <p:nvSpPr>
          <p:cNvPr id="3" name="S16-text1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용돈 5,000원이 있어요.</a:t>
            </a:r>
            <a:endParaRPr lang="ko-KR" sz="2800" dirty="0"/>
          </a:p>
        </p:txBody>
      </p:sp>
      <p:sp>
        <p:nvSpPr>
          <p:cNvPr id="4" name="S16-card1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6-cardtext1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생산: 만들거나 서비스를 줘요 / 소비: 사서 써요</a:t>
            </a:r>
            <a:endParaRPr lang="ko-KR" sz="2800" dirty="0"/>
          </a:p>
        </p:txBody>
      </p:sp>
      <p:sp>
        <p:nvSpPr>
          <p:cNvPr id="6" name="S16-chip14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6-text14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3,000원짜리 공책과 2,500원짜리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펜을 모두 살 수 있나요?</a:t>
            </a:r>
            <a:endParaRPr lang="ko-KR" sz="2800" dirty="0"/>
          </a:p>
        </p:txBody>
      </p:sp>
      <p:sp>
        <p:nvSpPr>
          <p:cNvPr id="8" name="S16-chip14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6-text14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빵집에서 빵을 굽는 것은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생산일까요, 소비일까요?</a:t>
            </a:r>
            <a:endParaRPr lang="ko-KR" sz="2800" dirty="0"/>
          </a:p>
        </p:txBody>
      </p:sp>
      <p:sp>
        <p:nvSpPr>
          <p:cNvPr id="10" name="S16-chip14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6-text14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하나만 고른다면 무엇을? 기준은?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사회·역사 가계와 기업, 시장</dc:title>
  <dc:subject>KR22-G06-SOC-MARKET-L01</dc:subject>
  <dc:creator>education-ppt</dc:creator>
  <cp:lastModifiedBy>education-ppt</cp:lastModifiedBy>
  <cp:revision>1</cp:revision>
  <dcterms:created xsi:type="dcterms:W3CDTF">2026-10-26T13:52:20Z</dcterms:created>
  <dcterms:modified xsi:type="dcterms:W3CDTF">2026-10-26T13:52:20Z</dcterms:modified>
</cp:coreProperties>
</file>