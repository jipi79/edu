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8cb48d4-39aa-0594-bec0-95de716d7175}">
          <p14:sldIdLst>
            <p14:sldId id="256"/>
            <p14:sldId id="257"/>
          </p14:sldIdLst>
        </p14:section>
        <p14:section name="개념" id="{9c9651d2-8c5c-4ece-6cc0-8e21b50dbc30}">
          <p14:sldIdLst>
            <p14:sldId id="258"/>
            <p14:sldId id="259"/>
            <p14:sldId id="262"/>
            <p14:sldId id="264"/>
          </p14:sldIdLst>
        </p14:section>
        <p14:section name="연습" id="{11337a2e-a42f-11c7-7975-527dce62888c}">
          <p14:sldIdLst>
            <p14:sldId id="260"/>
            <p14:sldId id="261"/>
            <p14:sldId id="263"/>
            <p14:sldId id="265"/>
            <p14:sldId id="266"/>
          </p14:sldIdLst>
        </p14:section>
        <p14:section name="개념" id="{8e81424d-2f96-02db-afd9-8ccfd30a5010}">
          <p14:sldIdLst/>
        </p14:section>
        <p14:section name="연습" id="{e6920629-be7e-53b8-9f27-dff5efa27a17}">
          <p14:sldIdLst/>
        </p14:section>
        <p14:section name="개념" id="{413c7be5-955d-e161-fb04-3bf2885dd087}">
          <p14:sldIdLst/>
        </p14:section>
        <p14:section name="연습" id="{9dfa23a7-9a5b-b64b-2b22-9d3662dc317b}">
          <p14:sldIdLst/>
        </p14:section>
        <p14:section name="확인" id="{87359c42-a2e8-a571-1527-3bd5b5074359}">
          <p14:sldIdLst>
            <p14:sldId id="267"/>
            <p14:sldId id="268"/>
          </p14:sldIdLst>
        </p14:section>
        <p14:section name="정리" id="{657aec67-c419-012a-c988-5b6f45443861}">
          <p14:sldIdLst>
            <p14:sldId id="269"/>
          </p14:sldIdLst>
        </p14:section>
        <p14:section name="보충" id="{59c22346-c79e-d6bc-26fc-bda33d6145c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학급 회장 선거 경험에서 공정한 선거에 관심을 갖게 합니다.
시간: 약 2분
이렇게 말해 보세요
- “학교에서 회장 선거를 해 봤지? 어떻게 뽑았어? 그때 공정하지 않다고 느낀 적이 있었어?”
- “오늘은 공정한 선거의 원칙 네 가지와, 선거 말고도 시민이 의견을 내는 방법을 배울 거야.”
예상 답
- “투표지에 이름을 써서 상자에 넣었어요.” “친구가 누구 찍었는지 물어봐서 곤란했어요.”
막히면
- 선거 경험이 없으면 “가족이 저녁 메뉴를 투표로 정한다면 어떻게 할까?”라고 묻습니다.
주의
- 실제 선거의 후보나 정당 이야기는 하지 않습니다. 아이가 물으면 “누구를 뽑았는지는 비밀이야. 오늘 그 까닭을 배울 거야.”라고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확인(국가 기관의 역할)]
목적: 앞 차시 ‘국가 기관의 역할’(KR22-G06-SOC-GOVERNMENT-L01)의 핵심을 기억하는지 확인합니다. 국회 의원과 대통령을 뽑는 선거로 오늘 수업이 이어집니다.
시간: 약 3분
이렇게 말해 보세요
- “지난 시간에 배운 세 기관을 떠올려 보자. 세 가지를 물어볼게.”
- “국회 의원과 대통령은 누가 뽑는다고 했지?”
정답
- ① 국회
- ② 법원
- ③ 한 기관이 권력을 마음대로 쓰지 못하게 서로 견제해 국민의 자유와 권리를 지키려고
- 덧붙인 질문: 국민이 선거로 뽑아요.
막히면
- 세 문제 가운데 두 개 이상 어려워하면 S15(보충)를 먼저 합니다. 보충으로도 어려우면 앞 차시 ‘국가 기관의 역할’(KR22-G06-SOC-GOVERNMENT-L01)의 S03~S09를 다시 합니다.
주의
- ③은 오늘 S10(선거 뒤에도 대표의 일을 살피기)과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대표를 뽑는 까닭과 선거의 뜻]
목적: 대표를 뽑는 까닭과 선거의 뜻을 알려 줍니다(목표 A).
시간: 약 2분
이렇게 말해 보세요
- “우리 반은 모두 모여 회의할 수 있지만, 우리나라 국민이 모두 한곳에 모여 법을 정할 수 있을까?”
- “그래서 대표를 뽑아 일을 맡겨. 대통령, 국회 의원, 시장이나 도지사, 지방 의회 의원 같은 대표를 선거로 뽑아.”
예상 답
- “너무 많아서 못 모여요.”
막히면
- “우리 반 모두가 학교 일을 정하러 교장실에 갈 수 있을까? 그래서 회장을 뽑지?”라고 학교 예로 묻습니다.
주의
- 대표는 국민이 맡긴 일을 하는 사람이라는 점을 짚어 줍니다. 그래서 선거 뒤에도 대표가 일을 잘하는지 살펴야 합니다(S10).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민주 선거의 네 원칙]
목적: 민주 선거의 네 원칙(보통·평등·직접·비밀)의 뜻을 알려 줍니다(목표 A, 오해 M1·M2).
시간: 약 4분
이렇게 말해 보세요
- “보통 선거의 ‘보통’은 평범하다는 뜻이 아니라 ‘누구나’라는 뜻이야. 돈이 많든 적든, 남자든 여자든, 공부를 얼마나 했든 정해진 나이가 되면 누구나 투표할 수 있어.”
- “평등 선거는 표의 수가 같다는 거야. 대통령도, 나도 똑같이 한 표야.”
- “직접 선거는 내 표는 내가 직접 넣는다는 거야. 가족이 대신 넣어 줄 수 없어.”
- “비밀 선거는 누구를 뽑았는지 남이 알 수 없게 하는 거야.”
- “보통 선거와 평등 선거는 어떻게 다를까? ‘누가 투표하나’와 ‘몇 표인가’로 나누어 말해 볼래?”
예상 답
- “보통은 누구나 투표하는 거고, 평등은 모두 한 표씩이에요.”
막히면
- 카드마다 한 낱말로 줄여 손가락에 붙여 봅니다: 보통 – 누구나, 평등 – 한 표, 직접 – 내가, 비밀 – 몰래.
주의
- 우리나라는 선거에서 투표할 수 있는 나이가 만 18세 이상입니다.
- 직접 선거는 ‘직접 후보로 나간다’는 뜻이 아닙니다(오해 M2).
- 옛날에는 재산이나 성별에 따라 투표하지 못하는 나라도 많았습니다. 보통 선거는 그런 차별을 없앤 것이라고 덧붙이면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학급 선거에서 어긴 원칙 찾기]
목적: 학급 선거 상황에서 어긴 원칙을 찾고 바르게 고칩니다(목표 A, 오해 M1·M2).
시간: 약 3분
이렇게 말해 보세요
- “①부터 어떤 원칙을 어겼는지 말하고, 어떻게 고치면 될지도 말해 줘.”
정답
- ① 보통 선거 – 반 학생 누구나 투표할 수 있게 해요.
- ② 평등 선거 – 모두 한 사람이 한 표씩 넣어요.
- ③ 직접 선거 – 대신 투표하지 않고, 아픈 친구가 직접 투표할 방법(나중에 투표하기 등)을 찾아요.
- ④ 비밀 선거 – 투표지를 보여 달라고 하지 않아요.
- 기준: 어긴 원칙과 고치는 방법을 함께 말하면 맞음
막히면
- 아래 도움말의 괄호 속 낱말을 하나씩 대어 보며 “이 상황은 ‘누구나’를 어겼어, ‘한 표’를 어겼어?”라고 묻습니다.
주의
- ③에서 ‘친구를 도와주는 것이니 괜찮다’고 하면, 대신 써 주면 친구의 뜻이 아니라 내 뜻이 들어갈 수 있다고 말해 줍니다. 실제 선거에서는 몸이 불편한 사람이 투표할 수 있도록 미리 하는 투표나 집에서 하는 투표 같은 방법이 마련되어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비교(손을 들어 뽑기와 비밀 투표)]
목적: 손을 들어 뽑는 방법과 비밀 투표를 견주며 비밀 선거가 필요한 까닭을 말하게 합니다(목표 A, 오해 M3).
시간: 약 3분
이렇게 말해 보세요
- “가의 방법에도 좋은 점이 있지. 그런데 가장 친한 친구가 후보로 나왔는데 다른 친구를 뽑고 싶다면, 손을 들 때 마음이 어떨까?”
- “누가 누구를 뽑았는지 모두 알면 선거가 끝난 뒤에는 어떤 일이 생길 수 있을까?”
정답
- 나. 비밀 선거여야 다른 사람의 눈치를 보거나 압력을 받지 않고 자기 뜻대로 뽑을 수 있고, 선거 뒤에도 다툼이 생기지 않아요.
- 기준: ‘눈치·압력 없이 자기 뜻대로’라는 까닭과 비밀 선거를 이어 말하면 잘함
막히면
- “네가 누구를 뽑았는지 모두가 안다면 편하게 고를 수 있을까?”라고 묻습니다.
주의
- 간단한 학급 일(놀이 정하기 등)은 손을 들어 정하기도 합니다. 대표를 뽑는 선거처럼 중요한 결정에는 비밀이 지켜져야 한다는 데 초점을 둡니다.
- 여기까지가 선거의 원칙을 배우는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선거 밖의 시민 참여 방법]
목적: 선거 말고도 시민이 나라와 지역의 일에 참여하는 방법 네 가지를 알려 줍니다(목표 B, 오해 M4).
시간: 약 3분
이렇게 말해 보세요
- “투표는 몇 년에 한 번 있어. 그 사이에 불편한 일이 생기면 시민은 어떻게 의견을 낼까?”
- “‘정책’은 나라나 지역이 어떤 일을 어떻게 할지 정한 계획이야. 공청회는 그걸 정하기 전에 여러 사람의 의견을 듣는 모임이야.”
- “민원은 요즘 누리집으로도 낼 수 있어. 고장 난 가로등을 알리는 것도 민원이야.”
예상 답
- “누리집에 글을 써요.” “여러 사람이 이름을 모아요.”
막히면
- 지난 4학년 ‘지역 문제 해결’에서 시청·구청 누리집에 의견을 냈던 것을 떠올리게 합니다.
주의
- 이 밖에도 평화적인 집회, 신문·방송에 의견 내기, 자원봉사, 주민 회의 참여 등도 시민 참여입니다(궁금해하면 알려 주는 정도로).
- 정부의 민원 누리집(국민신문고)이나 시청·구청 누리집에서 의견을 낼 수 있습니다. 활동지 5에서 부모와 함께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상황에 맞는 참여 방법 고르기]
목적: 상황을 네 가지 참여 방법으로 나누고 까닭을 말합니다(목표 B).
시간: 약 3분
이렇게 말해 보세요
- “①부터 어떤 참여 방법인지 말하고, 왜 그렇게 생각했는지도 말해 줘.”
정답
- ① 공청회(정하기 전에 여러 사람의 의견을 들어요)
- ② 민원(불편을 알리고 해결을 부탁해요)
- ③ 캠페인(많은 사람에게 알리고 함께하자고 권해요)
- ④ 서명 운동(이름을 적어 의견을 모아요)
막히면
- S07의 표에서 ‘어떻게 하나요?’ 칸을 하나씩 대어 봅니다.
주의
- ④처럼 서명을 모은 뒤 민원으로 내기도 합니다. 여러 방법을 함께 써도 된다고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참여와 대화·타협의 예(지어낸 이야기)]
목적: 지어낸 이야기로 여러 참여 방법이 함께 쓰이고, 생각이 다를 때 대화와 타협으로 정하는 모습을 보여 줍니다(목표 B).
시간: 약 3분
이렇게 말해 보세요
- “이 이야기는 수업을 위해 지어낸 거야. 소리 내어 읽어 볼래?”
- “주민들이 참여한 방법을 모두 찾아볼까? 몇 가지야?”
- “생각이 다른 주민들은 어떻게 정했어? 한쪽만 이겼을까?”
예상 답
- “공청회, 서명, 누리집 의견이요.” “나무도 지키고 자전거 길도 만들었어요.”
정답
- 참여 방법: 공청회에서 의견 말하기, 서명, 누리집 의견(민원) – 세 가지
- 결과: 의논 끝에 나무를 피해 길을 돌아가게 만들어 두 의견을 모두 살렸어요(대화와 타협).
막히면
- S07의 표를 옆에 두고 이야기 속 낱말과 짝지어 봅니다.
주의
- ‘타협’은 서로 조금씩 양보해 함께 받아들일 수 있는 방법을 찾는 것입니다. 생각이 다를 때는 많은 사람이 찬성하는 쪽으로 정하되(다수결), 적은 쪽의 의견도 존중한다는 것도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비교(투표만 하면 끝일까)]
목적: 선거는 참여의 시작이고, 선거 뒤에도 의견을 내고 대표의 일을 살펴야 한다는 것을 말하게 합니다(목표 B, 오해 M4).
시간: 약 3분
이렇게 말해 보세요
- “대표는 누가 맡긴 일을 하는 사람이지? 맡긴 사람이 잘하는지 살펴보지 않으면 어떻게 될까?”
- “지난 시간에 국회가 정부를 살핀다고 했지? 국민은 누구를 살필 수 있을까?”
정답
- 나. 대표는 국민이 맡긴 일을 하는 사람이므로, 선거 뒤에도 국민이 의견을 내고 대표가 약속을 지키며 일을 잘하는지 살펴야 국민의 뜻대로 나라와 지역의 일이 이루어지기 때문이에요.
- 기준: ‘선거 뒤에도 참여한다’를 까닭과 함께 말하면 잘함
막히면
- “회장을 뽑은 뒤에 회장이 약속을 하나도 안 지키면 반 친구들은 어떻게 해야 할까?”라고 묻습니다.
주의
- 특정 정치인이나 정당을 평가하는 이야기로 넘어가지 않습니다. ‘살펴보고 의견을 내는 것’이 시민의 역할이라는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가족 투표와 우리 지역 참여 방법 조사]
목적: 가족 투표로 네 원칙을 직접 지켜 보고, 부모와 함께 우리 지역의 주민 참여 방법을 찾아 기록합니다(목표 A·B).
시간: 약 2분(활동은 수업 뒤에)
이렇게 말해 보세요
- “이번 주말 나들이 장소나 저녁 메뉴처럼 가족이 함께 정할 일을 골라 투표해 보자. 네 원칙을 어떻게 지킬까?”
- “우리 시청(구청) 누리집에는 주민이 의견을 내는 곳이 있어. 함께 찾아볼까?”
예상 답
- 예: “가족 모두 한 장씩(보통·평등), 각자 직접 써서(직접), 접어서 상자에 넣어요(비밀).”
정답
- 기준: ① 네 원칙을 지켜 투표함(가족 모두 투표, 한 사람 한 표, 직접 쓰기, 접어서 넣기) ② 우리 지역의 참여 방법(민원 넣는 곳, 공청회 알림, 정책 제안 등) 하나를 찾음 ③ 그 방법을 어떻게 하는지 적음. 집과 지역마다 답이 다릅니다.
막히면
- 누리집에서 ‘민원’, ‘참여’, ‘제안’ 같은 낱말이 있는 메뉴를 함께 찾습니다.
주의
- 가족 투표의 결과는 꼭 따릅니다. 아이의 의견이 지더라도 결과를 존중하는 경험이 중요합니다.
- 누리집은 부모가 함께 보고, 아이 혼자 의견을 올리지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보기(네 원칙, 어긴 원칙, 참여 방법)]
목적: 네 원칙의 뜻, 처음 보는 상황에서 어긴 원칙, 지역 문제에 알맞은 참여 방법을 도움 없이 말하는지 확인합니다(목표 A·B).
시간: 약 5분
이렇게 말해 보세요
- “이번에는 혼자 해 볼래? 다 하면 왜 그렇게 생각했는지 말해 줘.”
정답
- ① 보통 – 일정한 나이가 되면 누구나 투표 / 평등 – 한 사람이 한 표 / 직접 – 내가 직접 투표 / 비밀 – 누구를 뽑았는지 남이 모르게
- ② 비밀 선거를 어겼어요. 투표지를 보여 달라고 하지 않고, 접어서 투표함에 넣어요.
- ③ 예: 시청·구청 누리집에 민원을 내요(신호를 정하는 곳에 알려야 고칠 수 있으니까). / 서명 운동을 해서 민원과 함께 내요(여러 사람의 뜻이라는 것을 보여 줄 수 있으니까). (방법과 까닭이 이어지면 맞음)
- 기준: ①에서 네 원칙 가운데 세 가지 이상, ②③을 맞게 말하면 목표를 이룬 것으로 봅니다.
막히면
- 바로 알려 주지 말고 ①은 “누구나, 한 표, 내가, 몰래를 떠올려 봐.”, ③은 “S07의 네 가지 방법 가운데 고르면 돼.”라고만 묻습니다.
- 도움을 받아 해결했다면 기록표에 ‘도움’으로 표시합니다.
주의
- ③은 답이 여러 개일 수 있습니다. 방법과 까닭이 어울리면 맞습니다. 실제로 횡단보도 신호는 경찰과 시청·구청이 함께 살피는 경우가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S12의 답을 확인하고 다시 생각해 볼 답과 견줍니다.
시간: 약 2분
이렇게 말해 보세요
- “네 답과 왼쪽을 견주어 보자. 오른쪽처럼 말하면 무엇을 놓친 걸까?”
예상 답
- “보통은 누구나라는 뜻이에요.” “선거 뒤에도 의견을 내요.”
정답
- ① 보통(누구나), 평등(한 사람 한 표), 직접(내가 직접), 비밀(남이 모르게) ② 비밀 선거, 투표지를 보여 주지 않고 접어서 넣기 ③ 민원·서명 운동 등 알맞은 방법과 까닭
막히면
- ①②는 S04·S05, ③은 S07·S08을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“다음 학급 회장 선거 때 네가 꼭 지킬 원칙은 무엇이야? 왜?”
예상 답
- “비밀 선거요. 친구 눈치 안 보고 제 뜻대로 뽑을래요.”
정답
- ① 누구나 한 사람이 한 표씩 투표하는 것 ② 비밀 선거 ③ 서명 운동, 공청회, 민원, 캠페인 가운데 두 가지
막히면
- S04와 S07을 다시 보여 줍니다.
주의
- 활동지 4(가족 투표)와 5(우리 지역 참여 방법)는 다음 수업 전까지 함께 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보충(세 국가 기관 다시 보기)]
목적: S02에서 지난 차시 내용을 어려워하면 세 기관의 역할과 권력 분립의 까닭을 다시 익히고 오늘 수업으로 이어 줍니다.
시간: 약 4분
이렇게 말해 보세요
- “카드를 하나씩 읽어 보자. 법을 만드는 곳은? 재판하는 곳은?”
- “반장 혼자 규칙도 만들고 판단도 하면 어떨까? 그래서 나라는 권력을 어떻게 했지?”
- “이번에는 카드를 가리고 세 기관이 하는 일을 말해 볼래?”
정답
- 국회 – 법을 만듦, 정부 – 법에 따라 나라 살림, 법원 – 법에 따라 재판
- 권력 분립의 까닭: 한 곳이 권력을 마음대로 쓰지 못하게 서로 살펴 국민의 자유와 권리를 지키려고
막히면
- 종이 세 장에 기관 이름을 쓰고, 하는 일을 쓴 쪽지를 짝지어 놓아 봅니다.
주의
- 이 차시의 계획상 선수 차시는 ‘국가 기관의 역할’(KR22-G06-SOC-GOVERNMENT-L01)입니다. 보충 뒤에도 어려우면 그 차시를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민주주의와경제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시민 참여와 선거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시민 참여와 선거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시민 참여와 선거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 참여와 선거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회장 선거, 어떻게 해야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공정할까요?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선거의 네 가지 원칙을 알고 어긴 원칙을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선거 말고도 시민이 참여하는 방법을 골라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만드는 기관은?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 재판하는 기관은?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권력을 나누는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대표를 뽑을까요?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선거는 국민이 나라의 주인임을 보여 주는 일이에요.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아주 많아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모여 정하기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어려워요.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대표를 뽑아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일을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맡겨요.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투표로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대표를 뽑는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선거의 네 가지 원칙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만 18세 이상이면 선거에서 투표할 수 있어요.</a:t>
            </a:r>
            <a:endParaRPr lang="ko-KR" sz="2800" dirty="0"/>
          </a:p>
        </p:txBody>
      </p:sp>
      <p:sp>
        <p:nvSpPr>
          <p:cNvPr id="5" name="S04-card19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0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일정한 나이가 되면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투표해요.</a:t>
            </a:r>
            <a:endParaRPr lang="ko-KR" sz="2800" dirty="0"/>
          </a:p>
        </p:txBody>
      </p:sp>
      <p:sp>
        <p:nvSpPr>
          <p:cNvPr id="7" name="S04-card21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2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평등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한 사람이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표씩 투표해요.</a:t>
            </a:r>
            <a:endParaRPr lang="ko-KR" sz="2800" dirty="0"/>
          </a:p>
        </p:txBody>
      </p:sp>
      <p:sp>
        <p:nvSpPr>
          <p:cNvPr id="9" name="S04-card23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4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대신하지 않고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직접 투표해요.</a:t>
            </a:r>
            <a:endParaRPr lang="ko-KR" sz="2800" dirty="0"/>
          </a:p>
        </p:txBody>
      </p:sp>
      <p:sp>
        <p:nvSpPr>
          <p:cNvPr id="11" name="S04-card25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6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뽑았는지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남이 모르게 투표해요.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원칙을 어겼을까요?</a:t>
            </a:r>
            <a:endParaRPr lang="ko-KR" sz="40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별빛초 6학년 2반의 회장 선거예요.</a:t>
            </a:r>
            <a:endParaRPr lang="ko-KR" sz="28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보통(누구나) · 평등(한 표) · 직접(내가) · 비밀(몰래)</a:t>
            </a:r>
            <a:endParaRPr lang="ko-KR" sz="2800" dirty="0"/>
          </a:p>
        </p:txBody>
      </p:sp>
      <p:sp>
        <p:nvSpPr>
          <p:cNvPr id="6" name="S05-chip3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“성적이 좋은 학생만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투표할 수 있어요.”</a:t>
            </a:r>
            <a:endParaRPr lang="ko-KR" sz="2800" dirty="0"/>
          </a:p>
        </p:txBody>
      </p:sp>
      <p:sp>
        <p:nvSpPr>
          <p:cNvPr id="8" name="S05-chip3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3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“지난번 회장은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표씩 넣어요.”</a:t>
            </a:r>
            <a:endParaRPr lang="ko-KR" sz="2800" dirty="0"/>
          </a:p>
        </p:txBody>
      </p:sp>
      <p:sp>
        <p:nvSpPr>
          <p:cNvPr id="10" name="S05-chip3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“아픈 친구 대신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투표해 줄게.”</a:t>
            </a:r>
            <a:endParaRPr lang="ko-KR" sz="2800" dirty="0"/>
          </a:p>
        </p:txBody>
      </p:sp>
      <p:sp>
        <p:nvSpPr>
          <p:cNvPr id="12" name="S05-chip3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3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“누구 뽑았는지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투표지 좀 보여 줘.”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들어 뽑으면?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회장을 뽑는 방법을 두고 두 친구가 말했어요.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방법이 더 알맞을까요? 어떤 원칙과 관계있나요?</a:t>
            </a:r>
            <a:endParaRPr lang="ko-KR" sz="2800" dirty="0"/>
          </a:p>
        </p:txBody>
      </p:sp>
      <p:sp>
        <p:nvSpPr>
          <p:cNvPr id="7" name="S06-chip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“손을 들어 뽑으면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빠르고 편해요.”</a:t>
            </a:r>
            <a:endParaRPr lang="ko-KR" sz="2800" dirty="0"/>
          </a:p>
        </p:txBody>
      </p:sp>
      <p:sp>
        <p:nvSpPr>
          <p:cNvPr id="9" name="S06-chip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“투표지에 몰래 쓰면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눈치 보지 않고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뽑을 수 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시민 참여</a:t>
            </a:r>
            <a:endParaRPr lang="ko-KR" sz="4000" dirty="0"/>
          </a:p>
        </p:txBody>
      </p:sp>
      <p:sp>
        <p:nvSpPr>
          <p:cNvPr id="3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 날뿐 아니라 언제든 의견을 내고 참여할 수 있어요.</a:t>
            </a:r>
            <a:endParaRPr lang="ko-KR" sz="2800" dirty="0"/>
          </a:p>
        </p:txBody>
      </p:sp>
      <p:graphicFrame>
        <p:nvGraphicFramePr>
          <p:cNvPr id="8" name="S07-table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서명 운동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뜻이 같은 사람들이 이름을 적어 의견을 모아요.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공청회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정책을 정하기 전에 여러 사람의 의견을 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시청·구청 등에 불편을 알리고 해결을 부탁해요.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캠페인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사람에게 알리고 함께하자고 권해요.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참여 방법일까요?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서명 운동 · 공청회 · 민원 · 캠페인</a:t>
            </a:r>
            <a:endParaRPr lang="ko-KR" sz="2800" dirty="0"/>
          </a:p>
        </p:txBody>
      </p:sp>
      <p:sp>
        <p:nvSpPr>
          <p:cNvPr id="5" name="S08-chip5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text5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공사 계획을 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주민이 의견을 말하는 모임</a:t>
            </a:r>
            <a:endParaRPr lang="ko-KR" sz="2800" dirty="0"/>
          </a:p>
        </p:txBody>
      </p:sp>
      <p:sp>
        <p:nvSpPr>
          <p:cNvPr id="7" name="S08-chip5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text5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누리집에 고장 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가로등을 알려요.</a:t>
            </a:r>
            <a:endParaRPr lang="ko-KR" sz="2800" dirty="0"/>
          </a:p>
        </p:txBody>
      </p:sp>
      <p:sp>
        <p:nvSpPr>
          <p:cNvPr id="9" name="S08-chip5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text5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‘일회용품 줄이기’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홍보물을 나누어 줘요.</a:t>
            </a:r>
            <a:endParaRPr lang="ko-KR" sz="2800" dirty="0"/>
          </a:p>
        </p:txBody>
      </p:sp>
      <p:sp>
        <p:nvSpPr>
          <p:cNvPr id="11" name="S08-chip5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8-text5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횡단보도를 만들어 달라며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주민들의 이름을 모아요.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강변 자전거 길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주민들은 어떤 방법으로 참여했나요? 결과는 어땠나요?</a:t>
            </a:r>
            <a:endParaRPr lang="ko-KR" sz="2800" dirty="0"/>
          </a:p>
        </p:txBody>
      </p:sp>
      <p:sp>
        <p:nvSpPr>
          <p:cNvPr id="5" name="S09-passagebox6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6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소식(지어낸 이야기)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별빛시가 강변에 자전거 길을 만들려고 해요. 반기는 주민도 있었고, 나무가 베어질까 걱정하는 주민도 있었어요.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시청은 공청회를 열어 의견을 들었고, 주민들은 서명과 누리집 의견으로 생각을 전했어요.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의논 끝에 나무를 피해 길을 돌아가게 만들기로 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투표만 하면 끝일까?</a:t>
            </a:r>
            <a:endParaRPr lang="ko-KR" sz="4000" dirty="0"/>
          </a:p>
        </p:txBody>
      </p:sp>
      <p:sp>
        <p:nvSpPr>
          <p:cNvPr id="3" name="S10-card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 참여를 배우고 두 친구가 말했어요.</a:t>
            </a:r>
            <a:endParaRPr lang="ko-KR" sz="2800" dirty="0"/>
          </a:p>
        </p:txBody>
      </p:sp>
      <p:sp>
        <p:nvSpPr>
          <p:cNvPr id="5" name="S10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생각에 더 찬성하나요? 왜요?</a:t>
            </a:r>
            <a:endParaRPr lang="ko-KR" sz="2800" dirty="0"/>
          </a:p>
        </p:txBody>
      </p:sp>
      <p:sp>
        <p:nvSpPr>
          <p:cNvPr id="7" name="S10-chip6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text6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“선거 날 투표했으니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시민이 할 일은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했어요.”</a:t>
            </a:r>
            <a:endParaRPr lang="ko-KR" sz="2800" dirty="0"/>
          </a:p>
        </p:txBody>
      </p:sp>
      <p:sp>
        <p:nvSpPr>
          <p:cNvPr id="9" name="S10-chip6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0-text7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“선거 뒤에도 의견을 내고,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대표가 일을 잘하는지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해 봐요</a:t>
            </a:r>
            <a:endParaRPr lang="ko-KR" sz="4000" dirty="0"/>
          </a:p>
        </p:txBody>
      </p:sp>
      <p:sp>
        <p:nvSpPr>
          <p:cNvPr id="3" name="S11-card71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2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원칙을 지켜 투표했어요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참여 방법 하나를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어떻게 하는지 적었어요</a:t>
            </a:r>
            <a:endParaRPr lang="ko-KR" sz="2800" dirty="0"/>
          </a:p>
        </p:txBody>
      </p:sp>
      <p:sp>
        <p:nvSpPr>
          <p:cNvPr id="5" name="S11-stepno73"/>
          <p:cNvSpPr txBox="1"/>
          <p:nvPr/>
        </p:nvSpPr>
        <p:spPr>
          <a:xfrm>
            <a:off x="548640" y="1994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1-text74"/>
          <p:cNvSpPr txBox="1"/>
          <p:nvPr/>
        </p:nvSpPr>
        <p:spPr>
          <a:xfrm>
            <a:off x="1325880" y="1949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회의에서 정할 일을 하나 골라요.</a:t>
            </a:r>
            <a:endParaRPr lang="ko-KR" sz="2800" dirty="0"/>
          </a:p>
        </p:txBody>
      </p:sp>
      <p:sp>
        <p:nvSpPr>
          <p:cNvPr id="7" name="S11-stepno75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1-text76"/>
          <p:cNvSpPr txBox="1"/>
          <p:nvPr/>
        </p:nvSpPr>
        <p:spPr>
          <a:xfrm>
            <a:off x="1325880" y="2981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원칙을 지켜 쪽지로 투표해요.</a:t>
            </a:r>
            <a:endParaRPr lang="ko-KR" sz="2800" dirty="0"/>
          </a:p>
        </p:txBody>
      </p:sp>
      <p:sp>
        <p:nvSpPr>
          <p:cNvPr id="9" name="S11-stepno77"/>
          <p:cNvSpPr txBox="1"/>
          <p:nvPr/>
        </p:nvSpPr>
        <p:spPr>
          <a:xfrm>
            <a:off x="548640" y="4059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1-text78"/>
          <p:cNvSpPr txBox="1"/>
          <p:nvPr/>
        </p:nvSpPr>
        <p:spPr>
          <a:xfrm>
            <a:off x="1325880" y="401370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누리집에서 주민 참여 방법을 찾아요.</a:t>
            </a:r>
            <a:endParaRPr lang="ko-KR" sz="2800" dirty="0"/>
          </a:p>
        </p:txBody>
      </p:sp>
      <p:sp>
        <p:nvSpPr>
          <p:cNvPr id="11" name="S11-stepno79"/>
          <p:cNvSpPr txBox="1"/>
          <p:nvPr/>
        </p:nvSpPr>
        <p:spPr>
          <a:xfrm>
            <a:off x="548640" y="5045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1-text80"/>
          <p:cNvSpPr txBox="1"/>
          <p:nvPr/>
        </p:nvSpPr>
        <p:spPr>
          <a:xfrm>
            <a:off x="1325880" y="5045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적어요.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8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8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선거의 네 원칙을 하나씩 뜻과 함께 말해요.</a:t>
            </a:r>
            <a:endParaRPr lang="ko-KR" sz="28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84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누구 뽑았는지 투표지를 보여 줘.”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어긴 원칙과 고치는 방법은?</a:t>
            </a:r>
            <a:endParaRPr lang="ko-KR" sz="2800" dirty="0"/>
          </a:p>
        </p:txBody>
      </p:sp>
      <p:sp>
        <p:nvSpPr>
          <p:cNvPr id="7" name="S12-chip8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86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‘학교 앞 횡단보도 신호가 짧아요.’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방법으로 참여할까요? 왜요?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원칙을 지켜 대표를 뽑고, 선거 뒤에도 여러 방법으로 참여해요.</a:t>
            </a:r>
            <a:endParaRPr lang="ko-KR" sz="2800" dirty="0"/>
          </a:p>
        </p:txBody>
      </p:sp>
      <p:sp>
        <p:nvSpPr>
          <p:cNvPr id="5" name="S13-chip8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200" dirty="0"/>
          </a:p>
        </p:txBody>
      </p:sp>
      <p:sp>
        <p:nvSpPr>
          <p:cNvPr id="6" name="S13-text90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누구나·한 표·내가·몰래</a:t>
            </a:r>
            <a:endParaRPr lang="ko-KR" sz="2800" dirty="0"/>
          </a:p>
        </p:txBody>
      </p:sp>
      <p:sp>
        <p:nvSpPr>
          <p:cNvPr id="7" name="S13-text91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비밀 선거</a:t>
            </a:r>
            <a:endParaRPr lang="ko-KR" sz="2800" dirty="0"/>
          </a:p>
        </p:txBody>
      </p:sp>
      <p:sp>
        <p:nvSpPr>
          <p:cNvPr id="8" name="S13-text92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민원·서명 + 까닭</a:t>
            </a:r>
            <a:endParaRPr lang="ko-KR" sz="2800" dirty="0"/>
          </a:p>
        </p:txBody>
      </p:sp>
      <p:sp>
        <p:nvSpPr>
          <p:cNvPr id="9" name="S13-chip9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생각해요</a:t>
            </a:r>
            <a:endParaRPr lang="ko-KR" sz="2200" dirty="0"/>
          </a:p>
        </p:txBody>
      </p:sp>
      <p:sp>
        <p:nvSpPr>
          <p:cNvPr id="10" name="S13-text9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“보통은 평범한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사람만 투표”</a:t>
            </a:r>
            <a:endParaRPr lang="ko-KR" sz="2800" dirty="0"/>
          </a:p>
        </p:txBody>
      </p:sp>
      <p:sp>
        <p:nvSpPr>
          <p:cNvPr id="11" name="S13-text9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‘누구나’</a:t>
            </a:r>
            <a:endParaRPr lang="ko-KR" sz="2200" dirty="0"/>
          </a:p>
        </p:txBody>
      </p:sp>
      <p:sp>
        <p:nvSpPr>
          <p:cNvPr id="12" name="S13-text9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“투표만 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끝이에요”</a:t>
            </a:r>
            <a:endParaRPr lang="ko-KR" sz="2800" dirty="0"/>
          </a:p>
        </p:txBody>
      </p:sp>
      <p:sp>
        <p:nvSpPr>
          <p:cNvPr id="13" name="S13-text9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 뒤에도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보통·평등·직접·비밀 선거로 대표를 공정하게 뽑아요.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 뒤에도 서명, 공청회, 민원, 캠페인으로 참여해요.</a:t>
            </a:r>
            <a:endParaRPr lang="ko-KR" sz="2800" dirty="0"/>
          </a:p>
        </p:txBody>
      </p:sp>
      <p:sp>
        <p:nvSpPr>
          <p:cNvPr id="5" name="S14-chip1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네 원칙 지키기, 의견 내기</a:t>
            </a:r>
            <a:endParaRPr lang="ko-KR" sz="2200" dirty="0"/>
          </a:p>
        </p:txBody>
      </p:sp>
      <p:sp>
        <p:nvSpPr>
          <p:cNvPr id="6" name="S14-chip1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투표만 하면 끝이라고 여기기</a:t>
            </a:r>
            <a:endParaRPr lang="ko-KR" sz="2200" dirty="0"/>
          </a:p>
        </p:txBody>
      </p:sp>
      <p:sp>
        <p:nvSpPr>
          <p:cNvPr id="7" name="S14-text1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평등 선거란?</a:t>
            </a:r>
            <a:endParaRPr lang="ko-KR" sz="2200" dirty="0"/>
          </a:p>
        </p:txBody>
      </p:sp>
      <p:sp>
        <p:nvSpPr>
          <p:cNvPr id="9" name="S14-text1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누구를 뽑았는지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모르게 하는 원칙은?</a:t>
            </a:r>
            <a:endParaRPr lang="ko-KR" sz="2200" dirty="0"/>
          </a:p>
        </p:txBody>
      </p:sp>
      <p:sp>
        <p:nvSpPr>
          <p:cNvPr id="10" name="S14-text1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선거 말고 참여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가지는?</a:t>
            </a:r>
            <a:endParaRPr lang="ko-KR" sz="2200" dirty="0"/>
          </a:p>
        </p:txBody>
      </p:sp>
      <p:sp>
        <p:nvSpPr>
          <p:cNvPr id="11" name="S14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가계와 기업, 시장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국가 기관</a:t>
            </a:r>
            <a:endParaRPr lang="ko-KR" sz="4000" dirty="0"/>
          </a:p>
        </p:txBody>
      </p:sp>
      <p:sp>
        <p:nvSpPr>
          <p:cNvPr id="3" name="S15-card10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기관이 권력을 나누어 서로 살피면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곳이 마음대로 하지 못해요.</a:t>
            </a:r>
            <a:endParaRPr lang="ko-KR" sz="2800" dirty="0"/>
          </a:p>
        </p:txBody>
      </p:sp>
      <p:sp>
        <p:nvSpPr>
          <p:cNvPr id="5" name="S15-card109"/>
          <p:cNvSpPr/>
          <p:nvPr/>
        </p:nvSpPr>
        <p:spPr>
          <a:xfrm>
            <a:off x="548640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15-cardtext110"/>
          <p:cNvSpPr txBox="1"/>
          <p:nvPr/>
        </p:nvSpPr>
        <p:spPr>
          <a:xfrm>
            <a:off x="822960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만들어요.</a:t>
            </a:r>
            <a:endParaRPr lang="ko-KR" sz="2800" dirty="0"/>
          </a:p>
        </p:txBody>
      </p:sp>
      <p:sp>
        <p:nvSpPr>
          <p:cNvPr id="7" name="S15-card111"/>
          <p:cNvSpPr/>
          <p:nvPr/>
        </p:nvSpPr>
        <p:spPr>
          <a:xfrm>
            <a:off x="4322064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15-cardtext112"/>
          <p:cNvSpPr txBox="1"/>
          <p:nvPr/>
        </p:nvSpPr>
        <p:spPr>
          <a:xfrm>
            <a:off x="4596384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살림을 해요.</a:t>
            </a:r>
            <a:endParaRPr lang="ko-KR" sz="2800" dirty="0"/>
          </a:p>
        </p:txBody>
      </p:sp>
      <p:sp>
        <p:nvSpPr>
          <p:cNvPr id="9" name="S15-card113"/>
          <p:cNvSpPr/>
          <p:nvPr/>
        </p:nvSpPr>
        <p:spPr>
          <a:xfrm>
            <a:off x="8095488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15-cardtext114"/>
          <p:cNvSpPr txBox="1"/>
          <p:nvPr/>
        </p:nvSpPr>
        <p:spPr>
          <a:xfrm>
            <a:off x="8369808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시민 참여와 선거</dc:title>
  <dc:subject>KR22-G06-SOC-PARTICIPATE-L01</dc:subject>
  <dc:creator>education-ppt</dc:creator>
  <cp:lastModifiedBy>education-ppt</cp:lastModifiedBy>
  <cp:revision>1</cp:revision>
  <dcterms:created xsi:type="dcterms:W3CDTF">2026-10-26T13:52:17Z</dcterms:created>
  <dcterms:modified xsi:type="dcterms:W3CDTF">2026-10-26T13:52:17Z</dcterms:modified>
</cp:coreProperties>
</file>