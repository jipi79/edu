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32f6a0a-5213-b675-6931-44455296795d}">
          <p14:sldIdLst>
            <p14:sldId id="256"/>
            <p14:sldId id="257"/>
          </p14:sldIdLst>
        </p14:section>
        <p14:section name="개념" id="{0b1bbd99-40ab-769b-de35-c7ad1252d145}">
          <p14:sldIdLst>
            <p14:sldId id="258"/>
            <p14:sldId id="259"/>
            <p14:sldId id="260"/>
            <p14:sldId id="261"/>
            <p14:sldId id="263"/>
          </p14:sldIdLst>
        </p14:section>
        <p14:section name="연습" id="{011bb1d7-7d59-a0b1-a04c-cd9bb5227efd}">
          <p14:sldIdLst>
            <p14:sldId id="262"/>
            <p14:sldId id="264"/>
            <p14:sldId id="265"/>
          </p14:sldIdLst>
        </p14:section>
        <p14:section name="개념" id="{cf15b572-45a7-b3ed-7896-6c904d4adae3}">
          <p14:sldIdLst/>
        </p14:section>
        <p14:section name="연습" id="{26fa3cb6-fbcc-7d9b-327b-1007fd2202d5}">
          <p14:sldIdLst/>
        </p14:section>
        <p14:section name="확인" id="{a29c7f13-8c13-8c43-7007-a2ceb42af817}">
          <p14:sldIdLst>
            <p14:sldId id="266"/>
            <p14:sldId id="267"/>
            <p14:sldId id="268"/>
          </p14:sldIdLst>
        </p14:section>
        <p14:section name="정리" id="{17a21b4e-87ed-3e57-ede3-ea20bfb59325}">
          <p14:sldIdLst>
            <p14:sldId id="269"/>
          </p14:sldIdLst>
        </p14:section>
        <p14:section name="보충" id="{6e67a40e-eaba-e2e0-f1de-8adeee15fc2e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것(자연환경과 생활 모습의 관계, 다른 문화를 존중하는 태도)을 알립니다.
시간: 약 2분
이렇게 말해 보세요
- “여름에 입는 옷과 겨울에 입는 옷은 왜 다를까?”
- “우리는 날씨에 맞게 옷을 바꿔 입지? 세계에는 일 년 내내 덥거나, 비가 거의 안 오거나, 아주 추운 곳도 있어. 그런 곳의 사람들은 어떻게 살아왔을지 알아보자.”
예상 답
- “여름엔 더우니까 얇은 옷을 입어요.” “겨울엔 추우니까 두꺼운 옷이요.”
막히면
- 창밖 날씨와 오늘 입은 옷을 이어 이야기해 봅니다.
주의
- 오늘 화면의 집 그림은 특징만 보여 주려고 간단히 그린 것이며 사진·삽화가 아닙니다. 실제 모습은 S10에서 부모님과 함께 책이나 믿을 만한 누리집으로 찾아봅니다.
- 어떤 나라 사람들을 ‘모두 ~하다’고 말하지 않도록 부모님도 ‘그곳의 많은 사람은’, ‘옛날부터’처럼 말해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확인(대륙, 적도)]
목적: 지난 차시 ‘세계 여러 나라’에서 배운 대륙과 적도를 확인합니다. 오늘 기후와 생활을 이야기할 때 그대로 씁니다.
시간: 약 3분
이렇게 말해 보세요
- “지난 시간에 세계의 큰 땅을 여섯 개로 나누었지? 세 개만 말해 볼래?”
- “적도는 위도 몇 도였어? 지구의 어디를 지나는 선이었지?”
정답
- ① 아시아, 유럽, 아프리카, 북아메리카, 남아메리카, 오세아니아 가운데 세 개
- ② 지구의 가운데를 가로로 한 바퀴 두른 선(위도 0°)
- ③ 북쪽(북위)
막히면
- 두 문제 이상 어려우면 S15(보충)를 먼저 하고 돌아옵니다.
주의
- ①에서 나라 이름(예: 미국)을 말하면 “그 나라는 어느 대륙에 있었지?”라고 대륙과 나라를 구별하게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자연환경과 생활: 우리나라의 예]
목적: 우리나라의 전통 집(온돌, 대청마루)으로 자연환경(기후)이 생활 모습에 영향을 준다는 것을 알려 줍니다(목표 A).
시간: 약 3분
이렇게 말해 보세요
- “우리나라는 여름과 겨울에 날씨가 어땠지? 5학년 때 배웠어.”
- “옛날 집에는 아궁이에 불을 때서 방바닥을 데우는 온돌이 있었어. 왜 그런 장치를 만들었을까?”
- “나무 바닥이 넓게 깔린 대청마루는 바람이 잘 통해. 언제 쓰기 좋았을까?”
- “이렇게 날씨나 땅의 모습 같은 자연환경에 맞게 사는 방법이 생겨. 이것도 문화야.”
예상 답
- “겨울이 추워서 온돌을 만들었어요.” “대청마루는 여름에 시원해요.”
막히면
- “우리 집은 겨울에 어떻게 따뜻하게 하지? 바닥 난방도 온돌에서 이어진 거야.”라고 지금의 생활과 이어 줍니다.
주의
- ‘문화’는 사람들이 함께 살아가며 만든 생활 방식(옷·집·음식·말·놀이 등)이라고 쉽게 풀어 줍니다. 오늘은 자연환경과 관계가 깊은 옷·집·음식을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위도에 따른 기온의 차이]
목적: 적도에 가까운 곳은 대체로 덥고, 북극·남극에 가까운 곳은 대체로 춥다는 것을 지난 차시의 적도와 이어 알려 주고, 비의 양과 땅의 높이에 따라서도 기후가 다르다는 것을 덧붙입니다(목표 A).
시간: 약 3분
이렇게 말해 보세요
- “적도 둘레는 무슨 색이야? 적도에 가까운 곳은 대체로 어떨까?”
- “북극이나 남극에 가까운 곳은?”
- “그런데 적도 가까이에 있어도 아주 높은 산은 서늘해. 그리고 세계에는 비가 거의 오지 않는 사막도 있어. 오늘은 ‘덥고 건조한 곳’, ‘덥고 비가 많은 곳’, ‘추운 곳’을 살펴볼 거야.”
예상 답
- “적도는 더워요.” “북극은 추워요.”
막히면
- “한여름 햇볕이 머리 위에서 똑바로 내리쬘 때와 비스듬히 비출 때 중 언제 더 뜨거울까?” 정도로만 짧게 이야기하고, 까닭을 자세히 설명하지 않아도 됩니다.
주의
- 그림은 특징만 보여 주려고 간단히 나눈 것입니다. 실제 기후는 위도뿐 아니라 바다와의 거리, 땅의 높이, 바람 등에 따라 달라집니다.
- 부모님 참고: 교과서에서는 기후를 열대·건조·온대·냉대·한대·고산 기후 등으로 나누기도 합니다. 오늘은 ‘덥고 비가 많은 곳(열대)’, ‘덥고 건조한 곳(건조)’, ‘추운 곳(냉대·한대)’처럼 쉬운 말로만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기후에 따른 집]
목적: 덥고 건조한 곳의 흙벽돌집, 덥고 비가 많은 곳의 땅에서 띄운 집, 추운 곳(나무가 많은 곳)의 통나무집을 예로 집의 모양과 자연환경의 관계를 알려 줍니다(목표 A).
시간: 약 4분
이렇게 말해 보세요
- “가는 비가 거의 오지 않고 햇볕이 아주 강한 곳의 집이야. 나무가 귀하고 흙은 많아. 그래서 무엇으로 지었을까? 벽은 왜 두껍고 창문은 왜 작을까?”
- “나는 덥고 비가 많이 오는 곳의 집이야. 왜 기둥 위에 올려 땅에서 띄워 지었을까? 지붕은 왜 가파를까?”
- “다는 겨울이 길고 아주 추운 곳이야. 둘레에 나무가 많아서 통나무로 지었어. 벽이 두껍고 창이 작은 까닭은?”
예상 답
- “가는 두꺼운 벽이 뜨거운 햇볕을 막아요.” “나는 땅이 축축해서요. 비가 잘 흘러내려요.” “다는 추위를 막으려고요.”
막히면
- “이 집에서 가장 피하고 싶은 것은 무엇일까? (가: 뜨거운 햇볕, 나: 습기와 빗물, 다: 추위)”를 먼저 묻고 집의 모양과 이어 줍니다.
주의
- 가: 두꺼운 흙벽은 낮의 뜨거운 열을 막고 밤에는 따뜻함을 지켜 주며, 비가 적어 지붕이 평평한 집이 많습니다. 나: 땅의 습기와 열기, 벌레·뱀 같은 동물을 피하고 바람이 잘 통하게 하며, 가파른 지붕은 빗물이 잘 흘러내리게 합니다. 다: 침엽수림이 넓은 추운 곳에서는 통나무집을 지어 왔고, 열이 빠져나가지 않게 창을 작게 하고 눈이 쌓이지 않게 지붕을 가파르게 하기도 합니다.
- 그림은 간단히 나타낸 것입니다. 이런 집은 옛날부터 그곳에서 많이 지어 온 모습이며, 오늘날에는 같은 곳에도 여러 가지 집이 있습니다(S08에서 다룹니다).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기후에 따른 옷과 음식]
목적: 기후에 따라 옷과 음식도 달라졌다는 것을 세 가지 예로 알려 줍니다(목표 A).
시간: 약 3분
이렇게 말해 보세요
- “덥고 건조한 곳에서는 왜 짧은 옷 대신 온몸을 덮는 옷을 입을까? 햇볕과 모래바람을 생각해 봐. 비가 거의 없으니 먹을거리는 물이 있는 오아시스나 가축에게서 얻었어.”
- “덥고 비가 많은 동남아시아의 많은 곳에서는 벼농사가 잘돼. 그래서 어떤 음식을 많이 먹을까?”
- “북극 가까운 아주 추운 곳은 농사짓기가 어려워. 옛날부터 그곳의 많은 사람은 무엇을 먹고 무엇을 입었을까?”
예상 답
- “햇볕에 타지 않으려고요.” “쌀국수 같은 쌀 음식이요.” “사냥한 동물 고기와 털이요.”
막히면
- “한여름에 해변에서 햇볕을 막으려고 무엇을 입거나 쓰지?” 하고 우리 생활과 이어 묻습니다.
주의
- 덥고 건조한 곳의 헐렁한 옷은 햇볕과 모래바람을 막으면서 바람이 잘 통합니다. 물이 있는 오아시스에서는 대추야자 등을 기르고, 풀과 물을 찾아 옮겨 다니며 양·염소·낙타 같은 가축을 기르기도 했습니다. 동남아시아는 덥고 비가 많아 벼농사가 잘되고, 한 해에 벼를 두세 번 거두는 곳도 있습니다. 북극 가까운 곳은 농사가 어려워 옛날부터 사냥과 고기잡이로 먹을거리와 옷감을 얻었습니다.
- ‘그곳의 많은 사람’, ‘옛날부터’라는 말에 주의해 읽어 줍니다. 오늘날에는 같은 곳에서도 사람마다 다양하게 입고 먹습니다.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생활 모습과 자연환경 잇기]
목적: 생활 모습을 그곳의 자연환경과 까닭으로 이어 말하는 연습을 합니다(목표 A, 오해 M3).
시간: 약 3분
이렇게 말해 보세요
- “①은 그곳에서 무엇을 막아야 할까? 그래서 벽과 창문을 어떻게 했지?”
- “②, ③도 ‘~해서 ~했어요’로 말해 볼래?”
정답
- ① 강한 햇볕과 뜨거운 열기를 막으려고요(작은 창문으로 햇볕과 모래바람이 덜 들어와요).
- ② 땅의 습기와 열기를 피하고 바람이 잘 통하게 하려고요(벌레·뱀 같은 동물도 피해요).
- ③ 아주 추워서 따뜻한 옷이 필요했고, 농사가 어려워 사냥한 동물의 털가죽을 썼어요.
- 자연환경(기후)과 생활 모습을 까닭으로 이어 말하면 맞습니다.
막히면
- S05·S06 화면을 다시 보여 주고 “이 집(옷)이 막아 주는 것은?”을 먼저 묻습니다.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다른 문화를 존중하는 태도]
목적: 다른 문화를 내 기준으로 판단하지 않고 그곳의 까닭을 생각하며, 한 나라 사람들이 모두 같게 산다고 여기지 않는 태도를 알려 줍니다(목표 B, 오해 M1·M2).
시간: 약 2분
이렇게 말해 보세요
- “덥고 건조한 나라에 사는 사람은 모두 흙벽돌집에 살까? 우리나라 사람은 모두 한옥에 살아?”
- “우리나라도 아파트, 주택, 한옥 등 여러 집에 살지. 다른 나라도 마찬가지야. 도시에 사는 사람, 시골에 사는 사람, 하는 일에 따라 다르게 살아.”
- “처음 보는 음식이나 옷을 보면 ‘이상해’ 대신 뭐라고 말하면 좋을까?”
예상 답
- “아니요, 아파트에 사는 사람도 있어요.” “‘신기하다, 궁금해’라고 해요.”
막히면
- “외국 친구가 ‘한국 사람은 모두 매일 한복을 입지?’라고 하면 어떤 기분일까?”라고 입장을 바꿔 묻습니다.
주의
- 오늘날에는 교통과 기술이 발달하고 서로 교류하면서 비슷한 옷과 집도 많아졌고, 옛날부터 이어진 모습을 지키는 곳도 있습니다. 생활 모습은 자연환경뿐 아니라 역사, 종교, 경제 등의 영향도 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비교(고정 관념)]
목적: 한 나라 사람들이 모두 같게 산다고 단정하는 말과, 궁금해하며 묻는 말을 비교합니다(목표 B, 오해 M2).
시간: 약 3분
이렇게 말해 보세요
- “가처럼 말하면 친구는 어떤 기분일까? 정말 모두 흙벽돌집에 살까?”
- “나처럼 물으면 무엇을 알게 될까?”
정답
- 나. 같은 나라 안에서도 사람마다 다양하게 살기 때문에 ‘모두’라고 단정하지 않고, 궁금한 것을 묻는 것이 존중하는 태도예요.
- 가는 한 가지 모습으로 모든 사람을 판단해서(고정 관념) 친구가 서운할 수 있어요. 까닭을 말하면 잘한 것입니다.
막히면
- S08의 ‘다양함 알기’ 카드를 다시 읽게 합니다.
주의
- 흙벽돌집이 나쁘다는 뜻이 아닙니다. 그곳의 자연환경에 맞게 지어 온 집이라는 것을 함께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한 나라의 생활 조사(부모와 함께)]
목적: 관심 있는 나라 하나를 골라 자연환경과 생활 모습을 조사하고, 까닭과 함께 존중하는 말로 소개하는 방법을 안내합니다(목표 A·B). 수업 시간에는 나라를 고르는 데까지만 하고 조사는 수업 뒤에 해도 됩니다.
시간: 약 3분
이렇게 말해 보세요
- “어느 나라가 궁금해? 지난 시간에 찾은 나라 가운데 골라도 좋아.”
- “그 나라는 어느 대륙에 있고, 날씨는 어떨까? 그 날씨 때문에 생긴 옷이나 집, 음식이 있을까?”
- “소개할 때는 ‘그곳의 많은 사람은 ~해요. 왜냐하면 ~이기 때문이에요.’로 말해 보자.”
예상 답
- “베트남이요. 덥고 비가 많아서 쌀국수를 먹어요.” “몽골이요. 초원에서 옮겨 다니기 쉬운 천막집에 살았대요.”
정답
- 기준: 고른 나라의 자연환경(날씨·땅) 한 가지를 말하고, 옷·집·음식 가운데 하나를 그 까닭과 이어 말하며, ‘모두’, ‘이상해’ 같은 말 없이 소개하면 잘한 것입니다. 결과는 활동지 5에 기록합니다. 답은 고른 나라마다 다릅니다.
막히면
- 자료 찾기가 어려우면 도서관의 어린이 세계 문화 책이나 어린이 백과사전을 함께 봅니다.
주의
- 누리집에 따라 정확하지 않거나 한쪽 모습만 보여 주는 자료가 있습니다. 공공 기관·백과사전·도서관 책처럼 믿을 만한 자료를 고르고, 오늘날의 모습도 함께 찾아보게 합니다.
- 아이가 고른 나라의 자료가 부모님도 확실하지 않으면 ‘그렇게 알려져 있대’처럼 말하고 단정하지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보기(처음 보는 사례)]
목적: 처음 보는 마을의 자연환경을 보고 어울리는 생활 모습과 까닭을 말하고, 반대로 생활 모습을 보고 자연환경을 짐작하는지 확인합니다(목표 A).
시간: 약 4분
이렇게 말해 보세요
- “이번에는 혼자 해 볼래? 모래언덕 마을은 지어낸 마을이야. 날씨를 먼저 생각해 봐.”
- “③은 거꾸로야. 집의 모습을 보고 날씨를 짐작해 봐.”
정답
- ① 흙(흙벽돌)으로 벽을 두껍게, 창문은 작게 지은 집. 나무가 드물고 흙이 많으며, 두꺼운 벽이 뜨거운 햇볕과 열기를 막아 줘요(지붕이 평평해도 돼요 — 비가 거의 안 와서).
- ② 온몸을 덮는 헐렁하고 긴 옷. 강한 햇볕과 모래바람을 막고 바람이 잘 통해요.
- ③ 덥고 비가 많은 곳
- 생활 모습과 까닭을 함께 말해야 맞습니다.
막히면
- “이 마을에서 가장 피하고 싶은 것은 뭘까?”를 먼저 묻습니다. 도움을 받아 풀었다면 기록표에 ‘도움’으로 표시합니다.
주의
- ①에서 ‘시원한 반소매 옷과 큰 창문’처럼 답하면 “햇볕이 아주 강하면 어떻게 될까?”라고 다시 생각하게 합니다. 정답 확인은 다음 장(S12)에서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답과 왼쪽이 같아? 까닭도 말했어?”
예상 답
- “햇볕이 세면 큰 창문으로 뜨거운 빛이 많이 들어와요.”
정답
- ① 흙벽돌집(벽 두껍게·창 작게): 나무가 드물고 햇볕과 열기를 막아요 ② 온몸을 덮는 헐렁한 옷: 햇볕과 모래바람을 막아요 ③ 덥고 비가 많은 곳
막히면
- S05, S06을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확인(존중하는 태도)]
목적: 처음 보는 말에서 고정 관념과 내 기준의 판단을 찾아 고치고, 존중하는 말로 바꾸어 말하는지 확인합니다(목표 B).
시간: 약 3분
이렇게 말해 보세요
- “친구의 말을 다시 읽어 볼래? 어느 낱말이 아쉬워?”
- “②는 네가 친구에게 다시 말해 준다고 생각하고 말해 봐.”
정답
- ① ‘모두’: 같은 나라 안에서도 사람마다 다르게 살아요(오늘날에는 다양한 옷을 입어요). ‘이상한’: 내 기준으로 판단한 말이에요. 그곳의 자연환경에 맞는 까닭이 있어요.
- ② 예: “추운 곳에서는 옛날부터 따뜻한 털옷을 입어 왔대. 요즘은 어떻게 지내는지 궁금해.” (‘모두’, ‘이상해’ 없이 까닭이나 궁금함을 말하면 맞음)
- ③ 그곳의 자연환경과 그렇게 사는 까닭(사람마다 다를 수 있다는 것)
막히면
- ①이 어려우면 S09의 가와 나를 다시 보여 주고 비슷한 낱말을 찾게 합니다. 그래도 어려우면 기록표에 ‘도움’으로 적습니다.
주의
- 두 가지 가운데 하나만 찾으면 “또 아쉬운 낱말은 없을까?”라고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“사는 곳에 따라 옷과 집이 다른 까닭을 한 문장으로 말해 볼래? 다른 문화를 만나면 어떻게 하기로 했지?”
예상 답
- “날씨가 달라서 거기에 맞게 살아서요. ‘이상해’ 말고 ‘궁금해’라고 해요.”
정답
- ① 뜨거운 햇볕과 열기를 막으려고(나무가 드물고 흙이 많아서) ② 덥고 비가 많은 곳 ③ 그곳의 자연환경과 그렇게 사는 까닭
막히면
- S05, S08을 다시 보여 줍니다.
주의
- 활동지 5의 나라 조사는 다음 수업 전까지 함께 해 오면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보충(대륙과 적도)]
목적: S02에서 대륙 이름이나 적도가 흔들리면, 지난 차시의 세계 지도에 적도를 그어 다시 확인합니다.
시간: 약 4분
이렇게 말해 보세요
- “여섯 대륙의 이름을 하나씩 손가락으로 짚으며 읽어 볼까?”
- “점선이 적도야. 적도는 어느 대륙의 가운데를 지나? 우리나라가 있는 아시아는 대부분 적도의 어느 쪽에 있어?”
예상 답
- “아프리카 가운데를 지나요.” “아시아는 적도의 북쪽에 있어요.”
막히면
- 대륙 이름을 어려워하면 큰 대륙(아시아·아프리카)부터 찾고, 이름에 방위가 들어간 북아메리카·남아메리카를 짝지어 익힙니다.
주의
- 계획상 이 차시의 선수 차시는 ‘세계 여러 나라’(KR22-G06-SOC-WORLDMAP-L01)입니다. 대륙과 대양, 적도가 많이 흔들리면 그 차시의 S06~S09를 먼저 하고 오늘 수업은 다른 날 S02부터 다시 시작합니다.
- 그림은 간단히 나타낸 것이며 실제 모양·크기와 다릅니다.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세계와공존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세계의 다양한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세계의 다양한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세계의 다양한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세계의 다양한 문화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사는 곳에 따라 옷과 집은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다를까요?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자연환경에 따라 달라진 옷·집·음식을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문화를 그곳의 까닭으로 이해하고 존중해요.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6대륙 가운데 세 개의 이름을 말해요.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적도는 지구의 어디를 지나는 선인가요?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적도의 북쪽일까요, 남쪽일까요?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날씨에 맞게 살아왔어요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여름에 덥고 겨울에 추워요.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자연환경에 맞게 옷·집·음식을 만들어 왔어요.</a:t>
            </a:r>
            <a:endParaRPr lang="ko-KR" sz="2800" dirty="0"/>
          </a:p>
        </p:txBody>
      </p:sp>
      <p:sp>
        <p:nvSpPr>
          <p:cNvPr id="6" name="S03-card12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방바닥을 데워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추운 겨울을 났어요.</a:t>
            </a:r>
            <a:endParaRPr lang="ko-KR" sz="2800" dirty="0"/>
          </a:p>
        </p:txBody>
      </p:sp>
      <p:sp>
        <p:nvSpPr>
          <p:cNvPr id="8" name="S03-card14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대청마루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잘 통해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 시원했어요.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더운 곳과 추운 곳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산은 서늘하고, 비가 아주 적은 사막도 있어요.</a:t>
            </a:r>
            <a:endParaRPr lang="ko-KR" sz="2800" dirty="0"/>
          </a:p>
        </p:txBody>
      </p:sp>
      <p:sp>
        <p:nvSpPr>
          <p:cNvPr id="5" name="S04-figure18" descr="간단히 나타낸 지구: 가운데 적도 둘레는 주황색(대체로 더움), 북극과 남극 가까이는 하늘색(대체로 추움), 그 사이는 연한 노란색"/>
          <p:cNvSpPr/>
          <p:nvPr/>
        </p:nvSpPr>
        <p:spPr>
          <a:xfrm>
            <a:off x="2158034" y="2618257"/>
            <a:ext cx="2762416" cy="759664"/>
          </a:xfrm>
          <a:custGeom>
            <a:avLst/>
            <a:gdLst/>
            <a:ahLst/>
            <a:cxnLst/>
            <a:rect l="l" t="t" r="r" b="b"/>
            <a:pathLst>
              <a:path w="2762416" h="759664">
                <a:moveTo>
                  <a:pt x="2709239" y="759664"/>
                </a:moveTo>
                <a:lnTo>
                  <a:pt x="2717526" y="727897"/>
                </a:lnTo>
                <a:lnTo>
                  <a:pt x="2725814" y="696129"/>
                </a:lnTo>
                <a:lnTo>
                  <a:pt x="2732720" y="665052"/>
                </a:lnTo>
                <a:lnTo>
                  <a:pt x="2738935" y="633284"/>
                </a:lnTo>
                <a:lnTo>
                  <a:pt x="2744460" y="601516"/>
                </a:lnTo>
                <a:lnTo>
                  <a:pt x="2749294" y="569748"/>
                </a:lnTo>
                <a:lnTo>
                  <a:pt x="2753438" y="537980"/>
                </a:lnTo>
                <a:lnTo>
                  <a:pt x="2756891" y="506213"/>
                </a:lnTo>
                <a:lnTo>
                  <a:pt x="2758963" y="475135"/>
                </a:lnTo>
                <a:lnTo>
                  <a:pt x="2761034" y="443368"/>
                </a:lnTo>
                <a:lnTo>
                  <a:pt x="2761725" y="411600"/>
                </a:lnTo>
                <a:lnTo>
                  <a:pt x="2762416" y="379832"/>
                </a:lnTo>
                <a:lnTo>
                  <a:pt x="2761725" y="348064"/>
                </a:lnTo>
                <a:lnTo>
                  <a:pt x="2761034" y="316297"/>
                </a:lnTo>
                <a:lnTo>
                  <a:pt x="2758963" y="285219"/>
                </a:lnTo>
                <a:lnTo>
                  <a:pt x="2756891" y="253452"/>
                </a:lnTo>
                <a:lnTo>
                  <a:pt x="2753438" y="221684"/>
                </a:lnTo>
                <a:lnTo>
                  <a:pt x="2749294" y="189916"/>
                </a:lnTo>
                <a:lnTo>
                  <a:pt x="2744460" y="158148"/>
                </a:lnTo>
                <a:lnTo>
                  <a:pt x="2738935" y="126381"/>
                </a:lnTo>
                <a:lnTo>
                  <a:pt x="2732720" y="95303"/>
                </a:lnTo>
                <a:lnTo>
                  <a:pt x="2725814" y="63536"/>
                </a:lnTo>
                <a:lnTo>
                  <a:pt x="2717526" y="31768"/>
                </a:lnTo>
                <a:lnTo>
                  <a:pt x="2709239" y="0"/>
                </a:lnTo>
                <a:lnTo>
                  <a:pt x="53177" y="0"/>
                </a:lnTo>
                <a:lnTo>
                  <a:pt x="44889" y="31768"/>
                </a:lnTo>
                <a:lnTo>
                  <a:pt x="36602" y="63536"/>
                </a:lnTo>
                <a:lnTo>
                  <a:pt x="29696" y="95303"/>
                </a:lnTo>
                <a:lnTo>
                  <a:pt x="23481" y="126381"/>
                </a:lnTo>
                <a:lnTo>
                  <a:pt x="17956" y="158148"/>
                </a:lnTo>
                <a:lnTo>
                  <a:pt x="13121" y="189916"/>
                </a:lnTo>
                <a:lnTo>
                  <a:pt x="8978" y="221684"/>
                </a:lnTo>
                <a:lnTo>
                  <a:pt x="5525" y="253452"/>
                </a:lnTo>
                <a:lnTo>
                  <a:pt x="3453" y="285219"/>
                </a:lnTo>
                <a:lnTo>
                  <a:pt x="1381" y="316297"/>
                </a:lnTo>
                <a:lnTo>
                  <a:pt x="691" y="348064"/>
                </a:lnTo>
                <a:lnTo>
                  <a:pt x="0" y="379832"/>
                </a:lnTo>
                <a:lnTo>
                  <a:pt x="691" y="411600"/>
                </a:lnTo>
                <a:lnTo>
                  <a:pt x="1381" y="443368"/>
                </a:lnTo>
                <a:lnTo>
                  <a:pt x="3453" y="475135"/>
                </a:lnTo>
                <a:lnTo>
                  <a:pt x="5525" y="506213"/>
                </a:lnTo>
                <a:lnTo>
                  <a:pt x="8978" y="537980"/>
                </a:lnTo>
                <a:lnTo>
                  <a:pt x="13121" y="569748"/>
                </a:lnTo>
                <a:lnTo>
                  <a:pt x="17956" y="601516"/>
                </a:lnTo>
                <a:lnTo>
                  <a:pt x="23481" y="633284"/>
                </a:lnTo>
                <a:lnTo>
                  <a:pt x="29696" y="665052"/>
                </a:lnTo>
                <a:lnTo>
                  <a:pt x="36602" y="696129"/>
                </a:lnTo>
                <a:lnTo>
                  <a:pt x="44889" y="727897"/>
                </a:lnTo>
                <a:lnTo>
                  <a:pt x="53177" y="759664"/>
                </a:lnTo>
                <a:close/>
              </a:path>
            </a:pathLst>
          </a:custGeom>
          <a:solidFill>
            <a:srgbClr val="F4B183"/>
          </a:solidFill>
          <a:ln/>
        </p:spPr>
      </p:sp>
      <p:sp>
        <p:nvSpPr>
          <p:cNvPr id="6" name="S04-mark19"/>
          <p:cNvSpPr/>
          <p:nvPr/>
        </p:nvSpPr>
        <p:spPr>
          <a:xfrm>
            <a:off x="2211210" y="1996713"/>
            <a:ext cx="2656063" cy="621544"/>
          </a:xfrm>
          <a:custGeom>
            <a:avLst/>
            <a:gdLst/>
            <a:ahLst/>
            <a:cxnLst/>
            <a:rect l="l" t="t" r="r" b="b"/>
            <a:pathLst>
              <a:path w="2656063" h="621544">
                <a:moveTo>
                  <a:pt x="2656063" y="621544"/>
                </a:moveTo>
                <a:lnTo>
                  <a:pt x="2648466" y="595301"/>
                </a:lnTo>
                <a:lnTo>
                  <a:pt x="2640179" y="569748"/>
                </a:lnTo>
                <a:lnTo>
                  <a:pt x="2631201" y="543505"/>
                </a:lnTo>
                <a:lnTo>
                  <a:pt x="2621532" y="517953"/>
                </a:lnTo>
                <a:lnTo>
                  <a:pt x="2611864" y="491710"/>
                </a:lnTo>
                <a:lnTo>
                  <a:pt x="2601505" y="466158"/>
                </a:lnTo>
                <a:lnTo>
                  <a:pt x="2590455" y="440605"/>
                </a:lnTo>
                <a:lnTo>
                  <a:pt x="2578024" y="414362"/>
                </a:lnTo>
                <a:lnTo>
                  <a:pt x="2565594" y="388810"/>
                </a:lnTo>
                <a:lnTo>
                  <a:pt x="2552472" y="362567"/>
                </a:lnTo>
                <a:lnTo>
                  <a:pt x="2538660" y="337015"/>
                </a:lnTo>
                <a:lnTo>
                  <a:pt x="2524157" y="310772"/>
                </a:lnTo>
                <a:lnTo>
                  <a:pt x="2508964" y="284529"/>
                </a:lnTo>
                <a:lnTo>
                  <a:pt x="2493080" y="258976"/>
                </a:lnTo>
                <a:lnTo>
                  <a:pt x="2475815" y="233424"/>
                </a:lnTo>
                <a:lnTo>
                  <a:pt x="2457859" y="207181"/>
                </a:lnTo>
                <a:lnTo>
                  <a:pt x="2439213" y="180938"/>
                </a:lnTo>
                <a:lnTo>
                  <a:pt x="2419876" y="155386"/>
                </a:lnTo>
                <a:lnTo>
                  <a:pt x="2399158" y="129834"/>
                </a:lnTo>
                <a:lnTo>
                  <a:pt x="2377749" y="103591"/>
                </a:lnTo>
                <a:lnTo>
                  <a:pt x="2354959" y="78038"/>
                </a:lnTo>
                <a:lnTo>
                  <a:pt x="2330788" y="51795"/>
                </a:lnTo>
                <a:lnTo>
                  <a:pt x="2305926" y="25552"/>
                </a:lnTo>
                <a:lnTo>
                  <a:pt x="2278993" y="0"/>
                </a:lnTo>
                <a:lnTo>
                  <a:pt x="377070" y="0"/>
                </a:lnTo>
                <a:lnTo>
                  <a:pt x="350136" y="25552"/>
                </a:lnTo>
                <a:lnTo>
                  <a:pt x="325274" y="51795"/>
                </a:lnTo>
                <a:lnTo>
                  <a:pt x="301103" y="78038"/>
                </a:lnTo>
                <a:lnTo>
                  <a:pt x="278313" y="103591"/>
                </a:lnTo>
                <a:lnTo>
                  <a:pt x="256905" y="129834"/>
                </a:lnTo>
                <a:lnTo>
                  <a:pt x="236187" y="155386"/>
                </a:lnTo>
                <a:lnTo>
                  <a:pt x="216850" y="180938"/>
                </a:lnTo>
                <a:lnTo>
                  <a:pt x="198203" y="207181"/>
                </a:lnTo>
                <a:lnTo>
                  <a:pt x="180248" y="233424"/>
                </a:lnTo>
                <a:lnTo>
                  <a:pt x="162983" y="258976"/>
                </a:lnTo>
                <a:lnTo>
                  <a:pt x="147099" y="284529"/>
                </a:lnTo>
                <a:lnTo>
                  <a:pt x="131905" y="310772"/>
                </a:lnTo>
                <a:lnTo>
                  <a:pt x="117403" y="337015"/>
                </a:lnTo>
                <a:lnTo>
                  <a:pt x="103591" y="362567"/>
                </a:lnTo>
                <a:lnTo>
                  <a:pt x="90469" y="388810"/>
                </a:lnTo>
                <a:lnTo>
                  <a:pt x="78038" y="414362"/>
                </a:lnTo>
                <a:lnTo>
                  <a:pt x="65607" y="440605"/>
                </a:lnTo>
                <a:lnTo>
                  <a:pt x="54558" y="466158"/>
                </a:lnTo>
                <a:lnTo>
                  <a:pt x="44199" y="491710"/>
                </a:lnTo>
                <a:lnTo>
                  <a:pt x="34530" y="517953"/>
                </a:lnTo>
                <a:lnTo>
                  <a:pt x="24862" y="543505"/>
                </a:lnTo>
                <a:lnTo>
                  <a:pt x="15884" y="569748"/>
                </a:lnTo>
                <a:lnTo>
                  <a:pt x="7597" y="595301"/>
                </a:lnTo>
                <a:lnTo>
                  <a:pt x="0" y="621544"/>
                </a:lnTo>
                <a:close/>
              </a:path>
            </a:pathLst>
          </a:custGeom>
          <a:solidFill>
            <a:srgbClr val="F8E7B0"/>
          </a:solidFill>
          <a:ln/>
        </p:spPr>
      </p:sp>
      <p:sp>
        <p:nvSpPr>
          <p:cNvPr id="7" name="S04-mark20"/>
          <p:cNvSpPr/>
          <p:nvPr/>
        </p:nvSpPr>
        <p:spPr>
          <a:xfrm>
            <a:off x="2211210" y="3377921"/>
            <a:ext cx="2656063" cy="621544"/>
          </a:xfrm>
          <a:custGeom>
            <a:avLst/>
            <a:gdLst/>
            <a:ahLst/>
            <a:cxnLst/>
            <a:rect l="l" t="t" r="r" b="b"/>
            <a:pathLst>
              <a:path w="2656063" h="621544">
                <a:moveTo>
                  <a:pt x="2278993" y="621544"/>
                </a:moveTo>
                <a:lnTo>
                  <a:pt x="2305926" y="595301"/>
                </a:lnTo>
                <a:lnTo>
                  <a:pt x="2330788" y="569748"/>
                </a:lnTo>
                <a:lnTo>
                  <a:pt x="2354959" y="543505"/>
                </a:lnTo>
                <a:lnTo>
                  <a:pt x="2377749" y="517953"/>
                </a:lnTo>
                <a:lnTo>
                  <a:pt x="2399158" y="491710"/>
                </a:lnTo>
                <a:lnTo>
                  <a:pt x="2419876" y="466158"/>
                </a:lnTo>
                <a:lnTo>
                  <a:pt x="2439213" y="440605"/>
                </a:lnTo>
                <a:lnTo>
                  <a:pt x="2457859" y="414362"/>
                </a:lnTo>
                <a:lnTo>
                  <a:pt x="2475815" y="388810"/>
                </a:lnTo>
                <a:lnTo>
                  <a:pt x="2493080" y="362567"/>
                </a:lnTo>
                <a:lnTo>
                  <a:pt x="2508964" y="337015"/>
                </a:lnTo>
                <a:lnTo>
                  <a:pt x="2524157" y="310772"/>
                </a:lnTo>
                <a:lnTo>
                  <a:pt x="2538660" y="284529"/>
                </a:lnTo>
                <a:lnTo>
                  <a:pt x="2552472" y="258976"/>
                </a:lnTo>
                <a:lnTo>
                  <a:pt x="2565594" y="233424"/>
                </a:lnTo>
                <a:lnTo>
                  <a:pt x="2578024" y="207181"/>
                </a:lnTo>
                <a:lnTo>
                  <a:pt x="2590455" y="180938"/>
                </a:lnTo>
                <a:lnTo>
                  <a:pt x="2601505" y="155386"/>
                </a:lnTo>
                <a:lnTo>
                  <a:pt x="2611864" y="129834"/>
                </a:lnTo>
                <a:lnTo>
                  <a:pt x="2621532" y="103591"/>
                </a:lnTo>
                <a:lnTo>
                  <a:pt x="2631201" y="77348"/>
                </a:lnTo>
                <a:lnTo>
                  <a:pt x="2640179" y="51795"/>
                </a:lnTo>
                <a:lnTo>
                  <a:pt x="2648466" y="26243"/>
                </a:lnTo>
                <a:lnTo>
                  <a:pt x="2656063" y="0"/>
                </a:lnTo>
                <a:lnTo>
                  <a:pt x="0" y="0"/>
                </a:lnTo>
                <a:lnTo>
                  <a:pt x="7597" y="26243"/>
                </a:lnTo>
                <a:lnTo>
                  <a:pt x="15884" y="51795"/>
                </a:lnTo>
                <a:lnTo>
                  <a:pt x="24862" y="77348"/>
                </a:lnTo>
                <a:lnTo>
                  <a:pt x="34530" y="103591"/>
                </a:lnTo>
                <a:lnTo>
                  <a:pt x="44199" y="129834"/>
                </a:lnTo>
                <a:lnTo>
                  <a:pt x="54558" y="155386"/>
                </a:lnTo>
                <a:lnTo>
                  <a:pt x="65607" y="180938"/>
                </a:lnTo>
                <a:lnTo>
                  <a:pt x="78038" y="207181"/>
                </a:lnTo>
                <a:lnTo>
                  <a:pt x="90469" y="233424"/>
                </a:lnTo>
                <a:lnTo>
                  <a:pt x="103591" y="258976"/>
                </a:lnTo>
                <a:lnTo>
                  <a:pt x="117403" y="284529"/>
                </a:lnTo>
                <a:lnTo>
                  <a:pt x="131905" y="310772"/>
                </a:lnTo>
                <a:lnTo>
                  <a:pt x="147099" y="337015"/>
                </a:lnTo>
                <a:lnTo>
                  <a:pt x="162983" y="362567"/>
                </a:lnTo>
                <a:lnTo>
                  <a:pt x="180248" y="388810"/>
                </a:lnTo>
                <a:lnTo>
                  <a:pt x="198203" y="414362"/>
                </a:lnTo>
                <a:lnTo>
                  <a:pt x="216850" y="440605"/>
                </a:lnTo>
                <a:lnTo>
                  <a:pt x="236187" y="466158"/>
                </a:lnTo>
                <a:lnTo>
                  <a:pt x="256905" y="491710"/>
                </a:lnTo>
                <a:lnTo>
                  <a:pt x="278313" y="517953"/>
                </a:lnTo>
                <a:lnTo>
                  <a:pt x="301103" y="543505"/>
                </a:lnTo>
                <a:lnTo>
                  <a:pt x="325274" y="569748"/>
                </a:lnTo>
                <a:lnTo>
                  <a:pt x="350136" y="595301"/>
                </a:lnTo>
                <a:lnTo>
                  <a:pt x="377070" y="621544"/>
                </a:lnTo>
                <a:close/>
              </a:path>
            </a:pathLst>
          </a:custGeom>
          <a:solidFill>
            <a:srgbClr val="F8E7B0"/>
          </a:solidFill>
          <a:ln/>
        </p:spPr>
      </p:sp>
      <p:sp>
        <p:nvSpPr>
          <p:cNvPr id="8" name="S04-mark21"/>
          <p:cNvSpPr/>
          <p:nvPr/>
        </p:nvSpPr>
        <p:spPr>
          <a:xfrm>
            <a:off x="2588280" y="1616881"/>
            <a:ext cx="1901923" cy="379832"/>
          </a:xfrm>
          <a:custGeom>
            <a:avLst/>
            <a:gdLst/>
            <a:ahLst/>
            <a:cxnLst/>
            <a:rect l="l" t="t" r="r" b="b"/>
            <a:pathLst>
              <a:path w="1901923" h="379832">
                <a:moveTo>
                  <a:pt x="1901923" y="379832"/>
                </a:moveTo>
                <a:lnTo>
                  <a:pt x="1885349" y="363948"/>
                </a:lnTo>
                <a:lnTo>
                  <a:pt x="1868084" y="348064"/>
                </a:lnTo>
                <a:lnTo>
                  <a:pt x="1849437" y="332180"/>
                </a:lnTo>
                <a:lnTo>
                  <a:pt x="1830791" y="316297"/>
                </a:lnTo>
                <a:lnTo>
                  <a:pt x="1811454" y="300413"/>
                </a:lnTo>
                <a:lnTo>
                  <a:pt x="1790736" y="285219"/>
                </a:lnTo>
                <a:lnTo>
                  <a:pt x="1770018" y="269336"/>
                </a:lnTo>
                <a:lnTo>
                  <a:pt x="1747919" y="253452"/>
                </a:lnTo>
                <a:lnTo>
                  <a:pt x="1725129" y="237568"/>
                </a:lnTo>
                <a:lnTo>
                  <a:pt x="1700957" y="221684"/>
                </a:lnTo>
                <a:lnTo>
                  <a:pt x="1676096" y="205800"/>
                </a:lnTo>
                <a:lnTo>
                  <a:pt x="1649853" y="189916"/>
                </a:lnTo>
                <a:lnTo>
                  <a:pt x="1622229" y="174032"/>
                </a:lnTo>
                <a:lnTo>
                  <a:pt x="1593223" y="158148"/>
                </a:lnTo>
                <a:lnTo>
                  <a:pt x="1562146" y="142264"/>
                </a:lnTo>
                <a:lnTo>
                  <a:pt x="1528306" y="126381"/>
                </a:lnTo>
                <a:lnTo>
                  <a:pt x="1493086" y="110497"/>
                </a:lnTo>
                <a:lnTo>
                  <a:pt x="1454412" y="94613"/>
                </a:lnTo>
                <a:lnTo>
                  <a:pt x="1411594" y="79419"/>
                </a:lnTo>
                <a:lnTo>
                  <a:pt x="1364633" y="63536"/>
                </a:lnTo>
                <a:lnTo>
                  <a:pt x="1310076" y="47652"/>
                </a:lnTo>
                <a:lnTo>
                  <a:pt x="1245159" y="31768"/>
                </a:lnTo>
                <a:lnTo>
                  <a:pt x="1159524" y="15884"/>
                </a:lnTo>
                <a:lnTo>
                  <a:pt x="950962" y="0"/>
                </a:lnTo>
                <a:lnTo>
                  <a:pt x="950962" y="0"/>
                </a:lnTo>
                <a:lnTo>
                  <a:pt x="742399" y="15884"/>
                </a:lnTo>
                <a:lnTo>
                  <a:pt x="656764" y="31768"/>
                </a:lnTo>
                <a:lnTo>
                  <a:pt x="591848" y="47652"/>
                </a:lnTo>
                <a:lnTo>
                  <a:pt x="537290" y="63536"/>
                </a:lnTo>
                <a:lnTo>
                  <a:pt x="490329" y="79419"/>
                </a:lnTo>
                <a:lnTo>
                  <a:pt x="447511" y="94613"/>
                </a:lnTo>
                <a:lnTo>
                  <a:pt x="408838" y="110497"/>
                </a:lnTo>
                <a:lnTo>
                  <a:pt x="373617" y="126381"/>
                </a:lnTo>
                <a:lnTo>
                  <a:pt x="339777" y="142264"/>
                </a:lnTo>
                <a:lnTo>
                  <a:pt x="308700" y="158148"/>
                </a:lnTo>
                <a:lnTo>
                  <a:pt x="279695" y="174032"/>
                </a:lnTo>
                <a:lnTo>
                  <a:pt x="252070" y="189916"/>
                </a:lnTo>
                <a:lnTo>
                  <a:pt x="225827" y="205800"/>
                </a:lnTo>
                <a:lnTo>
                  <a:pt x="200966" y="221684"/>
                </a:lnTo>
                <a:lnTo>
                  <a:pt x="176795" y="237568"/>
                </a:lnTo>
                <a:lnTo>
                  <a:pt x="154005" y="253452"/>
                </a:lnTo>
                <a:lnTo>
                  <a:pt x="131905" y="269336"/>
                </a:lnTo>
                <a:lnTo>
                  <a:pt x="111187" y="285219"/>
                </a:lnTo>
                <a:lnTo>
                  <a:pt x="90469" y="300413"/>
                </a:lnTo>
                <a:lnTo>
                  <a:pt x="71132" y="316297"/>
                </a:lnTo>
                <a:lnTo>
                  <a:pt x="52486" y="332180"/>
                </a:lnTo>
                <a:lnTo>
                  <a:pt x="33840" y="348064"/>
                </a:lnTo>
                <a:lnTo>
                  <a:pt x="16574" y="363948"/>
                </a:lnTo>
                <a:lnTo>
                  <a:pt x="0" y="379832"/>
                </a:lnTo>
                <a:close/>
              </a:path>
            </a:pathLst>
          </a:custGeom>
          <a:solidFill>
            <a:srgbClr val="BFDDF5"/>
          </a:solidFill>
          <a:ln/>
        </p:spPr>
      </p:sp>
      <p:sp>
        <p:nvSpPr>
          <p:cNvPr id="9" name="S04-mark22"/>
          <p:cNvSpPr/>
          <p:nvPr/>
        </p:nvSpPr>
        <p:spPr>
          <a:xfrm>
            <a:off x="2588280" y="3999465"/>
            <a:ext cx="1901923" cy="379832"/>
          </a:xfrm>
          <a:custGeom>
            <a:avLst/>
            <a:gdLst/>
            <a:ahLst/>
            <a:cxnLst/>
            <a:rect l="l" t="t" r="r" b="b"/>
            <a:pathLst>
              <a:path w="1901923" h="379832">
                <a:moveTo>
                  <a:pt x="950962" y="379832"/>
                </a:moveTo>
                <a:lnTo>
                  <a:pt x="1159524" y="363948"/>
                </a:lnTo>
                <a:lnTo>
                  <a:pt x="1245159" y="348064"/>
                </a:lnTo>
                <a:lnTo>
                  <a:pt x="1310076" y="332180"/>
                </a:lnTo>
                <a:lnTo>
                  <a:pt x="1364633" y="316297"/>
                </a:lnTo>
                <a:lnTo>
                  <a:pt x="1411594" y="300413"/>
                </a:lnTo>
                <a:lnTo>
                  <a:pt x="1454412" y="285219"/>
                </a:lnTo>
                <a:lnTo>
                  <a:pt x="1493086" y="269336"/>
                </a:lnTo>
                <a:lnTo>
                  <a:pt x="1528306" y="253452"/>
                </a:lnTo>
                <a:lnTo>
                  <a:pt x="1562146" y="237568"/>
                </a:lnTo>
                <a:lnTo>
                  <a:pt x="1593223" y="221684"/>
                </a:lnTo>
                <a:lnTo>
                  <a:pt x="1622229" y="205800"/>
                </a:lnTo>
                <a:lnTo>
                  <a:pt x="1649853" y="189916"/>
                </a:lnTo>
                <a:lnTo>
                  <a:pt x="1676096" y="174032"/>
                </a:lnTo>
                <a:lnTo>
                  <a:pt x="1700957" y="158148"/>
                </a:lnTo>
                <a:lnTo>
                  <a:pt x="1725129" y="142264"/>
                </a:lnTo>
                <a:lnTo>
                  <a:pt x="1747919" y="126381"/>
                </a:lnTo>
                <a:lnTo>
                  <a:pt x="1770018" y="110497"/>
                </a:lnTo>
                <a:lnTo>
                  <a:pt x="1790736" y="94613"/>
                </a:lnTo>
                <a:lnTo>
                  <a:pt x="1811454" y="79419"/>
                </a:lnTo>
                <a:lnTo>
                  <a:pt x="1830791" y="63536"/>
                </a:lnTo>
                <a:lnTo>
                  <a:pt x="1849437" y="47652"/>
                </a:lnTo>
                <a:lnTo>
                  <a:pt x="1868084" y="31768"/>
                </a:lnTo>
                <a:lnTo>
                  <a:pt x="1885349" y="15884"/>
                </a:lnTo>
                <a:lnTo>
                  <a:pt x="1901923" y="0"/>
                </a:lnTo>
                <a:lnTo>
                  <a:pt x="0" y="0"/>
                </a:lnTo>
                <a:lnTo>
                  <a:pt x="16574" y="15884"/>
                </a:lnTo>
                <a:lnTo>
                  <a:pt x="33840" y="31768"/>
                </a:lnTo>
                <a:lnTo>
                  <a:pt x="52486" y="47652"/>
                </a:lnTo>
                <a:lnTo>
                  <a:pt x="71132" y="63536"/>
                </a:lnTo>
                <a:lnTo>
                  <a:pt x="90469" y="79419"/>
                </a:lnTo>
                <a:lnTo>
                  <a:pt x="111187" y="94613"/>
                </a:lnTo>
                <a:lnTo>
                  <a:pt x="131905" y="110497"/>
                </a:lnTo>
                <a:lnTo>
                  <a:pt x="154005" y="126381"/>
                </a:lnTo>
                <a:lnTo>
                  <a:pt x="176795" y="142264"/>
                </a:lnTo>
                <a:lnTo>
                  <a:pt x="200966" y="158148"/>
                </a:lnTo>
                <a:lnTo>
                  <a:pt x="225827" y="174032"/>
                </a:lnTo>
                <a:lnTo>
                  <a:pt x="252070" y="189916"/>
                </a:lnTo>
                <a:lnTo>
                  <a:pt x="279695" y="205800"/>
                </a:lnTo>
                <a:lnTo>
                  <a:pt x="308700" y="221684"/>
                </a:lnTo>
                <a:lnTo>
                  <a:pt x="339777" y="237568"/>
                </a:lnTo>
                <a:lnTo>
                  <a:pt x="373617" y="253452"/>
                </a:lnTo>
                <a:lnTo>
                  <a:pt x="408838" y="269336"/>
                </a:lnTo>
                <a:lnTo>
                  <a:pt x="447511" y="285219"/>
                </a:lnTo>
                <a:lnTo>
                  <a:pt x="490329" y="300413"/>
                </a:lnTo>
                <a:lnTo>
                  <a:pt x="537290" y="316297"/>
                </a:lnTo>
                <a:lnTo>
                  <a:pt x="591848" y="332180"/>
                </a:lnTo>
                <a:lnTo>
                  <a:pt x="656764" y="348064"/>
                </a:lnTo>
                <a:lnTo>
                  <a:pt x="742399" y="363948"/>
                </a:lnTo>
                <a:lnTo>
                  <a:pt x="950962" y="379832"/>
                </a:lnTo>
                <a:close/>
              </a:path>
            </a:pathLst>
          </a:custGeom>
          <a:solidFill>
            <a:srgbClr val="BFDDF5"/>
          </a:solidFill>
          <a:ln/>
        </p:spPr>
      </p:sp>
      <p:sp>
        <p:nvSpPr>
          <p:cNvPr id="10" name="S04-mark23"/>
          <p:cNvSpPr/>
          <p:nvPr/>
        </p:nvSpPr>
        <p:spPr>
          <a:xfrm>
            <a:off x="2158034" y="1616881"/>
            <a:ext cx="2762416" cy="2762416"/>
          </a:xfrm>
          <a:prstGeom prst="ellips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11" name="S04-mark24"/>
          <p:cNvSpPr/>
          <p:nvPr/>
        </p:nvSpPr>
        <p:spPr>
          <a:xfrm>
            <a:off x="2158034" y="2998089"/>
            <a:ext cx="2762416" cy="0"/>
          </a:xfrm>
          <a:prstGeom prst="line">
            <a:avLst/>
          </a:prstGeom>
          <a:noFill/>
          <a:ln w="25400">
            <a:solidFill>
              <a:srgbClr val="C2571A"/>
            </a:solidFill>
            <a:prstDash val="dash"/>
          </a:ln>
        </p:spPr>
      </p:sp>
      <p:sp>
        <p:nvSpPr>
          <p:cNvPr id="12" name="S04-mark25"/>
          <p:cNvSpPr/>
          <p:nvPr/>
        </p:nvSpPr>
        <p:spPr>
          <a:xfrm>
            <a:off x="4747798" y="1789532"/>
            <a:ext cx="448893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13" name="S04-mark26"/>
          <p:cNvSpPr/>
          <p:nvPr/>
        </p:nvSpPr>
        <p:spPr>
          <a:xfrm>
            <a:off x="4920449" y="2998089"/>
            <a:ext cx="276242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14" name="S04-mark27"/>
          <p:cNvSpPr/>
          <p:nvPr/>
        </p:nvSpPr>
        <p:spPr>
          <a:xfrm>
            <a:off x="4747798" y="4206646"/>
            <a:ext cx="448893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15" name="S04-label29"/>
          <p:cNvSpPr txBox="1"/>
          <p:nvPr/>
        </p:nvSpPr>
        <p:spPr>
          <a:xfrm>
            <a:off x="5300282" y="1646657"/>
            <a:ext cx="34335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북극에 가까운 곳: 대체로 추워요</a:t>
            </a:r>
            <a:endParaRPr lang="ko-KR" sz="1800" dirty="0"/>
          </a:p>
        </p:txBody>
      </p:sp>
      <p:sp>
        <p:nvSpPr>
          <p:cNvPr id="16" name="S04-label31"/>
          <p:cNvSpPr txBox="1"/>
          <p:nvPr/>
        </p:nvSpPr>
        <p:spPr>
          <a:xfrm>
            <a:off x="5300282" y="2855214"/>
            <a:ext cx="34335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C257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적도에 가까운 곳: 대체로 더워요</a:t>
            </a:r>
            <a:endParaRPr lang="ko-KR" sz="1800" dirty="0"/>
          </a:p>
        </p:txBody>
      </p:sp>
      <p:sp>
        <p:nvSpPr>
          <p:cNvPr id="17" name="S04-label33"/>
          <p:cNvSpPr txBox="1"/>
          <p:nvPr/>
        </p:nvSpPr>
        <p:spPr>
          <a:xfrm>
            <a:off x="5300282" y="4063771"/>
            <a:ext cx="34335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남극에 가까운 곳: 대체로 추워요</a:t>
            </a:r>
            <a:endParaRPr lang="ko-KR" sz="1800" dirty="0"/>
          </a:p>
        </p:txBody>
      </p:sp>
      <p:sp>
        <p:nvSpPr>
          <p:cNvPr id="18" name="S04-label35"/>
          <p:cNvSpPr txBox="1"/>
          <p:nvPr/>
        </p:nvSpPr>
        <p:spPr>
          <a:xfrm>
            <a:off x="3260350" y="264803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C257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</a:t>
            </a:r>
            <a:endParaRPr lang="ko-KR" sz="1800" dirty="0"/>
          </a:p>
        </p:txBody>
      </p:sp>
      <p:sp>
        <p:nvSpPr>
          <p:cNvPr id="19" name="S04-label36"/>
          <p:cNvSpPr txBox="1"/>
          <p:nvPr/>
        </p:nvSpPr>
        <p:spPr>
          <a:xfrm>
            <a:off x="548640" y="4743450"/>
            <a:ext cx="1109167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날씨에 맞는 집</a:t>
            </a:r>
            <a:endParaRPr lang="ko-KR" sz="4000" dirty="0"/>
          </a:p>
        </p:txBody>
      </p:sp>
      <p:sp>
        <p:nvSpPr>
          <p:cNvPr id="3" name="S05-card37"/>
          <p:cNvSpPr/>
          <p:nvPr/>
        </p:nvSpPr>
        <p:spPr>
          <a:xfrm>
            <a:off x="548640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8"/>
          <p:cNvSpPr txBox="1"/>
          <p:nvPr/>
        </p:nvSpPr>
        <p:spPr>
          <a:xfrm>
            <a:off x="822960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두꺼운 흙벽,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창문</a:t>
            </a:r>
            <a:endParaRPr lang="ko-KR" sz="2800" dirty="0"/>
          </a:p>
        </p:txBody>
      </p:sp>
      <p:sp>
        <p:nvSpPr>
          <p:cNvPr id="5" name="S05-card39"/>
          <p:cNvSpPr/>
          <p:nvPr/>
        </p:nvSpPr>
        <p:spPr>
          <a:xfrm>
            <a:off x="4322064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40"/>
          <p:cNvSpPr txBox="1"/>
          <p:nvPr/>
        </p:nvSpPr>
        <p:spPr>
          <a:xfrm>
            <a:off x="4596384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땅에서 띄운 집,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가파른 지붕</a:t>
            </a:r>
            <a:endParaRPr lang="ko-KR" sz="2800" dirty="0"/>
          </a:p>
        </p:txBody>
      </p:sp>
      <p:sp>
        <p:nvSpPr>
          <p:cNvPr id="7" name="S05-card41"/>
          <p:cNvSpPr/>
          <p:nvPr/>
        </p:nvSpPr>
        <p:spPr>
          <a:xfrm>
            <a:off x="8095488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42"/>
          <p:cNvSpPr txBox="1"/>
          <p:nvPr/>
        </p:nvSpPr>
        <p:spPr>
          <a:xfrm>
            <a:off x="8369808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두꺼운 나무 벽,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창</a:t>
            </a:r>
            <a:endParaRPr lang="ko-KR" sz="2800" dirty="0"/>
          </a:p>
        </p:txBody>
      </p:sp>
      <p:sp>
        <p:nvSpPr>
          <p:cNvPr id="9" name="S05-figure43" descr="간단히 나타낸 집 가: 흙색 벽이 두껍고 작은 창문이 두 개, 지붕은 평평함. 위에 강한 해"/>
          <p:cNvSpPr/>
          <p:nvPr/>
        </p:nvSpPr>
        <p:spPr>
          <a:xfrm>
            <a:off x="632460" y="3965554"/>
            <a:ext cx="3316224" cy="179255"/>
          </a:xfrm>
          <a:custGeom>
            <a:avLst/>
            <a:gdLst/>
            <a:ahLst/>
            <a:cxnLst/>
            <a:rect l="l" t="t" r="r" b="b"/>
            <a:pathLst>
              <a:path w="3316224" h="179255">
                <a:moveTo>
                  <a:pt x="0" y="179255"/>
                </a:moveTo>
                <a:lnTo>
                  <a:pt x="3316224" y="179255"/>
                </a:lnTo>
                <a:lnTo>
                  <a:pt x="3316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8D5A9"/>
          </a:solidFill>
          <a:ln/>
        </p:spPr>
      </p:sp>
      <p:sp>
        <p:nvSpPr>
          <p:cNvPr id="10" name="S05-mark44"/>
          <p:cNvSpPr/>
          <p:nvPr/>
        </p:nvSpPr>
        <p:spPr>
          <a:xfrm>
            <a:off x="990971" y="2621139"/>
            <a:ext cx="2240692" cy="1344415"/>
          </a:xfrm>
          <a:custGeom>
            <a:avLst/>
            <a:gdLst/>
            <a:ahLst/>
            <a:cxnLst/>
            <a:rect l="l" t="t" r="r" b="b"/>
            <a:pathLst>
              <a:path w="2240692" h="1344415">
                <a:moveTo>
                  <a:pt x="0" y="1344415"/>
                </a:moveTo>
                <a:lnTo>
                  <a:pt x="2240692" y="1344415"/>
                </a:lnTo>
                <a:lnTo>
                  <a:pt x="2240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B38C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mark45"/>
          <p:cNvSpPr/>
          <p:nvPr/>
        </p:nvSpPr>
        <p:spPr>
          <a:xfrm>
            <a:off x="878936" y="2419477"/>
            <a:ext cx="2464761" cy="201662"/>
          </a:xfrm>
          <a:custGeom>
            <a:avLst/>
            <a:gdLst/>
            <a:ahLst/>
            <a:cxnLst/>
            <a:rect l="l" t="t" r="r" b="b"/>
            <a:pathLst>
              <a:path w="2464761" h="201662">
                <a:moveTo>
                  <a:pt x="0" y="201662"/>
                </a:moveTo>
                <a:lnTo>
                  <a:pt x="2464761" y="201662"/>
                </a:lnTo>
                <a:lnTo>
                  <a:pt x="2464761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A5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mark46"/>
          <p:cNvSpPr/>
          <p:nvPr/>
        </p:nvSpPr>
        <p:spPr>
          <a:xfrm>
            <a:off x="1394295" y="2890022"/>
            <a:ext cx="246476" cy="224069"/>
          </a:xfrm>
          <a:custGeom>
            <a:avLst/>
            <a:gdLst/>
            <a:ahLst/>
            <a:cxnLst/>
            <a:rect l="l" t="t" r="r" b="b"/>
            <a:pathLst>
              <a:path w="246476" h="224069">
                <a:moveTo>
                  <a:pt x="0" y="224069"/>
                </a:moveTo>
                <a:lnTo>
                  <a:pt x="246476" y="224069"/>
                </a:lnTo>
                <a:lnTo>
                  <a:pt x="2464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B463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mark47"/>
          <p:cNvSpPr/>
          <p:nvPr/>
        </p:nvSpPr>
        <p:spPr>
          <a:xfrm>
            <a:off x="2581862" y="2890022"/>
            <a:ext cx="246476" cy="224069"/>
          </a:xfrm>
          <a:custGeom>
            <a:avLst/>
            <a:gdLst/>
            <a:ahLst/>
            <a:cxnLst/>
            <a:rect l="l" t="t" r="r" b="b"/>
            <a:pathLst>
              <a:path w="246476" h="224069">
                <a:moveTo>
                  <a:pt x="0" y="224069"/>
                </a:moveTo>
                <a:lnTo>
                  <a:pt x="246476" y="224069"/>
                </a:lnTo>
                <a:lnTo>
                  <a:pt x="2464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B463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mark48"/>
          <p:cNvSpPr/>
          <p:nvPr/>
        </p:nvSpPr>
        <p:spPr>
          <a:xfrm>
            <a:off x="1932061" y="3293347"/>
            <a:ext cx="358511" cy="672208"/>
          </a:xfrm>
          <a:custGeom>
            <a:avLst/>
            <a:gdLst/>
            <a:ahLst/>
            <a:cxnLst/>
            <a:rect l="l" t="t" r="r" b="b"/>
            <a:pathLst>
              <a:path w="358511" h="672208">
                <a:moveTo>
                  <a:pt x="0" y="672208"/>
                </a:moveTo>
                <a:lnTo>
                  <a:pt x="358511" y="672208"/>
                </a:lnTo>
                <a:lnTo>
                  <a:pt x="3585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A6A4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mark49"/>
          <p:cNvSpPr/>
          <p:nvPr/>
        </p:nvSpPr>
        <p:spPr>
          <a:xfrm>
            <a:off x="3276476" y="1680049"/>
            <a:ext cx="448138" cy="448138"/>
          </a:xfrm>
          <a:prstGeom prst="ellipse">
            <a:avLst/>
          </a:prstGeom>
          <a:solidFill>
            <a:srgbClr val="F2C14E"/>
          </a:solidFill>
          <a:ln w="19050">
            <a:solidFill>
              <a:srgbClr val="C98A00"/>
            </a:solidFill>
            <a:prstDash val="solid"/>
          </a:ln>
        </p:spPr>
      </p:sp>
      <p:sp>
        <p:nvSpPr>
          <p:cNvPr id="16" name="S05-mark50"/>
          <p:cNvSpPr/>
          <p:nvPr/>
        </p:nvSpPr>
        <p:spPr>
          <a:xfrm flipH="1">
            <a:off x="2985186" y="1904118"/>
            <a:ext cx="134442" cy="0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7" name="S05-mark51"/>
          <p:cNvSpPr/>
          <p:nvPr/>
        </p:nvSpPr>
        <p:spPr>
          <a:xfrm flipH="1">
            <a:off x="3119628" y="2173001"/>
            <a:ext cx="112035" cy="112035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8" name="S05-mark52"/>
          <p:cNvSpPr/>
          <p:nvPr/>
        </p:nvSpPr>
        <p:spPr>
          <a:xfrm>
            <a:off x="3500546" y="2285035"/>
            <a:ext cx="0" cy="112035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9" name="S05-mark53"/>
          <p:cNvSpPr/>
          <p:nvPr/>
        </p:nvSpPr>
        <p:spPr>
          <a:xfrm flipH="1" flipV="1">
            <a:off x="3119628" y="1523200"/>
            <a:ext cx="112035" cy="112035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20" name="S05-label54"/>
          <p:cNvSpPr txBox="1"/>
          <p:nvPr/>
        </p:nvSpPr>
        <p:spPr>
          <a:xfrm>
            <a:off x="548640" y="4415282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덥고 건조한 곳</a:t>
            </a:r>
            <a:endParaRPr lang="ko-KR" sz="2200" dirty="0"/>
          </a:p>
        </p:txBody>
      </p:sp>
      <p:sp>
        <p:nvSpPr>
          <p:cNvPr id="21" name="S05-figure55" descr="간단히 나타낸 집 나: 기둥 위에 올려 땅에서 띄운 나무집, 지붕은 높고 가파름. 위에서 비가 내림"/>
          <p:cNvSpPr/>
          <p:nvPr/>
        </p:nvSpPr>
        <p:spPr>
          <a:xfrm>
            <a:off x="4712062" y="4090745"/>
            <a:ext cx="2764827" cy="167565"/>
          </a:xfrm>
          <a:custGeom>
            <a:avLst/>
            <a:gdLst/>
            <a:ahLst/>
            <a:cxnLst/>
            <a:rect l="l" t="t" r="r" b="b"/>
            <a:pathLst>
              <a:path w="2764827" h="167565">
                <a:moveTo>
                  <a:pt x="0" y="167565"/>
                </a:moveTo>
                <a:lnTo>
                  <a:pt x="2764827" y="167565"/>
                </a:lnTo>
                <a:lnTo>
                  <a:pt x="2764827" y="0"/>
                </a:lnTo>
                <a:lnTo>
                  <a:pt x="0" y="0"/>
                </a:lnTo>
                <a:close/>
              </a:path>
            </a:pathLst>
          </a:custGeom>
          <a:solidFill>
            <a:srgbClr val="B9D7A0"/>
          </a:solidFill>
          <a:ln/>
        </p:spPr>
      </p:sp>
      <p:sp>
        <p:nvSpPr>
          <p:cNvPr id="22" name="S05-mark56"/>
          <p:cNvSpPr/>
          <p:nvPr/>
        </p:nvSpPr>
        <p:spPr>
          <a:xfrm>
            <a:off x="5005302" y="3378592"/>
            <a:ext cx="2178349" cy="125674"/>
          </a:xfrm>
          <a:custGeom>
            <a:avLst/>
            <a:gdLst/>
            <a:ahLst/>
            <a:cxnLst/>
            <a:rect l="l" t="t" r="r" b="b"/>
            <a:pathLst>
              <a:path w="2178349" h="125674">
                <a:moveTo>
                  <a:pt x="0" y="125674"/>
                </a:moveTo>
                <a:lnTo>
                  <a:pt x="2178349" y="125674"/>
                </a:lnTo>
                <a:lnTo>
                  <a:pt x="2178349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A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05-mark57"/>
          <p:cNvSpPr/>
          <p:nvPr/>
        </p:nvSpPr>
        <p:spPr>
          <a:xfrm>
            <a:off x="5214758" y="2792114"/>
            <a:ext cx="1759436" cy="586479"/>
          </a:xfrm>
          <a:custGeom>
            <a:avLst/>
            <a:gdLst/>
            <a:ahLst/>
            <a:cxnLst/>
            <a:rect l="l" t="t" r="r" b="b"/>
            <a:pathLst>
              <a:path w="1759436" h="586479">
                <a:moveTo>
                  <a:pt x="0" y="586479"/>
                </a:moveTo>
                <a:lnTo>
                  <a:pt x="1759436" y="586479"/>
                </a:lnTo>
                <a:lnTo>
                  <a:pt x="1759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D8B77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5-mark58"/>
          <p:cNvSpPr/>
          <p:nvPr/>
        </p:nvSpPr>
        <p:spPr>
          <a:xfrm>
            <a:off x="4837736" y="1786722"/>
            <a:ext cx="2513479" cy="1005392"/>
          </a:xfrm>
          <a:custGeom>
            <a:avLst/>
            <a:gdLst/>
            <a:ahLst/>
            <a:cxnLst/>
            <a:rect l="l" t="t" r="r" b="b"/>
            <a:pathLst>
              <a:path w="2513479" h="1005392">
                <a:moveTo>
                  <a:pt x="0" y="1005392"/>
                </a:moveTo>
                <a:lnTo>
                  <a:pt x="2513479" y="1005392"/>
                </a:lnTo>
                <a:lnTo>
                  <a:pt x="1256740" y="0"/>
                </a:lnTo>
                <a:close/>
              </a:path>
            </a:pathLst>
          </a:custGeom>
          <a:solidFill>
            <a:srgbClr val="B58B3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mark59"/>
          <p:cNvSpPr/>
          <p:nvPr/>
        </p:nvSpPr>
        <p:spPr>
          <a:xfrm>
            <a:off x="5885019" y="2917788"/>
            <a:ext cx="377022" cy="460805"/>
          </a:xfrm>
          <a:custGeom>
            <a:avLst/>
            <a:gdLst/>
            <a:ahLst/>
            <a:cxnLst/>
            <a:rect l="l" t="t" r="r" b="b"/>
            <a:pathLst>
              <a:path w="377022" h="460805">
                <a:moveTo>
                  <a:pt x="0" y="460805"/>
                </a:moveTo>
                <a:lnTo>
                  <a:pt x="377022" y="460805"/>
                </a:lnTo>
                <a:lnTo>
                  <a:pt x="377022" y="0"/>
                </a:lnTo>
                <a:lnTo>
                  <a:pt x="0" y="0"/>
                </a:lnTo>
                <a:close/>
              </a:path>
            </a:pathLst>
          </a:custGeom>
          <a:solidFill>
            <a:srgbClr val="8A6A4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5-mark60"/>
          <p:cNvSpPr/>
          <p:nvPr/>
        </p:nvSpPr>
        <p:spPr>
          <a:xfrm flipV="1">
            <a:off x="5172867" y="3504266"/>
            <a:ext cx="0" cy="586479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7" name="S05-mark61"/>
          <p:cNvSpPr/>
          <p:nvPr/>
        </p:nvSpPr>
        <p:spPr>
          <a:xfrm flipV="1">
            <a:off x="5801237" y="3504266"/>
            <a:ext cx="0" cy="586479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8" name="S05-mark62"/>
          <p:cNvSpPr/>
          <p:nvPr/>
        </p:nvSpPr>
        <p:spPr>
          <a:xfrm flipV="1">
            <a:off x="6387715" y="3504266"/>
            <a:ext cx="0" cy="586479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9" name="S05-mark63"/>
          <p:cNvSpPr/>
          <p:nvPr/>
        </p:nvSpPr>
        <p:spPr>
          <a:xfrm flipV="1">
            <a:off x="7016085" y="3504266"/>
            <a:ext cx="0" cy="586479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30" name="S05-mark64"/>
          <p:cNvSpPr/>
          <p:nvPr/>
        </p:nvSpPr>
        <p:spPr>
          <a:xfrm flipH="1">
            <a:off x="5026247" y="1451591"/>
            <a:ext cx="104728" cy="20945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1" name="S05-mark65"/>
          <p:cNvSpPr/>
          <p:nvPr/>
        </p:nvSpPr>
        <p:spPr>
          <a:xfrm flipH="1">
            <a:off x="5528943" y="1451591"/>
            <a:ext cx="104728" cy="20945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2" name="S05-mark66"/>
          <p:cNvSpPr/>
          <p:nvPr/>
        </p:nvSpPr>
        <p:spPr>
          <a:xfrm flipH="1">
            <a:off x="6031639" y="1451591"/>
            <a:ext cx="104728" cy="20945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3" name="S05-mark67"/>
          <p:cNvSpPr/>
          <p:nvPr/>
        </p:nvSpPr>
        <p:spPr>
          <a:xfrm flipH="1">
            <a:off x="6534335" y="1451591"/>
            <a:ext cx="104728" cy="20945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4" name="S05-mark68"/>
          <p:cNvSpPr/>
          <p:nvPr/>
        </p:nvSpPr>
        <p:spPr>
          <a:xfrm flipH="1">
            <a:off x="7037031" y="1451591"/>
            <a:ext cx="104728" cy="20945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5" name="S05-label69"/>
          <p:cNvSpPr txBox="1"/>
          <p:nvPr/>
        </p:nvSpPr>
        <p:spPr>
          <a:xfrm>
            <a:off x="4352544" y="4415282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덥고 비가 많은 곳</a:t>
            </a:r>
            <a:endParaRPr lang="ko-KR" sz="2200" dirty="0"/>
          </a:p>
        </p:txBody>
      </p:sp>
      <p:sp>
        <p:nvSpPr>
          <p:cNvPr id="36" name="S05-figure70" descr="간단히 나타낸 집 다: 통나무를 쌓은 벽, 작은 창문, 눈이 덮인 가파른 지붕과 굴뚝. 둘레에 눈송이"/>
          <p:cNvSpPr/>
          <p:nvPr/>
        </p:nvSpPr>
        <p:spPr>
          <a:xfrm>
            <a:off x="8361035" y="4077446"/>
            <a:ext cx="3074690" cy="180864"/>
          </a:xfrm>
          <a:custGeom>
            <a:avLst/>
            <a:gdLst/>
            <a:ahLst/>
            <a:cxnLst/>
            <a:rect l="l" t="t" r="r" b="b"/>
            <a:pathLst>
              <a:path w="3074690" h="180864">
                <a:moveTo>
                  <a:pt x="0" y="180864"/>
                </a:moveTo>
                <a:lnTo>
                  <a:pt x="3074690" y="180864"/>
                </a:lnTo>
                <a:lnTo>
                  <a:pt x="3074690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3F8"/>
          </a:solidFill>
          <a:ln/>
        </p:spPr>
      </p:sp>
      <p:sp>
        <p:nvSpPr>
          <p:cNvPr id="37" name="S05-mark71"/>
          <p:cNvSpPr/>
          <p:nvPr/>
        </p:nvSpPr>
        <p:spPr>
          <a:xfrm>
            <a:off x="8722763" y="2811397"/>
            <a:ext cx="2260802" cy="1266049"/>
          </a:xfrm>
          <a:custGeom>
            <a:avLst/>
            <a:gdLst/>
            <a:ahLst/>
            <a:cxnLst/>
            <a:rect l="l" t="t" r="r" b="b"/>
            <a:pathLst>
              <a:path w="2260802" h="1266049">
                <a:moveTo>
                  <a:pt x="0" y="1266049"/>
                </a:moveTo>
                <a:lnTo>
                  <a:pt x="2260802" y="1266049"/>
                </a:lnTo>
                <a:lnTo>
                  <a:pt x="22608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07A4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5-mark72"/>
          <p:cNvSpPr/>
          <p:nvPr/>
        </p:nvSpPr>
        <p:spPr>
          <a:xfrm>
            <a:off x="10350540" y="2042724"/>
            <a:ext cx="226080" cy="452160"/>
          </a:xfrm>
          <a:custGeom>
            <a:avLst/>
            <a:gdLst/>
            <a:ahLst/>
            <a:cxnLst/>
            <a:rect l="l" t="t" r="r" b="b"/>
            <a:pathLst>
              <a:path w="226080" h="452160">
                <a:moveTo>
                  <a:pt x="0" y="452160"/>
                </a:moveTo>
                <a:lnTo>
                  <a:pt x="226080" y="452160"/>
                </a:lnTo>
                <a:lnTo>
                  <a:pt x="226080" y="0"/>
                </a:lnTo>
                <a:lnTo>
                  <a:pt x="0" y="0"/>
                </a:lnTo>
                <a:close/>
              </a:path>
            </a:pathLst>
          </a:custGeom>
          <a:solidFill>
            <a:srgbClr val="7A5A44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9" name="S05-mark73"/>
          <p:cNvSpPr/>
          <p:nvPr/>
        </p:nvSpPr>
        <p:spPr>
          <a:xfrm>
            <a:off x="8541899" y="1907076"/>
            <a:ext cx="2622530" cy="904321"/>
          </a:xfrm>
          <a:custGeom>
            <a:avLst/>
            <a:gdLst/>
            <a:ahLst/>
            <a:cxnLst/>
            <a:rect l="l" t="t" r="r" b="b"/>
            <a:pathLst>
              <a:path w="2622530" h="904321">
                <a:moveTo>
                  <a:pt x="0" y="904321"/>
                </a:moveTo>
                <a:lnTo>
                  <a:pt x="2622530" y="904321"/>
                </a:lnTo>
                <a:lnTo>
                  <a:pt x="1311265" y="0"/>
                </a:lnTo>
                <a:close/>
              </a:path>
            </a:pathLst>
          </a:custGeom>
          <a:solidFill>
            <a:srgbClr val="6B4F3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5-mark74"/>
          <p:cNvSpPr/>
          <p:nvPr/>
        </p:nvSpPr>
        <p:spPr>
          <a:xfrm>
            <a:off x="8541899" y="1907076"/>
            <a:ext cx="2622530" cy="904321"/>
          </a:xfrm>
          <a:custGeom>
            <a:avLst/>
            <a:gdLst/>
            <a:ahLst/>
            <a:cxnLst/>
            <a:rect l="l" t="t" r="r" b="b"/>
            <a:pathLst>
              <a:path w="2622530" h="904321">
                <a:moveTo>
                  <a:pt x="0" y="904321"/>
                </a:moveTo>
                <a:lnTo>
                  <a:pt x="1311265" y="0"/>
                </a:lnTo>
                <a:lnTo>
                  <a:pt x="2622530" y="904321"/>
                </a:lnTo>
                <a:lnTo>
                  <a:pt x="2396450" y="904321"/>
                </a:lnTo>
                <a:lnTo>
                  <a:pt x="1311265" y="158256"/>
                </a:lnTo>
                <a:lnTo>
                  <a:pt x="226080" y="904321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5-mark75"/>
          <p:cNvSpPr/>
          <p:nvPr/>
        </p:nvSpPr>
        <p:spPr>
          <a:xfrm>
            <a:off x="9174923" y="3150517"/>
            <a:ext cx="406944" cy="361728"/>
          </a:xfrm>
          <a:custGeom>
            <a:avLst/>
            <a:gdLst/>
            <a:ahLst/>
            <a:cxnLst/>
            <a:rect l="l" t="t" r="r" b="b"/>
            <a:pathLst>
              <a:path w="406944" h="361728">
                <a:moveTo>
                  <a:pt x="0" y="361728"/>
                </a:moveTo>
                <a:lnTo>
                  <a:pt x="406944" y="361728"/>
                </a:lnTo>
                <a:lnTo>
                  <a:pt x="406944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5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42" name="S05-mark76"/>
          <p:cNvSpPr/>
          <p:nvPr/>
        </p:nvSpPr>
        <p:spPr>
          <a:xfrm>
            <a:off x="10079244" y="3308773"/>
            <a:ext cx="406944" cy="768673"/>
          </a:xfrm>
          <a:custGeom>
            <a:avLst/>
            <a:gdLst/>
            <a:ahLst/>
            <a:cxnLst/>
            <a:rect l="l" t="t" r="r" b="b"/>
            <a:pathLst>
              <a:path w="406944" h="768673">
                <a:moveTo>
                  <a:pt x="0" y="768673"/>
                </a:moveTo>
                <a:lnTo>
                  <a:pt x="406944" y="768673"/>
                </a:lnTo>
                <a:lnTo>
                  <a:pt x="406944" y="0"/>
                </a:lnTo>
                <a:lnTo>
                  <a:pt x="0" y="0"/>
                </a:lnTo>
                <a:close/>
              </a:path>
            </a:pathLst>
          </a:custGeom>
          <a:solidFill>
            <a:srgbClr val="7A5A44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5-mark77"/>
          <p:cNvSpPr/>
          <p:nvPr/>
        </p:nvSpPr>
        <p:spPr>
          <a:xfrm>
            <a:off x="8532856" y="1762385"/>
            <a:ext cx="108518" cy="1085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4" name="S05-mark78"/>
          <p:cNvSpPr/>
          <p:nvPr/>
        </p:nvSpPr>
        <p:spPr>
          <a:xfrm>
            <a:off x="9030232" y="1491089"/>
            <a:ext cx="108518" cy="1085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5" name="S05-mark79"/>
          <p:cNvSpPr/>
          <p:nvPr/>
        </p:nvSpPr>
        <p:spPr>
          <a:xfrm>
            <a:off x="10748441" y="1536305"/>
            <a:ext cx="108518" cy="1085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6" name="S05-mark80"/>
          <p:cNvSpPr/>
          <p:nvPr/>
        </p:nvSpPr>
        <p:spPr>
          <a:xfrm>
            <a:off x="11200602" y="1943249"/>
            <a:ext cx="108518" cy="1085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7" name="S05-mark81"/>
          <p:cNvSpPr/>
          <p:nvPr/>
        </p:nvSpPr>
        <p:spPr>
          <a:xfrm>
            <a:off x="11291034" y="2485842"/>
            <a:ext cx="108518" cy="1085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8" name="S05-mark82"/>
          <p:cNvSpPr/>
          <p:nvPr/>
        </p:nvSpPr>
        <p:spPr>
          <a:xfrm>
            <a:off x="8397208" y="2304977"/>
            <a:ext cx="108518" cy="1085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9" name="S05-mark83"/>
          <p:cNvSpPr/>
          <p:nvPr/>
        </p:nvSpPr>
        <p:spPr>
          <a:xfrm>
            <a:off x="8722763" y="3760934"/>
            <a:ext cx="2260802" cy="0"/>
          </a:xfrm>
          <a:prstGeom prst="line">
            <a:avLst/>
          </a:prstGeom>
          <a:noFill/>
          <a:ln w="15875">
            <a:solidFill>
              <a:srgbClr val="7A5A44"/>
            </a:solidFill>
            <a:prstDash val="solid"/>
          </a:ln>
        </p:spPr>
      </p:sp>
      <p:sp>
        <p:nvSpPr>
          <p:cNvPr id="50" name="S05-mark84"/>
          <p:cNvSpPr/>
          <p:nvPr/>
        </p:nvSpPr>
        <p:spPr>
          <a:xfrm>
            <a:off x="8722763" y="3444421"/>
            <a:ext cx="2260802" cy="0"/>
          </a:xfrm>
          <a:prstGeom prst="line">
            <a:avLst/>
          </a:prstGeom>
          <a:noFill/>
          <a:ln w="15875">
            <a:solidFill>
              <a:srgbClr val="7A5A44"/>
            </a:solidFill>
            <a:prstDash val="solid"/>
          </a:ln>
        </p:spPr>
      </p:sp>
      <p:sp>
        <p:nvSpPr>
          <p:cNvPr id="51" name="S05-mark85"/>
          <p:cNvSpPr/>
          <p:nvPr/>
        </p:nvSpPr>
        <p:spPr>
          <a:xfrm>
            <a:off x="8722763" y="3127909"/>
            <a:ext cx="2260802" cy="0"/>
          </a:xfrm>
          <a:prstGeom prst="line">
            <a:avLst/>
          </a:prstGeom>
          <a:noFill/>
          <a:ln w="15875">
            <a:solidFill>
              <a:srgbClr val="7A5A44"/>
            </a:solidFill>
            <a:prstDash val="solid"/>
          </a:ln>
        </p:spPr>
      </p:sp>
      <p:sp>
        <p:nvSpPr>
          <p:cNvPr id="52" name="S05-label86"/>
          <p:cNvSpPr txBox="1"/>
          <p:nvPr/>
        </p:nvSpPr>
        <p:spPr>
          <a:xfrm>
            <a:off x="8156448" y="4415282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추운 곳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날씨에 맞는 옷과 음식</a:t>
            </a:r>
            <a:endParaRPr lang="ko-KR" sz="4000" dirty="0"/>
          </a:p>
        </p:txBody>
      </p:sp>
      <p:sp>
        <p:nvSpPr>
          <p:cNvPr id="3" name="S06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옛날부터 그곳의 많은 사람이 이렇게 지내 왔어요.</a:t>
            </a:r>
            <a:endParaRPr lang="ko-KR" sz="2800" dirty="0"/>
          </a:p>
        </p:txBody>
      </p:sp>
      <p:graphicFrame>
        <p:nvGraphicFramePr>
          <p:cNvPr id="7" name="S06-table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702308"/>
          <a:ext cx="10972800" cy="914400"/>
        </p:xfrm>
        <a:graphic>
          <a:graphicData uri="http://schemas.openxmlformats.org/drawingml/2006/table">
            <a:tbl>
              <a:tblPr/>
              <a:tblGrid>
                <a:gridCol w="2852928"/>
                <a:gridCol w="4059936"/>
                <a:gridCol w="405993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먹을거리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덥고 건조한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온몸을 덮는 헐렁한 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(햇볕·모래바람을 막아요)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오아시스의 대추야자,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기르는 가축의 젖과 고기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덥고 비가 많은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(동남아시아)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얇고 바람이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통하는 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벼농사가 잘되어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쌀로 만든 음식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추운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(북극 가까이)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동물 털가죽으로 만든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두꺼운 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사냥·고기잡이로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얻은 고기와 생선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그럴까요?</a:t>
            </a:r>
            <a:endParaRPr lang="ko-KR" sz="4000" dirty="0"/>
          </a:p>
        </p:txBody>
      </p:sp>
      <p:sp>
        <p:nvSpPr>
          <p:cNvPr id="3" name="S07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그곳에서 피하고 싶은 것 → 생활 모습</a:t>
            </a:r>
            <a:endParaRPr lang="ko-KR" sz="2800" dirty="0"/>
          </a:p>
        </p:txBody>
      </p:sp>
      <p:sp>
        <p:nvSpPr>
          <p:cNvPr id="5" name="S07-chip92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7-text93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덥고 건조한 곳의 집은 왜 벽이 두껍고 창문이 작을까요?</a:t>
            </a:r>
            <a:endParaRPr lang="ko-KR" sz="2800" dirty="0"/>
          </a:p>
        </p:txBody>
      </p:sp>
      <p:sp>
        <p:nvSpPr>
          <p:cNvPr id="7" name="S07-chip94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7-text95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덥고 비가 많은 곳에서는 왜 집을 땅에서 띄워 지을까요?</a:t>
            </a:r>
            <a:endParaRPr lang="ko-KR" sz="2800" dirty="0"/>
          </a:p>
        </p:txBody>
      </p:sp>
      <p:sp>
        <p:nvSpPr>
          <p:cNvPr id="9" name="S07-chip96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7-text97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북극 가까운 곳에서는 옛날부터 왜 털가죽 옷을 입었을까요?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문화를 만날 때</a:t>
            </a:r>
            <a:endParaRPr lang="ko-KR" sz="4000" dirty="0"/>
          </a:p>
        </p:txBody>
      </p:sp>
      <p:sp>
        <p:nvSpPr>
          <p:cNvPr id="3" name="S08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오늘날에는 아파트에 살고 청바지를 입는 사람도 많아요.</a:t>
            </a:r>
            <a:endParaRPr lang="ko-KR" sz="2800" dirty="0"/>
          </a:p>
        </p:txBody>
      </p:sp>
      <p:sp>
        <p:nvSpPr>
          <p:cNvPr id="5" name="S08-card100"/>
          <p:cNvSpPr/>
          <p:nvPr/>
        </p:nvSpPr>
        <p:spPr>
          <a:xfrm>
            <a:off x="548640" y="21219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101"/>
          <p:cNvSpPr txBox="1"/>
          <p:nvPr/>
        </p:nvSpPr>
        <p:spPr>
          <a:xfrm>
            <a:off x="822960" y="22590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생각하기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그곳의 자연환경과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먼저 생각해요.</a:t>
            </a:r>
            <a:endParaRPr lang="ko-KR" sz="2800" dirty="0"/>
          </a:p>
        </p:txBody>
      </p:sp>
      <p:sp>
        <p:nvSpPr>
          <p:cNvPr id="7" name="S08-card102"/>
          <p:cNvSpPr/>
          <p:nvPr/>
        </p:nvSpPr>
        <p:spPr>
          <a:xfrm>
            <a:off x="4322064" y="21219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103"/>
          <p:cNvSpPr txBox="1"/>
          <p:nvPr/>
        </p:nvSpPr>
        <p:spPr>
          <a:xfrm>
            <a:off x="4596384" y="22590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다양함 알기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나라 안에서도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다르게 살아요.</a:t>
            </a:r>
            <a:endParaRPr lang="ko-KR" sz="2800" dirty="0"/>
          </a:p>
        </p:txBody>
      </p:sp>
      <p:sp>
        <p:nvSpPr>
          <p:cNvPr id="9" name="S08-card104"/>
          <p:cNvSpPr/>
          <p:nvPr/>
        </p:nvSpPr>
        <p:spPr>
          <a:xfrm>
            <a:off x="8095488" y="21219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105"/>
          <p:cNvSpPr txBox="1"/>
          <p:nvPr/>
        </p:nvSpPr>
        <p:spPr>
          <a:xfrm>
            <a:off x="8369808" y="22590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‘이상해’ 대신 ‘궁금해’,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‘그렇구나’라고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말할까요?</a:t>
            </a:r>
            <a:endParaRPr lang="ko-KR" sz="4000" dirty="0"/>
          </a:p>
        </p:txBody>
      </p:sp>
      <p:sp>
        <p:nvSpPr>
          <p:cNvPr id="3" name="S09-card10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0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덥고 건조한 나라에서 온 친구를 만났어요.</a:t>
            </a:r>
            <a:endParaRPr lang="ko-KR" sz="2800" dirty="0"/>
          </a:p>
        </p:txBody>
      </p:sp>
      <p:sp>
        <p:nvSpPr>
          <p:cNvPr id="5" name="S09-card1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알맞을까요? 왜 그럴까요?</a:t>
            </a:r>
            <a:endParaRPr lang="ko-KR" sz="2800" dirty="0"/>
          </a:p>
        </p:txBody>
      </p:sp>
      <p:sp>
        <p:nvSpPr>
          <p:cNvPr id="7" name="S09-chip11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11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“너희 나라 사람은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흙벽돌집에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살지?”</a:t>
            </a:r>
            <a:endParaRPr lang="ko-KR" sz="2800" dirty="0"/>
          </a:p>
        </p:txBody>
      </p:sp>
      <p:sp>
        <p:nvSpPr>
          <p:cNvPr id="9" name="S09-chip11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11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“너희 동네에서는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집에 살아?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궁금해.”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나라를 조사해요</a:t>
            </a:r>
            <a:endParaRPr lang="ko-KR" sz="4000" dirty="0"/>
          </a:p>
        </p:txBody>
      </p:sp>
      <p:sp>
        <p:nvSpPr>
          <p:cNvPr id="3" name="S10-text1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찾아요.</a:t>
            </a:r>
            <a:endParaRPr lang="ko-KR" sz="2800" dirty="0"/>
          </a:p>
        </p:txBody>
      </p:sp>
      <p:sp>
        <p:nvSpPr>
          <p:cNvPr id="4" name="S10-card1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인터넷은 어른과 함께, 믿을 만한 자료로 찾아요.</a:t>
            </a:r>
            <a:endParaRPr lang="ko-KR" sz="2800" dirty="0"/>
          </a:p>
        </p:txBody>
      </p:sp>
      <p:sp>
        <p:nvSpPr>
          <p:cNvPr id="6" name="S10-card117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118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날씨(자연환경)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생활 모습과 까닭 잇기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존중하는 말로 소개하기</a:t>
            </a:r>
            <a:endParaRPr lang="ko-KR" sz="2800" dirty="0"/>
          </a:p>
        </p:txBody>
      </p:sp>
      <p:sp>
        <p:nvSpPr>
          <p:cNvPr id="8" name="S10-stepno119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10-text120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나라를 하나 골라요.</a:t>
            </a:r>
            <a:endParaRPr lang="ko-KR" sz="2200" dirty="0"/>
          </a:p>
        </p:txBody>
      </p:sp>
      <p:sp>
        <p:nvSpPr>
          <p:cNvPr id="10" name="S10-stepno121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10-text122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지구본·지도에서 위치를 찾아요.</a:t>
            </a:r>
            <a:endParaRPr lang="ko-KR" sz="2200" dirty="0"/>
          </a:p>
        </p:txBody>
      </p:sp>
      <p:sp>
        <p:nvSpPr>
          <p:cNvPr id="12" name="S10-stepno123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10-text124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날씨와 옷·집·음식 하나를 찾아요.</a:t>
            </a:r>
            <a:endParaRPr lang="ko-KR" sz="2200" dirty="0"/>
          </a:p>
        </p:txBody>
      </p:sp>
      <p:sp>
        <p:nvSpPr>
          <p:cNvPr id="14" name="S10-stepno125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5" name="S10-text126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이어 소개해요.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27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지어낸 ‘모래언덕 마을’은 비가 거의 오지 않고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햇볕이 강하며 나무가 드물어요.</a:t>
            </a:r>
            <a:endParaRPr lang="ko-KR" sz="2800" dirty="0"/>
          </a:p>
        </p:txBody>
      </p:sp>
      <p:sp>
        <p:nvSpPr>
          <p:cNvPr id="4" name="S11-chip128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129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마을에 어울리는 집과 그 까닭은?</a:t>
            </a:r>
            <a:endParaRPr lang="ko-KR" sz="2800" dirty="0"/>
          </a:p>
        </p:txBody>
      </p:sp>
      <p:sp>
        <p:nvSpPr>
          <p:cNvPr id="6" name="S11-chip130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131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마을에 어울리는 옷과 그 까닭은?</a:t>
            </a:r>
            <a:endParaRPr lang="ko-KR" sz="2800" dirty="0"/>
          </a:p>
        </p:txBody>
      </p:sp>
      <p:sp>
        <p:nvSpPr>
          <p:cNvPr id="8" name="S11-chip132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133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땅에서 띄우고 지붕이 가파른 집이 많은 곳의 날씨는?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1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모습은 자연환경과 까닭으로 이어 말해요.</a:t>
            </a:r>
            <a:endParaRPr lang="ko-KR" sz="2800" dirty="0"/>
          </a:p>
        </p:txBody>
      </p:sp>
      <p:sp>
        <p:nvSpPr>
          <p:cNvPr id="5" name="S12-chip13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잘한 답</a:t>
            </a:r>
            <a:endParaRPr lang="ko-KR" sz="2200" dirty="0"/>
          </a:p>
        </p:txBody>
      </p:sp>
      <p:sp>
        <p:nvSpPr>
          <p:cNvPr id="6" name="S12-text137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흙벽돌집,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 두껍게·창 작게</a:t>
            </a:r>
            <a:endParaRPr lang="ko-KR" sz="2200" dirty="0"/>
          </a:p>
        </p:txBody>
      </p:sp>
      <p:sp>
        <p:nvSpPr>
          <p:cNvPr id="7" name="S12-text138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햇볕·열기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막기</a:t>
            </a:r>
            <a:endParaRPr lang="ko-KR" sz="2200" dirty="0"/>
          </a:p>
        </p:txBody>
      </p:sp>
      <p:sp>
        <p:nvSpPr>
          <p:cNvPr id="8" name="S12-text139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온몸을 덮는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헐렁한 옷</a:t>
            </a:r>
            <a:endParaRPr lang="ko-KR" sz="2800" dirty="0"/>
          </a:p>
        </p:txBody>
      </p:sp>
      <p:sp>
        <p:nvSpPr>
          <p:cNvPr id="9" name="S12-text140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햇볕·모래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 막기</a:t>
            </a:r>
            <a:endParaRPr lang="ko-KR" sz="2200" dirty="0"/>
          </a:p>
        </p:txBody>
      </p:sp>
      <p:sp>
        <p:nvSpPr>
          <p:cNvPr id="10" name="S12-text141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덥고 비가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곳</a:t>
            </a:r>
            <a:endParaRPr lang="ko-KR" sz="2800" dirty="0"/>
          </a:p>
        </p:txBody>
      </p:sp>
      <p:sp>
        <p:nvSpPr>
          <p:cNvPr id="11" name="S12-chip14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아쉬운 답</a:t>
            </a:r>
            <a:endParaRPr lang="ko-KR" sz="2200" dirty="0"/>
          </a:p>
        </p:txBody>
      </p:sp>
      <p:sp>
        <p:nvSpPr>
          <p:cNvPr id="12" name="S12-text14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“큰 창문이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시원해요.”</a:t>
            </a:r>
            <a:endParaRPr lang="ko-KR" sz="2800" dirty="0"/>
          </a:p>
        </p:txBody>
      </p:sp>
      <p:sp>
        <p:nvSpPr>
          <p:cNvPr id="13" name="S12-text14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햇볕을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 못 함</a:t>
            </a:r>
            <a:endParaRPr lang="ko-KR" sz="2200" dirty="0"/>
          </a:p>
        </p:txBody>
      </p:sp>
      <p:sp>
        <p:nvSpPr>
          <p:cNvPr id="14" name="S12-text14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없이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답만 말하기</a:t>
            </a:r>
            <a:endParaRPr lang="ko-KR" sz="2800" dirty="0"/>
          </a:p>
        </p:txBody>
      </p:sp>
      <p:sp>
        <p:nvSpPr>
          <p:cNvPr id="15" name="S12-text14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자연환경과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잇기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확인</a:t>
            </a:r>
            <a:endParaRPr lang="ko-KR" sz="4000" dirty="0"/>
          </a:p>
        </p:txBody>
      </p:sp>
      <p:sp>
        <p:nvSpPr>
          <p:cNvPr id="3" name="S13-text147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말했어요. “추운 나라 사람들은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털옷만 입고 이상한 음식을 먹는대.”</a:t>
            </a:r>
            <a:endParaRPr lang="ko-KR" sz="2800" dirty="0"/>
          </a:p>
        </p:txBody>
      </p:sp>
      <p:sp>
        <p:nvSpPr>
          <p:cNvPr id="4" name="S13-chip148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3-text149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말에서 고칠 점 두 가지는?</a:t>
            </a:r>
            <a:endParaRPr lang="ko-KR" sz="2800" dirty="0"/>
          </a:p>
        </p:txBody>
      </p:sp>
      <p:sp>
        <p:nvSpPr>
          <p:cNvPr id="6" name="S13-chip150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3-text151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말로 바꾸어 말해요.</a:t>
            </a:r>
            <a:endParaRPr lang="ko-KR" sz="2800" dirty="0"/>
          </a:p>
        </p:txBody>
      </p:sp>
      <p:sp>
        <p:nvSpPr>
          <p:cNvPr id="8" name="S13-chip152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3-text153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문화를 만날 때 먼저 생각할 것은?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5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5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사람들은 자연환경에 맞게 옷·집·음식을 만들어 왔어요.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문화는 그곳의 까닭을 생각하며 존중해요.</a:t>
            </a:r>
            <a:endParaRPr lang="ko-KR" sz="2800" dirty="0"/>
          </a:p>
        </p:txBody>
      </p:sp>
      <p:sp>
        <p:nvSpPr>
          <p:cNvPr id="5" name="S14-chip156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“궁금해, 그렇구나” 말하기</a:t>
            </a:r>
            <a:endParaRPr lang="ko-KR" sz="2200" dirty="0"/>
          </a:p>
        </p:txBody>
      </p:sp>
      <p:sp>
        <p:nvSpPr>
          <p:cNvPr id="6" name="S14-chip157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“모두 ~해”, “이상해” 말하기</a:t>
            </a:r>
            <a:endParaRPr lang="ko-KR" sz="2200" dirty="0"/>
          </a:p>
        </p:txBody>
      </p:sp>
      <p:sp>
        <p:nvSpPr>
          <p:cNvPr id="7" name="S14-text158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59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흙벽돌집의 벽이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두꺼운 까닭은?</a:t>
            </a:r>
            <a:endParaRPr lang="ko-KR" sz="2200" dirty="0"/>
          </a:p>
        </p:txBody>
      </p:sp>
      <p:sp>
        <p:nvSpPr>
          <p:cNvPr id="9" name="S14-text160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땅에서 띄운 집이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곳의 날씨는?</a:t>
            </a:r>
            <a:endParaRPr lang="ko-KR" sz="2200" dirty="0"/>
          </a:p>
        </p:txBody>
      </p:sp>
      <p:sp>
        <p:nvSpPr>
          <p:cNvPr id="10" name="S14-text161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다른 문화를 만날 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생각할 것은?</a:t>
            </a:r>
            <a:endParaRPr lang="ko-KR" sz="2200" dirty="0"/>
          </a:p>
        </p:txBody>
      </p:sp>
      <p:sp>
        <p:nvSpPr>
          <p:cNvPr id="11" name="S14-text16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지구촌 문제와 협력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대륙과 적도 다시 보기</a:t>
            </a:r>
            <a:endParaRPr lang="ko-KR" sz="4000" dirty="0"/>
          </a:p>
        </p:txBody>
      </p:sp>
      <p:sp>
        <p:nvSpPr>
          <p:cNvPr id="3" name="S15-card1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적도는 지구의 가운데를 가로로 두른 선(위도 0°)이에요.</a:t>
            </a:r>
            <a:endParaRPr lang="ko-KR" sz="2800" dirty="0"/>
          </a:p>
        </p:txBody>
      </p:sp>
      <p:sp>
        <p:nvSpPr>
          <p:cNvPr id="5" name="S15-figure165" descr="간단히 나타낸 세계 지도에 적도(점선)를 그은 그림: 적도는 아프리카의 가운데와 남아메리카의 북쪽을 지나고, 아시아의 대부분은 적도의 북쪽, 오세아니아는 남쪽에 있음"/>
          <p:cNvSpPr/>
          <p:nvPr/>
        </p:nvSpPr>
        <p:spPr>
          <a:xfrm>
            <a:off x="2954637" y="1409700"/>
            <a:ext cx="6279677" cy="3176778"/>
          </a:xfrm>
          <a:custGeom>
            <a:avLst/>
            <a:gdLst/>
            <a:ahLst/>
            <a:cxnLst/>
            <a:rect l="l" t="t" r="r" b="b"/>
            <a:pathLst>
              <a:path w="6279677" h="3176778">
                <a:moveTo>
                  <a:pt x="0" y="3176778"/>
                </a:moveTo>
                <a:lnTo>
                  <a:pt x="6279677" y="3176778"/>
                </a:lnTo>
                <a:lnTo>
                  <a:pt x="6279677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15-mark166"/>
          <p:cNvSpPr/>
          <p:nvPr/>
        </p:nvSpPr>
        <p:spPr>
          <a:xfrm>
            <a:off x="3545666" y="1779093"/>
            <a:ext cx="849603" cy="812664"/>
          </a:xfrm>
          <a:custGeom>
            <a:avLst/>
            <a:gdLst/>
            <a:ahLst/>
            <a:cxnLst/>
            <a:rect l="l" t="t" r="r" b="b"/>
            <a:pathLst>
              <a:path w="849603" h="812664">
                <a:moveTo>
                  <a:pt x="36939" y="812664"/>
                </a:moveTo>
                <a:lnTo>
                  <a:pt x="849603" y="812664"/>
                </a:lnTo>
                <a:lnTo>
                  <a:pt x="849603" y="110818"/>
                </a:lnTo>
                <a:lnTo>
                  <a:pt x="517150" y="0"/>
                </a:lnTo>
                <a:lnTo>
                  <a:pt x="147757" y="147757"/>
                </a:lnTo>
                <a:lnTo>
                  <a:pt x="0" y="480211"/>
                </a:lnTo>
                <a:close/>
              </a:path>
            </a:pathLst>
          </a:custGeom>
          <a:solidFill>
            <a:srgbClr val="D9CCF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5-mark167"/>
          <p:cNvSpPr/>
          <p:nvPr/>
        </p:nvSpPr>
        <p:spPr>
          <a:xfrm>
            <a:off x="4395269" y="1705214"/>
            <a:ext cx="2327175" cy="1440632"/>
          </a:xfrm>
          <a:custGeom>
            <a:avLst/>
            <a:gdLst/>
            <a:ahLst/>
            <a:cxnLst/>
            <a:rect l="l" t="t" r="r" b="b"/>
            <a:pathLst>
              <a:path w="2327175" h="1440632">
                <a:moveTo>
                  <a:pt x="0" y="886543"/>
                </a:moveTo>
                <a:lnTo>
                  <a:pt x="0" y="184696"/>
                </a:lnTo>
                <a:lnTo>
                  <a:pt x="591028" y="36939"/>
                </a:lnTo>
                <a:lnTo>
                  <a:pt x="1514510" y="0"/>
                </a:lnTo>
                <a:lnTo>
                  <a:pt x="2216357" y="147757"/>
                </a:lnTo>
                <a:lnTo>
                  <a:pt x="2327175" y="517150"/>
                </a:lnTo>
                <a:lnTo>
                  <a:pt x="2105539" y="775725"/>
                </a:lnTo>
                <a:lnTo>
                  <a:pt x="1957782" y="1145118"/>
                </a:lnTo>
                <a:lnTo>
                  <a:pt x="1514510" y="1366753"/>
                </a:lnTo>
                <a:lnTo>
                  <a:pt x="1071239" y="1218996"/>
                </a:lnTo>
                <a:lnTo>
                  <a:pt x="627968" y="1440632"/>
                </a:lnTo>
                <a:lnTo>
                  <a:pt x="369393" y="1071239"/>
                </a:lnTo>
                <a:lnTo>
                  <a:pt x="147757" y="997361"/>
                </a:lnTo>
                <a:close/>
              </a:path>
            </a:pathLst>
          </a:custGeom>
          <a:solidFill>
            <a:srgbClr val="F2D7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15-mark168"/>
          <p:cNvSpPr/>
          <p:nvPr/>
        </p:nvSpPr>
        <p:spPr>
          <a:xfrm>
            <a:off x="3434848" y="2702575"/>
            <a:ext cx="1329814" cy="1551450"/>
          </a:xfrm>
          <a:custGeom>
            <a:avLst/>
            <a:gdLst/>
            <a:ahLst/>
            <a:cxnLst/>
            <a:rect l="l" t="t" r="r" b="b"/>
            <a:pathLst>
              <a:path w="1329814" h="1551450">
                <a:moveTo>
                  <a:pt x="184696" y="0"/>
                </a:moveTo>
                <a:lnTo>
                  <a:pt x="1071239" y="0"/>
                </a:lnTo>
                <a:lnTo>
                  <a:pt x="1218996" y="369393"/>
                </a:lnTo>
                <a:lnTo>
                  <a:pt x="1329814" y="701846"/>
                </a:lnTo>
                <a:lnTo>
                  <a:pt x="1108178" y="1108178"/>
                </a:lnTo>
                <a:lnTo>
                  <a:pt x="886543" y="1477571"/>
                </a:lnTo>
                <a:lnTo>
                  <a:pt x="627968" y="1551450"/>
                </a:lnTo>
                <a:lnTo>
                  <a:pt x="480211" y="1108178"/>
                </a:lnTo>
                <a:lnTo>
                  <a:pt x="332454" y="701846"/>
                </a:lnTo>
                <a:lnTo>
                  <a:pt x="36939" y="443271"/>
                </a:lnTo>
                <a:lnTo>
                  <a:pt x="0" y="184696"/>
                </a:lnTo>
                <a:close/>
              </a:path>
            </a:pathLst>
          </a:custGeom>
          <a:solidFill>
            <a:srgbClr val="F6C9A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15-mark169"/>
          <p:cNvSpPr/>
          <p:nvPr/>
        </p:nvSpPr>
        <p:spPr>
          <a:xfrm>
            <a:off x="5466508" y="3589117"/>
            <a:ext cx="1440632" cy="720316"/>
          </a:xfrm>
          <a:custGeom>
            <a:avLst/>
            <a:gdLst/>
            <a:ahLst/>
            <a:cxnLst/>
            <a:rect l="l" t="t" r="r" b="b"/>
            <a:pathLst>
              <a:path w="1440632" h="720316">
                <a:moveTo>
                  <a:pt x="0" y="517150"/>
                </a:moveTo>
                <a:lnTo>
                  <a:pt x="258575" y="73879"/>
                </a:lnTo>
                <a:lnTo>
                  <a:pt x="812664" y="0"/>
                </a:lnTo>
                <a:lnTo>
                  <a:pt x="1329814" y="110818"/>
                </a:lnTo>
                <a:lnTo>
                  <a:pt x="1440632" y="480211"/>
                </a:lnTo>
                <a:lnTo>
                  <a:pt x="1071239" y="720316"/>
                </a:lnTo>
                <a:lnTo>
                  <a:pt x="406332" y="720316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15-mark170"/>
          <p:cNvSpPr/>
          <p:nvPr/>
        </p:nvSpPr>
        <p:spPr>
          <a:xfrm>
            <a:off x="7239594" y="1705214"/>
            <a:ext cx="1477571" cy="1532980"/>
          </a:xfrm>
          <a:custGeom>
            <a:avLst/>
            <a:gdLst/>
            <a:ahLst/>
            <a:cxnLst/>
            <a:rect l="l" t="t" r="r" b="b"/>
            <a:pathLst>
              <a:path w="1477571" h="1532980">
                <a:moveTo>
                  <a:pt x="73879" y="369393"/>
                </a:moveTo>
                <a:lnTo>
                  <a:pt x="369393" y="36939"/>
                </a:lnTo>
                <a:lnTo>
                  <a:pt x="1108178" y="0"/>
                </a:lnTo>
                <a:lnTo>
                  <a:pt x="1477571" y="221636"/>
                </a:lnTo>
                <a:lnTo>
                  <a:pt x="1403693" y="554089"/>
                </a:lnTo>
                <a:lnTo>
                  <a:pt x="1108178" y="812664"/>
                </a:lnTo>
                <a:lnTo>
                  <a:pt x="886543" y="1145118"/>
                </a:lnTo>
                <a:lnTo>
                  <a:pt x="627968" y="1403693"/>
                </a:lnTo>
                <a:lnTo>
                  <a:pt x="517150" y="1532980"/>
                </a:lnTo>
                <a:lnTo>
                  <a:pt x="369393" y="1218996"/>
                </a:lnTo>
                <a:lnTo>
                  <a:pt x="147757" y="886543"/>
                </a:lnTo>
                <a:lnTo>
                  <a:pt x="0" y="554089"/>
                </a:lnTo>
                <a:close/>
              </a:path>
            </a:pathLst>
          </a:custGeom>
          <a:solidFill>
            <a:srgbClr val="C5E3A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15-mark171"/>
          <p:cNvSpPr/>
          <p:nvPr/>
        </p:nvSpPr>
        <p:spPr>
          <a:xfrm>
            <a:off x="7461229" y="3275134"/>
            <a:ext cx="1329814" cy="1163587"/>
          </a:xfrm>
          <a:custGeom>
            <a:avLst/>
            <a:gdLst/>
            <a:ahLst/>
            <a:cxnLst/>
            <a:rect l="l" t="t" r="r" b="b"/>
            <a:pathLst>
              <a:path w="1329814" h="1163587">
                <a:moveTo>
                  <a:pt x="258575" y="36939"/>
                </a:moveTo>
                <a:lnTo>
                  <a:pt x="738786" y="0"/>
                </a:lnTo>
                <a:lnTo>
                  <a:pt x="1182057" y="166227"/>
                </a:lnTo>
                <a:lnTo>
                  <a:pt x="1329814" y="387862"/>
                </a:lnTo>
                <a:lnTo>
                  <a:pt x="1034300" y="757255"/>
                </a:lnTo>
                <a:lnTo>
                  <a:pt x="738786" y="1052769"/>
                </a:lnTo>
                <a:lnTo>
                  <a:pt x="591028" y="1163587"/>
                </a:lnTo>
                <a:lnTo>
                  <a:pt x="480211" y="941952"/>
                </a:lnTo>
                <a:lnTo>
                  <a:pt x="258575" y="609498"/>
                </a:lnTo>
                <a:lnTo>
                  <a:pt x="0" y="240105"/>
                </a:lnTo>
                <a:close/>
              </a:path>
            </a:pathLst>
          </a:custGeom>
          <a:solidFill>
            <a:srgbClr val="A9D8C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15-mark172"/>
          <p:cNvSpPr/>
          <p:nvPr/>
        </p:nvSpPr>
        <p:spPr>
          <a:xfrm>
            <a:off x="7073367" y="4143207"/>
            <a:ext cx="110818" cy="221636"/>
          </a:xfrm>
          <a:custGeom>
            <a:avLst/>
            <a:gdLst/>
            <a:ahLst/>
            <a:cxnLst/>
            <a:rect l="l" t="t" r="r" b="b"/>
            <a:pathLst>
              <a:path w="110818" h="221636">
                <a:moveTo>
                  <a:pt x="110818" y="110818"/>
                </a:moveTo>
                <a:lnTo>
                  <a:pt x="110607" y="101159"/>
                </a:lnTo>
                <a:lnTo>
                  <a:pt x="109976" y="91575"/>
                </a:lnTo>
                <a:lnTo>
                  <a:pt x="108930" y="82136"/>
                </a:lnTo>
                <a:lnTo>
                  <a:pt x="107476" y="72916"/>
                </a:lnTo>
                <a:lnTo>
                  <a:pt x="105626" y="63984"/>
                </a:lnTo>
                <a:lnTo>
                  <a:pt x="103394" y="55409"/>
                </a:lnTo>
                <a:lnTo>
                  <a:pt x="100797" y="47255"/>
                </a:lnTo>
                <a:lnTo>
                  <a:pt x="97855" y="39586"/>
                </a:lnTo>
                <a:lnTo>
                  <a:pt x="94589" y="32458"/>
                </a:lnTo>
                <a:lnTo>
                  <a:pt x="91025" y="25926"/>
                </a:lnTo>
                <a:lnTo>
                  <a:pt x="87190" y="20041"/>
                </a:lnTo>
                <a:lnTo>
                  <a:pt x="83113" y="14847"/>
                </a:lnTo>
                <a:lnTo>
                  <a:pt x="78826" y="10383"/>
                </a:lnTo>
                <a:lnTo>
                  <a:pt x="74360" y="6683"/>
                </a:lnTo>
                <a:lnTo>
                  <a:pt x="69750" y="3776"/>
                </a:lnTo>
                <a:lnTo>
                  <a:pt x="65031" y="1684"/>
                </a:lnTo>
                <a:lnTo>
                  <a:pt x="60238" y="422"/>
                </a:lnTo>
                <a:lnTo>
                  <a:pt x="55409" y="0"/>
                </a:lnTo>
                <a:lnTo>
                  <a:pt x="50580" y="422"/>
                </a:lnTo>
                <a:lnTo>
                  <a:pt x="45787" y="1684"/>
                </a:lnTo>
                <a:lnTo>
                  <a:pt x="41068" y="3776"/>
                </a:lnTo>
                <a:lnTo>
                  <a:pt x="36458" y="6683"/>
                </a:lnTo>
                <a:lnTo>
                  <a:pt x="31992" y="10383"/>
                </a:lnTo>
                <a:lnTo>
                  <a:pt x="27704" y="14847"/>
                </a:lnTo>
                <a:lnTo>
                  <a:pt x="23628" y="20041"/>
                </a:lnTo>
                <a:lnTo>
                  <a:pt x="19793" y="25926"/>
                </a:lnTo>
                <a:lnTo>
                  <a:pt x="16229" y="32458"/>
                </a:lnTo>
                <a:lnTo>
                  <a:pt x="12963" y="39586"/>
                </a:lnTo>
                <a:lnTo>
                  <a:pt x="10021" y="47255"/>
                </a:lnTo>
                <a:lnTo>
                  <a:pt x="7423" y="55409"/>
                </a:lnTo>
                <a:lnTo>
                  <a:pt x="5191" y="63984"/>
                </a:lnTo>
                <a:lnTo>
                  <a:pt x="3342" y="72916"/>
                </a:lnTo>
                <a:lnTo>
                  <a:pt x="1888" y="82136"/>
                </a:lnTo>
                <a:lnTo>
                  <a:pt x="842" y="91575"/>
                </a:lnTo>
                <a:lnTo>
                  <a:pt x="211" y="101159"/>
                </a:lnTo>
                <a:lnTo>
                  <a:pt x="0" y="110818"/>
                </a:lnTo>
                <a:lnTo>
                  <a:pt x="211" y="120476"/>
                </a:lnTo>
                <a:lnTo>
                  <a:pt x="842" y="130061"/>
                </a:lnTo>
                <a:lnTo>
                  <a:pt x="1888" y="139500"/>
                </a:lnTo>
                <a:lnTo>
                  <a:pt x="3342" y="148720"/>
                </a:lnTo>
                <a:lnTo>
                  <a:pt x="5191" y="157651"/>
                </a:lnTo>
                <a:lnTo>
                  <a:pt x="7423" y="166227"/>
                </a:lnTo>
                <a:lnTo>
                  <a:pt x="10021" y="174380"/>
                </a:lnTo>
                <a:lnTo>
                  <a:pt x="12963" y="182050"/>
                </a:lnTo>
                <a:lnTo>
                  <a:pt x="16229" y="189178"/>
                </a:lnTo>
                <a:lnTo>
                  <a:pt x="19793" y="195709"/>
                </a:lnTo>
                <a:lnTo>
                  <a:pt x="23628" y="201594"/>
                </a:lnTo>
                <a:lnTo>
                  <a:pt x="27704" y="206789"/>
                </a:lnTo>
                <a:lnTo>
                  <a:pt x="31992" y="211253"/>
                </a:lnTo>
                <a:lnTo>
                  <a:pt x="36458" y="214953"/>
                </a:lnTo>
                <a:lnTo>
                  <a:pt x="41068" y="217860"/>
                </a:lnTo>
                <a:lnTo>
                  <a:pt x="45787" y="219952"/>
                </a:lnTo>
                <a:lnTo>
                  <a:pt x="50580" y="221214"/>
                </a:lnTo>
                <a:lnTo>
                  <a:pt x="55409" y="221636"/>
                </a:lnTo>
                <a:lnTo>
                  <a:pt x="60238" y="221214"/>
                </a:lnTo>
                <a:lnTo>
                  <a:pt x="65031" y="219952"/>
                </a:lnTo>
                <a:lnTo>
                  <a:pt x="69750" y="217860"/>
                </a:lnTo>
                <a:lnTo>
                  <a:pt x="74360" y="214953"/>
                </a:lnTo>
                <a:lnTo>
                  <a:pt x="78826" y="211253"/>
                </a:lnTo>
                <a:lnTo>
                  <a:pt x="83113" y="206789"/>
                </a:lnTo>
                <a:lnTo>
                  <a:pt x="87190" y="201594"/>
                </a:lnTo>
                <a:lnTo>
                  <a:pt x="91025" y="195709"/>
                </a:lnTo>
                <a:lnTo>
                  <a:pt x="94589" y="189178"/>
                </a:lnTo>
                <a:lnTo>
                  <a:pt x="97855" y="182050"/>
                </a:lnTo>
                <a:lnTo>
                  <a:pt x="100797" y="174380"/>
                </a:lnTo>
                <a:lnTo>
                  <a:pt x="103394" y="166227"/>
                </a:lnTo>
                <a:lnTo>
                  <a:pt x="105626" y="157651"/>
                </a:lnTo>
                <a:lnTo>
                  <a:pt x="107476" y="148720"/>
                </a:lnTo>
                <a:lnTo>
                  <a:pt x="108930" y="139500"/>
                </a:lnTo>
                <a:lnTo>
                  <a:pt x="109976" y="130061"/>
                </a:lnTo>
                <a:lnTo>
                  <a:pt x="110607" y="120476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15-mark173"/>
          <p:cNvSpPr/>
          <p:nvPr/>
        </p:nvSpPr>
        <p:spPr>
          <a:xfrm>
            <a:off x="2954637" y="3496769"/>
            <a:ext cx="6279677" cy="0"/>
          </a:xfrm>
          <a:prstGeom prst="line">
            <a:avLst/>
          </a:prstGeom>
          <a:noFill/>
          <a:ln w="28575">
            <a:solidFill>
              <a:srgbClr val="C2571A"/>
            </a:solidFill>
            <a:prstDash val="dash"/>
          </a:ln>
        </p:spPr>
      </p:sp>
      <p:sp>
        <p:nvSpPr>
          <p:cNvPr id="14" name="S15-label175"/>
          <p:cNvSpPr txBox="1"/>
          <p:nvPr/>
        </p:nvSpPr>
        <p:spPr>
          <a:xfrm>
            <a:off x="3691575" y="2097959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유럽</a:t>
            </a:r>
            <a:endParaRPr lang="ko-KR" sz="1800" dirty="0"/>
          </a:p>
        </p:txBody>
      </p:sp>
      <p:sp>
        <p:nvSpPr>
          <p:cNvPr id="15" name="S15-label177"/>
          <p:cNvSpPr txBox="1"/>
          <p:nvPr/>
        </p:nvSpPr>
        <p:spPr>
          <a:xfrm>
            <a:off x="4927845" y="2448882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</a:t>
            </a:r>
            <a:endParaRPr lang="ko-KR" sz="1800" dirty="0"/>
          </a:p>
        </p:txBody>
      </p:sp>
      <p:sp>
        <p:nvSpPr>
          <p:cNvPr id="16" name="S15-label179"/>
          <p:cNvSpPr txBox="1"/>
          <p:nvPr/>
        </p:nvSpPr>
        <p:spPr>
          <a:xfrm>
            <a:off x="3615305" y="3076850"/>
            <a:ext cx="100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아프리카</a:t>
            </a:r>
            <a:endParaRPr lang="ko-KR" sz="1800" dirty="0"/>
          </a:p>
        </p:txBody>
      </p:sp>
      <p:sp>
        <p:nvSpPr>
          <p:cNvPr id="17" name="S15-label181"/>
          <p:cNvSpPr txBox="1"/>
          <p:nvPr/>
        </p:nvSpPr>
        <p:spPr>
          <a:xfrm>
            <a:off x="5571890" y="3815635"/>
            <a:ext cx="1229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오세아니아</a:t>
            </a:r>
            <a:endParaRPr lang="ko-KR" sz="1800" dirty="0"/>
          </a:p>
        </p:txBody>
      </p:sp>
      <p:sp>
        <p:nvSpPr>
          <p:cNvPr id="18" name="S15-label183"/>
          <p:cNvSpPr txBox="1"/>
          <p:nvPr/>
        </p:nvSpPr>
        <p:spPr>
          <a:xfrm>
            <a:off x="7363445" y="2079489"/>
            <a:ext cx="1229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북아메리카</a:t>
            </a:r>
            <a:endParaRPr lang="ko-KR" sz="1800" dirty="0"/>
          </a:p>
        </p:txBody>
      </p:sp>
      <p:sp>
        <p:nvSpPr>
          <p:cNvPr id="19" name="S15-label185"/>
          <p:cNvSpPr txBox="1"/>
          <p:nvPr/>
        </p:nvSpPr>
        <p:spPr>
          <a:xfrm>
            <a:off x="7529672" y="3483182"/>
            <a:ext cx="1229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남아메리카</a:t>
            </a:r>
            <a:endParaRPr lang="ko-KR" sz="1800" dirty="0"/>
          </a:p>
        </p:txBody>
      </p:sp>
      <p:sp>
        <p:nvSpPr>
          <p:cNvPr id="20" name="S15-label187"/>
          <p:cNvSpPr txBox="1"/>
          <p:nvPr/>
        </p:nvSpPr>
        <p:spPr>
          <a:xfrm>
            <a:off x="6627052" y="3076850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</a:t>
            </a:r>
            <a:endParaRPr lang="ko-KR" sz="1800" dirty="0"/>
          </a:p>
        </p:txBody>
      </p:sp>
      <p:sp>
        <p:nvSpPr>
          <p:cNvPr id="21" name="S15-label189"/>
          <p:cNvSpPr txBox="1"/>
          <p:nvPr/>
        </p:nvSpPr>
        <p:spPr>
          <a:xfrm>
            <a:off x="8845801" y="2458646"/>
            <a:ext cx="33375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</a:t>
            </a:r>
            <a:endParaRPr lang="ko-KR" sz="1800" dirty="0"/>
          </a:p>
        </p:txBody>
      </p:sp>
      <p:sp>
        <p:nvSpPr>
          <p:cNvPr id="22" name="S15-label191"/>
          <p:cNvSpPr txBox="1"/>
          <p:nvPr/>
        </p:nvSpPr>
        <p:spPr>
          <a:xfrm>
            <a:off x="3064804" y="3456007"/>
            <a:ext cx="33375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</a:t>
            </a:r>
            <a:endParaRPr lang="ko-KR" sz="1800" dirty="0"/>
          </a:p>
        </p:txBody>
      </p:sp>
      <p:sp>
        <p:nvSpPr>
          <p:cNvPr id="23" name="S15-label193"/>
          <p:cNvSpPr txBox="1"/>
          <p:nvPr/>
        </p:nvSpPr>
        <p:spPr>
          <a:xfrm>
            <a:off x="4687740" y="3594000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인도양</a:t>
            </a:r>
            <a:endParaRPr lang="ko-KR" sz="1800" dirty="0"/>
          </a:p>
        </p:txBody>
      </p:sp>
      <p:sp>
        <p:nvSpPr>
          <p:cNvPr id="24" name="S15-label195"/>
          <p:cNvSpPr txBox="1"/>
          <p:nvPr/>
        </p:nvSpPr>
        <p:spPr>
          <a:xfrm>
            <a:off x="6627052" y="1433052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북극해</a:t>
            </a:r>
            <a:endParaRPr lang="ko-KR" sz="1800" dirty="0"/>
          </a:p>
        </p:txBody>
      </p:sp>
      <p:sp>
        <p:nvSpPr>
          <p:cNvPr id="25" name="S15-label197"/>
          <p:cNvSpPr txBox="1"/>
          <p:nvPr/>
        </p:nvSpPr>
        <p:spPr>
          <a:xfrm>
            <a:off x="4780088" y="4295846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남극해</a:t>
            </a:r>
            <a:endParaRPr lang="ko-KR" sz="1800" dirty="0"/>
          </a:p>
        </p:txBody>
      </p:sp>
      <p:sp>
        <p:nvSpPr>
          <p:cNvPr id="26" name="S15-labelbg199"/>
          <p:cNvSpPr/>
          <p:nvPr/>
        </p:nvSpPr>
        <p:spPr>
          <a:xfrm>
            <a:off x="5011701" y="3253182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15-label200"/>
          <p:cNvSpPr txBox="1"/>
          <p:nvPr/>
        </p:nvSpPr>
        <p:spPr>
          <a:xfrm>
            <a:off x="4965981" y="322460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C257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</a:t>
            </a:r>
            <a:endParaRPr lang="ko-KR" sz="1800" dirty="0"/>
          </a:p>
        </p:txBody>
      </p:sp>
      <p:sp>
        <p:nvSpPr>
          <p:cNvPr id="28" name="S15-label201"/>
          <p:cNvSpPr txBox="1"/>
          <p:nvPr/>
        </p:nvSpPr>
        <p:spPr>
          <a:xfrm>
            <a:off x="548640" y="4743450"/>
            <a:ext cx="1109167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모양·크기와 달라요)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세계의 다양한 문화</dc:title>
  <dc:subject>KR22-G06-SOC-CULTURES-L01</dc:subject>
  <dc:creator>education-ppt</dc:creator>
  <cp:lastModifiedBy>education-ppt</cp:lastModifiedBy>
  <cp:revision>1</cp:revision>
  <dcterms:created xsi:type="dcterms:W3CDTF">2026-10-26T13:49:29Z</dcterms:created>
  <dcterms:modified xsi:type="dcterms:W3CDTF">2026-10-26T13:49:29Z</dcterms:modified>
</cp:coreProperties>
</file>