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e7ca028-279f-ce67-c4b1-4619e943be5f}">
          <p14:sldIdLst>
            <p14:sldId id="256"/>
            <p14:sldId id="257"/>
          </p14:sldIdLst>
        </p14:section>
        <p14:section name="개념" id="{6b369dd2-9228-7667-6d3c-8bf4749d5c74}">
          <p14:sldIdLst>
            <p14:sldId id="258"/>
            <p14:sldId id="259"/>
            <p14:sldId id="260"/>
            <p14:sldId id="261"/>
            <p14:sldId id="263"/>
          </p14:sldIdLst>
        </p14:section>
        <p14:section name="연습" id="{1808693e-a25d-5af0-10ea-bf290447d11c}">
          <p14:sldIdLst>
            <p14:sldId id="262"/>
            <p14:sldId id="264"/>
            <p14:sldId id="265"/>
          </p14:sldIdLst>
        </p14:section>
        <p14:section name="개념" id="{2a60b629-95bb-dccd-c105-2bdc93d49ec8}">
          <p14:sldIdLst/>
        </p14:section>
        <p14:section name="연습" id="{a5d645ee-6314-e345-e56c-ef178c7883fc}">
          <p14:sldIdLst/>
        </p14:section>
        <p14:section name="확인" id="{5e59659d-dd7b-cc6b-edc0-56ab2b0fa884}">
          <p14:sldIdLst>
            <p14:sldId id="266"/>
            <p14:sldId id="267"/>
          </p14:sldIdLst>
        </p14:section>
        <p14:section name="정리" id="{70323d46-6412-b791-c9f9-87b49aca182d}">
          <p14:sldIdLst>
            <p14:sldId id="268"/>
          </p14:sldIdLst>
        </p14:section>
        <p14:section name="보충" id="{61bf4012-db00-782e-d4e8-095c3919308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세계와공존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세계의 다양한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세계의 다양한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세계의 다양한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세계의 다양한 문화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사는 곳에 따라 옷과 집은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다를까요?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자연환경에 따라 달라진 옷·집·음식을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문화를 그곳의 까닭으로 이해하고 존중해요.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6대륙 가운데 세 개의 이름을 말해요.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적도는 지구의 어디를 지나는 선인가요?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적도의 북쪽일까요, 남쪽일까요?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날씨에 맞게 살아왔어요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여름에 덥고 겨울에 추워요.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자연환경에 맞게 옷·집·음식을 만들어 왔어요.</a:t>
            </a:r>
            <a:endParaRPr lang="ko-KR" sz="2800" dirty="0"/>
          </a:p>
        </p:txBody>
      </p:sp>
      <p:sp>
        <p:nvSpPr>
          <p:cNvPr id="6" name="S03-card12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방바닥을 데워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추운 겨울을 났어요.</a:t>
            </a:r>
            <a:endParaRPr lang="ko-KR" sz="2800" dirty="0"/>
          </a:p>
        </p:txBody>
      </p:sp>
      <p:sp>
        <p:nvSpPr>
          <p:cNvPr id="8" name="S03-card14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대청마루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잘 통해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 시원했어요.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더운 곳과 추운 곳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산은 서늘하고, 비가 아주 적은 사막도 있어요.</a:t>
            </a:r>
            <a:endParaRPr lang="ko-KR" sz="2800" dirty="0"/>
          </a:p>
        </p:txBody>
      </p:sp>
      <p:sp>
        <p:nvSpPr>
          <p:cNvPr id="5" name="S04-figure18" descr="간단히 나타낸 지구: 가운데 적도 둘레는 주황색(대체로 더움), 북극과 남극 가까이는 하늘색(대체로 추움), 그 사이는 연한 노란색"/>
          <p:cNvSpPr/>
          <p:nvPr/>
        </p:nvSpPr>
        <p:spPr>
          <a:xfrm>
            <a:off x="2158034" y="2618257"/>
            <a:ext cx="2762416" cy="759664"/>
          </a:xfrm>
          <a:custGeom>
            <a:avLst/>
            <a:gdLst/>
            <a:ahLst/>
            <a:cxnLst/>
            <a:rect l="l" t="t" r="r" b="b"/>
            <a:pathLst>
              <a:path w="2762416" h="759664">
                <a:moveTo>
                  <a:pt x="2709239" y="759664"/>
                </a:moveTo>
                <a:lnTo>
                  <a:pt x="2717526" y="727897"/>
                </a:lnTo>
                <a:lnTo>
                  <a:pt x="2725814" y="696129"/>
                </a:lnTo>
                <a:lnTo>
                  <a:pt x="2732720" y="665052"/>
                </a:lnTo>
                <a:lnTo>
                  <a:pt x="2738935" y="633284"/>
                </a:lnTo>
                <a:lnTo>
                  <a:pt x="2744460" y="601516"/>
                </a:lnTo>
                <a:lnTo>
                  <a:pt x="2749294" y="569748"/>
                </a:lnTo>
                <a:lnTo>
                  <a:pt x="2753438" y="537980"/>
                </a:lnTo>
                <a:lnTo>
                  <a:pt x="2756891" y="506213"/>
                </a:lnTo>
                <a:lnTo>
                  <a:pt x="2758963" y="475135"/>
                </a:lnTo>
                <a:lnTo>
                  <a:pt x="2761034" y="443368"/>
                </a:lnTo>
                <a:lnTo>
                  <a:pt x="2761725" y="411600"/>
                </a:lnTo>
                <a:lnTo>
                  <a:pt x="2762416" y="379832"/>
                </a:lnTo>
                <a:lnTo>
                  <a:pt x="2761725" y="348064"/>
                </a:lnTo>
                <a:lnTo>
                  <a:pt x="2761034" y="316297"/>
                </a:lnTo>
                <a:lnTo>
                  <a:pt x="2758963" y="285219"/>
                </a:lnTo>
                <a:lnTo>
                  <a:pt x="2756891" y="253452"/>
                </a:lnTo>
                <a:lnTo>
                  <a:pt x="2753438" y="221684"/>
                </a:lnTo>
                <a:lnTo>
                  <a:pt x="2749294" y="189916"/>
                </a:lnTo>
                <a:lnTo>
                  <a:pt x="2744460" y="158148"/>
                </a:lnTo>
                <a:lnTo>
                  <a:pt x="2738935" y="126381"/>
                </a:lnTo>
                <a:lnTo>
                  <a:pt x="2732720" y="95303"/>
                </a:lnTo>
                <a:lnTo>
                  <a:pt x="2725814" y="63536"/>
                </a:lnTo>
                <a:lnTo>
                  <a:pt x="2717526" y="31768"/>
                </a:lnTo>
                <a:lnTo>
                  <a:pt x="2709239" y="0"/>
                </a:lnTo>
                <a:lnTo>
                  <a:pt x="53177" y="0"/>
                </a:lnTo>
                <a:lnTo>
                  <a:pt x="44889" y="31768"/>
                </a:lnTo>
                <a:lnTo>
                  <a:pt x="36602" y="63536"/>
                </a:lnTo>
                <a:lnTo>
                  <a:pt x="29696" y="95303"/>
                </a:lnTo>
                <a:lnTo>
                  <a:pt x="23481" y="126381"/>
                </a:lnTo>
                <a:lnTo>
                  <a:pt x="17956" y="158148"/>
                </a:lnTo>
                <a:lnTo>
                  <a:pt x="13121" y="189916"/>
                </a:lnTo>
                <a:lnTo>
                  <a:pt x="8978" y="221684"/>
                </a:lnTo>
                <a:lnTo>
                  <a:pt x="5525" y="253452"/>
                </a:lnTo>
                <a:lnTo>
                  <a:pt x="3453" y="285219"/>
                </a:lnTo>
                <a:lnTo>
                  <a:pt x="1381" y="316297"/>
                </a:lnTo>
                <a:lnTo>
                  <a:pt x="691" y="348064"/>
                </a:lnTo>
                <a:lnTo>
                  <a:pt x="0" y="379832"/>
                </a:lnTo>
                <a:lnTo>
                  <a:pt x="691" y="411600"/>
                </a:lnTo>
                <a:lnTo>
                  <a:pt x="1381" y="443368"/>
                </a:lnTo>
                <a:lnTo>
                  <a:pt x="3453" y="475135"/>
                </a:lnTo>
                <a:lnTo>
                  <a:pt x="5525" y="506213"/>
                </a:lnTo>
                <a:lnTo>
                  <a:pt x="8978" y="537980"/>
                </a:lnTo>
                <a:lnTo>
                  <a:pt x="13121" y="569748"/>
                </a:lnTo>
                <a:lnTo>
                  <a:pt x="17956" y="601516"/>
                </a:lnTo>
                <a:lnTo>
                  <a:pt x="23481" y="633284"/>
                </a:lnTo>
                <a:lnTo>
                  <a:pt x="29696" y="665052"/>
                </a:lnTo>
                <a:lnTo>
                  <a:pt x="36602" y="696129"/>
                </a:lnTo>
                <a:lnTo>
                  <a:pt x="44889" y="727897"/>
                </a:lnTo>
                <a:lnTo>
                  <a:pt x="53177" y="759664"/>
                </a:lnTo>
                <a:close/>
              </a:path>
            </a:pathLst>
          </a:custGeom>
          <a:solidFill>
            <a:srgbClr val="F4B183"/>
          </a:solidFill>
          <a:ln/>
        </p:spPr>
      </p:sp>
      <p:sp>
        <p:nvSpPr>
          <p:cNvPr id="6" name="S04-mark19"/>
          <p:cNvSpPr/>
          <p:nvPr/>
        </p:nvSpPr>
        <p:spPr>
          <a:xfrm>
            <a:off x="2211210" y="1996713"/>
            <a:ext cx="2656063" cy="621544"/>
          </a:xfrm>
          <a:custGeom>
            <a:avLst/>
            <a:gdLst/>
            <a:ahLst/>
            <a:cxnLst/>
            <a:rect l="l" t="t" r="r" b="b"/>
            <a:pathLst>
              <a:path w="2656063" h="621544">
                <a:moveTo>
                  <a:pt x="2656063" y="621544"/>
                </a:moveTo>
                <a:lnTo>
                  <a:pt x="2648466" y="595301"/>
                </a:lnTo>
                <a:lnTo>
                  <a:pt x="2640179" y="569748"/>
                </a:lnTo>
                <a:lnTo>
                  <a:pt x="2631201" y="543505"/>
                </a:lnTo>
                <a:lnTo>
                  <a:pt x="2621532" y="517953"/>
                </a:lnTo>
                <a:lnTo>
                  <a:pt x="2611864" y="491710"/>
                </a:lnTo>
                <a:lnTo>
                  <a:pt x="2601505" y="466158"/>
                </a:lnTo>
                <a:lnTo>
                  <a:pt x="2590455" y="440605"/>
                </a:lnTo>
                <a:lnTo>
                  <a:pt x="2578024" y="414362"/>
                </a:lnTo>
                <a:lnTo>
                  <a:pt x="2565594" y="388810"/>
                </a:lnTo>
                <a:lnTo>
                  <a:pt x="2552472" y="362567"/>
                </a:lnTo>
                <a:lnTo>
                  <a:pt x="2538660" y="337015"/>
                </a:lnTo>
                <a:lnTo>
                  <a:pt x="2524157" y="310772"/>
                </a:lnTo>
                <a:lnTo>
                  <a:pt x="2508964" y="284529"/>
                </a:lnTo>
                <a:lnTo>
                  <a:pt x="2493080" y="258976"/>
                </a:lnTo>
                <a:lnTo>
                  <a:pt x="2475815" y="233424"/>
                </a:lnTo>
                <a:lnTo>
                  <a:pt x="2457859" y="207181"/>
                </a:lnTo>
                <a:lnTo>
                  <a:pt x="2439213" y="180938"/>
                </a:lnTo>
                <a:lnTo>
                  <a:pt x="2419876" y="155386"/>
                </a:lnTo>
                <a:lnTo>
                  <a:pt x="2399158" y="129834"/>
                </a:lnTo>
                <a:lnTo>
                  <a:pt x="2377749" y="103591"/>
                </a:lnTo>
                <a:lnTo>
                  <a:pt x="2354959" y="78038"/>
                </a:lnTo>
                <a:lnTo>
                  <a:pt x="2330788" y="51795"/>
                </a:lnTo>
                <a:lnTo>
                  <a:pt x="2305926" y="25552"/>
                </a:lnTo>
                <a:lnTo>
                  <a:pt x="2278993" y="0"/>
                </a:lnTo>
                <a:lnTo>
                  <a:pt x="377070" y="0"/>
                </a:lnTo>
                <a:lnTo>
                  <a:pt x="350136" y="25552"/>
                </a:lnTo>
                <a:lnTo>
                  <a:pt x="325274" y="51795"/>
                </a:lnTo>
                <a:lnTo>
                  <a:pt x="301103" y="78038"/>
                </a:lnTo>
                <a:lnTo>
                  <a:pt x="278313" y="103591"/>
                </a:lnTo>
                <a:lnTo>
                  <a:pt x="256905" y="129834"/>
                </a:lnTo>
                <a:lnTo>
                  <a:pt x="236187" y="155386"/>
                </a:lnTo>
                <a:lnTo>
                  <a:pt x="216850" y="180938"/>
                </a:lnTo>
                <a:lnTo>
                  <a:pt x="198203" y="207181"/>
                </a:lnTo>
                <a:lnTo>
                  <a:pt x="180248" y="233424"/>
                </a:lnTo>
                <a:lnTo>
                  <a:pt x="162983" y="258976"/>
                </a:lnTo>
                <a:lnTo>
                  <a:pt x="147099" y="284529"/>
                </a:lnTo>
                <a:lnTo>
                  <a:pt x="131905" y="310772"/>
                </a:lnTo>
                <a:lnTo>
                  <a:pt x="117403" y="337015"/>
                </a:lnTo>
                <a:lnTo>
                  <a:pt x="103591" y="362567"/>
                </a:lnTo>
                <a:lnTo>
                  <a:pt x="90469" y="388810"/>
                </a:lnTo>
                <a:lnTo>
                  <a:pt x="78038" y="414362"/>
                </a:lnTo>
                <a:lnTo>
                  <a:pt x="65607" y="440605"/>
                </a:lnTo>
                <a:lnTo>
                  <a:pt x="54558" y="466158"/>
                </a:lnTo>
                <a:lnTo>
                  <a:pt x="44199" y="491710"/>
                </a:lnTo>
                <a:lnTo>
                  <a:pt x="34530" y="517953"/>
                </a:lnTo>
                <a:lnTo>
                  <a:pt x="24862" y="543505"/>
                </a:lnTo>
                <a:lnTo>
                  <a:pt x="15884" y="569748"/>
                </a:lnTo>
                <a:lnTo>
                  <a:pt x="7597" y="595301"/>
                </a:lnTo>
                <a:lnTo>
                  <a:pt x="0" y="621544"/>
                </a:lnTo>
                <a:close/>
              </a:path>
            </a:pathLst>
          </a:custGeom>
          <a:solidFill>
            <a:srgbClr val="F8E7B0"/>
          </a:solidFill>
          <a:ln/>
        </p:spPr>
      </p:sp>
      <p:sp>
        <p:nvSpPr>
          <p:cNvPr id="7" name="S04-mark20"/>
          <p:cNvSpPr/>
          <p:nvPr/>
        </p:nvSpPr>
        <p:spPr>
          <a:xfrm>
            <a:off x="2211210" y="3377921"/>
            <a:ext cx="2656063" cy="621544"/>
          </a:xfrm>
          <a:custGeom>
            <a:avLst/>
            <a:gdLst/>
            <a:ahLst/>
            <a:cxnLst/>
            <a:rect l="l" t="t" r="r" b="b"/>
            <a:pathLst>
              <a:path w="2656063" h="621544">
                <a:moveTo>
                  <a:pt x="2278993" y="621544"/>
                </a:moveTo>
                <a:lnTo>
                  <a:pt x="2305926" y="595301"/>
                </a:lnTo>
                <a:lnTo>
                  <a:pt x="2330788" y="569748"/>
                </a:lnTo>
                <a:lnTo>
                  <a:pt x="2354959" y="543505"/>
                </a:lnTo>
                <a:lnTo>
                  <a:pt x="2377749" y="517953"/>
                </a:lnTo>
                <a:lnTo>
                  <a:pt x="2399158" y="491710"/>
                </a:lnTo>
                <a:lnTo>
                  <a:pt x="2419876" y="466158"/>
                </a:lnTo>
                <a:lnTo>
                  <a:pt x="2439213" y="440605"/>
                </a:lnTo>
                <a:lnTo>
                  <a:pt x="2457859" y="414362"/>
                </a:lnTo>
                <a:lnTo>
                  <a:pt x="2475815" y="388810"/>
                </a:lnTo>
                <a:lnTo>
                  <a:pt x="2493080" y="362567"/>
                </a:lnTo>
                <a:lnTo>
                  <a:pt x="2508964" y="337015"/>
                </a:lnTo>
                <a:lnTo>
                  <a:pt x="2524157" y="310772"/>
                </a:lnTo>
                <a:lnTo>
                  <a:pt x="2538660" y="284529"/>
                </a:lnTo>
                <a:lnTo>
                  <a:pt x="2552472" y="258976"/>
                </a:lnTo>
                <a:lnTo>
                  <a:pt x="2565594" y="233424"/>
                </a:lnTo>
                <a:lnTo>
                  <a:pt x="2578024" y="207181"/>
                </a:lnTo>
                <a:lnTo>
                  <a:pt x="2590455" y="180938"/>
                </a:lnTo>
                <a:lnTo>
                  <a:pt x="2601505" y="155386"/>
                </a:lnTo>
                <a:lnTo>
                  <a:pt x="2611864" y="129834"/>
                </a:lnTo>
                <a:lnTo>
                  <a:pt x="2621532" y="103591"/>
                </a:lnTo>
                <a:lnTo>
                  <a:pt x="2631201" y="77348"/>
                </a:lnTo>
                <a:lnTo>
                  <a:pt x="2640179" y="51795"/>
                </a:lnTo>
                <a:lnTo>
                  <a:pt x="2648466" y="26243"/>
                </a:lnTo>
                <a:lnTo>
                  <a:pt x="2656063" y="0"/>
                </a:lnTo>
                <a:lnTo>
                  <a:pt x="0" y="0"/>
                </a:lnTo>
                <a:lnTo>
                  <a:pt x="7597" y="26243"/>
                </a:lnTo>
                <a:lnTo>
                  <a:pt x="15884" y="51795"/>
                </a:lnTo>
                <a:lnTo>
                  <a:pt x="24862" y="77348"/>
                </a:lnTo>
                <a:lnTo>
                  <a:pt x="34530" y="103591"/>
                </a:lnTo>
                <a:lnTo>
                  <a:pt x="44199" y="129834"/>
                </a:lnTo>
                <a:lnTo>
                  <a:pt x="54558" y="155386"/>
                </a:lnTo>
                <a:lnTo>
                  <a:pt x="65607" y="180938"/>
                </a:lnTo>
                <a:lnTo>
                  <a:pt x="78038" y="207181"/>
                </a:lnTo>
                <a:lnTo>
                  <a:pt x="90469" y="233424"/>
                </a:lnTo>
                <a:lnTo>
                  <a:pt x="103591" y="258976"/>
                </a:lnTo>
                <a:lnTo>
                  <a:pt x="117403" y="284529"/>
                </a:lnTo>
                <a:lnTo>
                  <a:pt x="131905" y="310772"/>
                </a:lnTo>
                <a:lnTo>
                  <a:pt x="147099" y="337015"/>
                </a:lnTo>
                <a:lnTo>
                  <a:pt x="162983" y="362567"/>
                </a:lnTo>
                <a:lnTo>
                  <a:pt x="180248" y="388810"/>
                </a:lnTo>
                <a:lnTo>
                  <a:pt x="198203" y="414362"/>
                </a:lnTo>
                <a:lnTo>
                  <a:pt x="216850" y="440605"/>
                </a:lnTo>
                <a:lnTo>
                  <a:pt x="236187" y="466158"/>
                </a:lnTo>
                <a:lnTo>
                  <a:pt x="256905" y="491710"/>
                </a:lnTo>
                <a:lnTo>
                  <a:pt x="278313" y="517953"/>
                </a:lnTo>
                <a:lnTo>
                  <a:pt x="301103" y="543505"/>
                </a:lnTo>
                <a:lnTo>
                  <a:pt x="325274" y="569748"/>
                </a:lnTo>
                <a:lnTo>
                  <a:pt x="350136" y="595301"/>
                </a:lnTo>
                <a:lnTo>
                  <a:pt x="377070" y="621544"/>
                </a:lnTo>
                <a:close/>
              </a:path>
            </a:pathLst>
          </a:custGeom>
          <a:solidFill>
            <a:srgbClr val="F8E7B0"/>
          </a:solidFill>
          <a:ln/>
        </p:spPr>
      </p:sp>
      <p:sp>
        <p:nvSpPr>
          <p:cNvPr id="8" name="S04-mark21"/>
          <p:cNvSpPr/>
          <p:nvPr/>
        </p:nvSpPr>
        <p:spPr>
          <a:xfrm>
            <a:off x="2588280" y="1616881"/>
            <a:ext cx="1901923" cy="379832"/>
          </a:xfrm>
          <a:custGeom>
            <a:avLst/>
            <a:gdLst/>
            <a:ahLst/>
            <a:cxnLst/>
            <a:rect l="l" t="t" r="r" b="b"/>
            <a:pathLst>
              <a:path w="1901923" h="379832">
                <a:moveTo>
                  <a:pt x="1901923" y="379832"/>
                </a:moveTo>
                <a:lnTo>
                  <a:pt x="1885349" y="363948"/>
                </a:lnTo>
                <a:lnTo>
                  <a:pt x="1868084" y="348064"/>
                </a:lnTo>
                <a:lnTo>
                  <a:pt x="1849437" y="332180"/>
                </a:lnTo>
                <a:lnTo>
                  <a:pt x="1830791" y="316297"/>
                </a:lnTo>
                <a:lnTo>
                  <a:pt x="1811454" y="300413"/>
                </a:lnTo>
                <a:lnTo>
                  <a:pt x="1790736" y="285219"/>
                </a:lnTo>
                <a:lnTo>
                  <a:pt x="1770018" y="269336"/>
                </a:lnTo>
                <a:lnTo>
                  <a:pt x="1747919" y="253452"/>
                </a:lnTo>
                <a:lnTo>
                  <a:pt x="1725129" y="237568"/>
                </a:lnTo>
                <a:lnTo>
                  <a:pt x="1700957" y="221684"/>
                </a:lnTo>
                <a:lnTo>
                  <a:pt x="1676096" y="205800"/>
                </a:lnTo>
                <a:lnTo>
                  <a:pt x="1649853" y="189916"/>
                </a:lnTo>
                <a:lnTo>
                  <a:pt x="1622229" y="174032"/>
                </a:lnTo>
                <a:lnTo>
                  <a:pt x="1593223" y="158148"/>
                </a:lnTo>
                <a:lnTo>
                  <a:pt x="1562146" y="142264"/>
                </a:lnTo>
                <a:lnTo>
                  <a:pt x="1528306" y="126381"/>
                </a:lnTo>
                <a:lnTo>
                  <a:pt x="1493086" y="110497"/>
                </a:lnTo>
                <a:lnTo>
                  <a:pt x="1454412" y="94613"/>
                </a:lnTo>
                <a:lnTo>
                  <a:pt x="1411594" y="79419"/>
                </a:lnTo>
                <a:lnTo>
                  <a:pt x="1364633" y="63536"/>
                </a:lnTo>
                <a:lnTo>
                  <a:pt x="1310076" y="47652"/>
                </a:lnTo>
                <a:lnTo>
                  <a:pt x="1245159" y="31768"/>
                </a:lnTo>
                <a:lnTo>
                  <a:pt x="1159524" y="15884"/>
                </a:lnTo>
                <a:lnTo>
                  <a:pt x="950962" y="0"/>
                </a:lnTo>
                <a:lnTo>
                  <a:pt x="950962" y="0"/>
                </a:lnTo>
                <a:lnTo>
                  <a:pt x="742399" y="15884"/>
                </a:lnTo>
                <a:lnTo>
                  <a:pt x="656764" y="31768"/>
                </a:lnTo>
                <a:lnTo>
                  <a:pt x="591848" y="47652"/>
                </a:lnTo>
                <a:lnTo>
                  <a:pt x="537290" y="63536"/>
                </a:lnTo>
                <a:lnTo>
                  <a:pt x="490329" y="79419"/>
                </a:lnTo>
                <a:lnTo>
                  <a:pt x="447511" y="94613"/>
                </a:lnTo>
                <a:lnTo>
                  <a:pt x="408838" y="110497"/>
                </a:lnTo>
                <a:lnTo>
                  <a:pt x="373617" y="126381"/>
                </a:lnTo>
                <a:lnTo>
                  <a:pt x="339777" y="142264"/>
                </a:lnTo>
                <a:lnTo>
                  <a:pt x="308700" y="158148"/>
                </a:lnTo>
                <a:lnTo>
                  <a:pt x="279695" y="174032"/>
                </a:lnTo>
                <a:lnTo>
                  <a:pt x="252070" y="189916"/>
                </a:lnTo>
                <a:lnTo>
                  <a:pt x="225827" y="205800"/>
                </a:lnTo>
                <a:lnTo>
                  <a:pt x="200966" y="221684"/>
                </a:lnTo>
                <a:lnTo>
                  <a:pt x="176795" y="237568"/>
                </a:lnTo>
                <a:lnTo>
                  <a:pt x="154005" y="253452"/>
                </a:lnTo>
                <a:lnTo>
                  <a:pt x="131905" y="269336"/>
                </a:lnTo>
                <a:lnTo>
                  <a:pt x="111187" y="285219"/>
                </a:lnTo>
                <a:lnTo>
                  <a:pt x="90469" y="300413"/>
                </a:lnTo>
                <a:lnTo>
                  <a:pt x="71132" y="316297"/>
                </a:lnTo>
                <a:lnTo>
                  <a:pt x="52486" y="332180"/>
                </a:lnTo>
                <a:lnTo>
                  <a:pt x="33840" y="348064"/>
                </a:lnTo>
                <a:lnTo>
                  <a:pt x="16574" y="363948"/>
                </a:lnTo>
                <a:lnTo>
                  <a:pt x="0" y="379832"/>
                </a:lnTo>
                <a:close/>
              </a:path>
            </a:pathLst>
          </a:custGeom>
          <a:solidFill>
            <a:srgbClr val="BFDDF5"/>
          </a:solidFill>
          <a:ln/>
        </p:spPr>
      </p:sp>
      <p:sp>
        <p:nvSpPr>
          <p:cNvPr id="9" name="S04-mark22"/>
          <p:cNvSpPr/>
          <p:nvPr/>
        </p:nvSpPr>
        <p:spPr>
          <a:xfrm>
            <a:off x="2588280" y="3999465"/>
            <a:ext cx="1901923" cy="379832"/>
          </a:xfrm>
          <a:custGeom>
            <a:avLst/>
            <a:gdLst/>
            <a:ahLst/>
            <a:cxnLst/>
            <a:rect l="l" t="t" r="r" b="b"/>
            <a:pathLst>
              <a:path w="1901923" h="379832">
                <a:moveTo>
                  <a:pt x="950962" y="379832"/>
                </a:moveTo>
                <a:lnTo>
                  <a:pt x="1159524" y="363948"/>
                </a:lnTo>
                <a:lnTo>
                  <a:pt x="1245159" y="348064"/>
                </a:lnTo>
                <a:lnTo>
                  <a:pt x="1310076" y="332180"/>
                </a:lnTo>
                <a:lnTo>
                  <a:pt x="1364633" y="316297"/>
                </a:lnTo>
                <a:lnTo>
                  <a:pt x="1411594" y="300413"/>
                </a:lnTo>
                <a:lnTo>
                  <a:pt x="1454412" y="285219"/>
                </a:lnTo>
                <a:lnTo>
                  <a:pt x="1493086" y="269336"/>
                </a:lnTo>
                <a:lnTo>
                  <a:pt x="1528306" y="253452"/>
                </a:lnTo>
                <a:lnTo>
                  <a:pt x="1562146" y="237568"/>
                </a:lnTo>
                <a:lnTo>
                  <a:pt x="1593223" y="221684"/>
                </a:lnTo>
                <a:lnTo>
                  <a:pt x="1622229" y="205800"/>
                </a:lnTo>
                <a:lnTo>
                  <a:pt x="1649853" y="189916"/>
                </a:lnTo>
                <a:lnTo>
                  <a:pt x="1676096" y="174032"/>
                </a:lnTo>
                <a:lnTo>
                  <a:pt x="1700957" y="158148"/>
                </a:lnTo>
                <a:lnTo>
                  <a:pt x="1725129" y="142264"/>
                </a:lnTo>
                <a:lnTo>
                  <a:pt x="1747919" y="126381"/>
                </a:lnTo>
                <a:lnTo>
                  <a:pt x="1770018" y="110497"/>
                </a:lnTo>
                <a:lnTo>
                  <a:pt x="1790736" y="94613"/>
                </a:lnTo>
                <a:lnTo>
                  <a:pt x="1811454" y="79419"/>
                </a:lnTo>
                <a:lnTo>
                  <a:pt x="1830791" y="63536"/>
                </a:lnTo>
                <a:lnTo>
                  <a:pt x="1849437" y="47652"/>
                </a:lnTo>
                <a:lnTo>
                  <a:pt x="1868084" y="31768"/>
                </a:lnTo>
                <a:lnTo>
                  <a:pt x="1885349" y="15884"/>
                </a:lnTo>
                <a:lnTo>
                  <a:pt x="1901923" y="0"/>
                </a:lnTo>
                <a:lnTo>
                  <a:pt x="0" y="0"/>
                </a:lnTo>
                <a:lnTo>
                  <a:pt x="16574" y="15884"/>
                </a:lnTo>
                <a:lnTo>
                  <a:pt x="33840" y="31768"/>
                </a:lnTo>
                <a:lnTo>
                  <a:pt x="52486" y="47652"/>
                </a:lnTo>
                <a:lnTo>
                  <a:pt x="71132" y="63536"/>
                </a:lnTo>
                <a:lnTo>
                  <a:pt x="90469" y="79419"/>
                </a:lnTo>
                <a:lnTo>
                  <a:pt x="111187" y="94613"/>
                </a:lnTo>
                <a:lnTo>
                  <a:pt x="131905" y="110497"/>
                </a:lnTo>
                <a:lnTo>
                  <a:pt x="154005" y="126381"/>
                </a:lnTo>
                <a:lnTo>
                  <a:pt x="176795" y="142264"/>
                </a:lnTo>
                <a:lnTo>
                  <a:pt x="200966" y="158148"/>
                </a:lnTo>
                <a:lnTo>
                  <a:pt x="225827" y="174032"/>
                </a:lnTo>
                <a:lnTo>
                  <a:pt x="252070" y="189916"/>
                </a:lnTo>
                <a:lnTo>
                  <a:pt x="279695" y="205800"/>
                </a:lnTo>
                <a:lnTo>
                  <a:pt x="308700" y="221684"/>
                </a:lnTo>
                <a:lnTo>
                  <a:pt x="339777" y="237568"/>
                </a:lnTo>
                <a:lnTo>
                  <a:pt x="373617" y="253452"/>
                </a:lnTo>
                <a:lnTo>
                  <a:pt x="408838" y="269336"/>
                </a:lnTo>
                <a:lnTo>
                  <a:pt x="447511" y="285219"/>
                </a:lnTo>
                <a:lnTo>
                  <a:pt x="490329" y="300413"/>
                </a:lnTo>
                <a:lnTo>
                  <a:pt x="537290" y="316297"/>
                </a:lnTo>
                <a:lnTo>
                  <a:pt x="591848" y="332180"/>
                </a:lnTo>
                <a:lnTo>
                  <a:pt x="656764" y="348064"/>
                </a:lnTo>
                <a:lnTo>
                  <a:pt x="742399" y="363948"/>
                </a:lnTo>
                <a:lnTo>
                  <a:pt x="950962" y="379832"/>
                </a:lnTo>
                <a:close/>
              </a:path>
            </a:pathLst>
          </a:custGeom>
          <a:solidFill>
            <a:srgbClr val="BFDDF5"/>
          </a:solidFill>
          <a:ln/>
        </p:spPr>
      </p:sp>
      <p:sp>
        <p:nvSpPr>
          <p:cNvPr id="10" name="S04-mark23"/>
          <p:cNvSpPr/>
          <p:nvPr/>
        </p:nvSpPr>
        <p:spPr>
          <a:xfrm>
            <a:off x="2158034" y="1616881"/>
            <a:ext cx="2762416" cy="2762416"/>
          </a:xfrm>
          <a:prstGeom prst="ellips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11" name="S04-mark24"/>
          <p:cNvSpPr/>
          <p:nvPr/>
        </p:nvSpPr>
        <p:spPr>
          <a:xfrm>
            <a:off x="2158034" y="2998089"/>
            <a:ext cx="2762416" cy="0"/>
          </a:xfrm>
          <a:prstGeom prst="line">
            <a:avLst/>
          </a:prstGeom>
          <a:noFill/>
          <a:ln w="25400">
            <a:solidFill>
              <a:srgbClr val="C2571A"/>
            </a:solidFill>
            <a:prstDash val="dash"/>
          </a:ln>
        </p:spPr>
      </p:sp>
      <p:sp>
        <p:nvSpPr>
          <p:cNvPr id="12" name="S04-mark25"/>
          <p:cNvSpPr/>
          <p:nvPr/>
        </p:nvSpPr>
        <p:spPr>
          <a:xfrm>
            <a:off x="4747798" y="1789532"/>
            <a:ext cx="448893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13" name="S04-mark26"/>
          <p:cNvSpPr/>
          <p:nvPr/>
        </p:nvSpPr>
        <p:spPr>
          <a:xfrm>
            <a:off x="4920449" y="2998089"/>
            <a:ext cx="276242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14" name="S04-mark27"/>
          <p:cNvSpPr/>
          <p:nvPr/>
        </p:nvSpPr>
        <p:spPr>
          <a:xfrm>
            <a:off x="4747798" y="4206646"/>
            <a:ext cx="448893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15" name="S04-label29"/>
          <p:cNvSpPr txBox="1"/>
          <p:nvPr/>
        </p:nvSpPr>
        <p:spPr>
          <a:xfrm>
            <a:off x="5300282" y="1646657"/>
            <a:ext cx="34335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북극에 가까운 곳: 대체로 추워요</a:t>
            </a:r>
            <a:endParaRPr lang="ko-KR" sz="1800" dirty="0"/>
          </a:p>
        </p:txBody>
      </p:sp>
      <p:sp>
        <p:nvSpPr>
          <p:cNvPr id="16" name="S04-label31"/>
          <p:cNvSpPr txBox="1"/>
          <p:nvPr/>
        </p:nvSpPr>
        <p:spPr>
          <a:xfrm>
            <a:off x="5300282" y="2855214"/>
            <a:ext cx="34335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C257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적도에 가까운 곳: 대체로 더워요</a:t>
            </a:r>
            <a:endParaRPr lang="ko-KR" sz="1800" dirty="0"/>
          </a:p>
        </p:txBody>
      </p:sp>
      <p:sp>
        <p:nvSpPr>
          <p:cNvPr id="17" name="S04-label33"/>
          <p:cNvSpPr txBox="1"/>
          <p:nvPr/>
        </p:nvSpPr>
        <p:spPr>
          <a:xfrm>
            <a:off x="5300282" y="4063771"/>
            <a:ext cx="34335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남극에 가까운 곳: 대체로 추워요</a:t>
            </a:r>
            <a:endParaRPr lang="ko-KR" sz="1800" dirty="0"/>
          </a:p>
        </p:txBody>
      </p:sp>
      <p:sp>
        <p:nvSpPr>
          <p:cNvPr id="18" name="S04-label35"/>
          <p:cNvSpPr txBox="1"/>
          <p:nvPr/>
        </p:nvSpPr>
        <p:spPr>
          <a:xfrm>
            <a:off x="3260350" y="264803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C257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</a:t>
            </a:r>
            <a:endParaRPr lang="ko-KR" sz="1800" dirty="0"/>
          </a:p>
        </p:txBody>
      </p:sp>
      <p:sp>
        <p:nvSpPr>
          <p:cNvPr id="19" name="S04-label36"/>
          <p:cNvSpPr txBox="1"/>
          <p:nvPr/>
        </p:nvSpPr>
        <p:spPr>
          <a:xfrm>
            <a:off x="548640" y="4743450"/>
            <a:ext cx="1109167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날씨에 맞는 집</a:t>
            </a:r>
            <a:endParaRPr lang="ko-KR" sz="4000" dirty="0"/>
          </a:p>
        </p:txBody>
      </p:sp>
      <p:sp>
        <p:nvSpPr>
          <p:cNvPr id="3" name="S05-card37"/>
          <p:cNvSpPr/>
          <p:nvPr/>
        </p:nvSpPr>
        <p:spPr>
          <a:xfrm>
            <a:off x="548640" y="4153408"/>
            <a:ext cx="3544824" cy="2064512"/>
          </a:xfrm>
          <a:prstGeom prst="roundRect">
            <a:avLst>
              <a:gd name="adj" fmla="val 531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8"/>
          <p:cNvSpPr txBox="1"/>
          <p:nvPr/>
        </p:nvSpPr>
        <p:spPr>
          <a:xfrm>
            <a:off x="822960" y="4290568"/>
            <a:ext cx="2996184" cy="179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흙벽돌로 벽을 두껍게,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창문은 작게 지어요.</a:t>
            </a:r>
            <a:endParaRPr lang="ko-KR" sz="2800" dirty="0"/>
          </a:p>
        </p:txBody>
      </p:sp>
      <p:sp>
        <p:nvSpPr>
          <p:cNvPr id="5" name="S05-card39"/>
          <p:cNvSpPr/>
          <p:nvPr/>
        </p:nvSpPr>
        <p:spPr>
          <a:xfrm>
            <a:off x="4322064" y="4153408"/>
            <a:ext cx="3544824" cy="2064512"/>
          </a:xfrm>
          <a:prstGeom prst="roundRect">
            <a:avLst>
              <a:gd name="adj" fmla="val 531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40"/>
          <p:cNvSpPr txBox="1"/>
          <p:nvPr/>
        </p:nvSpPr>
        <p:spPr>
          <a:xfrm>
            <a:off x="4596384" y="4290568"/>
            <a:ext cx="2996184" cy="179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땅에서 띄워 짓고,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지붕은 가파르게 해요.</a:t>
            </a:r>
            <a:endParaRPr lang="ko-KR" sz="2800" dirty="0"/>
          </a:p>
        </p:txBody>
      </p:sp>
      <p:sp>
        <p:nvSpPr>
          <p:cNvPr id="7" name="S05-card41"/>
          <p:cNvSpPr/>
          <p:nvPr/>
        </p:nvSpPr>
        <p:spPr>
          <a:xfrm>
            <a:off x="8095488" y="4153408"/>
            <a:ext cx="3544824" cy="2064512"/>
          </a:xfrm>
          <a:prstGeom prst="roundRect">
            <a:avLst>
              <a:gd name="adj" fmla="val 531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42"/>
          <p:cNvSpPr txBox="1"/>
          <p:nvPr/>
        </p:nvSpPr>
        <p:spPr>
          <a:xfrm>
            <a:off x="8369808" y="4290568"/>
            <a:ext cx="2996184" cy="179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통나무 벽을 두껍게,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창은 작게 지어요.</a:t>
            </a:r>
            <a:endParaRPr lang="ko-KR" sz="2800" dirty="0"/>
          </a:p>
        </p:txBody>
      </p:sp>
      <p:sp>
        <p:nvSpPr>
          <p:cNvPr id="9" name="S05-figure43" descr="간단히 나타낸 집 가: 흙색 벽이 두껍고 작은 창문이 두 개, 지붕은 평평함. 위에 강한 해"/>
          <p:cNvSpPr/>
          <p:nvPr/>
        </p:nvSpPr>
        <p:spPr>
          <a:xfrm>
            <a:off x="1037666" y="3255197"/>
            <a:ext cx="2505812" cy="135449"/>
          </a:xfrm>
          <a:custGeom>
            <a:avLst/>
            <a:gdLst/>
            <a:ahLst/>
            <a:cxnLst/>
            <a:rect l="l" t="t" r="r" b="b"/>
            <a:pathLst>
              <a:path w="2505812" h="135449">
                <a:moveTo>
                  <a:pt x="0" y="135449"/>
                </a:moveTo>
                <a:lnTo>
                  <a:pt x="2505812" y="135449"/>
                </a:lnTo>
                <a:lnTo>
                  <a:pt x="25058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D5A9"/>
          </a:solidFill>
          <a:ln/>
        </p:spPr>
      </p:sp>
      <p:sp>
        <p:nvSpPr>
          <p:cNvPr id="10" name="S05-mark44"/>
          <p:cNvSpPr/>
          <p:nvPr/>
        </p:nvSpPr>
        <p:spPr>
          <a:xfrm>
            <a:off x="1308565" y="2239327"/>
            <a:ext cx="1693116" cy="1015870"/>
          </a:xfrm>
          <a:custGeom>
            <a:avLst/>
            <a:gdLst/>
            <a:ahLst/>
            <a:cxnLst/>
            <a:rect l="l" t="t" r="r" b="b"/>
            <a:pathLst>
              <a:path w="1693116" h="1015870">
                <a:moveTo>
                  <a:pt x="0" y="1015870"/>
                </a:moveTo>
                <a:lnTo>
                  <a:pt x="1693116" y="1015870"/>
                </a:lnTo>
                <a:lnTo>
                  <a:pt x="16931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9B38C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mark45"/>
          <p:cNvSpPr/>
          <p:nvPr/>
        </p:nvSpPr>
        <p:spPr>
          <a:xfrm>
            <a:off x="1223909" y="2086946"/>
            <a:ext cx="1862428" cy="152380"/>
          </a:xfrm>
          <a:custGeom>
            <a:avLst/>
            <a:gdLst/>
            <a:ahLst/>
            <a:cxnLst/>
            <a:rect l="l" t="t" r="r" b="b"/>
            <a:pathLst>
              <a:path w="1862428" h="152380">
                <a:moveTo>
                  <a:pt x="0" y="152380"/>
                </a:moveTo>
                <a:lnTo>
                  <a:pt x="1862428" y="152380"/>
                </a:lnTo>
                <a:lnTo>
                  <a:pt x="1862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A5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mark46"/>
          <p:cNvSpPr/>
          <p:nvPr/>
        </p:nvSpPr>
        <p:spPr>
          <a:xfrm>
            <a:off x="1613326" y="2442501"/>
            <a:ext cx="186243" cy="169312"/>
          </a:xfrm>
          <a:custGeom>
            <a:avLst/>
            <a:gdLst/>
            <a:ahLst/>
            <a:cxnLst/>
            <a:rect l="l" t="t" r="r" b="b"/>
            <a:pathLst>
              <a:path w="186243" h="169312">
                <a:moveTo>
                  <a:pt x="0" y="169312"/>
                </a:moveTo>
                <a:lnTo>
                  <a:pt x="186243" y="169312"/>
                </a:lnTo>
                <a:lnTo>
                  <a:pt x="18624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463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mark47"/>
          <p:cNvSpPr/>
          <p:nvPr/>
        </p:nvSpPr>
        <p:spPr>
          <a:xfrm>
            <a:off x="2510677" y="2442501"/>
            <a:ext cx="186243" cy="169312"/>
          </a:xfrm>
          <a:custGeom>
            <a:avLst/>
            <a:gdLst/>
            <a:ahLst/>
            <a:cxnLst/>
            <a:rect l="l" t="t" r="r" b="b"/>
            <a:pathLst>
              <a:path w="186243" h="169312">
                <a:moveTo>
                  <a:pt x="0" y="169312"/>
                </a:moveTo>
                <a:lnTo>
                  <a:pt x="186243" y="169312"/>
                </a:lnTo>
                <a:lnTo>
                  <a:pt x="18624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463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mark48"/>
          <p:cNvSpPr/>
          <p:nvPr/>
        </p:nvSpPr>
        <p:spPr>
          <a:xfrm>
            <a:off x="2019673" y="2747262"/>
            <a:ext cx="270899" cy="507935"/>
          </a:xfrm>
          <a:custGeom>
            <a:avLst/>
            <a:gdLst/>
            <a:ahLst/>
            <a:cxnLst/>
            <a:rect l="l" t="t" r="r" b="b"/>
            <a:pathLst>
              <a:path w="270899" h="507935">
                <a:moveTo>
                  <a:pt x="0" y="507935"/>
                </a:moveTo>
                <a:lnTo>
                  <a:pt x="270899" y="507935"/>
                </a:lnTo>
                <a:lnTo>
                  <a:pt x="270899" y="0"/>
                </a:lnTo>
                <a:lnTo>
                  <a:pt x="0" y="0"/>
                </a:lnTo>
                <a:close/>
              </a:path>
            </a:pathLst>
          </a:custGeom>
          <a:solidFill>
            <a:srgbClr val="8A6A4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mark49"/>
          <p:cNvSpPr/>
          <p:nvPr/>
        </p:nvSpPr>
        <p:spPr>
          <a:xfrm>
            <a:off x="3035543" y="1528218"/>
            <a:ext cx="338623" cy="338623"/>
          </a:xfrm>
          <a:prstGeom prst="ellipse">
            <a:avLst/>
          </a:prstGeom>
          <a:solidFill>
            <a:srgbClr val="F2C14E"/>
          </a:solidFill>
          <a:ln w="19050">
            <a:solidFill>
              <a:srgbClr val="C98A00"/>
            </a:solidFill>
            <a:prstDash val="solid"/>
          </a:ln>
        </p:spPr>
      </p:sp>
      <p:sp>
        <p:nvSpPr>
          <p:cNvPr id="16" name="S05-mark50"/>
          <p:cNvSpPr/>
          <p:nvPr/>
        </p:nvSpPr>
        <p:spPr>
          <a:xfrm flipH="1">
            <a:off x="2815438" y="1697530"/>
            <a:ext cx="101587" cy="0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7" name="S05-mark51"/>
          <p:cNvSpPr/>
          <p:nvPr/>
        </p:nvSpPr>
        <p:spPr>
          <a:xfrm flipH="1">
            <a:off x="2917025" y="1900704"/>
            <a:ext cx="84656" cy="84656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8" name="S05-mark52"/>
          <p:cNvSpPr/>
          <p:nvPr/>
        </p:nvSpPr>
        <p:spPr>
          <a:xfrm>
            <a:off x="3204855" y="1985360"/>
            <a:ext cx="0" cy="84656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9" name="S05-mark53"/>
          <p:cNvSpPr/>
          <p:nvPr/>
        </p:nvSpPr>
        <p:spPr>
          <a:xfrm flipH="1" flipV="1">
            <a:off x="2917025" y="1409700"/>
            <a:ext cx="84656" cy="84656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20" name="S05-label54"/>
          <p:cNvSpPr txBox="1"/>
          <p:nvPr/>
        </p:nvSpPr>
        <p:spPr>
          <a:xfrm>
            <a:off x="548640" y="3547618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덥고 건조한 곳</a:t>
            </a:r>
            <a:endParaRPr lang="ko-KR" sz="2200" dirty="0"/>
          </a:p>
        </p:txBody>
      </p:sp>
      <p:sp>
        <p:nvSpPr>
          <p:cNvPr id="21" name="S05-figure55" descr="간단히 나타낸 집 나: 기둥 위에 올려 땅에서 띄운 나무집, 지붕은 높고 가파름. 위에서 비가 내림"/>
          <p:cNvSpPr/>
          <p:nvPr/>
        </p:nvSpPr>
        <p:spPr>
          <a:xfrm>
            <a:off x="5133135" y="3274120"/>
            <a:ext cx="1922683" cy="116526"/>
          </a:xfrm>
          <a:custGeom>
            <a:avLst/>
            <a:gdLst/>
            <a:ahLst/>
            <a:cxnLst/>
            <a:rect l="l" t="t" r="r" b="b"/>
            <a:pathLst>
              <a:path w="1922683" h="116526">
                <a:moveTo>
                  <a:pt x="0" y="116526"/>
                </a:moveTo>
                <a:lnTo>
                  <a:pt x="1922683" y="116526"/>
                </a:lnTo>
                <a:lnTo>
                  <a:pt x="192268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D7A0"/>
          </a:solidFill>
          <a:ln/>
        </p:spPr>
      </p:sp>
      <p:sp>
        <p:nvSpPr>
          <p:cNvPr id="22" name="S05-mark56"/>
          <p:cNvSpPr/>
          <p:nvPr/>
        </p:nvSpPr>
        <p:spPr>
          <a:xfrm>
            <a:off x="5337055" y="2778883"/>
            <a:ext cx="1514841" cy="87395"/>
          </a:xfrm>
          <a:custGeom>
            <a:avLst/>
            <a:gdLst/>
            <a:ahLst/>
            <a:cxnLst/>
            <a:rect l="l" t="t" r="r" b="b"/>
            <a:pathLst>
              <a:path w="1514841" h="87395">
                <a:moveTo>
                  <a:pt x="0" y="87395"/>
                </a:moveTo>
                <a:lnTo>
                  <a:pt x="1514841" y="87395"/>
                </a:lnTo>
                <a:lnTo>
                  <a:pt x="15148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A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05-mark57"/>
          <p:cNvSpPr/>
          <p:nvPr/>
        </p:nvSpPr>
        <p:spPr>
          <a:xfrm>
            <a:off x="5482713" y="2371041"/>
            <a:ext cx="1223525" cy="407842"/>
          </a:xfrm>
          <a:custGeom>
            <a:avLst/>
            <a:gdLst/>
            <a:ahLst/>
            <a:cxnLst/>
            <a:rect l="l" t="t" r="r" b="b"/>
            <a:pathLst>
              <a:path w="1223525" h="407842">
                <a:moveTo>
                  <a:pt x="0" y="407842"/>
                </a:moveTo>
                <a:lnTo>
                  <a:pt x="1223525" y="407842"/>
                </a:lnTo>
                <a:lnTo>
                  <a:pt x="1223525" y="0"/>
                </a:lnTo>
                <a:lnTo>
                  <a:pt x="0" y="0"/>
                </a:lnTo>
                <a:close/>
              </a:path>
            </a:pathLst>
          </a:custGeom>
          <a:solidFill>
            <a:srgbClr val="D8B77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5-mark58"/>
          <p:cNvSpPr/>
          <p:nvPr/>
        </p:nvSpPr>
        <p:spPr>
          <a:xfrm>
            <a:off x="5220529" y="1671884"/>
            <a:ext cx="1747894" cy="699157"/>
          </a:xfrm>
          <a:custGeom>
            <a:avLst/>
            <a:gdLst/>
            <a:ahLst/>
            <a:cxnLst/>
            <a:rect l="l" t="t" r="r" b="b"/>
            <a:pathLst>
              <a:path w="1747894" h="699157">
                <a:moveTo>
                  <a:pt x="0" y="699157"/>
                </a:moveTo>
                <a:lnTo>
                  <a:pt x="1747894" y="699157"/>
                </a:lnTo>
                <a:lnTo>
                  <a:pt x="873947" y="0"/>
                </a:lnTo>
                <a:close/>
              </a:path>
            </a:pathLst>
          </a:custGeom>
          <a:solidFill>
            <a:srgbClr val="B58B3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mark59"/>
          <p:cNvSpPr/>
          <p:nvPr/>
        </p:nvSpPr>
        <p:spPr>
          <a:xfrm>
            <a:off x="5948818" y="2458436"/>
            <a:ext cx="262184" cy="320447"/>
          </a:xfrm>
          <a:custGeom>
            <a:avLst/>
            <a:gdLst/>
            <a:ahLst/>
            <a:cxnLst/>
            <a:rect l="l" t="t" r="r" b="b"/>
            <a:pathLst>
              <a:path w="262184" h="320447">
                <a:moveTo>
                  <a:pt x="0" y="320447"/>
                </a:moveTo>
                <a:lnTo>
                  <a:pt x="262184" y="320447"/>
                </a:lnTo>
                <a:lnTo>
                  <a:pt x="262184" y="0"/>
                </a:lnTo>
                <a:lnTo>
                  <a:pt x="0" y="0"/>
                </a:lnTo>
                <a:close/>
              </a:path>
            </a:pathLst>
          </a:custGeom>
          <a:solidFill>
            <a:srgbClr val="8A6A4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5-mark60"/>
          <p:cNvSpPr/>
          <p:nvPr/>
        </p:nvSpPr>
        <p:spPr>
          <a:xfrm flipV="1">
            <a:off x="5453582" y="2866278"/>
            <a:ext cx="0" cy="407842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7" name="S05-mark61"/>
          <p:cNvSpPr/>
          <p:nvPr/>
        </p:nvSpPr>
        <p:spPr>
          <a:xfrm flipV="1">
            <a:off x="5890555" y="2866278"/>
            <a:ext cx="0" cy="407842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8" name="S05-mark62"/>
          <p:cNvSpPr/>
          <p:nvPr/>
        </p:nvSpPr>
        <p:spPr>
          <a:xfrm flipV="1">
            <a:off x="6298397" y="2866278"/>
            <a:ext cx="0" cy="407842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9" name="S05-mark63"/>
          <p:cNvSpPr/>
          <p:nvPr/>
        </p:nvSpPr>
        <p:spPr>
          <a:xfrm flipV="1">
            <a:off x="6735370" y="2866278"/>
            <a:ext cx="0" cy="407842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30" name="S05-mark64"/>
          <p:cNvSpPr/>
          <p:nvPr/>
        </p:nvSpPr>
        <p:spPr>
          <a:xfrm flipH="1">
            <a:off x="5351621" y="1438832"/>
            <a:ext cx="72829" cy="145658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1" name="S05-mark65"/>
          <p:cNvSpPr/>
          <p:nvPr/>
        </p:nvSpPr>
        <p:spPr>
          <a:xfrm flipH="1">
            <a:off x="5701200" y="1438832"/>
            <a:ext cx="72829" cy="145658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2" name="S05-mark66"/>
          <p:cNvSpPr/>
          <p:nvPr/>
        </p:nvSpPr>
        <p:spPr>
          <a:xfrm flipH="1">
            <a:off x="6050779" y="1438832"/>
            <a:ext cx="72829" cy="145658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3" name="S05-mark67"/>
          <p:cNvSpPr/>
          <p:nvPr/>
        </p:nvSpPr>
        <p:spPr>
          <a:xfrm flipH="1">
            <a:off x="6400357" y="1438832"/>
            <a:ext cx="72829" cy="145658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4" name="S05-mark68"/>
          <p:cNvSpPr/>
          <p:nvPr/>
        </p:nvSpPr>
        <p:spPr>
          <a:xfrm flipH="1">
            <a:off x="6749936" y="1438832"/>
            <a:ext cx="72829" cy="145658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5" name="S05-label69"/>
          <p:cNvSpPr txBox="1"/>
          <p:nvPr/>
        </p:nvSpPr>
        <p:spPr>
          <a:xfrm>
            <a:off x="4352544" y="3547618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덥고 비가 많은 곳</a:t>
            </a:r>
            <a:endParaRPr lang="ko-KR" sz="2200" dirty="0"/>
          </a:p>
        </p:txBody>
      </p:sp>
      <p:sp>
        <p:nvSpPr>
          <p:cNvPr id="36" name="S05-figure70" descr="간단히 나타낸 집 다: 통나무를 쌓은 벽, 작은 창문, 눈이 덮인 가파른 지붕과 굴뚝. 둘레에 눈송이"/>
          <p:cNvSpPr/>
          <p:nvPr/>
        </p:nvSpPr>
        <p:spPr>
          <a:xfrm>
            <a:off x="8829298" y="3264872"/>
            <a:ext cx="2138164" cy="125774"/>
          </a:xfrm>
          <a:custGeom>
            <a:avLst/>
            <a:gdLst/>
            <a:ahLst/>
            <a:cxnLst/>
            <a:rect l="l" t="t" r="r" b="b"/>
            <a:pathLst>
              <a:path w="2138164" h="125774">
                <a:moveTo>
                  <a:pt x="0" y="125774"/>
                </a:moveTo>
                <a:lnTo>
                  <a:pt x="2138164" y="125774"/>
                </a:lnTo>
                <a:lnTo>
                  <a:pt x="2138164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3F8"/>
          </a:solidFill>
          <a:ln/>
        </p:spPr>
      </p:sp>
      <p:sp>
        <p:nvSpPr>
          <p:cNvPr id="37" name="S05-mark71"/>
          <p:cNvSpPr/>
          <p:nvPr/>
        </p:nvSpPr>
        <p:spPr>
          <a:xfrm>
            <a:off x="9080847" y="2384451"/>
            <a:ext cx="1572179" cy="880420"/>
          </a:xfrm>
          <a:custGeom>
            <a:avLst/>
            <a:gdLst/>
            <a:ahLst/>
            <a:cxnLst/>
            <a:rect l="l" t="t" r="r" b="b"/>
            <a:pathLst>
              <a:path w="1572179" h="880420">
                <a:moveTo>
                  <a:pt x="0" y="880420"/>
                </a:moveTo>
                <a:lnTo>
                  <a:pt x="1572179" y="880420"/>
                </a:lnTo>
                <a:lnTo>
                  <a:pt x="1572179" y="0"/>
                </a:lnTo>
                <a:lnTo>
                  <a:pt x="0" y="0"/>
                </a:lnTo>
                <a:close/>
              </a:path>
            </a:pathLst>
          </a:custGeom>
          <a:solidFill>
            <a:srgbClr val="B07A4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5-mark72"/>
          <p:cNvSpPr/>
          <p:nvPr/>
        </p:nvSpPr>
        <p:spPr>
          <a:xfrm>
            <a:off x="10212816" y="1849910"/>
            <a:ext cx="157218" cy="314436"/>
          </a:xfrm>
          <a:custGeom>
            <a:avLst/>
            <a:gdLst/>
            <a:ahLst/>
            <a:cxnLst/>
            <a:rect l="l" t="t" r="r" b="b"/>
            <a:pathLst>
              <a:path w="157218" h="314436">
                <a:moveTo>
                  <a:pt x="0" y="314436"/>
                </a:moveTo>
                <a:lnTo>
                  <a:pt x="157218" y="314436"/>
                </a:lnTo>
                <a:lnTo>
                  <a:pt x="157218" y="0"/>
                </a:lnTo>
                <a:lnTo>
                  <a:pt x="0" y="0"/>
                </a:lnTo>
                <a:close/>
              </a:path>
            </a:pathLst>
          </a:custGeom>
          <a:solidFill>
            <a:srgbClr val="7A5A44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9" name="S05-mark73"/>
          <p:cNvSpPr/>
          <p:nvPr/>
        </p:nvSpPr>
        <p:spPr>
          <a:xfrm>
            <a:off x="8955072" y="1755579"/>
            <a:ext cx="1823728" cy="628872"/>
          </a:xfrm>
          <a:custGeom>
            <a:avLst/>
            <a:gdLst/>
            <a:ahLst/>
            <a:cxnLst/>
            <a:rect l="l" t="t" r="r" b="b"/>
            <a:pathLst>
              <a:path w="1823728" h="628872">
                <a:moveTo>
                  <a:pt x="0" y="628872"/>
                </a:moveTo>
                <a:lnTo>
                  <a:pt x="1823728" y="628872"/>
                </a:lnTo>
                <a:lnTo>
                  <a:pt x="911864" y="0"/>
                </a:lnTo>
                <a:close/>
              </a:path>
            </a:pathLst>
          </a:custGeom>
          <a:solidFill>
            <a:srgbClr val="6B4F3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5-mark74"/>
          <p:cNvSpPr/>
          <p:nvPr/>
        </p:nvSpPr>
        <p:spPr>
          <a:xfrm>
            <a:off x="8955072" y="1755579"/>
            <a:ext cx="1823728" cy="628872"/>
          </a:xfrm>
          <a:custGeom>
            <a:avLst/>
            <a:gdLst/>
            <a:ahLst/>
            <a:cxnLst/>
            <a:rect l="l" t="t" r="r" b="b"/>
            <a:pathLst>
              <a:path w="1823728" h="628872">
                <a:moveTo>
                  <a:pt x="0" y="628872"/>
                </a:moveTo>
                <a:lnTo>
                  <a:pt x="911864" y="0"/>
                </a:lnTo>
                <a:lnTo>
                  <a:pt x="1823728" y="628872"/>
                </a:lnTo>
                <a:lnTo>
                  <a:pt x="1666510" y="628872"/>
                </a:lnTo>
                <a:lnTo>
                  <a:pt x="911864" y="110053"/>
                </a:lnTo>
                <a:lnTo>
                  <a:pt x="157218" y="628872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5-mark75"/>
          <p:cNvSpPr/>
          <p:nvPr/>
        </p:nvSpPr>
        <p:spPr>
          <a:xfrm>
            <a:off x="9395283" y="2620278"/>
            <a:ext cx="282992" cy="251549"/>
          </a:xfrm>
          <a:custGeom>
            <a:avLst/>
            <a:gdLst/>
            <a:ahLst/>
            <a:cxnLst/>
            <a:rect l="l" t="t" r="r" b="b"/>
            <a:pathLst>
              <a:path w="282992" h="251549">
                <a:moveTo>
                  <a:pt x="0" y="251549"/>
                </a:moveTo>
                <a:lnTo>
                  <a:pt x="282992" y="251549"/>
                </a:lnTo>
                <a:lnTo>
                  <a:pt x="282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5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42" name="S05-mark76"/>
          <p:cNvSpPr/>
          <p:nvPr/>
        </p:nvSpPr>
        <p:spPr>
          <a:xfrm>
            <a:off x="10024154" y="2730331"/>
            <a:ext cx="282992" cy="534541"/>
          </a:xfrm>
          <a:custGeom>
            <a:avLst/>
            <a:gdLst/>
            <a:ahLst/>
            <a:cxnLst/>
            <a:rect l="l" t="t" r="r" b="b"/>
            <a:pathLst>
              <a:path w="282992" h="534541">
                <a:moveTo>
                  <a:pt x="0" y="534541"/>
                </a:moveTo>
                <a:lnTo>
                  <a:pt x="282992" y="534541"/>
                </a:lnTo>
                <a:lnTo>
                  <a:pt x="282992" y="0"/>
                </a:lnTo>
                <a:lnTo>
                  <a:pt x="0" y="0"/>
                </a:lnTo>
                <a:close/>
              </a:path>
            </a:pathLst>
          </a:custGeom>
          <a:solidFill>
            <a:srgbClr val="7A5A44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5-mark77"/>
          <p:cNvSpPr/>
          <p:nvPr/>
        </p:nvSpPr>
        <p:spPr>
          <a:xfrm>
            <a:off x="8948784" y="1654960"/>
            <a:ext cx="75465" cy="7546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4" name="S05-mark78"/>
          <p:cNvSpPr/>
          <p:nvPr/>
        </p:nvSpPr>
        <p:spPr>
          <a:xfrm>
            <a:off x="9294663" y="1466298"/>
            <a:ext cx="75465" cy="7546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5" name="S05-mark79"/>
          <p:cNvSpPr/>
          <p:nvPr/>
        </p:nvSpPr>
        <p:spPr>
          <a:xfrm>
            <a:off x="10489519" y="1497742"/>
            <a:ext cx="75465" cy="7546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6" name="S05-mark80"/>
          <p:cNvSpPr/>
          <p:nvPr/>
        </p:nvSpPr>
        <p:spPr>
          <a:xfrm>
            <a:off x="10803955" y="1780734"/>
            <a:ext cx="75465" cy="7546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7" name="S05-mark81"/>
          <p:cNvSpPr/>
          <p:nvPr/>
        </p:nvSpPr>
        <p:spPr>
          <a:xfrm>
            <a:off x="10866842" y="2158057"/>
            <a:ext cx="75465" cy="7546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8" name="S05-mark82"/>
          <p:cNvSpPr/>
          <p:nvPr/>
        </p:nvSpPr>
        <p:spPr>
          <a:xfrm>
            <a:off x="8854453" y="2032283"/>
            <a:ext cx="75465" cy="7546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9" name="S05-mark83"/>
          <p:cNvSpPr/>
          <p:nvPr/>
        </p:nvSpPr>
        <p:spPr>
          <a:xfrm>
            <a:off x="9080847" y="3044767"/>
            <a:ext cx="1572179" cy="0"/>
          </a:xfrm>
          <a:prstGeom prst="line">
            <a:avLst/>
          </a:prstGeom>
          <a:noFill/>
          <a:ln w="15875">
            <a:solidFill>
              <a:srgbClr val="7A5A44"/>
            </a:solidFill>
            <a:prstDash val="solid"/>
          </a:ln>
        </p:spPr>
      </p:sp>
      <p:sp>
        <p:nvSpPr>
          <p:cNvPr id="50" name="S05-mark84"/>
          <p:cNvSpPr/>
          <p:nvPr/>
        </p:nvSpPr>
        <p:spPr>
          <a:xfrm>
            <a:off x="9080847" y="2824661"/>
            <a:ext cx="1572179" cy="0"/>
          </a:xfrm>
          <a:prstGeom prst="line">
            <a:avLst/>
          </a:prstGeom>
          <a:noFill/>
          <a:ln w="15875">
            <a:solidFill>
              <a:srgbClr val="7A5A44"/>
            </a:solidFill>
            <a:prstDash val="solid"/>
          </a:ln>
        </p:spPr>
      </p:sp>
      <p:sp>
        <p:nvSpPr>
          <p:cNvPr id="51" name="S05-mark85"/>
          <p:cNvSpPr/>
          <p:nvPr/>
        </p:nvSpPr>
        <p:spPr>
          <a:xfrm>
            <a:off x="9080847" y="2604556"/>
            <a:ext cx="1572179" cy="0"/>
          </a:xfrm>
          <a:prstGeom prst="line">
            <a:avLst/>
          </a:prstGeom>
          <a:noFill/>
          <a:ln w="15875">
            <a:solidFill>
              <a:srgbClr val="7A5A44"/>
            </a:solidFill>
            <a:prstDash val="solid"/>
          </a:ln>
        </p:spPr>
      </p:sp>
      <p:sp>
        <p:nvSpPr>
          <p:cNvPr id="52" name="S05-label86"/>
          <p:cNvSpPr txBox="1"/>
          <p:nvPr/>
        </p:nvSpPr>
        <p:spPr>
          <a:xfrm>
            <a:off x="8156448" y="3547618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추운 곳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날씨에 맞는 옷과 음식</a:t>
            </a:r>
            <a:endParaRPr lang="ko-KR" sz="4000" dirty="0"/>
          </a:p>
        </p:txBody>
      </p:sp>
      <p:sp>
        <p:nvSpPr>
          <p:cNvPr id="3" name="S06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옛날부터 그곳의 많은 사람이 이렇게 지내 왔어요.</a:t>
            </a:r>
            <a:endParaRPr lang="ko-KR" sz="2800" dirty="0"/>
          </a:p>
        </p:txBody>
      </p:sp>
      <p:sp>
        <p:nvSpPr>
          <p:cNvPr id="5" name="S06-card89"/>
          <p:cNvSpPr/>
          <p:nvPr/>
        </p:nvSpPr>
        <p:spPr>
          <a:xfrm>
            <a:off x="548640" y="21219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90"/>
          <p:cNvSpPr txBox="1"/>
          <p:nvPr/>
        </p:nvSpPr>
        <p:spPr>
          <a:xfrm>
            <a:off x="822960" y="22590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덥고 건조한 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온몸을 덮는 헐렁한 옷으로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햇볕과 모래바람을 막아요.</a:t>
            </a:r>
            <a:endParaRPr lang="ko-KR" sz="2800" dirty="0"/>
          </a:p>
        </p:txBody>
      </p:sp>
      <p:sp>
        <p:nvSpPr>
          <p:cNvPr id="7" name="S06-card91"/>
          <p:cNvSpPr/>
          <p:nvPr/>
        </p:nvSpPr>
        <p:spPr>
          <a:xfrm>
            <a:off x="4322064" y="21219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92"/>
          <p:cNvSpPr txBox="1"/>
          <p:nvPr/>
        </p:nvSpPr>
        <p:spPr>
          <a:xfrm>
            <a:off x="4596384" y="22590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덥고 비가 많은 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얇은 옷을 입고, 동남아시아의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곳은 쌀 음식을 즐겨요.</a:t>
            </a:r>
            <a:endParaRPr lang="ko-KR" sz="2800" dirty="0"/>
          </a:p>
        </p:txBody>
      </p:sp>
      <p:sp>
        <p:nvSpPr>
          <p:cNvPr id="9" name="S06-card93"/>
          <p:cNvSpPr/>
          <p:nvPr/>
        </p:nvSpPr>
        <p:spPr>
          <a:xfrm>
            <a:off x="8095488" y="21219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94"/>
          <p:cNvSpPr txBox="1"/>
          <p:nvPr/>
        </p:nvSpPr>
        <p:spPr>
          <a:xfrm>
            <a:off x="8369808" y="22590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추운 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북극 가까운 곳에서는 옛날부터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털가죽 옷을 입고 고기·생선을 먹었어요.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그럴까요?</a:t>
            </a:r>
            <a:endParaRPr lang="ko-KR" sz="4000" dirty="0"/>
          </a:p>
        </p:txBody>
      </p:sp>
      <p:sp>
        <p:nvSpPr>
          <p:cNvPr id="3" name="S07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그곳에서 피하고 싶은 것 → 생활 모습</a:t>
            </a:r>
            <a:endParaRPr lang="ko-KR" sz="2800" dirty="0"/>
          </a:p>
        </p:txBody>
      </p:sp>
      <p:sp>
        <p:nvSpPr>
          <p:cNvPr id="5" name="S07-chip97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7-text98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덥고 건조한 곳의 집은 왜 벽이 두껍고 창문이 작을까요?</a:t>
            </a:r>
            <a:endParaRPr lang="ko-KR" sz="2800" dirty="0"/>
          </a:p>
        </p:txBody>
      </p:sp>
      <p:sp>
        <p:nvSpPr>
          <p:cNvPr id="7" name="S07-chip99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7-text100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덥고 비가 많은 곳에서는 왜 집을 땅에서 띄워 지을까요?</a:t>
            </a:r>
            <a:endParaRPr lang="ko-KR" sz="2800" dirty="0"/>
          </a:p>
        </p:txBody>
      </p:sp>
      <p:sp>
        <p:nvSpPr>
          <p:cNvPr id="9" name="S07-chip101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7-text102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북극 가까운 곳에서는 옛날부터 왜 털가죽 옷을 입었을까요?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문화를 만날 때</a:t>
            </a:r>
            <a:endParaRPr lang="ko-KR" sz="4000" dirty="0"/>
          </a:p>
        </p:txBody>
      </p:sp>
      <p:sp>
        <p:nvSpPr>
          <p:cNvPr id="3" name="S08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오늘날에는 아파트에 살고 청바지를 입는 사람도 많아요.</a:t>
            </a:r>
            <a:endParaRPr lang="ko-KR" sz="2800" dirty="0"/>
          </a:p>
        </p:txBody>
      </p:sp>
      <p:sp>
        <p:nvSpPr>
          <p:cNvPr id="5" name="S08-card105"/>
          <p:cNvSpPr/>
          <p:nvPr/>
        </p:nvSpPr>
        <p:spPr>
          <a:xfrm>
            <a:off x="548640" y="21219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106"/>
          <p:cNvSpPr txBox="1"/>
          <p:nvPr/>
        </p:nvSpPr>
        <p:spPr>
          <a:xfrm>
            <a:off x="822960" y="22590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생각하기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그곳의 자연환경과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먼저 생각해요.</a:t>
            </a:r>
            <a:endParaRPr lang="ko-KR" sz="2800" dirty="0"/>
          </a:p>
        </p:txBody>
      </p:sp>
      <p:sp>
        <p:nvSpPr>
          <p:cNvPr id="7" name="S08-card107"/>
          <p:cNvSpPr/>
          <p:nvPr/>
        </p:nvSpPr>
        <p:spPr>
          <a:xfrm>
            <a:off x="4322064" y="21219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108"/>
          <p:cNvSpPr txBox="1"/>
          <p:nvPr/>
        </p:nvSpPr>
        <p:spPr>
          <a:xfrm>
            <a:off x="4596384" y="22590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다양함 알기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나라 안에서도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다르게 살아요.</a:t>
            </a:r>
            <a:endParaRPr lang="ko-KR" sz="2800" dirty="0"/>
          </a:p>
        </p:txBody>
      </p:sp>
      <p:sp>
        <p:nvSpPr>
          <p:cNvPr id="9" name="S08-card109"/>
          <p:cNvSpPr/>
          <p:nvPr/>
        </p:nvSpPr>
        <p:spPr>
          <a:xfrm>
            <a:off x="8095488" y="21219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110"/>
          <p:cNvSpPr txBox="1"/>
          <p:nvPr/>
        </p:nvSpPr>
        <p:spPr>
          <a:xfrm>
            <a:off x="8369808" y="22590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‘이상해’ 대신 ‘궁금해’,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‘그렇구나’라고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말할까요?</a:t>
            </a:r>
            <a:endParaRPr lang="ko-KR" sz="4000" dirty="0"/>
          </a:p>
        </p:txBody>
      </p:sp>
      <p:sp>
        <p:nvSpPr>
          <p:cNvPr id="3" name="S09-card11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1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덥고 건조한 나라에서 온 친구를 만났어요.</a:t>
            </a:r>
            <a:endParaRPr lang="ko-KR" sz="2800" dirty="0"/>
          </a:p>
        </p:txBody>
      </p:sp>
      <p:sp>
        <p:nvSpPr>
          <p:cNvPr id="5" name="S09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알맞을까요? 왜 그럴까요?</a:t>
            </a:r>
            <a:endParaRPr lang="ko-KR" sz="2800" dirty="0"/>
          </a:p>
        </p:txBody>
      </p:sp>
      <p:sp>
        <p:nvSpPr>
          <p:cNvPr id="7" name="S09-chip11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11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“너희 나라 사람은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흙벽돌집에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살지?”</a:t>
            </a:r>
            <a:endParaRPr lang="ko-KR" sz="2800" dirty="0"/>
          </a:p>
        </p:txBody>
      </p:sp>
      <p:sp>
        <p:nvSpPr>
          <p:cNvPr id="9" name="S09-chip11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11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“너희 동네에서는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집에 살아?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궁금해.”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나라를 조사해요</a:t>
            </a:r>
            <a:endParaRPr lang="ko-KR" sz="4000" dirty="0"/>
          </a:p>
        </p:txBody>
      </p:sp>
      <p:sp>
        <p:nvSpPr>
          <p:cNvPr id="3" name="S10-text1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찾아요.</a:t>
            </a:r>
            <a:endParaRPr lang="ko-KR" sz="2800" dirty="0"/>
          </a:p>
        </p:txBody>
      </p:sp>
      <p:sp>
        <p:nvSpPr>
          <p:cNvPr id="4" name="S10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인터넷은 어른과 함께, 믿을 만한 자료로 찾아요.</a:t>
            </a:r>
            <a:endParaRPr lang="ko-KR" sz="2800" dirty="0"/>
          </a:p>
        </p:txBody>
      </p:sp>
      <p:sp>
        <p:nvSpPr>
          <p:cNvPr id="6" name="S10-card122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123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날씨(자연환경)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생활 모습과 까닭 잇기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존중하는 말로 소개하기</a:t>
            </a:r>
            <a:endParaRPr lang="ko-KR" sz="2800" dirty="0"/>
          </a:p>
        </p:txBody>
      </p:sp>
      <p:sp>
        <p:nvSpPr>
          <p:cNvPr id="8" name="S10-stepno124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10-text125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나라를 하나 골라요.</a:t>
            </a:r>
            <a:endParaRPr lang="ko-KR" sz="2200" dirty="0"/>
          </a:p>
        </p:txBody>
      </p:sp>
      <p:sp>
        <p:nvSpPr>
          <p:cNvPr id="10" name="S10-stepno126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10-text127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지구본·지도에서 위치를 찾아요.</a:t>
            </a:r>
            <a:endParaRPr lang="ko-KR" sz="2200" dirty="0"/>
          </a:p>
        </p:txBody>
      </p:sp>
      <p:sp>
        <p:nvSpPr>
          <p:cNvPr id="12" name="S10-stepno128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10-text129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날씨와 옷·집·음식 하나를 찾아요.</a:t>
            </a:r>
            <a:endParaRPr lang="ko-KR" sz="2200" dirty="0"/>
          </a:p>
        </p:txBody>
      </p:sp>
      <p:sp>
        <p:nvSpPr>
          <p:cNvPr id="14" name="S10-stepno130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5" name="S10-text131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이어 소개해요.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32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지어낸 ‘모래언덕 마을’은 비가 거의 오지 않고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햇볕이 강하며 나무가 드물어요.</a:t>
            </a:r>
            <a:endParaRPr lang="ko-KR" sz="2800" dirty="0"/>
          </a:p>
        </p:txBody>
      </p:sp>
      <p:sp>
        <p:nvSpPr>
          <p:cNvPr id="4" name="S11-chip133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134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마을에 어울리는 집과 그 까닭은?</a:t>
            </a:r>
            <a:endParaRPr lang="ko-KR" sz="2800" dirty="0"/>
          </a:p>
        </p:txBody>
      </p:sp>
      <p:sp>
        <p:nvSpPr>
          <p:cNvPr id="6" name="S11-chip135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136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마을에 어울리는 옷과 그 까닭은?</a:t>
            </a:r>
            <a:endParaRPr lang="ko-KR" sz="2800" dirty="0"/>
          </a:p>
        </p:txBody>
      </p:sp>
      <p:sp>
        <p:nvSpPr>
          <p:cNvPr id="8" name="S11-chip137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138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땅에서 띄우고 지붕이 가파른 집이 많은 곳의 날씨는?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확인</a:t>
            </a:r>
            <a:endParaRPr lang="ko-KR" sz="4000" dirty="0"/>
          </a:p>
        </p:txBody>
      </p:sp>
      <p:sp>
        <p:nvSpPr>
          <p:cNvPr id="3" name="S13-text139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말했어요. “추운 나라 사람들은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털옷만 입고 이상한 음식을 먹는대.”</a:t>
            </a:r>
            <a:endParaRPr lang="ko-KR" sz="2800" dirty="0"/>
          </a:p>
        </p:txBody>
      </p:sp>
      <p:sp>
        <p:nvSpPr>
          <p:cNvPr id="4" name="S13-chip140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3-text141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말에서 고칠 점 두 가지는?</a:t>
            </a:r>
            <a:endParaRPr lang="ko-KR" sz="2800" dirty="0"/>
          </a:p>
        </p:txBody>
      </p:sp>
      <p:sp>
        <p:nvSpPr>
          <p:cNvPr id="6" name="S13-chip142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3-text143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말로 바꾸어 말해요.</a:t>
            </a:r>
            <a:endParaRPr lang="ko-KR" sz="2800" dirty="0"/>
          </a:p>
        </p:txBody>
      </p:sp>
      <p:sp>
        <p:nvSpPr>
          <p:cNvPr id="8" name="S13-chip144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3-text145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문화를 만날 때 먼저 생각할 것은?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4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4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자연환경에 맞게 옷·집·음식을 만들어 왔어요.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문화는 그곳의 까닭을 생각하며 존중해요.</a:t>
            </a:r>
            <a:endParaRPr lang="ko-KR" sz="2800" dirty="0"/>
          </a:p>
        </p:txBody>
      </p:sp>
      <p:sp>
        <p:nvSpPr>
          <p:cNvPr id="5" name="S14-chip148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“궁금해, 그렇구나” 말하기</a:t>
            </a:r>
            <a:endParaRPr lang="ko-KR" sz="2200" dirty="0"/>
          </a:p>
        </p:txBody>
      </p:sp>
      <p:sp>
        <p:nvSpPr>
          <p:cNvPr id="6" name="S14-chip149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“모두 ~해”, “이상해” 말하기</a:t>
            </a:r>
            <a:endParaRPr lang="ko-KR" sz="2200" dirty="0"/>
          </a:p>
        </p:txBody>
      </p:sp>
      <p:sp>
        <p:nvSpPr>
          <p:cNvPr id="7" name="S14-text150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51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흙벽돌집의 벽이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두꺼운 까닭은?</a:t>
            </a:r>
            <a:endParaRPr lang="ko-KR" sz="2200" dirty="0"/>
          </a:p>
        </p:txBody>
      </p:sp>
      <p:sp>
        <p:nvSpPr>
          <p:cNvPr id="9" name="S14-text152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땅에서 띄운 집이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곳의 날씨는?</a:t>
            </a:r>
            <a:endParaRPr lang="ko-KR" sz="2200" dirty="0"/>
          </a:p>
        </p:txBody>
      </p:sp>
      <p:sp>
        <p:nvSpPr>
          <p:cNvPr id="10" name="S14-text153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다른 문화를 만날 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생각할 것은?</a:t>
            </a:r>
            <a:endParaRPr lang="ko-KR" sz="2200" dirty="0"/>
          </a:p>
        </p:txBody>
      </p:sp>
      <p:sp>
        <p:nvSpPr>
          <p:cNvPr id="11" name="S14-text15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지구촌 문제와 협력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대륙과 적도 다시 보기</a:t>
            </a:r>
            <a:endParaRPr lang="ko-KR" sz="4000" dirty="0"/>
          </a:p>
        </p:txBody>
      </p:sp>
      <p:sp>
        <p:nvSpPr>
          <p:cNvPr id="3" name="S15-card1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적도는 지구의 가운데를 가로로 두른 선(위도 0°)이에요.</a:t>
            </a:r>
            <a:endParaRPr lang="ko-KR" sz="2800" dirty="0"/>
          </a:p>
        </p:txBody>
      </p:sp>
      <p:sp>
        <p:nvSpPr>
          <p:cNvPr id="5" name="S15-figure157" descr="간단히 나타낸 세계 지도에 적도(점선)를 그은 그림: 적도는 아프리카의 가운데와 남아메리카의 북쪽을 지나고, 아시아의 대부분은 적도의 북쪽, 오세아니아는 남쪽에 있음"/>
          <p:cNvSpPr/>
          <p:nvPr/>
        </p:nvSpPr>
        <p:spPr>
          <a:xfrm>
            <a:off x="2954637" y="1409700"/>
            <a:ext cx="6279677" cy="3176778"/>
          </a:xfrm>
          <a:custGeom>
            <a:avLst/>
            <a:gdLst/>
            <a:ahLst/>
            <a:cxnLst/>
            <a:rect l="l" t="t" r="r" b="b"/>
            <a:pathLst>
              <a:path w="6279677" h="3176778">
                <a:moveTo>
                  <a:pt x="0" y="3176778"/>
                </a:moveTo>
                <a:lnTo>
                  <a:pt x="6279677" y="3176778"/>
                </a:lnTo>
                <a:lnTo>
                  <a:pt x="6279677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15-mark158"/>
          <p:cNvSpPr/>
          <p:nvPr/>
        </p:nvSpPr>
        <p:spPr>
          <a:xfrm>
            <a:off x="3545666" y="1779093"/>
            <a:ext cx="849603" cy="812664"/>
          </a:xfrm>
          <a:custGeom>
            <a:avLst/>
            <a:gdLst/>
            <a:ahLst/>
            <a:cxnLst/>
            <a:rect l="l" t="t" r="r" b="b"/>
            <a:pathLst>
              <a:path w="849603" h="812664">
                <a:moveTo>
                  <a:pt x="36939" y="812664"/>
                </a:moveTo>
                <a:lnTo>
                  <a:pt x="849603" y="812664"/>
                </a:lnTo>
                <a:lnTo>
                  <a:pt x="849603" y="110818"/>
                </a:lnTo>
                <a:lnTo>
                  <a:pt x="517150" y="0"/>
                </a:lnTo>
                <a:lnTo>
                  <a:pt x="147757" y="147757"/>
                </a:lnTo>
                <a:lnTo>
                  <a:pt x="0" y="480211"/>
                </a:lnTo>
                <a:close/>
              </a:path>
            </a:pathLst>
          </a:custGeom>
          <a:solidFill>
            <a:srgbClr val="D9CCF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5-mark159"/>
          <p:cNvSpPr/>
          <p:nvPr/>
        </p:nvSpPr>
        <p:spPr>
          <a:xfrm>
            <a:off x="4395269" y="1705214"/>
            <a:ext cx="2327175" cy="1440632"/>
          </a:xfrm>
          <a:custGeom>
            <a:avLst/>
            <a:gdLst/>
            <a:ahLst/>
            <a:cxnLst/>
            <a:rect l="l" t="t" r="r" b="b"/>
            <a:pathLst>
              <a:path w="2327175" h="1440632">
                <a:moveTo>
                  <a:pt x="0" y="886543"/>
                </a:moveTo>
                <a:lnTo>
                  <a:pt x="0" y="184696"/>
                </a:lnTo>
                <a:lnTo>
                  <a:pt x="591028" y="36939"/>
                </a:lnTo>
                <a:lnTo>
                  <a:pt x="1514510" y="0"/>
                </a:lnTo>
                <a:lnTo>
                  <a:pt x="2216357" y="147757"/>
                </a:lnTo>
                <a:lnTo>
                  <a:pt x="2327175" y="517150"/>
                </a:lnTo>
                <a:lnTo>
                  <a:pt x="2105539" y="775725"/>
                </a:lnTo>
                <a:lnTo>
                  <a:pt x="1957782" y="1145118"/>
                </a:lnTo>
                <a:lnTo>
                  <a:pt x="1514510" y="1366753"/>
                </a:lnTo>
                <a:lnTo>
                  <a:pt x="1071239" y="1218996"/>
                </a:lnTo>
                <a:lnTo>
                  <a:pt x="627968" y="1440632"/>
                </a:lnTo>
                <a:lnTo>
                  <a:pt x="369393" y="1071239"/>
                </a:lnTo>
                <a:lnTo>
                  <a:pt x="147757" y="997361"/>
                </a:lnTo>
                <a:close/>
              </a:path>
            </a:pathLst>
          </a:custGeom>
          <a:solidFill>
            <a:srgbClr val="F2D7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15-mark160"/>
          <p:cNvSpPr/>
          <p:nvPr/>
        </p:nvSpPr>
        <p:spPr>
          <a:xfrm>
            <a:off x="3434848" y="2702575"/>
            <a:ext cx="1329814" cy="1551450"/>
          </a:xfrm>
          <a:custGeom>
            <a:avLst/>
            <a:gdLst/>
            <a:ahLst/>
            <a:cxnLst/>
            <a:rect l="l" t="t" r="r" b="b"/>
            <a:pathLst>
              <a:path w="1329814" h="1551450">
                <a:moveTo>
                  <a:pt x="184696" y="0"/>
                </a:moveTo>
                <a:lnTo>
                  <a:pt x="1071239" y="0"/>
                </a:lnTo>
                <a:lnTo>
                  <a:pt x="1218996" y="369393"/>
                </a:lnTo>
                <a:lnTo>
                  <a:pt x="1329814" y="701846"/>
                </a:lnTo>
                <a:lnTo>
                  <a:pt x="1108178" y="1108178"/>
                </a:lnTo>
                <a:lnTo>
                  <a:pt x="886543" y="1477571"/>
                </a:lnTo>
                <a:lnTo>
                  <a:pt x="627968" y="1551450"/>
                </a:lnTo>
                <a:lnTo>
                  <a:pt x="480211" y="1108178"/>
                </a:lnTo>
                <a:lnTo>
                  <a:pt x="332454" y="701846"/>
                </a:lnTo>
                <a:lnTo>
                  <a:pt x="36939" y="443271"/>
                </a:lnTo>
                <a:lnTo>
                  <a:pt x="0" y="184696"/>
                </a:lnTo>
                <a:close/>
              </a:path>
            </a:pathLst>
          </a:custGeom>
          <a:solidFill>
            <a:srgbClr val="F6C9A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15-mark161"/>
          <p:cNvSpPr/>
          <p:nvPr/>
        </p:nvSpPr>
        <p:spPr>
          <a:xfrm>
            <a:off x="5466508" y="3589117"/>
            <a:ext cx="1440632" cy="720316"/>
          </a:xfrm>
          <a:custGeom>
            <a:avLst/>
            <a:gdLst/>
            <a:ahLst/>
            <a:cxnLst/>
            <a:rect l="l" t="t" r="r" b="b"/>
            <a:pathLst>
              <a:path w="1440632" h="720316">
                <a:moveTo>
                  <a:pt x="0" y="517150"/>
                </a:moveTo>
                <a:lnTo>
                  <a:pt x="258575" y="73879"/>
                </a:lnTo>
                <a:lnTo>
                  <a:pt x="812664" y="0"/>
                </a:lnTo>
                <a:lnTo>
                  <a:pt x="1329814" y="110818"/>
                </a:lnTo>
                <a:lnTo>
                  <a:pt x="1440632" y="480211"/>
                </a:lnTo>
                <a:lnTo>
                  <a:pt x="1071239" y="720316"/>
                </a:lnTo>
                <a:lnTo>
                  <a:pt x="406332" y="720316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15-mark162"/>
          <p:cNvSpPr/>
          <p:nvPr/>
        </p:nvSpPr>
        <p:spPr>
          <a:xfrm>
            <a:off x="7239594" y="1705214"/>
            <a:ext cx="1477571" cy="1532980"/>
          </a:xfrm>
          <a:custGeom>
            <a:avLst/>
            <a:gdLst/>
            <a:ahLst/>
            <a:cxnLst/>
            <a:rect l="l" t="t" r="r" b="b"/>
            <a:pathLst>
              <a:path w="1477571" h="1532980">
                <a:moveTo>
                  <a:pt x="73879" y="369393"/>
                </a:moveTo>
                <a:lnTo>
                  <a:pt x="369393" y="36939"/>
                </a:lnTo>
                <a:lnTo>
                  <a:pt x="1108178" y="0"/>
                </a:lnTo>
                <a:lnTo>
                  <a:pt x="1477571" y="221636"/>
                </a:lnTo>
                <a:lnTo>
                  <a:pt x="1403693" y="554089"/>
                </a:lnTo>
                <a:lnTo>
                  <a:pt x="1108178" y="812664"/>
                </a:lnTo>
                <a:lnTo>
                  <a:pt x="886543" y="1145118"/>
                </a:lnTo>
                <a:lnTo>
                  <a:pt x="627968" y="1403693"/>
                </a:lnTo>
                <a:lnTo>
                  <a:pt x="517150" y="1532980"/>
                </a:lnTo>
                <a:lnTo>
                  <a:pt x="369393" y="1218996"/>
                </a:lnTo>
                <a:lnTo>
                  <a:pt x="147757" y="886543"/>
                </a:lnTo>
                <a:lnTo>
                  <a:pt x="0" y="554089"/>
                </a:lnTo>
                <a:close/>
              </a:path>
            </a:pathLst>
          </a:custGeom>
          <a:solidFill>
            <a:srgbClr val="C5E3A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15-mark163"/>
          <p:cNvSpPr/>
          <p:nvPr/>
        </p:nvSpPr>
        <p:spPr>
          <a:xfrm>
            <a:off x="7461229" y="3275134"/>
            <a:ext cx="1329814" cy="1163587"/>
          </a:xfrm>
          <a:custGeom>
            <a:avLst/>
            <a:gdLst/>
            <a:ahLst/>
            <a:cxnLst/>
            <a:rect l="l" t="t" r="r" b="b"/>
            <a:pathLst>
              <a:path w="1329814" h="1163587">
                <a:moveTo>
                  <a:pt x="258575" y="36939"/>
                </a:moveTo>
                <a:lnTo>
                  <a:pt x="738786" y="0"/>
                </a:lnTo>
                <a:lnTo>
                  <a:pt x="1182057" y="166227"/>
                </a:lnTo>
                <a:lnTo>
                  <a:pt x="1329814" y="387862"/>
                </a:lnTo>
                <a:lnTo>
                  <a:pt x="1034300" y="757255"/>
                </a:lnTo>
                <a:lnTo>
                  <a:pt x="738786" y="1052769"/>
                </a:lnTo>
                <a:lnTo>
                  <a:pt x="591028" y="1163587"/>
                </a:lnTo>
                <a:lnTo>
                  <a:pt x="480211" y="941952"/>
                </a:lnTo>
                <a:lnTo>
                  <a:pt x="258575" y="609498"/>
                </a:lnTo>
                <a:lnTo>
                  <a:pt x="0" y="240105"/>
                </a:lnTo>
                <a:close/>
              </a:path>
            </a:pathLst>
          </a:custGeom>
          <a:solidFill>
            <a:srgbClr val="A9D8C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15-mark164"/>
          <p:cNvSpPr/>
          <p:nvPr/>
        </p:nvSpPr>
        <p:spPr>
          <a:xfrm>
            <a:off x="7073367" y="4143207"/>
            <a:ext cx="110818" cy="221636"/>
          </a:xfrm>
          <a:custGeom>
            <a:avLst/>
            <a:gdLst/>
            <a:ahLst/>
            <a:cxnLst/>
            <a:rect l="l" t="t" r="r" b="b"/>
            <a:pathLst>
              <a:path w="110818" h="221636">
                <a:moveTo>
                  <a:pt x="110818" y="110818"/>
                </a:moveTo>
                <a:lnTo>
                  <a:pt x="110607" y="101159"/>
                </a:lnTo>
                <a:lnTo>
                  <a:pt x="109976" y="91575"/>
                </a:lnTo>
                <a:lnTo>
                  <a:pt x="108930" y="82136"/>
                </a:lnTo>
                <a:lnTo>
                  <a:pt x="107476" y="72916"/>
                </a:lnTo>
                <a:lnTo>
                  <a:pt x="105626" y="63984"/>
                </a:lnTo>
                <a:lnTo>
                  <a:pt x="103394" y="55409"/>
                </a:lnTo>
                <a:lnTo>
                  <a:pt x="100797" y="47255"/>
                </a:lnTo>
                <a:lnTo>
                  <a:pt x="97855" y="39586"/>
                </a:lnTo>
                <a:lnTo>
                  <a:pt x="94589" y="32458"/>
                </a:lnTo>
                <a:lnTo>
                  <a:pt x="91025" y="25926"/>
                </a:lnTo>
                <a:lnTo>
                  <a:pt x="87190" y="20041"/>
                </a:lnTo>
                <a:lnTo>
                  <a:pt x="83113" y="14847"/>
                </a:lnTo>
                <a:lnTo>
                  <a:pt x="78826" y="10383"/>
                </a:lnTo>
                <a:lnTo>
                  <a:pt x="74360" y="6683"/>
                </a:lnTo>
                <a:lnTo>
                  <a:pt x="69750" y="3776"/>
                </a:lnTo>
                <a:lnTo>
                  <a:pt x="65031" y="1684"/>
                </a:lnTo>
                <a:lnTo>
                  <a:pt x="60238" y="422"/>
                </a:lnTo>
                <a:lnTo>
                  <a:pt x="55409" y="0"/>
                </a:lnTo>
                <a:lnTo>
                  <a:pt x="50580" y="422"/>
                </a:lnTo>
                <a:lnTo>
                  <a:pt x="45787" y="1684"/>
                </a:lnTo>
                <a:lnTo>
                  <a:pt x="41068" y="3776"/>
                </a:lnTo>
                <a:lnTo>
                  <a:pt x="36458" y="6683"/>
                </a:lnTo>
                <a:lnTo>
                  <a:pt x="31992" y="10383"/>
                </a:lnTo>
                <a:lnTo>
                  <a:pt x="27704" y="14847"/>
                </a:lnTo>
                <a:lnTo>
                  <a:pt x="23628" y="20041"/>
                </a:lnTo>
                <a:lnTo>
                  <a:pt x="19793" y="25926"/>
                </a:lnTo>
                <a:lnTo>
                  <a:pt x="16229" y="32458"/>
                </a:lnTo>
                <a:lnTo>
                  <a:pt x="12963" y="39586"/>
                </a:lnTo>
                <a:lnTo>
                  <a:pt x="10021" y="47255"/>
                </a:lnTo>
                <a:lnTo>
                  <a:pt x="7423" y="55409"/>
                </a:lnTo>
                <a:lnTo>
                  <a:pt x="5191" y="63984"/>
                </a:lnTo>
                <a:lnTo>
                  <a:pt x="3342" y="72916"/>
                </a:lnTo>
                <a:lnTo>
                  <a:pt x="1888" y="82136"/>
                </a:lnTo>
                <a:lnTo>
                  <a:pt x="842" y="91575"/>
                </a:lnTo>
                <a:lnTo>
                  <a:pt x="211" y="101159"/>
                </a:lnTo>
                <a:lnTo>
                  <a:pt x="0" y="110818"/>
                </a:lnTo>
                <a:lnTo>
                  <a:pt x="211" y="120476"/>
                </a:lnTo>
                <a:lnTo>
                  <a:pt x="842" y="130061"/>
                </a:lnTo>
                <a:lnTo>
                  <a:pt x="1888" y="139500"/>
                </a:lnTo>
                <a:lnTo>
                  <a:pt x="3342" y="148720"/>
                </a:lnTo>
                <a:lnTo>
                  <a:pt x="5191" y="157651"/>
                </a:lnTo>
                <a:lnTo>
                  <a:pt x="7423" y="166227"/>
                </a:lnTo>
                <a:lnTo>
                  <a:pt x="10021" y="174380"/>
                </a:lnTo>
                <a:lnTo>
                  <a:pt x="12963" y="182050"/>
                </a:lnTo>
                <a:lnTo>
                  <a:pt x="16229" y="189178"/>
                </a:lnTo>
                <a:lnTo>
                  <a:pt x="19793" y="195709"/>
                </a:lnTo>
                <a:lnTo>
                  <a:pt x="23628" y="201594"/>
                </a:lnTo>
                <a:lnTo>
                  <a:pt x="27704" y="206789"/>
                </a:lnTo>
                <a:lnTo>
                  <a:pt x="31992" y="211253"/>
                </a:lnTo>
                <a:lnTo>
                  <a:pt x="36458" y="214953"/>
                </a:lnTo>
                <a:lnTo>
                  <a:pt x="41068" y="217860"/>
                </a:lnTo>
                <a:lnTo>
                  <a:pt x="45787" y="219952"/>
                </a:lnTo>
                <a:lnTo>
                  <a:pt x="50580" y="221214"/>
                </a:lnTo>
                <a:lnTo>
                  <a:pt x="55409" y="221636"/>
                </a:lnTo>
                <a:lnTo>
                  <a:pt x="60238" y="221214"/>
                </a:lnTo>
                <a:lnTo>
                  <a:pt x="65031" y="219952"/>
                </a:lnTo>
                <a:lnTo>
                  <a:pt x="69750" y="217860"/>
                </a:lnTo>
                <a:lnTo>
                  <a:pt x="74360" y="214953"/>
                </a:lnTo>
                <a:lnTo>
                  <a:pt x="78826" y="211253"/>
                </a:lnTo>
                <a:lnTo>
                  <a:pt x="83113" y="206789"/>
                </a:lnTo>
                <a:lnTo>
                  <a:pt x="87190" y="201594"/>
                </a:lnTo>
                <a:lnTo>
                  <a:pt x="91025" y="195709"/>
                </a:lnTo>
                <a:lnTo>
                  <a:pt x="94589" y="189178"/>
                </a:lnTo>
                <a:lnTo>
                  <a:pt x="97855" y="182050"/>
                </a:lnTo>
                <a:lnTo>
                  <a:pt x="100797" y="174380"/>
                </a:lnTo>
                <a:lnTo>
                  <a:pt x="103394" y="166227"/>
                </a:lnTo>
                <a:lnTo>
                  <a:pt x="105626" y="157651"/>
                </a:lnTo>
                <a:lnTo>
                  <a:pt x="107476" y="148720"/>
                </a:lnTo>
                <a:lnTo>
                  <a:pt x="108930" y="139500"/>
                </a:lnTo>
                <a:lnTo>
                  <a:pt x="109976" y="130061"/>
                </a:lnTo>
                <a:lnTo>
                  <a:pt x="110607" y="120476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15-mark165"/>
          <p:cNvSpPr/>
          <p:nvPr/>
        </p:nvSpPr>
        <p:spPr>
          <a:xfrm>
            <a:off x="2954637" y="3496769"/>
            <a:ext cx="6279677" cy="0"/>
          </a:xfrm>
          <a:prstGeom prst="line">
            <a:avLst/>
          </a:prstGeom>
          <a:noFill/>
          <a:ln w="28575">
            <a:solidFill>
              <a:srgbClr val="C2571A"/>
            </a:solidFill>
            <a:prstDash val="dash"/>
          </a:ln>
        </p:spPr>
      </p:sp>
      <p:sp>
        <p:nvSpPr>
          <p:cNvPr id="14" name="S15-label167"/>
          <p:cNvSpPr txBox="1"/>
          <p:nvPr/>
        </p:nvSpPr>
        <p:spPr>
          <a:xfrm>
            <a:off x="3691575" y="2097959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유럽</a:t>
            </a:r>
            <a:endParaRPr lang="ko-KR" sz="1800" dirty="0"/>
          </a:p>
        </p:txBody>
      </p:sp>
      <p:sp>
        <p:nvSpPr>
          <p:cNvPr id="15" name="S15-label169"/>
          <p:cNvSpPr txBox="1"/>
          <p:nvPr/>
        </p:nvSpPr>
        <p:spPr>
          <a:xfrm>
            <a:off x="4927845" y="2448882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</a:t>
            </a:r>
            <a:endParaRPr lang="ko-KR" sz="1800" dirty="0"/>
          </a:p>
        </p:txBody>
      </p:sp>
      <p:sp>
        <p:nvSpPr>
          <p:cNvPr id="16" name="S15-label171"/>
          <p:cNvSpPr txBox="1"/>
          <p:nvPr/>
        </p:nvSpPr>
        <p:spPr>
          <a:xfrm>
            <a:off x="3615305" y="3076850"/>
            <a:ext cx="100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아프리카</a:t>
            </a:r>
            <a:endParaRPr lang="ko-KR" sz="1800" dirty="0"/>
          </a:p>
        </p:txBody>
      </p:sp>
      <p:sp>
        <p:nvSpPr>
          <p:cNvPr id="17" name="S15-label173"/>
          <p:cNvSpPr txBox="1"/>
          <p:nvPr/>
        </p:nvSpPr>
        <p:spPr>
          <a:xfrm>
            <a:off x="5571890" y="3815635"/>
            <a:ext cx="1229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오세아니아</a:t>
            </a:r>
            <a:endParaRPr lang="ko-KR" sz="1800" dirty="0"/>
          </a:p>
        </p:txBody>
      </p:sp>
      <p:sp>
        <p:nvSpPr>
          <p:cNvPr id="18" name="S15-label175"/>
          <p:cNvSpPr txBox="1"/>
          <p:nvPr/>
        </p:nvSpPr>
        <p:spPr>
          <a:xfrm>
            <a:off x="7363445" y="2079489"/>
            <a:ext cx="1229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북아메리카</a:t>
            </a:r>
            <a:endParaRPr lang="ko-KR" sz="1800" dirty="0"/>
          </a:p>
        </p:txBody>
      </p:sp>
      <p:sp>
        <p:nvSpPr>
          <p:cNvPr id="19" name="S15-label177"/>
          <p:cNvSpPr txBox="1"/>
          <p:nvPr/>
        </p:nvSpPr>
        <p:spPr>
          <a:xfrm>
            <a:off x="7529672" y="3483182"/>
            <a:ext cx="1229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남아메리카</a:t>
            </a:r>
            <a:endParaRPr lang="ko-KR" sz="1800" dirty="0"/>
          </a:p>
        </p:txBody>
      </p:sp>
      <p:sp>
        <p:nvSpPr>
          <p:cNvPr id="20" name="S15-label179"/>
          <p:cNvSpPr txBox="1"/>
          <p:nvPr/>
        </p:nvSpPr>
        <p:spPr>
          <a:xfrm>
            <a:off x="6627052" y="3076850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</a:t>
            </a:r>
            <a:endParaRPr lang="ko-KR" sz="1800" dirty="0"/>
          </a:p>
        </p:txBody>
      </p:sp>
      <p:sp>
        <p:nvSpPr>
          <p:cNvPr id="21" name="S15-label181"/>
          <p:cNvSpPr txBox="1"/>
          <p:nvPr/>
        </p:nvSpPr>
        <p:spPr>
          <a:xfrm>
            <a:off x="8845801" y="2458646"/>
            <a:ext cx="33375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</a:t>
            </a:r>
            <a:endParaRPr lang="ko-KR" sz="1800" dirty="0"/>
          </a:p>
        </p:txBody>
      </p:sp>
      <p:sp>
        <p:nvSpPr>
          <p:cNvPr id="22" name="S15-label183"/>
          <p:cNvSpPr txBox="1"/>
          <p:nvPr/>
        </p:nvSpPr>
        <p:spPr>
          <a:xfrm>
            <a:off x="3064804" y="3456007"/>
            <a:ext cx="33375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</a:t>
            </a:r>
            <a:endParaRPr lang="ko-KR" sz="1800" dirty="0"/>
          </a:p>
        </p:txBody>
      </p:sp>
      <p:sp>
        <p:nvSpPr>
          <p:cNvPr id="23" name="S15-label185"/>
          <p:cNvSpPr txBox="1"/>
          <p:nvPr/>
        </p:nvSpPr>
        <p:spPr>
          <a:xfrm>
            <a:off x="4687740" y="3594000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인도양</a:t>
            </a:r>
            <a:endParaRPr lang="ko-KR" sz="1800" dirty="0"/>
          </a:p>
        </p:txBody>
      </p:sp>
      <p:sp>
        <p:nvSpPr>
          <p:cNvPr id="24" name="S15-label187"/>
          <p:cNvSpPr txBox="1"/>
          <p:nvPr/>
        </p:nvSpPr>
        <p:spPr>
          <a:xfrm>
            <a:off x="6627052" y="1433052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북극해</a:t>
            </a:r>
            <a:endParaRPr lang="ko-KR" sz="1800" dirty="0"/>
          </a:p>
        </p:txBody>
      </p:sp>
      <p:sp>
        <p:nvSpPr>
          <p:cNvPr id="25" name="S15-label189"/>
          <p:cNvSpPr txBox="1"/>
          <p:nvPr/>
        </p:nvSpPr>
        <p:spPr>
          <a:xfrm>
            <a:off x="4780088" y="4295846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남극해</a:t>
            </a:r>
            <a:endParaRPr lang="ko-KR" sz="1800" dirty="0"/>
          </a:p>
        </p:txBody>
      </p:sp>
      <p:sp>
        <p:nvSpPr>
          <p:cNvPr id="26" name="S15-labelbg191"/>
          <p:cNvSpPr/>
          <p:nvPr/>
        </p:nvSpPr>
        <p:spPr>
          <a:xfrm>
            <a:off x="6637029" y="3493287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15-label192"/>
          <p:cNvSpPr txBox="1"/>
          <p:nvPr/>
        </p:nvSpPr>
        <p:spPr>
          <a:xfrm>
            <a:off x="6591309" y="3464712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C257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</a:t>
            </a:r>
            <a:endParaRPr lang="ko-KR" sz="1800" dirty="0"/>
          </a:p>
        </p:txBody>
      </p:sp>
      <p:sp>
        <p:nvSpPr>
          <p:cNvPr id="28" name="S15-label193"/>
          <p:cNvSpPr txBox="1"/>
          <p:nvPr/>
        </p:nvSpPr>
        <p:spPr>
          <a:xfrm>
            <a:off x="548640" y="4743450"/>
            <a:ext cx="1109167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모양·크기와 달라요)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세계의 다양한 문화</dc:title>
  <dc:subject>KR22-G06-SOC-CULTURES-L01</dc:subject>
  <dc:creator>education-ppt</dc:creator>
  <cp:lastModifiedBy>education-ppt</cp:lastModifiedBy>
  <cp:revision>1</cp:revision>
  <dcterms:created xsi:type="dcterms:W3CDTF">2026-10-26T13:44:33Z</dcterms:created>
  <dcterms:modified xsi:type="dcterms:W3CDTF">2026-10-26T13:44:33Z</dcterms:modified>
</cp:coreProperties>
</file>