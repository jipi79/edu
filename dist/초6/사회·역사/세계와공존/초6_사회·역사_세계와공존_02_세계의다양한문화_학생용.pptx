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a65b9f19-01e4-79e3-8648-57a17996a085}">
          <p14:sldIdLst>
            <p14:sldId id="256"/>
            <p14:sldId id="257"/>
          </p14:sldIdLst>
        </p14:section>
        <p14:section name="개념" id="{fc4d591f-0adf-0255-0a91-2cb766ee69ec}">
          <p14:sldIdLst>
            <p14:sldId id="258"/>
            <p14:sldId id="259"/>
            <p14:sldId id="260"/>
            <p14:sldId id="261"/>
            <p14:sldId id="263"/>
          </p14:sldIdLst>
        </p14:section>
        <p14:section name="연습" id="{35e8b3af-deb6-e114-8af4-81bc75a34e7e}">
          <p14:sldIdLst>
            <p14:sldId id="262"/>
            <p14:sldId id="264"/>
            <p14:sldId id="265"/>
          </p14:sldIdLst>
        </p14:section>
        <p14:section name="개념" id="{f9b48836-a003-266b-3e0c-f3337ed4007c}">
          <p14:sldIdLst/>
        </p14:section>
        <p14:section name="연습" id="{908b0f8c-3fd2-91b7-8d35-3bbb1d74b407}">
          <p14:sldIdLst/>
        </p14:section>
        <p14:section name="확인" id="{303f68e6-ef07-a311-8ccc-33c253df0116}">
          <p14:sldIdLst>
            <p14:sldId id="266"/>
            <p14:sldId id="267"/>
          </p14:sldIdLst>
        </p14:section>
        <p14:section name="정리" id="{cac7692d-fede-7459-1f04-bb86793abcb8}">
          <p14:sldIdLst>
            <p14:sldId id="268"/>
          </p14:sldIdLst>
        </p14:section>
        <p14:section name="보충" id="{75b14d05-73b8-81f6-14da-d36cf058a89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세계와공존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세계의 다양한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사회·역사 · 세계의 다양한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사회·역사 · 세계의 다양한 문화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세계의 다양한 문화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사는 곳에 따라 옷과 집은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다를까요?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자연환경에 따라 달라진 옷·집·음식을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문화를 그곳의 까닭으로 이해하고 존중해요.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6대륙 가운데 세 개의 이름을 말해요.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적도는 지구의 어디를 지나는 선인가요?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적도의 북쪽일까요, 남쪽일까요?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날씨에 맞게 살아왔어요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우리나라는 여름에 덥고 겨울에 추워요.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자연환경에 맞게 옷·집·음식을 만들어 왔어요.</a:t>
            </a:r>
            <a:endParaRPr lang="ko-KR" sz="2800" dirty="0"/>
          </a:p>
        </p:txBody>
      </p:sp>
      <p:sp>
        <p:nvSpPr>
          <p:cNvPr id="6" name="S03-card12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방바닥을 데워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추운 겨울을 났어요.</a:t>
            </a:r>
            <a:endParaRPr lang="ko-KR" sz="2800" dirty="0"/>
          </a:p>
        </p:txBody>
      </p:sp>
      <p:sp>
        <p:nvSpPr>
          <p:cNvPr id="8" name="S03-card14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대청마루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바람이 잘 통해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여름에 시원했어요.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더운 곳과 추운 곳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산은 서늘하고, 비가 아주 적은 사막도 있어요.</a:t>
            </a:r>
            <a:endParaRPr lang="ko-KR" sz="2800" dirty="0"/>
          </a:p>
        </p:txBody>
      </p:sp>
      <p:sp>
        <p:nvSpPr>
          <p:cNvPr id="5" name="S04-figure18" descr="간단히 나타낸 지구: 가운데 적도 둘레는 주황색(대체로 더움), 북극과 남극 가까이는 하늘색(대체로 추움), 그 사이는 연한 노란색"/>
          <p:cNvSpPr/>
          <p:nvPr/>
        </p:nvSpPr>
        <p:spPr>
          <a:xfrm>
            <a:off x="2158034" y="2618257"/>
            <a:ext cx="2762416" cy="759664"/>
          </a:xfrm>
          <a:custGeom>
            <a:avLst/>
            <a:gdLst/>
            <a:ahLst/>
            <a:cxnLst/>
            <a:rect l="l" t="t" r="r" b="b"/>
            <a:pathLst>
              <a:path w="2762416" h="759664">
                <a:moveTo>
                  <a:pt x="2709239" y="759664"/>
                </a:moveTo>
                <a:lnTo>
                  <a:pt x="2717526" y="727897"/>
                </a:lnTo>
                <a:lnTo>
                  <a:pt x="2725814" y="696129"/>
                </a:lnTo>
                <a:lnTo>
                  <a:pt x="2732720" y="665052"/>
                </a:lnTo>
                <a:lnTo>
                  <a:pt x="2738935" y="633284"/>
                </a:lnTo>
                <a:lnTo>
                  <a:pt x="2744460" y="601516"/>
                </a:lnTo>
                <a:lnTo>
                  <a:pt x="2749294" y="569748"/>
                </a:lnTo>
                <a:lnTo>
                  <a:pt x="2753438" y="537980"/>
                </a:lnTo>
                <a:lnTo>
                  <a:pt x="2756891" y="506213"/>
                </a:lnTo>
                <a:lnTo>
                  <a:pt x="2758963" y="475135"/>
                </a:lnTo>
                <a:lnTo>
                  <a:pt x="2761034" y="443368"/>
                </a:lnTo>
                <a:lnTo>
                  <a:pt x="2761725" y="411600"/>
                </a:lnTo>
                <a:lnTo>
                  <a:pt x="2762416" y="379832"/>
                </a:lnTo>
                <a:lnTo>
                  <a:pt x="2761725" y="348064"/>
                </a:lnTo>
                <a:lnTo>
                  <a:pt x="2761034" y="316297"/>
                </a:lnTo>
                <a:lnTo>
                  <a:pt x="2758963" y="285219"/>
                </a:lnTo>
                <a:lnTo>
                  <a:pt x="2756891" y="253452"/>
                </a:lnTo>
                <a:lnTo>
                  <a:pt x="2753438" y="221684"/>
                </a:lnTo>
                <a:lnTo>
                  <a:pt x="2749294" y="189916"/>
                </a:lnTo>
                <a:lnTo>
                  <a:pt x="2744460" y="158148"/>
                </a:lnTo>
                <a:lnTo>
                  <a:pt x="2738935" y="126381"/>
                </a:lnTo>
                <a:lnTo>
                  <a:pt x="2732720" y="95303"/>
                </a:lnTo>
                <a:lnTo>
                  <a:pt x="2725814" y="63536"/>
                </a:lnTo>
                <a:lnTo>
                  <a:pt x="2717526" y="31768"/>
                </a:lnTo>
                <a:lnTo>
                  <a:pt x="2709239" y="0"/>
                </a:lnTo>
                <a:lnTo>
                  <a:pt x="53177" y="0"/>
                </a:lnTo>
                <a:lnTo>
                  <a:pt x="44889" y="31768"/>
                </a:lnTo>
                <a:lnTo>
                  <a:pt x="36602" y="63536"/>
                </a:lnTo>
                <a:lnTo>
                  <a:pt x="29696" y="95303"/>
                </a:lnTo>
                <a:lnTo>
                  <a:pt x="23481" y="126381"/>
                </a:lnTo>
                <a:lnTo>
                  <a:pt x="17956" y="158148"/>
                </a:lnTo>
                <a:lnTo>
                  <a:pt x="13121" y="189916"/>
                </a:lnTo>
                <a:lnTo>
                  <a:pt x="8978" y="221684"/>
                </a:lnTo>
                <a:lnTo>
                  <a:pt x="5525" y="253452"/>
                </a:lnTo>
                <a:lnTo>
                  <a:pt x="3453" y="285219"/>
                </a:lnTo>
                <a:lnTo>
                  <a:pt x="1381" y="316297"/>
                </a:lnTo>
                <a:lnTo>
                  <a:pt x="691" y="348064"/>
                </a:lnTo>
                <a:lnTo>
                  <a:pt x="0" y="379832"/>
                </a:lnTo>
                <a:lnTo>
                  <a:pt x="691" y="411600"/>
                </a:lnTo>
                <a:lnTo>
                  <a:pt x="1381" y="443368"/>
                </a:lnTo>
                <a:lnTo>
                  <a:pt x="3453" y="475135"/>
                </a:lnTo>
                <a:lnTo>
                  <a:pt x="5525" y="506213"/>
                </a:lnTo>
                <a:lnTo>
                  <a:pt x="8978" y="537980"/>
                </a:lnTo>
                <a:lnTo>
                  <a:pt x="13121" y="569748"/>
                </a:lnTo>
                <a:lnTo>
                  <a:pt x="17956" y="601516"/>
                </a:lnTo>
                <a:lnTo>
                  <a:pt x="23481" y="633284"/>
                </a:lnTo>
                <a:lnTo>
                  <a:pt x="29696" y="665052"/>
                </a:lnTo>
                <a:lnTo>
                  <a:pt x="36602" y="696129"/>
                </a:lnTo>
                <a:lnTo>
                  <a:pt x="44889" y="727897"/>
                </a:lnTo>
                <a:lnTo>
                  <a:pt x="53177" y="759664"/>
                </a:lnTo>
                <a:close/>
              </a:path>
            </a:pathLst>
          </a:custGeom>
          <a:solidFill>
            <a:srgbClr val="F4B183"/>
          </a:solidFill>
          <a:ln/>
        </p:spPr>
      </p:sp>
      <p:sp>
        <p:nvSpPr>
          <p:cNvPr id="6" name="S04-mark19"/>
          <p:cNvSpPr/>
          <p:nvPr/>
        </p:nvSpPr>
        <p:spPr>
          <a:xfrm>
            <a:off x="2211210" y="1996713"/>
            <a:ext cx="2656063" cy="621544"/>
          </a:xfrm>
          <a:custGeom>
            <a:avLst/>
            <a:gdLst/>
            <a:ahLst/>
            <a:cxnLst/>
            <a:rect l="l" t="t" r="r" b="b"/>
            <a:pathLst>
              <a:path w="2656063" h="621544">
                <a:moveTo>
                  <a:pt x="2656063" y="621544"/>
                </a:moveTo>
                <a:lnTo>
                  <a:pt x="2648466" y="595301"/>
                </a:lnTo>
                <a:lnTo>
                  <a:pt x="2640179" y="569748"/>
                </a:lnTo>
                <a:lnTo>
                  <a:pt x="2631201" y="543505"/>
                </a:lnTo>
                <a:lnTo>
                  <a:pt x="2621532" y="517953"/>
                </a:lnTo>
                <a:lnTo>
                  <a:pt x="2611864" y="491710"/>
                </a:lnTo>
                <a:lnTo>
                  <a:pt x="2601505" y="466158"/>
                </a:lnTo>
                <a:lnTo>
                  <a:pt x="2590455" y="440605"/>
                </a:lnTo>
                <a:lnTo>
                  <a:pt x="2578024" y="414362"/>
                </a:lnTo>
                <a:lnTo>
                  <a:pt x="2565594" y="388810"/>
                </a:lnTo>
                <a:lnTo>
                  <a:pt x="2552472" y="362567"/>
                </a:lnTo>
                <a:lnTo>
                  <a:pt x="2538660" y="337015"/>
                </a:lnTo>
                <a:lnTo>
                  <a:pt x="2524157" y="310772"/>
                </a:lnTo>
                <a:lnTo>
                  <a:pt x="2508964" y="284529"/>
                </a:lnTo>
                <a:lnTo>
                  <a:pt x="2493080" y="258976"/>
                </a:lnTo>
                <a:lnTo>
                  <a:pt x="2475815" y="233424"/>
                </a:lnTo>
                <a:lnTo>
                  <a:pt x="2457859" y="207181"/>
                </a:lnTo>
                <a:lnTo>
                  <a:pt x="2439213" y="180938"/>
                </a:lnTo>
                <a:lnTo>
                  <a:pt x="2419876" y="155386"/>
                </a:lnTo>
                <a:lnTo>
                  <a:pt x="2399158" y="129834"/>
                </a:lnTo>
                <a:lnTo>
                  <a:pt x="2377749" y="103591"/>
                </a:lnTo>
                <a:lnTo>
                  <a:pt x="2354959" y="78038"/>
                </a:lnTo>
                <a:lnTo>
                  <a:pt x="2330788" y="51795"/>
                </a:lnTo>
                <a:lnTo>
                  <a:pt x="2305926" y="25552"/>
                </a:lnTo>
                <a:lnTo>
                  <a:pt x="2278993" y="0"/>
                </a:lnTo>
                <a:lnTo>
                  <a:pt x="377070" y="0"/>
                </a:lnTo>
                <a:lnTo>
                  <a:pt x="350136" y="25552"/>
                </a:lnTo>
                <a:lnTo>
                  <a:pt x="325274" y="51795"/>
                </a:lnTo>
                <a:lnTo>
                  <a:pt x="301103" y="78038"/>
                </a:lnTo>
                <a:lnTo>
                  <a:pt x="278313" y="103591"/>
                </a:lnTo>
                <a:lnTo>
                  <a:pt x="256905" y="129834"/>
                </a:lnTo>
                <a:lnTo>
                  <a:pt x="236187" y="155386"/>
                </a:lnTo>
                <a:lnTo>
                  <a:pt x="216850" y="180938"/>
                </a:lnTo>
                <a:lnTo>
                  <a:pt x="198203" y="207181"/>
                </a:lnTo>
                <a:lnTo>
                  <a:pt x="180248" y="233424"/>
                </a:lnTo>
                <a:lnTo>
                  <a:pt x="162983" y="258976"/>
                </a:lnTo>
                <a:lnTo>
                  <a:pt x="147099" y="284529"/>
                </a:lnTo>
                <a:lnTo>
                  <a:pt x="131905" y="310772"/>
                </a:lnTo>
                <a:lnTo>
                  <a:pt x="117403" y="337015"/>
                </a:lnTo>
                <a:lnTo>
                  <a:pt x="103591" y="362567"/>
                </a:lnTo>
                <a:lnTo>
                  <a:pt x="90469" y="388810"/>
                </a:lnTo>
                <a:lnTo>
                  <a:pt x="78038" y="414362"/>
                </a:lnTo>
                <a:lnTo>
                  <a:pt x="65607" y="440605"/>
                </a:lnTo>
                <a:lnTo>
                  <a:pt x="54558" y="466158"/>
                </a:lnTo>
                <a:lnTo>
                  <a:pt x="44199" y="491710"/>
                </a:lnTo>
                <a:lnTo>
                  <a:pt x="34530" y="517953"/>
                </a:lnTo>
                <a:lnTo>
                  <a:pt x="24862" y="543505"/>
                </a:lnTo>
                <a:lnTo>
                  <a:pt x="15884" y="569748"/>
                </a:lnTo>
                <a:lnTo>
                  <a:pt x="7597" y="595301"/>
                </a:lnTo>
                <a:lnTo>
                  <a:pt x="0" y="621544"/>
                </a:lnTo>
                <a:close/>
              </a:path>
            </a:pathLst>
          </a:custGeom>
          <a:solidFill>
            <a:srgbClr val="F8E7B0"/>
          </a:solidFill>
          <a:ln/>
        </p:spPr>
      </p:sp>
      <p:sp>
        <p:nvSpPr>
          <p:cNvPr id="7" name="S04-mark20"/>
          <p:cNvSpPr/>
          <p:nvPr/>
        </p:nvSpPr>
        <p:spPr>
          <a:xfrm>
            <a:off x="2211210" y="3377921"/>
            <a:ext cx="2656063" cy="621544"/>
          </a:xfrm>
          <a:custGeom>
            <a:avLst/>
            <a:gdLst/>
            <a:ahLst/>
            <a:cxnLst/>
            <a:rect l="l" t="t" r="r" b="b"/>
            <a:pathLst>
              <a:path w="2656063" h="621544">
                <a:moveTo>
                  <a:pt x="2278993" y="621544"/>
                </a:moveTo>
                <a:lnTo>
                  <a:pt x="2305926" y="595301"/>
                </a:lnTo>
                <a:lnTo>
                  <a:pt x="2330788" y="569748"/>
                </a:lnTo>
                <a:lnTo>
                  <a:pt x="2354959" y="543505"/>
                </a:lnTo>
                <a:lnTo>
                  <a:pt x="2377749" y="517953"/>
                </a:lnTo>
                <a:lnTo>
                  <a:pt x="2399158" y="491710"/>
                </a:lnTo>
                <a:lnTo>
                  <a:pt x="2419876" y="466158"/>
                </a:lnTo>
                <a:lnTo>
                  <a:pt x="2439213" y="440605"/>
                </a:lnTo>
                <a:lnTo>
                  <a:pt x="2457859" y="414362"/>
                </a:lnTo>
                <a:lnTo>
                  <a:pt x="2475815" y="388810"/>
                </a:lnTo>
                <a:lnTo>
                  <a:pt x="2493080" y="362567"/>
                </a:lnTo>
                <a:lnTo>
                  <a:pt x="2508964" y="337015"/>
                </a:lnTo>
                <a:lnTo>
                  <a:pt x="2524157" y="310772"/>
                </a:lnTo>
                <a:lnTo>
                  <a:pt x="2538660" y="284529"/>
                </a:lnTo>
                <a:lnTo>
                  <a:pt x="2552472" y="258976"/>
                </a:lnTo>
                <a:lnTo>
                  <a:pt x="2565594" y="233424"/>
                </a:lnTo>
                <a:lnTo>
                  <a:pt x="2578024" y="207181"/>
                </a:lnTo>
                <a:lnTo>
                  <a:pt x="2590455" y="180938"/>
                </a:lnTo>
                <a:lnTo>
                  <a:pt x="2601505" y="155386"/>
                </a:lnTo>
                <a:lnTo>
                  <a:pt x="2611864" y="129834"/>
                </a:lnTo>
                <a:lnTo>
                  <a:pt x="2621532" y="103591"/>
                </a:lnTo>
                <a:lnTo>
                  <a:pt x="2631201" y="77348"/>
                </a:lnTo>
                <a:lnTo>
                  <a:pt x="2640179" y="51795"/>
                </a:lnTo>
                <a:lnTo>
                  <a:pt x="2648466" y="26243"/>
                </a:lnTo>
                <a:lnTo>
                  <a:pt x="2656063" y="0"/>
                </a:lnTo>
                <a:lnTo>
                  <a:pt x="0" y="0"/>
                </a:lnTo>
                <a:lnTo>
                  <a:pt x="7597" y="26243"/>
                </a:lnTo>
                <a:lnTo>
                  <a:pt x="15884" y="51795"/>
                </a:lnTo>
                <a:lnTo>
                  <a:pt x="24862" y="77348"/>
                </a:lnTo>
                <a:lnTo>
                  <a:pt x="34530" y="103591"/>
                </a:lnTo>
                <a:lnTo>
                  <a:pt x="44199" y="129834"/>
                </a:lnTo>
                <a:lnTo>
                  <a:pt x="54558" y="155386"/>
                </a:lnTo>
                <a:lnTo>
                  <a:pt x="65607" y="180938"/>
                </a:lnTo>
                <a:lnTo>
                  <a:pt x="78038" y="207181"/>
                </a:lnTo>
                <a:lnTo>
                  <a:pt x="90469" y="233424"/>
                </a:lnTo>
                <a:lnTo>
                  <a:pt x="103591" y="258976"/>
                </a:lnTo>
                <a:lnTo>
                  <a:pt x="117403" y="284529"/>
                </a:lnTo>
                <a:lnTo>
                  <a:pt x="131905" y="310772"/>
                </a:lnTo>
                <a:lnTo>
                  <a:pt x="147099" y="337015"/>
                </a:lnTo>
                <a:lnTo>
                  <a:pt x="162983" y="362567"/>
                </a:lnTo>
                <a:lnTo>
                  <a:pt x="180248" y="388810"/>
                </a:lnTo>
                <a:lnTo>
                  <a:pt x="198203" y="414362"/>
                </a:lnTo>
                <a:lnTo>
                  <a:pt x="216850" y="440605"/>
                </a:lnTo>
                <a:lnTo>
                  <a:pt x="236187" y="466158"/>
                </a:lnTo>
                <a:lnTo>
                  <a:pt x="256905" y="491710"/>
                </a:lnTo>
                <a:lnTo>
                  <a:pt x="278313" y="517953"/>
                </a:lnTo>
                <a:lnTo>
                  <a:pt x="301103" y="543505"/>
                </a:lnTo>
                <a:lnTo>
                  <a:pt x="325274" y="569748"/>
                </a:lnTo>
                <a:lnTo>
                  <a:pt x="350136" y="595301"/>
                </a:lnTo>
                <a:lnTo>
                  <a:pt x="377070" y="621544"/>
                </a:lnTo>
                <a:close/>
              </a:path>
            </a:pathLst>
          </a:custGeom>
          <a:solidFill>
            <a:srgbClr val="F8E7B0"/>
          </a:solidFill>
          <a:ln/>
        </p:spPr>
      </p:sp>
      <p:sp>
        <p:nvSpPr>
          <p:cNvPr id="8" name="S04-mark21"/>
          <p:cNvSpPr/>
          <p:nvPr/>
        </p:nvSpPr>
        <p:spPr>
          <a:xfrm>
            <a:off x="2588280" y="1616881"/>
            <a:ext cx="1901923" cy="379832"/>
          </a:xfrm>
          <a:custGeom>
            <a:avLst/>
            <a:gdLst/>
            <a:ahLst/>
            <a:cxnLst/>
            <a:rect l="l" t="t" r="r" b="b"/>
            <a:pathLst>
              <a:path w="1901923" h="379832">
                <a:moveTo>
                  <a:pt x="1901923" y="379832"/>
                </a:moveTo>
                <a:lnTo>
                  <a:pt x="1885349" y="363948"/>
                </a:lnTo>
                <a:lnTo>
                  <a:pt x="1868084" y="348064"/>
                </a:lnTo>
                <a:lnTo>
                  <a:pt x="1849437" y="332180"/>
                </a:lnTo>
                <a:lnTo>
                  <a:pt x="1830791" y="316297"/>
                </a:lnTo>
                <a:lnTo>
                  <a:pt x="1811454" y="300413"/>
                </a:lnTo>
                <a:lnTo>
                  <a:pt x="1790736" y="285219"/>
                </a:lnTo>
                <a:lnTo>
                  <a:pt x="1770018" y="269336"/>
                </a:lnTo>
                <a:lnTo>
                  <a:pt x="1747919" y="253452"/>
                </a:lnTo>
                <a:lnTo>
                  <a:pt x="1725129" y="237568"/>
                </a:lnTo>
                <a:lnTo>
                  <a:pt x="1700957" y="221684"/>
                </a:lnTo>
                <a:lnTo>
                  <a:pt x="1676096" y="205800"/>
                </a:lnTo>
                <a:lnTo>
                  <a:pt x="1649853" y="189916"/>
                </a:lnTo>
                <a:lnTo>
                  <a:pt x="1622229" y="174032"/>
                </a:lnTo>
                <a:lnTo>
                  <a:pt x="1593223" y="158148"/>
                </a:lnTo>
                <a:lnTo>
                  <a:pt x="1562146" y="142264"/>
                </a:lnTo>
                <a:lnTo>
                  <a:pt x="1528306" y="126381"/>
                </a:lnTo>
                <a:lnTo>
                  <a:pt x="1493086" y="110497"/>
                </a:lnTo>
                <a:lnTo>
                  <a:pt x="1454412" y="94613"/>
                </a:lnTo>
                <a:lnTo>
                  <a:pt x="1411594" y="79419"/>
                </a:lnTo>
                <a:lnTo>
                  <a:pt x="1364633" y="63536"/>
                </a:lnTo>
                <a:lnTo>
                  <a:pt x="1310076" y="47652"/>
                </a:lnTo>
                <a:lnTo>
                  <a:pt x="1245159" y="31768"/>
                </a:lnTo>
                <a:lnTo>
                  <a:pt x="1159524" y="15884"/>
                </a:lnTo>
                <a:lnTo>
                  <a:pt x="950962" y="0"/>
                </a:lnTo>
                <a:lnTo>
                  <a:pt x="950962" y="0"/>
                </a:lnTo>
                <a:lnTo>
                  <a:pt x="742399" y="15884"/>
                </a:lnTo>
                <a:lnTo>
                  <a:pt x="656764" y="31768"/>
                </a:lnTo>
                <a:lnTo>
                  <a:pt x="591848" y="47652"/>
                </a:lnTo>
                <a:lnTo>
                  <a:pt x="537290" y="63536"/>
                </a:lnTo>
                <a:lnTo>
                  <a:pt x="490329" y="79419"/>
                </a:lnTo>
                <a:lnTo>
                  <a:pt x="447511" y="94613"/>
                </a:lnTo>
                <a:lnTo>
                  <a:pt x="408838" y="110497"/>
                </a:lnTo>
                <a:lnTo>
                  <a:pt x="373617" y="126381"/>
                </a:lnTo>
                <a:lnTo>
                  <a:pt x="339777" y="142264"/>
                </a:lnTo>
                <a:lnTo>
                  <a:pt x="308700" y="158148"/>
                </a:lnTo>
                <a:lnTo>
                  <a:pt x="279695" y="174032"/>
                </a:lnTo>
                <a:lnTo>
                  <a:pt x="252070" y="189916"/>
                </a:lnTo>
                <a:lnTo>
                  <a:pt x="225827" y="205800"/>
                </a:lnTo>
                <a:lnTo>
                  <a:pt x="200966" y="221684"/>
                </a:lnTo>
                <a:lnTo>
                  <a:pt x="176795" y="237568"/>
                </a:lnTo>
                <a:lnTo>
                  <a:pt x="154005" y="253452"/>
                </a:lnTo>
                <a:lnTo>
                  <a:pt x="131905" y="269336"/>
                </a:lnTo>
                <a:lnTo>
                  <a:pt x="111187" y="285219"/>
                </a:lnTo>
                <a:lnTo>
                  <a:pt x="90469" y="300413"/>
                </a:lnTo>
                <a:lnTo>
                  <a:pt x="71132" y="316297"/>
                </a:lnTo>
                <a:lnTo>
                  <a:pt x="52486" y="332180"/>
                </a:lnTo>
                <a:lnTo>
                  <a:pt x="33840" y="348064"/>
                </a:lnTo>
                <a:lnTo>
                  <a:pt x="16574" y="363948"/>
                </a:lnTo>
                <a:lnTo>
                  <a:pt x="0" y="379832"/>
                </a:lnTo>
                <a:close/>
              </a:path>
            </a:pathLst>
          </a:custGeom>
          <a:solidFill>
            <a:srgbClr val="BFDDF5"/>
          </a:solidFill>
          <a:ln/>
        </p:spPr>
      </p:sp>
      <p:sp>
        <p:nvSpPr>
          <p:cNvPr id="9" name="S04-mark22"/>
          <p:cNvSpPr/>
          <p:nvPr/>
        </p:nvSpPr>
        <p:spPr>
          <a:xfrm>
            <a:off x="2588280" y="3999465"/>
            <a:ext cx="1901923" cy="379832"/>
          </a:xfrm>
          <a:custGeom>
            <a:avLst/>
            <a:gdLst/>
            <a:ahLst/>
            <a:cxnLst/>
            <a:rect l="l" t="t" r="r" b="b"/>
            <a:pathLst>
              <a:path w="1901923" h="379832">
                <a:moveTo>
                  <a:pt x="950962" y="379832"/>
                </a:moveTo>
                <a:lnTo>
                  <a:pt x="1159524" y="363948"/>
                </a:lnTo>
                <a:lnTo>
                  <a:pt x="1245159" y="348064"/>
                </a:lnTo>
                <a:lnTo>
                  <a:pt x="1310076" y="332180"/>
                </a:lnTo>
                <a:lnTo>
                  <a:pt x="1364633" y="316297"/>
                </a:lnTo>
                <a:lnTo>
                  <a:pt x="1411594" y="300413"/>
                </a:lnTo>
                <a:lnTo>
                  <a:pt x="1454412" y="285219"/>
                </a:lnTo>
                <a:lnTo>
                  <a:pt x="1493086" y="269336"/>
                </a:lnTo>
                <a:lnTo>
                  <a:pt x="1528306" y="253452"/>
                </a:lnTo>
                <a:lnTo>
                  <a:pt x="1562146" y="237568"/>
                </a:lnTo>
                <a:lnTo>
                  <a:pt x="1593223" y="221684"/>
                </a:lnTo>
                <a:lnTo>
                  <a:pt x="1622229" y="205800"/>
                </a:lnTo>
                <a:lnTo>
                  <a:pt x="1649853" y="189916"/>
                </a:lnTo>
                <a:lnTo>
                  <a:pt x="1676096" y="174032"/>
                </a:lnTo>
                <a:lnTo>
                  <a:pt x="1700957" y="158148"/>
                </a:lnTo>
                <a:lnTo>
                  <a:pt x="1725129" y="142264"/>
                </a:lnTo>
                <a:lnTo>
                  <a:pt x="1747919" y="126381"/>
                </a:lnTo>
                <a:lnTo>
                  <a:pt x="1770018" y="110497"/>
                </a:lnTo>
                <a:lnTo>
                  <a:pt x="1790736" y="94613"/>
                </a:lnTo>
                <a:lnTo>
                  <a:pt x="1811454" y="79419"/>
                </a:lnTo>
                <a:lnTo>
                  <a:pt x="1830791" y="63536"/>
                </a:lnTo>
                <a:lnTo>
                  <a:pt x="1849437" y="47652"/>
                </a:lnTo>
                <a:lnTo>
                  <a:pt x="1868084" y="31768"/>
                </a:lnTo>
                <a:lnTo>
                  <a:pt x="1885349" y="15884"/>
                </a:lnTo>
                <a:lnTo>
                  <a:pt x="1901923" y="0"/>
                </a:lnTo>
                <a:lnTo>
                  <a:pt x="0" y="0"/>
                </a:lnTo>
                <a:lnTo>
                  <a:pt x="16574" y="15884"/>
                </a:lnTo>
                <a:lnTo>
                  <a:pt x="33840" y="31768"/>
                </a:lnTo>
                <a:lnTo>
                  <a:pt x="52486" y="47652"/>
                </a:lnTo>
                <a:lnTo>
                  <a:pt x="71132" y="63536"/>
                </a:lnTo>
                <a:lnTo>
                  <a:pt x="90469" y="79419"/>
                </a:lnTo>
                <a:lnTo>
                  <a:pt x="111187" y="94613"/>
                </a:lnTo>
                <a:lnTo>
                  <a:pt x="131905" y="110497"/>
                </a:lnTo>
                <a:lnTo>
                  <a:pt x="154005" y="126381"/>
                </a:lnTo>
                <a:lnTo>
                  <a:pt x="176795" y="142264"/>
                </a:lnTo>
                <a:lnTo>
                  <a:pt x="200966" y="158148"/>
                </a:lnTo>
                <a:lnTo>
                  <a:pt x="225827" y="174032"/>
                </a:lnTo>
                <a:lnTo>
                  <a:pt x="252070" y="189916"/>
                </a:lnTo>
                <a:lnTo>
                  <a:pt x="279695" y="205800"/>
                </a:lnTo>
                <a:lnTo>
                  <a:pt x="308700" y="221684"/>
                </a:lnTo>
                <a:lnTo>
                  <a:pt x="339777" y="237568"/>
                </a:lnTo>
                <a:lnTo>
                  <a:pt x="373617" y="253452"/>
                </a:lnTo>
                <a:lnTo>
                  <a:pt x="408838" y="269336"/>
                </a:lnTo>
                <a:lnTo>
                  <a:pt x="447511" y="285219"/>
                </a:lnTo>
                <a:lnTo>
                  <a:pt x="490329" y="300413"/>
                </a:lnTo>
                <a:lnTo>
                  <a:pt x="537290" y="316297"/>
                </a:lnTo>
                <a:lnTo>
                  <a:pt x="591848" y="332180"/>
                </a:lnTo>
                <a:lnTo>
                  <a:pt x="656764" y="348064"/>
                </a:lnTo>
                <a:lnTo>
                  <a:pt x="742399" y="363948"/>
                </a:lnTo>
                <a:lnTo>
                  <a:pt x="950962" y="379832"/>
                </a:lnTo>
                <a:close/>
              </a:path>
            </a:pathLst>
          </a:custGeom>
          <a:solidFill>
            <a:srgbClr val="BFDDF5"/>
          </a:solidFill>
          <a:ln/>
        </p:spPr>
      </p:sp>
      <p:sp>
        <p:nvSpPr>
          <p:cNvPr id="10" name="S04-mark23"/>
          <p:cNvSpPr/>
          <p:nvPr/>
        </p:nvSpPr>
        <p:spPr>
          <a:xfrm>
            <a:off x="2158034" y="1616881"/>
            <a:ext cx="2762416" cy="2762416"/>
          </a:xfrm>
          <a:prstGeom prst="ellipse">
            <a:avLst/>
          </a:prstGeom>
          <a:noFill/>
          <a:ln w="25400">
            <a:solidFill>
              <a:srgbClr val="4A5568"/>
            </a:solidFill>
            <a:prstDash val="solid"/>
          </a:ln>
        </p:spPr>
      </p:sp>
      <p:sp>
        <p:nvSpPr>
          <p:cNvPr id="11" name="S04-mark24"/>
          <p:cNvSpPr/>
          <p:nvPr/>
        </p:nvSpPr>
        <p:spPr>
          <a:xfrm>
            <a:off x="2158034" y="2998089"/>
            <a:ext cx="2762416" cy="0"/>
          </a:xfrm>
          <a:prstGeom prst="line">
            <a:avLst/>
          </a:prstGeom>
          <a:noFill/>
          <a:ln w="25400">
            <a:solidFill>
              <a:srgbClr val="C2571A"/>
            </a:solidFill>
            <a:prstDash val="dash"/>
          </a:ln>
        </p:spPr>
      </p:sp>
      <p:sp>
        <p:nvSpPr>
          <p:cNvPr id="12" name="S04-mark25"/>
          <p:cNvSpPr/>
          <p:nvPr/>
        </p:nvSpPr>
        <p:spPr>
          <a:xfrm>
            <a:off x="4747798" y="1789532"/>
            <a:ext cx="448893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13" name="S04-mark26"/>
          <p:cNvSpPr/>
          <p:nvPr/>
        </p:nvSpPr>
        <p:spPr>
          <a:xfrm>
            <a:off x="4920449" y="2998089"/>
            <a:ext cx="276242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14" name="S04-mark27"/>
          <p:cNvSpPr/>
          <p:nvPr/>
        </p:nvSpPr>
        <p:spPr>
          <a:xfrm>
            <a:off x="4747798" y="4206646"/>
            <a:ext cx="448893" cy="0"/>
          </a:xfrm>
          <a:prstGeom prst="line">
            <a:avLst/>
          </a:prstGeom>
          <a:noFill/>
          <a:ln w="12700">
            <a:solidFill>
              <a:srgbClr val="4A5568"/>
            </a:solidFill>
            <a:prstDash val="solid"/>
          </a:ln>
        </p:spPr>
      </p:sp>
      <p:sp>
        <p:nvSpPr>
          <p:cNvPr id="15" name="S04-label29"/>
          <p:cNvSpPr txBox="1"/>
          <p:nvPr/>
        </p:nvSpPr>
        <p:spPr>
          <a:xfrm>
            <a:off x="5300282" y="1646657"/>
            <a:ext cx="34335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북극에 가까운 곳: 대체로 추워요</a:t>
            </a:r>
            <a:endParaRPr lang="ko-KR" sz="1800" dirty="0"/>
          </a:p>
        </p:txBody>
      </p:sp>
      <p:sp>
        <p:nvSpPr>
          <p:cNvPr id="16" name="S04-label31"/>
          <p:cNvSpPr txBox="1"/>
          <p:nvPr/>
        </p:nvSpPr>
        <p:spPr>
          <a:xfrm>
            <a:off x="5300282" y="2855214"/>
            <a:ext cx="34335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적도에 가까운 곳: 대체로 더워요</a:t>
            </a:r>
            <a:endParaRPr lang="ko-KR" sz="1800" dirty="0"/>
          </a:p>
        </p:txBody>
      </p:sp>
      <p:sp>
        <p:nvSpPr>
          <p:cNvPr id="17" name="S04-label33"/>
          <p:cNvSpPr txBox="1"/>
          <p:nvPr/>
        </p:nvSpPr>
        <p:spPr>
          <a:xfrm>
            <a:off x="5300282" y="4063771"/>
            <a:ext cx="343357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남극에 가까운 곳: 대체로 추워요</a:t>
            </a:r>
            <a:endParaRPr lang="ko-KR" sz="1800" dirty="0"/>
          </a:p>
        </p:txBody>
      </p:sp>
      <p:sp>
        <p:nvSpPr>
          <p:cNvPr id="18" name="S04-label35"/>
          <p:cNvSpPr txBox="1"/>
          <p:nvPr/>
        </p:nvSpPr>
        <p:spPr>
          <a:xfrm>
            <a:off x="3260350" y="2648033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ko-KR" sz="1800" dirty="0"/>
          </a:p>
        </p:txBody>
      </p:sp>
      <p:sp>
        <p:nvSpPr>
          <p:cNvPr id="19" name="S04-label36"/>
          <p:cNvSpPr txBox="1"/>
          <p:nvPr/>
        </p:nvSpPr>
        <p:spPr>
          <a:xfrm>
            <a:off x="548640" y="4743450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날씨에 맞는 집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두꺼운 흙벽,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창문</a:t>
            </a:r>
            <a:endParaRPr lang="ko-KR" sz="2800" dirty="0"/>
          </a:p>
        </p:txBody>
      </p:sp>
      <p:sp>
        <p:nvSpPr>
          <p:cNvPr id="5" name="S05-card39"/>
          <p:cNvSpPr/>
          <p:nvPr/>
        </p:nvSpPr>
        <p:spPr>
          <a:xfrm>
            <a:off x="4322064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4596384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땅에서 띄운 집,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가파른 지붕</a:t>
            </a:r>
            <a:endParaRPr lang="ko-KR" sz="2800" dirty="0"/>
          </a:p>
        </p:txBody>
      </p:sp>
      <p:sp>
        <p:nvSpPr>
          <p:cNvPr id="7" name="S05-card41"/>
          <p:cNvSpPr/>
          <p:nvPr/>
        </p:nvSpPr>
        <p:spPr>
          <a:xfrm>
            <a:off x="8095488" y="5021072"/>
            <a:ext cx="3544824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2"/>
          <p:cNvSpPr txBox="1"/>
          <p:nvPr/>
        </p:nvSpPr>
        <p:spPr>
          <a:xfrm>
            <a:off x="8369808" y="5158232"/>
            <a:ext cx="2996184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두꺼운 나무 벽,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창</a:t>
            </a:r>
            <a:endParaRPr lang="ko-KR" sz="2800" dirty="0"/>
          </a:p>
        </p:txBody>
      </p:sp>
      <p:sp>
        <p:nvSpPr>
          <p:cNvPr id="9" name="S05-figure43" descr="간단히 나타낸 집 가: 흙색 벽이 두껍고 작은 창문이 두 개, 지붕은 평평함. 위에 강한 해"/>
          <p:cNvSpPr/>
          <p:nvPr/>
        </p:nvSpPr>
        <p:spPr>
          <a:xfrm>
            <a:off x="632460" y="3965554"/>
            <a:ext cx="3316224" cy="179255"/>
          </a:xfrm>
          <a:custGeom>
            <a:avLst/>
            <a:gdLst/>
            <a:ahLst/>
            <a:cxnLst/>
            <a:rect l="l" t="t" r="r" b="b"/>
            <a:pathLst>
              <a:path w="3316224" h="179255">
                <a:moveTo>
                  <a:pt x="0" y="179255"/>
                </a:moveTo>
                <a:lnTo>
                  <a:pt x="3316224" y="179255"/>
                </a:lnTo>
                <a:lnTo>
                  <a:pt x="3316224" y="0"/>
                </a:lnTo>
                <a:lnTo>
                  <a:pt x="0" y="0"/>
                </a:lnTo>
                <a:close/>
              </a:path>
            </a:pathLst>
          </a:custGeom>
          <a:solidFill>
            <a:srgbClr val="E8D5A9"/>
          </a:solidFill>
          <a:ln/>
        </p:spPr>
      </p:sp>
      <p:sp>
        <p:nvSpPr>
          <p:cNvPr id="10" name="S05-mark44"/>
          <p:cNvSpPr/>
          <p:nvPr/>
        </p:nvSpPr>
        <p:spPr>
          <a:xfrm>
            <a:off x="990971" y="2621139"/>
            <a:ext cx="2240692" cy="1344415"/>
          </a:xfrm>
          <a:custGeom>
            <a:avLst/>
            <a:gdLst/>
            <a:ahLst/>
            <a:cxnLst/>
            <a:rect l="l" t="t" r="r" b="b"/>
            <a:pathLst>
              <a:path w="2240692" h="1344415">
                <a:moveTo>
                  <a:pt x="0" y="1344415"/>
                </a:moveTo>
                <a:lnTo>
                  <a:pt x="2240692" y="1344415"/>
                </a:lnTo>
                <a:lnTo>
                  <a:pt x="2240692" y="0"/>
                </a:lnTo>
                <a:lnTo>
                  <a:pt x="0" y="0"/>
                </a:lnTo>
                <a:close/>
              </a:path>
            </a:pathLst>
          </a:custGeom>
          <a:solidFill>
            <a:srgbClr val="D9B38C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mark45"/>
          <p:cNvSpPr/>
          <p:nvPr/>
        </p:nvSpPr>
        <p:spPr>
          <a:xfrm>
            <a:off x="878936" y="2419477"/>
            <a:ext cx="2464761" cy="201662"/>
          </a:xfrm>
          <a:custGeom>
            <a:avLst/>
            <a:gdLst/>
            <a:ahLst/>
            <a:cxnLst/>
            <a:rect l="l" t="t" r="r" b="b"/>
            <a:pathLst>
              <a:path w="2464761" h="201662">
                <a:moveTo>
                  <a:pt x="0" y="201662"/>
                </a:moveTo>
                <a:lnTo>
                  <a:pt x="2464761" y="201662"/>
                </a:lnTo>
                <a:lnTo>
                  <a:pt x="2464761" y="0"/>
                </a:lnTo>
                <a:lnTo>
                  <a:pt x="0" y="0"/>
                </a:lnTo>
                <a:close/>
              </a:path>
            </a:pathLst>
          </a:custGeom>
          <a:solidFill>
            <a:srgbClr val="B88A5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mark46"/>
          <p:cNvSpPr/>
          <p:nvPr/>
        </p:nvSpPr>
        <p:spPr>
          <a:xfrm>
            <a:off x="1394295" y="2890022"/>
            <a:ext cx="246476" cy="224069"/>
          </a:xfrm>
          <a:custGeom>
            <a:avLst/>
            <a:gdLst/>
            <a:ahLst/>
            <a:cxnLst/>
            <a:rect l="l" t="t" r="r" b="b"/>
            <a:pathLst>
              <a:path w="246476" h="224069">
                <a:moveTo>
                  <a:pt x="0" y="224069"/>
                </a:moveTo>
                <a:lnTo>
                  <a:pt x="246476" y="224069"/>
                </a:lnTo>
                <a:lnTo>
                  <a:pt x="246476" y="0"/>
                </a:lnTo>
                <a:lnTo>
                  <a:pt x="0" y="0"/>
                </a:lnTo>
                <a:close/>
              </a:path>
            </a:pathLst>
          </a:custGeom>
          <a:solidFill>
            <a:srgbClr val="5B463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mark47"/>
          <p:cNvSpPr/>
          <p:nvPr/>
        </p:nvSpPr>
        <p:spPr>
          <a:xfrm>
            <a:off x="2581862" y="2890022"/>
            <a:ext cx="246476" cy="224069"/>
          </a:xfrm>
          <a:custGeom>
            <a:avLst/>
            <a:gdLst/>
            <a:ahLst/>
            <a:cxnLst/>
            <a:rect l="l" t="t" r="r" b="b"/>
            <a:pathLst>
              <a:path w="246476" h="224069">
                <a:moveTo>
                  <a:pt x="0" y="224069"/>
                </a:moveTo>
                <a:lnTo>
                  <a:pt x="246476" y="224069"/>
                </a:lnTo>
                <a:lnTo>
                  <a:pt x="246476" y="0"/>
                </a:lnTo>
                <a:lnTo>
                  <a:pt x="0" y="0"/>
                </a:lnTo>
                <a:close/>
              </a:path>
            </a:pathLst>
          </a:custGeom>
          <a:solidFill>
            <a:srgbClr val="5B4636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5-mark48"/>
          <p:cNvSpPr/>
          <p:nvPr/>
        </p:nvSpPr>
        <p:spPr>
          <a:xfrm>
            <a:off x="1932061" y="3293347"/>
            <a:ext cx="358511" cy="672208"/>
          </a:xfrm>
          <a:custGeom>
            <a:avLst/>
            <a:gdLst/>
            <a:ahLst/>
            <a:cxnLst/>
            <a:rect l="l" t="t" r="r" b="b"/>
            <a:pathLst>
              <a:path w="358511" h="672208">
                <a:moveTo>
                  <a:pt x="0" y="672208"/>
                </a:moveTo>
                <a:lnTo>
                  <a:pt x="358511" y="672208"/>
                </a:lnTo>
                <a:lnTo>
                  <a:pt x="358511" y="0"/>
                </a:lnTo>
                <a:lnTo>
                  <a:pt x="0" y="0"/>
                </a:lnTo>
                <a:close/>
              </a:path>
            </a:pathLst>
          </a:custGeom>
          <a:solidFill>
            <a:srgbClr val="8A6A4A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mark49"/>
          <p:cNvSpPr/>
          <p:nvPr/>
        </p:nvSpPr>
        <p:spPr>
          <a:xfrm>
            <a:off x="3276476" y="1680049"/>
            <a:ext cx="448138" cy="448138"/>
          </a:xfrm>
          <a:prstGeom prst="ellipse">
            <a:avLst/>
          </a:prstGeom>
          <a:solidFill>
            <a:srgbClr val="F2C14E"/>
          </a:solidFill>
          <a:ln w="19050">
            <a:solidFill>
              <a:srgbClr val="C98A00"/>
            </a:solidFill>
            <a:prstDash val="solid"/>
          </a:ln>
        </p:spPr>
      </p:sp>
      <p:sp>
        <p:nvSpPr>
          <p:cNvPr id="16" name="S05-mark50"/>
          <p:cNvSpPr/>
          <p:nvPr/>
        </p:nvSpPr>
        <p:spPr>
          <a:xfrm flipH="1">
            <a:off x="2985186" y="1904118"/>
            <a:ext cx="134442" cy="0"/>
          </a:xfrm>
          <a:prstGeom prst="line">
            <a:avLst/>
          </a:prstGeom>
          <a:noFill/>
          <a:ln w="25400">
            <a:solidFill>
              <a:srgbClr val="C98A00"/>
            </a:solidFill>
            <a:prstDash val="solid"/>
          </a:ln>
        </p:spPr>
      </p:sp>
      <p:sp>
        <p:nvSpPr>
          <p:cNvPr id="17" name="S05-mark51"/>
          <p:cNvSpPr/>
          <p:nvPr/>
        </p:nvSpPr>
        <p:spPr>
          <a:xfrm flipH="1">
            <a:off x="3119628" y="2173001"/>
            <a:ext cx="112035" cy="112035"/>
          </a:xfrm>
          <a:prstGeom prst="line">
            <a:avLst/>
          </a:prstGeom>
          <a:noFill/>
          <a:ln w="25400">
            <a:solidFill>
              <a:srgbClr val="C98A00"/>
            </a:solidFill>
            <a:prstDash val="solid"/>
          </a:ln>
        </p:spPr>
      </p:sp>
      <p:sp>
        <p:nvSpPr>
          <p:cNvPr id="18" name="S05-mark52"/>
          <p:cNvSpPr/>
          <p:nvPr/>
        </p:nvSpPr>
        <p:spPr>
          <a:xfrm>
            <a:off x="3500546" y="2285035"/>
            <a:ext cx="0" cy="112035"/>
          </a:xfrm>
          <a:prstGeom prst="line">
            <a:avLst/>
          </a:prstGeom>
          <a:noFill/>
          <a:ln w="25400">
            <a:solidFill>
              <a:srgbClr val="C98A00"/>
            </a:solidFill>
            <a:prstDash val="solid"/>
          </a:ln>
        </p:spPr>
      </p:sp>
      <p:sp>
        <p:nvSpPr>
          <p:cNvPr id="19" name="S05-mark53"/>
          <p:cNvSpPr/>
          <p:nvPr/>
        </p:nvSpPr>
        <p:spPr>
          <a:xfrm flipH="1" flipV="1">
            <a:off x="3119628" y="1523200"/>
            <a:ext cx="112035" cy="112035"/>
          </a:xfrm>
          <a:prstGeom prst="line">
            <a:avLst/>
          </a:prstGeom>
          <a:noFill/>
          <a:ln w="25400">
            <a:solidFill>
              <a:srgbClr val="C98A00"/>
            </a:solidFill>
            <a:prstDash val="solid"/>
          </a:ln>
        </p:spPr>
      </p:sp>
      <p:sp>
        <p:nvSpPr>
          <p:cNvPr id="20" name="S05-label54"/>
          <p:cNvSpPr txBox="1"/>
          <p:nvPr/>
        </p:nvSpPr>
        <p:spPr>
          <a:xfrm>
            <a:off x="548640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덥고 건조한 곳</a:t>
            </a:r>
            <a:endParaRPr lang="ko-KR" sz="2200" dirty="0"/>
          </a:p>
        </p:txBody>
      </p:sp>
      <p:sp>
        <p:nvSpPr>
          <p:cNvPr id="21" name="S05-figure55" descr="간단히 나타낸 집 나: 기둥 위에 올려 땅에서 띄운 나무집, 지붕은 높고 가파름. 위에서 비가 내림"/>
          <p:cNvSpPr/>
          <p:nvPr/>
        </p:nvSpPr>
        <p:spPr>
          <a:xfrm>
            <a:off x="4712062" y="4090745"/>
            <a:ext cx="2764827" cy="167565"/>
          </a:xfrm>
          <a:custGeom>
            <a:avLst/>
            <a:gdLst/>
            <a:ahLst/>
            <a:cxnLst/>
            <a:rect l="l" t="t" r="r" b="b"/>
            <a:pathLst>
              <a:path w="2764827" h="167565">
                <a:moveTo>
                  <a:pt x="0" y="167565"/>
                </a:moveTo>
                <a:lnTo>
                  <a:pt x="2764827" y="167565"/>
                </a:lnTo>
                <a:lnTo>
                  <a:pt x="2764827" y="0"/>
                </a:lnTo>
                <a:lnTo>
                  <a:pt x="0" y="0"/>
                </a:lnTo>
                <a:close/>
              </a:path>
            </a:pathLst>
          </a:custGeom>
          <a:solidFill>
            <a:srgbClr val="B9D7A0"/>
          </a:solidFill>
          <a:ln/>
        </p:spPr>
      </p:sp>
      <p:sp>
        <p:nvSpPr>
          <p:cNvPr id="22" name="S05-mark56"/>
          <p:cNvSpPr/>
          <p:nvPr/>
        </p:nvSpPr>
        <p:spPr>
          <a:xfrm>
            <a:off x="5005302" y="3378592"/>
            <a:ext cx="2178349" cy="125674"/>
          </a:xfrm>
          <a:custGeom>
            <a:avLst/>
            <a:gdLst/>
            <a:ahLst/>
            <a:cxnLst/>
            <a:rect l="l" t="t" r="r" b="b"/>
            <a:pathLst>
              <a:path w="2178349" h="125674">
                <a:moveTo>
                  <a:pt x="0" y="125674"/>
                </a:moveTo>
                <a:lnTo>
                  <a:pt x="2178349" y="125674"/>
                </a:lnTo>
                <a:lnTo>
                  <a:pt x="2178349" y="0"/>
                </a:lnTo>
                <a:lnTo>
                  <a:pt x="0" y="0"/>
                </a:lnTo>
                <a:close/>
              </a:path>
            </a:pathLst>
          </a:custGeom>
          <a:solidFill>
            <a:srgbClr val="9C7A3C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23" name="S05-mark57"/>
          <p:cNvSpPr/>
          <p:nvPr/>
        </p:nvSpPr>
        <p:spPr>
          <a:xfrm>
            <a:off x="5214758" y="2792114"/>
            <a:ext cx="1759436" cy="586479"/>
          </a:xfrm>
          <a:custGeom>
            <a:avLst/>
            <a:gdLst/>
            <a:ahLst/>
            <a:cxnLst/>
            <a:rect l="l" t="t" r="r" b="b"/>
            <a:pathLst>
              <a:path w="1759436" h="586479">
                <a:moveTo>
                  <a:pt x="0" y="586479"/>
                </a:moveTo>
                <a:lnTo>
                  <a:pt x="1759436" y="586479"/>
                </a:lnTo>
                <a:lnTo>
                  <a:pt x="1759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D8B7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mark58"/>
          <p:cNvSpPr/>
          <p:nvPr/>
        </p:nvSpPr>
        <p:spPr>
          <a:xfrm>
            <a:off x="4837736" y="1786722"/>
            <a:ext cx="2513479" cy="1005392"/>
          </a:xfrm>
          <a:custGeom>
            <a:avLst/>
            <a:gdLst/>
            <a:ahLst/>
            <a:cxnLst/>
            <a:rect l="l" t="t" r="r" b="b"/>
            <a:pathLst>
              <a:path w="2513479" h="1005392">
                <a:moveTo>
                  <a:pt x="0" y="1005392"/>
                </a:moveTo>
                <a:lnTo>
                  <a:pt x="2513479" y="1005392"/>
                </a:lnTo>
                <a:lnTo>
                  <a:pt x="1256740" y="0"/>
                </a:lnTo>
                <a:close/>
              </a:path>
            </a:pathLst>
          </a:custGeom>
          <a:solidFill>
            <a:srgbClr val="B58B3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mark59"/>
          <p:cNvSpPr/>
          <p:nvPr/>
        </p:nvSpPr>
        <p:spPr>
          <a:xfrm>
            <a:off x="5885019" y="2917788"/>
            <a:ext cx="377022" cy="460805"/>
          </a:xfrm>
          <a:custGeom>
            <a:avLst/>
            <a:gdLst/>
            <a:ahLst/>
            <a:cxnLst/>
            <a:rect l="l" t="t" r="r" b="b"/>
            <a:pathLst>
              <a:path w="377022" h="460805">
                <a:moveTo>
                  <a:pt x="0" y="460805"/>
                </a:moveTo>
                <a:lnTo>
                  <a:pt x="377022" y="460805"/>
                </a:lnTo>
                <a:lnTo>
                  <a:pt x="377022" y="0"/>
                </a:lnTo>
                <a:lnTo>
                  <a:pt x="0" y="0"/>
                </a:lnTo>
                <a:close/>
              </a:path>
            </a:pathLst>
          </a:custGeom>
          <a:solidFill>
            <a:srgbClr val="8A6A4A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5-mark60"/>
          <p:cNvSpPr/>
          <p:nvPr/>
        </p:nvSpPr>
        <p:spPr>
          <a:xfrm flipV="1">
            <a:off x="5172867" y="3504266"/>
            <a:ext cx="0" cy="586479"/>
          </a:xfrm>
          <a:prstGeom prst="line">
            <a:avLst/>
          </a:prstGeom>
          <a:noFill/>
          <a:ln w="38100">
            <a:solidFill>
              <a:srgbClr val="6B4F3A"/>
            </a:solidFill>
            <a:prstDash val="solid"/>
          </a:ln>
        </p:spPr>
      </p:sp>
      <p:sp>
        <p:nvSpPr>
          <p:cNvPr id="27" name="S05-mark61"/>
          <p:cNvSpPr/>
          <p:nvPr/>
        </p:nvSpPr>
        <p:spPr>
          <a:xfrm flipV="1">
            <a:off x="5801237" y="3504266"/>
            <a:ext cx="0" cy="586479"/>
          </a:xfrm>
          <a:prstGeom prst="line">
            <a:avLst/>
          </a:prstGeom>
          <a:noFill/>
          <a:ln w="38100">
            <a:solidFill>
              <a:srgbClr val="6B4F3A"/>
            </a:solidFill>
            <a:prstDash val="solid"/>
          </a:ln>
        </p:spPr>
      </p:sp>
      <p:sp>
        <p:nvSpPr>
          <p:cNvPr id="28" name="S05-mark62"/>
          <p:cNvSpPr/>
          <p:nvPr/>
        </p:nvSpPr>
        <p:spPr>
          <a:xfrm flipV="1">
            <a:off x="6387715" y="3504266"/>
            <a:ext cx="0" cy="586479"/>
          </a:xfrm>
          <a:prstGeom prst="line">
            <a:avLst/>
          </a:prstGeom>
          <a:noFill/>
          <a:ln w="38100">
            <a:solidFill>
              <a:srgbClr val="6B4F3A"/>
            </a:solidFill>
            <a:prstDash val="solid"/>
          </a:ln>
        </p:spPr>
      </p:sp>
      <p:sp>
        <p:nvSpPr>
          <p:cNvPr id="29" name="S05-mark63"/>
          <p:cNvSpPr/>
          <p:nvPr/>
        </p:nvSpPr>
        <p:spPr>
          <a:xfrm flipV="1">
            <a:off x="7016085" y="3504266"/>
            <a:ext cx="0" cy="586479"/>
          </a:xfrm>
          <a:prstGeom prst="line">
            <a:avLst/>
          </a:prstGeom>
          <a:noFill/>
          <a:ln w="38100">
            <a:solidFill>
              <a:srgbClr val="6B4F3A"/>
            </a:solidFill>
            <a:prstDash val="solid"/>
          </a:ln>
        </p:spPr>
      </p:sp>
      <p:sp>
        <p:nvSpPr>
          <p:cNvPr id="30" name="S05-mark64"/>
          <p:cNvSpPr/>
          <p:nvPr/>
        </p:nvSpPr>
        <p:spPr>
          <a:xfrm flipH="1">
            <a:off x="5026247" y="1451591"/>
            <a:ext cx="104728" cy="209457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1" name="S05-mark65"/>
          <p:cNvSpPr/>
          <p:nvPr/>
        </p:nvSpPr>
        <p:spPr>
          <a:xfrm flipH="1">
            <a:off x="5528943" y="1451591"/>
            <a:ext cx="104728" cy="209457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2" name="S05-mark66"/>
          <p:cNvSpPr/>
          <p:nvPr/>
        </p:nvSpPr>
        <p:spPr>
          <a:xfrm flipH="1">
            <a:off x="6031639" y="1451591"/>
            <a:ext cx="104728" cy="209457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3" name="S05-mark67"/>
          <p:cNvSpPr/>
          <p:nvPr/>
        </p:nvSpPr>
        <p:spPr>
          <a:xfrm flipH="1">
            <a:off x="6534335" y="1451591"/>
            <a:ext cx="104728" cy="209457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4" name="S05-mark68"/>
          <p:cNvSpPr/>
          <p:nvPr/>
        </p:nvSpPr>
        <p:spPr>
          <a:xfrm flipH="1">
            <a:off x="7037031" y="1451591"/>
            <a:ext cx="104728" cy="209457"/>
          </a:xfrm>
          <a:prstGeom prst="line">
            <a:avLst/>
          </a:prstGeom>
          <a:noFill/>
          <a:ln w="19050">
            <a:solidFill>
              <a:srgbClr val="4A90C8"/>
            </a:solidFill>
            <a:prstDash val="solid"/>
          </a:ln>
        </p:spPr>
      </p:sp>
      <p:sp>
        <p:nvSpPr>
          <p:cNvPr id="35" name="S05-label69"/>
          <p:cNvSpPr txBox="1"/>
          <p:nvPr/>
        </p:nvSpPr>
        <p:spPr>
          <a:xfrm>
            <a:off x="4352544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 덥고 비가 많은 곳</a:t>
            </a:r>
            <a:endParaRPr lang="ko-KR" sz="2200" dirty="0"/>
          </a:p>
        </p:txBody>
      </p:sp>
      <p:sp>
        <p:nvSpPr>
          <p:cNvPr id="36" name="S05-figure70" descr="간단히 나타낸 집 다: 통나무를 쌓은 벽, 작은 창문, 눈이 덮인 가파른 지붕과 굴뚝. 둘레에 눈송이"/>
          <p:cNvSpPr/>
          <p:nvPr/>
        </p:nvSpPr>
        <p:spPr>
          <a:xfrm>
            <a:off x="8361035" y="4077446"/>
            <a:ext cx="3074690" cy="180864"/>
          </a:xfrm>
          <a:custGeom>
            <a:avLst/>
            <a:gdLst/>
            <a:ahLst/>
            <a:cxnLst/>
            <a:rect l="l" t="t" r="r" b="b"/>
            <a:pathLst>
              <a:path w="3074690" h="180864">
                <a:moveTo>
                  <a:pt x="0" y="180864"/>
                </a:moveTo>
                <a:lnTo>
                  <a:pt x="3074690" y="180864"/>
                </a:lnTo>
                <a:lnTo>
                  <a:pt x="3074690" y="0"/>
                </a:lnTo>
                <a:lnTo>
                  <a:pt x="0" y="0"/>
                </a:lnTo>
                <a:close/>
              </a:path>
            </a:pathLst>
          </a:custGeom>
          <a:solidFill>
            <a:srgbClr val="EEF3F8"/>
          </a:solidFill>
          <a:ln/>
        </p:spPr>
      </p:sp>
      <p:sp>
        <p:nvSpPr>
          <p:cNvPr id="37" name="S05-mark71"/>
          <p:cNvSpPr/>
          <p:nvPr/>
        </p:nvSpPr>
        <p:spPr>
          <a:xfrm>
            <a:off x="8722763" y="2811397"/>
            <a:ext cx="2260802" cy="1266049"/>
          </a:xfrm>
          <a:custGeom>
            <a:avLst/>
            <a:gdLst/>
            <a:ahLst/>
            <a:cxnLst/>
            <a:rect l="l" t="t" r="r" b="b"/>
            <a:pathLst>
              <a:path w="2260802" h="1266049">
                <a:moveTo>
                  <a:pt x="0" y="1266049"/>
                </a:moveTo>
                <a:lnTo>
                  <a:pt x="2260802" y="1266049"/>
                </a:lnTo>
                <a:lnTo>
                  <a:pt x="2260802" y="0"/>
                </a:lnTo>
                <a:lnTo>
                  <a:pt x="0" y="0"/>
                </a:lnTo>
                <a:close/>
              </a:path>
            </a:pathLst>
          </a:custGeom>
          <a:solidFill>
            <a:srgbClr val="B07A4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mark72"/>
          <p:cNvSpPr/>
          <p:nvPr/>
        </p:nvSpPr>
        <p:spPr>
          <a:xfrm>
            <a:off x="10350540" y="2042724"/>
            <a:ext cx="226080" cy="452160"/>
          </a:xfrm>
          <a:custGeom>
            <a:avLst/>
            <a:gdLst/>
            <a:ahLst/>
            <a:cxnLst/>
            <a:rect l="l" t="t" r="r" b="b"/>
            <a:pathLst>
              <a:path w="226080" h="452160">
                <a:moveTo>
                  <a:pt x="0" y="452160"/>
                </a:moveTo>
                <a:lnTo>
                  <a:pt x="226080" y="452160"/>
                </a:lnTo>
                <a:lnTo>
                  <a:pt x="226080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A44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39" name="S05-mark73"/>
          <p:cNvSpPr/>
          <p:nvPr/>
        </p:nvSpPr>
        <p:spPr>
          <a:xfrm>
            <a:off x="8541899" y="1907076"/>
            <a:ext cx="2622530" cy="904321"/>
          </a:xfrm>
          <a:custGeom>
            <a:avLst/>
            <a:gdLst/>
            <a:ahLst/>
            <a:cxnLst/>
            <a:rect l="l" t="t" r="r" b="b"/>
            <a:pathLst>
              <a:path w="2622530" h="904321">
                <a:moveTo>
                  <a:pt x="0" y="904321"/>
                </a:moveTo>
                <a:lnTo>
                  <a:pt x="2622530" y="904321"/>
                </a:lnTo>
                <a:lnTo>
                  <a:pt x="1311265" y="0"/>
                </a:lnTo>
                <a:close/>
              </a:path>
            </a:pathLst>
          </a:custGeom>
          <a:solidFill>
            <a:srgbClr val="6B4F3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mark74"/>
          <p:cNvSpPr/>
          <p:nvPr/>
        </p:nvSpPr>
        <p:spPr>
          <a:xfrm>
            <a:off x="8541899" y="1907076"/>
            <a:ext cx="2622530" cy="904321"/>
          </a:xfrm>
          <a:custGeom>
            <a:avLst/>
            <a:gdLst/>
            <a:ahLst/>
            <a:cxnLst/>
            <a:rect l="l" t="t" r="r" b="b"/>
            <a:pathLst>
              <a:path w="2622530" h="904321">
                <a:moveTo>
                  <a:pt x="0" y="904321"/>
                </a:moveTo>
                <a:lnTo>
                  <a:pt x="1311265" y="0"/>
                </a:lnTo>
                <a:lnTo>
                  <a:pt x="2622530" y="904321"/>
                </a:lnTo>
                <a:lnTo>
                  <a:pt x="2396450" y="904321"/>
                </a:lnTo>
                <a:lnTo>
                  <a:pt x="1311265" y="158256"/>
                </a:lnTo>
                <a:lnTo>
                  <a:pt x="226080" y="904321"/>
                </a:lnTo>
                <a:close/>
              </a:path>
            </a:pathLst>
          </a:custGeom>
          <a:solidFill>
            <a:srgbClr val="FFFFFF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5-mark75"/>
          <p:cNvSpPr/>
          <p:nvPr/>
        </p:nvSpPr>
        <p:spPr>
          <a:xfrm>
            <a:off x="9174923" y="3150517"/>
            <a:ext cx="406944" cy="361728"/>
          </a:xfrm>
          <a:custGeom>
            <a:avLst/>
            <a:gdLst/>
            <a:ahLst/>
            <a:cxnLst/>
            <a:rect l="l" t="t" r="r" b="b"/>
            <a:pathLst>
              <a:path w="406944" h="361728">
                <a:moveTo>
                  <a:pt x="0" y="361728"/>
                </a:moveTo>
                <a:lnTo>
                  <a:pt x="406944" y="361728"/>
                </a:lnTo>
                <a:lnTo>
                  <a:pt x="406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CFE3F5"/>
          </a:solidFill>
          <a:ln w="31750">
            <a:solidFill>
              <a:srgbClr val="1F2937"/>
            </a:solidFill>
            <a:prstDash val="solid"/>
          </a:ln>
        </p:spPr>
      </p:sp>
      <p:sp>
        <p:nvSpPr>
          <p:cNvPr id="42" name="S05-mark76"/>
          <p:cNvSpPr/>
          <p:nvPr/>
        </p:nvSpPr>
        <p:spPr>
          <a:xfrm>
            <a:off x="10079244" y="3308773"/>
            <a:ext cx="406944" cy="768673"/>
          </a:xfrm>
          <a:custGeom>
            <a:avLst/>
            <a:gdLst/>
            <a:ahLst/>
            <a:cxnLst/>
            <a:rect l="l" t="t" r="r" b="b"/>
            <a:pathLst>
              <a:path w="406944" h="768673">
                <a:moveTo>
                  <a:pt x="0" y="768673"/>
                </a:moveTo>
                <a:lnTo>
                  <a:pt x="406944" y="768673"/>
                </a:lnTo>
                <a:lnTo>
                  <a:pt x="406944" y="0"/>
                </a:lnTo>
                <a:lnTo>
                  <a:pt x="0" y="0"/>
                </a:lnTo>
                <a:close/>
              </a:path>
            </a:pathLst>
          </a:custGeom>
          <a:solidFill>
            <a:srgbClr val="7A5A44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5-mark77"/>
          <p:cNvSpPr/>
          <p:nvPr/>
        </p:nvSpPr>
        <p:spPr>
          <a:xfrm>
            <a:off x="8532856" y="1762385"/>
            <a:ext cx="108518" cy="108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4" name="S05-mark78"/>
          <p:cNvSpPr/>
          <p:nvPr/>
        </p:nvSpPr>
        <p:spPr>
          <a:xfrm>
            <a:off x="9030232" y="1491089"/>
            <a:ext cx="108518" cy="108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5" name="S05-mark79"/>
          <p:cNvSpPr/>
          <p:nvPr/>
        </p:nvSpPr>
        <p:spPr>
          <a:xfrm>
            <a:off x="10748441" y="1536305"/>
            <a:ext cx="108518" cy="108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6" name="S05-mark80"/>
          <p:cNvSpPr/>
          <p:nvPr/>
        </p:nvSpPr>
        <p:spPr>
          <a:xfrm>
            <a:off x="11200602" y="1943249"/>
            <a:ext cx="108518" cy="108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7" name="S05-mark81"/>
          <p:cNvSpPr/>
          <p:nvPr/>
        </p:nvSpPr>
        <p:spPr>
          <a:xfrm>
            <a:off x="11291034" y="2485842"/>
            <a:ext cx="108518" cy="108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8" name="S05-mark82"/>
          <p:cNvSpPr/>
          <p:nvPr/>
        </p:nvSpPr>
        <p:spPr>
          <a:xfrm>
            <a:off x="8397208" y="2304977"/>
            <a:ext cx="108518" cy="10851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B8AA8"/>
            </a:solidFill>
            <a:prstDash val="solid"/>
          </a:ln>
        </p:spPr>
      </p:sp>
      <p:sp>
        <p:nvSpPr>
          <p:cNvPr id="49" name="S05-mark83"/>
          <p:cNvSpPr/>
          <p:nvPr/>
        </p:nvSpPr>
        <p:spPr>
          <a:xfrm>
            <a:off x="8722763" y="3760934"/>
            <a:ext cx="2260802" cy="0"/>
          </a:xfrm>
          <a:prstGeom prst="line">
            <a:avLst/>
          </a:prstGeom>
          <a:noFill/>
          <a:ln w="15875">
            <a:solidFill>
              <a:srgbClr val="7A5A44"/>
            </a:solidFill>
            <a:prstDash val="solid"/>
          </a:ln>
        </p:spPr>
      </p:sp>
      <p:sp>
        <p:nvSpPr>
          <p:cNvPr id="50" name="S05-mark84"/>
          <p:cNvSpPr/>
          <p:nvPr/>
        </p:nvSpPr>
        <p:spPr>
          <a:xfrm>
            <a:off x="8722763" y="3444421"/>
            <a:ext cx="2260802" cy="0"/>
          </a:xfrm>
          <a:prstGeom prst="line">
            <a:avLst/>
          </a:prstGeom>
          <a:noFill/>
          <a:ln w="15875">
            <a:solidFill>
              <a:srgbClr val="7A5A44"/>
            </a:solidFill>
            <a:prstDash val="solid"/>
          </a:ln>
        </p:spPr>
      </p:sp>
      <p:sp>
        <p:nvSpPr>
          <p:cNvPr id="51" name="S05-mark85"/>
          <p:cNvSpPr/>
          <p:nvPr/>
        </p:nvSpPr>
        <p:spPr>
          <a:xfrm>
            <a:off x="8722763" y="3127909"/>
            <a:ext cx="2260802" cy="0"/>
          </a:xfrm>
          <a:prstGeom prst="line">
            <a:avLst/>
          </a:prstGeom>
          <a:noFill/>
          <a:ln w="15875">
            <a:solidFill>
              <a:srgbClr val="7A5A44"/>
            </a:solidFill>
            <a:prstDash val="solid"/>
          </a:ln>
        </p:spPr>
      </p:sp>
      <p:sp>
        <p:nvSpPr>
          <p:cNvPr id="52" name="S05-label86"/>
          <p:cNvSpPr txBox="1"/>
          <p:nvPr/>
        </p:nvSpPr>
        <p:spPr>
          <a:xfrm>
            <a:off x="8156448" y="4415282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추운 곳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날씨에 맞는 옷과 음식</a:t>
            </a:r>
            <a:endParaRPr lang="ko-KR" sz="4000" dirty="0"/>
          </a:p>
        </p:txBody>
      </p:sp>
      <p:sp>
        <p:nvSpPr>
          <p:cNvPr id="3" name="S06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옛날부터 그곳의 많은 사람이 이렇게 지내 왔어요.</a:t>
            </a:r>
            <a:endParaRPr lang="ko-KR" sz="2800" dirty="0"/>
          </a:p>
        </p:txBody>
      </p:sp>
      <p:graphicFrame>
        <p:nvGraphicFramePr>
          <p:cNvPr id="7" name="S06-table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702308"/>
          <a:ext cx="10972800" cy="914400"/>
        </p:xfrm>
        <a:graphic>
          <a:graphicData uri="http://schemas.openxmlformats.org/drawingml/2006/table">
            <a:tbl>
              <a:tblPr/>
              <a:tblGrid>
                <a:gridCol w="2852928"/>
                <a:gridCol w="4059936"/>
                <a:gridCol w="4059936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먹을거리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덥고 건조한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온몸을 덮는 헐렁한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(햇볕·모래바람을 막아요)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오아시스의 대추야자,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기르는 가축의 젖과 고기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덥고 비가 많은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(동남아시아)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얇고 바람이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통하는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벼농사가 잘되어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쌀로 만든 음식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추운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(북극 가까이)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동물 털가죽으로 만든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두꺼운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사냥·고기잡이로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얻은 고기와 생선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그럴까요?</a:t>
            </a:r>
            <a:endParaRPr lang="ko-KR" sz="4000" dirty="0"/>
          </a:p>
        </p:txBody>
      </p:sp>
      <p:sp>
        <p:nvSpPr>
          <p:cNvPr id="3" name="S07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그곳에서 피하고 싶은 것 → 생활 모습</a:t>
            </a:r>
            <a:endParaRPr lang="ko-KR" sz="2800" dirty="0"/>
          </a:p>
        </p:txBody>
      </p:sp>
      <p:sp>
        <p:nvSpPr>
          <p:cNvPr id="5" name="S07-chip92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7-text93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건조한 곳의 집은 왜 벽이 두껍고 창문이 작을까요?</a:t>
            </a:r>
            <a:endParaRPr lang="ko-KR" sz="2800" dirty="0"/>
          </a:p>
        </p:txBody>
      </p:sp>
      <p:sp>
        <p:nvSpPr>
          <p:cNvPr id="7" name="S07-chip94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7-text95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비가 많은 곳에서는 왜 집을 땅에서 띄워 지을까요?</a:t>
            </a:r>
            <a:endParaRPr lang="ko-KR" sz="2800" dirty="0"/>
          </a:p>
        </p:txBody>
      </p:sp>
      <p:sp>
        <p:nvSpPr>
          <p:cNvPr id="9" name="S07-chip96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7-text97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 가까운 곳에서는 옛날부터 왜 털가죽 옷을 입었을까요?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문화를 만날 때</a:t>
            </a:r>
            <a:endParaRPr lang="ko-KR" sz="4000" dirty="0"/>
          </a:p>
        </p:txBody>
      </p:sp>
      <p:sp>
        <p:nvSpPr>
          <p:cNvPr id="3" name="S08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오늘날에는 아파트에 살고 청바지를 입는 사람도 많아요.</a:t>
            </a:r>
            <a:endParaRPr lang="ko-KR" sz="2800" dirty="0"/>
          </a:p>
        </p:txBody>
      </p:sp>
      <p:sp>
        <p:nvSpPr>
          <p:cNvPr id="5" name="S08-card100"/>
          <p:cNvSpPr/>
          <p:nvPr/>
        </p:nvSpPr>
        <p:spPr>
          <a:xfrm>
            <a:off x="548640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101"/>
          <p:cNvSpPr txBox="1"/>
          <p:nvPr/>
        </p:nvSpPr>
        <p:spPr>
          <a:xfrm>
            <a:off x="822960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 생각하기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그곳의 자연환경과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먼저 생각해요.</a:t>
            </a:r>
            <a:endParaRPr lang="ko-KR" sz="2800" dirty="0"/>
          </a:p>
        </p:txBody>
      </p:sp>
      <p:sp>
        <p:nvSpPr>
          <p:cNvPr id="7" name="S08-card102"/>
          <p:cNvSpPr/>
          <p:nvPr/>
        </p:nvSpPr>
        <p:spPr>
          <a:xfrm>
            <a:off x="4322064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103"/>
          <p:cNvSpPr txBox="1"/>
          <p:nvPr/>
        </p:nvSpPr>
        <p:spPr>
          <a:xfrm>
            <a:off x="4596384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다양함 알기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나라 안에서도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사람마다 다르게 살아요.</a:t>
            </a:r>
            <a:endParaRPr lang="ko-KR" sz="2800" dirty="0"/>
          </a:p>
        </p:txBody>
      </p:sp>
      <p:sp>
        <p:nvSpPr>
          <p:cNvPr id="9" name="S08-card104"/>
          <p:cNvSpPr/>
          <p:nvPr/>
        </p:nvSpPr>
        <p:spPr>
          <a:xfrm>
            <a:off x="8095488" y="2121916"/>
            <a:ext cx="3544824" cy="2202688"/>
          </a:xfrm>
          <a:prstGeom prst="roundRect">
            <a:avLst>
              <a:gd name="adj" fmla="val 498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105"/>
          <p:cNvSpPr txBox="1"/>
          <p:nvPr/>
        </p:nvSpPr>
        <p:spPr>
          <a:xfrm>
            <a:off x="8369808" y="2259076"/>
            <a:ext cx="2996184" cy="192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‘이상해’ 대신 ‘궁금해’,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‘그렇구나’라고 말해요.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말할까요?</a:t>
            </a:r>
            <a:endParaRPr lang="ko-KR" sz="4000" dirty="0"/>
          </a:p>
        </p:txBody>
      </p:sp>
      <p:sp>
        <p:nvSpPr>
          <p:cNvPr id="3" name="S09-card1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덥고 건조한 나라에서 온 친구를 만났어요.</a:t>
            </a:r>
            <a:endParaRPr lang="ko-KR" sz="2800" dirty="0"/>
          </a:p>
        </p:txBody>
      </p:sp>
      <p:sp>
        <p:nvSpPr>
          <p:cNvPr id="5" name="S09-card10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10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알맞을까요? 왜 그럴까요?</a:t>
            </a:r>
            <a:endParaRPr lang="ko-KR" sz="2800" dirty="0"/>
          </a:p>
        </p:txBody>
      </p:sp>
      <p:sp>
        <p:nvSpPr>
          <p:cNvPr id="7" name="S09-chip11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9-text11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나라 사람은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흙벽돌집에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살지?”</a:t>
            </a:r>
            <a:endParaRPr lang="ko-KR" sz="2800" dirty="0"/>
          </a:p>
        </p:txBody>
      </p:sp>
      <p:sp>
        <p:nvSpPr>
          <p:cNvPr id="9" name="S09-chip11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9-text11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“너희 동네에서는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집에 살아?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궁금해.”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나라를 조사해요</a:t>
            </a:r>
            <a:endParaRPr lang="ko-KR" sz="4000" dirty="0"/>
          </a:p>
        </p:txBody>
      </p:sp>
      <p:sp>
        <p:nvSpPr>
          <p:cNvPr id="3" name="S10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10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0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인터넷은 어른과 함께, 믿을 만한 자료로 찾아요.</a:t>
            </a:r>
            <a:endParaRPr lang="ko-KR" sz="2800" dirty="0"/>
          </a:p>
        </p:txBody>
      </p:sp>
      <p:sp>
        <p:nvSpPr>
          <p:cNvPr id="6" name="S10-card117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0-cardtext118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날씨(자연환경)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생활 모습과 까닭 잇기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존중하는 말로 소개하기</a:t>
            </a:r>
            <a:endParaRPr lang="ko-KR" sz="2800" dirty="0"/>
          </a:p>
        </p:txBody>
      </p:sp>
      <p:sp>
        <p:nvSpPr>
          <p:cNvPr id="8" name="S10-stepno119"/>
          <p:cNvSpPr txBox="1"/>
          <p:nvPr/>
        </p:nvSpPr>
        <p:spPr>
          <a:xfrm>
            <a:off x="548640" y="22219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10-text120"/>
          <p:cNvSpPr txBox="1"/>
          <p:nvPr/>
        </p:nvSpPr>
        <p:spPr>
          <a:xfrm>
            <a:off x="1325880" y="222199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나라를 하나 골라요.</a:t>
            </a:r>
            <a:endParaRPr lang="ko-KR" sz="2200" dirty="0"/>
          </a:p>
        </p:txBody>
      </p:sp>
      <p:sp>
        <p:nvSpPr>
          <p:cNvPr id="10" name="S10-stepno121"/>
          <p:cNvSpPr txBox="1"/>
          <p:nvPr/>
        </p:nvSpPr>
        <p:spPr>
          <a:xfrm>
            <a:off x="548640" y="29352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10-text122"/>
          <p:cNvSpPr txBox="1"/>
          <p:nvPr/>
        </p:nvSpPr>
        <p:spPr>
          <a:xfrm>
            <a:off x="1325880" y="29352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지구본·지도에서 위치를 찾아요.</a:t>
            </a:r>
            <a:endParaRPr lang="ko-KR" sz="2200" dirty="0"/>
          </a:p>
        </p:txBody>
      </p:sp>
      <p:sp>
        <p:nvSpPr>
          <p:cNvPr id="12" name="S10-stepno123"/>
          <p:cNvSpPr txBox="1"/>
          <p:nvPr/>
        </p:nvSpPr>
        <p:spPr>
          <a:xfrm>
            <a:off x="548640" y="36484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10-text124"/>
          <p:cNvSpPr txBox="1"/>
          <p:nvPr/>
        </p:nvSpPr>
        <p:spPr>
          <a:xfrm>
            <a:off x="1325880" y="36484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날씨와 옷·집·음식 하나를 찾아요.</a:t>
            </a:r>
            <a:endParaRPr lang="ko-KR" sz="2200" dirty="0"/>
          </a:p>
        </p:txBody>
      </p:sp>
      <p:sp>
        <p:nvSpPr>
          <p:cNvPr id="14" name="S10-stepno125"/>
          <p:cNvSpPr txBox="1"/>
          <p:nvPr/>
        </p:nvSpPr>
        <p:spPr>
          <a:xfrm>
            <a:off x="548640" y="43616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10-text126"/>
          <p:cNvSpPr txBox="1"/>
          <p:nvPr/>
        </p:nvSpPr>
        <p:spPr>
          <a:xfrm>
            <a:off x="1325880" y="43616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이어 소개해요.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27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지어낸 ‘모래언덕 마을’은 비가 거의 오지 않고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햇볕이 강하며 나무가 드물어요.</a:t>
            </a:r>
            <a:endParaRPr lang="ko-KR" sz="2800" dirty="0"/>
          </a:p>
        </p:txBody>
      </p:sp>
      <p:sp>
        <p:nvSpPr>
          <p:cNvPr id="4" name="S11-chip128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text129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마을에 어울리는 집과 그 까닭은?</a:t>
            </a:r>
            <a:endParaRPr lang="ko-KR" sz="2800" dirty="0"/>
          </a:p>
        </p:txBody>
      </p:sp>
      <p:sp>
        <p:nvSpPr>
          <p:cNvPr id="6" name="S11-chip130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text131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마을에 어울리는 옷과 그 까닭은?</a:t>
            </a:r>
            <a:endParaRPr lang="ko-KR" sz="2800" dirty="0"/>
          </a:p>
        </p:txBody>
      </p:sp>
      <p:sp>
        <p:nvSpPr>
          <p:cNvPr id="8" name="S11-chip132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text133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땅에서 띄우고 지붕이 가파른 집이 많은 곳의 날씨는?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 확인</a:t>
            </a:r>
            <a:endParaRPr lang="ko-KR" sz="4000" dirty="0"/>
          </a:p>
        </p:txBody>
      </p:sp>
      <p:sp>
        <p:nvSpPr>
          <p:cNvPr id="3" name="S13-text134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말했어요. “추운 나라 사람들은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털옷만 입고 이상한 음식을 먹는대.”</a:t>
            </a:r>
            <a:endParaRPr lang="ko-KR" sz="2800" dirty="0"/>
          </a:p>
        </p:txBody>
      </p:sp>
      <p:sp>
        <p:nvSpPr>
          <p:cNvPr id="4" name="S13-chip135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3-text136"/>
          <p:cNvSpPr txBox="1"/>
          <p:nvPr/>
        </p:nvSpPr>
        <p:spPr>
          <a:xfrm>
            <a:off x="1344168" y="2376424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말에서 고칠 점 두 가지는?</a:t>
            </a:r>
            <a:endParaRPr lang="ko-KR" sz="2800" dirty="0"/>
          </a:p>
        </p:txBody>
      </p:sp>
      <p:sp>
        <p:nvSpPr>
          <p:cNvPr id="6" name="S13-chip137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3-text138"/>
          <p:cNvSpPr txBox="1"/>
          <p:nvPr/>
        </p:nvSpPr>
        <p:spPr>
          <a:xfrm>
            <a:off x="1344168" y="3717883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존중하는 말로 바꾸어 말해요.</a:t>
            </a:r>
            <a:endParaRPr lang="ko-KR" sz="2800" dirty="0"/>
          </a:p>
        </p:txBody>
      </p:sp>
      <p:sp>
        <p:nvSpPr>
          <p:cNvPr id="8" name="S13-chip139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3-text140"/>
          <p:cNvSpPr txBox="1"/>
          <p:nvPr/>
        </p:nvSpPr>
        <p:spPr>
          <a:xfrm>
            <a:off x="1344168" y="5059341"/>
            <a:ext cx="10296144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문화를 만날 때 먼저 생각할 것은?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41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42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사람들은 자연환경에 맞게 옷·집·음식을 만들어 왔어요.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문화는 그곳의 까닭을 생각하며 존중해요.</a:t>
            </a:r>
            <a:endParaRPr lang="ko-KR" sz="2800" dirty="0"/>
          </a:p>
        </p:txBody>
      </p:sp>
      <p:sp>
        <p:nvSpPr>
          <p:cNvPr id="5" name="S14-chip143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“궁금해, 그렇구나” 말하기</a:t>
            </a:r>
            <a:endParaRPr lang="ko-KR" sz="2200" dirty="0"/>
          </a:p>
        </p:txBody>
      </p:sp>
      <p:sp>
        <p:nvSpPr>
          <p:cNvPr id="6" name="S14-chip144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“모두 ~해”, “이상해” 말하기</a:t>
            </a:r>
            <a:endParaRPr lang="ko-KR" sz="2200" dirty="0"/>
          </a:p>
        </p:txBody>
      </p:sp>
      <p:sp>
        <p:nvSpPr>
          <p:cNvPr id="7" name="S14-text145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text146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흙벽돌집의 벽이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두꺼운 까닭은?</a:t>
            </a:r>
            <a:endParaRPr lang="ko-KR" sz="2200" dirty="0"/>
          </a:p>
        </p:txBody>
      </p:sp>
      <p:sp>
        <p:nvSpPr>
          <p:cNvPr id="9" name="S14-text147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땅에서 띄운 집이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곳의 날씨는?</a:t>
            </a:r>
            <a:endParaRPr lang="ko-KR" sz="2200" dirty="0"/>
          </a:p>
        </p:txBody>
      </p:sp>
      <p:sp>
        <p:nvSpPr>
          <p:cNvPr id="10" name="S14-text148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다른 문화를 만날 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생각할 것은?</a:t>
            </a:r>
            <a:endParaRPr lang="ko-KR" sz="2200" dirty="0"/>
          </a:p>
        </p:txBody>
      </p:sp>
      <p:sp>
        <p:nvSpPr>
          <p:cNvPr id="11" name="S14-text14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지구촌 문제와 협력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대륙과 적도 다시 보기</a:t>
            </a:r>
            <a:endParaRPr lang="ko-KR" sz="4000" dirty="0"/>
          </a:p>
        </p:txBody>
      </p:sp>
      <p:sp>
        <p:nvSpPr>
          <p:cNvPr id="3" name="S15-card1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5-cardtext15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적도는 지구의 가운데를 가로로 두른 선(위도 0°)이에요.</a:t>
            </a:r>
            <a:endParaRPr lang="ko-KR" sz="2800" dirty="0"/>
          </a:p>
        </p:txBody>
      </p:sp>
      <p:sp>
        <p:nvSpPr>
          <p:cNvPr id="5" name="S15-figure152" descr="간단히 나타낸 세계 지도에 적도(점선)를 그은 그림: 적도는 아프리카의 가운데와 남아메리카의 북쪽을 지나고, 아시아의 대부분은 적도의 북쪽, 오세아니아는 남쪽에 있음"/>
          <p:cNvSpPr/>
          <p:nvPr/>
        </p:nvSpPr>
        <p:spPr>
          <a:xfrm>
            <a:off x="2954637" y="1409700"/>
            <a:ext cx="6279677" cy="3176778"/>
          </a:xfrm>
          <a:custGeom>
            <a:avLst/>
            <a:gdLst/>
            <a:ahLst/>
            <a:cxnLst/>
            <a:rect l="l" t="t" r="r" b="b"/>
            <a:pathLst>
              <a:path w="6279677" h="3176778">
                <a:moveTo>
                  <a:pt x="0" y="3176778"/>
                </a:moveTo>
                <a:lnTo>
                  <a:pt x="6279677" y="3176778"/>
                </a:lnTo>
                <a:lnTo>
                  <a:pt x="62796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6E9F8"/>
          </a:solidFill>
          <a:ln w="15875">
            <a:solidFill>
              <a:srgbClr val="4A90C8"/>
            </a:solidFill>
            <a:prstDash val="solid"/>
          </a:ln>
        </p:spPr>
      </p:sp>
      <p:sp>
        <p:nvSpPr>
          <p:cNvPr id="6" name="S15-mark153"/>
          <p:cNvSpPr/>
          <p:nvPr/>
        </p:nvSpPr>
        <p:spPr>
          <a:xfrm>
            <a:off x="3545666" y="1779093"/>
            <a:ext cx="849603" cy="812664"/>
          </a:xfrm>
          <a:custGeom>
            <a:avLst/>
            <a:gdLst/>
            <a:ahLst/>
            <a:cxnLst/>
            <a:rect l="l" t="t" r="r" b="b"/>
            <a:pathLst>
              <a:path w="849603" h="812664">
                <a:moveTo>
                  <a:pt x="36939" y="812664"/>
                </a:moveTo>
                <a:lnTo>
                  <a:pt x="849603" y="812664"/>
                </a:lnTo>
                <a:lnTo>
                  <a:pt x="849603" y="110818"/>
                </a:lnTo>
                <a:lnTo>
                  <a:pt x="517150" y="0"/>
                </a:lnTo>
                <a:lnTo>
                  <a:pt x="147757" y="147757"/>
                </a:lnTo>
                <a:lnTo>
                  <a:pt x="0" y="480211"/>
                </a:lnTo>
                <a:close/>
              </a:path>
            </a:pathLst>
          </a:custGeom>
          <a:solidFill>
            <a:srgbClr val="D9CCF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7" name="S15-mark154"/>
          <p:cNvSpPr/>
          <p:nvPr/>
        </p:nvSpPr>
        <p:spPr>
          <a:xfrm>
            <a:off x="4395269" y="1705214"/>
            <a:ext cx="2327175" cy="1440632"/>
          </a:xfrm>
          <a:custGeom>
            <a:avLst/>
            <a:gdLst/>
            <a:ahLst/>
            <a:cxnLst/>
            <a:rect l="l" t="t" r="r" b="b"/>
            <a:pathLst>
              <a:path w="2327175" h="1440632">
                <a:moveTo>
                  <a:pt x="0" y="886543"/>
                </a:moveTo>
                <a:lnTo>
                  <a:pt x="0" y="184696"/>
                </a:lnTo>
                <a:lnTo>
                  <a:pt x="591028" y="36939"/>
                </a:lnTo>
                <a:lnTo>
                  <a:pt x="1514510" y="0"/>
                </a:lnTo>
                <a:lnTo>
                  <a:pt x="2216357" y="147757"/>
                </a:lnTo>
                <a:lnTo>
                  <a:pt x="2327175" y="517150"/>
                </a:lnTo>
                <a:lnTo>
                  <a:pt x="2105539" y="775725"/>
                </a:lnTo>
                <a:lnTo>
                  <a:pt x="1957782" y="1145118"/>
                </a:lnTo>
                <a:lnTo>
                  <a:pt x="1514510" y="1366753"/>
                </a:lnTo>
                <a:lnTo>
                  <a:pt x="1071239" y="1218996"/>
                </a:lnTo>
                <a:lnTo>
                  <a:pt x="627968" y="1440632"/>
                </a:lnTo>
                <a:lnTo>
                  <a:pt x="369393" y="1071239"/>
                </a:lnTo>
                <a:lnTo>
                  <a:pt x="147757" y="997361"/>
                </a:lnTo>
                <a:close/>
              </a:path>
            </a:pathLst>
          </a:custGeom>
          <a:solidFill>
            <a:srgbClr val="F2D7A6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8" name="S15-mark155"/>
          <p:cNvSpPr/>
          <p:nvPr/>
        </p:nvSpPr>
        <p:spPr>
          <a:xfrm>
            <a:off x="3434848" y="2702575"/>
            <a:ext cx="1329814" cy="1551450"/>
          </a:xfrm>
          <a:custGeom>
            <a:avLst/>
            <a:gdLst/>
            <a:ahLst/>
            <a:cxnLst/>
            <a:rect l="l" t="t" r="r" b="b"/>
            <a:pathLst>
              <a:path w="1329814" h="1551450">
                <a:moveTo>
                  <a:pt x="184696" y="0"/>
                </a:moveTo>
                <a:lnTo>
                  <a:pt x="1071239" y="0"/>
                </a:lnTo>
                <a:lnTo>
                  <a:pt x="1218996" y="369393"/>
                </a:lnTo>
                <a:lnTo>
                  <a:pt x="1329814" y="701846"/>
                </a:lnTo>
                <a:lnTo>
                  <a:pt x="1108178" y="1108178"/>
                </a:lnTo>
                <a:lnTo>
                  <a:pt x="886543" y="1477571"/>
                </a:lnTo>
                <a:lnTo>
                  <a:pt x="627968" y="1551450"/>
                </a:lnTo>
                <a:lnTo>
                  <a:pt x="480211" y="1108178"/>
                </a:lnTo>
                <a:lnTo>
                  <a:pt x="332454" y="701846"/>
                </a:lnTo>
                <a:lnTo>
                  <a:pt x="36939" y="443271"/>
                </a:lnTo>
                <a:lnTo>
                  <a:pt x="0" y="184696"/>
                </a:lnTo>
                <a:close/>
              </a:path>
            </a:pathLst>
          </a:custGeom>
          <a:solidFill>
            <a:srgbClr val="F6C9A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9" name="S15-mark156"/>
          <p:cNvSpPr/>
          <p:nvPr/>
        </p:nvSpPr>
        <p:spPr>
          <a:xfrm>
            <a:off x="5466508" y="3589117"/>
            <a:ext cx="1440632" cy="720316"/>
          </a:xfrm>
          <a:custGeom>
            <a:avLst/>
            <a:gdLst/>
            <a:ahLst/>
            <a:cxnLst/>
            <a:rect l="l" t="t" r="r" b="b"/>
            <a:pathLst>
              <a:path w="1440632" h="720316">
                <a:moveTo>
                  <a:pt x="0" y="517150"/>
                </a:moveTo>
                <a:lnTo>
                  <a:pt x="258575" y="73879"/>
                </a:lnTo>
                <a:lnTo>
                  <a:pt x="812664" y="0"/>
                </a:lnTo>
                <a:lnTo>
                  <a:pt x="1329814" y="110818"/>
                </a:lnTo>
                <a:lnTo>
                  <a:pt x="1440632" y="480211"/>
                </a:lnTo>
                <a:lnTo>
                  <a:pt x="1071239" y="720316"/>
                </a:lnTo>
                <a:lnTo>
                  <a:pt x="406332" y="72031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0" name="S15-mark157"/>
          <p:cNvSpPr/>
          <p:nvPr/>
        </p:nvSpPr>
        <p:spPr>
          <a:xfrm>
            <a:off x="7239594" y="1705214"/>
            <a:ext cx="1477571" cy="1532980"/>
          </a:xfrm>
          <a:custGeom>
            <a:avLst/>
            <a:gdLst/>
            <a:ahLst/>
            <a:cxnLst/>
            <a:rect l="l" t="t" r="r" b="b"/>
            <a:pathLst>
              <a:path w="1477571" h="1532980">
                <a:moveTo>
                  <a:pt x="73879" y="369393"/>
                </a:moveTo>
                <a:lnTo>
                  <a:pt x="369393" y="36939"/>
                </a:lnTo>
                <a:lnTo>
                  <a:pt x="1108178" y="0"/>
                </a:lnTo>
                <a:lnTo>
                  <a:pt x="1477571" y="221636"/>
                </a:lnTo>
                <a:lnTo>
                  <a:pt x="1403693" y="554089"/>
                </a:lnTo>
                <a:lnTo>
                  <a:pt x="1108178" y="812664"/>
                </a:lnTo>
                <a:lnTo>
                  <a:pt x="886543" y="1145118"/>
                </a:lnTo>
                <a:lnTo>
                  <a:pt x="627968" y="1403693"/>
                </a:lnTo>
                <a:lnTo>
                  <a:pt x="517150" y="1532980"/>
                </a:lnTo>
                <a:lnTo>
                  <a:pt x="369393" y="1218996"/>
                </a:lnTo>
                <a:lnTo>
                  <a:pt x="147757" y="886543"/>
                </a:lnTo>
                <a:lnTo>
                  <a:pt x="0" y="554089"/>
                </a:lnTo>
                <a:close/>
              </a:path>
            </a:pathLst>
          </a:custGeom>
          <a:solidFill>
            <a:srgbClr val="C5E3A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1" name="S15-mark158"/>
          <p:cNvSpPr/>
          <p:nvPr/>
        </p:nvSpPr>
        <p:spPr>
          <a:xfrm>
            <a:off x="7461229" y="3275134"/>
            <a:ext cx="1329814" cy="1163587"/>
          </a:xfrm>
          <a:custGeom>
            <a:avLst/>
            <a:gdLst/>
            <a:ahLst/>
            <a:cxnLst/>
            <a:rect l="l" t="t" r="r" b="b"/>
            <a:pathLst>
              <a:path w="1329814" h="1163587">
                <a:moveTo>
                  <a:pt x="258575" y="36939"/>
                </a:moveTo>
                <a:lnTo>
                  <a:pt x="738786" y="0"/>
                </a:lnTo>
                <a:lnTo>
                  <a:pt x="1182057" y="166227"/>
                </a:lnTo>
                <a:lnTo>
                  <a:pt x="1329814" y="387862"/>
                </a:lnTo>
                <a:lnTo>
                  <a:pt x="1034300" y="757255"/>
                </a:lnTo>
                <a:lnTo>
                  <a:pt x="738786" y="1052769"/>
                </a:lnTo>
                <a:lnTo>
                  <a:pt x="591028" y="1163587"/>
                </a:lnTo>
                <a:lnTo>
                  <a:pt x="480211" y="941952"/>
                </a:lnTo>
                <a:lnTo>
                  <a:pt x="258575" y="609498"/>
                </a:lnTo>
                <a:lnTo>
                  <a:pt x="0" y="240105"/>
                </a:lnTo>
                <a:close/>
              </a:path>
            </a:pathLst>
          </a:custGeom>
          <a:solidFill>
            <a:srgbClr val="A9D8C0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2" name="S15-mark159"/>
          <p:cNvSpPr/>
          <p:nvPr/>
        </p:nvSpPr>
        <p:spPr>
          <a:xfrm>
            <a:off x="7073367" y="4143207"/>
            <a:ext cx="110818" cy="221636"/>
          </a:xfrm>
          <a:custGeom>
            <a:avLst/>
            <a:gdLst/>
            <a:ahLst/>
            <a:cxnLst/>
            <a:rect l="l" t="t" r="r" b="b"/>
            <a:pathLst>
              <a:path w="110818" h="221636">
                <a:moveTo>
                  <a:pt x="110818" y="110818"/>
                </a:moveTo>
                <a:lnTo>
                  <a:pt x="110607" y="101159"/>
                </a:lnTo>
                <a:lnTo>
                  <a:pt x="109976" y="91575"/>
                </a:lnTo>
                <a:lnTo>
                  <a:pt x="108930" y="82136"/>
                </a:lnTo>
                <a:lnTo>
                  <a:pt x="107476" y="72916"/>
                </a:lnTo>
                <a:lnTo>
                  <a:pt x="105626" y="63984"/>
                </a:lnTo>
                <a:lnTo>
                  <a:pt x="103394" y="55409"/>
                </a:lnTo>
                <a:lnTo>
                  <a:pt x="100797" y="47255"/>
                </a:lnTo>
                <a:lnTo>
                  <a:pt x="97855" y="39586"/>
                </a:lnTo>
                <a:lnTo>
                  <a:pt x="94589" y="32458"/>
                </a:lnTo>
                <a:lnTo>
                  <a:pt x="91025" y="25926"/>
                </a:lnTo>
                <a:lnTo>
                  <a:pt x="87190" y="20041"/>
                </a:lnTo>
                <a:lnTo>
                  <a:pt x="83113" y="14847"/>
                </a:lnTo>
                <a:lnTo>
                  <a:pt x="78826" y="10383"/>
                </a:lnTo>
                <a:lnTo>
                  <a:pt x="74360" y="6683"/>
                </a:lnTo>
                <a:lnTo>
                  <a:pt x="69750" y="3776"/>
                </a:lnTo>
                <a:lnTo>
                  <a:pt x="65031" y="1684"/>
                </a:lnTo>
                <a:lnTo>
                  <a:pt x="60238" y="422"/>
                </a:lnTo>
                <a:lnTo>
                  <a:pt x="55409" y="0"/>
                </a:lnTo>
                <a:lnTo>
                  <a:pt x="50580" y="422"/>
                </a:lnTo>
                <a:lnTo>
                  <a:pt x="45787" y="1684"/>
                </a:lnTo>
                <a:lnTo>
                  <a:pt x="41068" y="3776"/>
                </a:lnTo>
                <a:lnTo>
                  <a:pt x="36458" y="6683"/>
                </a:lnTo>
                <a:lnTo>
                  <a:pt x="31992" y="10383"/>
                </a:lnTo>
                <a:lnTo>
                  <a:pt x="27704" y="14847"/>
                </a:lnTo>
                <a:lnTo>
                  <a:pt x="23628" y="20041"/>
                </a:lnTo>
                <a:lnTo>
                  <a:pt x="19793" y="25926"/>
                </a:lnTo>
                <a:lnTo>
                  <a:pt x="16229" y="32458"/>
                </a:lnTo>
                <a:lnTo>
                  <a:pt x="12963" y="39586"/>
                </a:lnTo>
                <a:lnTo>
                  <a:pt x="10021" y="47255"/>
                </a:lnTo>
                <a:lnTo>
                  <a:pt x="7423" y="55409"/>
                </a:lnTo>
                <a:lnTo>
                  <a:pt x="5191" y="63984"/>
                </a:lnTo>
                <a:lnTo>
                  <a:pt x="3342" y="72916"/>
                </a:lnTo>
                <a:lnTo>
                  <a:pt x="1888" y="82136"/>
                </a:lnTo>
                <a:lnTo>
                  <a:pt x="842" y="91575"/>
                </a:lnTo>
                <a:lnTo>
                  <a:pt x="211" y="101159"/>
                </a:lnTo>
                <a:lnTo>
                  <a:pt x="0" y="110818"/>
                </a:lnTo>
                <a:lnTo>
                  <a:pt x="211" y="120476"/>
                </a:lnTo>
                <a:lnTo>
                  <a:pt x="842" y="130061"/>
                </a:lnTo>
                <a:lnTo>
                  <a:pt x="1888" y="139500"/>
                </a:lnTo>
                <a:lnTo>
                  <a:pt x="3342" y="148720"/>
                </a:lnTo>
                <a:lnTo>
                  <a:pt x="5191" y="157651"/>
                </a:lnTo>
                <a:lnTo>
                  <a:pt x="7423" y="166227"/>
                </a:lnTo>
                <a:lnTo>
                  <a:pt x="10021" y="174380"/>
                </a:lnTo>
                <a:lnTo>
                  <a:pt x="12963" y="182050"/>
                </a:lnTo>
                <a:lnTo>
                  <a:pt x="16229" y="189178"/>
                </a:lnTo>
                <a:lnTo>
                  <a:pt x="19793" y="195709"/>
                </a:lnTo>
                <a:lnTo>
                  <a:pt x="23628" y="201594"/>
                </a:lnTo>
                <a:lnTo>
                  <a:pt x="27704" y="206789"/>
                </a:lnTo>
                <a:lnTo>
                  <a:pt x="31992" y="211253"/>
                </a:lnTo>
                <a:lnTo>
                  <a:pt x="36458" y="214953"/>
                </a:lnTo>
                <a:lnTo>
                  <a:pt x="41068" y="217860"/>
                </a:lnTo>
                <a:lnTo>
                  <a:pt x="45787" y="219952"/>
                </a:lnTo>
                <a:lnTo>
                  <a:pt x="50580" y="221214"/>
                </a:lnTo>
                <a:lnTo>
                  <a:pt x="55409" y="221636"/>
                </a:lnTo>
                <a:lnTo>
                  <a:pt x="60238" y="221214"/>
                </a:lnTo>
                <a:lnTo>
                  <a:pt x="65031" y="219952"/>
                </a:lnTo>
                <a:lnTo>
                  <a:pt x="69750" y="217860"/>
                </a:lnTo>
                <a:lnTo>
                  <a:pt x="74360" y="214953"/>
                </a:lnTo>
                <a:lnTo>
                  <a:pt x="78826" y="211253"/>
                </a:lnTo>
                <a:lnTo>
                  <a:pt x="83113" y="206789"/>
                </a:lnTo>
                <a:lnTo>
                  <a:pt x="87190" y="201594"/>
                </a:lnTo>
                <a:lnTo>
                  <a:pt x="91025" y="195709"/>
                </a:lnTo>
                <a:lnTo>
                  <a:pt x="94589" y="189178"/>
                </a:lnTo>
                <a:lnTo>
                  <a:pt x="97855" y="182050"/>
                </a:lnTo>
                <a:lnTo>
                  <a:pt x="100797" y="174380"/>
                </a:lnTo>
                <a:lnTo>
                  <a:pt x="103394" y="166227"/>
                </a:lnTo>
                <a:lnTo>
                  <a:pt x="105626" y="157651"/>
                </a:lnTo>
                <a:lnTo>
                  <a:pt x="107476" y="148720"/>
                </a:lnTo>
                <a:lnTo>
                  <a:pt x="108930" y="139500"/>
                </a:lnTo>
                <a:lnTo>
                  <a:pt x="109976" y="130061"/>
                </a:lnTo>
                <a:lnTo>
                  <a:pt x="110607" y="120476"/>
                </a:lnTo>
                <a:close/>
              </a:path>
            </a:pathLst>
          </a:custGeom>
          <a:solidFill>
            <a:srgbClr val="F4B9AA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13" name="S15-mark160"/>
          <p:cNvSpPr/>
          <p:nvPr/>
        </p:nvSpPr>
        <p:spPr>
          <a:xfrm>
            <a:off x="2954637" y="3496769"/>
            <a:ext cx="6279677" cy="0"/>
          </a:xfrm>
          <a:prstGeom prst="line">
            <a:avLst/>
          </a:prstGeom>
          <a:noFill/>
          <a:ln w="28575">
            <a:solidFill>
              <a:srgbClr val="C2571A"/>
            </a:solidFill>
            <a:prstDash val="dash"/>
          </a:ln>
        </p:spPr>
      </p:sp>
      <p:sp>
        <p:nvSpPr>
          <p:cNvPr id="14" name="S15-label162"/>
          <p:cNvSpPr txBox="1"/>
          <p:nvPr/>
        </p:nvSpPr>
        <p:spPr>
          <a:xfrm>
            <a:off x="3691575" y="2097959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유럽</a:t>
            </a:r>
            <a:endParaRPr lang="ko-KR" sz="1800" dirty="0"/>
          </a:p>
        </p:txBody>
      </p:sp>
      <p:sp>
        <p:nvSpPr>
          <p:cNvPr id="15" name="S15-label164"/>
          <p:cNvSpPr txBox="1"/>
          <p:nvPr/>
        </p:nvSpPr>
        <p:spPr>
          <a:xfrm>
            <a:off x="4927845" y="2448882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아시아</a:t>
            </a:r>
            <a:endParaRPr lang="ko-KR" sz="1800" dirty="0"/>
          </a:p>
        </p:txBody>
      </p:sp>
      <p:sp>
        <p:nvSpPr>
          <p:cNvPr id="16" name="S15-label166"/>
          <p:cNvSpPr txBox="1"/>
          <p:nvPr/>
        </p:nvSpPr>
        <p:spPr>
          <a:xfrm>
            <a:off x="3615305" y="3076850"/>
            <a:ext cx="100584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아프리카</a:t>
            </a:r>
            <a:endParaRPr lang="ko-KR" sz="1800" dirty="0"/>
          </a:p>
        </p:txBody>
      </p:sp>
      <p:sp>
        <p:nvSpPr>
          <p:cNvPr id="17" name="S15-label168"/>
          <p:cNvSpPr txBox="1"/>
          <p:nvPr/>
        </p:nvSpPr>
        <p:spPr>
          <a:xfrm>
            <a:off x="5571890" y="3815635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오세아니아</a:t>
            </a:r>
            <a:endParaRPr lang="ko-KR" sz="1800" dirty="0"/>
          </a:p>
        </p:txBody>
      </p:sp>
      <p:sp>
        <p:nvSpPr>
          <p:cNvPr id="18" name="S15-label170"/>
          <p:cNvSpPr txBox="1"/>
          <p:nvPr/>
        </p:nvSpPr>
        <p:spPr>
          <a:xfrm>
            <a:off x="7363445" y="2079489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북아메리카</a:t>
            </a:r>
            <a:endParaRPr lang="ko-KR" sz="1800" dirty="0"/>
          </a:p>
        </p:txBody>
      </p:sp>
      <p:sp>
        <p:nvSpPr>
          <p:cNvPr id="19" name="S15-label172"/>
          <p:cNvSpPr txBox="1"/>
          <p:nvPr/>
        </p:nvSpPr>
        <p:spPr>
          <a:xfrm>
            <a:off x="7529672" y="3483182"/>
            <a:ext cx="122986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남아메리카</a:t>
            </a:r>
            <a:endParaRPr lang="ko-KR" sz="1800" dirty="0"/>
          </a:p>
        </p:txBody>
      </p:sp>
      <p:sp>
        <p:nvSpPr>
          <p:cNvPr id="20" name="S15-label174"/>
          <p:cNvSpPr txBox="1"/>
          <p:nvPr/>
        </p:nvSpPr>
        <p:spPr>
          <a:xfrm>
            <a:off x="6627052" y="307685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태평양</a:t>
            </a:r>
            <a:endParaRPr lang="ko-KR" sz="1800" dirty="0"/>
          </a:p>
        </p:txBody>
      </p:sp>
      <p:sp>
        <p:nvSpPr>
          <p:cNvPr id="21" name="S15-label176"/>
          <p:cNvSpPr txBox="1"/>
          <p:nvPr/>
        </p:nvSpPr>
        <p:spPr>
          <a:xfrm>
            <a:off x="8845801" y="2458646"/>
            <a:ext cx="33375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ko-KR" sz="1800" dirty="0"/>
          </a:p>
        </p:txBody>
      </p:sp>
      <p:sp>
        <p:nvSpPr>
          <p:cNvPr id="22" name="S15-label178"/>
          <p:cNvSpPr txBox="1"/>
          <p:nvPr/>
        </p:nvSpPr>
        <p:spPr>
          <a:xfrm>
            <a:off x="3064804" y="3456007"/>
            <a:ext cx="333756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</a:t>
            </a:r>
            <a:endParaRPr lang="ko-KR" sz="1800" dirty="0"/>
          </a:p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</a:t>
            </a:r>
            <a:endParaRPr lang="ko-KR" sz="1800" dirty="0"/>
          </a:p>
        </p:txBody>
      </p:sp>
      <p:sp>
        <p:nvSpPr>
          <p:cNvPr id="23" name="S15-label180"/>
          <p:cNvSpPr txBox="1"/>
          <p:nvPr/>
        </p:nvSpPr>
        <p:spPr>
          <a:xfrm>
            <a:off x="4687740" y="3594000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인도양</a:t>
            </a:r>
            <a:endParaRPr lang="ko-KR" sz="1800" dirty="0"/>
          </a:p>
        </p:txBody>
      </p:sp>
      <p:sp>
        <p:nvSpPr>
          <p:cNvPr id="24" name="S15-label182"/>
          <p:cNvSpPr txBox="1"/>
          <p:nvPr/>
        </p:nvSpPr>
        <p:spPr>
          <a:xfrm>
            <a:off x="6627052" y="1433052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북극해</a:t>
            </a:r>
            <a:endParaRPr lang="ko-KR" sz="1800" dirty="0"/>
          </a:p>
        </p:txBody>
      </p:sp>
      <p:sp>
        <p:nvSpPr>
          <p:cNvPr id="25" name="S15-label184"/>
          <p:cNvSpPr txBox="1"/>
          <p:nvPr/>
        </p:nvSpPr>
        <p:spPr>
          <a:xfrm>
            <a:off x="4780088" y="4295846"/>
            <a:ext cx="781812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2F6E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남극해</a:t>
            </a:r>
            <a:endParaRPr lang="ko-KR" sz="1800" dirty="0"/>
          </a:p>
        </p:txBody>
      </p:sp>
      <p:sp>
        <p:nvSpPr>
          <p:cNvPr id="26" name="S15-labelbg186"/>
          <p:cNvSpPr/>
          <p:nvPr/>
        </p:nvSpPr>
        <p:spPr>
          <a:xfrm>
            <a:off x="5011701" y="3253182"/>
            <a:ext cx="466344" cy="2286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15-label187"/>
          <p:cNvSpPr txBox="1"/>
          <p:nvPr/>
        </p:nvSpPr>
        <p:spPr>
          <a:xfrm>
            <a:off x="4965981" y="3224607"/>
            <a:ext cx="55778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C257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적도</a:t>
            </a:r>
            <a:endParaRPr lang="ko-KR" sz="1800" dirty="0"/>
          </a:p>
        </p:txBody>
      </p:sp>
      <p:sp>
        <p:nvSpPr>
          <p:cNvPr id="28" name="S15-label188"/>
          <p:cNvSpPr txBox="1"/>
          <p:nvPr/>
        </p:nvSpPr>
        <p:spPr>
          <a:xfrm>
            <a:off x="548640" y="4743450"/>
            <a:ext cx="11091672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간단히 나타낸 그림(실제 모양·크기와 달라요)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사회·역사 세계의 다양한 문화</dc:title>
  <dc:subject>KR22-G06-SOC-CULTURES-L01</dc:subject>
  <dc:creator>education-ppt</dc:creator>
  <cp:lastModifiedBy>education-ppt</cp:lastModifiedBy>
  <cp:revision>1</cp:revision>
  <dcterms:created xsi:type="dcterms:W3CDTF">2026-10-26T13:49:29Z</dcterms:created>
  <dcterms:modified xsi:type="dcterms:W3CDTF">2026-10-26T13:49:29Z</dcterms:modified>
</cp:coreProperties>
</file>