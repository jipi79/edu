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066c8d9-751c-2b39-da19-0630b22ddeea}">
          <p14:sldIdLst>
            <p14:sldId id="256"/>
            <p14:sldId id="257"/>
          </p14:sldIdLst>
        </p14:section>
        <p14:section name="개념" id="{684ed254-2821-8761-3036-46ce9b3ce8d1}">
          <p14:sldIdLst>
            <p14:sldId id="258"/>
            <p14:sldId id="259"/>
            <p14:sldId id="261"/>
            <p14:sldId id="262"/>
          </p14:sldIdLst>
        </p14:section>
        <p14:section name="연습" id="{de370128-bbf7-7a42-8e50-16cbea6eab4f}">
          <p14:sldIdLst>
            <p14:sldId id="260"/>
            <p14:sldId id="263"/>
            <p14:sldId id="264"/>
            <p14:sldId id="265"/>
          </p14:sldIdLst>
        </p14:section>
        <p14:section name="개념" id="{aeb0e3ba-9514-db89-0e86-b60b0dabe672}">
          <p14:sldIdLst/>
        </p14:section>
        <p14:section name="연습" id="{80c1fb8f-834e-9410-8f73-5448742a1964}">
          <p14:sldIdLst/>
        </p14:section>
        <p14:section name="확인" id="{103304be-1645-ad60-5fcf-a9d563e681f9}">
          <p14:sldIdLst>
            <p14:sldId id="266"/>
            <p14:sldId id="267"/>
          </p14:sldIdLst>
        </p14:section>
        <p14:section name="정리" id="{f70f350c-c0bf-4c28-896e-64edab805cf3}">
          <p14:sldIdLst>
            <p14:sldId id="268"/>
          </p14:sldIdLst>
        </p14:section>
        <p14:section name="보충" id="{0f4bfa5c-81ef-6ae9-0d78-cc308fc467a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세계와공존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지구촌 문제와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지구촌 문제와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지구촌 문제와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 문제와 협력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나라가 함께 풀어야 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무엇일까요?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지구촌 공동 문제를 찾고, 함께 풀어야 하는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협력 방법을 토의하고 나의 실천을 정해요.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건조한 곳의 흙벽돌집은 왜 벽이 두꺼울까요?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문화를 만날 때 먼저 생각할 것은?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 나라 사람은 모두 ~해’를 존중하는 말로 바꾸면?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풀어야 할 지구촌 문제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지구촌: 세계가 한 마을처럼 가깝게 이어진 것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문제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 변화, 바다 쓰레기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등이 여러 나라에 퍼져요.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빈곤과 굶주림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먹을거리·깨끗한 물·학교가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모자란 사람들이 있어요.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분쟁과 난민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다툼을 피해 집을 떠난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사람(난민)이 생겨요.</a:t>
            </a:r>
            <a:endParaRPr lang="ko-KR" sz="2800" dirty="0"/>
          </a:p>
        </p:txBody>
      </p:sp>
      <p:sp>
        <p:nvSpPr>
          <p:cNvPr id="10" name="S03-card16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병이 사람을 따라 여러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나라로 퍼질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함께 풀어야 할까요?</a:t>
            </a:r>
            <a:endParaRPr lang="ko-KR" sz="40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 쓰레기는 어떻게 다른 나라로 갈까요?</a:t>
            </a:r>
            <a:endParaRPr lang="ko-KR" sz="2800" dirty="0"/>
          </a:p>
        </p:txBody>
      </p:sp>
      <p:sp>
        <p:nvSpPr>
          <p:cNvPr id="4" name="S04-card19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국경을 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여러 나라로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퍼지고 이어져요.</a:t>
            </a:r>
            <a:endParaRPr lang="ko-KR" sz="2800" dirty="0"/>
          </a:p>
        </p:txBody>
      </p:sp>
      <p:sp>
        <p:nvSpPr>
          <p:cNvPr id="6" name="S04-card21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2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나라의 힘만으로는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풀기 어려워요.</a:t>
            </a:r>
            <a:endParaRPr lang="ko-KR" sz="2800" dirty="0"/>
          </a:p>
        </p:txBody>
      </p:sp>
      <p:sp>
        <p:nvSpPr>
          <p:cNvPr id="8" name="S04-step23"/>
          <p:cNvSpPr txBox="1"/>
          <p:nvPr/>
        </p:nvSpPr>
        <p:spPr>
          <a:xfrm>
            <a:off x="1293876" y="2462784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나라에서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바다로 가요</a:t>
            </a:r>
            <a:endParaRPr lang="ko-KR" sz="2600" dirty="0"/>
          </a:p>
        </p:txBody>
      </p:sp>
      <p:sp>
        <p:nvSpPr>
          <p:cNvPr id="9" name="S04-line24"/>
          <p:cNvSpPr/>
          <p:nvPr/>
        </p:nvSpPr>
        <p:spPr>
          <a:xfrm>
            <a:off x="4274820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4-step25"/>
          <p:cNvSpPr txBox="1"/>
          <p:nvPr/>
        </p:nvSpPr>
        <p:spPr>
          <a:xfrm>
            <a:off x="4631436" y="2462784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멀리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흘러가요</a:t>
            </a:r>
            <a:endParaRPr lang="ko-KR" sz="2600" dirty="0"/>
          </a:p>
        </p:txBody>
      </p:sp>
      <p:sp>
        <p:nvSpPr>
          <p:cNvPr id="11" name="S04-line26"/>
          <p:cNvSpPr/>
          <p:nvPr/>
        </p:nvSpPr>
        <p:spPr>
          <a:xfrm>
            <a:off x="7612380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4-step27"/>
          <p:cNvSpPr txBox="1"/>
          <p:nvPr/>
        </p:nvSpPr>
        <p:spPr>
          <a:xfrm>
            <a:off x="7968996" y="2462784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쌓여요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문제일까요?</a:t>
            </a:r>
            <a:endParaRPr lang="ko-KR" sz="40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가운데 어떤 지구촌 문제인지 말해요.</a:t>
            </a:r>
            <a:endParaRPr lang="ko-KR" sz="2800" dirty="0"/>
          </a:p>
        </p:txBody>
      </p:sp>
      <p:sp>
        <p:nvSpPr>
          <p:cNvPr id="4" name="S05-chip2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5-text3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가뭄이 이어져 먹을거리가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모자란 마을이 있어요.</a:t>
            </a:r>
            <a:endParaRPr lang="ko-KR" sz="2800" dirty="0"/>
          </a:p>
        </p:txBody>
      </p:sp>
      <p:sp>
        <p:nvSpPr>
          <p:cNvPr id="6" name="S05-chip3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5-text3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떠다니는 플라스틱이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나라로 밀려와요.</a:t>
            </a:r>
            <a:endParaRPr lang="ko-KR" sz="2800" dirty="0"/>
          </a:p>
        </p:txBody>
      </p:sp>
      <p:sp>
        <p:nvSpPr>
          <p:cNvPr id="8" name="S05-chip3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5-text3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오랜 다툼을 피해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이웃 나라로 갔어요.</a:t>
            </a:r>
            <a:endParaRPr lang="ko-KR" sz="2800" dirty="0"/>
          </a:p>
        </p:txBody>
      </p:sp>
      <p:sp>
        <p:nvSpPr>
          <p:cNvPr id="10" name="S05-chip3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5-text3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감염병이 여행하는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따라 퍼졌어요.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국제기구가 하는 일</a:t>
            </a:r>
            <a:endParaRPr lang="ko-KR" sz="40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국제기구: 여러 나라가 함께 만든 기구예요.</a:t>
            </a:r>
            <a:endParaRPr lang="ko-KR" sz="2800" dirty="0"/>
          </a:p>
        </p:txBody>
      </p:sp>
      <p:graphicFrame>
        <p:nvGraphicFramePr>
          <p:cNvPr id="7" name="S06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91084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국제기구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 연합(유엔)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 평화를 지키고 여러 나라의 협력을 도와요.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유니세프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어려움에 처한 어린이의 건강과 교육을 도와요.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 보건 기구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감염병을 막고 사람들의 건강을 지키도록 도와요.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유엔 난민 기구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집을 떠나 피한 사람(난민)을 보호해요.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시민과 나도 함께해요</a:t>
            </a:r>
            <a:endParaRPr lang="ko-KR" sz="4000" dirty="0"/>
          </a:p>
        </p:txBody>
      </p:sp>
      <p:sp>
        <p:nvSpPr>
          <p:cNvPr id="3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돕는 일은 함께 사는 이웃끼리 하는 협력이에요.</a:t>
            </a:r>
            <a:endParaRPr lang="ko-KR" sz="2800" dirty="0"/>
          </a:p>
        </p:txBody>
      </p:sp>
      <p:sp>
        <p:nvSpPr>
          <p:cNvPr id="5" name="S07-card4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비정부 기구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정부가 아닌 시민들이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단체예요.</a:t>
            </a:r>
            <a:endParaRPr lang="ko-KR" sz="2800" dirty="0"/>
          </a:p>
        </p:txBody>
      </p:sp>
      <p:sp>
        <p:nvSpPr>
          <p:cNvPr id="7" name="S07-card4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나라끼리 약속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협약을 맺고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지켜요.</a:t>
            </a:r>
            <a:endParaRPr lang="ko-KR" sz="2800" dirty="0"/>
          </a:p>
        </p:txBody>
      </p:sp>
      <p:sp>
        <p:nvSpPr>
          <p:cNvPr id="9" name="S07-card4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실천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갖고, 아껴 쓰고,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돕는 일에 참여해요.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어떻게 도울까요?</a:t>
            </a:r>
            <a:endParaRPr lang="ko-KR" sz="4000" dirty="0"/>
          </a:p>
        </p:txBody>
      </p:sp>
      <p:sp>
        <p:nvSpPr>
          <p:cNvPr id="3" name="S08-chip4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8-text4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감염병을 막고 건강을 지키도록 돕는 국제기구는?</a:t>
            </a:r>
            <a:endParaRPr lang="ko-KR" sz="2800" dirty="0"/>
          </a:p>
        </p:txBody>
      </p:sp>
      <p:sp>
        <p:nvSpPr>
          <p:cNvPr id="5" name="S08-chip4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8-text5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정부가 아닌 시민들이 만든 단체를 무엇이라고 하나요?</a:t>
            </a:r>
            <a:endParaRPr lang="ko-KR" sz="2800" dirty="0"/>
          </a:p>
        </p:txBody>
      </p:sp>
      <p:sp>
        <p:nvSpPr>
          <p:cNvPr id="7" name="S08-chip5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8-text5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 쓰레기를 줄이려고 내가 할 수 있는 일 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할 수 있을까요?</a:t>
            </a:r>
            <a:endParaRPr lang="ko-KR" sz="4000" dirty="0"/>
          </a:p>
        </p:txBody>
      </p:sp>
      <p:sp>
        <p:nvSpPr>
          <p:cNvPr id="3" name="S09-card5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 문제는 너무 크고 멀게 느껴져요.</a:t>
            </a:r>
            <a:endParaRPr lang="ko-KR" sz="2800" dirty="0"/>
          </a:p>
        </p:txBody>
      </p:sp>
      <p:sp>
        <p:nvSpPr>
          <p:cNvPr id="5" name="S09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생각에 더 찬성하나요? 왜 그럴까요?</a:t>
            </a:r>
            <a:endParaRPr lang="ko-KR" sz="2800" dirty="0"/>
          </a:p>
        </p:txBody>
      </p:sp>
      <p:sp>
        <p:nvSpPr>
          <p:cNvPr id="7" name="S09-chip5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5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어린이라서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있는 일이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없어요.”</a:t>
            </a:r>
            <a:endParaRPr lang="ko-KR" sz="2800" dirty="0"/>
          </a:p>
        </p:txBody>
      </p:sp>
      <p:sp>
        <p:nvSpPr>
          <p:cNvPr id="9" name="S09-chip5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6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“작은 일이라도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함께 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돼요.”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토의해요</a:t>
            </a:r>
            <a:endParaRPr lang="ko-KR" sz="4000" dirty="0"/>
          </a:p>
        </p:txBody>
      </p:sp>
      <p:sp>
        <p:nvSpPr>
          <p:cNvPr id="3" name="S10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이야기해요.</a:t>
            </a:r>
            <a:endParaRPr lang="ko-KR" sz="2800" dirty="0"/>
          </a:p>
        </p:txBody>
      </p:sp>
      <p:sp>
        <p:nvSpPr>
          <p:cNvPr id="4" name="S10-card62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3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문제와 까닭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방법 두 가지 이상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‘언제, 무엇을’ 실천 정하기</a:t>
            </a:r>
            <a:endParaRPr lang="ko-KR" sz="2800" dirty="0"/>
          </a:p>
        </p:txBody>
      </p:sp>
      <p:sp>
        <p:nvSpPr>
          <p:cNvPr id="6" name="S10-stepno64"/>
          <p:cNvSpPr txBox="1"/>
          <p:nvPr/>
        </p:nvSpPr>
        <p:spPr>
          <a:xfrm>
            <a:off x="548640" y="2292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0-text65"/>
          <p:cNvSpPr txBox="1"/>
          <p:nvPr/>
        </p:nvSpPr>
        <p:spPr>
          <a:xfrm>
            <a:off x="1325880" y="2292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 문제 하나를 골라요.</a:t>
            </a:r>
            <a:endParaRPr lang="ko-KR" sz="2800" dirty="0"/>
          </a:p>
        </p:txBody>
      </p:sp>
      <p:sp>
        <p:nvSpPr>
          <p:cNvPr id="8" name="S10-stepno66"/>
          <p:cNvSpPr txBox="1"/>
          <p:nvPr/>
        </p:nvSpPr>
        <p:spPr>
          <a:xfrm>
            <a:off x="548640" y="3051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0-text67"/>
          <p:cNvSpPr txBox="1"/>
          <p:nvPr/>
        </p:nvSpPr>
        <p:spPr>
          <a:xfrm>
            <a:off x="1325880" y="30053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생기는지, 누가 힘든지 말해요.</a:t>
            </a:r>
            <a:endParaRPr lang="ko-KR" sz="2800" dirty="0"/>
          </a:p>
        </p:txBody>
      </p:sp>
      <p:sp>
        <p:nvSpPr>
          <p:cNvPr id="10" name="S10-stepno68"/>
          <p:cNvSpPr txBox="1"/>
          <p:nvPr/>
        </p:nvSpPr>
        <p:spPr>
          <a:xfrm>
            <a:off x="548640" y="4083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0-text69"/>
          <p:cNvSpPr txBox="1"/>
          <p:nvPr/>
        </p:nvSpPr>
        <p:spPr>
          <a:xfrm>
            <a:off x="1325880" y="40375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나라·단체·나의 방법을 나눠 말해요.</a:t>
            </a:r>
            <a:endParaRPr lang="ko-KR" sz="2800" dirty="0"/>
          </a:p>
        </p:txBody>
      </p:sp>
      <p:sp>
        <p:nvSpPr>
          <p:cNvPr id="12" name="S10-stepno70"/>
          <p:cNvSpPr txBox="1"/>
          <p:nvPr/>
        </p:nvSpPr>
        <p:spPr>
          <a:xfrm>
            <a:off x="548640" y="5115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0-text71"/>
          <p:cNvSpPr txBox="1"/>
          <p:nvPr/>
        </p:nvSpPr>
        <p:spPr>
          <a:xfrm>
            <a:off x="1325880" y="5069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할 일 하나를 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72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‘초록강’은 세 나라를 지나 흘러요. 위쪽 나라에서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더러운 물이 흘러 들어 아래쪽 나라의 물고기가 줄었어요.</a:t>
            </a:r>
            <a:endParaRPr lang="ko-KR" sz="2800" dirty="0"/>
          </a:p>
        </p:txBody>
      </p:sp>
      <p:sp>
        <p:nvSpPr>
          <p:cNvPr id="4" name="S11-chip73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74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지구촌 문제인가요?</a:t>
            </a:r>
            <a:endParaRPr lang="ko-KR" sz="2800" dirty="0"/>
          </a:p>
        </p:txBody>
      </p:sp>
      <p:sp>
        <p:nvSpPr>
          <p:cNvPr id="6" name="S11-chip75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76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나라의 노력만으로 풀기 어려운 까닭은?</a:t>
            </a:r>
            <a:endParaRPr lang="ko-KR" sz="2800" dirty="0"/>
          </a:p>
        </p:txBody>
      </p:sp>
      <p:sp>
        <p:nvSpPr>
          <p:cNvPr id="8" name="S11-chip77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78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하면 좋을지 두 가지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chip7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8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국제기구와 비정부 기구는 무엇이 다른가요?</a:t>
            </a:r>
            <a:endParaRPr lang="ko-KR" sz="2800" dirty="0"/>
          </a:p>
        </p:txBody>
      </p:sp>
      <p:sp>
        <p:nvSpPr>
          <p:cNvPr id="5" name="S13-chip8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8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감염병을 막으려고 나라끼리 할 일 하나, 내가 할 일 하나는?</a:t>
            </a:r>
            <a:endParaRPr lang="ko-KR" sz="2800" dirty="0"/>
          </a:p>
        </p:txBody>
      </p:sp>
      <p:sp>
        <p:nvSpPr>
          <p:cNvPr id="7" name="S13-chip8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3-text8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실천 약속을 ‘언제, 무엇을’로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 문제는 국경을 넘어 이어져 있어 함께 풀어야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국제기구, 시민 단체, 그리고 나도 함께할 수 있어요.</a:t>
            </a:r>
            <a:endParaRPr lang="ko-KR" sz="2800" dirty="0"/>
          </a:p>
        </p:txBody>
      </p:sp>
      <p:sp>
        <p:nvSpPr>
          <p:cNvPr id="5" name="S14-chip8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작은 실천을 꾸준히 하기</a:t>
            </a:r>
            <a:endParaRPr lang="ko-KR" sz="2200" dirty="0"/>
          </a:p>
        </p:txBody>
      </p:sp>
      <p:sp>
        <p:nvSpPr>
          <p:cNvPr id="6" name="S14-chip8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“나와 상관없어” 하기</a:t>
            </a:r>
            <a:endParaRPr lang="ko-KR" sz="2200" dirty="0"/>
          </a:p>
        </p:txBody>
      </p:sp>
      <p:sp>
        <p:nvSpPr>
          <p:cNvPr id="7" name="S14-text8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지구촌 공동 문제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200" dirty="0"/>
          </a:p>
        </p:txBody>
      </p:sp>
      <p:sp>
        <p:nvSpPr>
          <p:cNvPr id="9" name="S14-text9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감염병과 관계 깊은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국제기구는?</a:t>
            </a:r>
            <a:endParaRPr lang="ko-KR" sz="2200" dirty="0"/>
          </a:p>
        </p:txBody>
      </p:sp>
      <p:sp>
        <p:nvSpPr>
          <p:cNvPr id="10" name="S14-text9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이번 주에 실천한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한 가지는?</a:t>
            </a:r>
            <a:endParaRPr lang="ko-KR" sz="2200" dirty="0"/>
          </a:p>
        </p:txBody>
      </p:sp>
      <p:sp>
        <p:nvSpPr>
          <p:cNvPr id="11" name="S14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자기 성찰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서로 다른 생활 다시 보기</a:t>
            </a:r>
            <a:endParaRPr lang="ko-KR" sz="4000" dirty="0"/>
          </a:p>
        </p:txBody>
      </p:sp>
      <p:sp>
        <p:nvSpPr>
          <p:cNvPr id="3" name="S15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자연환경에 맞게 살아온 모습을 까닭과 함께 존중해요.</a:t>
            </a:r>
            <a:endParaRPr lang="ko-KR" sz="2800" dirty="0"/>
          </a:p>
        </p:txBody>
      </p:sp>
      <p:sp>
        <p:nvSpPr>
          <p:cNvPr id="5" name="S15-figure96" descr="간단히 나타낸 집 가: 흙색 벽이 두껍고 작은 창문이 두 개, 지붕은 평평함. 위에 강한 해"/>
          <p:cNvSpPr/>
          <p:nvPr/>
        </p:nvSpPr>
        <p:spPr>
          <a:xfrm>
            <a:off x="632460" y="4129638"/>
            <a:ext cx="3316224" cy="179255"/>
          </a:xfrm>
          <a:custGeom>
            <a:avLst/>
            <a:gdLst/>
            <a:ahLst/>
            <a:cxnLst/>
            <a:rect l="l" t="t" r="r" b="b"/>
            <a:pathLst>
              <a:path w="3316224" h="179255">
                <a:moveTo>
                  <a:pt x="0" y="179255"/>
                </a:moveTo>
                <a:lnTo>
                  <a:pt x="3316224" y="179255"/>
                </a:lnTo>
                <a:lnTo>
                  <a:pt x="3316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5A9"/>
          </a:solidFill>
          <a:ln/>
        </p:spPr>
      </p:sp>
      <p:sp>
        <p:nvSpPr>
          <p:cNvPr id="6" name="S15-mark97"/>
          <p:cNvSpPr/>
          <p:nvPr/>
        </p:nvSpPr>
        <p:spPr>
          <a:xfrm>
            <a:off x="990971" y="2785223"/>
            <a:ext cx="2240692" cy="1344415"/>
          </a:xfrm>
          <a:custGeom>
            <a:avLst/>
            <a:gdLst/>
            <a:ahLst/>
            <a:cxnLst/>
            <a:rect l="l" t="t" r="r" b="b"/>
            <a:pathLst>
              <a:path w="2240692" h="1344415">
                <a:moveTo>
                  <a:pt x="0" y="1344415"/>
                </a:moveTo>
                <a:lnTo>
                  <a:pt x="2240692" y="1344415"/>
                </a:lnTo>
                <a:lnTo>
                  <a:pt x="2240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B38C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98"/>
          <p:cNvSpPr/>
          <p:nvPr/>
        </p:nvSpPr>
        <p:spPr>
          <a:xfrm>
            <a:off x="878936" y="2583561"/>
            <a:ext cx="2464761" cy="201662"/>
          </a:xfrm>
          <a:custGeom>
            <a:avLst/>
            <a:gdLst/>
            <a:ahLst/>
            <a:cxnLst/>
            <a:rect l="l" t="t" r="r" b="b"/>
            <a:pathLst>
              <a:path w="2464761" h="201662">
                <a:moveTo>
                  <a:pt x="0" y="201662"/>
                </a:moveTo>
                <a:lnTo>
                  <a:pt x="2464761" y="201662"/>
                </a:lnTo>
                <a:lnTo>
                  <a:pt x="24647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A5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mark99"/>
          <p:cNvSpPr/>
          <p:nvPr/>
        </p:nvSpPr>
        <p:spPr>
          <a:xfrm>
            <a:off x="1394295" y="3054106"/>
            <a:ext cx="246476" cy="224069"/>
          </a:xfrm>
          <a:custGeom>
            <a:avLst/>
            <a:gdLst/>
            <a:ahLst/>
            <a:cxnLst/>
            <a:rect l="l" t="t" r="r" b="b"/>
            <a:pathLst>
              <a:path w="246476" h="224069">
                <a:moveTo>
                  <a:pt x="0" y="224069"/>
                </a:moveTo>
                <a:lnTo>
                  <a:pt x="246476" y="224069"/>
                </a:lnTo>
                <a:lnTo>
                  <a:pt x="2464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B463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mark100"/>
          <p:cNvSpPr/>
          <p:nvPr/>
        </p:nvSpPr>
        <p:spPr>
          <a:xfrm>
            <a:off x="2581862" y="3054106"/>
            <a:ext cx="246476" cy="224069"/>
          </a:xfrm>
          <a:custGeom>
            <a:avLst/>
            <a:gdLst/>
            <a:ahLst/>
            <a:cxnLst/>
            <a:rect l="l" t="t" r="r" b="b"/>
            <a:pathLst>
              <a:path w="246476" h="224069">
                <a:moveTo>
                  <a:pt x="0" y="224069"/>
                </a:moveTo>
                <a:lnTo>
                  <a:pt x="246476" y="224069"/>
                </a:lnTo>
                <a:lnTo>
                  <a:pt x="2464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B463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mark101"/>
          <p:cNvSpPr/>
          <p:nvPr/>
        </p:nvSpPr>
        <p:spPr>
          <a:xfrm>
            <a:off x="1932061" y="3457431"/>
            <a:ext cx="358511" cy="672208"/>
          </a:xfrm>
          <a:custGeom>
            <a:avLst/>
            <a:gdLst/>
            <a:ahLst/>
            <a:cxnLst/>
            <a:rect l="l" t="t" r="r" b="b"/>
            <a:pathLst>
              <a:path w="358511" h="672208">
                <a:moveTo>
                  <a:pt x="0" y="672208"/>
                </a:moveTo>
                <a:lnTo>
                  <a:pt x="358511" y="672208"/>
                </a:lnTo>
                <a:lnTo>
                  <a:pt x="3585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A6A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mark102"/>
          <p:cNvSpPr/>
          <p:nvPr/>
        </p:nvSpPr>
        <p:spPr>
          <a:xfrm>
            <a:off x="3276476" y="1844133"/>
            <a:ext cx="448138" cy="448138"/>
          </a:xfrm>
          <a:prstGeom prst="ellipse">
            <a:avLst/>
          </a:prstGeom>
          <a:solidFill>
            <a:srgbClr val="F2C14E"/>
          </a:solidFill>
          <a:ln w="19050">
            <a:solidFill>
              <a:srgbClr val="C98A00"/>
            </a:solidFill>
            <a:prstDash val="solid"/>
          </a:ln>
        </p:spPr>
      </p:sp>
      <p:sp>
        <p:nvSpPr>
          <p:cNvPr id="12" name="S15-mark103"/>
          <p:cNvSpPr/>
          <p:nvPr/>
        </p:nvSpPr>
        <p:spPr>
          <a:xfrm flipH="1">
            <a:off x="2985186" y="2068202"/>
            <a:ext cx="134442" cy="0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3" name="S15-mark104"/>
          <p:cNvSpPr/>
          <p:nvPr/>
        </p:nvSpPr>
        <p:spPr>
          <a:xfrm flipH="1">
            <a:off x="3119628" y="2337085"/>
            <a:ext cx="112035" cy="112035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4" name="S15-mark105"/>
          <p:cNvSpPr/>
          <p:nvPr/>
        </p:nvSpPr>
        <p:spPr>
          <a:xfrm>
            <a:off x="3500546" y="2449119"/>
            <a:ext cx="0" cy="112035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5" name="S15-mark106"/>
          <p:cNvSpPr/>
          <p:nvPr/>
        </p:nvSpPr>
        <p:spPr>
          <a:xfrm flipH="1" flipV="1">
            <a:off x="3119628" y="1687284"/>
            <a:ext cx="112035" cy="112035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6" name="S15-label107"/>
          <p:cNvSpPr txBox="1"/>
          <p:nvPr/>
        </p:nvSpPr>
        <p:spPr>
          <a:xfrm>
            <a:off x="548640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덥고 건조한 곳</a:t>
            </a:r>
            <a:endParaRPr lang="ko-KR" sz="2200" dirty="0"/>
          </a:p>
        </p:txBody>
      </p:sp>
      <p:sp>
        <p:nvSpPr>
          <p:cNvPr id="17" name="S15-figure108" descr="간단히 나타낸 집 나: 기둥 위에 올려 땅에서 띄운 나무집, 지붕은 높고 가파름. 위에서 비가 내림"/>
          <p:cNvSpPr/>
          <p:nvPr/>
        </p:nvSpPr>
        <p:spPr>
          <a:xfrm>
            <a:off x="4552804" y="4399609"/>
            <a:ext cx="3083343" cy="186869"/>
          </a:xfrm>
          <a:custGeom>
            <a:avLst/>
            <a:gdLst/>
            <a:ahLst/>
            <a:cxnLst/>
            <a:rect l="l" t="t" r="r" b="b"/>
            <a:pathLst>
              <a:path w="3083343" h="186869">
                <a:moveTo>
                  <a:pt x="0" y="186869"/>
                </a:moveTo>
                <a:lnTo>
                  <a:pt x="3083343" y="186869"/>
                </a:lnTo>
                <a:lnTo>
                  <a:pt x="308334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D7A0"/>
          </a:solidFill>
          <a:ln/>
        </p:spPr>
      </p:sp>
      <p:sp>
        <p:nvSpPr>
          <p:cNvPr id="18" name="S15-mark109"/>
          <p:cNvSpPr/>
          <p:nvPr/>
        </p:nvSpPr>
        <p:spPr>
          <a:xfrm>
            <a:off x="4879826" y="3605414"/>
            <a:ext cx="2429301" cy="140152"/>
          </a:xfrm>
          <a:custGeom>
            <a:avLst/>
            <a:gdLst/>
            <a:ahLst/>
            <a:cxnLst/>
            <a:rect l="l" t="t" r="r" b="b"/>
            <a:pathLst>
              <a:path w="2429301" h="140152">
                <a:moveTo>
                  <a:pt x="0" y="140152"/>
                </a:moveTo>
                <a:lnTo>
                  <a:pt x="2429301" y="140152"/>
                </a:lnTo>
                <a:lnTo>
                  <a:pt x="2429301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A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15-mark110"/>
          <p:cNvSpPr/>
          <p:nvPr/>
        </p:nvSpPr>
        <p:spPr>
          <a:xfrm>
            <a:off x="5113412" y="2951372"/>
            <a:ext cx="1962128" cy="654043"/>
          </a:xfrm>
          <a:custGeom>
            <a:avLst/>
            <a:gdLst/>
            <a:ahLst/>
            <a:cxnLst/>
            <a:rect l="l" t="t" r="r" b="b"/>
            <a:pathLst>
              <a:path w="1962128" h="654043">
                <a:moveTo>
                  <a:pt x="0" y="654043"/>
                </a:moveTo>
                <a:lnTo>
                  <a:pt x="1962128" y="654043"/>
                </a:lnTo>
                <a:lnTo>
                  <a:pt x="1962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8B77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mark111"/>
          <p:cNvSpPr/>
          <p:nvPr/>
        </p:nvSpPr>
        <p:spPr>
          <a:xfrm>
            <a:off x="4692956" y="1830156"/>
            <a:ext cx="2803039" cy="1121216"/>
          </a:xfrm>
          <a:custGeom>
            <a:avLst/>
            <a:gdLst/>
            <a:ahLst/>
            <a:cxnLst/>
            <a:rect l="l" t="t" r="r" b="b"/>
            <a:pathLst>
              <a:path w="2803039" h="1121216">
                <a:moveTo>
                  <a:pt x="0" y="1121216"/>
                </a:moveTo>
                <a:lnTo>
                  <a:pt x="2803039" y="1121216"/>
                </a:lnTo>
                <a:lnTo>
                  <a:pt x="1401520" y="0"/>
                </a:lnTo>
                <a:close/>
              </a:path>
            </a:pathLst>
          </a:custGeom>
          <a:solidFill>
            <a:srgbClr val="B58B3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mark112"/>
          <p:cNvSpPr/>
          <p:nvPr/>
        </p:nvSpPr>
        <p:spPr>
          <a:xfrm>
            <a:off x="5860889" y="3091524"/>
            <a:ext cx="420456" cy="513891"/>
          </a:xfrm>
          <a:custGeom>
            <a:avLst/>
            <a:gdLst/>
            <a:ahLst/>
            <a:cxnLst/>
            <a:rect l="l" t="t" r="r" b="b"/>
            <a:pathLst>
              <a:path w="420456" h="513891">
                <a:moveTo>
                  <a:pt x="0" y="513891"/>
                </a:moveTo>
                <a:lnTo>
                  <a:pt x="420456" y="513891"/>
                </a:lnTo>
                <a:lnTo>
                  <a:pt x="420456" y="0"/>
                </a:lnTo>
                <a:lnTo>
                  <a:pt x="0" y="0"/>
                </a:lnTo>
                <a:close/>
              </a:path>
            </a:pathLst>
          </a:custGeom>
          <a:solidFill>
            <a:srgbClr val="8A6A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mark113"/>
          <p:cNvSpPr/>
          <p:nvPr/>
        </p:nvSpPr>
        <p:spPr>
          <a:xfrm flipV="1">
            <a:off x="5066695" y="3745566"/>
            <a:ext cx="0" cy="654043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3" name="S15-mark114"/>
          <p:cNvSpPr/>
          <p:nvPr/>
        </p:nvSpPr>
        <p:spPr>
          <a:xfrm flipV="1">
            <a:off x="5767455" y="3745566"/>
            <a:ext cx="0" cy="654043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4" name="S15-mark115"/>
          <p:cNvSpPr/>
          <p:nvPr/>
        </p:nvSpPr>
        <p:spPr>
          <a:xfrm flipV="1">
            <a:off x="6421497" y="3745566"/>
            <a:ext cx="0" cy="654043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5" name="S15-mark116"/>
          <p:cNvSpPr/>
          <p:nvPr/>
        </p:nvSpPr>
        <p:spPr>
          <a:xfrm flipV="1">
            <a:off x="7122257" y="3745566"/>
            <a:ext cx="0" cy="654043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6" name="S15-mark117"/>
          <p:cNvSpPr/>
          <p:nvPr/>
        </p:nvSpPr>
        <p:spPr>
          <a:xfrm flipH="1">
            <a:off x="4903184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27" name="S15-mark118"/>
          <p:cNvSpPr/>
          <p:nvPr/>
        </p:nvSpPr>
        <p:spPr>
          <a:xfrm flipH="1">
            <a:off x="5463792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28" name="S15-mark119"/>
          <p:cNvSpPr/>
          <p:nvPr/>
        </p:nvSpPr>
        <p:spPr>
          <a:xfrm flipH="1">
            <a:off x="6024400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29" name="S15-mark120"/>
          <p:cNvSpPr/>
          <p:nvPr/>
        </p:nvSpPr>
        <p:spPr>
          <a:xfrm flipH="1">
            <a:off x="6585008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0" name="S15-mark121"/>
          <p:cNvSpPr/>
          <p:nvPr/>
        </p:nvSpPr>
        <p:spPr>
          <a:xfrm flipH="1">
            <a:off x="7145616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1" name="S15-label122"/>
          <p:cNvSpPr txBox="1"/>
          <p:nvPr/>
        </p:nvSpPr>
        <p:spPr>
          <a:xfrm>
            <a:off x="4352544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덥고 비가 많은 곳</a:t>
            </a:r>
            <a:endParaRPr lang="ko-KR" sz="2200" dirty="0"/>
          </a:p>
        </p:txBody>
      </p:sp>
      <p:sp>
        <p:nvSpPr>
          <p:cNvPr id="32" name="S15-figure123" descr="간단히 나타낸 집 다: 통나무를 쌓은 벽, 작은 창문, 눈이 덮인 가파른 지붕과 굴뚝. 둘레에 눈송이"/>
          <p:cNvSpPr/>
          <p:nvPr/>
        </p:nvSpPr>
        <p:spPr>
          <a:xfrm>
            <a:off x="8240268" y="4339209"/>
            <a:ext cx="3316224" cy="195072"/>
          </a:xfrm>
          <a:custGeom>
            <a:avLst/>
            <a:gdLst/>
            <a:ahLst/>
            <a:cxnLst/>
            <a:rect l="l" t="t" r="r" b="b"/>
            <a:pathLst>
              <a:path w="3316224" h="195072">
                <a:moveTo>
                  <a:pt x="0" y="195072"/>
                </a:moveTo>
                <a:lnTo>
                  <a:pt x="3316224" y="195072"/>
                </a:lnTo>
                <a:lnTo>
                  <a:pt x="3316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33" name="S15-mark124"/>
          <p:cNvSpPr/>
          <p:nvPr/>
        </p:nvSpPr>
        <p:spPr>
          <a:xfrm>
            <a:off x="8630412" y="2973705"/>
            <a:ext cx="2438400" cy="1365504"/>
          </a:xfrm>
          <a:custGeom>
            <a:avLst/>
            <a:gdLst/>
            <a:ahLst/>
            <a:cxnLst/>
            <a:rect l="l" t="t" r="r" b="b"/>
            <a:pathLst>
              <a:path w="2438400" h="1365504">
                <a:moveTo>
                  <a:pt x="0" y="1365504"/>
                </a:moveTo>
                <a:lnTo>
                  <a:pt x="2438400" y="1365504"/>
                </a:lnTo>
                <a:lnTo>
                  <a:pt x="243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A4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5-mark125"/>
          <p:cNvSpPr/>
          <p:nvPr/>
        </p:nvSpPr>
        <p:spPr>
          <a:xfrm>
            <a:off x="10386060" y="2144649"/>
            <a:ext cx="243840" cy="487680"/>
          </a:xfrm>
          <a:custGeom>
            <a:avLst/>
            <a:gdLst/>
            <a:ahLst/>
            <a:cxnLst/>
            <a:rect l="l" t="t" r="r" b="b"/>
            <a:pathLst>
              <a:path w="243840" h="487680">
                <a:moveTo>
                  <a:pt x="0" y="487680"/>
                </a:moveTo>
                <a:lnTo>
                  <a:pt x="243840" y="487680"/>
                </a:lnTo>
                <a:lnTo>
                  <a:pt x="243840" y="0"/>
                </a:lnTo>
                <a:lnTo>
                  <a:pt x="0" y="0"/>
                </a:lnTo>
                <a:close/>
              </a:path>
            </a:pathLst>
          </a:custGeom>
          <a:solidFill>
            <a:srgbClr val="7A5A44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15-mark126"/>
          <p:cNvSpPr/>
          <p:nvPr/>
        </p:nvSpPr>
        <p:spPr>
          <a:xfrm>
            <a:off x="8435340" y="1998345"/>
            <a:ext cx="2828544" cy="975360"/>
          </a:xfrm>
          <a:custGeom>
            <a:avLst/>
            <a:gdLst/>
            <a:ahLst/>
            <a:cxnLst/>
            <a:rect l="l" t="t" r="r" b="b"/>
            <a:pathLst>
              <a:path w="2828544" h="975360">
                <a:moveTo>
                  <a:pt x="0" y="975360"/>
                </a:moveTo>
                <a:lnTo>
                  <a:pt x="2828544" y="975360"/>
                </a:lnTo>
                <a:lnTo>
                  <a:pt x="1414272" y="0"/>
                </a:lnTo>
                <a:close/>
              </a:path>
            </a:pathLst>
          </a:custGeom>
          <a:solidFill>
            <a:srgbClr val="6B4F3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5-mark127"/>
          <p:cNvSpPr/>
          <p:nvPr/>
        </p:nvSpPr>
        <p:spPr>
          <a:xfrm>
            <a:off x="8435340" y="1998345"/>
            <a:ext cx="2828544" cy="975360"/>
          </a:xfrm>
          <a:custGeom>
            <a:avLst/>
            <a:gdLst/>
            <a:ahLst/>
            <a:cxnLst/>
            <a:rect l="l" t="t" r="r" b="b"/>
            <a:pathLst>
              <a:path w="2828544" h="975360">
                <a:moveTo>
                  <a:pt x="0" y="975360"/>
                </a:moveTo>
                <a:lnTo>
                  <a:pt x="1414272" y="0"/>
                </a:lnTo>
                <a:lnTo>
                  <a:pt x="2828544" y="975360"/>
                </a:lnTo>
                <a:lnTo>
                  <a:pt x="2584704" y="975360"/>
                </a:lnTo>
                <a:lnTo>
                  <a:pt x="1414272" y="170688"/>
                </a:lnTo>
                <a:lnTo>
                  <a:pt x="243840" y="97536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5-mark128"/>
          <p:cNvSpPr/>
          <p:nvPr/>
        </p:nvSpPr>
        <p:spPr>
          <a:xfrm>
            <a:off x="9118092" y="3339465"/>
            <a:ext cx="438912" cy="390144"/>
          </a:xfrm>
          <a:custGeom>
            <a:avLst/>
            <a:gdLst/>
            <a:ahLst/>
            <a:cxnLst/>
            <a:rect l="l" t="t" r="r" b="b"/>
            <a:pathLst>
              <a:path w="438912" h="390144">
                <a:moveTo>
                  <a:pt x="0" y="390144"/>
                </a:moveTo>
                <a:lnTo>
                  <a:pt x="438912" y="390144"/>
                </a:lnTo>
                <a:lnTo>
                  <a:pt x="438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5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38" name="S15-mark129"/>
          <p:cNvSpPr/>
          <p:nvPr/>
        </p:nvSpPr>
        <p:spPr>
          <a:xfrm>
            <a:off x="10093452" y="3510153"/>
            <a:ext cx="438912" cy="829056"/>
          </a:xfrm>
          <a:custGeom>
            <a:avLst/>
            <a:gdLst/>
            <a:ahLst/>
            <a:cxnLst/>
            <a:rect l="l" t="t" r="r" b="b"/>
            <a:pathLst>
              <a:path w="438912" h="829056">
                <a:moveTo>
                  <a:pt x="0" y="829056"/>
                </a:moveTo>
                <a:lnTo>
                  <a:pt x="438912" y="829056"/>
                </a:lnTo>
                <a:lnTo>
                  <a:pt x="438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5A44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5-mark130"/>
          <p:cNvSpPr/>
          <p:nvPr/>
        </p:nvSpPr>
        <p:spPr>
          <a:xfrm>
            <a:off x="8425586" y="1842287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0" name="S15-mark131"/>
          <p:cNvSpPr/>
          <p:nvPr/>
        </p:nvSpPr>
        <p:spPr>
          <a:xfrm>
            <a:off x="8962034" y="1549679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1" name="S15-mark132"/>
          <p:cNvSpPr/>
          <p:nvPr/>
        </p:nvSpPr>
        <p:spPr>
          <a:xfrm>
            <a:off x="10815218" y="1598447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2" name="S15-mark133"/>
          <p:cNvSpPr/>
          <p:nvPr/>
        </p:nvSpPr>
        <p:spPr>
          <a:xfrm>
            <a:off x="11302898" y="2037359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3" name="S15-mark134"/>
          <p:cNvSpPr/>
          <p:nvPr/>
        </p:nvSpPr>
        <p:spPr>
          <a:xfrm>
            <a:off x="11400434" y="2622575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4" name="S15-mark135"/>
          <p:cNvSpPr/>
          <p:nvPr/>
        </p:nvSpPr>
        <p:spPr>
          <a:xfrm>
            <a:off x="8279282" y="2427503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5" name="S15-mark136"/>
          <p:cNvSpPr/>
          <p:nvPr/>
        </p:nvSpPr>
        <p:spPr>
          <a:xfrm>
            <a:off x="8630412" y="3997833"/>
            <a:ext cx="2438400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46" name="S15-mark137"/>
          <p:cNvSpPr/>
          <p:nvPr/>
        </p:nvSpPr>
        <p:spPr>
          <a:xfrm>
            <a:off x="8630412" y="3656457"/>
            <a:ext cx="2438400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47" name="S15-mark138"/>
          <p:cNvSpPr/>
          <p:nvPr/>
        </p:nvSpPr>
        <p:spPr>
          <a:xfrm>
            <a:off x="8630412" y="3315081"/>
            <a:ext cx="2438400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48" name="S15-label139"/>
          <p:cNvSpPr txBox="1"/>
          <p:nvPr/>
        </p:nvSpPr>
        <p:spPr>
          <a:xfrm>
            <a:off x="8156448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추운 곳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지구촌 문제와 협력</dc:title>
  <dc:subject>KR22-G06-SOC-GLOBAL-L01</dc:subject>
  <dc:creator>education-ppt</dc:creator>
  <cp:lastModifiedBy>education-ppt</cp:lastModifiedBy>
  <cp:revision>1</cp:revision>
  <dcterms:created xsi:type="dcterms:W3CDTF">2026-10-26T13:49:51Z</dcterms:created>
  <dcterms:modified xsi:type="dcterms:W3CDTF">2026-10-26T13:49:51Z</dcterms:modified>
</cp:coreProperties>
</file>