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71c3a83-b2ce-bdd5-a8f1-3613d2e33fcd}">
          <p14:sldIdLst>
            <p14:sldId id="256"/>
            <p14:sldId id="257"/>
          </p14:sldIdLst>
        </p14:section>
        <p14:section name="개념" id="{65083407-c48a-e968-e712-55216e05fd9c}">
          <p14:sldIdLst>
            <p14:sldId id="258"/>
            <p14:sldId id="259"/>
            <p14:sldId id="261"/>
            <p14:sldId id="263"/>
          </p14:sldIdLst>
        </p14:section>
        <p14:section name="연습" id="{2e1d13fa-74e0-a517-db30-851bce320433}">
          <p14:sldIdLst>
            <p14:sldId id="260"/>
            <p14:sldId id="262"/>
            <p14:sldId id="264"/>
            <p14:sldId id="265"/>
          </p14:sldIdLst>
        </p14:section>
        <p14:section name="개념" id="{f18d9913-822a-bee6-f20e-28a6f084288b}">
          <p14:sldIdLst/>
        </p14:section>
        <p14:section name="연습" id="{4434376e-dfc4-95be-15d7-76f92250db96}">
          <p14:sldIdLst/>
        </p14:section>
        <p14:section name="개념" id="{ed7b5c70-2f55-8467-4439-3ff19f6c9657}">
          <p14:sldIdLst/>
        </p14:section>
        <p14:section name="연습" id="{81d14e68-2202-1fc0-6560-5eeea38dfedf}">
          <p14:sldIdLst/>
        </p14:section>
        <p14:section name="확인" id="{9d34d2ab-fbbd-9054-e421-85ee63434bb1}">
          <p14:sldIdLst>
            <p14:sldId id="266"/>
            <p14:sldId id="267"/>
            <p14:sldId id="268"/>
          </p14:sldIdLst>
        </p14:section>
        <p14:section name="정리" id="{e2c9dd7b-1c79-1cc6-1c42-d613c5b09c19}">
          <p14:sldIdLst>
            <p14:sldId id="269"/>
          </p14:sldIdLst>
        </p14:section>
        <p14:section name="보충" id="{0bec2fa5-bb21-9ffc-1bfc-68f0c249620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것(지구본과 세계 지도의 차이, 6대륙과 5대양, 위도와 경도)을 알리고 세계 여러 나라에 관심을 갖게 합니다.
시간: 약 2분
이렇게 말해 보세요
- “가 보고 싶은 나라가 있어? 그 나라는 우리나라에서 어느 쪽에 있을까?”
- “오늘은 지구본과 세계 지도를 비교해 보고, 세계의 큰 땅(대륙)과 큰 바다(대양), 그리고 위치를 숫자로 나타내는 위도와 경도를 배울 거야.”
예상 답
- “미국이요. 바다 건너 오른쪽에 있어요.” “잘 모르겠어요.”
막히면
- 가족 여행이나 뉴스, 운동 경기에서 들어 본 나라 이름을 함께 떠올립니다.
주의
- 오늘 화면의 세계 지도와 지구본은 대륙과 대양의 위치 관계만 보여 주려고 간단히 그린 것입니다. 실제 모양과 크기는 S10에서 지구본이나 지도 앱으로 함께 확인합니다.
- S10에 쓸 지구본, 사회과 부도의 세계 지도, 지도 앱이 있는 휴대 전화나 컴퓨터 가운데 하나를 미리 준비해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확인(우리나라의 위치, 방위)]
목적: 5학년 ‘우리나라의 위치와 영역’에서 배운 우리나라의 위치(아시아 대륙의 동쪽, 태평양의 서쪽)와 방위를 확인합니다. 오늘 세계 지도를 읽을 때 그대로 씁니다.
시간: 약 3분
이렇게 말해 보세요
- “5학년 때 우리나라의 위치를 대륙과 바다로 말했었지? 기억나는 대로 말해 볼래?”
- “③은 지도를 읽을 때 꼭 필요한 약속이야.”
정답
- ① 아시아 대륙의 동쪽(동쪽 끝)
- ② 태평양
- ③ 북쪽
막히면
- 두 문제 이상 어려우면 S15(보충)를 먼저 하고 돌아옵니다.
주의
- ②에서 ‘동해’라고 하면 “동해보다 더 멀리 펼쳐진 아주 큰 바다는?” 하고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지구본과 세계 지도]
목적: 지구본은 지구를 작게 줄인 둥근 모형이고, 세계 지도는 둥근 지구의 겉면을 평평하게 펼쳐 그린 것임을 알려 줍니다(목표 A).
시간: 약 3분
이렇게 말해 보세요
- “지구는 어떤 모양이지? 공처럼 둥글지. 그래서 지구를 작게 줄여 만든 지구본도 둥글어.”
- “세계 지도는 둥근 지구를 종이에 평평하게 펼쳐 그린 거야. 귤껍질을 평평하게 펴려고 하면 어떻게 될까?”
- “두 그림을 보면 무엇이 같고 무엇이 달라?”
예상 답
- “귤껍질이 찢어지거나 늘어나요.” “둘 다 땅과 바다가 있어요. 하나는 둥글고 하나는 네모예요.”
막히면
- 귤껍질이나 공 모양 풍선을 떠올리게 하고, 둥근 것을 평평하게 펴면 어딘가는 늘어나거나 갈라진다는 것만 확인합니다.
주의
- 그림은 간단히 나타낸 것입니다. 지구본의 점선은 적도로, S08에서 다시 다룹니다.
- 부모님 참고: 둥근 지구를 평면에 옮기는 방법(도법)은 여러 가지이며, 어느 방법이든 모양·크기·거리·방향 가운데 무언가는 실제와 달라집니다. 오늘은 ‘실제와 다르게 보이는 곳이 있다’까지만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지구본과 세계 지도의 좋은 점과 아쉬운 점]
목적: 지구본과 세계 지도의 좋은 점과 아쉬운 점을 비교하고, 디지털 영상 지도(지도 앱)도 위치를 찾는 데 쓴다는 것을 알려 줍니다(목표 A).
시간: 약 2분
이렇게 말해 보세요
- “지구본으로 지구 반대편 나라를 보려면 어떻게 해야 해? 그래서 한눈에 전체를 보기는 어렵지.”
- “세계 지도는 한 장에 세계가 다 보이고 접어서 가지고 다닐 수 있어. 대신 둥근 것을 펼쳤으니 실제와 다르게 보이는 곳이 생겨.”
- “지도 앱은 손가락으로 넓히고 좁혀 가며 볼 수 있지. 그래서 우리 동네부터 세계까지 볼 수 있어.”
예상 답
- “지구본은 돌려야 반대쪽이 보여요.” “지도는 한 번에 다 보여요.”
막히면
- 엄마(아빠)가 지구본의 한쪽만 보여 주는 시늉을 하며 “지금 반대쪽 나라도 보여?”라고 묻습니다.
주의
- 교과서에서는 지도 앱처럼 컴퓨터·휴대 전화로 보는 지도를 ‘디지털 영상 지도’라고도 부릅니다. 확대·축소, 검색, 위성 사진 보기가 되는 대신 기기와 인터넷이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오해 비교(세계 지도의 크기)]
목적: 세계 지도에 보이는 크기가 실제 크기와 다를 수 있다는 것을 상황으로 확인합니다(목표 A, 오해 M1).
시간: 약 2분
이렇게 말해 보세요
- “세계 지도는 둥근 지구를 어떻게 그린 거였지?”
- “그렇다면 지도에 보이는 크기를 그대로 믿어도 될까? 크기를 비교하려면 무엇을 보면 좋을까?”
정답
- 나. 세계 지도는 둥근 지구를 평평하게 펼쳐 그려서 실제와 크기·모양이 다르게 보이는 곳이 있어요. 크기는 지구본으로 비교하는 것이 더 정확해요.
막히면
- S04의 표에서 세계 지도의 ‘아쉬운 점’을 다시 읽게 합니다.
주의
- 부모님 참고: 북극·남극에 가까운 곳일수록 크게 그려지는 세계 지도(인터넷 지도에 흔함)에서는 그린란드가 아프리카만큼 커 보이지만, 실제 넓이는 아프리카가 약 14배 넓습니다. S10에서 지구본이나 지도 앱으로 직접 비교해 봅니다.
- 그린란드는 북아메리카 북동쪽에 있는 세계에서 가장 큰 섬입니다. 오늘은 위치를 외우지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6대륙과 5대양]
목적: 세계가 6대륙(아시아·유럽·아프리카·북아메리카·남아메리카·오세아니아)과 5대양(태평양·대서양·인도양·북극해·남극해)으로 이루어져 있음을 간단한 세계 지도로 알려 줍니다(목표 B).
시간: 약 4분
이렇게 말해 보세요
- “색깔 덩어리가 대륙이야. 대륙은 아주 넓은 땅덩어리를 말해. 하나씩 이름을 읽어 볼까?”
- “파란 글자는 대양이야. 대륙을 둘러싼 아주 넓은 바다를 대양이라고 해. 가장 넓은 바다는 어디일까?”
- “빨간 점이 우리나라야. 우리나라는 어느 대륙의 어느 쪽, 어느 대양의 어느 쪽에 있어?”
- “대서양이 왼쪽 끝과 오른쪽 끝에 두 번 나오지? 지구는 둥글어서 지도의 왼쪽 끝과 오른쪽 끝이 이어져 있기 때문이야.”
예상 답
- “태평양이 제일 넓어요.” “우리나라는 아시아의 동쪽, 태평양의 서쪽이에요.”
막히면
- 대륙 이름이 길면 ‘아시아·유럽·아프리카’(왼쪽 위)와 ‘북·남아메리카’(오른쪽), ‘오세아니아’(아래)로 나누어 읽습니다.
- 대양은 북극해(위)와 남극해(아래)처럼 이름에 위치가 들어간 것부터 찾게 합니다.
주의
- 이 그림은 우리나라에서 흔히 쓰는 세계 지도처럼 태평양을 가운데에 두고 간단히 그린 것입니다. 대서양이 양쪽 끝으로 나뉘어 보이는 것은 그 때문입니다.
- 대륙 안에는 여러 나라가 있습니다. ‘아프리카’는 나라 이름이 아니라 대륙 이름이고, 오세아니아에는 오스트레일리아와 뉴질랜드 등 여러 나라가 있습니다(오해 M2).
- 부모님 참고: 교과서에서는 남극 대륙을 빼고 6대륙으로 배웁니다. 남극 대륙까지 넣어 세는 방법도 있습니다. 그림 오른쪽 아래의 작은 섬은 뉴질랜드를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대륙과 대양 찾기]
목적: 이름이 없는 세계 지도에서 대륙과 대양을 찾아 이름을 말하는 연습을 합니다(목표 B).
시간: 약 3분
이렇게 말해 보세요
- “이번 지도에는 이름이 없어. 가는 어느 대륙일까? 어떻게 알았어?”
- “③은 아프리카와 오세아니아를 먼저 손가락으로 짚고, 그 사이 바다를 찾아봐.”
정답
- ① 가 아시아, 나 북아메리카, 다 유럽
- ② 라 태평양, 마 북극해
- ③ 인도양
막히면
- S06 지도를 다시 보고 같은 자리를 비교하게 합니다. 이름 대신 ‘가장 넓은 대륙’, ‘가장 넓은 바다’처럼 특징으로 먼저 찾게 해도 됩니다.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위도와 경도]
목적: 위도는 적도를 기준으로 남북으로 얼마나 떨어졌는지, 경도는 본초 자오선을 기준으로 동서로 얼마나 떨어졌는지를 나타내며, 둘을 함께 쓰면 위치를 정확히 말할 수 있음을 알려 줍니다(목표 C).
시간: 약 4분
이렇게 말해 보세요
- “주황색 가로선은 적도야. 지구의 가운데를 한 바퀴 두른 선이고, 위도 0°야. 적도보다 북쪽이면 ‘북위’, 남쪽이면 ‘남위’라고 해.”
- “파란 세로선은 본초 자오선이야. 영국 런던의 그리니치 천문대를 지나는 선이고, 경도 0°야. 그보다 동쪽이면 ‘동경’, 서쪽이면 ‘서경’이야.”
- “가로선을 위선, 세로선을 경선이라고 해. 위선으로 위도를, 경선으로 경도를 읽어.”
- “이 그림에서 한 칸은 30°야. 적도에서 위로 두 칸 올라가면 몇 도일까?”
예상 답
- “북위 60°요.”
막히면
- ‘위도는 위아래(남북), 경도는 옆(동서)’처럼 짧게 말로 묶어 줍니다. 손가락으로 적도에서 한 칸씩 위로 올라가며 30°, 60°를 세어 봅니다.
주의
- 위도는 0°~90°(북위·남위), 경도는 0°~180°(동경·서경)까지 있습니다. 북극점은 북위 90°, 남극점은 남위 90°입니다.
- 부모님 참고: 우리나라는 대략 북위 33°~43°, 동경 124°~132°에 있습니다(활동지 1). 오늘 그림은 연습용 격자이며 실제 지도가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위도와 경도로 위치 말하기]
목적: 격자 그림에서 점의 위치를 위도와 경도로 말하고, 위도·경도를 보고 점을 찾는 연습을 합니다(목표 C, 오해 M3).
시간: 약 3분
이렇게 말해 보세요
- “가는 적도에서 북쪽으로 몇 칸이야? 한 칸이 30°니까 위도는?”
- “이번엔 본초 자오선에서 동쪽이야, 서쪽이야? 몇 칸?”
- “③은 반대로 찾는 거야. 북위 30°는 어느 가로선이지? 서경 60°는?”
정답
- ① 북위 30°, 동경 60°
- ② 남위 60°, 서경 30°
- ③ 다
막히면
- 가로선(위선)과 세로선(경선)을 손가락으로 따라가며 한 칸씩 셉니다. 동경과 서경을 바꾸어 말하면 파란 선(본초 자오선)의 오른쪽이 동쪽이라는 것을 다시 짚습니다.
주의
- ③에서 ‘가’를 고르면 동경과 서경을 바꾼 것입니다(오해 M3). 가는 동경 60°입니다.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지구본·지도 앱으로 찾기(부모와 함께)]
목적: 간단한 그림으로 배운 대륙·대양의 위치를 실제 지구본이나 지도에서 확인하고, 지구본과 세계 지도의 차이를 직접 비교합니다(목표 A·B). 수업 시간에는 시작만 하고 나머지는 수업 뒤에 해도 됩니다.
시간: 약 3분
이렇게 말해 보세요
- “지구본(지도 앱)에서 우리나라를 먼저 찾아볼까? 그다음 여섯 대륙을 차례로 짚어 보자.”
- “활동지 5의 나라 여섯 곳(대한민국·미국·브라질·영국·케냐·오스트레일리아)을 찾아서 어느 대륙에 있는지 말해 줘.”
- “지도에서 그린란드는 얼마나 커 보여? 지구본에서는 어때?”
예상 답
- “브라질은 남아메리카에 있어요.” “지도에서는 그린란드가 엄청 큰데 지구본에서는 작아요.”
정답
- 기준: 실제 지구본이나 지도에서 6대륙과 5대양을 짚으며 이름을 말하고, 나라 여섯 곳이 있는 대륙을 말하며, 그린란드의 크기가 지구본과 지도에서 다르게 보인다는 것을 말하면 잘한 것입니다. 결과는 활동지 5에 기록합니다.
- 나라와 대륙: 대한민국 아시아, 미국 북아메리카, 브라질 남아메리카, 영국 유럽, 케냐 아프리카, 오스트레일리아 오세아니아
막히면
- 지도 앱에서는 나라 이름을 검색한 뒤 화면을 조금씩 줄여 대륙 전체가 보이게 합니다. 지구본이 없으면 사회과 부도의 세계 지도로 해도 됩니다.
주의
- 인터넷 지도는 북쪽·남쪽으로 갈수록 크게 그려지는 경우가 많아 그린란드가 아주 크게 보입니다. 지구본이 없으면 크기 비교는 학교나 도서관의 지구본으로 다음에 해도 됩니다.
- 지도 앱은 부모님이 함께 보며 쓰고, 광고나 다른 화면으로 넘어가지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보기(대륙과 대양)]
목적: 도움 없이 이름 없는 세계 지도에서 대륙과 대양을 찾고, 우리나라의 위치를 대륙과 대양으로 말하는지 확인합니다(목표 B).
시간: 약 4분
이렇게 말해 보세요
- “이번에는 혼자 해 볼래? ③은 ‘어느 대륙의 어느 쪽, 어느 대양의 어느 쪽’으로 말해 줘.”
정답
- ① 가 남아메리카, 나 아프리카, 다 오세아니아
- ② 라 대서양, 마 남극해
- ③ 예: “우리나라는 아시아 대륙의 동쪽, 태평양의 서쪽에 있어요.” (대륙과 대양, 방위가 들어가면 맞음)
막히면
- ③이 어려우면 “빨간 점은 어느 대륙에 붙어 있어? 그 대륙의 어느 쪽 끝이야? 바로 옆의 넓은 바다는?”으로 나누어 묻습니다. 도움을 받아 풀었다면 기록표에 ‘도움’으로 표시합니다.
주의
- ②에서 라를 ‘태평양’이라고 하면 아메리카 대륙의 동쪽 바다라는 것을 짚어 줍니다.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왼쪽이 같아? 오른쪽 답은 무엇이 아쉬울까?”
예상 답
- “아프리카는 대륙이고 그 안에 나라가 많아요.” “오른쪽이 아니라 서쪽이에요.”
정답
- ① 가 남아메리카, 나 아프리카, 다 오세아니아 ② 라 대서양, 마 남극해 ③ 아시아 대륙의 동쪽, 태평양의 서쪽
막히면
- S06을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확인(위도·경도, 지구본과 지도)]
목적: 처음 보는 점의 위치를 위도·경도로 말하고(목표 C), 지구본과 세계 지도의 좋은 점을 비교해 말하는지(목표 A) 확인합니다.
시간: 약 3분
이렇게 말해 보세요
- “라와 마는 처음 보는 점이야. 적도와 본초 자오선에서 몇 칸인지 세어서 말해 볼래?”
- “②는 우리나라가 적도의 북쪽에 있는지 남쪽에 있는지 생각해 봐.”
정답
- ① 라 북위 60°, 동경 30° / 마 남위 30°, 서경 90°
- ② 북위(적도의 북쪽, 대략 북위 33°~43°)
- ③ 예: 지구본은 모양·크기·거리가 실제와 비슷해요. 세계 지도는 세계 전체를 한눈에 보고 가지고 다니기 편해요. (하나씩 바르게 말하면 맞음)
막히면
- ①이 어려우면 S09의 ‘몇 칸 × 30°’를 다시 떠올리게 합니다. 그래도 어려우면 기록표에 ‘도움’으로 적습니다.
주의
- ①에서 ‘마’를 서경 90°로 읽으려면 세 칸을 세야 합니다. 위도와 경도를 모두 말해야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“지구본과 세계 지도는 각각 언제 쓰면 좋을까? 우리나라의 위치를 대륙과 대양으로 다시 말해 볼래?”
예상 답
- “크기를 볼 때는 지구본, 한눈에 볼 때는 지도요. 우리나라는 아시아의 동쪽, 태평양의 서쪽이에요.”
정답
- ① 아시아, 유럽, 아프리카, 북아메리카, 남아메리카, 오세아니아 ② 태평양 ③ 0°
막히면
- S06, S08을 다시 보여 줍니다.
주의
- 활동지 5의 지구본·지도 앱 찾기는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보충(대륙과 바다, 방위)]
목적: S02에서 우리나라의 위치나 방위가 흔들리면, 5학년에서 본 그림으로 대륙·대양의 뜻과 방위를 다시 확인합니다.
시간: 약 4분
이렇게 말해 보세요
- “가는 한반도가 붙어 있는 아주 넓은 땅이야. 이 대륙의 이름은 뭘까?”
- “나는 한반도 동쪽에 펼쳐진 아주 넓은 바다야. 이름은?”
- “방위표의 화살표는 북쪽이야. 한반도는 가 대륙의 어느 쪽 끝에 있어?”
예상 답
- “가는 아시아 대륙, 나는 태평양이에요.” “한반도는 동쪽 끝에 있어요.”
막히면
- 종이에 큰 십자를 그리고 위에 ‘북’만 써 준 뒤, 아이가 나머지 방위를 채우게 합니다.
주의
- 계획상 이 차시의 선수 차시는 5학년 ‘우리나라의 위치와 영역’(KR22-G05-SOC-TERRITORY-L01)입니다. 대륙·바다·방위가 많이 흔들리면 그 차시의 S03~S05를 먼저 하고 오늘 수업은 다른 날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세계와공존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 여러 나라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 여러 나라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세계 여러 나라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여러 나라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여러 나라의 위치를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찾을까요?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지구본과 세계 지도로 대륙과 대양을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위도와 경도로 위치를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어느 대륙의 어느 쪽에 있나요?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 동쪽에 펼쳐진 아주 큰 바다의 이름은?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 지도의 위쪽은 어느 방위인가요?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지구본과 세계 지도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작게 줄인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모형이에요.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지도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지구를 평평한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펼쳐 그렸어요.</a:t>
            </a:r>
            <a:endParaRPr lang="ko-KR" sz="2800" dirty="0"/>
          </a:p>
        </p:txBody>
      </p:sp>
      <p:sp>
        <p:nvSpPr>
          <p:cNvPr id="7" name="S03-figure13" descr="간단히 나타낸 지구본: 받침 위에 둥근 공 모양의 지구, 둥근 면에 바다(파랑)와 땅(색칠한 덩어리)이 그려져 있고 가운데를 가로지르는 점선(적도)이 있음"/>
          <p:cNvSpPr/>
          <p:nvPr/>
        </p:nvSpPr>
        <p:spPr>
          <a:xfrm>
            <a:off x="2288904" y="1552597"/>
            <a:ext cx="1905288" cy="1905288"/>
          </a:xfrm>
          <a:prstGeom prst="ellipse">
            <a:avLst/>
          </a:prstGeom>
          <a:solidFill>
            <a:srgbClr val="D6E9F8"/>
          </a:solidFill>
          <a:ln w="25400">
            <a:solidFill>
              <a:srgbClr val="4A90C8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2812858" y="3743677"/>
            <a:ext cx="857379" cy="166713"/>
          </a:xfrm>
          <a:custGeom>
            <a:avLst/>
            <a:gdLst/>
            <a:ahLst/>
            <a:cxnLst/>
            <a:rect l="l" t="t" r="r" b="b"/>
            <a:pathLst>
              <a:path w="857379" h="166713">
                <a:moveTo>
                  <a:pt x="0" y="166713"/>
                </a:moveTo>
                <a:lnTo>
                  <a:pt x="857379" y="166713"/>
                </a:lnTo>
                <a:lnTo>
                  <a:pt x="690667" y="0"/>
                </a:lnTo>
                <a:lnTo>
                  <a:pt x="166713" y="0"/>
                </a:lnTo>
                <a:close/>
              </a:path>
            </a:pathLst>
          </a:custGeom>
          <a:solidFill>
            <a:srgbClr val="8A7F6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3-mark15"/>
          <p:cNvSpPr/>
          <p:nvPr/>
        </p:nvSpPr>
        <p:spPr>
          <a:xfrm>
            <a:off x="2622330" y="1790758"/>
            <a:ext cx="905012" cy="762115"/>
          </a:xfrm>
          <a:custGeom>
            <a:avLst/>
            <a:gdLst/>
            <a:ahLst/>
            <a:cxnLst/>
            <a:rect l="l" t="t" r="r" b="b"/>
            <a:pathLst>
              <a:path w="905012" h="762115">
                <a:moveTo>
                  <a:pt x="0" y="381058"/>
                </a:moveTo>
                <a:lnTo>
                  <a:pt x="333425" y="0"/>
                </a:lnTo>
                <a:lnTo>
                  <a:pt x="762115" y="23816"/>
                </a:lnTo>
                <a:lnTo>
                  <a:pt x="905012" y="333425"/>
                </a:lnTo>
                <a:lnTo>
                  <a:pt x="666851" y="666851"/>
                </a:lnTo>
                <a:lnTo>
                  <a:pt x="285793" y="762115"/>
                </a:lnTo>
                <a:close/>
              </a:path>
            </a:pathLst>
          </a:custGeom>
          <a:solidFill>
            <a:srgbClr val="F2D7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>
            <a:off x="3384445" y="2600505"/>
            <a:ext cx="547770" cy="619218"/>
          </a:xfrm>
          <a:custGeom>
            <a:avLst/>
            <a:gdLst/>
            <a:ahLst/>
            <a:cxnLst/>
            <a:rect l="l" t="t" r="r" b="b"/>
            <a:pathLst>
              <a:path w="547770" h="619218">
                <a:moveTo>
                  <a:pt x="0" y="142897"/>
                </a:moveTo>
                <a:lnTo>
                  <a:pt x="452506" y="0"/>
                </a:lnTo>
                <a:lnTo>
                  <a:pt x="547770" y="381058"/>
                </a:lnTo>
                <a:lnTo>
                  <a:pt x="261977" y="619218"/>
                </a:lnTo>
                <a:lnTo>
                  <a:pt x="23816" y="476322"/>
                </a:lnTo>
                <a:close/>
              </a:path>
            </a:pathLst>
          </a:custGeom>
          <a:solidFill>
            <a:srgbClr val="F6C9A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mark17"/>
          <p:cNvSpPr/>
          <p:nvPr/>
        </p:nvSpPr>
        <p:spPr>
          <a:xfrm>
            <a:off x="2479433" y="2743401"/>
            <a:ext cx="381058" cy="476322"/>
          </a:xfrm>
          <a:custGeom>
            <a:avLst/>
            <a:gdLst/>
            <a:ahLst/>
            <a:cxnLst/>
            <a:rect l="l" t="t" r="r" b="b"/>
            <a:pathLst>
              <a:path w="381058" h="476322">
                <a:moveTo>
                  <a:pt x="0" y="47632"/>
                </a:moveTo>
                <a:lnTo>
                  <a:pt x="333425" y="0"/>
                </a:lnTo>
                <a:lnTo>
                  <a:pt x="381058" y="381058"/>
                </a:lnTo>
                <a:lnTo>
                  <a:pt x="142897" y="476322"/>
                </a:lnTo>
                <a:close/>
              </a:path>
            </a:pathLst>
          </a:custGeom>
          <a:solidFill>
            <a:srgbClr val="A9D8C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18"/>
          <p:cNvSpPr/>
          <p:nvPr/>
        </p:nvSpPr>
        <p:spPr>
          <a:xfrm>
            <a:off x="2288904" y="2324238"/>
            <a:ext cx="1905288" cy="362005"/>
          </a:xfrm>
          <a:custGeom>
            <a:avLst/>
            <a:gdLst/>
            <a:ahLst/>
            <a:cxnLst/>
            <a:rect l="l" t="t" r="r" b="b"/>
            <a:pathLst>
              <a:path w="1905288" h="362005">
                <a:moveTo>
                  <a:pt x="1905288" y="181002"/>
                </a:moveTo>
                <a:lnTo>
                  <a:pt x="1901662" y="165227"/>
                </a:lnTo>
                <a:lnTo>
                  <a:pt x="1890815" y="149572"/>
                </a:lnTo>
                <a:lnTo>
                  <a:pt x="1872827" y="134155"/>
                </a:lnTo>
                <a:lnTo>
                  <a:pt x="1847836" y="119096"/>
                </a:lnTo>
                <a:lnTo>
                  <a:pt x="1816032" y="104507"/>
                </a:lnTo>
                <a:lnTo>
                  <a:pt x="1777657" y="90501"/>
                </a:lnTo>
                <a:lnTo>
                  <a:pt x="1733004" y="77184"/>
                </a:lnTo>
                <a:lnTo>
                  <a:pt x="1682411" y="64656"/>
                </a:lnTo>
                <a:lnTo>
                  <a:pt x="1626265" y="53014"/>
                </a:lnTo>
                <a:lnTo>
                  <a:pt x="1564991" y="42346"/>
                </a:lnTo>
                <a:lnTo>
                  <a:pt x="1499058" y="32734"/>
                </a:lnTo>
                <a:lnTo>
                  <a:pt x="1428966" y="24250"/>
                </a:lnTo>
                <a:lnTo>
                  <a:pt x="1355248" y="16959"/>
                </a:lnTo>
                <a:lnTo>
                  <a:pt x="1278467" y="10916"/>
                </a:lnTo>
                <a:lnTo>
                  <a:pt x="1199206" y="6168"/>
                </a:lnTo>
                <a:lnTo>
                  <a:pt x="1118069" y="2750"/>
                </a:lnTo>
                <a:lnTo>
                  <a:pt x="1035672" y="689"/>
                </a:lnTo>
                <a:lnTo>
                  <a:pt x="952644" y="0"/>
                </a:lnTo>
                <a:lnTo>
                  <a:pt x="869615" y="689"/>
                </a:lnTo>
                <a:lnTo>
                  <a:pt x="787219" y="2750"/>
                </a:lnTo>
                <a:lnTo>
                  <a:pt x="706081" y="6168"/>
                </a:lnTo>
                <a:lnTo>
                  <a:pt x="626820" y="10916"/>
                </a:lnTo>
                <a:lnTo>
                  <a:pt x="550039" y="16959"/>
                </a:lnTo>
                <a:lnTo>
                  <a:pt x="476322" y="24250"/>
                </a:lnTo>
                <a:lnTo>
                  <a:pt x="406230" y="32734"/>
                </a:lnTo>
                <a:lnTo>
                  <a:pt x="340296" y="42346"/>
                </a:lnTo>
                <a:lnTo>
                  <a:pt x="279023" y="53014"/>
                </a:lnTo>
                <a:lnTo>
                  <a:pt x="222876" y="64656"/>
                </a:lnTo>
                <a:lnTo>
                  <a:pt x="172284" y="77184"/>
                </a:lnTo>
                <a:lnTo>
                  <a:pt x="127630" y="90501"/>
                </a:lnTo>
                <a:lnTo>
                  <a:pt x="89255" y="104507"/>
                </a:lnTo>
                <a:lnTo>
                  <a:pt x="57451" y="119096"/>
                </a:lnTo>
                <a:lnTo>
                  <a:pt x="32461" y="134155"/>
                </a:lnTo>
                <a:lnTo>
                  <a:pt x="14473" y="149572"/>
                </a:lnTo>
                <a:lnTo>
                  <a:pt x="3625" y="165227"/>
                </a:lnTo>
                <a:lnTo>
                  <a:pt x="0" y="181002"/>
                </a:lnTo>
                <a:lnTo>
                  <a:pt x="3625" y="196778"/>
                </a:lnTo>
                <a:lnTo>
                  <a:pt x="14473" y="212433"/>
                </a:lnTo>
                <a:lnTo>
                  <a:pt x="32461" y="227849"/>
                </a:lnTo>
                <a:lnTo>
                  <a:pt x="57451" y="242909"/>
                </a:lnTo>
                <a:lnTo>
                  <a:pt x="89255" y="257497"/>
                </a:lnTo>
                <a:lnTo>
                  <a:pt x="127630" y="271503"/>
                </a:lnTo>
                <a:lnTo>
                  <a:pt x="172284" y="284821"/>
                </a:lnTo>
                <a:lnTo>
                  <a:pt x="222876" y="297348"/>
                </a:lnTo>
                <a:lnTo>
                  <a:pt x="279023" y="308990"/>
                </a:lnTo>
                <a:lnTo>
                  <a:pt x="340296" y="319658"/>
                </a:lnTo>
                <a:lnTo>
                  <a:pt x="406230" y="329271"/>
                </a:lnTo>
                <a:lnTo>
                  <a:pt x="476322" y="337755"/>
                </a:lnTo>
                <a:lnTo>
                  <a:pt x="550039" y="345046"/>
                </a:lnTo>
                <a:lnTo>
                  <a:pt x="626820" y="351089"/>
                </a:lnTo>
                <a:lnTo>
                  <a:pt x="706081" y="355837"/>
                </a:lnTo>
                <a:lnTo>
                  <a:pt x="787219" y="359255"/>
                </a:lnTo>
                <a:lnTo>
                  <a:pt x="869615" y="361316"/>
                </a:lnTo>
                <a:lnTo>
                  <a:pt x="952644" y="362005"/>
                </a:lnTo>
                <a:lnTo>
                  <a:pt x="1035672" y="361316"/>
                </a:lnTo>
                <a:lnTo>
                  <a:pt x="1118069" y="359255"/>
                </a:lnTo>
                <a:lnTo>
                  <a:pt x="1199206" y="355837"/>
                </a:lnTo>
                <a:lnTo>
                  <a:pt x="1278467" y="351089"/>
                </a:lnTo>
                <a:lnTo>
                  <a:pt x="1355248" y="345046"/>
                </a:lnTo>
                <a:lnTo>
                  <a:pt x="1428966" y="337755"/>
                </a:lnTo>
                <a:lnTo>
                  <a:pt x="1499058" y="329271"/>
                </a:lnTo>
                <a:lnTo>
                  <a:pt x="1564991" y="319658"/>
                </a:lnTo>
                <a:lnTo>
                  <a:pt x="1626265" y="308990"/>
                </a:lnTo>
                <a:lnTo>
                  <a:pt x="1682411" y="297348"/>
                </a:lnTo>
                <a:lnTo>
                  <a:pt x="1733004" y="284821"/>
                </a:lnTo>
                <a:lnTo>
                  <a:pt x="1777657" y="271503"/>
                </a:lnTo>
                <a:lnTo>
                  <a:pt x="1816032" y="257497"/>
                </a:lnTo>
                <a:lnTo>
                  <a:pt x="1847836" y="242909"/>
                </a:lnTo>
                <a:lnTo>
                  <a:pt x="1872827" y="227849"/>
                </a:lnTo>
                <a:lnTo>
                  <a:pt x="1890815" y="212433"/>
                </a:lnTo>
                <a:lnTo>
                  <a:pt x="1901662" y="196778"/>
                </a:lnTo>
                <a:close/>
              </a:path>
            </a:pathLst>
          </a:custGeom>
          <a:noFill/>
          <a:ln w="15875">
            <a:solidFill>
              <a:srgbClr val="4A5568"/>
            </a:solidFill>
            <a:prstDash val="dash"/>
          </a:ln>
        </p:spPr>
      </p:sp>
      <p:sp>
        <p:nvSpPr>
          <p:cNvPr id="13" name="S03-mark19"/>
          <p:cNvSpPr/>
          <p:nvPr/>
        </p:nvSpPr>
        <p:spPr>
          <a:xfrm>
            <a:off x="3241548" y="3457884"/>
            <a:ext cx="0" cy="285793"/>
          </a:xfrm>
          <a:prstGeom prst="line">
            <a:avLst/>
          </a:prstGeom>
          <a:noFill/>
          <a:ln w="38100">
            <a:solidFill>
              <a:srgbClr val="8A7F6A"/>
            </a:solidFill>
            <a:prstDash val="solid"/>
          </a:ln>
        </p:spPr>
      </p:sp>
      <p:sp>
        <p:nvSpPr>
          <p:cNvPr id="14" name="S03-label20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</a:t>
            </a:r>
            <a:endParaRPr lang="ko-KR" sz="2200" dirty="0"/>
          </a:p>
        </p:txBody>
      </p:sp>
      <p:sp>
        <p:nvSpPr>
          <p:cNvPr id="15" name="S03-figure21" descr="간단히 나타낸 세계 지도: 둥근 지구를 평평하게 펼친 네모난 지도에 여섯 대륙이 색깔 덩어리로 그려져 있음"/>
          <p:cNvSpPr/>
          <p:nvPr/>
        </p:nvSpPr>
        <p:spPr>
          <a:xfrm>
            <a:off x="6452253" y="1409700"/>
            <a:ext cx="4990303" cy="2524506"/>
          </a:xfrm>
          <a:custGeom>
            <a:avLst/>
            <a:gdLst/>
            <a:ahLst/>
            <a:cxnLst/>
            <a:rect l="l" t="t" r="r" b="b"/>
            <a:pathLst>
              <a:path w="4990303" h="2524506">
                <a:moveTo>
                  <a:pt x="0" y="2524506"/>
                </a:moveTo>
                <a:lnTo>
                  <a:pt x="4990303" y="2524506"/>
                </a:lnTo>
                <a:lnTo>
                  <a:pt x="499030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16" name="S03-mark22"/>
          <p:cNvSpPr/>
          <p:nvPr/>
        </p:nvSpPr>
        <p:spPr>
          <a:xfrm>
            <a:off x="6921928" y="1703247"/>
            <a:ext cx="675159" cy="645804"/>
          </a:xfrm>
          <a:custGeom>
            <a:avLst/>
            <a:gdLst/>
            <a:ahLst/>
            <a:cxnLst/>
            <a:rect l="l" t="t" r="r" b="b"/>
            <a:pathLst>
              <a:path w="675159" h="645804">
                <a:moveTo>
                  <a:pt x="29355" y="645804"/>
                </a:moveTo>
                <a:lnTo>
                  <a:pt x="675159" y="645804"/>
                </a:lnTo>
                <a:lnTo>
                  <a:pt x="675159" y="88064"/>
                </a:lnTo>
                <a:lnTo>
                  <a:pt x="410966" y="0"/>
                </a:lnTo>
                <a:lnTo>
                  <a:pt x="117419" y="117419"/>
                </a:lnTo>
                <a:lnTo>
                  <a:pt x="0" y="381611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03-mark23"/>
          <p:cNvSpPr/>
          <p:nvPr/>
        </p:nvSpPr>
        <p:spPr>
          <a:xfrm>
            <a:off x="7597087" y="1644538"/>
            <a:ext cx="1849347" cy="1144834"/>
          </a:xfrm>
          <a:custGeom>
            <a:avLst/>
            <a:gdLst/>
            <a:ahLst/>
            <a:cxnLst/>
            <a:rect l="l" t="t" r="r" b="b"/>
            <a:pathLst>
              <a:path w="1849347" h="1144834">
                <a:moveTo>
                  <a:pt x="0" y="704513"/>
                </a:moveTo>
                <a:lnTo>
                  <a:pt x="0" y="146774"/>
                </a:lnTo>
                <a:lnTo>
                  <a:pt x="469676" y="29355"/>
                </a:lnTo>
                <a:lnTo>
                  <a:pt x="1203544" y="0"/>
                </a:lnTo>
                <a:lnTo>
                  <a:pt x="1761283" y="117419"/>
                </a:lnTo>
                <a:lnTo>
                  <a:pt x="1849347" y="410966"/>
                </a:lnTo>
                <a:lnTo>
                  <a:pt x="1673219" y="616449"/>
                </a:lnTo>
                <a:lnTo>
                  <a:pt x="1555800" y="909996"/>
                </a:lnTo>
                <a:lnTo>
                  <a:pt x="1203544" y="1086125"/>
                </a:lnTo>
                <a:lnTo>
                  <a:pt x="851287" y="968706"/>
                </a:lnTo>
                <a:lnTo>
                  <a:pt x="499030" y="1144834"/>
                </a:lnTo>
                <a:lnTo>
                  <a:pt x="293547" y="851287"/>
                </a:lnTo>
                <a:lnTo>
                  <a:pt x="117419" y="792577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3-mark24"/>
          <p:cNvSpPr/>
          <p:nvPr/>
        </p:nvSpPr>
        <p:spPr>
          <a:xfrm>
            <a:off x="6833864" y="2437115"/>
            <a:ext cx="1056770" cy="1232898"/>
          </a:xfrm>
          <a:custGeom>
            <a:avLst/>
            <a:gdLst/>
            <a:ahLst/>
            <a:cxnLst/>
            <a:rect l="l" t="t" r="r" b="b"/>
            <a:pathLst>
              <a:path w="1056770" h="1232898">
                <a:moveTo>
                  <a:pt x="146774" y="0"/>
                </a:moveTo>
                <a:lnTo>
                  <a:pt x="851287" y="0"/>
                </a:lnTo>
                <a:lnTo>
                  <a:pt x="968706" y="293547"/>
                </a:lnTo>
                <a:lnTo>
                  <a:pt x="1056770" y="557740"/>
                </a:lnTo>
                <a:lnTo>
                  <a:pt x="880642" y="880642"/>
                </a:lnTo>
                <a:lnTo>
                  <a:pt x="704513" y="1174189"/>
                </a:lnTo>
                <a:lnTo>
                  <a:pt x="499030" y="1232898"/>
                </a:lnTo>
                <a:lnTo>
                  <a:pt x="381611" y="880642"/>
                </a:lnTo>
                <a:lnTo>
                  <a:pt x="264192" y="557740"/>
                </a:lnTo>
                <a:lnTo>
                  <a:pt x="29355" y="352257"/>
                </a:lnTo>
                <a:lnTo>
                  <a:pt x="0" y="146774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3-mark25"/>
          <p:cNvSpPr/>
          <p:nvPr/>
        </p:nvSpPr>
        <p:spPr>
          <a:xfrm>
            <a:off x="8448374" y="3141629"/>
            <a:ext cx="1144834" cy="572417"/>
          </a:xfrm>
          <a:custGeom>
            <a:avLst/>
            <a:gdLst/>
            <a:ahLst/>
            <a:cxnLst/>
            <a:rect l="l" t="t" r="r" b="b"/>
            <a:pathLst>
              <a:path w="1144834" h="572417">
                <a:moveTo>
                  <a:pt x="0" y="410966"/>
                </a:moveTo>
                <a:lnTo>
                  <a:pt x="205483" y="58709"/>
                </a:lnTo>
                <a:lnTo>
                  <a:pt x="645804" y="0"/>
                </a:lnTo>
                <a:lnTo>
                  <a:pt x="1056770" y="88064"/>
                </a:lnTo>
                <a:lnTo>
                  <a:pt x="1144834" y="381611"/>
                </a:lnTo>
                <a:lnTo>
                  <a:pt x="851287" y="572417"/>
                </a:lnTo>
                <a:lnTo>
                  <a:pt x="322902" y="572417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3-mark26"/>
          <p:cNvSpPr/>
          <p:nvPr/>
        </p:nvSpPr>
        <p:spPr>
          <a:xfrm>
            <a:off x="9857400" y="1644538"/>
            <a:ext cx="1174189" cy="1218221"/>
          </a:xfrm>
          <a:custGeom>
            <a:avLst/>
            <a:gdLst/>
            <a:ahLst/>
            <a:cxnLst/>
            <a:rect l="l" t="t" r="r" b="b"/>
            <a:pathLst>
              <a:path w="1174189" h="1218221">
                <a:moveTo>
                  <a:pt x="58709" y="293547"/>
                </a:moveTo>
                <a:lnTo>
                  <a:pt x="293547" y="29355"/>
                </a:lnTo>
                <a:lnTo>
                  <a:pt x="880642" y="0"/>
                </a:lnTo>
                <a:lnTo>
                  <a:pt x="1174189" y="176128"/>
                </a:lnTo>
                <a:lnTo>
                  <a:pt x="1115479" y="440321"/>
                </a:lnTo>
                <a:lnTo>
                  <a:pt x="880642" y="645804"/>
                </a:lnTo>
                <a:lnTo>
                  <a:pt x="704513" y="909996"/>
                </a:lnTo>
                <a:lnTo>
                  <a:pt x="499030" y="1115479"/>
                </a:lnTo>
                <a:lnTo>
                  <a:pt x="410966" y="1218221"/>
                </a:lnTo>
                <a:lnTo>
                  <a:pt x="293547" y="968706"/>
                </a:lnTo>
                <a:lnTo>
                  <a:pt x="117419" y="704513"/>
                </a:lnTo>
                <a:lnTo>
                  <a:pt x="0" y="440321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3-mark27"/>
          <p:cNvSpPr/>
          <p:nvPr/>
        </p:nvSpPr>
        <p:spPr>
          <a:xfrm>
            <a:off x="10033529" y="2892113"/>
            <a:ext cx="1056770" cy="924674"/>
          </a:xfrm>
          <a:custGeom>
            <a:avLst/>
            <a:gdLst/>
            <a:ahLst/>
            <a:cxnLst/>
            <a:rect l="l" t="t" r="r" b="b"/>
            <a:pathLst>
              <a:path w="1056770" h="924674">
                <a:moveTo>
                  <a:pt x="205483" y="29355"/>
                </a:moveTo>
                <a:lnTo>
                  <a:pt x="587094" y="0"/>
                </a:lnTo>
                <a:lnTo>
                  <a:pt x="939351" y="132096"/>
                </a:lnTo>
                <a:lnTo>
                  <a:pt x="1056770" y="308225"/>
                </a:lnTo>
                <a:lnTo>
                  <a:pt x="821932" y="601772"/>
                </a:lnTo>
                <a:lnTo>
                  <a:pt x="587094" y="836610"/>
                </a:lnTo>
                <a:lnTo>
                  <a:pt x="469676" y="924674"/>
                </a:lnTo>
                <a:lnTo>
                  <a:pt x="381611" y="748545"/>
                </a:lnTo>
                <a:lnTo>
                  <a:pt x="205483" y="484353"/>
                </a:lnTo>
                <a:lnTo>
                  <a:pt x="0" y="190806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3-mark28"/>
          <p:cNvSpPr/>
          <p:nvPr/>
        </p:nvSpPr>
        <p:spPr>
          <a:xfrm>
            <a:off x="9725304" y="3581949"/>
            <a:ext cx="88064" cy="176128"/>
          </a:xfrm>
          <a:custGeom>
            <a:avLst/>
            <a:gdLst/>
            <a:ahLst/>
            <a:cxnLst/>
            <a:rect l="l" t="t" r="r" b="b"/>
            <a:pathLst>
              <a:path w="88064" h="176128">
                <a:moveTo>
                  <a:pt x="88064" y="88064"/>
                </a:moveTo>
                <a:lnTo>
                  <a:pt x="87897" y="80389"/>
                </a:lnTo>
                <a:lnTo>
                  <a:pt x="87395" y="72772"/>
                </a:lnTo>
                <a:lnTo>
                  <a:pt x="86564" y="65271"/>
                </a:lnTo>
                <a:lnTo>
                  <a:pt x="85409" y="57944"/>
                </a:lnTo>
                <a:lnTo>
                  <a:pt x="83939" y="50847"/>
                </a:lnTo>
                <a:lnTo>
                  <a:pt x="82165" y="44032"/>
                </a:lnTo>
                <a:lnTo>
                  <a:pt x="80101" y="37553"/>
                </a:lnTo>
                <a:lnTo>
                  <a:pt x="77763" y="31458"/>
                </a:lnTo>
                <a:lnTo>
                  <a:pt x="75167" y="25793"/>
                </a:lnTo>
                <a:lnTo>
                  <a:pt x="72335" y="20603"/>
                </a:lnTo>
                <a:lnTo>
                  <a:pt x="69288" y="15926"/>
                </a:lnTo>
                <a:lnTo>
                  <a:pt x="66048" y="11798"/>
                </a:lnTo>
                <a:lnTo>
                  <a:pt x="62641" y="8251"/>
                </a:lnTo>
                <a:lnTo>
                  <a:pt x="59092" y="5311"/>
                </a:lnTo>
                <a:lnTo>
                  <a:pt x="55428" y="3001"/>
                </a:lnTo>
                <a:lnTo>
                  <a:pt x="51678" y="1338"/>
                </a:lnTo>
                <a:lnTo>
                  <a:pt x="47870" y="335"/>
                </a:lnTo>
                <a:lnTo>
                  <a:pt x="44032" y="0"/>
                </a:lnTo>
                <a:lnTo>
                  <a:pt x="40194" y="335"/>
                </a:lnTo>
                <a:lnTo>
                  <a:pt x="36386" y="1338"/>
                </a:lnTo>
                <a:lnTo>
                  <a:pt x="32636" y="3001"/>
                </a:lnTo>
                <a:lnTo>
                  <a:pt x="28972" y="5311"/>
                </a:lnTo>
                <a:lnTo>
                  <a:pt x="25423" y="8251"/>
                </a:lnTo>
                <a:lnTo>
                  <a:pt x="22016" y="11798"/>
                </a:lnTo>
                <a:lnTo>
                  <a:pt x="18776" y="15926"/>
                </a:lnTo>
                <a:lnTo>
                  <a:pt x="15729" y="20603"/>
                </a:lnTo>
                <a:lnTo>
                  <a:pt x="12897" y="25793"/>
                </a:lnTo>
                <a:lnTo>
                  <a:pt x="10302" y="31458"/>
                </a:lnTo>
                <a:lnTo>
                  <a:pt x="7963" y="37553"/>
                </a:lnTo>
                <a:lnTo>
                  <a:pt x="5899" y="44032"/>
                </a:lnTo>
                <a:lnTo>
                  <a:pt x="4125" y="50847"/>
                </a:lnTo>
                <a:lnTo>
                  <a:pt x="2655" y="57944"/>
                </a:lnTo>
                <a:lnTo>
                  <a:pt x="1500" y="65271"/>
                </a:lnTo>
                <a:lnTo>
                  <a:pt x="669" y="72772"/>
                </a:lnTo>
                <a:lnTo>
                  <a:pt x="168" y="80389"/>
                </a:lnTo>
                <a:lnTo>
                  <a:pt x="0" y="88064"/>
                </a:lnTo>
                <a:lnTo>
                  <a:pt x="168" y="95739"/>
                </a:lnTo>
                <a:lnTo>
                  <a:pt x="669" y="103356"/>
                </a:lnTo>
                <a:lnTo>
                  <a:pt x="1500" y="110857"/>
                </a:lnTo>
                <a:lnTo>
                  <a:pt x="2655" y="118184"/>
                </a:lnTo>
                <a:lnTo>
                  <a:pt x="4125" y="125282"/>
                </a:lnTo>
                <a:lnTo>
                  <a:pt x="5899" y="132096"/>
                </a:lnTo>
                <a:lnTo>
                  <a:pt x="7963" y="138576"/>
                </a:lnTo>
                <a:lnTo>
                  <a:pt x="10302" y="144671"/>
                </a:lnTo>
                <a:lnTo>
                  <a:pt x="12897" y="150335"/>
                </a:lnTo>
                <a:lnTo>
                  <a:pt x="15729" y="155525"/>
                </a:lnTo>
                <a:lnTo>
                  <a:pt x="18776" y="160202"/>
                </a:lnTo>
                <a:lnTo>
                  <a:pt x="22016" y="164330"/>
                </a:lnTo>
                <a:lnTo>
                  <a:pt x="25423" y="167877"/>
                </a:lnTo>
                <a:lnTo>
                  <a:pt x="28972" y="170817"/>
                </a:lnTo>
                <a:lnTo>
                  <a:pt x="32636" y="173128"/>
                </a:lnTo>
                <a:lnTo>
                  <a:pt x="36386" y="174790"/>
                </a:lnTo>
                <a:lnTo>
                  <a:pt x="40194" y="175793"/>
                </a:lnTo>
                <a:lnTo>
                  <a:pt x="44032" y="176128"/>
                </a:lnTo>
                <a:lnTo>
                  <a:pt x="47870" y="175793"/>
                </a:lnTo>
                <a:lnTo>
                  <a:pt x="51678" y="174790"/>
                </a:lnTo>
                <a:lnTo>
                  <a:pt x="55428" y="173128"/>
                </a:lnTo>
                <a:lnTo>
                  <a:pt x="59092" y="170817"/>
                </a:lnTo>
                <a:lnTo>
                  <a:pt x="62641" y="167877"/>
                </a:lnTo>
                <a:lnTo>
                  <a:pt x="66048" y="164330"/>
                </a:lnTo>
                <a:lnTo>
                  <a:pt x="69288" y="160202"/>
                </a:lnTo>
                <a:lnTo>
                  <a:pt x="72335" y="155525"/>
                </a:lnTo>
                <a:lnTo>
                  <a:pt x="75167" y="150335"/>
                </a:lnTo>
                <a:lnTo>
                  <a:pt x="77763" y="144671"/>
                </a:lnTo>
                <a:lnTo>
                  <a:pt x="80101" y="138576"/>
                </a:lnTo>
                <a:lnTo>
                  <a:pt x="82165" y="132096"/>
                </a:lnTo>
                <a:lnTo>
                  <a:pt x="83939" y="125282"/>
                </a:lnTo>
                <a:lnTo>
                  <a:pt x="85409" y="118184"/>
                </a:lnTo>
                <a:lnTo>
                  <a:pt x="86564" y="110857"/>
                </a:lnTo>
                <a:lnTo>
                  <a:pt x="87395" y="103356"/>
                </a:lnTo>
                <a:lnTo>
                  <a:pt x="87897" y="95739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3-label29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지도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점과 아쉬운 점</a:t>
            </a:r>
            <a:endParaRPr lang="ko-KR" sz="4000" dirty="0"/>
          </a:p>
        </p:txBody>
      </p:sp>
      <p:sp>
        <p:nvSpPr>
          <p:cNvPr id="3" name="S04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앱은 넓히고 좁혀 가며 볼 수 있어요.</a:t>
            </a:r>
            <a:endParaRPr lang="ko-KR" sz="2800" dirty="0"/>
          </a:p>
        </p:txBody>
      </p:sp>
      <p:graphicFrame>
        <p:nvGraphicFramePr>
          <p:cNvPr id="5" name="S04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29028"/>
          <a:ext cx="10515600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4311396"/>
                <a:gridCol w="43113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지도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모양·크기·거리가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실제와 비슷해요.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전체를 한눈에 보고,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가지고 다니기 편해요.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아쉬운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한눈에 전체를 볼 수 없고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들고 다니기 불편해요.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실제와 모양·크기가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다르게 보이는 곳이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크기도 지도와 같을까요?</a:t>
            </a:r>
            <a:endParaRPr lang="ko-KR" sz="4000" dirty="0"/>
          </a:p>
        </p:txBody>
      </p:sp>
      <p:sp>
        <p:nvSpPr>
          <p:cNvPr id="3" name="S05-card3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세계 지도에서는 그린란드라는 섬이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아프리카 대륙만큼 커 보여요.</a:t>
            </a:r>
            <a:endParaRPr lang="ko-KR" sz="2800" dirty="0"/>
          </a:p>
        </p:txBody>
      </p:sp>
      <p:sp>
        <p:nvSpPr>
          <p:cNvPr id="5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2800" dirty="0"/>
          </a:p>
        </p:txBody>
      </p:sp>
      <p:sp>
        <p:nvSpPr>
          <p:cNvPr id="7" name="S05-chip37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5-text38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“지도에서 비슷하니까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크기도 비슷해요.”</a:t>
            </a:r>
            <a:endParaRPr lang="ko-KR" sz="2800" dirty="0"/>
          </a:p>
        </p:txBody>
      </p:sp>
      <p:sp>
        <p:nvSpPr>
          <p:cNvPr id="9" name="S05-chip39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5-text40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“지도는 크기가 다르게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보일 수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지구본으로 확인해요.”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6대륙과 5대양</a:t>
            </a:r>
            <a:endParaRPr lang="ko-KR" sz="4000" dirty="0"/>
          </a:p>
        </p:txBody>
      </p:sp>
      <p:sp>
        <p:nvSpPr>
          <p:cNvPr id="3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넓은 대륙은 아시아, 가장 넓은 대양은 태평양이에요.</a:t>
            </a:r>
            <a:endParaRPr lang="ko-KR" sz="2800" dirty="0"/>
          </a:p>
        </p:txBody>
      </p:sp>
      <p:sp>
        <p:nvSpPr>
          <p:cNvPr id="5" name="S06-figure43" descr="간단히 나타낸 세계 지도(태평양이 가운데): 왼쪽에 유럽과 그 아래 아프리카, 유럽 동쪽에 넓은 아시아, 아시아 남쪽에 인도양, 인도양 동쪽 아래에 오세아니아, 가운데에 태평양, 오른쪽 위에 북아메리카와 그 아래 남아메리카, 오른쪽 끝과 왼쪽 끝에 대서양, 위에 북극해, 아래에 남극해. 아시아 동쪽 끝에 우리나라 표시"/>
          <p:cNvSpPr/>
          <p:nvPr/>
        </p:nvSpPr>
        <p:spPr>
          <a:xfrm>
            <a:off x="2954637" y="1409700"/>
            <a:ext cx="6279677" cy="3176778"/>
          </a:xfrm>
          <a:custGeom>
            <a:avLst/>
            <a:gdLst/>
            <a:ahLst/>
            <a:cxnLst/>
            <a:rect l="l" t="t" r="r" b="b"/>
            <a:pathLst>
              <a:path w="6279677" h="3176778">
                <a:moveTo>
                  <a:pt x="0" y="3176778"/>
                </a:moveTo>
                <a:lnTo>
                  <a:pt x="6279677" y="3176778"/>
                </a:lnTo>
                <a:lnTo>
                  <a:pt x="6279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6-mark44"/>
          <p:cNvSpPr/>
          <p:nvPr/>
        </p:nvSpPr>
        <p:spPr>
          <a:xfrm>
            <a:off x="3545666" y="1779093"/>
            <a:ext cx="849603" cy="812664"/>
          </a:xfrm>
          <a:custGeom>
            <a:avLst/>
            <a:gdLst/>
            <a:ahLst/>
            <a:cxnLst/>
            <a:rect l="l" t="t" r="r" b="b"/>
            <a:pathLst>
              <a:path w="849603" h="812664">
                <a:moveTo>
                  <a:pt x="36939" y="812664"/>
                </a:moveTo>
                <a:lnTo>
                  <a:pt x="849603" y="812664"/>
                </a:lnTo>
                <a:lnTo>
                  <a:pt x="849603" y="110818"/>
                </a:lnTo>
                <a:lnTo>
                  <a:pt x="517150" y="0"/>
                </a:lnTo>
                <a:lnTo>
                  <a:pt x="147757" y="147757"/>
                </a:lnTo>
                <a:lnTo>
                  <a:pt x="0" y="480211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6-mark45"/>
          <p:cNvSpPr/>
          <p:nvPr/>
        </p:nvSpPr>
        <p:spPr>
          <a:xfrm>
            <a:off x="4395269" y="1705214"/>
            <a:ext cx="2327175" cy="1440632"/>
          </a:xfrm>
          <a:custGeom>
            <a:avLst/>
            <a:gdLst/>
            <a:ahLst/>
            <a:cxnLst/>
            <a:rect l="l" t="t" r="r" b="b"/>
            <a:pathLst>
              <a:path w="2327175" h="1440632">
                <a:moveTo>
                  <a:pt x="0" y="886543"/>
                </a:moveTo>
                <a:lnTo>
                  <a:pt x="0" y="184696"/>
                </a:lnTo>
                <a:lnTo>
                  <a:pt x="591028" y="36939"/>
                </a:lnTo>
                <a:lnTo>
                  <a:pt x="1514510" y="0"/>
                </a:lnTo>
                <a:lnTo>
                  <a:pt x="2216357" y="147757"/>
                </a:lnTo>
                <a:lnTo>
                  <a:pt x="2327175" y="517150"/>
                </a:lnTo>
                <a:lnTo>
                  <a:pt x="2105539" y="775725"/>
                </a:lnTo>
                <a:lnTo>
                  <a:pt x="1957782" y="1145118"/>
                </a:lnTo>
                <a:lnTo>
                  <a:pt x="1514510" y="1366753"/>
                </a:lnTo>
                <a:lnTo>
                  <a:pt x="1071239" y="1218996"/>
                </a:lnTo>
                <a:lnTo>
                  <a:pt x="627968" y="1440632"/>
                </a:lnTo>
                <a:lnTo>
                  <a:pt x="369393" y="1071239"/>
                </a:lnTo>
                <a:lnTo>
                  <a:pt x="147757" y="99736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6-mark46"/>
          <p:cNvSpPr/>
          <p:nvPr/>
        </p:nvSpPr>
        <p:spPr>
          <a:xfrm>
            <a:off x="3434848" y="2702575"/>
            <a:ext cx="1329814" cy="1551450"/>
          </a:xfrm>
          <a:custGeom>
            <a:avLst/>
            <a:gdLst/>
            <a:ahLst/>
            <a:cxnLst/>
            <a:rect l="l" t="t" r="r" b="b"/>
            <a:pathLst>
              <a:path w="1329814" h="1551450">
                <a:moveTo>
                  <a:pt x="184696" y="0"/>
                </a:moveTo>
                <a:lnTo>
                  <a:pt x="1071239" y="0"/>
                </a:lnTo>
                <a:lnTo>
                  <a:pt x="1218996" y="369393"/>
                </a:lnTo>
                <a:lnTo>
                  <a:pt x="1329814" y="701846"/>
                </a:lnTo>
                <a:lnTo>
                  <a:pt x="1108178" y="1108178"/>
                </a:lnTo>
                <a:lnTo>
                  <a:pt x="886543" y="1477571"/>
                </a:lnTo>
                <a:lnTo>
                  <a:pt x="627968" y="1551450"/>
                </a:lnTo>
                <a:lnTo>
                  <a:pt x="480211" y="1108178"/>
                </a:lnTo>
                <a:lnTo>
                  <a:pt x="332454" y="701846"/>
                </a:lnTo>
                <a:lnTo>
                  <a:pt x="36939" y="443271"/>
                </a:lnTo>
                <a:lnTo>
                  <a:pt x="0" y="184696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6-mark47"/>
          <p:cNvSpPr/>
          <p:nvPr/>
        </p:nvSpPr>
        <p:spPr>
          <a:xfrm>
            <a:off x="5466508" y="3589117"/>
            <a:ext cx="1440632" cy="720316"/>
          </a:xfrm>
          <a:custGeom>
            <a:avLst/>
            <a:gdLst/>
            <a:ahLst/>
            <a:cxnLst/>
            <a:rect l="l" t="t" r="r" b="b"/>
            <a:pathLst>
              <a:path w="1440632" h="720316">
                <a:moveTo>
                  <a:pt x="0" y="517150"/>
                </a:moveTo>
                <a:lnTo>
                  <a:pt x="258575" y="73879"/>
                </a:lnTo>
                <a:lnTo>
                  <a:pt x="812664" y="0"/>
                </a:lnTo>
                <a:lnTo>
                  <a:pt x="1329814" y="110818"/>
                </a:lnTo>
                <a:lnTo>
                  <a:pt x="1440632" y="480211"/>
                </a:lnTo>
                <a:lnTo>
                  <a:pt x="1071239" y="720316"/>
                </a:lnTo>
                <a:lnTo>
                  <a:pt x="406332" y="72031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6-mark48"/>
          <p:cNvSpPr/>
          <p:nvPr/>
        </p:nvSpPr>
        <p:spPr>
          <a:xfrm>
            <a:off x="7239594" y="1705214"/>
            <a:ext cx="1477571" cy="1532980"/>
          </a:xfrm>
          <a:custGeom>
            <a:avLst/>
            <a:gdLst/>
            <a:ahLst/>
            <a:cxnLst/>
            <a:rect l="l" t="t" r="r" b="b"/>
            <a:pathLst>
              <a:path w="1477571" h="1532980">
                <a:moveTo>
                  <a:pt x="73879" y="369393"/>
                </a:moveTo>
                <a:lnTo>
                  <a:pt x="369393" y="36939"/>
                </a:lnTo>
                <a:lnTo>
                  <a:pt x="1108178" y="0"/>
                </a:lnTo>
                <a:lnTo>
                  <a:pt x="1477571" y="221636"/>
                </a:lnTo>
                <a:lnTo>
                  <a:pt x="1403693" y="554089"/>
                </a:lnTo>
                <a:lnTo>
                  <a:pt x="1108178" y="812664"/>
                </a:lnTo>
                <a:lnTo>
                  <a:pt x="886543" y="1145118"/>
                </a:lnTo>
                <a:lnTo>
                  <a:pt x="627968" y="1403693"/>
                </a:lnTo>
                <a:lnTo>
                  <a:pt x="517150" y="1532980"/>
                </a:lnTo>
                <a:lnTo>
                  <a:pt x="369393" y="1218996"/>
                </a:lnTo>
                <a:lnTo>
                  <a:pt x="147757" y="886543"/>
                </a:lnTo>
                <a:lnTo>
                  <a:pt x="0" y="554089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6-mark49"/>
          <p:cNvSpPr/>
          <p:nvPr/>
        </p:nvSpPr>
        <p:spPr>
          <a:xfrm>
            <a:off x="7461229" y="3275134"/>
            <a:ext cx="1329814" cy="1163587"/>
          </a:xfrm>
          <a:custGeom>
            <a:avLst/>
            <a:gdLst/>
            <a:ahLst/>
            <a:cxnLst/>
            <a:rect l="l" t="t" r="r" b="b"/>
            <a:pathLst>
              <a:path w="1329814" h="1163587">
                <a:moveTo>
                  <a:pt x="258575" y="36939"/>
                </a:moveTo>
                <a:lnTo>
                  <a:pt x="738786" y="0"/>
                </a:lnTo>
                <a:lnTo>
                  <a:pt x="1182057" y="166227"/>
                </a:lnTo>
                <a:lnTo>
                  <a:pt x="1329814" y="387862"/>
                </a:lnTo>
                <a:lnTo>
                  <a:pt x="1034300" y="757255"/>
                </a:lnTo>
                <a:lnTo>
                  <a:pt x="738786" y="1052769"/>
                </a:lnTo>
                <a:lnTo>
                  <a:pt x="591028" y="1163587"/>
                </a:lnTo>
                <a:lnTo>
                  <a:pt x="480211" y="941952"/>
                </a:lnTo>
                <a:lnTo>
                  <a:pt x="258575" y="609498"/>
                </a:lnTo>
                <a:lnTo>
                  <a:pt x="0" y="240105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6-mark50"/>
          <p:cNvSpPr/>
          <p:nvPr/>
        </p:nvSpPr>
        <p:spPr>
          <a:xfrm>
            <a:off x="6460175" y="2163261"/>
            <a:ext cx="118206" cy="118206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51"/>
          <p:cNvSpPr/>
          <p:nvPr/>
        </p:nvSpPr>
        <p:spPr>
          <a:xfrm>
            <a:off x="7073367" y="4143207"/>
            <a:ext cx="110818" cy="221636"/>
          </a:xfrm>
          <a:custGeom>
            <a:avLst/>
            <a:gdLst/>
            <a:ahLst/>
            <a:cxnLst/>
            <a:rect l="l" t="t" r="r" b="b"/>
            <a:pathLst>
              <a:path w="110818" h="221636">
                <a:moveTo>
                  <a:pt x="110818" y="110818"/>
                </a:moveTo>
                <a:lnTo>
                  <a:pt x="110607" y="101159"/>
                </a:lnTo>
                <a:lnTo>
                  <a:pt x="109976" y="91575"/>
                </a:lnTo>
                <a:lnTo>
                  <a:pt x="108930" y="82136"/>
                </a:lnTo>
                <a:lnTo>
                  <a:pt x="107476" y="72916"/>
                </a:lnTo>
                <a:lnTo>
                  <a:pt x="105626" y="63984"/>
                </a:lnTo>
                <a:lnTo>
                  <a:pt x="103394" y="55409"/>
                </a:lnTo>
                <a:lnTo>
                  <a:pt x="100797" y="47255"/>
                </a:lnTo>
                <a:lnTo>
                  <a:pt x="97855" y="39586"/>
                </a:lnTo>
                <a:lnTo>
                  <a:pt x="94589" y="32458"/>
                </a:lnTo>
                <a:lnTo>
                  <a:pt x="91025" y="25926"/>
                </a:lnTo>
                <a:lnTo>
                  <a:pt x="87190" y="20041"/>
                </a:lnTo>
                <a:lnTo>
                  <a:pt x="83113" y="14847"/>
                </a:lnTo>
                <a:lnTo>
                  <a:pt x="78826" y="10383"/>
                </a:lnTo>
                <a:lnTo>
                  <a:pt x="74360" y="6683"/>
                </a:lnTo>
                <a:lnTo>
                  <a:pt x="69750" y="3776"/>
                </a:lnTo>
                <a:lnTo>
                  <a:pt x="65031" y="1684"/>
                </a:lnTo>
                <a:lnTo>
                  <a:pt x="60238" y="422"/>
                </a:lnTo>
                <a:lnTo>
                  <a:pt x="55409" y="0"/>
                </a:lnTo>
                <a:lnTo>
                  <a:pt x="50580" y="422"/>
                </a:lnTo>
                <a:lnTo>
                  <a:pt x="45787" y="1684"/>
                </a:lnTo>
                <a:lnTo>
                  <a:pt x="41068" y="3776"/>
                </a:lnTo>
                <a:lnTo>
                  <a:pt x="36458" y="6683"/>
                </a:lnTo>
                <a:lnTo>
                  <a:pt x="31992" y="10383"/>
                </a:lnTo>
                <a:lnTo>
                  <a:pt x="27704" y="14847"/>
                </a:lnTo>
                <a:lnTo>
                  <a:pt x="23628" y="20041"/>
                </a:lnTo>
                <a:lnTo>
                  <a:pt x="19793" y="25926"/>
                </a:lnTo>
                <a:lnTo>
                  <a:pt x="16229" y="32458"/>
                </a:lnTo>
                <a:lnTo>
                  <a:pt x="12963" y="39586"/>
                </a:lnTo>
                <a:lnTo>
                  <a:pt x="10021" y="47255"/>
                </a:lnTo>
                <a:lnTo>
                  <a:pt x="7423" y="55409"/>
                </a:lnTo>
                <a:lnTo>
                  <a:pt x="5191" y="63984"/>
                </a:lnTo>
                <a:lnTo>
                  <a:pt x="3342" y="72916"/>
                </a:lnTo>
                <a:lnTo>
                  <a:pt x="1888" y="82136"/>
                </a:lnTo>
                <a:lnTo>
                  <a:pt x="842" y="91575"/>
                </a:lnTo>
                <a:lnTo>
                  <a:pt x="211" y="101159"/>
                </a:lnTo>
                <a:lnTo>
                  <a:pt x="0" y="110818"/>
                </a:lnTo>
                <a:lnTo>
                  <a:pt x="211" y="120476"/>
                </a:lnTo>
                <a:lnTo>
                  <a:pt x="842" y="130061"/>
                </a:lnTo>
                <a:lnTo>
                  <a:pt x="1888" y="139500"/>
                </a:lnTo>
                <a:lnTo>
                  <a:pt x="3342" y="148720"/>
                </a:lnTo>
                <a:lnTo>
                  <a:pt x="5191" y="157651"/>
                </a:lnTo>
                <a:lnTo>
                  <a:pt x="7423" y="166227"/>
                </a:lnTo>
                <a:lnTo>
                  <a:pt x="10021" y="174380"/>
                </a:lnTo>
                <a:lnTo>
                  <a:pt x="12963" y="182050"/>
                </a:lnTo>
                <a:lnTo>
                  <a:pt x="16229" y="189178"/>
                </a:lnTo>
                <a:lnTo>
                  <a:pt x="19793" y="195709"/>
                </a:lnTo>
                <a:lnTo>
                  <a:pt x="23628" y="201594"/>
                </a:lnTo>
                <a:lnTo>
                  <a:pt x="27704" y="206789"/>
                </a:lnTo>
                <a:lnTo>
                  <a:pt x="31992" y="211253"/>
                </a:lnTo>
                <a:lnTo>
                  <a:pt x="36458" y="214953"/>
                </a:lnTo>
                <a:lnTo>
                  <a:pt x="41068" y="217860"/>
                </a:lnTo>
                <a:lnTo>
                  <a:pt x="45787" y="219952"/>
                </a:lnTo>
                <a:lnTo>
                  <a:pt x="50580" y="221214"/>
                </a:lnTo>
                <a:lnTo>
                  <a:pt x="55409" y="221636"/>
                </a:lnTo>
                <a:lnTo>
                  <a:pt x="60238" y="221214"/>
                </a:lnTo>
                <a:lnTo>
                  <a:pt x="65031" y="219952"/>
                </a:lnTo>
                <a:lnTo>
                  <a:pt x="69750" y="217860"/>
                </a:lnTo>
                <a:lnTo>
                  <a:pt x="74360" y="214953"/>
                </a:lnTo>
                <a:lnTo>
                  <a:pt x="78826" y="211253"/>
                </a:lnTo>
                <a:lnTo>
                  <a:pt x="83113" y="206789"/>
                </a:lnTo>
                <a:lnTo>
                  <a:pt x="87190" y="201594"/>
                </a:lnTo>
                <a:lnTo>
                  <a:pt x="91025" y="195709"/>
                </a:lnTo>
                <a:lnTo>
                  <a:pt x="94589" y="189178"/>
                </a:lnTo>
                <a:lnTo>
                  <a:pt x="97855" y="182050"/>
                </a:lnTo>
                <a:lnTo>
                  <a:pt x="100797" y="174380"/>
                </a:lnTo>
                <a:lnTo>
                  <a:pt x="103394" y="166227"/>
                </a:lnTo>
                <a:lnTo>
                  <a:pt x="105626" y="157651"/>
                </a:lnTo>
                <a:lnTo>
                  <a:pt x="107476" y="148720"/>
                </a:lnTo>
                <a:lnTo>
                  <a:pt x="108930" y="139500"/>
                </a:lnTo>
                <a:lnTo>
                  <a:pt x="109976" y="130061"/>
                </a:lnTo>
                <a:lnTo>
                  <a:pt x="110607" y="12047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6-label53"/>
          <p:cNvSpPr txBox="1"/>
          <p:nvPr/>
        </p:nvSpPr>
        <p:spPr>
          <a:xfrm>
            <a:off x="3691575" y="209795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</a:t>
            </a:r>
            <a:endParaRPr lang="ko-KR" sz="1800" dirty="0"/>
          </a:p>
        </p:txBody>
      </p:sp>
      <p:sp>
        <p:nvSpPr>
          <p:cNvPr id="15" name="S06-label55"/>
          <p:cNvSpPr txBox="1"/>
          <p:nvPr/>
        </p:nvSpPr>
        <p:spPr>
          <a:xfrm>
            <a:off x="4927845" y="244888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</a:t>
            </a:r>
            <a:endParaRPr lang="ko-KR" sz="1800" dirty="0"/>
          </a:p>
        </p:txBody>
      </p:sp>
      <p:sp>
        <p:nvSpPr>
          <p:cNvPr id="16" name="S06-label57"/>
          <p:cNvSpPr txBox="1"/>
          <p:nvPr/>
        </p:nvSpPr>
        <p:spPr>
          <a:xfrm>
            <a:off x="3615305" y="3076850"/>
            <a:ext cx="100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아프리카</a:t>
            </a:r>
            <a:endParaRPr lang="ko-KR" sz="1800" dirty="0"/>
          </a:p>
        </p:txBody>
      </p:sp>
      <p:sp>
        <p:nvSpPr>
          <p:cNvPr id="17" name="S06-label59"/>
          <p:cNvSpPr txBox="1"/>
          <p:nvPr/>
        </p:nvSpPr>
        <p:spPr>
          <a:xfrm>
            <a:off x="5571890" y="3815635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오세아니아</a:t>
            </a:r>
            <a:endParaRPr lang="ko-KR" sz="1800" dirty="0"/>
          </a:p>
        </p:txBody>
      </p:sp>
      <p:sp>
        <p:nvSpPr>
          <p:cNvPr id="18" name="S06-label61"/>
          <p:cNvSpPr txBox="1"/>
          <p:nvPr/>
        </p:nvSpPr>
        <p:spPr>
          <a:xfrm>
            <a:off x="7363445" y="2079489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북아메리카</a:t>
            </a:r>
            <a:endParaRPr lang="ko-KR" sz="1800" dirty="0"/>
          </a:p>
        </p:txBody>
      </p:sp>
      <p:sp>
        <p:nvSpPr>
          <p:cNvPr id="19" name="S06-label63"/>
          <p:cNvSpPr txBox="1"/>
          <p:nvPr/>
        </p:nvSpPr>
        <p:spPr>
          <a:xfrm>
            <a:off x="7529672" y="3483182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남아메리카</a:t>
            </a:r>
            <a:endParaRPr lang="ko-KR" sz="1800" dirty="0"/>
          </a:p>
        </p:txBody>
      </p:sp>
      <p:sp>
        <p:nvSpPr>
          <p:cNvPr id="20" name="S06-label65"/>
          <p:cNvSpPr txBox="1"/>
          <p:nvPr/>
        </p:nvSpPr>
        <p:spPr>
          <a:xfrm>
            <a:off x="6627052" y="3187668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21" name="S06-label67"/>
          <p:cNvSpPr txBox="1"/>
          <p:nvPr/>
        </p:nvSpPr>
        <p:spPr>
          <a:xfrm>
            <a:off x="8845801" y="2458646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2" name="S06-label69"/>
          <p:cNvSpPr txBox="1"/>
          <p:nvPr/>
        </p:nvSpPr>
        <p:spPr>
          <a:xfrm>
            <a:off x="3064804" y="3456007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3" name="S06-label71"/>
          <p:cNvSpPr txBox="1"/>
          <p:nvPr/>
        </p:nvSpPr>
        <p:spPr>
          <a:xfrm>
            <a:off x="4687740" y="359400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인도양</a:t>
            </a:r>
            <a:endParaRPr lang="ko-KR" sz="1800" dirty="0"/>
          </a:p>
        </p:txBody>
      </p:sp>
      <p:sp>
        <p:nvSpPr>
          <p:cNvPr id="24" name="S06-label73"/>
          <p:cNvSpPr txBox="1"/>
          <p:nvPr/>
        </p:nvSpPr>
        <p:spPr>
          <a:xfrm>
            <a:off x="6627052" y="143305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북극해</a:t>
            </a:r>
            <a:endParaRPr lang="ko-KR" sz="1800" dirty="0"/>
          </a:p>
        </p:txBody>
      </p:sp>
      <p:sp>
        <p:nvSpPr>
          <p:cNvPr id="25" name="S06-label75"/>
          <p:cNvSpPr txBox="1"/>
          <p:nvPr/>
        </p:nvSpPr>
        <p:spPr>
          <a:xfrm>
            <a:off x="4780088" y="429584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남극해</a:t>
            </a:r>
            <a:endParaRPr lang="ko-KR" sz="1800" dirty="0"/>
          </a:p>
        </p:txBody>
      </p:sp>
      <p:sp>
        <p:nvSpPr>
          <p:cNvPr id="26" name="S06-label77"/>
          <p:cNvSpPr txBox="1"/>
          <p:nvPr/>
        </p:nvSpPr>
        <p:spPr>
          <a:xfrm>
            <a:off x="5369920" y="2024080"/>
            <a:ext cx="100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84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</a:t>
            </a:r>
            <a:endParaRPr lang="ko-KR" sz="1800" dirty="0"/>
          </a:p>
        </p:txBody>
      </p:sp>
      <p:sp>
        <p:nvSpPr>
          <p:cNvPr id="27" name="S06-label78"/>
          <p:cNvSpPr txBox="1"/>
          <p:nvPr/>
        </p:nvSpPr>
        <p:spPr>
          <a:xfrm>
            <a:off x="548640" y="4743450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찾아요</a:t>
            </a:r>
            <a:endParaRPr lang="ko-KR" sz="4000" dirty="0"/>
          </a:p>
        </p:txBody>
      </p:sp>
      <p:sp>
        <p:nvSpPr>
          <p:cNvPr id="3" name="S07-card7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8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가·나·다 대륙의 이름은?   ② 라·마 대양의 이름은?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아프리카와 오세아니아 사이의 대양은?</a:t>
            </a:r>
            <a:endParaRPr lang="ko-KR" sz="2800" dirty="0"/>
          </a:p>
        </p:txBody>
      </p:sp>
      <p:sp>
        <p:nvSpPr>
          <p:cNvPr id="5" name="S07-figure81" descr="간단히 나타낸 세계 지도(이름 없음): 아시아 자리에 가, 북아메리카 자리에 나, 유럽 자리에 다, 태평양 자리에 라, 북극해 자리에 마"/>
          <p:cNvSpPr/>
          <p:nvPr/>
        </p:nvSpPr>
        <p:spPr>
          <a:xfrm>
            <a:off x="3278989" y="1409700"/>
            <a:ext cx="5630973" cy="2848610"/>
          </a:xfrm>
          <a:custGeom>
            <a:avLst/>
            <a:gdLst/>
            <a:ahLst/>
            <a:cxnLst/>
            <a:rect l="l" t="t" r="r" b="b"/>
            <a:pathLst>
              <a:path w="5630973" h="2848610">
                <a:moveTo>
                  <a:pt x="0" y="2848610"/>
                </a:moveTo>
                <a:lnTo>
                  <a:pt x="5630973" y="2848610"/>
                </a:lnTo>
                <a:lnTo>
                  <a:pt x="563097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7-mark82"/>
          <p:cNvSpPr/>
          <p:nvPr/>
        </p:nvSpPr>
        <p:spPr>
          <a:xfrm>
            <a:off x="3808963" y="1740934"/>
            <a:ext cx="761838" cy="728714"/>
          </a:xfrm>
          <a:custGeom>
            <a:avLst/>
            <a:gdLst/>
            <a:ahLst/>
            <a:cxnLst/>
            <a:rect l="l" t="t" r="r" b="b"/>
            <a:pathLst>
              <a:path w="761838" h="728714">
                <a:moveTo>
                  <a:pt x="33123" y="728714"/>
                </a:moveTo>
                <a:lnTo>
                  <a:pt x="761838" y="728714"/>
                </a:lnTo>
                <a:lnTo>
                  <a:pt x="761838" y="99370"/>
                </a:lnTo>
                <a:lnTo>
                  <a:pt x="463727" y="0"/>
                </a:lnTo>
                <a:lnTo>
                  <a:pt x="132493" y="132493"/>
                </a:lnTo>
                <a:lnTo>
                  <a:pt x="0" y="430604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7-mark83"/>
          <p:cNvSpPr/>
          <p:nvPr/>
        </p:nvSpPr>
        <p:spPr>
          <a:xfrm>
            <a:off x="4570801" y="1674687"/>
            <a:ext cx="2086772" cy="1291812"/>
          </a:xfrm>
          <a:custGeom>
            <a:avLst/>
            <a:gdLst/>
            <a:ahLst/>
            <a:cxnLst/>
            <a:rect l="l" t="t" r="r" b="b"/>
            <a:pathLst>
              <a:path w="2086772" h="1291812">
                <a:moveTo>
                  <a:pt x="0" y="794961"/>
                </a:moveTo>
                <a:lnTo>
                  <a:pt x="0" y="165617"/>
                </a:lnTo>
                <a:lnTo>
                  <a:pt x="529974" y="33123"/>
                </a:lnTo>
                <a:lnTo>
                  <a:pt x="1358058" y="0"/>
                </a:lnTo>
                <a:lnTo>
                  <a:pt x="1987402" y="132493"/>
                </a:lnTo>
                <a:lnTo>
                  <a:pt x="2086772" y="463727"/>
                </a:lnTo>
                <a:lnTo>
                  <a:pt x="1888032" y="695591"/>
                </a:lnTo>
                <a:lnTo>
                  <a:pt x="1755539" y="1026825"/>
                </a:lnTo>
                <a:lnTo>
                  <a:pt x="1358058" y="1225565"/>
                </a:lnTo>
                <a:lnTo>
                  <a:pt x="960578" y="1093071"/>
                </a:lnTo>
                <a:lnTo>
                  <a:pt x="563097" y="1291812"/>
                </a:lnTo>
                <a:lnTo>
                  <a:pt x="331234" y="960578"/>
                </a:lnTo>
                <a:lnTo>
                  <a:pt x="132493" y="89433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84"/>
          <p:cNvSpPr/>
          <p:nvPr/>
        </p:nvSpPr>
        <p:spPr>
          <a:xfrm>
            <a:off x="3709593" y="2569018"/>
            <a:ext cx="1192441" cy="1391182"/>
          </a:xfrm>
          <a:custGeom>
            <a:avLst/>
            <a:gdLst/>
            <a:ahLst/>
            <a:cxnLst/>
            <a:rect l="l" t="t" r="r" b="b"/>
            <a:pathLst>
              <a:path w="1192441" h="1391182">
                <a:moveTo>
                  <a:pt x="165617" y="0"/>
                </a:moveTo>
                <a:lnTo>
                  <a:pt x="960578" y="0"/>
                </a:lnTo>
                <a:lnTo>
                  <a:pt x="1093071" y="331234"/>
                </a:lnTo>
                <a:lnTo>
                  <a:pt x="1192441" y="629344"/>
                </a:lnTo>
                <a:lnTo>
                  <a:pt x="993701" y="993701"/>
                </a:lnTo>
                <a:lnTo>
                  <a:pt x="794961" y="1324935"/>
                </a:lnTo>
                <a:lnTo>
                  <a:pt x="563097" y="1391182"/>
                </a:lnTo>
                <a:lnTo>
                  <a:pt x="430604" y="993701"/>
                </a:lnTo>
                <a:lnTo>
                  <a:pt x="298110" y="629344"/>
                </a:lnTo>
                <a:lnTo>
                  <a:pt x="33123" y="397480"/>
                </a:lnTo>
                <a:lnTo>
                  <a:pt x="0" y="165617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7-mark85"/>
          <p:cNvSpPr/>
          <p:nvPr/>
        </p:nvSpPr>
        <p:spPr>
          <a:xfrm>
            <a:off x="5531379" y="3363979"/>
            <a:ext cx="1291812" cy="645906"/>
          </a:xfrm>
          <a:custGeom>
            <a:avLst/>
            <a:gdLst/>
            <a:ahLst/>
            <a:cxnLst/>
            <a:rect l="l" t="t" r="r" b="b"/>
            <a:pathLst>
              <a:path w="1291812" h="645906">
                <a:moveTo>
                  <a:pt x="0" y="463727"/>
                </a:moveTo>
                <a:lnTo>
                  <a:pt x="231864" y="66247"/>
                </a:lnTo>
                <a:lnTo>
                  <a:pt x="728714" y="0"/>
                </a:lnTo>
                <a:lnTo>
                  <a:pt x="1192441" y="99370"/>
                </a:lnTo>
                <a:lnTo>
                  <a:pt x="1291812" y="430604"/>
                </a:lnTo>
                <a:lnTo>
                  <a:pt x="960578" y="645906"/>
                </a:lnTo>
                <a:lnTo>
                  <a:pt x="364357" y="64590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7-mark86"/>
          <p:cNvSpPr/>
          <p:nvPr/>
        </p:nvSpPr>
        <p:spPr>
          <a:xfrm>
            <a:off x="7121301" y="1674687"/>
            <a:ext cx="1324935" cy="1374620"/>
          </a:xfrm>
          <a:custGeom>
            <a:avLst/>
            <a:gdLst/>
            <a:ahLst/>
            <a:cxnLst/>
            <a:rect l="l" t="t" r="r" b="b"/>
            <a:pathLst>
              <a:path w="1324935" h="1374620">
                <a:moveTo>
                  <a:pt x="66247" y="331234"/>
                </a:moveTo>
                <a:lnTo>
                  <a:pt x="331234" y="33123"/>
                </a:lnTo>
                <a:lnTo>
                  <a:pt x="993701" y="0"/>
                </a:lnTo>
                <a:lnTo>
                  <a:pt x="1324935" y="198740"/>
                </a:lnTo>
                <a:lnTo>
                  <a:pt x="1258688" y="496851"/>
                </a:lnTo>
                <a:lnTo>
                  <a:pt x="993701" y="728714"/>
                </a:lnTo>
                <a:lnTo>
                  <a:pt x="794961" y="1026825"/>
                </a:lnTo>
                <a:lnTo>
                  <a:pt x="563097" y="1258688"/>
                </a:lnTo>
                <a:lnTo>
                  <a:pt x="463727" y="1374620"/>
                </a:lnTo>
                <a:lnTo>
                  <a:pt x="331234" y="1093071"/>
                </a:lnTo>
                <a:lnTo>
                  <a:pt x="132493" y="794961"/>
                </a:lnTo>
                <a:lnTo>
                  <a:pt x="0" y="496851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7-mark87"/>
          <p:cNvSpPr/>
          <p:nvPr/>
        </p:nvSpPr>
        <p:spPr>
          <a:xfrm>
            <a:off x="7320041" y="3082430"/>
            <a:ext cx="1192441" cy="1043386"/>
          </a:xfrm>
          <a:custGeom>
            <a:avLst/>
            <a:gdLst/>
            <a:ahLst/>
            <a:cxnLst/>
            <a:rect l="l" t="t" r="r" b="b"/>
            <a:pathLst>
              <a:path w="1192441" h="1043386">
                <a:moveTo>
                  <a:pt x="231864" y="33123"/>
                </a:moveTo>
                <a:lnTo>
                  <a:pt x="662467" y="0"/>
                </a:lnTo>
                <a:lnTo>
                  <a:pt x="1059948" y="149055"/>
                </a:lnTo>
                <a:lnTo>
                  <a:pt x="1192441" y="347795"/>
                </a:lnTo>
                <a:lnTo>
                  <a:pt x="927454" y="679029"/>
                </a:lnTo>
                <a:lnTo>
                  <a:pt x="662467" y="944016"/>
                </a:lnTo>
                <a:lnTo>
                  <a:pt x="529974" y="1043386"/>
                </a:lnTo>
                <a:lnTo>
                  <a:pt x="430604" y="844646"/>
                </a:lnTo>
                <a:lnTo>
                  <a:pt x="231864" y="546536"/>
                </a:lnTo>
                <a:lnTo>
                  <a:pt x="0" y="215302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7-mark88"/>
          <p:cNvSpPr/>
          <p:nvPr/>
        </p:nvSpPr>
        <p:spPr>
          <a:xfrm>
            <a:off x="6972245" y="3860830"/>
            <a:ext cx="99370" cy="198740"/>
          </a:xfrm>
          <a:custGeom>
            <a:avLst/>
            <a:gdLst/>
            <a:ahLst/>
            <a:cxnLst/>
            <a:rect l="l" t="t" r="r" b="b"/>
            <a:pathLst>
              <a:path w="99370" h="198740">
                <a:moveTo>
                  <a:pt x="99370" y="99370"/>
                </a:moveTo>
                <a:lnTo>
                  <a:pt x="99181" y="90709"/>
                </a:lnTo>
                <a:lnTo>
                  <a:pt x="98615" y="82115"/>
                </a:lnTo>
                <a:lnTo>
                  <a:pt x="97677" y="73651"/>
                </a:lnTo>
                <a:lnTo>
                  <a:pt x="96374" y="65384"/>
                </a:lnTo>
                <a:lnTo>
                  <a:pt x="94715" y="57374"/>
                </a:lnTo>
                <a:lnTo>
                  <a:pt x="92714" y="49685"/>
                </a:lnTo>
                <a:lnTo>
                  <a:pt x="90385" y="42374"/>
                </a:lnTo>
                <a:lnTo>
                  <a:pt x="87746" y="35496"/>
                </a:lnTo>
                <a:lnTo>
                  <a:pt x="84818" y="29105"/>
                </a:lnTo>
                <a:lnTo>
                  <a:pt x="81622" y="23248"/>
                </a:lnTo>
                <a:lnTo>
                  <a:pt x="78183" y="17971"/>
                </a:lnTo>
                <a:lnTo>
                  <a:pt x="74528" y="13313"/>
                </a:lnTo>
                <a:lnTo>
                  <a:pt x="70683" y="9310"/>
                </a:lnTo>
                <a:lnTo>
                  <a:pt x="66678" y="5993"/>
                </a:lnTo>
                <a:lnTo>
                  <a:pt x="62544" y="3386"/>
                </a:lnTo>
                <a:lnTo>
                  <a:pt x="58313" y="1510"/>
                </a:lnTo>
                <a:lnTo>
                  <a:pt x="54015" y="378"/>
                </a:lnTo>
                <a:lnTo>
                  <a:pt x="49685" y="0"/>
                </a:lnTo>
                <a:lnTo>
                  <a:pt x="45355" y="378"/>
                </a:lnTo>
                <a:lnTo>
                  <a:pt x="41057" y="1510"/>
                </a:lnTo>
                <a:lnTo>
                  <a:pt x="36826" y="3386"/>
                </a:lnTo>
                <a:lnTo>
                  <a:pt x="32692" y="5993"/>
                </a:lnTo>
                <a:lnTo>
                  <a:pt x="28687" y="9310"/>
                </a:lnTo>
                <a:lnTo>
                  <a:pt x="24843" y="13313"/>
                </a:lnTo>
                <a:lnTo>
                  <a:pt x="21187" y="17971"/>
                </a:lnTo>
                <a:lnTo>
                  <a:pt x="17748" y="23248"/>
                </a:lnTo>
                <a:lnTo>
                  <a:pt x="14552" y="29105"/>
                </a:lnTo>
                <a:lnTo>
                  <a:pt x="11624" y="35496"/>
                </a:lnTo>
                <a:lnTo>
                  <a:pt x="8985" y="42374"/>
                </a:lnTo>
                <a:lnTo>
                  <a:pt x="6657" y="49685"/>
                </a:lnTo>
                <a:lnTo>
                  <a:pt x="4655" y="57374"/>
                </a:lnTo>
                <a:lnTo>
                  <a:pt x="2996" y="65384"/>
                </a:lnTo>
                <a:lnTo>
                  <a:pt x="1693" y="73651"/>
                </a:lnTo>
                <a:lnTo>
                  <a:pt x="755" y="82115"/>
                </a:lnTo>
                <a:lnTo>
                  <a:pt x="189" y="90709"/>
                </a:lnTo>
                <a:lnTo>
                  <a:pt x="0" y="99370"/>
                </a:lnTo>
                <a:lnTo>
                  <a:pt x="189" y="108031"/>
                </a:lnTo>
                <a:lnTo>
                  <a:pt x="755" y="116626"/>
                </a:lnTo>
                <a:lnTo>
                  <a:pt x="1693" y="125089"/>
                </a:lnTo>
                <a:lnTo>
                  <a:pt x="2996" y="133357"/>
                </a:lnTo>
                <a:lnTo>
                  <a:pt x="4655" y="141366"/>
                </a:lnTo>
                <a:lnTo>
                  <a:pt x="6657" y="149055"/>
                </a:lnTo>
                <a:lnTo>
                  <a:pt x="8985" y="156366"/>
                </a:lnTo>
                <a:lnTo>
                  <a:pt x="11624" y="163244"/>
                </a:lnTo>
                <a:lnTo>
                  <a:pt x="14552" y="169635"/>
                </a:lnTo>
                <a:lnTo>
                  <a:pt x="17748" y="175492"/>
                </a:lnTo>
                <a:lnTo>
                  <a:pt x="21187" y="180769"/>
                </a:lnTo>
                <a:lnTo>
                  <a:pt x="24843" y="185427"/>
                </a:lnTo>
                <a:lnTo>
                  <a:pt x="28687" y="189430"/>
                </a:lnTo>
                <a:lnTo>
                  <a:pt x="32692" y="192747"/>
                </a:lnTo>
                <a:lnTo>
                  <a:pt x="36826" y="195354"/>
                </a:lnTo>
                <a:lnTo>
                  <a:pt x="41057" y="197231"/>
                </a:lnTo>
                <a:lnTo>
                  <a:pt x="45355" y="198362"/>
                </a:lnTo>
                <a:lnTo>
                  <a:pt x="49685" y="198740"/>
                </a:lnTo>
                <a:lnTo>
                  <a:pt x="54015" y="198362"/>
                </a:lnTo>
                <a:lnTo>
                  <a:pt x="58313" y="197231"/>
                </a:lnTo>
                <a:lnTo>
                  <a:pt x="62544" y="195354"/>
                </a:lnTo>
                <a:lnTo>
                  <a:pt x="66678" y="192747"/>
                </a:lnTo>
                <a:lnTo>
                  <a:pt x="70683" y="189430"/>
                </a:lnTo>
                <a:lnTo>
                  <a:pt x="74528" y="185427"/>
                </a:lnTo>
                <a:lnTo>
                  <a:pt x="78183" y="180769"/>
                </a:lnTo>
                <a:lnTo>
                  <a:pt x="81622" y="175492"/>
                </a:lnTo>
                <a:lnTo>
                  <a:pt x="84818" y="169635"/>
                </a:lnTo>
                <a:lnTo>
                  <a:pt x="87746" y="163244"/>
                </a:lnTo>
                <a:lnTo>
                  <a:pt x="90385" y="156366"/>
                </a:lnTo>
                <a:lnTo>
                  <a:pt x="92714" y="149055"/>
                </a:lnTo>
                <a:lnTo>
                  <a:pt x="94715" y="141366"/>
                </a:lnTo>
                <a:lnTo>
                  <a:pt x="96374" y="133357"/>
                </a:lnTo>
                <a:lnTo>
                  <a:pt x="97677" y="125089"/>
                </a:lnTo>
                <a:lnTo>
                  <a:pt x="98615" y="116626"/>
                </a:lnTo>
                <a:lnTo>
                  <a:pt x="99181" y="108031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7-labelbg90"/>
          <p:cNvSpPr/>
          <p:nvPr/>
        </p:nvSpPr>
        <p:spPr>
          <a:xfrm>
            <a:off x="4043832" y="201527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07-label91"/>
          <p:cNvSpPr txBox="1"/>
          <p:nvPr/>
        </p:nvSpPr>
        <p:spPr>
          <a:xfrm>
            <a:off x="3998112" y="198035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5" name="S07-labelbg93"/>
          <p:cNvSpPr/>
          <p:nvPr/>
        </p:nvSpPr>
        <p:spPr>
          <a:xfrm>
            <a:off x="5252835" y="232994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07-label94"/>
          <p:cNvSpPr txBox="1"/>
          <p:nvPr/>
        </p:nvSpPr>
        <p:spPr>
          <a:xfrm>
            <a:off x="5207115" y="229502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7" name="S07-labelbg96"/>
          <p:cNvSpPr/>
          <p:nvPr/>
        </p:nvSpPr>
        <p:spPr>
          <a:xfrm>
            <a:off x="7637718" y="19987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07-label97"/>
          <p:cNvSpPr txBox="1"/>
          <p:nvPr/>
        </p:nvSpPr>
        <p:spPr>
          <a:xfrm>
            <a:off x="7591998" y="19637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9" name="S07-labelbg99"/>
          <p:cNvSpPr/>
          <p:nvPr/>
        </p:nvSpPr>
        <p:spPr>
          <a:xfrm>
            <a:off x="6776510" y="299241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07-label100"/>
          <p:cNvSpPr txBox="1"/>
          <p:nvPr/>
        </p:nvSpPr>
        <p:spPr>
          <a:xfrm>
            <a:off x="6730790" y="295749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1" name="S07-labelbg102"/>
          <p:cNvSpPr/>
          <p:nvPr/>
        </p:nvSpPr>
        <p:spPr>
          <a:xfrm>
            <a:off x="6776510" y="141905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07-label103"/>
          <p:cNvSpPr txBox="1"/>
          <p:nvPr/>
        </p:nvSpPr>
        <p:spPr>
          <a:xfrm>
            <a:off x="6730790" y="138413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23" name="S07-label104"/>
          <p:cNvSpPr txBox="1"/>
          <p:nvPr/>
        </p:nvSpPr>
        <p:spPr>
          <a:xfrm>
            <a:off x="548640" y="4415282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위도와 경도</a:t>
            </a:r>
            <a:endParaRPr lang="ko-KR" sz="4000" dirty="0"/>
          </a:p>
        </p:txBody>
      </p:sp>
      <p:sp>
        <p:nvSpPr>
          <p:cNvPr id="3" name="S08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‘북위 ○°, 동경 ○°’처럼 위도와 경도를 함께 말해요.</a:t>
            </a:r>
            <a:endParaRPr lang="ko-KR" sz="2800" dirty="0"/>
          </a:p>
        </p:txBody>
      </p:sp>
      <p:sp>
        <p:nvSpPr>
          <p:cNvPr id="5" name="S08-figure107" descr="위도·경도 연습 그림: 가운데 가로 주황 선은 적도(0°), 가운데 세로 파랑 선은 본초 자오선(0°). 위쪽으로 북위 30°·60°, 아래쪽으로 남위 30°·60°, 오른쪽으로 동경 30°·60°·90°, 왼쪽으로 서경 30°·60°·90°의 선이 30°마다 그어져 있음"/>
          <p:cNvSpPr/>
          <p:nvPr/>
        </p:nvSpPr>
        <p:spPr>
          <a:xfrm flipV="1">
            <a:off x="215054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6" name="S08-mark108"/>
          <p:cNvSpPr/>
          <p:nvPr/>
        </p:nvSpPr>
        <p:spPr>
          <a:xfrm flipV="1">
            <a:off x="263187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7" name="S08-mark109"/>
          <p:cNvSpPr/>
          <p:nvPr/>
        </p:nvSpPr>
        <p:spPr>
          <a:xfrm flipV="1">
            <a:off x="311320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8" name="S08-mark110"/>
          <p:cNvSpPr/>
          <p:nvPr/>
        </p:nvSpPr>
        <p:spPr>
          <a:xfrm flipV="1">
            <a:off x="407586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9" name="S08-mark111"/>
          <p:cNvSpPr/>
          <p:nvPr/>
        </p:nvSpPr>
        <p:spPr>
          <a:xfrm flipV="1">
            <a:off x="455719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0" name="S08-mark112"/>
          <p:cNvSpPr/>
          <p:nvPr/>
        </p:nvSpPr>
        <p:spPr>
          <a:xfrm flipV="1">
            <a:off x="503852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1" name="S08-mark113"/>
          <p:cNvSpPr/>
          <p:nvPr/>
        </p:nvSpPr>
        <p:spPr>
          <a:xfrm>
            <a:off x="2006143" y="386448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2" name="S08-mark114"/>
          <p:cNvSpPr/>
          <p:nvPr/>
        </p:nvSpPr>
        <p:spPr>
          <a:xfrm>
            <a:off x="2006143" y="338315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3" name="S08-mark115"/>
          <p:cNvSpPr/>
          <p:nvPr/>
        </p:nvSpPr>
        <p:spPr>
          <a:xfrm>
            <a:off x="2006143" y="242049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4" name="S08-mark116"/>
          <p:cNvSpPr/>
          <p:nvPr/>
        </p:nvSpPr>
        <p:spPr>
          <a:xfrm>
            <a:off x="2006143" y="193916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5" name="S08-mark117"/>
          <p:cNvSpPr/>
          <p:nvPr/>
        </p:nvSpPr>
        <p:spPr>
          <a:xfrm>
            <a:off x="2006143" y="2901823"/>
            <a:ext cx="3176778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6" name="S08-mark118"/>
          <p:cNvSpPr/>
          <p:nvPr/>
        </p:nvSpPr>
        <p:spPr>
          <a:xfrm flipV="1">
            <a:off x="3594532" y="1794764"/>
            <a:ext cx="0" cy="221411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7" name="S08-label120"/>
          <p:cNvSpPr txBox="1"/>
          <p:nvPr/>
        </p:nvSpPr>
        <p:spPr>
          <a:xfrm>
            <a:off x="1036815" y="179628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60°</a:t>
            </a:r>
            <a:endParaRPr lang="ko-KR" sz="1800" dirty="0"/>
          </a:p>
        </p:txBody>
      </p:sp>
      <p:sp>
        <p:nvSpPr>
          <p:cNvPr id="18" name="S08-label122"/>
          <p:cNvSpPr txBox="1"/>
          <p:nvPr/>
        </p:nvSpPr>
        <p:spPr>
          <a:xfrm>
            <a:off x="1036815" y="227761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</a:t>
            </a:r>
            <a:endParaRPr lang="ko-KR" sz="1800" dirty="0"/>
          </a:p>
        </p:txBody>
      </p:sp>
      <p:sp>
        <p:nvSpPr>
          <p:cNvPr id="19" name="S08-label124"/>
          <p:cNvSpPr txBox="1"/>
          <p:nvPr/>
        </p:nvSpPr>
        <p:spPr>
          <a:xfrm>
            <a:off x="1370571" y="2758948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0" name="S08-label126"/>
          <p:cNvSpPr txBox="1"/>
          <p:nvPr/>
        </p:nvSpPr>
        <p:spPr>
          <a:xfrm>
            <a:off x="1036815" y="324027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30°</a:t>
            </a:r>
            <a:endParaRPr lang="ko-KR" sz="1800" dirty="0"/>
          </a:p>
        </p:txBody>
      </p:sp>
      <p:sp>
        <p:nvSpPr>
          <p:cNvPr id="21" name="S08-label128"/>
          <p:cNvSpPr txBox="1"/>
          <p:nvPr/>
        </p:nvSpPr>
        <p:spPr>
          <a:xfrm>
            <a:off x="1036815" y="372160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60°</a:t>
            </a:r>
            <a:endParaRPr lang="ko-KR" sz="1800" dirty="0"/>
          </a:p>
        </p:txBody>
      </p:sp>
      <p:sp>
        <p:nvSpPr>
          <p:cNvPr id="22" name="S08-label130"/>
          <p:cNvSpPr txBox="1"/>
          <p:nvPr/>
        </p:nvSpPr>
        <p:spPr>
          <a:xfrm>
            <a:off x="187165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3" name="S08-label132"/>
          <p:cNvSpPr txBox="1"/>
          <p:nvPr/>
        </p:nvSpPr>
        <p:spPr>
          <a:xfrm>
            <a:off x="235298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4" name="S08-label134"/>
          <p:cNvSpPr txBox="1"/>
          <p:nvPr/>
        </p:nvSpPr>
        <p:spPr>
          <a:xfrm>
            <a:off x="283431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5" name="S08-label136"/>
          <p:cNvSpPr txBox="1"/>
          <p:nvPr/>
        </p:nvSpPr>
        <p:spPr>
          <a:xfrm>
            <a:off x="3416224" y="4082606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6" name="S08-label138"/>
          <p:cNvSpPr txBox="1"/>
          <p:nvPr/>
        </p:nvSpPr>
        <p:spPr>
          <a:xfrm>
            <a:off x="379697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7" name="S08-label140"/>
          <p:cNvSpPr txBox="1"/>
          <p:nvPr/>
        </p:nvSpPr>
        <p:spPr>
          <a:xfrm>
            <a:off x="427830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8" name="S08-label142"/>
          <p:cNvSpPr txBox="1"/>
          <p:nvPr/>
        </p:nvSpPr>
        <p:spPr>
          <a:xfrm>
            <a:off x="475963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9" name="S08-label144"/>
          <p:cNvSpPr txBox="1"/>
          <p:nvPr/>
        </p:nvSpPr>
        <p:spPr>
          <a:xfrm>
            <a:off x="5240960" y="259048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30" name="S08-label146"/>
          <p:cNvSpPr txBox="1"/>
          <p:nvPr/>
        </p:nvSpPr>
        <p:spPr>
          <a:xfrm>
            <a:off x="2945308" y="1435291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본초 자오선</a:t>
            </a:r>
            <a:endParaRPr lang="ko-KR" sz="1800" dirty="0"/>
          </a:p>
        </p:txBody>
      </p:sp>
      <p:sp>
        <p:nvSpPr>
          <p:cNvPr id="31" name="S08-label147"/>
          <p:cNvSpPr txBox="1"/>
          <p:nvPr/>
        </p:nvSpPr>
        <p:spPr>
          <a:xfrm>
            <a:off x="548640" y="4743450"/>
            <a:ext cx="589925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30°예요</a:t>
            </a:r>
            <a:endParaRPr lang="ko-KR" sz="2200" dirty="0"/>
          </a:p>
        </p:txBody>
      </p:sp>
      <p:sp>
        <p:nvSpPr>
          <p:cNvPr id="32" name="S08-card148"/>
          <p:cNvSpPr/>
          <p:nvPr/>
        </p:nvSpPr>
        <p:spPr>
          <a:xfrm>
            <a:off x="6813652" y="1588008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8-cardtext149"/>
          <p:cNvSpPr txBox="1"/>
          <p:nvPr/>
        </p:nvSpPr>
        <p:spPr>
          <a:xfrm>
            <a:off x="7087972" y="1725168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적도(0°)의 북쪽은 북위,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남쪽은 남위예요.</a:t>
            </a:r>
            <a:endParaRPr lang="ko-KR" sz="2800" dirty="0"/>
          </a:p>
        </p:txBody>
      </p:sp>
      <p:sp>
        <p:nvSpPr>
          <p:cNvPr id="34" name="S08-card150"/>
          <p:cNvSpPr/>
          <p:nvPr/>
        </p:nvSpPr>
        <p:spPr>
          <a:xfrm>
            <a:off x="6813652" y="333756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8-cardtext151"/>
          <p:cNvSpPr txBox="1"/>
          <p:nvPr/>
        </p:nvSpPr>
        <p:spPr>
          <a:xfrm>
            <a:off x="7087972" y="347472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본초 자오선(0°)의 동쪽은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동경, 서쪽은 서경이에요.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위도와 경도로 말해요</a:t>
            </a:r>
            <a:endParaRPr lang="ko-KR" sz="4000" dirty="0"/>
          </a:p>
        </p:txBody>
      </p:sp>
      <p:sp>
        <p:nvSpPr>
          <p:cNvPr id="3" name="S09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적도·본초 자오선에서 몇 칸인지 세요.</a:t>
            </a:r>
            <a:endParaRPr lang="ko-KR" sz="2800" dirty="0"/>
          </a:p>
        </p:txBody>
      </p:sp>
      <p:sp>
        <p:nvSpPr>
          <p:cNvPr id="5" name="S09-figure154" descr="위도·경도 연습 그림에 점 세 개: 가는 적도에서 북쪽으로 한 칸, 본초 자오선에서 동쪽으로 두 칸. 나는 남쪽으로 두 칸, 서쪽으로 한 칸. 다는 북쪽으로 한 칸, 서쪽으로 두 칸"/>
          <p:cNvSpPr/>
          <p:nvPr/>
        </p:nvSpPr>
        <p:spPr>
          <a:xfrm>
            <a:off x="10084486" y="2508904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mark155"/>
          <p:cNvSpPr/>
          <p:nvPr/>
        </p:nvSpPr>
        <p:spPr>
          <a:xfrm>
            <a:off x="8460950" y="4132440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mark156"/>
          <p:cNvSpPr/>
          <p:nvPr/>
        </p:nvSpPr>
        <p:spPr>
          <a:xfrm>
            <a:off x="7919771" y="2508904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mark157"/>
          <p:cNvSpPr/>
          <p:nvPr/>
        </p:nvSpPr>
        <p:spPr>
          <a:xfrm flipV="1">
            <a:off x="7443534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9" name="S09-mark158"/>
          <p:cNvSpPr/>
          <p:nvPr/>
        </p:nvSpPr>
        <p:spPr>
          <a:xfrm flipV="1">
            <a:off x="7984712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0" name="S09-mark159"/>
          <p:cNvSpPr/>
          <p:nvPr/>
        </p:nvSpPr>
        <p:spPr>
          <a:xfrm flipV="1">
            <a:off x="8525891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1" name="S09-mark160"/>
          <p:cNvSpPr/>
          <p:nvPr/>
        </p:nvSpPr>
        <p:spPr>
          <a:xfrm flipV="1">
            <a:off x="9608249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2" name="S09-mark161"/>
          <p:cNvSpPr/>
          <p:nvPr/>
        </p:nvSpPr>
        <p:spPr>
          <a:xfrm flipV="1">
            <a:off x="10149427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3" name="S09-mark162"/>
          <p:cNvSpPr/>
          <p:nvPr/>
        </p:nvSpPr>
        <p:spPr>
          <a:xfrm flipV="1">
            <a:off x="10690606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4" name="S09-mark163"/>
          <p:cNvSpPr/>
          <p:nvPr/>
        </p:nvSpPr>
        <p:spPr>
          <a:xfrm>
            <a:off x="7281180" y="4197382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5" name="S09-mark164"/>
          <p:cNvSpPr/>
          <p:nvPr/>
        </p:nvSpPr>
        <p:spPr>
          <a:xfrm>
            <a:off x="7281180" y="3656203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6" name="S09-mark165"/>
          <p:cNvSpPr/>
          <p:nvPr/>
        </p:nvSpPr>
        <p:spPr>
          <a:xfrm>
            <a:off x="7281180" y="2573845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7" name="S09-mark166"/>
          <p:cNvSpPr/>
          <p:nvPr/>
        </p:nvSpPr>
        <p:spPr>
          <a:xfrm>
            <a:off x="7281180" y="2032667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8" name="S09-mark167"/>
          <p:cNvSpPr/>
          <p:nvPr/>
        </p:nvSpPr>
        <p:spPr>
          <a:xfrm>
            <a:off x="7281180" y="3115024"/>
            <a:ext cx="3571780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9" name="S09-mark168"/>
          <p:cNvSpPr/>
          <p:nvPr/>
        </p:nvSpPr>
        <p:spPr>
          <a:xfrm flipV="1">
            <a:off x="9067070" y="1870313"/>
            <a:ext cx="0" cy="2489422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0" name="S09-label170"/>
          <p:cNvSpPr txBox="1"/>
          <p:nvPr/>
        </p:nvSpPr>
        <p:spPr>
          <a:xfrm>
            <a:off x="6254996" y="1889792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60°</a:t>
            </a:r>
            <a:endParaRPr lang="ko-KR" sz="1800" dirty="0"/>
          </a:p>
        </p:txBody>
      </p:sp>
      <p:sp>
        <p:nvSpPr>
          <p:cNvPr id="21" name="S09-label172"/>
          <p:cNvSpPr txBox="1"/>
          <p:nvPr/>
        </p:nvSpPr>
        <p:spPr>
          <a:xfrm>
            <a:off x="6254996" y="2430970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</a:t>
            </a:r>
            <a:endParaRPr lang="ko-KR" sz="1800" dirty="0"/>
          </a:p>
        </p:txBody>
      </p:sp>
      <p:sp>
        <p:nvSpPr>
          <p:cNvPr id="22" name="S09-label174"/>
          <p:cNvSpPr txBox="1"/>
          <p:nvPr/>
        </p:nvSpPr>
        <p:spPr>
          <a:xfrm>
            <a:off x="6588752" y="2972149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3" name="S09-label176"/>
          <p:cNvSpPr txBox="1"/>
          <p:nvPr/>
        </p:nvSpPr>
        <p:spPr>
          <a:xfrm>
            <a:off x="6254996" y="351332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30°</a:t>
            </a:r>
            <a:endParaRPr lang="ko-KR" sz="1800" dirty="0"/>
          </a:p>
        </p:txBody>
      </p:sp>
      <p:sp>
        <p:nvSpPr>
          <p:cNvPr id="24" name="S09-label178"/>
          <p:cNvSpPr txBox="1"/>
          <p:nvPr/>
        </p:nvSpPr>
        <p:spPr>
          <a:xfrm>
            <a:off x="6254996" y="4054507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60°</a:t>
            </a:r>
            <a:endParaRPr lang="ko-KR" sz="1800" dirty="0"/>
          </a:p>
        </p:txBody>
      </p:sp>
      <p:sp>
        <p:nvSpPr>
          <p:cNvPr id="25" name="S09-label180"/>
          <p:cNvSpPr txBox="1"/>
          <p:nvPr/>
        </p:nvSpPr>
        <p:spPr>
          <a:xfrm>
            <a:off x="7164642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6" name="S09-label182"/>
          <p:cNvSpPr txBox="1"/>
          <p:nvPr/>
        </p:nvSpPr>
        <p:spPr>
          <a:xfrm>
            <a:off x="7705820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7" name="S09-label184"/>
          <p:cNvSpPr txBox="1"/>
          <p:nvPr/>
        </p:nvSpPr>
        <p:spPr>
          <a:xfrm>
            <a:off x="8246999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8" name="S09-label186"/>
          <p:cNvSpPr txBox="1"/>
          <p:nvPr/>
        </p:nvSpPr>
        <p:spPr>
          <a:xfrm>
            <a:off x="8888762" y="4460391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9" name="S09-label188"/>
          <p:cNvSpPr txBox="1"/>
          <p:nvPr/>
        </p:nvSpPr>
        <p:spPr>
          <a:xfrm>
            <a:off x="9329357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30" name="S09-label190"/>
          <p:cNvSpPr txBox="1"/>
          <p:nvPr/>
        </p:nvSpPr>
        <p:spPr>
          <a:xfrm>
            <a:off x="9870535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31" name="S09-label192"/>
          <p:cNvSpPr txBox="1"/>
          <p:nvPr/>
        </p:nvSpPr>
        <p:spPr>
          <a:xfrm>
            <a:off x="10411714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32" name="S09-label194"/>
          <p:cNvSpPr txBox="1"/>
          <p:nvPr/>
        </p:nvSpPr>
        <p:spPr>
          <a:xfrm>
            <a:off x="10952893" y="278273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33" name="S09-label196"/>
          <p:cNvSpPr txBox="1"/>
          <p:nvPr/>
        </p:nvSpPr>
        <p:spPr>
          <a:xfrm>
            <a:off x="8417846" y="1483908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본초 자오선</a:t>
            </a:r>
            <a:endParaRPr lang="ko-KR" sz="1800" dirty="0"/>
          </a:p>
        </p:txBody>
      </p:sp>
      <p:sp>
        <p:nvSpPr>
          <p:cNvPr id="34" name="S09-labelbg198"/>
          <p:cNvSpPr/>
          <p:nvPr/>
        </p:nvSpPr>
        <p:spPr>
          <a:xfrm>
            <a:off x="10209025" y="222849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09-label199"/>
          <p:cNvSpPr txBox="1"/>
          <p:nvPr/>
        </p:nvSpPr>
        <p:spPr>
          <a:xfrm>
            <a:off x="10163305" y="219357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36" name="S09-labelbg201"/>
          <p:cNvSpPr/>
          <p:nvPr/>
        </p:nvSpPr>
        <p:spPr>
          <a:xfrm>
            <a:off x="8585489" y="385203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09-label202"/>
          <p:cNvSpPr txBox="1"/>
          <p:nvPr/>
        </p:nvSpPr>
        <p:spPr>
          <a:xfrm>
            <a:off x="8539769" y="381710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38" name="S09-labelbg204"/>
          <p:cNvSpPr/>
          <p:nvPr/>
        </p:nvSpPr>
        <p:spPr>
          <a:xfrm>
            <a:off x="8044310" y="222849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09-label205"/>
          <p:cNvSpPr txBox="1"/>
          <p:nvPr/>
        </p:nvSpPr>
        <p:spPr>
          <a:xfrm>
            <a:off x="7998590" y="219357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0" name="S09-chip20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1" name="S09-text207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위도와 경도는?</a:t>
            </a:r>
            <a:endParaRPr lang="ko-KR" sz="2800" dirty="0"/>
          </a:p>
        </p:txBody>
      </p:sp>
      <p:sp>
        <p:nvSpPr>
          <p:cNvPr id="42" name="S09-chip20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3" name="S09-text209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위도와 경도는?</a:t>
            </a:r>
            <a:endParaRPr lang="ko-KR" sz="2800" dirty="0"/>
          </a:p>
        </p:txBody>
      </p:sp>
      <p:sp>
        <p:nvSpPr>
          <p:cNvPr id="44" name="S09-chip21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5" name="S09-text211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30°, 서경 60°인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곳의 기호는?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지구본·지도 앱으로 찾아요</a:t>
            </a:r>
            <a:endParaRPr lang="ko-KR" sz="4000" dirty="0"/>
          </a:p>
        </p:txBody>
      </p:sp>
      <p:sp>
        <p:nvSpPr>
          <p:cNvPr id="3" name="S10-text2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10-card21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1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대륙·대양 이름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나라가 있는 대륙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지구본과 지도의 차이 말하기</a:t>
            </a:r>
            <a:endParaRPr lang="ko-KR" sz="2800" dirty="0"/>
          </a:p>
        </p:txBody>
      </p:sp>
      <p:sp>
        <p:nvSpPr>
          <p:cNvPr id="6" name="S10-stepno215"/>
          <p:cNvSpPr txBox="1"/>
          <p:nvPr/>
        </p:nvSpPr>
        <p:spPr>
          <a:xfrm>
            <a:off x="548640" y="2292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216"/>
          <p:cNvSpPr txBox="1"/>
          <p:nvPr/>
        </p:nvSpPr>
        <p:spPr>
          <a:xfrm>
            <a:off x="1325880" y="2292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지구본이나 지도 앱을 준비해요.</a:t>
            </a:r>
            <a:endParaRPr lang="ko-KR" sz="2800" dirty="0"/>
          </a:p>
        </p:txBody>
      </p:sp>
      <p:sp>
        <p:nvSpPr>
          <p:cNvPr id="8" name="S10-stepno217"/>
          <p:cNvSpPr txBox="1"/>
          <p:nvPr/>
        </p:nvSpPr>
        <p:spPr>
          <a:xfrm>
            <a:off x="548640" y="3051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218"/>
          <p:cNvSpPr txBox="1"/>
          <p:nvPr/>
        </p:nvSpPr>
        <p:spPr>
          <a:xfrm>
            <a:off x="1325880" y="30053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6대륙과 5대양을 짚으며 이름을 말해요.</a:t>
            </a:r>
            <a:endParaRPr lang="ko-KR" sz="2800" dirty="0"/>
          </a:p>
        </p:txBody>
      </p:sp>
      <p:sp>
        <p:nvSpPr>
          <p:cNvPr id="10" name="S10-stepno219"/>
          <p:cNvSpPr txBox="1"/>
          <p:nvPr/>
        </p:nvSpPr>
        <p:spPr>
          <a:xfrm>
            <a:off x="548640" y="408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220"/>
          <p:cNvSpPr txBox="1"/>
          <p:nvPr/>
        </p:nvSpPr>
        <p:spPr>
          <a:xfrm>
            <a:off x="1325880" y="4037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여섯 곳을 찾아 대륙을 말해요.</a:t>
            </a:r>
            <a:endParaRPr lang="ko-KR" sz="2800" dirty="0"/>
          </a:p>
        </p:txBody>
      </p:sp>
      <p:sp>
        <p:nvSpPr>
          <p:cNvPr id="12" name="S10-stepno221"/>
          <p:cNvSpPr txBox="1"/>
          <p:nvPr/>
        </p:nvSpPr>
        <p:spPr>
          <a:xfrm>
            <a:off x="548640" y="5115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222"/>
          <p:cNvSpPr txBox="1"/>
          <p:nvPr/>
        </p:nvSpPr>
        <p:spPr>
          <a:xfrm>
            <a:off x="1325880" y="5069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그린란드와 아프리카의 크기를 비교해요.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22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22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가·나·다 대륙의 이름은?   ② 라·마 대양의 이름은?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빨간 점(우리나라)의 위치를 대륙과 대양으로 말해요.</a:t>
            </a:r>
            <a:endParaRPr lang="ko-KR" sz="2800" dirty="0"/>
          </a:p>
        </p:txBody>
      </p:sp>
      <p:sp>
        <p:nvSpPr>
          <p:cNvPr id="5" name="S11-figure225" descr="간단히 나타낸 세계 지도(이름 없음): 남아메리카 자리에 가, 아프리카 자리에 나, 오세아니아 자리에 다, 오른쪽 끝 바다에 라, 아래쪽 바다에 마, 아시아 동쪽 끝에 빨간 점(우리나라)"/>
          <p:cNvSpPr/>
          <p:nvPr/>
        </p:nvSpPr>
        <p:spPr>
          <a:xfrm>
            <a:off x="3278989" y="1409700"/>
            <a:ext cx="5630973" cy="2848610"/>
          </a:xfrm>
          <a:custGeom>
            <a:avLst/>
            <a:gdLst/>
            <a:ahLst/>
            <a:cxnLst/>
            <a:rect l="l" t="t" r="r" b="b"/>
            <a:pathLst>
              <a:path w="5630973" h="2848610">
                <a:moveTo>
                  <a:pt x="0" y="2848610"/>
                </a:moveTo>
                <a:lnTo>
                  <a:pt x="5630973" y="2848610"/>
                </a:lnTo>
                <a:lnTo>
                  <a:pt x="563097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11-mark226"/>
          <p:cNvSpPr/>
          <p:nvPr/>
        </p:nvSpPr>
        <p:spPr>
          <a:xfrm>
            <a:off x="3808963" y="1740934"/>
            <a:ext cx="761838" cy="728714"/>
          </a:xfrm>
          <a:custGeom>
            <a:avLst/>
            <a:gdLst/>
            <a:ahLst/>
            <a:cxnLst/>
            <a:rect l="l" t="t" r="r" b="b"/>
            <a:pathLst>
              <a:path w="761838" h="728714">
                <a:moveTo>
                  <a:pt x="33123" y="728714"/>
                </a:moveTo>
                <a:lnTo>
                  <a:pt x="761838" y="728714"/>
                </a:lnTo>
                <a:lnTo>
                  <a:pt x="761838" y="99370"/>
                </a:lnTo>
                <a:lnTo>
                  <a:pt x="463727" y="0"/>
                </a:lnTo>
                <a:lnTo>
                  <a:pt x="132493" y="132493"/>
                </a:lnTo>
                <a:lnTo>
                  <a:pt x="0" y="430604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1-mark227"/>
          <p:cNvSpPr/>
          <p:nvPr/>
        </p:nvSpPr>
        <p:spPr>
          <a:xfrm>
            <a:off x="4570801" y="1674687"/>
            <a:ext cx="2086772" cy="1291812"/>
          </a:xfrm>
          <a:custGeom>
            <a:avLst/>
            <a:gdLst/>
            <a:ahLst/>
            <a:cxnLst/>
            <a:rect l="l" t="t" r="r" b="b"/>
            <a:pathLst>
              <a:path w="2086772" h="1291812">
                <a:moveTo>
                  <a:pt x="0" y="794961"/>
                </a:moveTo>
                <a:lnTo>
                  <a:pt x="0" y="165617"/>
                </a:lnTo>
                <a:lnTo>
                  <a:pt x="529974" y="33123"/>
                </a:lnTo>
                <a:lnTo>
                  <a:pt x="1358058" y="0"/>
                </a:lnTo>
                <a:lnTo>
                  <a:pt x="1987402" y="132493"/>
                </a:lnTo>
                <a:lnTo>
                  <a:pt x="2086772" y="463727"/>
                </a:lnTo>
                <a:lnTo>
                  <a:pt x="1888032" y="695591"/>
                </a:lnTo>
                <a:lnTo>
                  <a:pt x="1755539" y="1026825"/>
                </a:lnTo>
                <a:lnTo>
                  <a:pt x="1358058" y="1225565"/>
                </a:lnTo>
                <a:lnTo>
                  <a:pt x="960578" y="1093071"/>
                </a:lnTo>
                <a:lnTo>
                  <a:pt x="563097" y="1291812"/>
                </a:lnTo>
                <a:lnTo>
                  <a:pt x="331234" y="960578"/>
                </a:lnTo>
                <a:lnTo>
                  <a:pt x="132493" y="89433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1-mark228"/>
          <p:cNvSpPr/>
          <p:nvPr/>
        </p:nvSpPr>
        <p:spPr>
          <a:xfrm>
            <a:off x="3709593" y="2569018"/>
            <a:ext cx="1192441" cy="1391182"/>
          </a:xfrm>
          <a:custGeom>
            <a:avLst/>
            <a:gdLst/>
            <a:ahLst/>
            <a:cxnLst/>
            <a:rect l="l" t="t" r="r" b="b"/>
            <a:pathLst>
              <a:path w="1192441" h="1391182">
                <a:moveTo>
                  <a:pt x="165617" y="0"/>
                </a:moveTo>
                <a:lnTo>
                  <a:pt x="960578" y="0"/>
                </a:lnTo>
                <a:lnTo>
                  <a:pt x="1093071" y="331234"/>
                </a:lnTo>
                <a:lnTo>
                  <a:pt x="1192441" y="629344"/>
                </a:lnTo>
                <a:lnTo>
                  <a:pt x="993701" y="993701"/>
                </a:lnTo>
                <a:lnTo>
                  <a:pt x="794961" y="1324935"/>
                </a:lnTo>
                <a:lnTo>
                  <a:pt x="563097" y="1391182"/>
                </a:lnTo>
                <a:lnTo>
                  <a:pt x="430604" y="993701"/>
                </a:lnTo>
                <a:lnTo>
                  <a:pt x="298110" y="629344"/>
                </a:lnTo>
                <a:lnTo>
                  <a:pt x="33123" y="397480"/>
                </a:lnTo>
                <a:lnTo>
                  <a:pt x="0" y="165617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1-mark229"/>
          <p:cNvSpPr/>
          <p:nvPr/>
        </p:nvSpPr>
        <p:spPr>
          <a:xfrm>
            <a:off x="5531379" y="3363979"/>
            <a:ext cx="1291812" cy="645906"/>
          </a:xfrm>
          <a:custGeom>
            <a:avLst/>
            <a:gdLst/>
            <a:ahLst/>
            <a:cxnLst/>
            <a:rect l="l" t="t" r="r" b="b"/>
            <a:pathLst>
              <a:path w="1291812" h="645906">
                <a:moveTo>
                  <a:pt x="0" y="463727"/>
                </a:moveTo>
                <a:lnTo>
                  <a:pt x="231864" y="66247"/>
                </a:lnTo>
                <a:lnTo>
                  <a:pt x="728714" y="0"/>
                </a:lnTo>
                <a:lnTo>
                  <a:pt x="1192441" y="99370"/>
                </a:lnTo>
                <a:lnTo>
                  <a:pt x="1291812" y="430604"/>
                </a:lnTo>
                <a:lnTo>
                  <a:pt x="960578" y="645906"/>
                </a:lnTo>
                <a:lnTo>
                  <a:pt x="364357" y="64590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11-mark230"/>
          <p:cNvSpPr/>
          <p:nvPr/>
        </p:nvSpPr>
        <p:spPr>
          <a:xfrm>
            <a:off x="7121301" y="1674687"/>
            <a:ext cx="1324935" cy="1374620"/>
          </a:xfrm>
          <a:custGeom>
            <a:avLst/>
            <a:gdLst/>
            <a:ahLst/>
            <a:cxnLst/>
            <a:rect l="l" t="t" r="r" b="b"/>
            <a:pathLst>
              <a:path w="1324935" h="1374620">
                <a:moveTo>
                  <a:pt x="66247" y="331234"/>
                </a:moveTo>
                <a:lnTo>
                  <a:pt x="331234" y="33123"/>
                </a:lnTo>
                <a:lnTo>
                  <a:pt x="993701" y="0"/>
                </a:lnTo>
                <a:lnTo>
                  <a:pt x="1324935" y="198740"/>
                </a:lnTo>
                <a:lnTo>
                  <a:pt x="1258688" y="496851"/>
                </a:lnTo>
                <a:lnTo>
                  <a:pt x="993701" y="728714"/>
                </a:lnTo>
                <a:lnTo>
                  <a:pt x="794961" y="1026825"/>
                </a:lnTo>
                <a:lnTo>
                  <a:pt x="563097" y="1258688"/>
                </a:lnTo>
                <a:lnTo>
                  <a:pt x="463727" y="1374620"/>
                </a:lnTo>
                <a:lnTo>
                  <a:pt x="331234" y="1093071"/>
                </a:lnTo>
                <a:lnTo>
                  <a:pt x="132493" y="794961"/>
                </a:lnTo>
                <a:lnTo>
                  <a:pt x="0" y="496851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11-mark231"/>
          <p:cNvSpPr/>
          <p:nvPr/>
        </p:nvSpPr>
        <p:spPr>
          <a:xfrm>
            <a:off x="7320041" y="3082430"/>
            <a:ext cx="1192441" cy="1043386"/>
          </a:xfrm>
          <a:custGeom>
            <a:avLst/>
            <a:gdLst/>
            <a:ahLst/>
            <a:cxnLst/>
            <a:rect l="l" t="t" r="r" b="b"/>
            <a:pathLst>
              <a:path w="1192441" h="1043386">
                <a:moveTo>
                  <a:pt x="231864" y="33123"/>
                </a:moveTo>
                <a:lnTo>
                  <a:pt x="662467" y="0"/>
                </a:lnTo>
                <a:lnTo>
                  <a:pt x="1059948" y="149055"/>
                </a:lnTo>
                <a:lnTo>
                  <a:pt x="1192441" y="347795"/>
                </a:lnTo>
                <a:lnTo>
                  <a:pt x="927454" y="679029"/>
                </a:lnTo>
                <a:lnTo>
                  <a:pt x="662467" y="944016"/>
                </a:lnTo>
                <a:lnTo>
                  <a:pt x="529974" y="1043386"/>
                </a:lnTo>
                <a:lnTo>
                  <a:pt x="430604" y="844646"/>
                </a:lnTo>
                <a:lnTo>
                  <a:pt x="231864" y="546536"/>
                </a:lnTo>
                <a:lnTo>
                  <a:pt x="0" y="215302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11-mark232"/>
          <p:cNvSpPr/>
          <p:nvPr/>
        </p:nvSpPr>
        <p:spPr>
          <a:xfrm>
            <a:off x="6422397" y="2085417"/>
            <a:ext cx="105995" cy="105995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mark233"/>
          <p:cNvSpPr/>
          <p:nvPr/>
        </p:nvSpPr>
        <p:spPr>
          <a:xfrm>
            <a:off x="6972245" y="3860830"/>
            <a:ext cx="99370" cy="198740"/>
          </a:xfrm>
          <a:custGeom>
            <a:avLst/>
            <a:gdLst/>
            <a:ahLst/>
            <a:cxnLst/>
            <a:rect l="l" t="t" r="r" b="b"/>
            <a:pathLst>
              <a:path w="99370" h="198740">
                <a:moveTo>
                  <a:pt x="99370" y="99370"/>
                </a:moveTo>
                <a:lnTo>
                  <a:pt x="99181" y="90709"/>
                </a:lnTo>
                <a:lnTo>
                  <a:pt x="98615" y="82115"/>
                </a:lnTo>
                <a:lnTo>
                  <a:pt x="97677" y="73651"/>
                </a:lnTo>
                <a:lnTo>
                  <a:pt x="96374" y="65384"/>
                </a:lnTo>
                <a:lnTo>
                  <a:pt x="94715" y="57374"/>
                </a:lnTo>
                <a:lnTo>
                  <a:pt x="92714" y="49685"/>
                </a:lnTo>
                <a:lnTo>
                  <a:pt x="90385" y="42374"/>
                </a:lnTo>
                <a:lnTo>
                  <a:pt x="87746" y="35496"/>
                </a:lnTo>
                <a:lnTo>
                  <a:pt x="84818" y="29105"/>
                </a:lnTo>
                <a:lnTo>
                  <a:pt x="81622" y="23248"/>
                </a:lnTo>
                <a:lnTo>
                  <a:pt x="78183" y="17971"/>
                </a:lnTo>
                <a:lnTo>
                  <a:pt x="74528" y="13313"/>
                </a:lnTo>
                <a:lnTo>
                  <a:pt x="70683" y="9310"/>
                </a:lnTo>
                <a:lnTo>
                  <a:pt x="66678" y="5993"/>
                </a:lnTo>
                <a:lnTo>
                  <a:pt x="62544" y="3386"/>
                </a:lnTo>
                <a:lnTo>
                  <a:pt x="58313" y="1510"/>
                </a:lnTo>
                <a:lnTo>
                  <a:pt x="54015" y="378"/>
                </a:lnTo>
                <a:lnTo>
                  <a:pt x="49685" y="0"/>
                </a:lnTo>
                <a:lnTo>
                  <a:pt x="45355" y="378"/>
                </a:lnTo>
                <a:lnTo>
                  <a:pt x="41057" y="1510"/>
                </a:lnTo>
                <a:lnTo>
                  <a:pt x="36826" y="3386"/>
                </a:lnTo>
                <a:lnTo>
                  <a:pt x="32692" y="5993"/>
                </a:lnTo>
                <a:lnTo>
                  <a:pt x="28687" y="9310"/>
                </a:lnTo>
                <a:lnTo>
                  <a:pt x="24843" y="13313"/>
                </a:lnTo>
                <a:lnTo>
                  <a:pt x="21187" y="17971"/>
                </a:lnTo>
                <a:lnTo>
                  <a:pt x="17748" y="23248"/>
                </a:lnTo>
                <a:lnTo>
                  <a:pt x="14552" y="29105"/>
                </a:lnTo>
                <a:lnTo>
                  <a:pt x="11624" y="35496"/>
                </a:lnTo>
                <a:lnTo>
                  <a:pt x="8985" y="42374"/>
                </a:lnTo>
                <a:lnTo>
                  <a:pt x="6657" y="49685"/>
                </a:lnTo>
                <a:lnTo>
                  <a:pt x="4655" y="57374"/>
                </a:lnTo>
                <a:lnTo>
                  <a:pt x="2996" y="65384"/>
                </a:lnTo>
                <a:lnTo>
                  <a:pt x="1693" y="73651"/>
                </a:lnTo>
                <a:lnTo>
                  <a:pt x="755" y="82115"/>
                </a:lnTo>
                <a:lnTo>
                  <a:pt x="189" y="90709"/>
                </a:lnTo>
                <a:lnTo>
                  <a:pt x="0" y="99370"/>
                </a:lnTo>
                <a:lnTo>
                  <a:pt x="189" y="108031"/>
                </a:lnTo>
                <a:lnTo>
                  <a:pt x="755" y="116626"/>
                </a:lnTo>
                <a:lnTo>
                  <a:pt x="1693" y="125089"/>
                </a:lnTo>
                <a:lnTo>
                  <a:pt x="2996" y="133357"/>
                </a:lnTo>
                <a:lnTo>
                  <a:pt x="4655" y="141366"/>
                </a:lnTo>
                <a:lnTo>
                  <a:pt x="6657" y="149055"/>
                </a:lnTo>
                <a:lnTo>
                  <a:pt x="8985" y="156366"/>
                </a:lnTo>
                <a:lnTo>
                  <a:pt x="11624" y="163244"/>
                </a:lnTo>
                <a:lnTo>
                  <a:pt x="14552" y="169635"/>
                </a:lnTo>
                <a:lnTo>
                  <a:pt x="17748" y="175492"/>
                </a:lnTo>
                <a:lnTo>
                  <a:pt x="21187" y="180769"/>
                </a:lnTo>
                <a:lnTo>
                  <a:pt x="24843" y="185427"/>
                </a:lnTo>
                <a:lnTo>
                  <a:pt x="28687" y="189430"/>
                </a:lnTo>
                <a:lnTo>
                  <a:pt x="32692" y="192747"/>
                </a:lnTo>
                <a:lnTo>
                  <a:pt x="36826" y="195354"/>
                </a:lnTo>
                <a:lnTo>
                  <a:pt x="41057" y="197231"/>
                </a:lnTo>
                <a:lnTo>
                  <a:pt x="45355" y="198362"/>
                </a:lnTo>
                <a:lnTo>
                  <a:pt x="49685" y="198740"/>
                </a:lnTo>
                <a:lnTo>
                  <a:pt x="54015" y="198362"/>
                </a:lnTo>
                <a:lnTo>
                  <a:pt x="58313" y="197231"/>
                </a:lnTo>
                <a:lnTo>
                  <a:pt x="62544" y="195354"/>
                </a:lnTo>
                <a:lnTo>
                  <a:pt x="66678" y="192747"/>
                </a:lnTo>
                <a:lnTo>
                  <a:pt x="70683" y="189430"/>
                </a:lnTo>
                <a:lnTo>
                  <a:pt x="74528" y="185427"/>
                </a:lnTo>
                <a:lnTo>
                  <a:pt x="78183" y="180769"/>
                </a:lnTo>
                <a:lnTo>
                  <a:pt x="81622" y="175492"/>
                </a:lnTo>
                <a:lnTo>
                  <a:pt x="84818" y="169635"/>
                </a:lnTo>
                <a:lnTo>
                  <a:pt x="87746" y="163244"/>
                </a:lnTo>
                <a:lnTo>
                  <a:pt x="90385" y="156366"/>
                </a:lnTo>
                <a:lnTo>
                  <a:pt x="92714" y="149055"/>
                </a:lnTo>
                <a:lnTo>
                  <a:pt x="94715" y="141366"/>
                </a:lnTo>
                <a:lnTo>
                  <a:pt x="96374" y="133357"/>
                </a:lnTo>
                <a:lnTo>
                  <a:pt x="97677" y="125089"/>
                </a:lnTo>
                <a:lnTo>
                  <a:pt x="98615" y="116626"/>
                </a:lnTo>
                <a:lnTo>
                  <a:pt x="99181" y="108031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11-labelbg235"/>
          <p:cNvSpPr/>
          <p:nvPr/>
        </p:nvSpPr>
        <p:spPr>
          <a:xfrm>
            <a:off x="4176326" y="289304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11-label236"/>
          <p:cNvSpPr txBox="1"/>
          <p:nvPr/>
        </p:nvSpPr>
        <p:spPr>
          <a:xfrm>
            <a:off x="4130606" y="285812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6" name="S11-labelbg238"/>
          <p:cNvSpPr/>
          <p:nvPr/>
        </p:nvSpPr>
        <p:spPr>
          <a:xfrm>
            <a:off x="6031234" y="3555513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11-label239"/>
          <p:cNvSpPr txBox="1"/>
          <p:nvPr/>
        </p:nvSpPr>
        <p:spPr>
          <a:xfrm>
            <a:off x="5985514" y="352058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8" name="S11-labelbg241"/>
          <p:cNvSpPr/>
          <p:nvPr/>
        </p:nvSpPr>
        <p:spPr>
          <a:xfrm>
            <a:off x="7786773" y="325740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11-label242"/>
          <p:cNvSpPr txBox="1"/>
          <p:nvPr/>
        </p:nvSpPr>
        <p:spPr>
          <a:xfrm>
            <a:off x="7741053" y="322247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0" name="S11-labelbg244"/>
          <p:cNvSpPr/>
          <p:nvPr/>
        </p:nvSpPr>
        <p:spPr>
          <a:xfrm>
            <a:off x="8565172" y="259493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11-label245"/>
          <p:cNvSpPr txBox="1"/>
          <p:nvPr/>
        </p:nvSpPr>
        <p:spPr>
          <a:xfrm>
            <a:off x="8519452" y="256001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2" name="S11-labelbg247"/>
          <p:cNvSpPr/>
          <p:nvPr/>
        </p:nvSpPr>
        <p:spPr>
          <a:xfrm>
            <a:off x="5120342" y="3986117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11-label248"/>
          <p:cNvSpPr txBox="1"/>
          <p:nvPr/>
        </p:nvSpPr>
        <p:spPr>
          <a:xfrm>
            <a:off x="5074622" y="39511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24" name="S11-label249"/>
          <p:cNvSpPr txBox="1"/>
          <p:nvPr/>
        </p:nvSpPr>
        <p:spPr>
          <a:xfrm>
            <a:off x="548640" y="4415282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위치는 대륙·대양과 방위를 넣어 말해요.</a:t>
            </a:r>
            <a:endParaRPr lang="ko-KR" sz="2800" dirty="0"/>
          </a:p>
        </p:txBody>
      </p:sp>
      <p:sp>
        <p:nvSpPr>
          <p:cNvPr id="5" name="S12-chip25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53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 남아메리카,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아프리카, 다 오세아니아</a:t>
            </a:r>
            <a:endParaRPr lang="ko-KR" sz="2800" dirty="0"/>
          </a:p>
        </p:txBody>
      </p:sp>
      <p:sp>
        <p:nvSpPr>
          <p:cNvPr id="7" name="S12-text254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라 대서양,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 남극해</a:t>
            </a:r>
            <a:endParaRPr lang="ko-KR" sz="2800" dirty="0"/>
          </a:p>
        </p:txBody>
      </p:sp>
      <p:sp>
        <p:nvSpPr>
          <p:cNvPr id="8" name="S12-text255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아시아 대륙의 동쪽,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태평양의 서쪽</a:t>
            </a:r>
            <a:endParaRPr lang="ko-KR" sz="2800" dirty="0"/>
          </a:p>
        </p:txBody>
      </p:sp>
      <p:sp>
        <p:nvSpPr>
          <p:cNvPr id="9" name="S12-chip25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0" name="S12-text25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“아프리카는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나라예요.”</a:t>
            </a:r>
            <a:endParaRPr lang="ko-KR" sz="2800" dirty="0"/>
          </a:p>
        </p:txBody>
      </p:sp>
      <p:sp>
        <p:nvSpPr>
          <p:cNvPr id="11" name="S12-text25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대륙과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혼동</a:t>
            </a:r>
            <a:endParaRPr lang="ko-KR" sz="2200" dirty="0"/>
          </a:p>
        </p:txBody>
      </p:sp>
      <p:sp>
        <p:nvSpPr>
          <p:cNvPr id="12" name="S12-text25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“우리나라는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 오른쪽”</a:t>
            </a:r>
            <a:endParaRPr lang="ko-KR" sz="2800" dirty="0"/>
          </a:p>
        </p:txBody>
      </p:sp>
      <p:sp>
        <p:nvSpPr>
          <p:cNvPr id="13" name="S12-text26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말하지 않음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figure261" descr="위도·경도 연습 그림에 점 두 개: 라는 적도에서 북쪽으로 두 칸, 본초 자오선에서 동쪽으로 한 칸. 마는 남쪽으로 한 칸, 서쪽으로 세 칸"/>
          <p:cNvSpPr/>
          <p:nvPr/>
        </p:nvSpPr>
        <p:spPr>
          <a:xfrm>
            <a:off x="9543307" y="2516365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13-mark262"/>
          <p:cNvSpPr/>
          <p:nvPr/>
        </p:nvSpPr>
        <p:spPr>
          <a:xfrm>
            <a:off x="7378592" y="4139902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3-mark263"/>
          <p:cNvSpPr/>
          <p:nvPr/>
        </p:nvSpPr>
        <p:spPr>
          <a:xfrm flipV="1">
            <a:off x="7443534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6" name="S13-mark264"/>
          <p:cNvSpPr/>
          <p:nvPr/>
        </p:nvSpPr>
        <p:spPr>
          <a:xfrm flipV="1">
            <a:off x="7984712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7" name="S13-mark265"/>
          <p:cNvSpPr/>
          <p:nvPr/>
        </p:nvSpPr>
        <p:spPr>
          <a:xfrm flipV="1">
            <a:off x="8525891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8" name="S13-mark266"/>
          <p:cNvSpPr/>
          <p:nvPr/>
        </p:nvSpPr>
        <p:spPr>
          <a:xfrm flipV="1">
            <a:off x="9608249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9" name="S13-mark267"/>
          <p:cNvSpPr/>
          <p:nvPr/>
        </p:nvSpPr>
        <p:spPr>
          <a:xfrm flipV="1">
            <a:off x="10149427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0" name="S13-mark268"/>
          <p:cNvSpPr/>
          <p:nvPr/>
        </p:nvSpPr>
        <p:spPr>
          <a:xfrm flipV="1">
            <a:off x="10690606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1" name="S13-mark269"/>
          <p:cNvSpPr/>
          <p:nvPr/>
        </p:nvSpPr>
        <p:spPr>
          <a:xfrm>
            <a:off x="7281180" y="4746022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2" name="S13-mark270"/>
          <p:cNvSpPr/>
          <p:nvPr/>
        </p:nvSpPr>
        <p:spPr>
          <a:xfrm>
            <a:off x="7281180" y="4204843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3" name="S13-mark271"/>
          <p:cNvSpPr/>
          <p:nvPr/>
        </p:nvSpPr>
        <p:spPr>
          <a:xfrm>
            <a:off x="7281180" y="3122486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4" name="S13-mark272"/>
          <p:cNvSpPr/>
          <p:nvPr/>
        </p:nvSpPr>
        <p:spPr>
          <a:xfrm>
            <a:off x="7281180" y="2581307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5" name="S13-mark273"/>
          <p:cNvSpPr/>
          <p:nvPr/>
        </p:nvSpPr>
        <p:spPr>
          <a:xfrm>
            <a:off x="7281180" y="3663664"/>
            <a:ext cx="3571780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6" name="S13-mark274"/>
          <p:cNvSpPr/>
          <p:nvPr/>
        </p:nvSpPr>
        <p:spPr>
          <a:xfrm flipV="1">
            <a:off x="9067070" y="2418953"/>
            <a:ext cx="0" cy="2489422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7" name="S13-label276"/>
          <p:cNvSpPr txBox="1"/>
          <p:nvPr/>
        </p:nvSpPr>
        <p:spPr>
          <a:xfrm>
            <a:off x="6254996" y="2438432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60°</a:t>
            </a:r>
            <a:endParaRPr lang="ko-KR" sz="1800" dirty="0"/>
          </a:p>
        </p:txBody>
      </p:sp>
      <p:sp>
        <p:nvSpPr>
          <p:cNvPr id="18" name="S13-label278"/>
          <p:cNvSpPr txBox="1"/>
          <p:nvPr/>
        </p:nvSpPr>
        <p:spPr>
          <a:xfrm>
            <a:off x="6254996" y="2979611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</a:t>
            </a:r>
            <a:endParaRPr lang="ko-KR" sz="1800" dirty="0"/>
          </a:p>
        </p:txBody>
      </p:sp>
      <p:sp>
        <p:nvSpPr>
          <p:cNvPr id="19" name="S13-label280"/>
          <p:cNvSpPr txBox="1"/>
          <p:nvPr/>
        </p:nvSpPr>
        <p:spPr>
          <a:xfrm>
            <a:off x="6588752" y="3520789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0" name="S13-label282"/>
          <p:cNvSpPr txBox="1"/>
          <p:nvPr/>
        </p:nvSpPr>
        <p:spPr>
          <a:xfrm>
            <a:off x="6254996" y="406196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30°</a:t>
            </a:r>
            <a:endParaRPr lang="ko-KR" sz="1800" dirty="0"/>
          </a:p>
        </p:txBody>
      </p:sp>
      <p:sp>
        <p:nvSpPr>
          <p:cNvPr id="21" name="S13-label284"/>
          <p:cNvSpPr txBox="1"/>
          <p:nvPr/>
        </p:nvSpPr>
        <p:spPr>
          <a:xfrm>
            <a:off x="6254996" y="4603147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60°</a:t>
            </a:r>
            <a:endParaRPr lang="ko-KR" sz="1800" dirty="0"/>
          </a:p>
        </p:txBody>
      </p:sp>
      <p:sp>
        <p:nvSpPr>
          <p:cNvPr id="22" name="S13-label286"/>
          <p:cNvSpPr txBox="1"/>
          <p:nvPr/>
        </p:nvSpPr>
        <p:spPr>
          <a:xfrm>
            <a:off x="7164642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3" name="S13-label288"/>
          <p:cNvSpPr txBox="1"/>
          <p:nvPr/>
        </p:nvSpPr>
        <p:spPr>
          <a:xfrm>
            <a:off x="7705820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4" name="S13-label290"/>
          <p:cNvSpPr txBox="1"/>
          <p:nvPr/>
        </p:nvSpPr>
        <p:spPr>
          <a:xfrm>
            <a:off x="8246999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5" name="S13-label292"/>
          <p:cNvSpPr txBox="1"/>
          <p:nvPr/>
        </p:nvSpPr>
        <p:spPr>
          <a:xfrm>
            <a:off x="8888762" y="5009031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6" name="S13-label294"/>
          <p:cNvSpPr txBox="1"/>
          <p:nvPr/>
        </p:nvSpPr>
        <p:spPr>
          <a:xfrm>
            <a:off x="9329357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7" name="S13-label296"/>
          <p:cNvSpPr txBox="1"/>
          <p:nvPr/>
        </p:nvSpPr>
        <p:spPr>
          <a:xfrm>
            <a:off x="9870535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8" name="S13-label298"/>
          <p:cNvSpPr txBox="1"/>
          <p:nvPr/>
        </p:nvSpPr>
        <p:spPr>
          <a:xfrm>
            <a:off x="10411714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9" name="S13-labelbg300"/>
          <p:cNvSpPr/>
          <p:nvPr/>
        </p:nvSpPr>
        <p:spPr>
          <a:xfrm>
            <a:off x="9667846" y="2235959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13-label301"/>
          <p:cNvSpPr txBox="1"/>
          <p:nvPr/>
        </p:nvSpPr>
        <p:spPr>
          <a:xfrm>
            <a:off x="9622126" y="220103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31" name="S13-labelbg303"/>
          <p:cNvSpPr/>
          <p:nvPr/>
        </p:nvSpPr>
        <p:spPr>
          <a:xfrm>
            <a:off x="7503131" y="385949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13-label304"/>
          <p:cNvSpPr txBox="1"/>
          <p:nvPr/>
        </p:nvSpPr>
        <p:spPr>
          <a:xfrm>
            <a:off x="7457411" y="382457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33" name="S13-chip30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3-text30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라와 마의 위도와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경도는?</a:t>
            </a:r>
            <a:endParaRPr lang="ko-KR" sz="2800" dirty="0"/>
          </a:p>
        </p:txBody>
      </p:sp>
      <p:sp>
        <p:nvSpPr>
          <p:cNvPr id="35" name="S13-chip30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3-text30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북위일까요,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남위일까요?</a:t>
            </a:r>
            <a:endParaRPr lang="ko-KR" sz="2800" dirty="0"/>
          </a:p>
        </p:txBody>
      </p:sp>
      <p:sp>
        <p:nvSpPr>
          <p:cNvPr id="37" name="S13-chip30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3-text31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지구본과 세계 지도의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점을 하나씩.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1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세계는 6대륙과 5대양으로 이루어져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위도와 경도로 위치를 정확히 말할 수 있어요.</a:t>
            </a:r>
            <a:endParaRPr lang="ko-KR" sz="2800" dirty="0"/>
          </a:p>
        </p:txBody>
      </p:sp>
      <p:sp>
        <p:nvSpPr>
          <p:cNvPr id="5" name="S14-chip31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크기는 지구본으로 확인하기</a:t>
            </a:r>
            <a:endParaRPr lang="ko-KR" sz="2200" dirty="0"/>
          </a:p>
        </p:txBody>
      </p:sp>
      <p:sp>
        <p:nvSpPr>
          <p:cNvPr id="6" name="S14-chip31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지도에 보이는 크기만 믿기</a:t>
            </a:r>
            <a:endParaRPr lang="ko-KR" sz="2200" dirty="0"/>
          </a:p>
        </p:txBody>
      </p:sp>
      <p:sp>
        <p:nvSpPr>
          <p:cNvPr id="7" name="S14-text31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1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6대륙의 이름은?</a:t>
            </a:r>
            <a:endParaRPr lang="ko-KR" sz="2200" dirty="0"/>
          </a:p>
        </p:txBody>
      </p:sp>
      <p:sp>
        <p:nvSpPr>
          <p:cNvPr id="9" name="S14-text31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가장 넓은 대양은?</a:t>
            </a:r>
            <a:endParaRPr lang="ko-KR" sz="2200" dirty="0"/>
          </a:p>
        </p:txBody>
      </p:sp>
      <p:sp>
        <p:nvSpPr>
          <p:cNvPr id="10" name="S14-text31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적도의 위도는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도인가요?</a:t>
            </a:r>
            <a:endParaRPr lang="ko-KR" sz="2200" dirty="0"/>
          </a:p>
        </p:txBody>
      </p:sp>
      <p:sp>
        <p:nvSpPr>
          <p:cNvPr id="11" name="S14-text31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세계의 다양한 문화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대륙과 바다 다시 보기</a:t>
            </a:r>
            <a:endParaRPr lang="ko-KR" sz="4000" dirty="0"/>
          </a:p>
        </p:txBody>
      </p:sp>
      <p:sp>
        <p:nvSpPr>
          <p:cNvPr id="3" name="S15-figure320" descr="간단히 나타낸 그림: 위쪽과 왼쪽에 넓은 땅 가, 그 동쪽 끝에 아래로 튀어나온 한반도, 오른쪽의 넓은 바다 나, 오른쪽 아래에 북쪽을 가리키는 방위표"/>
          <p:cNvSpPr/>
          <p:nvPr/>
        </p:nvSpPr>
        <p:spPr>
          <a:xfrm>
            <a:off x="632460" y="1814957"/>
            <a:ext cx="5195316" cy="3463544"/>
          </a:xfrm>
          <a:custGeom>
            <a:avLst/>
            <a:gdLst/>
            <a:ahLst/>
            <a:cxnLst/>
            <a:rect l="l" t="t" r="r" b="b"/>
            <a:pathLst>
              <a:path w="5195316" h="3463544">
                <a:moveTo>
                  <a:pt x="0" y="3463544"/>
                </a:moveTo>
                <a:lnTo>
                  <a:pt x="5195316" y="3463544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15-mark321"/>
          <p:cNvSpPr/>
          <p:nvPr/>
        </p:nvSpPr>
        <p:spPr>
          <a:xfrm>
            <a:off x="632460" y="1814957"/>
            <a:ext cx="5195316" cy="2978648"/>
          </a:xfrm>
          <a:custGeom>
            <a:avLst/>
            <a:gdLst/>
            <a:ahLst/>
            <a:cxnLst/>
            <a:rect l="l" t="t" r="r" b="b"/>
            <a:pathLst>
              <a:path w="5195316" h="2978648">
                <a:moveTo>
                  <a:pt x="0" y="0"/>
                </a:moveTo>
                <a:lnTo>
                  <a:pt x="5195316" y="0"/>
                </a:lnTo>
                <a:lnTo>
                  <a:pt x="5195316" y="831251"/>
                </a:lnTo>
                <a:lnTo>
                  <a:pt x="3117190" y="831251"/>
                </a:lnTo>
                <a:lnTo>
                  <a:pt x="2909377" y="1039063"/>
                </a:lnTo>
                <a:lnTo>
                  <a:pt x="1108334" y="1039063"/>
                </a:lnTo>
                <a:lnTo>
                  <a:pt x="1108334" y="2978648"/>
                </a:lnTo>
                <a:lnTo>
                  <a:pt x="0" y="297864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5-mark322"/>
          <p:cNvSpPr/>
          <p:nvPr/>
        </p:nvSpPr>
        <p:spPr>
          <a:xfrm>
            <a:off x="4096004" y="2819385"/>
            <a:ext cx="1039063" cy="1766407"/>
          </a:xfrm>
          <a:custGeom>
            <a:avLst/>
            <a:gdLst/>
            <a:ahLst/>
            <a:cxnLst/>
            <a:rect l="l" t="t" r="r" b="b"/>
            <a:pathLst>
              <a:path w="1039063" h="1766407">
                <a:moveTo>
                  <a:pt x="0" y="173177"/>
                </a:moveTo>
                <a:lnTo>
                  <a:pt x="554167" y="0"/>
                </a:lnTo>
                <a:lnTo>
                  <a:pt x="1039063" y="1558595"/>
                </a:lnTo>
                <a:lnTo>
                  <a:pt x="484896" y="1766407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5-mark323"/>
          <p:cNvSpPr/>
          <p:nvPr/>
        </p:nvSpPr>
        <p:spPr>
          <a:xfrm>
            <a:off x="2364232" y="2854020"/>
            <a:ext cx="900521" cy="1593230"/>
          </a:xfrm>
          <a:custGeom>
            <a:avLst/>
            <a:gdLst/>
            <a:ahLst/>
            <a:cxnLst/>
            <a:rect l="l" t="t" r="r" b="b"/>
            <a:pathLst>
              <a:path w="900521" h="1593230">
                <a:moveTo>
                  <a:pt x="0" y="0"/>
                </a:moveTo>
                <a:lnTo>
                  <a:pt x="900521" y="0"/>
                </a:lnTo>
                <a:lnTo>
                  <a:pt x="796615" y="1489324"/>
                </a:lnTo>
                <a:lnTo>
                  <a:pt x="173177" y="1593230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5-mark324"/>
          <p:cNvSpPr/>
          <p:nvPr/>
        </p:nvSpPr>
        <p:spPr>
          <a:xfrm flipV="1">
            <a:off x="5550692" y="4741652"/>
            <a:ext cx="0" cy="38099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8" name="S15-mark325"/>
          <p:cNvSpPr/>
          <p:nvPr/>
        </p:nvSpPr>
        <p:spPr>
          <a:xfrm>
            <a:off x="5429468" y="4932147"/>
            <a:ext cx="242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5-label327"/>
          <p:cNvSpPr txBox="1"/>
          <p:nvPr/>
        </p:nvSpPr>
        <p:spPr>
          <a:xfrm>
            <a:off x="5383814" y="4442917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0" name="S15-label329"/>
          <p:cNvSpPr txBox="1"/>
          <p:nvPr/>
        </p:nvSpPr>
        <p:spPr>
          <a:xfrm>
            <a:off x="1410482" y="209059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1" name="S15-label331"/>
          <p:cNvSpPr txBox="1"/>
          <p:nvPr/>
        </p:nvSpPr>
        <p:spPr>
          <a:xfrm>
            <a:off x="2423587" y="343848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2" name="S15-label333"/>
          <p:cNvSpPr txBox="1"/>
          <p:nvPr/>
        </p:nvSpPr>
        <p:spPr>
          <a:xfrm>
            <a:off x="5255016" y="34413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3" name="S15-label334"/>
          <p:cNvSpPr txBox="1"/>
          <p:nvPr/>
        </p:nvSpPr>
        <p:spPr>
          <a:xfrm>
            <a:off x="548640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</a:t>
            </a:r>
            <a:endParaRPr lang="ko-KR" sz="2200" dirty="0"/>
          </a:p>
        </p:txBody>
      </p:sp>
      <p:sp>
        <p:nvSpPr>
          <p:cNvPr id="14" name="S15-card335"/>
          <p:cNvSpPr/>
          <p:nvPr/>
        </p:nvSpPr>
        <p:spPr>
          <a:xfrm>
            <a:off x="6277356" y="1748028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5-cardtext336"/>
          <p:cNvSpPr txBox="1"/>
          <p:nvPr/>
        </p:nvSpPr>
        <p:spPr>
          <a:xfrm>
            <a:off x="6551676" y="1885188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가처럼 아주 넓은 땅덩어리를 대륙이라고 해요.</a:t>
            </a:r>
            <a:endParaRPr lang="ko-KR" sz="2800" dirty="0"/>
          </a:p>
        </p:txBody>
      </p:sp>
      <p:sp>
        <p:nvSpPr>
          <p:cNvPr id="16" name="S15-card337"/>
          <p:cNvSpPr/>
          <p:nvPr/>
        </p:nvSpPr>
        <p:spPr>
          <a:xfrm>
            <a:off x="6277356" y="3173476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5-cardtext338"/>
          <p:cNvSpPr txBox="1"/>
          <p:nvPr/>
        </p:nvSpPr>
        <p:spPr>
          <a:xfrm>
            <a:off x="6551676" y="3310636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나처럼 아주 넓은 바다를 대양이라고 해요.</a:t>
            </a:r>
            <a:endParaRPr lang="ko-KR" sz="2800" dirty="0"/>
          </a:p>
        </p:txBody>
      </p:sp>
      <p:sp>
        <p:nvSpPr>
          <p:cNvPr id="18" name="S15-card339"/>
          <p:cNvSpPr/>
          <p:nvPr/>
        </p:nvSpPr>
        <p:spPr>
          <a:xfrm>
            <a:off x="6277356" y="4598924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15-cardtext340"/>
          <p:cNvSpPr txBox="1"/>
          <p:nvPr/>
        </p:nvSpPr>
        <p:spPr>
          <a:xfrm>
            <a:off x="6551676" y="4736084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 지도의 위쪽이 북쪽이에요.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세계 여러 나라</dc:title>
  <dc:subject>KR22-G06-SOC-WORLDMAP-L01</dc:subject>
  <dc:creator>education-ppt</dc:creator>
  <cp:lastModifiedBy>education-ppt</cp:lastModifiedBy>
  <cp:revision>1</cp:revision>
  <dcterms:created xsi:type="dcterms:W3CDTF">2026-10-26T13:38:59Z</dcterms:created>
  <dcterms:modified xsi:type="dcterms:W3CDTF">2026-10-26T13:38:59Z</dcterms:modified>
</cp:coreProperties>
</file>