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7e1739a-596d-f563-f9a9-9d606a936197}">
          <p14:sldIdLst>
            <p14:sldId id="256"/>
            <p14:sldId id="257"/>
          </p14:sldIdLst>
        </p14:section>
        <p14:section name="개념" id="{d327136f-99d9-00ef-d235-da142f1edd0f}">
          <p14:sldIdLst>
            <p14:sldId id="258"/>
            <p14:sldId id="259"/>
            <p14:sldId id="261"/>
            <p14:sldId id="262"/>
          </p14:sldIdLst>
        </p14:section>
        <p14:section name="연습" id="{d54c11a5-8038-dc53-446a-8791b4d493fc}">
          <p14:sldIdLst>
            <p14:sldId id="260"/>
            <p14:sldId id="263"/>
            <p14:sldId id="264"/>
            <p14:sldId id="265"/>
          </p14:sldIdLst>
        </p14:section>
        <p14:section name="개념" id="{50599ac4-1dcd-6731-02c8-6eef827f3b51}">
          <p14:sldIdLst/>
        </p14:section>
        <p14:section name="연습" id="{616585fd-f173-1f2d-e667-e5f07abe1613}">
          <p14:sldIdLst/>
        </p14:section>
        <p14:section name="확인" id="{e45c0943-d030-cfaa-4926-fdc75c71a471}">
          <p14:sldIdLst>
            <p14:sldId id="266"/>
            <p14:sldId id="267"/>
            <p14:sldId id="268"/>
          </p14:sldIdLst>
        </p14:section>
        <p14:section name="정리" id="{3182c480-d4e3-2de4-282d-204357c8a1f4}">
          <p14:sldIdLst>
            <p14:sldId id="269"/>
          </p14:sldIdLst>
        </p14:section>
        <p14:section name="보충" id="{57e6dcb6-0302-00bb-cf1e-f2b74f2cfcaf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것(지구촌 공동 문제, 함께 해결하려는 노력, 나의 실천)을 알립니다.
시간: 약 2분
이렇게 말해 보세요
- “우리 동네에 쓰레기가 쌓이면 누가 치워야 할까? 그럼 바다 한가운데 쌓인 쓰레기는?”
- “오늘은 한 나라만의 힘으로는 풀기 어려운 세계의 문제와, 그 문제를 함께 풀려는 사람들의 노력, 그리고 우리가 할 수 있는 일을 알아볼 거야.”
예상 답
- “동네 사람들이요.” “바다는… 잘 모르겠어요.”
막히면
- 지난 시간에 조사한 나라를 떠올리게 하고 “그 나라와 우리나라가 함께 겪는 문제가 있을까?”라고 묻습니다.
주의
- 오늘은 무서운 장면이나 뉴스 영상을 보여 주지 않습니다. 문제와 함께 그 문제를 풀려고 노력하는 사람이 많다는 것에 초점을 둡니다.
- 아이가 뉴스에서 본 실제 사건을 물으면 짧고 차분하게 답하고, 불안해하면 “그래서 많은 나라와 사람들이 함께 돕고 있어.”라고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확인(자연환경과 생활, 존중)]
목적: 지난 차시 ‘세계의 다양한 문화’에서 배운 자연환경과 생활의 관계, 다른 문화를 존중하는 태도를 확인합니다. 오늘 다른 나라 사람들의 어려움을 이야기할 때 그대로 씁니다.
시간: 약 3분
이렇게 말해 보세요
- “지난 시간에 사는 곳에 따라 집이 달랐지? 흙벽돌집은 왜 벽이 두꺼웠어?”
- “다른 나라 사람들을 이야기할 때 조심하기로 한 말이 있었지?”
정답
- ① 뜨거운 햇볕과 열기를 막으려고(나무가 드물고 흙이 많아서)
- ② 그곳의 자연환경과 그렇게 사는 까닭(사람마다 다를 수 있다는 것)
- ③ 예: “그곳의 많은 사람은 ~한대. 왜 그런지 궁금해.” (‘모두’ 없이 말하면 맞음)
막히면
- 두 문제 이상 어려우면 S15(보충)를 먼저 하고 돌아옵니다.
주의
- ③은 오늘 다른 나라의 어려움을 이야기할 때도 중요합니다. ‘그 나라 사람들은 모두 가난해’처럼 말하지 않도록 미리 짚어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지구촌 공동 문제]
목적: 교통과 통신이 발달해 세계가 가깝게 이어진 지구촌에서 여러 나라가 함께 겪는 문제(환경, 빈곤과 굶주림, 분쟁과 난민, 감염병)를 알려 줍니다(목표 A).
시간: 약 4분
이렇게 말해 보세요
- “비행기를 타면 하루 만에 지구 반대편까지 갈 수 있고, 인터넷으로 바로 이야기할 수 있지? 그래서 세계를 한 마을처럼 ‘지구촌’이라고 불러.”
- “한 마을에 사는 사람들은 함께 겪는 문제가 있지? 지구촌에도 그런 문제가 있어. 네 가지를 하나씩 읽어 볼까?”
- “‘난민’은 다툼이나 위험을 피해 살던 곳을 떠난 사람을 말해.”
- “이 가운데 들어 본 것이 있어?”
예상 답
- “감염병이요. 마스크를 썼던 때가 생각나요.” “바다 쓰레기 뉴스를 봤어요.”
막히면
- 카드마다 “이런 일이 생기면 사람들은 어떤 점이 힘들까?”를 한 가지씩 묻습니다.
주의
- 분쟁은 특정 나라나 실제 사건을 이름으로 다루지 않습니다. ‘나라나 집단 사이의 다툼’으로만 말하고, 다치거나 죽는 장면을 자세히 말하지 않습니다.
- 빈곤을 이야기할 때 ‘그 나라 사람들은 모두 가난하다’, ‘불쌍하다’처럼 말하지 않습니다. 같은 나라 안에서도 형편이 다양하고, 어려움 속에서도 스스로 노력하는 사람이 많다는 것을 함께 말해 줍니다(오해 M3).
- 아이가 겪은 감염병 유행(마스크 쓰기, 손 씻기) 경험과 이어 이야기해도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함께 풀어야 하는 까닭]
목적: 지구촌 문제는 국경을 넘어 퍼지고 서로 이어져 있어서, 한 나라만의 노력으로는 해결하기 어렵다는 것을 바다 쓰레기의 예로 알려 줍니다(목표 A, 오해 M1).
시간: 약 3분
이렇게 말해 보세요
- “우리 바닷가를 아무리 깨끗이 치워도 다른 나라에서 버린 쓰레기가 흘러오면 어떻게 될까?”
- “반대로 우리가 버린 쓰레기는 어디로 갈까?”
- “그럼 바다 쓰레기를 줄이려면 한 나라만 노력하면 될까?”
예상 답
- “또 쌓여요.” “다른 나라로 가요.” “여러 나라가 같이 노력해야 해요.”
막히면
- 욕조에 장난감 배를 띄우고 물을 저으면 배가 어디로든 간다는 것을 떠올리게 합니다.
주의
- 다른 예: 미세 먼지나 오염된 공기도 바람을 따라 국경을 넘을 수 있고, 감염병은 여행하는 사람을 따라 퍼질 수 있습니다. 먼 나라의 문제도 나와 이어져 있다는 것에 초점을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지구촌 문제 찾기]
목적: 처음 보는 상황에서 어떤 지구촌 공동 문제인지 찾아 말하는 연습을 합니다(목표 A).
시간: 약 3분
이렇게 말해 보세요
- “①은 사람들에게 무엇이 모자라? 그럼 어떤 문제일까?”
- “③에서 이웃 나라로 간 사람들을 무엇이라고 했지?”
- “이 가운데 한 나라만 노력해서 풀 수 있는 것이 있을까?”
정답
- ① 빈곤과 굶주림(가뭄은 기후 변화 같은 환경 문제와도 이어져요)
- ② 환경 문제(바다 쓰레기)
- ③ 분쟁과 난민
- ④ 감염병
- 네 가지 모두 여러 나라가 함께 노력해야 풀 수 있어요.
막히면
- S03의 카드 네 장을 다시 보여 주고 상황과 같은 낱말(먹을거리, 쓰레기, 다툼, 병)을 찾게 합니다.
주의
- ①에서 ‘환경 문제’라고 해도 까닭(가뭄)을 말하면 인정해 줍니다. 지구촌 문제는 서로 이어져 있습니다.
- 아이가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국제기구가 하는 일]
목적: 지구촌 문제를 함께 풀려고 여러 나라가 만든 국제기구와 그 하는 일을 교과서 수준으로 알려 줍니다(목표 B).
시간: 약 3분
이렇게 말해 보세요
- “여러 나라가 함께 풀어야 할 문제가 있으니, 여러 나라가 모여 만든 기구가 있어. 이것을 국제기구라고 해.”
- “가장 큰 국제기구는 국제 연합, 유엔이야. 세계 대부분의 나라가 들어가 있어.”
- “S05의 ④ 감염병 문제는 어느 기구와 관계가 깊을까? ③ 난민은?”
예상 답
- “감염병은 세계 보건 기구요.” “난민은 유엔 난민 기구요.”
막히면
- 기구 이름에 들어 있는 낱말(보건 = 건강, 난민)을 짚어 하는 일과 잇게 합니다.
주의
- 부모님 참고: 국제 연합(UN)은 1945년에 만들어졌고 우리나라는 1991년에 가입했습니다. 유니세프는 유엔 아동 기금, 세계 보건 기구는 WHO, 유엔 난민 기구는 UNHCR입니다. 이 밖에 교육·과학·문화를 맡는 유네스코 등이 있습니다.
- 기구 이름을 외우게 하기보다 ‘여러 나라가 함께 만들어 함께 푼다’는 뜻에 초점을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비정부 기구, 나라 사이의 약속, 개인의 실천]
목적: 정부가 아닌 시민들이 만든 비정부 기구, 나라 사이의 약속, 개인의 실천도 지구촌 문제 해결에 힘을 보탠다는 것을 알려 줍니다(목표 B, 오해 M2·M3).
시간: 약 2분
이렇게 말해 보세요
- “나라나 국제기구만 돕는 건 아니야. 시민들이 스스로 모여 만든 단체도 있어. 이것을 비정부 기구라고 해. 예를 들어 ‘국경 없는 의사회’는 다툼이나 재난, 감염병이 생긴 곳에 의사와 간호사를 보내 치료해.”
- “나라끼리 ‘온실가스를 함께 줄이자’처럼 약속(협약)을 맺고 지키기도 해.”
- “그럼 우리는 무엇을 할 수 있을까?”
예상 답
- “물건을 아껴 써요.” “분리배출을 해요.” “돕는 곳에 용돈을 조금 보내요.”
막히면
- “우리 집에서 오늘 할 수 있는 일”로 좁혀서 묻습니다.
주의
- 부모님 참고: 비정부 기구는 NGO라고도 합니다. 나라 사이의 약속의 예로 기후 변화에 함께 대응하기로 한 파리 협정(2015년)이 있습니다.
- 도움을 ‘불쌍해서 베푸는 것’으로 말하지 않고, 지구촌에 함께 사는 이웃끼리의 협력으로 말해 줍니다(오해 M3).
- 기부는 아이에게 강요하지 않습니다. 관심 갖기, 바르게 알기, 아껴 쓰기도 실천입니다.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해결 주체와 하는 일 잇기]
목적: 문제 해결에 힘쓰는 주체(국제기구, 비정부 기구, 개인)와 하는 일을 잇고, 내가 할 수 있는 일을 찾는 연습을 합니다(목표 B).
시간: 약 3분
이렇게 말해 보세요
- “①은 S06의 표에서 찾아볼까?”
- “③은 오늘 우리 집에서 바로 할 수 있는 일로 말해 줘.”
정답
- ① 세계 보건 기구
- ② 비정부 기구
- ③ 예: 일회용 플라스틱(빨대, 비닐봉지) 덜 쓰기, 장바구니·텀블러 쓰기, 분리배출 바르게 하기, 바닷가·물가에서 쓰레기 되가져오기 가운데 두 가지(실천할 수 있는 일이면 맞음)
막히면
- ③이 어려우면 “바다 쓰레기는 대부분 무엇으로 되어 있을까? 그걸 덜 쓰려면?”이라고 묻습니다.
주의
- 바닷가 쓰레기 줍기 같은 활동은 꼭 어른과 함께 하고, 깨진 유리나 날카로운 것은 맨손으로 만지지 않게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비교(어린이도 할 수 있는 일)]
목적: 어린이는 할 수 있는 일이 없다는 생각과, 작은 실천도 모이면 힘이 된다는 생각을 비교합니다(목표 B, 오해 M2).
시간: 약 2분
이렇게 말해 보세요
- “가처럼 생각하면 어떻게 될까? 모두가 그렇게 생각한다면?”
- “나처럼 생각하면 무엇부터 할 수 있을까?”
정답
- 나에 찬성하고 까닭을 말하면 잘한 것입니다. 예: 한 사람이 일회용 컵을 하루 하나 덜 써도, 많은 사람이 함께 하면 쓰레기가 크게 줄어요. 관심을 갖고 바르게 알리는 것도 도움이 돼요.
막히면
- “우리 반 친구 모두가 하루에 비닐봉지 하나씩 덜 쓰면 일주일에 몇 개가 줄까?”처럼 함께 하는 힘을 떠올리게 합니다.
주의
- 가처럼 말해도 나무라지 않습니다. 문제가 커서 그렇게 느낄 수 있다고 받아 준 뒤, 할 수 있는 작은 일을 함께 찾습니다.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토의와 실천 계획(부모와 함께)]
목적: 지구촌 문제 하나를 골라 까닭과 영향, 해결 방법(나라·국제기구, 비정부 기구, 개인)을 부모와 토의하고, 일주일 동안 할 실천을 정합니다(목표 A·B).
시간: 약 4분
이렇게 말해 보세요
- “네 가지 문제 가운데 가장 관심이 가는 것은 뭐야? 왜?”
- “그 문제는 왜 생길까? 누가 가장 힘들까?”
- “나라와 국제기구는 무엇을 할 수 있을까? 시민 단체는? 우리는?”
- “이번 주에 우리가 할 일 하나를 ‘언제, 무엇을’로 정해 보자. 엄마(아빠)도 하나 정할게.”
예상 답
- “환경 문제요. 바다 쓰레기 때문에 바다 동물이 힘들어요. 나라끼리 약속하고, 단체는 바다를 청소하고, 저는 학교에 텀블러를 가져갈래요.”
정답
- 기준: 문제 하나와 까닭(또는 영향)을 말하고, 해결 방법을 주체를 나누어 두 가지 이상 말하며, ‘언제, 무엇을’이 들어간 실천을 정하면 잘한 것입니다. 내용은 활동지 4·5에 기록합니다.
막히면
- 토의가 어려우면 부모님이 먼저 의견을 말하고 “너는 어떻게 생각해? 찬성해, 다른 생각이야?”라고 묻습니다. 다른 의견도 존중하며 들어 줍니다.
주의
- 실천은 아이가 실제로 할 수 있는 작은 일로 정합니다. 지키지 못한 날이 있어도 나무라지 않고 무엇이 어려웠는지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보기(처음 보는 문제)]
목적: 처음 보는 상황에서 지구촌 문제를 찾고, 함께 풀어야 하는 까닭과 해결 방법을 말하는지 확인합니다(목표 A).
시간: 약 4분
이렇게 말해 보세요
- “초록강은 지어낸 강이야. 혼자 읽고 답해 볼래?”
- “③은 ‘누가’, ‘무엇을’을 함께 말해 줘.”
정답
- ① 환경 문제(강물 오염)
- ② 강물이 국경을 넘어 흘러서, 위쪽 나라의 일이 아래쪽 나라에 영향을 주기 때문이에요(아래쪽 나라만 노력해서는 깨끗해지지 않아요).
- ③ 예: 세 나라가 깨끗한 물을 위한 약속을 맺고 지켜요. 공장이 물을 깨끗하게 해서 내보내요. 국제기구가 물을 조사하고 도와요. 시민 단체가 강을 지키는 활동을 해요. 우리는 물을 아끼고 세제를 적게 써요. (주체와 할 일을 이어 두 가지 말하면 맞음)
막히면
- ②가 어려우면 S04의 바다 쓰레기 흐름을 다시 떠올리게 합니다. 도움을 받아 풀었다면 기록표에 ‘도움’으로 표시합니다.
주의
- 위쪽 나라를 ‘나쁜 나라’라고 탓하는 말로 끝내지 않고, 함께 풀 방법으로 이어 가게 합니다. 정답 확인은 다음 장(S12)에서 함께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 답과 왼쪽이 같아? 오른쪽 답은 무엇이 아쉬울까?”
예상 답
- “아래쪽 나라만 노력하면 위에서 또 더러운 물이 와요.”
정답
- ① 환경 문제(강물 오염) ② 강물이 국경을 넘어 흘러 영향을 주기 때문 ③ 주체와 할 일을 이어 두 가지(예: 세 나라의 약속, 공장의 물 정화, 국제기구의 조사, 시민 단체의 활동, 우리의 물 아끼기)
막히면
- S04, S06, S07을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확인(협력 방법과 실천)]
목적: 문제를 해결하는 주체를 구별하고, 같은 문제에서 나라와 개인이 할 일을 나누어 말하며, 자기 실천을 구체적으로 정했는지 확인합니다(목표 B).
시간: 약 3분
이렇게 말해 보세요
- “이번에는 혼자 답해 볼래? ②는 나라가 할 일과 네가 할 일을 하나씩이야.”
정답
- ① 국제기구는 여러 나라(정부)가 함께 만든 기구이고, 비정부 기구는 정부가 아닌 시민들이 만든 단체예요.
- ② 나라끼리: 감염병 소식을 빨리 나누기, 백신·약을 함께 연구하고 나누기, 의료품 보내기 가운데 하나 / 나: 손 씻기, 기침할 때 옷소매로 가리기, 아플 때 쉬고 어른에게 알리기 가운데 하나
- ③ 예: “이번 주 학교 가는 날마다 텀블러를 가져갈게요.” (‘언제’와 ‘무엇을’이 들어간 실천이면 맞음)
막히면
- ①이 어려우면 S06의 첫 줄과 S07의 첫 카드를 나란히 보여 줍니다. 그래도 어려우면 기록표에 ‘도움’으로 적습니다.
주의
- ③은 S10에서 정한 실천을 말해도 됩니다. 실천 기록은 활동지 5에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“지구촌 문제는 왜 함께 풀어야 할까? 이번 주에 우리가 하기로 한 일은 뭐였지?”
예상 답
- “문제가 다른 나라로 퍼지니까요. 텀블러 가져가기요.”
정답
- ① 환경 문제, 빈곤과 굶주림, 분쟁과 난민, 감염병 가운데 두 가지 ② 세계 보건 기구 ③ 활동지 5의 기록을 보며 말하면 맞음(지킨 날의 수는 평가하지 않음)
막히면
- S03, S06을 다시 보여 줍니다.
주의
- 다음 수업 전까지 활동지 5의 실천 기록을 함께 합니다. 부모님도 하나를 정해 같이 기록하면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보충(서로 다른 생활과 존중)]
목적: S02에서 자연환경과 생활의 관계나 존중하는 말이 흔들리면, 지난 차시의 집 그림으로 다시 확인합니다.
시간: 약 4분
이렇게 말해 보세요
- “가는 덥고 건조한 곳의 집이야. 벽이 두껍고 창문이 작은 까닭은?”
- “나와 다는 어떤 날씨에 맞춘 집일까?”
- “다른 나라 사람들을 이야기할 때 ‘모두’, ‘이상해’ 대신 어떻게 말하기로 했지?”
예상 답
- “뜨거운 햇볕을 막으려고요.” “나는 비가 많은 곳, 다는 추운 곳이요.” “‘궁금해’, ‘그렇구나’라고 해요.”
막히면
- “이 집에서 가장 피하고 싶은 것은?”을 먼저 묻고 집의 모양과 잇게 합니다.
주의
- 계획상 이 차시의 선수 차시는 ‘세계의 다양한 문화’(KR22-G06-SOC-CULTURES-L01)입니다. 많이 흔들리면 그 차시의 S05~S09를 먼저 하고 오늘 수업은 다른 날 S02부터 다시 시작합니다.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세계와공존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지구촌 문제와 협력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지구촌 문제와 협력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사회·역사 · 지구촌 문제와 협력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지구촌 문제와 협력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나라가 함께 풀어야 할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문제는 무엇일까요?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지구촌 공동 문제를 찾고, 함께 풀어야 하는 까닭을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협력 방법을 토의하고 나의 실천을 정해요.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덥고 건조한 곳의 흙벽돌집은 왜 벽이 두꺼울까요?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문화를 만날 때 먼저 생각할 것은?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‘그 나라 사람은 모두 ~해’를 존중하는 말로 바꾸면?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풀어야 할 지구촌 문제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지구촌: 세계가 한 마을처럼 가깝게 이어진 것</a:t>
            </a:r>
            <a:endParaRPr lang="ko-KR" sz="2800" dirty="0"/>
          </a:p>
        </p:txBody>
      </p:sp>
      <p:sp>
        <p:nvSpPr>
          <p:cNvPr id="4" name="S03-card10"/>
          <p:cNvSpPr/>
          <p:nvPr/>
        </p:nvSpPr>
        <p:spPr>
          <a:xfrm>
            <a:off x="548640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문제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기후 변화, 바다 쓰레기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등이 여러 나라에 퍼져요.</a:t>
            </a:r>
            <a:endParaRPr lang="ko-KR" sz="2800" dirty="0"/>
          </a:p>
        </p:txBody>
      </p:sp>
      <p:sp>
        <p:nvSpPr>
          <p:cNvPr id="6" name="S03-card12"/>
          <p:cNvSpPr/>
          <p:nvPr/>
        </p:nvSpPr>
        <p:spPr>
          <a:xfrm>
            <a:off x="6208776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3"/>
          <p:cNvSpPr txBox="1"/>
          <p:nvPr/>
        </p:nvSpPr>
        <p:spPr>
          <a:xfrm>
            <a:off x="6483096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빈곤과 굶주림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먹을거리·깨끗한 물·학교가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모자란 사람들이 있어요.</a:t>
            </a:r>
            <a:endParaRPr lang="ko-KR" sz="2800" dirty="0"/>
          </a:p>
        </p:txBody>
      </p:sp>
      <p:sp>
        <p:nvSpPr>
          <p:cNvPr id="8" name="S03-card14"/>
          <p:cNvSpPr/>
          <p:nvPr/>
        </p:nvSpPr>
        <p:spPr>
          <a:xfrm>
            <a:off x="548640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5"/>
          <p:cNvSpPr txBox="1"/>
          <p:nvPr/>
        </p:nvSpPr>
        <p:spPr>
          <a:xfrm>
            <a:off x="822960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분쟁과 난민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다툼을 피해 집을 떠난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사람(난민)이 생겨요.</a:t>
            </a:r>
            <a:endParaRPr lang="ko-KR" sz="2800" dirty="0"/>
          </a:p>
        </p:txBody>
      </p:sp>
      <p:sp>
        <p:nvSpPr>
          <p:cNvPr id="10" name="S03-card16"/>
          <p:cNvSpPr/>
          <p:nvPr/>
        </p:nvSpPr>
        <p:spPr>
          <a:xfrm>
            <a:off x="6208776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7"/>
          <p:cNvSpPr txBox="1"/>
          <p:nvPr/>
        </p:nvSpPr>
        <p:spPr>
          <a:xfrm>
            <a:off x="6483096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병이 사람을 따라 여러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나라로 퍼질 수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함께 풀어야 할까요?</a:t>
            </a:r>
            <a:endParaRPr lang="ko-KR" sz="4000" dirty="0"/>
          </a:p>
        </p:txBody>
      </p:sp>
      <p:sp>
        <p:nvSpPr>
          <p:cNvPr id="3" name="S04-text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 쓰레기는 어떻게 다른 나라로 갈까요?</a:t>
            </a:r>
            <a:endParaRPr lang="ko-KR" sz="2800" dirty="0"/>
          </a:p>
        </p:txBody>
      </p:sp>
      <p:sp>
        <p:nvSpPr>
          <p:cNvPr id="4" name="S04-card19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20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국경을 넘어요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여러 나라로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퍼지고 이어져요.</a:t>
            </a:r>
            <a:endParaRPr lang="ko-KR" sz="2800" dirty="0"/>
          </a:p>
        </p:txBody>
      </p:sp>
      <p:sp>
        <p:nvSpPr>
          <p:cNvPr id="6" name="S04-card21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2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나라의 힘만으로는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풀기 어려워요.</a:t>
            </a:r>
            <a:endParaRPr lang="ko-KR" sz="2800" dirty="0"/>
          </a:p>
        </p:txBody>
      </p:sp>
      <p:sp>
        <p:nvSpPr>
          <p:cNvPr id="8" name="S04-step23"/>
          <p:cNvSpPr txBox="1"/>
          <p:nvPr/>
        </p:nvSpPr>
        <p:spPr>
          <a:xfrm>
            <a:off x="1293876" y="2462784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나라에서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쓰레기가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바다로 가요</a:t>
            </a:r>
            <a:endParaRPr lang="ko-KR" sz="2600" dirty="0"/>
          </a:p>
        </p:txBody>
      </p:sp>
      <p:sp>
        <p:nvSpPr>
          <p:cNvPr id="9" name="S04-line24"/>
          <p:cNvSpPr/>
          <p:nvPr/>
        </p:nvSpPr>
        <p:spPr>
          <a:xfrm>
            <a:off x="4274820" y="324002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4-step25"/>
          <p:cNvSpPr txBox="1"/>
          <p:nvPr/>
        </p:nvSpPr>
        <p:spPr>
          <a:xfrm>
            <a:off x="4631436" y="2462784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바닷물을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멀리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흘러가요</a:t>
            </a:r>
            <a:endParaRPr lang="ko-KR" sz="2600" dirty="0"/>
          </a:p>
        </p:txBody>
      </p:sp>
      <p:sp>
        <p:nvSpPr>
          <p:cNvPr id="11" name="S04-line26"/>
          <p:cNvSpPr/>
          <p:nvPr/>
        </p:nvSpPr>
        <p:spPr>
          <a:xfrm>
            <a:off x="7612380" y="324002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4-step27"/>
          <p:cNvSpPr txBox="1"/>
          <p:nvPr/>
        </p:nvSpPr>
        <p:spPr>
          <a:xfrm>
            <a:off x="7968996" y="2462784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나라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바닷가에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쌓여요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문제일까요?</a:t>
            </a:r>
            <a:endParaRPr lang="ko-KR" sz="4000" dirty="0"/>
          </a:p>
        </p:txBody>
      </p:sp>
      <p:sp>
        <p:nvSpPr>
          <p:cNvPr id="3" name="S05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가운데 어떤 지구촌 문제인지 말해요.</a:t>
            </a:r>
            <a:endParaRPr lang="ko-KR" sz="2800" dirty="0"/>
          </a:p>
        </p:txBody>
      </p:sp>
      <p:sp>
        <p:nvSpPr>
          <p:cNvPr id="4" name="S05-chip2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5-text3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가뭄이 이어져 먹을거리가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모자란 마을이 있어요.</a:t>
            </a:r>
            <a:endParaRPr lang="ko-KR" sz="2800" dirty="0"/>
          </a:p>
        </p:txBody>
      </p:sp>
      <p:sp>
        <p:nvSpPr>
          <p:cNvPr id="6" name="S05-chip3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5-text3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떠다니는 플라스틱이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나라로 밀려와요.</a:t>
            </a:r>
            <a:endParaRPr lang="ko-KR" sz="2800" dirty="0"/>
          </a:p>
        </p:txBody>
      </p:sp>
      <p:sp>
        <p:nvSpPr>
          <p:cNvPr id="8" name="S05-chip33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5-text34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오랜 다툼을 피해 많은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이웃 나라로 갔어요.</a:t>
            </a:r>
            <a:endParaRPr lang="ko-KR" sz="2800" dirty="0"/>
          </a:p>
        </p:txBody>
      </p:sp>
      <p:sp>
        <p:nvSpPr>
          <p:cNvPr id="10" name="S05-chip3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05-text36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감염병이 여행하는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사람을 따라 퍼졌어요.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국제기구가 하는 일</a:t>
            </a:r>
            <a:endParaRPr lang="ko-KR" sz="4000" dirty="0"/>
          </a:p>
        </p:txBody>
      </p:sp>
      <p:sp>
        <p:nvSpPr>
          <p:cNvPr id="3" name="S06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국제기구: 여러 나라가 함께 만든 기구예요.</a:t>
            </a:r>
            <a:endParaRPr lang="ko-KR" sz="2800" dirty="0"/>
          </a:p>
        </p:txBody>
      </p:sp>
      <p:graphicFrame>
        <p:nvGraphicFramePr>
          <p:cNvPr id="7" name="S06-table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910840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68096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국제기구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국제 연합(유엔)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세계 평화를 지키고 여러 나라의 협력을 도와요.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유니세프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어려움에 처한 어린이의 건강과 교육을 도와요.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세계 보건 기구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감염병을 막고 사람들의 건강을 지키도록 도와요.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유엔 난민 기구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집을 떠나 피한 사람(난민)을 보호해요.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시민과 나도 함께해요</a:t>
            </a:r>
            <a:endParaRPr lang="ko-KR" sz="4000" dirty="0"/>
          </a:p>
        </p:txBody>
      </p:sp>
      <p:sp>
        <p:nvSpPr>
          <p:cNvPr id="3" name="S07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돕는 일은 함께 사는 이웃끼리 하는 협력이에요.</a:t>
            </a:r>
            <a:endParaRPr lang="ko-KR" sz="2800" dirty="0"/>
          </a:p>
        </p:txBody>
      </p:sp>
      <p:sp>
        <p:nvSpPr>
          <p:cNvPr id="5" name="S07-card41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42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비정부 기구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정부가 아닌 시민들이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단체예요.</a:t>
            </a:r>
            <a:endParaRPr lang="ko-KR" sz="2800" dirty="0"/>
          </a:p>
        </p:txBody>
      </p:sp>
      <p:sp>
        <p:nvSpPr>
          <p:cNvPr id="7" name="S07-card43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44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나라끼리 약속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협약을 맺고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지켜요.</a:t>
            </a:r>
            <a:endParaRPr lang="ko-KR" sz="2800" dirty="0"/>
          </a:p>
        </p:txBody>
      </p:sp>
      <p:sp>
        <p:nvSpPr>
          <p:cNvPr id="9" name="S07-card45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46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실천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갖고, 아껴 쓰고,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돕는 일에 참여해요.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어떻게 도울까요?</a:t>
            </a:r>
            <a:endParaRPr lang="ko-KR" sz="4000" dirty="0"/>
          </a:p>
        </p:txBody>
      </p:sp>
      <p:sp>
        <p:nvSpPr>
          <p:cNvPr id="3" name="S08-chip4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8-text4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감염병을 막고 건강을 지키도록 돕는 국제기구는?</a:t>
            </a:r>
            <a:endParaRPr lang="ko-KR" sz="2800" dirty="0"/>
          </a:p>
        </p:txBody>
      </p:sp>
      <p:sp>
        <p:nvSpPr>
          <p:cNvPr id="5" name="S08-chip4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8-text5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정부가 아닌 시민들이 만든 단체를 무엇이라고 하나요?</a:t>
            </a:r>
            <a:endParaRPr lang="ko-KR" sz="2800" dirty="0"/>
          </a:p>
        </p:txBody>
      </p:sp>
      <p:sp>
        <p:nvSpPr>
          <p:cNvPr id="7" name="S08-chip5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8-text5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 쓰레기를 줄이려고 내가 할 수 있는 일 두 가지는?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나도 할 수 있을까요?</a:t>
            </a:r>
            <a:endParaRPr lang="ko-KR" sz="4000" dirty="0"/>
          </a:p>
        </p:txBody>
      </p:sp>
      <p:sp>
        <p:nvSpPr>
          <p:cNvPr id="3" name="S09-card5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지구촌 문제는 너무 크고 멀게 느껴져요.</a:t>
            </a:r>
            <a:endParaRPr lang="ko-KR" sz="2800" dirty="0"/>
          </a:p>
        </p:txBody>
      </p:sp>
      <p:sp>
        <p:nvSpPr>
          <p:cNvPr id="5" name="S09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생각에 더 찬성하나요? 왜 그럴까요?</a:t>
            </a:r>
            <a:endParaRPr lang="ko-KR" sz="2800" dirty="0"/>
          </a:p>
        </p:txBody>
      </p:sp>
      <p:sp>
        <p:nvSpPr>
          <p:cNvPr id="7" name="S09-chip5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9-text5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어린이라서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수 있는 일이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없어요.”</a:t>
            </a:r>
            <a:endParaRPr lang="ko-KR" sz="2800" dirty="0"/>
          </a:p>
        </p:txBody>
      </p:sp>
      <p:sp>
        <p:nvSpPr>
          <p:cNvPr id="9" name="S09-chip5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9-text6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“작은 일이라도 많은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함께 하면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도움이 돼요.”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토의해요</a:t>
            </a:r>
            <a:endParaRPr lang="ko-KR" sz="4000" dirty="0"/>
          </a:p>
        </p:txBody>
      </p:sp>
      <p:sp>
        <p:nvSpPr>
          <p:cNvPr id="3" name="S10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이야기해요.</a:t>
            </a:r>
            <a:endParaRPr lang="ko-KR" sz="2800" dirty="0"/>
          </a:p>
        </p:txBody>
      </p:sp>
      <p:sp>
        <p:nvSpPr>
          <p:cNvPr id="4" name="S10-card62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63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문제와 까닭 말하기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방법 두 가지 이상 말하기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‘언제, 무엇을’ 실천 정하기</a:t>
            </a:r>
            <a:endParaRPr lang="ko-KR" sz="2800" dirty="0"/>
          </a:p>
        </p:txBody>
      </p:sp>
      <p:sp>
        <p:nvSpPr>
          <p:cNvPr id="6" name="S10-stepno64"/>
          <p:cNvSpPr txBox="1"/>
          <p:nvPr/>
        </p:nvSpPr>
        <p:spPr>
          <a:xfrm>
            <a:off x="548640" y="2292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10-text65"/>
          <p:cNvSpPr txBox="1"/>
          <p:nvPr/>
        </p:nvSpPr>
        <p:spPr>
          <a:xfrm>
            <a:off x="1325880" y="2292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지구촌 문제 하나를 골라요.</a:t>
            </a:r>
            <a:endParaRPr lang="ko-KR" sz="2800" dirty="0"/>
          </a:p>
        </p:txBody>
      </p:sp>
      <p:sp>
        <p:nvSpPr>
          <p:cNvPr id="8" name="S10-stepno66"/>
          <p:cNvSpPr txBox="1"/>
          <p:nvPr/>
        </p:nvSpPr>
        <p:spPr>
          <a:xfrm>
            <a:off x="548640" y="30510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10-text67"/>
          <p:cNvSpPr txBox="1"/>
          <p:nvPr/>
        </p:nvSpPr>
        <p:spPr>
          <a:xfrm>
            <a:off x="1325880" y="300532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생기는지, 누가 힘든지 말해요.</a:t>
            </a:r>
            <a:endParaRPr lang="ko-KR" sz="2800" dirty="0"/>
          </a:p>
        </p:txBody>
      </p:sp>
      <p:sp>
        <p:nvSpPr>
          <p:cNvPr id="10" name="S10-stepno68"/>
          <p:cNvSpPr txBox="1"/>
          <p:nvPr/>
        </p:nvSpPr>
        <p:spPr>
          <a:xfrm>
            <a:off x="548640" y="4083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10-text69"/>
          <p:cNvSpPr txBox="1"/>
          <p:nvPr/>
        </p:nvSpPr>
        <p:spPr>
          <a:xfrm>
            <a:off x="1325880" y="40375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나라·단체·나의 방법을 나눠 말해요.</a:t>
            </a:r>
            <a:endParaRPr lang="ko-KR" sz="2800" dirty="0"/>
          </a:p>
        </p:txBody>
      </p:sp>
      <p:sp>
        <p:nvSpPr>
          <p:cNvPr id="12" name="S10-stepno70"/>
          <p:cNvSpPr txBox="1"/>
          <p:nvPr/>
        </p:nvSpPr>
        <p:spPr>
          <a:xfrm>
            <a:off x="548640" y="5115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3" name="S10-text71"/>
          <p:cNvSpPr txBox="1"/>
          <p:nvPr/>
        </p:nvSpPr>
        <p:spPr>
          <a:xfrm>
            <a:off x="1325880" y="50698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일주일 동안 할 일 하나를 정해요.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72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지어낸 ‘초록강’은 세 나라를 지나 흘러요. 위쪽 나라에서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더러운 물이 흘러 들어 아래쪽 나라의 물고기가 줄었어요.</a:t>
            </a:r>
            <a:endParaRPr lang="ko-KR" sz="2800" dirty="0"/>
          </a:p>
        </p:txBody>
      </p:sp>
      <p:sp>
        <p:nvSpPr>
          <p:cNvPr id="4" name="S11-chip73"/>
          <p:cNvSpPr txBox="1"/>
          <p:nvPr/>
        </p:nvSpPr>
        <p:spPr>
          <a:xfrm>
            <a:off x="548640" y="267224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text74"/>
          <p:cNvSpPr txBox="1"/>
          <p:nvPr/>
        </p:nvSpPr>
        <p:spPr>
          <a:xfrm>
            <a:off x="1344168" y="2376424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지구촌 문제인가요?</a:t>
            </a:r>
            <a:endParaRPr lang="ko-KR" sz="2800" dirty="0"/>
          </a:p>
        </p:txBody>
      </p:sp>
      <p:sp>
        <p:nvSpPr>
          <p:cNvPr id="6" name="S11-chip75"/>
          <p:cNvSpPr txBox="1"/>
          <p:nvPr/>
        </p:nvSpPr>
        <p:spPr>
          <a:xfrm>
            <a:off x="548640" y="401370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1-text76"/>
          <p:cNvSpPr txBox="1"/>
          <p:nvPr/>
        </p:nvSpPr>
        <p:spPr>
          <a:xfrm>
            <a:off x="1344168" y="3717883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나라의 노력만으로 풀기 어려운 까닭은?</a:t>
            </a:r>
            <a:endParaRPr lang="ko-KR" sz="2800" dirty="0"/>
          </a:p>
        </p:txBody>
      </p:sp>
      <p:sp>
        <p:nvSpPr>
          <p:cNvPr id="8" name="S11-chip77"/>
          <p:cNvSpPr txBox="1"/>
          <p:nvPr/>
        </p:nvSpPr>
        <p:spPr>
          <a:xfrm>
            <a:off x="548640" y="53551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1-text78"/>
          <p:cNvSpPr txBox="1"/>
          <p:nvPr/>
        </p:nvSpPr>
        <p:spPr>
          <a:xfrm>
            <a:off x="1344168" y="5059341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무엇을 하면 좋을지 두 가지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국경을 넘는 문제는 여러 나라가 함께 풀어요.</a:t>
            </a:r>
            <a:endParaRPr lang="ko-KR" sz="2800" dirty="0"/>
          </a:p>
        </p:txBody>
      </p:sp>
      <p:sp>
        <p:nvSpPr>
          <p:cNvPr id="5" name="S12-chip8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잘한 답</a:t>
            </a:r>
            <a:endParaRPr lang="ko-KR" sz="2200" dirty="0"/>
          </a:p>
        </p:txBody>
      </p:sp>
      <p:sp>
        <p:nvSpPr>
          <p:cNvPr id="6" name="S12-text82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환경 문제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(강물 오염)</a:t>
            </a:r>
            <a:endParaRPr lang="ko-KR" sz="2800" dirty="0"/>
          </a:p>
        </p:txBody>
      </p:sp>
      <p:sp>
        <p:nvSpPr>
          <p:cNvPr id="7" name="S12-text83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강물이 국경을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넘어 흘러요</a:t>
            </a:r>
            <a:endParaRPr lang="ko-KR" sz="2800" dirty="0"/>
          </a:p>
        </p:txBody>
      </p:sp>
      <p:sp>
        <p:nvSpPr>
          <p:cNvPr id="8" name="S12-text84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이어짐</a:t>
            </a:r>
            <a:endParaRPr lang="ko-KR" sz="2200" dirty="0"/>
          </a:p>
        </p:txBody>
      </p:sp>
      <p:sp>
        <p:nvSpPr>
          <p:cNvPr id="9" name="S12-text85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나라끼리 약속,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물 정화</a:t>
            </a:r>
            <a:endParaRPr lang="ko-KR" sz="2200" dirty="0"/>
          </a:p>
        </p:txBody>
      </p:sp>
      <p:sp>
        <p:nvSpPr>
          <p:cNvPr id="10" name="S12-text86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+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</a:t>
            </a:r>
            <a:endParaRPr lang="ko-KR" sz="2200" dirty="0"/>
          </a:p>
        </p:txBody>
      </p:sp>
      <p:sp>
        <p:nvSpPr>
          <p:cNvPr id="11" name="S12-chip8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아쉬운 답</a:t>
            </a:r>
            <a:endParaRPr lang="ko-KR" sz="2200" dirty="0"/>
          </a:p>
        </p:txBody>
      </p:sp>
      <p:sp>
        <p:nvSpPr>
          <p:cNvPr id="12" name="S12-text8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“아래쪽 나라가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알아서 해요.”</a:t>
            </a:r>
            <a:endParaRPr lang="ko-KR" sz="2800" dirty="0"/>
          </a:p>
        </p:txBody>
      </p:sp>
      <p:sp>
        <p:nvSpPr>
          <p:cNvPr id="13" name="S12-text8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풀어야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까닭</a:t>
            </a:r>
            <a:endParaRPr lang="ko-KR" sz="2200" dirty="0"/>
          </a:p>
        </p:txBody>
      </p:sp>
      <p:sp>
        <p:nvSpPr>
          <p:cNvPr id="14" name="S12-text9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“위쪽 나라가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나빠요.”</a:t>
            </a:r>
            <a:endParaRPr lang="ko-KR" sz="2800" dirty="0"/>
          </a:p>
        </p:txBody>
      </p:sp>
      <p:sp>
        <p:nvSpPr>
          <p:cNvPr id="15" name="S12-text9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탓하기보다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방법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확인</a:t>
            </a:r>
            <a:endParaRPr lang="ko-KR" sz="4000" dirty="0"/>
          </a:p>
        </p:txBody>
      </p:sp>
      <p:sp>
        <p:nvSpPr>
          <p:cNvPr id="3" name="S13-chip9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3-text93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국제기구와 비정부 기구는 무엇이 다른가요?</a:t>
            </a:r>
            <a:endParaRPr lang="ko-KR" sz="2800" dirty="0"/>
          </a:p>
        </p:txBody>
      </p:sp>
      <p:sp>
        <p:nvSpPr>
          <p:cNvPr id="5" name="S13-chip9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3-text95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감염병을 막으려고 나라끼리 할 일 하나, 내가 할 일 하나는?</a:t>
            </a:r>
            <a:endParaRPr lang="ko-KR" sz="2800" dirty="0"/>
          </a:p>
        </p:txBody>
      </p:sp>
      <p:sp>
        <p:nvSpPr>
          <p:cNvPr id="7" name="S13-chip9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3-text97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실천 약속을 ‘언제, 무엇을’로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8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9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지구촌 문제는 국경을 넘어 이어져 있어 함께 풀어야 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국제기구, 시민 단체, 그리고 나도 함께할 수 있어요.</a:t>
            </a:r>
            <a:endParaRPr lang="ko-KR" sz="2800" dirty="0"/>
          </a:p>
        </p:txBody>
      </p:sp>
      <p:sp>
        <p:nvSpPr>
          <p:cNvPr id="5" name="S14-chip100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작은 실천을 꾸준히 하기</a:t>
            </a:r>
            <a:endParaRPr lang="ko-KR" sz="2200" dirty="0"/>
          </a:p>
        </p:txBody>
      </p:sp>
      <p:sp>
        <p:nvSpPr>
          <p:cNvPr id="6" name="S14-chip101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“나와 상관없어” 하기</a:t>
            </a:r>
            <a:endParaRPr lang="ko-KR" sz="2200" dirty="0"/>
          </a:p>
        </p:txBody>
      </p:sp>
      <p:sp>
        <p:nvSpPr>
          <p:cNvPr id="7" name="S14-text102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03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지구촌 공동 문제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가지는?</a:t>
            </a:r>
            <a:endParaRPr lang="ko-KR" sz="2200" dirty="0"/>
          </a:p>
        </p:txBody>
      </p:sp>
      <p:sp>
        <p:nvSpPr>
          <p:cNvPr id="9" name="S14-text104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감염병과 관계 깊은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국제기구는?</a:t>
            </a:r>
            <a:endParaRPr lang="ko-KR" sz="2200" dirty="0"/>
          </a:p>
        </p:txBody>
      </p:sp>
      <p:sp>
        <p:nvSpPr>
          <p:cNvPr id="10" name="S14-text105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이번 주에 실천한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한 가지는?</a:t>
            </a:r>
            <a:endParaRPr lang="ko-KR" sz="2200" dirty="0"/>
          </a:p>
        </p:txBody>
      </p:sp>
      <p:sp>
        <p:nvSpPr>
          <p:cNvPr id="11" name="S14-text10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자기 성찰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서로 다른 생활 다시 보기</a:t>
            </a:r>
            <a:endParaRPr lang="ko-KR" sz="4000" dirty="0"/>
          </a:p>
        </p:txBody>
      </p:sp>
      <p:sp>
        <p:nvSpPr>
          <p:cNvPr id="3" name="S15-card1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1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자연환경에 맞게 살아온 모습을 까닭과 함께 존중해요.</a:t>
            </a:r>
            <a:endParaRPr lang="ko-KR" sz="2800" dirty="0"/>
          </a:p>
        </p:txBody>
      </p:sp>
      <p:sp>
        <p:nvSpPr>
          <p:cNvPr id="5" name="S15-figure109" descr="간단히 나타낸 집 가: 흙색 벽이 두껍고 작은 창문이 두 개, 지붕은 평평함. 위에 강한 해"/>
          <p:cNvSpPr/>
          <p:nvPr/>
        </p:nvSpPr>
        <p:spPr>
          <a:xfrm>
            <a:off x="632460" y="4129638"/>
            <a:ext cx="3316224" cy="179255"/>
          </a:xfrm>
          <a:custGeom>
            <a:avLst/>
            <a:gdLst/>
            <a:ahLst/>
            <a:cxnLst/>
            <a:rect l="l" t="t" r="r" b="b"/>
            <a:pathLst>
              <a:path w="3316224" h="179255">
                <a:moveTo>
                  <a:pt x="0" y="179255"/>
                </a:moveTo>
                <a:lnTo>
                  <a:pt x="3316224" y="179255"/>
                </a:lnTo>
                <a:lnTo>
                  <a:pt x="3316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8D5A9"/>
          </a:solidFill>
          <a:ln/>
        </p:spPr>
      </p:sp>
      <p:sp>
        <p:nvSpPr>
          <p:cNvPr id="6" name="S15-mark110"/>
          <p:cNvSpPr/>
          <p:nvPr/>
        </p:nvSpPr>
        <p:spPr>
          <a:xfrm>
            <a:off x="990971" y="2785223"/>
            <a:ext cx="2240692" cy="1344415"/>
          </a:xfrm>
          <a:custGeom>
            <a:avLst/>
            <a:gdLst/>
            <a:ahLst/>
            <a:cxnLst/>
            <a:rect l="l" t="t" r="r" b="b"/>
            <a:pathLst>
              <a:path w="2240692" h="1344415">
                <a:moveTo>
                  <a:pt x="0" y="1344415"/>
                </a:moveTo>
                <a:lnTo>
                  <a:pt x="2240692" y="1344415"/>
                </a:lnTo>
                <a:lnTo>
                  <a:pt x="2240692" y="0"/>
                </a:lnTo>
                <a:lnTo>
                  <a:pt x="0" y="0"/>
                </a:lnTo>
                <a:close/>
              </a:path>
            </a:pathLst>
          </a:custGeom>
          <a:solidFill>
            <a:srgbClr val="D9B38C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5-mark111"/>
          <p:cNvSpPr/>
          <p:nvPr/>
        </p:nvSpPr>
        <p:spPr>
          <a:xfrm>
            <a:off x="878936" y="2583561"/>
            <a:ext cx="2464761" cy="201662"/>
          </a:xfrm>
          <a:custGeom>
            <a:avLst/>
            <a:gdLst/>
            <a:ahLst/>
            <a:cxnLst/>
            <a:rect l="l" t="t" r="r" b="b"/>
            <a:pathLst>
              <a:path w="2464761" h="201662">
                <a:moveTo>
                  <a:pt x="0" y="201662"/>
                </a:moveTo>
                <a:lnTo>
                  <a:pt x="2464761" y="201662"/>
                </a:lnTo>
                <a:lnTo>
                  <a:pt x="2464761" y="0"/>
                </a:lnTo>
                <a:lnTo>
                  <a:pt x="0" y="0"/>
                </a:lnTo>
                <a:close/>
              </a:path>
            </a:pathLst>
          </a:custGeom>
          <a:solidFill>
            <a:srgbClr val="B88A5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5-mark112"/>
          <p:cNvSpPr/>
          <p:nvPr/>
        </p:nvSpPr>
        <p:spPr>
          <a:xfrm>
            <a:off x="1394295" y="3054106"/>
            <a:ext cx="246476" cy="224069"/>
          </a:xfrm>
          <a:custGeom>
            <a:avLst/>
            <a:gdLst/>
            <a:ahLst/>
            <a:cxnLst/>
            <a:rect l="l" t="t" r="r" b="b"/>
            <a:pathLst>
              <a:path w="246476" h="224069">
                <a:moveTo>
                  <a:pt x="0" y="224069"/>
                </a:moveTo>
                <a:lnTo>
                  <a:pt x="246476" y="224069"/>
                </a:lnTo>
                <a:lnTo>
                  <a:pt x="246476" y="0"/>
                </a:lnTo>
                <a:lnTo>
                  <a:pt x="0" y="0"/>
                </a:lnTo>
                <a:close/>
              </a:path>
            </a:pathLst>
          </a:custGeom>
          <a:solidFill>
            <a:srgbClr val="5B463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5-mark113"/>
          <p:cNvSpPr/>
          <p:nvPr/>
        </p:nvSpPr>
        <p:spPr>
          <a:xfrm>
            <a:off x="2581862" y="3054106"/>
            <a:ext cx="246476" cy="224069"/>
          </a:xfrm>
          <a:custGeom>
            <a:avLst/>
            <a:gdLst/>
            <a:ahLst/>
            <a:cxnLst/>
            <a:rect l="l" t="t" r="r" b="b"/>
            <a:pathLst>
              <a:path w="246476" h="224069">
                <a:moveTo>
                  <a:pt x="0" y="224069"/>
                </a:moveTo>
                <a:lnTo>
                  <a:pt x="246476" y="224069"/>
                </a:lnTo>
                <a:lnTo>
                  <a:pt x="246476" y="0"/>
                </a:lnTo>
                <a:lnTo>
                  <a:pt x="0" y="0"/>
                </a:lnTo>
                <a:close/>
              </a:path>
            </a:pathLst>
          </a:custGeom>
          <a:solidFill>
            <a:srgbClr val="5B463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5-mark114"/>
          <p:cNvSpPr/>
          <p:nvPr/>
        </p:nvSpPr>
        <p:spPr>
          <a:xfrm>
            <a:off x="1932061" y="3457431"/>
            <a:ext cx="358511" cy="672208"/>
          </a:xfrm>
          <a:custGeom>
            <a:avLst/>
            <a:gdLst/>
            <a:ahLst/>
            <a:cxnLst/>
            <a:rect l="l" t="t" r="r" b="b"/>
            <a:pathLst>
              <a:path w="358511" h="672208">
                <a:moveTo>
                  <a:pt x="0" y="672208"/>
                </a:moveTo>
                <a:lnTo>
                  <a:pt x="358511" y="672208"/>
                </a:lnTo>
                <a:lnTo>
                  <a:pt x="358511" y="0"/>
                </a:lnTo>
                <a:lnTo>
                  <a:pt x="0" y="0"/>
                </a:lnTo>
                <a:close/>
              </a:path>
            </a:pathLst>
          </a:custGeom>
          <a:solidFill>
            <a:srgbClr val="8A6A4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5-mark115"/>
          <p:cNvSpPr/>
          <p:nvPr/>
        </p:nvSpPr>
        <p:spPr>
          <a:xfrm>
            <a:off x="3276476" y="1844133"/>
            <a:ext cx="448138" cy="448138"/>
          </a:xfrm>
          <a:prstGeom prst="ellipse">
            <a:avLst/>
          </a:prstGeom>
          <a:solidFill>
            <a:srgbClr val="F2C14E"/>
          </a:solidFill>
          <a:ln w="19050">
            <a:solidFill>
              <a:srgbClr val="C98A00"/>
            </a:solidFill>
            <a:prstDash val="solid"/>
          </a:ln>
        </p:spPr>
      </p:sp>
      <p:sp>
        <p:nvSpPr>
          <p:cNvPr id="12" name="S15-mark116"/>
          <p:cNvSpPr/>
          <p:nvPr/>
        </p:nvSpPr>
        <p:spPr>
          <a:xfrm flipH="1">
            <a:off x="2985186" y="2068202"/>
            <a:ext cx="134442" cy="0"/>
          </a:xfrm>
          <a:prstGeom prst="line">
            <a:avLst/>
          </a:prstGeom>
          <a:noFill/>
          <a:ln w="25400">
            <a:solidFill>
              <a:srgbClr val="C98A00"/>
            </a:solidFill>
            <a:prstDash val="solid"/>
          </a:ln>
        </p:spPr>
      </p:sp>
      <p:sp>
        <p:nvSpPr>
          <p:cNvPr id="13" name="S15-mark117"/>
          <p:cNvSpPr/>
          <p:nvPr/>
        </p:nvSpPr>
        <p:spPr>
          <a:xfrm flipH="1">
            <a:off x="3119628" y="2337085"/>
            <a:ext cx="112035" cy="112035"/>
          </a:xfrm>
          <a:prstGeom prst="line">
            <a:avLst/>
          </a:prstGeom>
          <a:noFill/>
          <a:ln w="25400">
            <a:solidFill>
              <a:srgbClr val="C98A00"/>
            </a:solidFill>
            <a:prstDash val="solid"/>
          </a:ln>
        </p:spPr>
      </p:sp>
      <p:sp>
        <p:nvSpPr>
          <p:cNvPr id="14" name="S15-mark118"/>
          <p:cNvSpPr/>
          <p:nvPr/>
        </p:nvSpPr>
        <p:spPr>
          <a:xfrm>
            <a:off x="3500546" y="2449119"/>
            <a:ext cx="0" cy="112035"/>
          </a:xfrm>
          <a:prstGeom prst="line">
            <a:avLst/>
          </a:prstGeom>
          <a:noFill/>
          <a:ln w="25400">
            <a:solidFill>
              <a:srgbClr val="C98A00"/>
            </a:solidFill>
            <a:prstDash val="solid"/>
          </a:ln>
        </p:spPr>
      </p:sp>
      <p:sp>
        <p:nvSpPr>
          <p:cNvPr id="15" name="S15-mark119"/>
          <p:cNvSpPr/>
          <p:nvPr/>
        </p:nvSpPr>
        <p:spPr>
          <a:xfrm flipH="1" flipV="1">
            <a:off x="3119628" y="1687284"/>
            <a:ext cx="112035" cy="112035"/>
          </a:xfrm>
          <a:prstGeom prst="line">
            <a:avLst/>
          </a:prstGeom>
          <a:noFill/>
          <a:ln w="25400">
            <a:solidFill>
              <a:srgbClr val="C98A00"/>
            </a:solidFill>
            <a:prstDash val="solid"/>
          </a:ln>
        </p:spPr>
      </p:sp>
      <p:sp>
        <p:nvSpPr>
          <p:cNvPr id="16" name="S15-label120"/>
          <p:cNvSpPr txBox="1"/>
          <p:nvPr/>
        </p:nvSpPr>
        <p:spPr>
          <a:xfrm>
            <a:off x="548640" y="474345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덥고 건조한 곳</a:t>
            </a:r>
            <a:endParaRPr lang="ko-KR" sz="2200" dirty="0"/>
          </a:p>
        </p:txBody>
      </p:sp>
      <p:sp>
        <p:nvSpPr>
          <p:cNvPr id="17" name="S15-figure121" descr="간단히 나타낸 집 나: 기둥 위에 올려 땅에서 띄운 나무집, 지붕은 높고 가파름. 위에서 비가 내림"/>
          <p:cNvSpPr/>
          <p:nvPr/>
        </p:nvSpPr>
        <p:spPr>
          <a:xfrm>
            <a:off x="4552804" y="4399609"/>
            <a:ext cx="3083343" cy="186869"/>
          </a:xfrm>
          <a:custGeom>
            <a:avLst/>
            <a:gdLst/>
            <a:ahLst/>
            <a:cxnLst/>
            <a:rect l="l" t="t" r="r" b="b"/>
            <a:pathLst>
              <a:path w="3083343" h="186869">
                <a:moveTo>
                  <a:pt x="0" y="186869"/>
                </a:moveTo>
                <a:lnTo>
                  <a:pt x="3083343" y="186869"/>
                </a:lnTo>
                <a:lnTo>
                  <a:pt x="3083343" y="0"/>
                </a:lnTo>
                <a:lnTo>
                  <a:pt x="0" y="0"/>
                </a:lnTo>
                <a:close/>
              </a:path>
            </a:pathLst>
          </a:custGeom>
          <a:solidFill>
            <a:srgbClr val="B9D7A0"/>
          </a:solidFill>
          <a:ln/>
        </p:spPr>
      </p:sp>
      <p:sp>
        <p:nvSpPr>
          <p:cNvPr id="18" name="S15-mark122"/>
          <p:cNvSpPr/>
          <p:nvPr/>
        </p:nvSpPr>
        <p:spPr>
          <a:xfrm>
            <a:off x="4879826" y="3605414"/>
            <a:ext cx="2429301" cy="140152"/>
          </a:xfrm>
          <a:custGeom>
            <a:avLst/>
            <a:gdLst/>
            <a:ahLst/>
            <a:cxnLst/>
            <a:rect l="l" t="t" r="r" b="b"/>
            <a:pathLst>
              <a:path w="2429301" h="140152">
                <a:moveTo>
                  <a:pt x="0" y="140152"/>
                </a:moveTo>
                <a:lnTo>
                  <a:pt x="2429301" y="140152"/>
                </a:lnTo>
                <a:lnTo>
                  <a:pt x="2429301" y="0"/>
                </a:lnTo>
                <a:lnTo>
                  <a:pt x="0" y="0"/>
                </a:lnTo>
                <a:close/>
              </a:path>
            </a:pathLst>
          </a:custGeom>
          <a:solidFill>
            <a:srgbClr val="9C7A3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9" name="S15-mark123"/>
          <p:cNvSpPr/>
          <p:nvPr/>
        </p:nvSpPr>
        <p:spPr>
          <a:xfrm>
            <a:off x="5113412" y="2951372"/>
            <a:ext cx="1962128" cy="654043"/>
          </a:xfrm>
          <a:custGeom>
            <a:avLst/>
            <a:gdLst/>
            <a:ahLst/>
            <a:cxnLst/>
            <a:rect l="l" t="t" r="r" b="b"/>
            <a:pathLst>
              <a:path w="1962128" h="654043">
                <a:moveTo>
                  <a:pt x="0" y="654043"/>
                </a:moveTo>
                <a:lnTo>
                  <a:pt x="1962128" y="654043"/>
                </a:lnTo>
                <a:lnTo>
                  <a:pt x="1962128" y="0"/>
                </a:lnTo>
                <a:lnTo>
                  <a:pt x="0" y="0"/>
                </a:lnTo>
                <a:close/>
              </a:path>
            </a:pathLst>
          </a:custGeom>
          <a:solidFill>
            <a:srgbClr val="D8B77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5-mark124"/>
          <p:cNvSpPr/>
          <p:nvPr/>
        </p:nvSpPr>
        <p:spPr>
          <a:xfrm>
            <a:off x="4692956" y="1830156"/>
            <a:ext cx="2803039" cy="1121216"/>
          </a:xfrm>
          <a:custGeom>
            <a:avLst/>
            <a:gdLst/>
            <a:ahLst/>
            <a:cxnLst/>
            <a:rect l="l" t="t" r="r" b="b"/>
            <a:pathLst>
              <a:path w="2803039" h="1121216">
                <a:moveTo>
                  <a:pt x="0" y="1121216"/>
                </a:moveTo>
                <a:lnTo>
                  <a:pt x="2803039" y="1121216"/>
                </a:lnTo>
                <a:lnTo>
                  <a:pt x="1401520" y="0"/>
                </a:lnTo>
                <a:close/>
              </a:path>
            </a:pathLst>
          </a:custGeom>
          <a:solidFill>
            <a:srgbClr val="B58B3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mark125"/>
          <p:cNvSpPr/>
          <p:nvPr/>
        </p:nvSpPr>
        <p:spPr>
          <a:xfrm>
            <a:off x="5860889" y="3091524"/>
            <a:ext cx="420456" cy="513891"/>
          </a:xfrm>
          <a:custGeom>
            <a:avLst/>
            <a:gdLst/>
            <a:ahLst/>
            <a:cxnLst/>
            <a:rect l="l" t="t" r="r" b="b"/>
            <a:pathLst>
              <a:path w="420456" h="513891">
                <a:moveTo>
                  <a:pt x="0" y="513891"/>
                </a:moveTo>
                <a:lnTo>
                  <a:pt x="420456" y="513891"/>
                </a:lnTo>
                <a:lnTo>
                  <a:pt x="420456" y="0"/>
                </a:lnTo>
                <a:lnTo>
                  <a:pt x="0" y="0"/>
                </a:lnTo>
                <a:close/>
              </a:path>
            </a:pathLst>
          </a:custGeom>
          <a:solidFill>
            <a:srgbClr val="8A6A4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5-mark126"/>
          <p:cNvSpPr/>
          <p:nvPr/>
        </p:nvSpPr>
        <p:spPr>
          <a:xfrm flipV="1">
            <a:off x="5066695" y="3745566"/>
            <a:ext cx="0" cy="654043"/>
          </a:xfrm>
          <a:prstGeom prst="line">
            <a:avLst/>
          </a:prstGeom>
          <a:noFill/>
          <a:ln w="38100">
            <a:solidFill>
              <a:srgbClr val="6B4F3A"/>
            </a:solidFill>
            <a:prstDash val="solid"/>
          </a:ln>
        </p:spPr>
      </p:sp>
      <p:sp>
        <p:nvSpPr>
          <p:cNvPr id="23" name="S15-mark127"/>
          <p:cNvSpPr/>
          <p:nvPr/>
        </p:nvSpPr>
        <p:spPr>
          <a:xfrm flipV="1">
            <a:off x="5767455" y="3745566"/>
            <a:ext cx="0" cy="654043"/>
          </a:xfrm>
          <a:prstGeom prst="line">
            <a:avLst/>
          </a:prstGeom>
          <a:noFill/>
          <a:ln w="38100">
            <a:solidFill>
              <a:srgbClr val="6B4F3A"/>
            </a:solidFill>
            <a:prstDash val="solid"/>
          </a:ln>
        </p:spPr>
      </p:sp>
      <p:sp>
        <p:nvSpPr>
          <p:cNvPr id="24" name="S15-mark128"/>
          <p:cNvSpPr/>
          <p:nvPr/>
        </p:nvSpPr>
        <p:spPr>
          <a:xfrm flipV="1">
            <a:off x="6421497" y="3745566"/>
            <a:ext cx="0" cy="654043"/>
          </a:xfrm>
          <a:prstGeom prst="line">
            <a:avLst/>
          </a:prstGeom>
          <a:noFill/>
          <a:ln w="38100">
            <a:solidFill>
              <a:srgbClr val="6B4F3A"/>
            </a:solidFill>
            <a:prstDash val="solid"/>
          </a:ln>
        </p:spPr>
      </p:sp>
      <p:sp>
        <p:nvSpPr>
          <p:cNvPr id="25" name="S15-mark129"/>
          <p:cNvSpPr/>
          <p:nvPr/>
        </p:nvSpPr>
        <p:spPr>
          <a:xfrm flipV="1">
            <a:off x="7122257" y="3745566"/>
            <a:ext cx="0" cy="654043"/>
          </a:xfrm>
          <a:prstGeom prst="line">
            <a:avLst/>
          </a:prstGeom>
          <a:noFill/>
          <a:ln w="38100">
            <a:solidFill>
              <a:srgbClr val="6B4F3A"/>
            </a:solidFill>
            <a:prstDash val="solid"/>
          </a:ln>
        </p:spPr>
      </p:sp>
      <p:sp>
        <p:nvSpPr>
          <p:cNvPr id="26" name="S15-mark130"/>
          <p:cNvSpPr/>
          <p:nvPr/>
        </p:nvSpPr>
        <p:spPr>
          <a:xfrm flipH="1">
            <a:off x="4903184" y="1456417"/>
            <a:ext cx="116793" cy="233587"/>
          </a:xfrm>
          <a:prstGeom prst="line">
            <a:avLst/>
          </a:prstGeom>
          <a:noFill/>
          <a:ln w="19050">
            <a:solidFill>
              <a:srgbClr val="4A90C8"/>
            </a:solidFill>
            <a:prstDash val="solid"/>
          </a:ln>
        </p:spPr>
      </p:sp>
      <p:sp>
        <p:nvSpPr>
          <p:cNvPr id="27" name="S15-mark131"/>
          <p:cNvSpPr/>
          <p:nvPr/>
        </p:nvSpPr>
        <p:spPr>
          <a:xfrm flipH="1">
            <a:off x="5463792" y="1456417"/>
            <a:ext cx="116793" cy="233587"/>
          </a:xfrm>
          <a:prstGeom prst="line">
            <a:avLst/>
          </a:prstGeom>
          <a:noFill/>
          <a:ln w="19050">
            <a:solidFill>
              <a:srgbClr val="4A90C8"/>
            </a:solidFill>
            <a:prstDash val="solid"/>
          </a:ln>
        </p:spPr>
      </p:sp>
      <p:sp>
        <p:nvSpPr>
          <p:cNvPr id="28" name="S15-mark132"/>
          <p:cNvSpPr/>
          <p:nvPr/>
        </p:nvSpPr>
        <p:spPr>
          <a:xfrm flipH="1">
            <a:off x="6024400" y="1456417"/>
            <a:ext cx="116793" cy="233587"/>
          </a:xfrm>
          <a:prstGeom prst="line">
            <a:avLst/>
          </a:prstGeom>
          <a:noFill/>
          <a:ln w="19050">
            <a:solidFill>
              <a:srgbClr val="4A90C8"/>
            </a:solidFill>
            <a:prstDash val="solid"/>
          </a:ln>
        </p:spPr>
      </p:sp>
      <p:sp>
        <p:nvSpPr>
          <p:cNvPr id="29" name="S15-mark133"/>
          <p:cNvSpPr/>
          <p:nvPr/>
        </p:nvSpPr>
        <p:spPr>
          <a:xfrm flipH="1">
            <a:off x="6585008" y="1456417"/>
            <a:ext cx="116793" cy="233587"/>
          </a:xfrm>
          <a:prstGeom prst="line">
            <a:avLst/>
          </a:prstGeom>
          <a:noFill/>
          <a:ln w="19050">
            <a:solidFill>
              <a:srgbClr val="4A90C8"/>
            </a:solidFill>
            <a:prstDash val="solid"/>
          </a:ln>
        </p:spPr>
      </p:sp>
      <p:sp>
        <p:nvSpPr>
          <p:cNvPr id="30" name="S15-mark134"/>
          <p:cNvSpPr/>
          <p:nvPr/>
        </p:nvSpPr>
        <p:spPr>
          <a:xfrm flipH="1">
            <a:off x="7145616" y="1456417"/>
            <a:ext cx="116793" cy="233587"/>
          </a:xfrm>
          <a:prstGeom prst="line">
            <a:avLst/>
          </a:prstGeom>
          <a:noFill/>
          <a:ln w="19050">
            <a:solidFill>
              <a:srgbClr val="4A90C8"/>
            </a:solidFill>
            <a:prstDash val="solid"/>
          </a:ln>
        </p:spPr>
      </p:sp>
      <p:sp>
        <p:nvSpPr>
          <p:cNvPr id="31" name="S15-label135"/>
          <p:cNvSpPr txBox="1"/>
          <p:nvPr/>
        </p:nvSpPr>
        <p:spPr>
          <a:xfrm>
            <a:off x="4352544" y="474345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덥고 비가 많은 곳</a:t>
            </a:r>
            <a:endParaRPr lang="ko-KR" sz="2200" dirty="0"/>
          </a:p>
        </p:txBody>
      </p:sp>
      <p:sp>
        <p:nvSpPr>
          <p:cNvPr id="32" name="S15-figure136" descr="간단히 나타낸 집 다: 통나무를 쌓은 벽, 작은 창문, 눈이 덮인 가파른 지붕과 굴뚝. 둘레에 눈송이"/>
          <p:cNvSpPr/>
          <p:nvPr/>
        </p:nvSpPr>
        <p:spPr>
          <a:xfrm>
            <a:off x="8240268" y="4339209"/>
            <a:ext cx="3316224" cy="195072"/>
          </a:xfrm>
          <a:custGeom>
            <a:avLst/>
            <a:gdLst/>
            <a:ahLst/>
            <a:cxnLst/>
            <a:rect l="l" t="t" r="r" b="b"/>
            <a:pathLst>
              <a:path w="3316224" h="195072">
                <a:moveTo>
                  <a:pt x="0" y="195072"/>
                </a:moveTo>
                <a:lnTo>
                  <a:pt x="3316224" y="195072"/>
                </a:lnTo>
                <a:lnTo>
                  <a:pt x="3316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3F8"/>
          </a:solidFill>
          <a:ln/>
        </p:spPr>
      </p:sp>
      <p:sp>
        <p:nvSpPr>
          <p:cNvPr id="33" name="S15-mark137"/>
          <p:cNvSpPr/>
          <p:nvPr/>
        </p:nvSpPr>
        <p:spPr>
          <a:xfrm>
            <a:off x="8630412" y="2973705"/>
            <a:ext cx="2438400" cy="1365504"/>
          </a:xfrm>
          <a:custGeom>
            <a:avLst/>
            <a:gdLst/>
            <a:ahLst/>
            <a:cxnLst/>
            <a:rect l="l" t="t" r="r" b="b"/>
            <a:pathLst>
              <a:path w="2438400" h="1365504">
                <a:moveTo>
                  <a:pt x="0" y="1365504"/>
                </a:moveTo>
                <a:lnTo>
                  <a:pt x="2438400" y="1365504"/>
                </a:lnTo>
                <a:lnTo>
                  <a:pt x="2438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B07A4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15-mark138"/>
          <p:cNvSpPr/>
          <p:nvPr/>
        </p:nvSpPr>
        <p:spPr>
          <a:xfrm>
            <a:off x="10386060" y="2144649"/>
            <a:ext cx="243840" cy="487680"/>
          </a:xfrm>
          <a:custGeom>
            <a:avLst/>
            <a:gdLst/>
            <a:ahLst/>
            <a:cxnLst/>
            <a:rect l="l" t="t" r="r" b="b"/>
            <a:pathLst>
              <a:path w="243840" h="487680">
                <a:moveTo>
                  <a:pt x="0" y="487680"/>
                </a:moveTo>
                <a:lnTo>
                  <a:pt x="243840" y="487680"/>
                </a:lnTo>
                <a:lnTo>
                  <a:pt x="243840" y="0"/>
                </a:lnTo>
                <a:lnTo>
                  <a:pt x="0" y="0"/>
                </a:lnTo>
                <a:close/>
              </a:path>
            </a:pathLst>
          </a:custGeom>
          <a:solidFill>
            <a:srgbClr val="7A5A44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5" name="S15-mark139"/>
          <p:cNvSpPr/>
          <p:nvPr/>
        </p:nvSpPr>
        <p:spPr>
          <a:xfrm>
            <a:off x="8435340" y="1998345"/>
            <a:ext cx="2828544" cy="975360"/>
          </a:xfrm>
          <a:custGeom>
            <a:avLst/>
            <a:gdLst/>
            <a:ahLst/>
            <a:cxnLst/>
            <a:rect l="l" t="t" r="r" b="b"/>
            <a:pathLst>
              <a:path w="2828544" h="975360">
                <a:moveTo>
                  <a:pt x="0" y="975360"/>
                </a:moveTo>
                <a:lnTo>
                  <a:pt x="2828544" y="975360"/>
                </a:lnTo>
                <a:lnTo>
                  <a:pt x="1414272" y="0"/>
                </a:lnTo>
                <a:close/>
              </a:path>
            </a:pathLst>
          </a:custGeom>
          <a:solidFill>
            <a:srgbClr val="6B4F3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15-mark140"/>
          <p:cNvSpPr/>
          <p:nvPr/>
        </p:nvSpPr>
        <p:spPr>
          <a:xfrm>
            <a:off x="8435340" y="1998345"/>
            <a:ext cx="2828544" cy="975360"/>
          </a:xfrm>
          <a:custGeom>
            <a:avLst/>
            <a:gdLst/>
            <a:ahLst/>
            <a:cxnLst/>
            <a:rect l="l" t="t" r="r" b="b"/>
            <a:pathLst>
              <a:path w="2828544" h="975360">
                <a:moveTo>
                  <a:pt x="0" y="975360"/>
                </a:moveTo>
                <a:lnTo>
                  <a:pt x="1414272" y="0"/>
                </a:lnTo>
                <a:lnTo>
                  <a:pt x="2828544" y="975360"/>
                </a:lnTo>
                <a:lnTo>
                  <a:pt x="2584704" y="975360"/>
                </a:lnTo>
                <a:lnTo>
                  <a:pt x="1414272" y="170688"/>
                </a:lnTo>
                <a:lnTo>
                  <a:pt x="243840" y="97536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15-mark141"/>
          <p:cNvSpPr/>
          <p:nvPr/>
        </p:nvSpPr>
        <p:spPr>
          <a:xfrm>
            <a:off x="9118092" y="3339465"/>
            <a:ext cx="438912" cy="390144"/>
          </a:xfrm>
          <a:custGeom>
            <a:avLst/>
            <a:gdLst/>
            <a:ahLst/>
            <a:cxnLst/>
            <a:rect l="l" t="t" r="r" b="b"/>
            <a:pathLst>
              <a:path w="438912" h="390144">
                <a:moveTo>
                  <a:pt x="0" y="390144"/>
                </a:moveTo>
                <a:lnTo>
                  <a:pt x="438912" y="390144"/>
                </a:lnTo>
                <a:lnTo>
                  <a:pt x="4389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5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38" name="S15-mark142"/>
          <p:cNvSpPr/>
          <p:nvPr/>
        </p:nvSpPr>
        <p:spPr>
          <a:xfrm>
            <a:off x="10093452" y="3510153"/>
            <a:ext cx="438912" cy="829056"/>
          </a:xfrm>
          <a:custGeom>
            <a:avLst/>
            <a:gdLst/>
            <a:ahLst/>
            <a:cxnLst/>
            <a:rect l="l" t="t" r="r" b="b"/>
            <a:pathLst>
              <a:path w="438912" h="829056">
                <a:moveTo>
                  <a:pt x="0" y="829056"/>
                </a:moveTo>
                <a:lnTo>
                  <a:pt x="438912" y="829056"/>
                </a:lnTo>
                <a:lnTo>
                  <a:pt x="438912" y="0"/>
                </a:lnTo>
                <a:lnTo>
                  <a:pt x="0" y="0"/>
                </a:lnTo>
                <a:close/>
              </a:path>
            </a:pathLst>
          </a:custGeom>
          <a:solidFill>
            <a:srgbClr val="7A5A44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15-mark143"/>
          <p:cNvSpPr/>
          <p:nvPr/>
        </p:nvSpPr>
        <p:spPr>
          <a:xfrm>
            <a:off x="8425586" y="1842287"/>
            <a:ext cx="117043" cy="1170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0" name="S15-mark144"/>
          <p:cNvSpPr/>
          <p:nvPr/>
        </p:nvSpPr>
        <p:spPr>
          <a:xfrm>
            <a:off x="8962034" y="1549679"/>
            <a:ext cx="117043" cy="1170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1" name="S15-mark145"/>
          <p:cNvSpPr/>
          <p:nvPr/>
        </p:nvSpPr>
        <p:spPr>
          <a:xfrm>
            <a:off x="10815218" y="1598447"/>
            <a:ext cx="117043" cy="1170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2" name="S15-mark146"/>
          <p:cNvSpPr/>
          <p:nvPr/>
        </p:nvSpPr>
        <p:spPr>
          <a:xfrm>
            <a:off x="11302898" y="2037359"/>
            <a:ext cx="117043" cy="1170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3" name="S15-mark147"/>
          <p:cNvSpPr/>
          <p:nvPr/>
        </p:nvSpPr>
        <p:spPr>
          <a:xfrm>
            <a:off x="11400434" y="2622575"/>
            <a:ext cx="117043" cy="1170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4" name="S15-mark148"/>
          <p:cNvSpPr/>
          <p:nvPr/>
        </p:nvSpPr>
        <p:spPr>
          <a:xfrm>
            <a:off x="8279282" y="2427503"/>
            <a:ext cx="117043" cy="11704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B8AA8"/>
            </a:solidFill>
            <a:prstDash val="solid"/>
          </a:ln>
        </p:spPr>
      </p:sp>
      <p:sp>
        <p:nvSpPr>
          <p:cNvPr id="45" name="S15-mark149"/>
          <p:cNvSpPr/>
          <p:nvPr/>
        </p:nvSpPr>
        <p:spPr>
          <a:xfrm>
            <a:off x="8630412" y="3997833"/>
            <a:ext cx="2438400" cy="0"/>
          </a:xfrm>
          <a:prstGeom prst="line">
            <a:avLst/>
          </a:prstGeom>
          <a:noFill/>
          <a:ln w="15875">
            <a:solidFill>
              <a:srgbClr val="7A5A44"/>
            </a:solidFill>
            <a:prstDash val="solid"/>
          </a:ln>
        </p:spPr>
      </p:sp>
      <p:sp>
        <p:nvSpPr>
          <p:cNvPr id="46" name="S15-mark150"/>
          <p:cNvSpPr/>
          <p:nvPr/>
        </p:nvSpPr>
        <p:spPr>
          <a:xfrm>
            <a:off x="8630412" y="3656457"/>
            <a:ext cx="2438400" cy="0"/>
          </a:xfrm>
          <a:prstGeom prst="line">
            <a:avLst/>
          </a:prstGeom>
          <a:noFill/>
          <a:ln w="15875">
            <a:solidFill>
              <a:srgbClr val="7A5A44"/>
            </a:solidFill>
            <a:prstDash val="solid"/>
          </a:ln>
        </p:spPr>
      </p:sp>
      <p:sp>
        <p:nvSpPr>
          <p:cNvPr id="47" name="S15-mark151"/>
          <p:cNvSpPr/>
          <p:nvPr/>
        </p:nvSpPr>
        <p:spPr>
          <a:xfrm>
            <a:off x="8630412" y="3315081"/>
            <a:ext cx="2438400" cy="0"/>
          </a:xfrm>
          <a:prstGeom prst="line">
            <a:avLst/>
          </a:prstGeom>
          <a:noFill/>
          <a:ln w="15875">
            <a:solidFill>
              <a:srgbClr val="7A5A44"/>
            </a:solidFill>
            <a:prstDash val="solid"/>
          </a:ln>
        </p:spPr>
      </p:sp>
      <p:sp>
        <p:nvSpPr>
          <p:cNvPr id="48" name="S15-label152"/>
          <p:cNvSpPr txBox="1"/>
          <p:nvPr/>
        </p:nvSpPr>
        <p:spPr>
          <a:xfrm>
            <a:off x="8156448" y="4743450"/>
            <a:ext cx="348386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추운 곳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사회·역사 지구촌 문제와 협력</dc:title>
  <dc:subject>KR22-G06-SOC-GLOBAL-L01</dc:subject>
  <dc:creator>education-ppt</dc:creator>
  <cp:lastModifiedBy>education-ppt</cp:lastModifiedBy>
  <cp:revision>1</cp:revision>
  <dcterms:created xsi:type="dcterms:W3CDTF">2026-10-26T13:49:51Z</dcterms:created>
  <dcterms:modified xsi:type="dcterms:W3CDTF">2026-10-26T13:49:51Z</dcterms:modified>
</cp:coreProperties>
</file>