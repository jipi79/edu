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5fb99b0-b254-ac80-2905-1e10294656c2}">
          <p14:sldIdLst>
            <p14:sldId id="256"/>
            <p14:sldId id="257"/>
          </p14:sldIdLst>
        </p14:section>
        <p14:section name="개념" id="{964cc337-702e-4d7c-0f70-bbd6d7a77dad}">
          <p14:sldIdLst>
            <p14:sldId id="258"/>
            <p14:sldId id="259"/>
            <p14:sldId id="260"/>
            <p14:sldId id="263"/>
            <p14:sldId id="265"/>
          </p14:sldIdLst>
        </p14:section>
        <p14:section name="연습" id="{9d689290-6cca-ca6b-6ed4-b2cdebccbbed}">
          <p14:sldIdLst>
            <p14:sldId id="261"/>
            <p14:sldId id="262"/>
            <p14:sldId id="264"/>
            <p14:sldId id="266"/>
            <p14:sldId id="267"/>
          </p14:sldIdLst>
        </p14:section>
        <p14:section name="개념" id="{0b77dc1e-7ef3-cd2e-5eee-81ba7a5b27cd}">
          <p14:sldIdLst/>
        </p14:section>
        <p14:section name="연습" id="{01a3beb6-fc7a-c515-f6b4-6873eff1b771}">
          <p14:sldIdLst/>
        </p14:section>
        <p14:section name="개념" id="{d1142019-7de6-fe68-c6f1-17312a6e67ae}">
          <p14:sldIdLst/>
        </p14:section>
        <p14:section name="연습" id="{e16aa9a5-4ddd-a0c0-77e0-5a5b9074b18b}">
          <p14:sldIdLst/>
        </p14:section>
        <p14:section name="확인" id="{e45692d8-4949-df18-ef1d-702e37c75a89}">
          <p14:sldIdLst>
            <p14:sldId id="268"/>
            <p14:sldId id="269"/>
          </p14:sldIdLst>
        </p14:section>
        <p14:section name="정리" id="{4ca201b4-e0f1-8322-842a-4c5f36f085aa}">
          <p14:sldIdLst>
            <p14:sldId id="270"/>
          </p14:sldIdLst>
        </p14:section>
        <p14:section name="보충" id="{75c4d1dc-0944-10ff-9323-baf086b1b4a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지난 학년에 배운 6·25 전쟁과 이산가족을 떠올리며 분단 문제에 관심을 엽니다.
시간: 약 2분
이렇게 말해 보세요
- “5학년 때 6·25 전쟁과 이산가족을 배웠지? 그 뒤로 남과 북은 어떻게 지내고 있을까?”
- “오늘은 남과 북이 나뉘어 있어서 생기는 어려움과, 평화롭게 하나가 되려는 노력을 알아볼 거야.”
예상 답
- “아직 나뉘어 있어요.” “휴전선이 있어요.”
막히면
- “북한에 마음대로 여행 갈 수 있을까?”라고 묻습니다.
주의
- 분단은 남과 북 모두의 사람들이 겪는 아픔입니다. 어느 한쪽 사람들을 미워하게 하지 않고, 평화의 소중함에 초점을 둡니다.
- 오늘날의 남북 관계 뉴스나 정치적 논쟁으로 넘어가지 않습니다. 아이가 물으면 “여러 생각이 있어. 오늘은 평화를 위해 무엇이 필요한지 생각해 보자.”라고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확인(광복과 6·25전쟁, 산업화와 생활 변화)]
목적: ‘광복과 6·25전쟁’(KR22-G05-SOC-LIBERATION-L01)의 분단 과정과 정전, 앞 차시 ‘산업화와 생활 변화’(KR22-G06-SOC-INDUSTRY-L01)의 핵심을 기억하는지 확인합니다. 오늘 수업은 ①②와 바로 이어집니다.
시간: 약 3분
이렇게 말해 보세요
- “5학년 때 배운 것 두 가지와 지난 시간에 배운 것 하나를 물어볼게.”
정답
- ① 1948년
- ② 아니요. 싸움을 멈추기로(정전) 한 것이고, 전쟁을 완전히 끝내는 평화 협정은 아직 맺지 못했어요. 그래서 휴전선이 있어요.
- ③ 도시화(도시로 사람이 몰림), 가전제품으로 집안일이 쉬워짐, 교통이 편리해짐 가운데 하나
막히면
- ①②를 어려워하면 S16(보충)을 먼저 합니다. 보충으로도 어려우면 ‘광복과 6·25전쟁’(KR22-G05-SOC-LIBERATION-L01)을 다시 합니다.
- ③만 어려워하면 오늘 수업은 그대로 하고, 다음에 ‘산업화와 생활 변화’(KR22-G06-SOC-INDUSTRY-L01)의 S07을 다시 봅니다.
주의
- ②는 오늘 S03의 휴전선·비무장 지대와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휴전선과 비무장 지대(간단히 나타낸 그림)]
목적: 휴전선과 비무장 지대의 뜻을 간단한 그림으로 보여 주고, 분단이 지금도 이어지고 있음을 확인합니다(목표 A, 오해 M2).
시간: 약 2분
이렇게 말해 보세요
- “이 그림은 실제 지도가 아니라 뜻을 보이려고 간단히 그린 거야. 빨간 점선이 휴전선이야.”
- “휴전선에서 남쪽으로 2 km, 북쪽으로 2 km는 군대를 두지 않기로 약속한 땅이야. 이걸 비무장 지대라고 해.”
- “남과 북의 사람들은 이 선을 마음대로 넘을 수 있을까?”
예상 답
- “못 넘어요.” “가족이 있어도 못 가요.”
막히면
- “우리 집과 옆집 사이에 아무도 넘을 수 없는 담이 있다면?”이라고 바꾸어 묻습니다.
주의
- 실제 휴전선은 곧은 선이 아니라 산과 강을 따라 구불구불합니다. 궁금해하면 지도책이나 지도 앱에서 함께 찾아봅니다.
- 비무장 지대에는 오랫동안 사람이 살지 않아 여러 동식물이 사는 곳이 되었습니다(궁금해하면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분단으로 생긴 어려움 네 가지]
목적: 분단으로 생긴 어려움 네 가지를 알려 주고, 이산가족뿐 아니라 모든 사람의 생활에 미치는 어려움이 있음을 짚습니다(목표 A, 오해 M1).
시간: 약 3분
이렇게 말해 보세요
- “5학년 때 배운 이산가족 말고도 분단 때문에 생기는 어려움이 더 있어. 카드를 하나씩 읽어 볼래?”
- “나라를 지키는 데 쓰는 돈을 군사비라고 해. 남과 북이 맞서 있으니 이 돈이 많이 들어. 그 돈을 다른 곳에 쓸 수 있다면 어디에 쓰고 싶어?”
- “70년 넘게 떨어져 살면 말도 조금씩 달라질까?”
예상 답
- “학교나 병원을 더 지어요.” “말이 달라질 것 같아요.”
막히면
- “우리 가족이 이웃과 다투어서 문을 세 겹으로 잠그고 밤마다 지킨다면, 돈과 시간이 어떻게 될까?”라고 집의 예로 묻습니다.
주의
- 군사비의 실제 액수는 말하지 않습니다. 남과 북 모두 군대를 유지하는 데 많은 돈을 쓰고 있고, 평화가 굳건해지면 그 일부를 다른 곳에 쓸 수 있다고 보는 의견이 많다는 정도로 말합니다.
- 전쟁 걱정은 아이를 불안하게 하지 않도록 “그래서 많은 사람이 평화를 지키려고 노력해.”라고 이어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자료 읽기(이산가족의 아픔)]
목적: 꾸며 쓴 편지로 이산가족의 아픔과, 상봉을 서둘러야 하는 까닭(어르신들의 나이)을 근거로 찾습니다(목표 A, 오해 M3).
시간: 약 3분
이렇게 말해 보세요
- “이 편지는 실제 한 사람이 쓴 것이 아니라, 많은 이산가족의 이야기를 바탕으로 꾸며 쓴 글이야. 소리 내어 읽어 볼래?”
- “할아버지는 무엇을 할 수 없어서 힘드실까? 문단에서 찾아 줘.”
- “왜 마음이 급하다고 하셨을까?”
예상 답
- “동생을 만날 수 없어요.” “고향에 갈 수 없어요.” “나이가 많으셔서요.”
정답
- 어려움: 헤어진 동생을 만나지 못하고 살아 있는지도 모름, 고향에 갈 수 없음(이산가족의 아픔)
- 마음이 급한 까닭: 나이가 많아 시간이 많지 않기 때문
막히면
- “네가 동생(형제)을 70년 넘게 못 만난다면 어떤 마음일까?”라고 묻습니다.
주의
- 남과 북의 합의로 이산가족이 잠시 만나는 상봉이 여러 차례 있었지만, 신청한 분들 가운데 많은 분이 아직 만나지 못했고 세상을 떠난 분도 많습니다.
- 북쪽에 남은 가족도 같은 아픔을 겪고 있다는 것을 함께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낱말 비교로 말의 차이 짐작하기]
목적: 북한에서 쓰는 낱말의 뜻을 짐작해 보며, 오래 떨어져 지내 말이 달라졌다는 것을 직접 느끼게 합니다(목표 A, 오해 M1).
시간: 약 2분
이렇게 말해 보세요
- “북한에서 쓰는 낱말 세 개야. 아래 도움말을 보고 무슨 뜻인지 짐작해 볼래?”
- “같은 우리말인데 왜 다른 낱말이 생겼을까?”
정답
- ① 곽밥 – 도시락(작은 상자에 담은 밥)
- ② 손기척 – 노크(손으로 문을 두드려 알림)
- ③ 닭알 – 달걀
- 까닭: 오랫동안 오가지 못하고 따로 살면서 새로 생긴 말이나 바뀐 말이 서로 달라졌기 때문이에요.
막히면
- 낱말을 두 부분으로 나누어 “곽은 상자, 밥은 밥. 상자에 담은 밥은?”처럼 함께 풀어 봅니다.
주의
- 대부분의 말은 같아서 남과 북 사람들은 이야기를 나눌 수 있습니다. 다른 낱말이 있다는 것을 놀리지 않고, 서로 알아 가면 된다는 데 초점을 둡니다.
- 남과 북의 학자들이 함께 우리말 사전을 만드는 일도 있었습니다(S08의 문화 교류).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처음 보는 상황을 어려움으로 나누기]
목적: 처음 보는 상황을 분단으로 생긴 어려움 네 가지로 나누고 까닭을 말합니다(목표 A).
시간: 약 3분
이렇게 말해 보세요
- “①부터 어떤 어려움인지 말하고, 왜 그렇게 생각했는지도 말해 줘.”
정답
- ① 이산가족(헤어진 가족을 만나지 못함)
- ② 군사비(나라를 지키는 데 많은 돈을 씀)
- ③ 말과 생활의 차이(오래 떨어져 낱말이 달라짐)
- ④ 전쟁 걱정(긴장이 높아지면 불안함)
막히면
- S04의 카드 네 장을 다시 보여 주고 “어느 카드와 닮았어?”라고 묻습니다.
주의
- ③의 ‘북에서 온 친구’는 북한을 떠나 우리나라에 와서 사는 사람들(북한 이탈 주민)의 자녀입니다. 우리 이웃이라는 것을 함께 말해 줍니다.
- 여기까지가 분단으로 생긴 어려움을 배우는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평화 통일을 위한 노력]
목적: 평화 통일을 위한 노력 네 가지를 알려 주고, 평화 통일의 뜻을 짚습니다(목표 B).
시간: 약 3분
이렇게 말해 보세요
- “‘정상’은 나라의 가장 높은 대표를 말해. 남과 북의 대표가 여러 번 만나 평화를 위해 노력하자고 약속했어.”
- “이산가족 상봉은 남과 북이 약속해서 헤어진 가족이 잠시 만나는 거야.”
- “운동 경기에서 남과 북 선수들이 한 깃발 아래 함께 입장하거나, 한 팀으로 경기에 나간 적도 있어. 그걸 본 사람들은 어떤 마음이었을까?”
예상 답
- “반가웠을 것 같아요.” “하나가 된 것 같았을 거예요.”
막히면
- “친구와 사이가 멀어졌을 때 다시 친해지려면 무엇부터 할까?”라고 묻고, 만나서 이야기하기·함께 놀기를 회담·교류와 짝지어 줍니다.
주의
- 회담이나 교류의 날짜와 합의 내용은 다루지 않습니다. ‘여러 차례 있었다’는 정도로 말합니다.
- 남북 관계는 가까워질 때도 있고 멀어질 때도 있었습니다. 그래도 평화를 위한 노력은 계속되어 왔다는 데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노력의 까닭 말하기]
목적: 평화 통일을 위한 노력마다 그 까닭과 기대하는 점을 말합니다(목표 B).
시간: 약 3분
이렇게 말해 보세요
- “①, 대표들이 만나서 이야기하면 무엇이 좋아질까?”
- “②, 편지 속 할아버지가 왜 마음이 급하다고 했지?”
- “③, 함께 운동하고 응원하면 서로에 대한 마음이 어떻게 될까?”
정답
- ① 대화로 긴장을 줄이고 평화를 약속하려고, 교류의 길을 열려고
- ② 이산가족 어르신들이 나이가 많으셔서 시간이 많지 않기 때문에
- ③ 서로 친해지고 같은 겨레라는 마음을 느껴요. 마음의 거리를 좁혀요.
- 기준: 노력과 까닭을 이어 말하면 맞음
막히면
- ②는 S05의 ③ 문단을 다시 읽습니다.
주의
- 아이의 표현이 서툴러도 까닭이 들어 있으면 받아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통일에 대해 함께 생각할 점(여러 생각 존중)]
목적: 통일에 대해 기대하는 점과 준비할 점을 함께 보아, 한쪽으로 치우치지 않고 여러 생각을 존중하게 합니다(목표 B).
시간: 약 2분
이렇게 말해 보세요
- “통일이 되면 기대하는 점과, 그 전에 함께 준비해야 할 점이 있어. 두 카드를 읽어 볼래?”
- “사람마다 통일에 대한 생각은 조금씩 달라. 그래도 모두가 동의하는 것이 있어. 무엇일까?”
예상 답
- “싸우지 않고 평화롭게 해야 해요.”
정답
- 어떤 생각이든 전쟁이 아니라 대화와 교류처럼 평화로운 방법이어야 한다는 것
막히면
- “친구 둘이 다시 친해지려면 억지로 하는 게 좋을까, 서로 이야기하며 맞춰 가는 게 좋을까?”라고 묻습니다.
주의
- 언제, 어떻게 통일할지에 대한 정치적 의견은 말하지 않습니다. 아이가 자기 생각을 말하면 까닭을 묻고 존중해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오해 비교(통일은 누가 준비할까)]
목적: 어린이도 평화 통일을 준비하는 데 할 수 있는 일이 있음을 알고, 내가 할 일을 까닭과 함께 말하게 합니다(목표 B, 오해 M3·M4).
시간: 약 3분
이렇게 말해 보세요
- “가의 말처럼 회담은 어른들이 하지. 그럼 우리는 아무것도 할 수 없을까?”
- “너라면 무엇을 해 볼 수 있을까? 왜 그게 도움이 될까?”
정답
- 나. 서로를 알고 이해하는 마음이 있어야 통일 뒤에도 함께 잘 살 수 있기 때문이에요.
- 내가 할 수 있는 일 예: 북한의 말과 생활 알아보기, 북에서 온 친구를 이웃으로 대하기, 평화를 바라는 글이나 그림 만들기, 이산가족의 이야기에 관심 갖기
- 기준: 할 수 있는 일 하나를 까닭과 함께 말하면 잘함
막히면
- S06에서 북한 말을 짐작해 본 것도 ‘알아보기’였다고 알려 줍니다.
주의
- 아이가 북한 사람 모두를 나쁘게 말하면, 분단의 아픔은 남과 북 모두의 사람들이 겪는 것이라고 차분히 이야기합니다(오해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남북이 함께한 일 조사(부모와 함께)]
목적: 부모와 함께 남북이 함께한 일(체육, 예술, 이산가족 상봉 등)을 찾아 기록하며 평화 통일을 위한 노력을 직접 조사합니다(목표 B).
시간: 약 2분(조사는 수업 뒤에)
이렇게 말해 보세요
- “오늘 배운 노력 가운데 하나를 골라 실제로 어떤 일이 있었는지 함께 찾아보자. 운동 경기, 공연, 이산가족 만남 가운데 무엇이 궁금해?”
예상 답
- 예: “남북 선수들이 국제 대회에 함께 입장한 일을 찾았어요. 한 깃발을 들고 들어와서 서로 친해지는 데 도움이 되었을 것 같아요.”
정답
- 기준: ① 남북이 함께한 일 하나를 찾음 ② 무엇을 어떻게 했는지 적음 ③ 평화에 준 도움을 자기 말로 말함. 찾은 자료에 따라 답이 다릅니다.
막히면
- 통일 교육을 하는 정부 기관의 누리집, 어린이 신문, 도서관의 통일 관련 어린이 책을 함께 봅니다.
주의
- 누리집은 부모가 함께 봅니다. 찾은 자료에 오늘날의 정치적 논쟁이 섞여 있으면 ‘무엇을 함께했는지’만 골라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해 보기(어려움, 노력, 내가 할 일)]
목적: 분단으로 생긴 어려움, 평화 통일을 위한 노력, 내가 할 수 있는 일을 도움 없이 말하는지 확인합니다(목표 A·B).
시간: 약 5분
이렇게 말해 보세요
- “이번에는 혼자 해 볼래? 다 하면 왜 그렇게 생각했는지 말해 줘.”
정답
- ① 이산가족의 아픔, 많은 군사비, 전쟁에 대한 걱정, 말과 생활의 차이 가운데 세 가지
- ② 남북 정상 회담, 이산가족 상봉, 체육 교류(함께 입장, 단일팀), 문화 교류(공연, 우리말 사전) 가운데 두 가지
- ③ 예: 북에서 온 친구를 이웃으로 대하기 – 서로 이해해야 함께 잘 살 수 있으니까 (까닭이 있으면 맞음)
- 기준: ①에서 세 가지, ②에서 두 가지를 말하고 ③에 까닭이 있으면 목표를 이룬 것으로 봅니다.
막히면
- 바로 알려 주지 말고 ①은 “할아버지 편지와 북한 말 짐작하기를 떠올려 봐.”, ②는 “남과 북이 함께 무엇을 했지?”라고만 묻습니다.
- 도움을 받아 해결했다면 기록표에 ‘도움’으로 표시합니다.
주의
- ③은 아이의 생각을 존중합니다. ‘싸우지 않기’처럼 짧게 말하면 “어린이인 네가 할 수 있는 일로 말해 볼래?”라고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S13의 답을 확인하고 다시 생각해 볼 답과 견줍니다.
시간: 약 2분
이렇게 말해 보세요
- “네 답과 왼쪽을 견주어 보자. 오른쪽처럼 말하면 무엇을 놓친 걸까?”
예상 답
- “군사비나 말이 달라진 것도 어려움이에요.” “저도 할 수 있는 일이 있어요.”
정답
- ① 이산가족의 아픔, 군사비, 전쟁 걱정, 말과 생활의 차이 가운데 세 가지 ② 정상 회담, 이산가족 상봉, 체육·문화 교류 가운데 두 가지 ③ 내가 할 수 있는 일과 까닭
막히면
- ①은 S04, ②는 S08, ③은 S11을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다음 학습과 복습]
목적: 핵심을 정리하고 다음 수업 첫 5분에 풀 복습 질문을 알려 줍니다. ‘현대 사회와 평화’ 묶음(민주주의, 산업화, 분단과 평화 통일)을 마무리합니다.
시간: 약 2분
이렇게 말해 보세요
- “오늘 배운 것 가운데 가장 마음에 남는 것은 무엇이야? 왜 그래?”
- “세 번에 걸쳐 민주주의의 발전, 산업화, 분단과 평화 통일을 배웠어. 하나씩 한 문장으로 말해 볼까?”
예상 답
- “할아버지 편지요. 동생을 꼭 만나셨으면 좋겠어요.”
- “시민들이 민주주의를 키웠어요. 산업이 자라 생활이 편리해졌어요. 평화롭게 통일을 준비해요.”
정답
- ① 전쟁 때 헤어져 서로 소식을 모르고 사는 가족 ② 남북 정상 회담, 이산가족 상봉, 체육·문화 교류 가운데 하나 ③ 도시락
막히면
- S04와 S08을 다시 보여 줍니다.
주의
- 활동지 4(남북이 함께한 일 찾기)는 다음 수업 전까지 함께 해 두면 좋습니다.
- 다음 차시 ‘국가 기관의 역할’은 새 묶음(민주주의와 경제)의 첫 차시입니다.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보충(분단이 굳어지기까지 다시 보기)]
목적: S02에서 분단 과정이나 정전을 어려워하면, 광복부터 정전 협정까지를 시간 띠로 다시 익히고 오늘 수업으로 이어 줍니다.
시간: 약 4분
이렇게 말해 보세요
- “시간 띠를 왼쪽부터 같이 읽어 보자. 광복 뒤 38도선을 경계로 무엇이 들어왔지?”
- “1948년에 남과 북에 어떤 일이 있었어? 1953년에는?”
- “정전과 종전은 어떻게 달랐지?”
정답
- 1945년 광복 → 38도선을 경계로 남쪽에 미군, 북쪽에 소련군 → 1948년 남북에 서로 다른 정부 → 1950년 6·25 전쟁 → 1953년 정전 협정
- 정전은 싸움을 멈춘 것, 종전은 전쟁이 완전히 끝난 것
막히면
- 종이 카드 다섯 장에 일을 써서 차례로 놓아 보게 합니다.
주의
- 이 차시의 계획상 선수 차시는 ‘광복과 6·25전쟁’(KR22-G05-SOC-LIBERATION-L01)과 ‘산업화와 생활 변화’(KR22-G06-SOC-INDUSTRY-L01)입니다. 이 보충은 분단 과정을 다룹니다. 보충 뒤에도 어려우면 ‘광복과 6·25전쟁’을 다시 하고 오늘 수업은 다음 날 S02부터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현대사회와평화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분단과 평화 통일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분단과 평화 통일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분단과 평화 통일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분단과 평화 통일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북이 나뉘어 생긴 어려움은 무엇이고,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평화를 위해 어떤 노력을 할까요?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분단으로 생긴 어려움을 세 가지 이상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평화 통일을 위한 노력과 내가 할 수 있는 일을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북에 서로 다른 정부가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세워진 해는?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1953년 정전 협정으로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전쟁이 완전히 끝났나요?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산업화로 달라진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분단의 모습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북은 70년 넘게 나뉘어 살고 있어요.</a:t>
            </a:r>
            <a:endParaRPr lang="ko-KR" sz="2800" dirty="0"/>
          </a:p>
        </p:txBody>
      </p:sp>
      <p:sp>
        <p:nvSpPr>
          <p:cNvPr id="5" name="S03-figure11" descr="간단히 나타낸 그림: 위쪽은 북한, 아래쪽은 대한민국이다. 가운데를 가로지르는 빨간 점선이 휴전선이고, 그 위아래로 노란 띠(비무장 지대)가 있다. 실제 지도가 아니다."/>
          <p:cNvSpPr/>
          <p:nvPr/>
        </p:nvSpPr>
        <p:spPr>
          <a:xfrm>
            <a:off x="1696041" y="1409700"/>
            <a:ext cx="3173730" cy="1632204"/>
          </a:xfrm>
          <a:custGeom>
            <a:avLst/>
            <a:gdLst/>
            <a:ahLst/>
            <a:cxnLst/>
            <a:rect l="l" t="t" r="r" b="b"/>
            <a:pathLst>
              <a:path w="3173730" h="1632204">
                <a:moveTo>
                  <a:pt x="0" y="1632204"/>
                </a:moveTo>
                <a:lnTo>
                  <a:pt x="3173730" y="1632204"/>
                </a:lnTo>
                <a:lnTo>
                  <a:pt x="317373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AF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3-mark12"/>
          <p:cNvSpPr/>
          <p:nvPr/>
        </p:nvSpPr>
        <p:spPr>
          <a:xfrm>
            <a:off x="1696041" y="3041904"/>
            <a:ext cx="3173730" cy="362712"/>
          </a:xfrm>
          <a:custGeom>
            <a:avLst/>
            <a:gdLst/>
            <a:ahLst/>
            <a:cxnLst/>
            <a:rect l="l" t="t" r="r" b="b"/>
            <a:pathLst>
              <a:path w="3173730" h="362712">
                <a:moveTo>
                  <a:pt x="0" y="362712"/>
                </a:moveTo>
                <a:lnTo>
                  <a:pt x="3173730" y="362712"/>
                </a:lnTo>
                <a:lnTo>
                  <a:pt x="3173730" y="0"/>
                </a:lnTo>
                <a:lnTo>
                  <a:pt x="0" y="0"/>
                </a:lnTo>
                <a:close/>
              </a:path>
            </a:pathLst>
          </a:custGeom>
          <a:solidFill>
            <a:srgbClr val="F3E6A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mark13"/>
          <p:cNvSpPr/>
          <p:nvPr/>
        </p:nvSpPr>
        <p:spPr>
          <a:xfrm>
            <a:off x="1696041" y="3404616"/>
            <a:ext cx="3173730" cy="1632204"/>
          </a:xfrm>
          <a:custGeom>
            <a:avLst/>
            <a:gdLst/>
            <a:ahLst/>
            <a:cxnLst/>
            <a:rect l="l" t="t" r="r" b="b"/>
            <a:pathLst>
              <a:path w="3173730" h="1632204">
                <a:moveTo>
                  <a:pt x="0" y="1632204"/>
                </a:moveTo>
                <a:lnTo>
                  <a:pt x="3173730" y="1632204"/>
                </a:lnTo>
                <a:lnTo>
                  <a:pt x="3173730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14"/>
          <p:cNvSpPr/>
          <p:nvPr/>
        </p:nvSpPr>
        <p:spPr>
          <a:xfrm>
            <a:off x="1696041" y="3223260"/>
            <a:ext cx="317373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</a:ln>
        </p:spPr>
      </p:sp>
      <p:sp>
        <p:nvSpPr>
          <p:cNvPr id="9" name="S03-mark15"/>
          <p:cNvSpPr/>
          <p:nvPr/>
        </p:nvSpPr>
        <p:spPr>
          <a:xfrm>
            <a:off x="4937779" y="3223260"/>
            <a:ext cx="29470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03-mark16"/>
          <p:cNvSpPr/>
          <p:nvPr/>
        </p:nvSpPr>
        <p:spPr>
          <a:xfrm flipV="1">
            <a:off x="4937779" y="2633853"/>
            <a:ext cx="294704" cy="45339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1" name="S03-label18"/>
          <p:cNvSpPr txBox="1"/>
          <p:nvPr/>
        </p:nvSpPr>
        <p:spPr>
          <a:xfrm>
            <a:off x="2954230" y="2051177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북한</a:t>
            </a:r>
            <a:endParaRPr lang="ko-KR" sz="2200" dirty="0"/>
          </a:p>
        </p:txBody>
      </p:sp>
      <p:sp>
        <p:nvSpPr>
          <p:cNvPr id="12" name="S03-label20"/>
          <p:cNvSpPr txBox="1"/>
          <p:nvPr/>
        </p:nvSpPr>
        <p:spPr>
          <a:xfrm>
            <a:off x="2680418" y="4046093"/>
            <a:ext cx="12049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대한민국</a:t>
            </a:r>
            <a:endParaRPr lang="ko-KR" sz="2200" dirty="0"/>
          </a:p>
        </p:txBody>
      </p:sp>
      <p:sp>
        <p:nvSpPr>
          <p:cNvPr id="13" name="S03-label22"/>
          <p:cNvSpPr txBox="1"/>
          <p:nvPr/>
        </p:nvSpPr>
        <p:spPr>
          <a:xfrm>
            <a:off x="5300491" y="304863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휴전선</a:t>
            </a:r>
            <a:endParaRPr lang="ko-KR" sz="2200" dirty="0"/>
          </a:p>
        </p:txBody>
      </p:sp>
      <p:sp>
        <p:nvSpPr>
          <p:cNvPr id="14" name="S03-label24"/>
          <p:cNvSpPr txBox="1"/>
          <p:nvPr/>
        </p:nvSpPr>
        <p:spPr>
          <a:xfrm>
            <a:off x="5300491" y="2445639"/>
            <a:ext cx="129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비무장 지대</a:t>
            </a:r>
            <a:endParaRPr lang="ko-KR" sz="1800" dirty="0"/>
          </a:p>
        </p:txBody>
      </p:sp>
      <p:sp>
        <p:nvSpPr>
          <p:cNvPr id="15" name="S03-card25"/>
          <p:cNvSpPr/>
          <p:nvPr/>
        </p:nvSpPr>
        <p:spPr>
          <a:xfrm>
            <a:off x="6813652" y="1588008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26"/>
          <p:cNvSpPr txBox="1"/>
          <p:nvPr/>
        </p:nvSpPr>
        <p:spPr>
          <a:xfrm>
            <a:off x="7087972" y="1725168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휴전선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협정으로 정한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북의 경계선</a:t>
            </a:r>
            <a:endParaRPr lang="ko-KR" sz="2800" dirty="0"/>
          </a:p>
        </p:txBody>
      </p:sp>
      <p:sp>
        <p:nvSpPr>
          <p:cNvPr id="17" name="S03-card27"/>
          <p:cNvSpPr/>
          <p:nvPr/>
        </p:nvSpPr>
        <p:spPr>
          <a:xfrm>
            <a:off x="6813652" y="3337560"/>
            <a:ext cx="4826660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3-cardtext28"/>
          <p:cNvSpPr txBox="1"/>
          <p:nvPr/>
        </p:nvSpPr>
        <p:spPr>
          <a:xfrm>
            <a:off x="7087972" y="3474720"/>
            <a:ext cx="4278020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비무장 지대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휴전선 남북으로 2 km씩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군대를 두지 않기로 한 땅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분단으로 생긴 어려움</a:t>
            </a:r>
            <a:endParaRPr lang="ko-KR" sz="4000" dirty="0"/>
          </a:p>
        </p:txBody>
      </p:sp>
      <p:sp>
        <p:nvSpPr>
          <p:cNvPr id="3" name="S04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분단이 오래 이어져서 생긴 어려움이에요.</a:t>
            </a:r>
            <a:endParaRPr lang="ko-KR" sz="2800" dirty="0"/>
          </a:p>
        </p:txBody>
      </p:sp>
      <p:sp>
        <p:nvSpPr>
          <p:cNvPr id="5" name="S04-card3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3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헤어진 가족을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만나지 못해요.</a:t>
            </a:r>
            <a:endParaRPr lang="ko-KR" sz="2800" dirty="0"/>
          </a:p>
        </p:txBody>
      </p:sp>
      <p:sp>
        <p:nvSpPr>
          <p:cNvPr id="7" name="S04-card3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군사비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나라를 지키는 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돈을 써요.</a:t>
            </a:r>
            <a:endParaRPr lang="ko-KR" sz="2800" dirty="0"/>
          </a:p>
        </p:txBody>
      </p:sp>
      <p:sp>
        <p:nvSpPr>
          <p:cNvPr id="9" name="S04-card3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3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 걱정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긴장이 높아지면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불안해해요.</a:t>
            </a:r>
            <a:endParaRPr lang="ko-KR" sz="2800" dirty="0"/>
          </a:p>
        </p:txBody>
      </p:sp>
      <p:sp>
        <p:nvSpPr>
          <p:cNvPr id="11" name="S04-card3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3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말과 생활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떨어져 지내 말과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모습이 달라졌어요.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 할아버지의 편지</a:t>
            </a:r>
            <a:endParaRPr lang="ko-KR" sz="4000" dirty="0"/>
          </a:p>
        </p:txBody>
      </p:sp>
      <p:sp>
        <p:nvSpPr>
          <p:cNvPr id="3" name="S05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할아버지가 겪는 어려움은 무엇인가요? 왜 마음이 급할까요?</a:t>
            </a:r>
            <a:endParaRPr lang="ko-KR" sz="2800" dirty="0"/>
          </a:p>
        </p:txBody>
      </p:sp>
      <p:sp>
        <p:nvSpPr>
          <p:cNvPr id="5" name="S05-passagebox4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4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손녀에게 쓴 편지(꾸며 쓴 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할아버지 고향은 휴전선 북쪽의 작은 마을이란다. 전쟁 때 피란을 오다가 동생과 헤어졌어.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동생이 살아 있는지도 알 수 없구나. 만남을 신청했지만 아직 차례가 오지 않았단다.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이제 나이가 많아 마음이 급하구나. 고향 땅을 한 번만이라도 밟아 보고 싶어.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북한 말 짐작하기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북한에서 쓰는 낱말이에요. 무슨 뜻일까요?</a:t>
            </a:r>
            <a:endParaRPr lang="ko-KR" sz="28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곽: 작은 상자 / 기척: 누가 있다는 것을 알리는 소리</a:t>
            </a:r>
            <a:endParaRPr lang="ko-KR" sz="2800" dirty="0"/>
          </a:p>
        </p:txBody>
      </p:sp>
      <p:sp>
        <p:nvSpPr>
          <p:cNvPr id="6" name="S06-chip4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4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곽밥</a:t>
            </a:r>
            <a:endParaRPr lang="ko-KR" sz="2800" dirty="0"/>
          </a:p>
        </p:txBody>
      </p:sp>
      <p:sp>
        <p:nvSpPr>
          <p:cNvPr id="8" name="S06-chip4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4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손기척</a:t>
            </a:r>
            <a:endParaRPr lang="ko-KR" sz="2800" dirty="0"/>
          </a:p>
        </p:txBody>
      </p:sp>
      <p:sp>
        <p:nvSpPr>
          <p:cNvPr id="10" name="S06-chip5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5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닭알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어려움일까요?</a:t>
            </a:r>
            <a:endParaRPr lang="ko-KR" sz="4000" dirty="0"/>
          </a:p>
        </p:txBody>
      </p:sp>
      <p:sp>
        <p:nvSpPr>
          <p:cNvPr id="3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 · 군사비 · 전쟁 걱정 · 말과 생활</a:t>
            </a:r>
            <a:endParaRPr lang="ko-KR" sz="2800" dirty="0"/>
          </a:p>
        </p:txBody>
      </p:sp>
      <p:sp>
        <p:nvSpPr>
          <p:cNvPr id="5" name="S07-chip5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7-text5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할머니는 70년 넘게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오빠를 만나지 못했어요.</a:t>
            </a:r>
            <a:endParaRPr lang="ko-KR" sz="2800" dirty="0"/>
          </a:p>
        </p:txBody>
      </p:sp>
      <p:sp>
        <p:nvSpPr>
          <p:cNvPr id="7" name="S07-chip5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7-text5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 살림에서 국방에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돈을 써요.</a:t>
            </a:r>
            <a:endParaRPr lang="ko-KR" sz="2800" dirty="0"/>
          </a:p>
        </p:txBody>
      </p:sp>
      <p:sp>
        <p:nvSpPr>
          <p:cNvPr id="9" name="S07-chip5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7-text5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북에서 온 친구가 낯선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어려워해요.</a:t>
            </a:r>
            <a:endParaRPr lang="ko-KR" sz="2800" dirty="0"/>
          </a:p>
        </p:txBody>
      </p:sp>
      <p:sp>
        <p:nvSpPr>
          <p:cNvPr id="11" name="S07-chip6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7-text6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긴장이 높아졌다는 소식에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사람들이 걱정해요.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 통일을 위한 노력</a:t>
            </a:r>
            <a:endParaRPr lang="ko-KR" sz="4000" dirty="0"/>
          </a:p>
        </p:txBody>
      </p:sp>
      <p:sp>
        <p:nvSpPr>
          <p:cNvPr id="3" name="S08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 통일: 전쟁 없이 대화와 교류로 하나가 되는 것</a:t>
            </a:r>
            <a:endParaRPr lang="ko-KR" sz="2800" dirty="0"/>
          </a:p>
        </p:txBody>
      </p:sp>
      <p:sp>
        <p:nvSpPr>
          <p:cNvPr id="5" name="S08-card64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65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 정상 회담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북의 대표가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만나 평화를 약속해요.</a:t>
            </a:r>
            <a:endParaRPr lang="ko-KR" sz="2800" dirty="0"/>
          </a:p>
        </p:txBody>
      </p:sp>
      <p:sp>
        <p:nvSpPr>
          <p:cNvPr id="7" name="S08-card66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7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 상봉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헤어진 가족이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만나요.</a:t>
            </a:r>
            <a:endParaRPr lang="ko-KR" sz="2800" dirty="0"/>
          </a:p>
        </p:txBody>
      </p:sp>
      <p:sp>
        <p:nvSpPr>
          <p:cNvPr id="9" name="S08-card68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69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 교류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 대회에 함께 입장하거나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팀으로 나가요.</a:t>
            </a:r>
            <a:endParaRPr lang="ko-KR" sz="2800" dirty="0"/>
          </a:p>
        </p:txBody>
      </p:sp>
      <p:sp>
        <p:nvSpPr>
          <p:cNvPr id="11" name="S08-card70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71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문화 교류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공연하고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우리말 사전을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이런 노력을 할까요?</a:t>
            </a:r>
            <a:endParaRPr lang="ko-KR" sz="4000" dirty="0"/>
          </a:p>
        </p:txBody>
      </p:sp>
      <p:sp>
        <p:nvSpPr>
          <p:cNvPr id="3" name="S09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S05의 편지와 S08의 카드를 떠올려요.</a:t>
            </a:r>
            <a:endParaRPr lang="ko-KR" sz="2800" dirty="0"/>
          </a:p>
        </p:txBody>
      </p:sp>
      <p:sp>
        <p:nvSpPr>
          <p:cNvPr id="5" name="S09-chip74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75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 정상 회담을 하는 까닭은?</a:t>
            </a:r>
            <a:endParaRPr lang="ko-KR" sz="2800" dirty="0"/>
          </a:p>
        </p:txBody>
      </p:sp>
      <p:sp>
        <p:nvSpPr>
          <p:cNvPr id="7" name="S09-chip76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77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 상봉을 서둘러야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까닭은?</a:t>
            </a:r>
            <a:endParaRPr lang="ko-KR" sz="2800" dirty="0"/>
          </a:p>
        </p:txBody>
      </p:sp>
      <p:sp>
        <p:nvSpPr>
          <p:cNvPr id="9" name="S09-chip78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79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 교류로 얻을 수 있는 것은?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생각할 점</a:t>
            </a:r>
            <a:endParaRPr lang="ko-KR" sz="4000" dirty="0"/>
          </a:p>
        </p:txBody>
      </p:sp>
      <p:sp>
        <p:nvSpPr>
          <p:cNvPr id="3" name="S10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생각은 여러 가지일 수 있지만, 평화로운 방법이어야 해요.</a:t>
            </a:r>
            <a:endParaRPr lang="ko-KR" sz="2800" dirty="0"/>
          </a:p>
        </p:txBody>
      </p:sp>
      <p:sp>
        <p:nvSpPr>
          <p:cNvPr id="5" name="S10-card82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6" name="S10-cardtext83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통일이 되면 기대하는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이산가족이 만나요.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군사비를 다른 곳에 써요.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 걱정이 줄어요.</a:t>
            </a:r>
            <a:endParaRPr lang="ko-KR" sz="2800" dirty="0"/>
          </a:p>
        </p:txBody>
      </p:sp>
      <p:sp>
        <p:nvSpPr>
          <p:cNvPr id="7" name="S10-card84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8" name="S10-cardtext85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준비할 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말과 생활을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이해해야 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돈과 시간이 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통일은 누가 준비할까?</a:t>
            </a:r>
            <a:endParaRPr lang="ko-KR" sz="4000" dirty="0"/>
          </a:p>
        </p:txBody>
      </p:sp>
      <p:sp>
        <p:nvSpPr>
          <p:cNvPr id="3" name="S11-card8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 통일을 배우고 두 친구가 말했어요.</a:t>
            </a:r>
            <a:endParaRPr lang="ko-KR" sz="2800" dirty="0"/>
          </a:p>
        </p:txBody>
      </p:sp>
      <p:sp>
        <p:nvSpPr>
          <p:cNvPr id="5" name="S11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생각에 더 찬성하나요? 나는 무엇을 할 수 있을까요?</a:t>
            </a:r>
            <a:endParaRPr lang="ko-KR" sz="2800" dirty="0"/>
          </a:p>
        </p:txBody>
      </p:sp>
      <p:sp>
        <p:nvSpPr>
          <p:cNvPr id="7" name="S11-chip9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1-text9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“통일은 어른들과 정부가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일이라 나는 할 일이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없어요.”</a:t>
            </a:r>
            <a:endParaRPr lang="ko-KR" sz="2800" dirty="0"/>
          </a:p>
        </p:txBody>
      </p:sp>
      <p:sp>
        <p:nvSpPr>
          <p:cNvPr id="9" name="S11-chip9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1-text9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“북한의 말과 생활을 알아보고,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북에서 온 친구를 이웃으로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대하는 것도 준비예요.”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남북이 함께한 일 찾기</a:t>
            </a:r>
            <a:endParaRPr lang="ko-KR" sz="4000" dirty="0"/>
          </a:p>
        </p:txBody>
      </p:sp>
      <p:sp>
        <p:nvSpPr>
          <p:cNvPr id="3" name="S12-card94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5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함께한 일 하나를 찾았어요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무엇을 했는지 적었어요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평화에 준 도움을 말했어요</a:t>
            </a:r>
            <a:endParaRPr lang="ko-KR" sz="2800" dirty="0"/>
          </a:p>
        </p:txBody>
      </p:sp>
      <p:sp>
        <p:nvSpPr>
          <p:cNvPr id="5" name="S12-stepno96"/>
          <p:cNvSpPr txBox="1"/>
          <p:nvPr/>
        </p:nvSpPr>
        <p:spPr>
          <a:xfrm>
            <a:off x="548640" y="183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2-text97"/>
          <p:cNvSpPr txBox="1"/>
          <p:nvPr/>
        </p:nvSpPr>
        <p:spPr>
          <a:xfrm>
            <a:off x="1325880" y="1789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부모님과 함께 책이나 누리집을 찾아요.</a:t>
            </a:r>
            <a:endParaRPr lang="ko-KR" sz="2800" dirty="0"/>
          </a:p>
        </p:txBody>
      </p:sp>
      <p:sp>
        <p:nvSpPr>
          <p:cNvPr id="7" name="S12-stepno98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2-text99"/>
          <p:cNvSpPr txBox="1"/>
          <p:nvPr/>
        </p:nvSpPr>
        <p:spPr>
          <a:xfrm>
            <a:off x="1325880" y="2821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남북이 함께한 일 하나를 골라요.</a:t>
            </a:r>
            <a:endParaRPr lang="ko-KR" sz="2800" dirty="0"/>
          </a:p>
        </p:txBody>
      </p:sp>
      <p:sp>
        <p:nvSpPr>
          <p:cNvPr id="9" name="S12-stepno100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2-text101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무엇을, 어떻게 했는지 활동지에 적어요.</a:t>
            </a:r>
            <a:endParaRPr lang="ko-KR" sz="2800" dirty="0"/>
          </a:p>
        </p:txBody>
      </p:sp>
      <p:sp>
        <p:nvSpPr>
          <p:cNvPr id="11" name="S12-stepno102"/>
          <p:cNvSpPr txBox="1"/>
          <p:nvPr/>
        </p:nvSpPr>
        <p:spPr>
          <a:xfrm>
            <a:off x="548640" y="493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2-text103"/>
          <p:cNvSpPr txBox="1"/>
          <p:nvPr/>
        </p:nvSpPr>
        <p:spPr>
          <a:xfrm>
            <a:off x="1325880" y="4886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일이 평화에 준 도움을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chip10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10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분단으로 생긴 어려움 세 가지는?</a:t>
            </a:r>
            <a:endParaRPr lang="ko-KR" sz="2800" dirty="0"/>
          </a:p>
        </p:txBody>
      </p:sp>
      <p:sp>
        <p:nvSpPr>
          <p:cNvPr id="5" name="S13-chip10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10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 통일을 위한 노력 두 가지는?</a:t>
            </a:r>
            <a:endParaRPr lang="ko-KR" sz="2800" dirty="0"/>
          </a:p>
        </p:txBody>
      </p:sp>
      <p:sp>
        <p:nvSpPr>
          <p:cNvPr id="7" name="S13-chip10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3-text10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할 수 있는 일 하나와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4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분단의 어려움을 알고, 대화와 교류로 평화를 쌓아 가요.</a:t>
            </a:r>
            <a:endParaRPr lang="ko-KR" sz="2800" dirty="0"/>
          </a:p>
        </p:txBody>
      </p:sp>
      <p:sp>
        <p:nvSpPr>
          <p:cNvPr id="5" name="S14-chip11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답</a:t>
            </a:r>
            <a:endParaRPr lang="ko-KR" sz="2200" dirty="0"/>
          </a:p>
        </p:txBody>
      </p:sp>
      <p:sp>
        <p:nvSpPr>
          <p:cNvPr id="6" name="S14-text113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이산가족, 군사비,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 걱정, 말의 차이</a:t>
            </a:r>
            <a:endParaRPr lang="ko-KR" sz="2800" dirty="0"/>
          </a:p>
        </p:txBody>
      </p:sp>
      <p:sp>
        <p:nvSpPr>
          <p:cNvPr id="7" name="S14-text114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정상 회담,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상봉, 체육 교류</a:t>
            </a:r>
            <a:endParaRPr lang="ko-KR" sz="2800" dirty="0"/>
          </a:p>
        </p:txBody>
      </p:sp>
      <p:sp>
        <p:nvSpPr>
          <p:cNvPr id="8" name="S14-text115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할 일 + 까닭</a:t>
            </a:r>
            <a:endParaRPr lang="ko-KR" sz="2800" dirty="0"/>
          </a:p>
        </p:txBody>
      </p:sp>
      <p:sp>
        <p:nvSpPr>
          <p:cNvPr id="9" name="S14-chip11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다시 생각해요</a:t>
            </a:r>
            <a:endParaRPr lang="ko-KR" sz="2200" dirty="0"/>
          </a:p>
        </p:txBody>
      </p:sp>
      <p:sp>
        <p:nvSpPr>
          <p:cNvPr id="10" name="S14-text11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“이산가족만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어려워요”</a:t>
            </a:r>
            <a:endParaRPr lang="ko-KR" sz="2800" dirty="0"/>
          </a:p>
        </p:txBody>
      </p:sp>
      <p:sp>
        <p:nvSpPr>
          <p:cNvPr id="11" name="S14-text11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모두의 생활에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미치는 어려움도</a:t>
            </a:r>
            <a:endParaRPr lang="ko-KR" sz="2200" dirty="0"/>
          </a:p>
        </p:txBody>
      </p:sp>
      <p:sp>
        <p:nvSpPr>
          <p:cNvPr id="12" name="S14-text11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“나는 할 일이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없어요”</a:t>
            </a:r>
            <a:endParaRPr lang="ko-KR" sz="2800" dirty="0"/>
          </a:p>
        </p:txBody>
      </p:sp>
      <p:sp>
        <p:nvSpPr>
          <p:cNvPr id="13" name="S14-text12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알아보기, 이웃으로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2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2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분단으로 이산가족의 아픔 같은 여러 어려움이 생겼어요.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대화와 교류로 평화 통일을 준비해요.</a:t>
            </a:r>
            <a:endParaRPr lang="ko-KR" sz="2800" dirty="0"/>
          </a:p>
        </p:txBody>
      </p:sp>
      <p:sp>
        <p:nvSpPr>
          <p:cNvPr id="5" name="S15-chip12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서로 알고 이해하려 하기</a:t>
            </a:r>
            <a:endParaRPr lang="ko-KR" sz="2200" dirty="0"/>
          </a:p>
        </p:txBody>
      </p:sp>
      <p:sp>
        <p:nvSpPr>
          <p:cNvPr id="6" name="S15-chip12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나는 할 일이 없다고 여기기</a:t>
            </a:r>
            <a:endParaRPr lang="ko-KR" sz="2200" dirty="0"/>
          </a:p>
        </p:txBody>
      </p:sp>
      <p:sp>
        <p:nvSpPr>
          <p:cNvPr id="7" name="S15-text12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12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이산가족이란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누구인가요?</a:t>
            </a:r>
            <a:endParaRPr lang="ko-KR" sz="2200" dirty="0"/>
          </a:p>
        </p:txBody>
      </p:sp>
      <p:sp>
        <p:nvSpPr>
          <p:cNvPr id="9" name="S15-text12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평화 통일을 위한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노력 하나는?</a:t>
            </a:r>
            <a:endParaRPr lang="ko-KR" sz="2200" dirty="0"/>
          </a:p>
        </p:txBody>
      </p:sp>
      <p:sp>
        <p:nvSpPr>
          <p:cNvPr id="10" name="S15-text12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북한 말 ‘곽밥’은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남한 말로?</a:t>
            </a:r>
            <a:endParaRPr lang="ko-KR" sz="2200" dirty="0"/>
          </a:p>
        </p:txBody>
      </p:sp>
      <p:sp>
        <p:nvSpPr>
          <p:cNvPr id="11" name="S15-text12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국가 기관의 역할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분단이 굳어지기까지</a:t>
            </a:r>
            <a:endParaRPr lang="ko-KR" sz="4000" dirty="0"/>
          </a:p>
        </p:txBody>
      </p:sp>
      <p:sp>
        <p:nvSpPr>
          <p:cNvPr id="3" name="S16-text1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5학년 때 배운 흐름을 다시 봐요.</a:t>
            </a:r>
            <a:endParaRPr lang="ko-KR" sz="2800" dirty="0"/>
          </a:p>
        </p:txBody>
      </p:sp>
      <p:sp>
        <p:nvSpPr>
          <p:cNvPr id="4" name="S16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정전은 싸움을 멈춘 것이에요. 그래서 지금도 휴전선이 있어요.</a:t>
            </a:r>
            <a:endParaRPr lang="ko-KR" sz="2800" dirty="0"/>
          </a:p>
        </p:txBody>
      </p:sp>
      <p:sp>
        <p:nvSpPr>
          <p:cNvPr id="6" name="S16-line133"/>
          <p:cNvSpPr/>
          <p:nvPr/>
        </p:nvSpPr>
        <p:spPr>
          <a:xfrm>
            <a:off x="822960" y="356616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16-event134"/>
          <p:cNvSpPr/>
          <p:nvPr/>
        </p:nvSpPr>
        <p:spPr>
          <a:xfrm>
            <a:off x="1758391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16-label135"/>
          <p:cNvSpPr txBox="1"/>
          <p:nvPr/>
        </p:nvSpPr>
        <p:spPr>
          <a:xfrm>
            <a:off x="868680" y="2883535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200" dirty="0"/>
          </a:p>
        </p:txBody>
      </p:sp>
      <p:sp>
        <p:nvSpPr>
          <p:cNvPr id="9" name="S16-label136"/>
          <p:cNvSpPr txBox="1"/>
          <p:nvPr/>
        </p:nvSpPr>
        <p:spPr>
          <a:xfrm>
            <a:off x="868680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</a:t>
            </a:r>
            <a:endParaRPr lang="ko-KR" sz="1800" dirty="0"/>
          </a:p>
        </p:txBody>
      </p:sp>
      <p:sp>
        <p:nvSpPr>
          <p:cNvPr id="10" name="S16-event137"/>
          <p:cNvSpPr/>
          <p:nvPr/>
        </p:nvSpPr>
        <p:spPr>
          <a:xfrm>
            <a:off x="3866998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16-label138"/>
          <p:cNvSpPr txBox="1"/>
          <p:nvPr/>
        </p:nvSpPr>
        <p:spPr>
          <a:xfrm>
            <a:off x="2977286" y="2534285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38도선으로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나뉨</a:t>
            </a:r>
            <a:endParaRPr lang="ko-KR" sz="2200" dirty="0"/>
          </a:p>
        </p:txBody>
      </p:sp>
      <p:sp>
        <p:nvSpPr>
          <p:cNvPr id="12" name="S16-label139"/>
          <p:cNvSpPr txBox="1"/>
          <p:nvPr/>
        </p:nvSpPr>
        <p:spPr>
          <a:xfrm>
            <a:off x="2977286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남북에 다른 군대</a:t>
            </a:r>
            <a:endParaRPr lang="ko-KR" sz="1800" dirty="0"/>
          </a:p>
        </p:txBody>
      </p:sp>
      <p:sp>
        <p:nvSpPr>
          <p:cNvPr id="13" name="S16-event140"/>
          <p:cNvSpPr/>
          <p:nvPr/>
        </p:nvSpPr>
        <p:spPr>
          <a:xfrm>
            <a:off x="5975604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16-label141"/>
          <p:cNvSpPr txBox="1"/>
          <p:nvPr/>
        </p:nvSpPr>
        <p:spPr>
          <a:xfrm>
            <a:off x="5085893" y="2534285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남북에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정부</a:t>
            </a:r>
            <a:endParaRPr lang="ko-KR" sz="2200" dirty="0"/>
          </a:p>
        </p:txBody>
      </p:sp>
      <p:sp>
        <p:nvSpPr>
          <p:cNvPr id="15" name="S16-label142"/>
          <p:cNvSpPr txBox="1"/>
          <p:nvPr/>
        </p:nvSpPr>
        <p:spPr>
          <a:xfrm>
            <a:off x="5085893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</a:t>
            </a:r>
            <a:endParaRPr lang="ko-KR" sz="1800" dirty="0"/>
          </a:p>
        </p:txBody>
      </p:sp>
      <p:sp>
        <p:nvSpPr>
          <p:cNvPr id="16" name="S16-event143"/>
          <p:cNvSpPr/>
          <p:nvPr/>
        </p:nvSpPr>
        <p:spPr>
          <a:xfrm>
            <a:off x="8084210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16-label144"/>
          <p:cNvSpPr txBox="1"/>
          <p:nvPr/>
        </p:nvSpPr>
        <p:spPr>
          <a:xfrm>
            <a:off x="7194499" y="2883535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</a:t>
            </a:r>
            <a:endParaRPr lang="ko-KR" sz="2200" dirty="0"/>
          </a:p>
        </p:txBody>
      </p:sp>
      <p:sp>
        <p:nvSpPr>
          <p:cNvPr id="18" name="S16-label145"/>
          <p:cNvSpPr txBox="1"/>
          <p:nvPr/>
        </p:nvSpPr>
        <p:spPr>
          <a:xfrm>
            <a:off x="7194499" y="3794760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1950년</a:t>
            </a:r>
            <a:endParaRPr lang="ko-KR" sz="1800" dirty="0"/>
          </a:p>
        </p:txBody>
      </p:sp>
      <p:sp>
        <p:nvSpPr>
          <p:cNvPr id="19" name="S16-event146"/>
          <p:cNvSpPr/>
          <p:nvPr/>
        </p:nvSpPr>
        <p:spPr>
          <a:xfrm>
            <a:off x="10192817" y="344728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16-label147"/>
          <p:cNvSpPr txBox="1"/>
          <p:nvPr/>
        </p:nvSpPr>
        <p:spPr>
          <a:xfrm>
            <a:off x="9303106" y="2883535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</a:t>
            </a:r>
            <a:endParaRPr lang="ko-KR" sz="2200" dirty="0"/>
          </a:p>
        </p:txBody>
      </p:sp>
      <p:sp>
        <p:nvSpPr>
          <p:cNvPr id="21" name="S16-label148"/>
          <p:cNvSpPr txBox="1"/>
          <p:nvPr/>
        </p:nvSpPr>
        <p:spPr>
          <a:xfrm>
            <a:off x="9303106" y="3794760"/>
            <a:ext cx="2017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1953년, 싸움을 멈춤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분단과 평화 통일</dc:title>
  <dc:subject>KR22-G06-SOC-PEACE-L01</dc:subject>
  <dc:creator>education-ppt</dc:creator>
  <cp:lastModifiedBy>education-ppt</cp:lastModifiedBy>
  <cp:revision>1</cp:revision>
  <dcterms:created xsi:type="dcterms:W3CDTF">2026-10-26T13:39:22Z</dcterms:created>
  <dcterms:modified xsi:type="dcterms:W3CDTF">2026-10-26T13:39:22Z</dcterms:modified>
</cp:coreProperties>
</file>