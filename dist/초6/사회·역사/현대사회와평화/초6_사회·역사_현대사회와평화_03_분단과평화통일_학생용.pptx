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aaeac57-0112-afd9-d4fa-26d70a062af9}">
          <p14:sldIdLst>
            <p14:sldId id="256"/>
            <p14:sldId id="257"/>
          </p14:sldIdLst>
        </p14:section>
        <p14:section name="개념" id="{cb259df3-30d5-b43f-b631-46c3ea0f0766}">
          <p14:sldIdLst>
            <p14:sldId id="258"/>
            <p14:sldId id="259"/>
            <p14:sldId id="260"/>
            <p14:sldId id="263"/>
            <p14:sldId id="265"/>
          </p14:sldIdLst>
        </p14:section>
        <p14:section name="연습" id="{e88bf95e-0914-a810-8e3c-5e88edf9d818}">
          <p14:sldIdLst>
            <p14:sldId id="261"/>
            <p14:sldId id="262"/>
            <p14:sldId id="264"/>
            <p14:sldId id="266"/>
            <p14:sldId id="267"/>
          </p14:sldIdLst>
        </p14:section>
        <p14:section name="개념" id="{b00fce60-86a6-3d9c-bbe7-cf04222f8db5}">
          <p14:sldIdLst/>
        </p14:section>
        <p14:section name="연습" id="{0edbf0df-3536-e526-9650-7ad9bc79fa29}">
          <p14:sldIdLst/>
        </p14:section>
        <p14:section name="개념" id="{63352062-5361-07fa-fd97-e99143c2b1c6}">
          <p14:sldIdLst/>
        </p14:section>
        <p14:section name="연습" id="{f3294b08-2207-af24-62b4-4b214e9b3da8}">
          <p14:sldIdLst/>
        </p14:section>
        <p14:section name="확인" id="{572a037b-092c-8f53-312d-0bb884ec7d1b}">
          <p14:sldIdLst>
            <p14:sldId id="268"/>
          </p14:sldIdLst>
        </p14:section>
        <p14:section name="정리" id="{db5fa4be-bcaf-c48f-8309-a69dc9dcd763}">
          <p14:sldIdLst>
            <p14:sldId id="269"/>
          </p14:sldIdLst>
        </p14:section>
        <p14:section name="보충" id="{7f791fc3-7573-5874-4c4c-728d5595c8c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현대사회와평화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분단과 평화 통일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분단과 평화 통일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분단과 평화 통일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분단과 평화 통일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북이 나뉘어 생긴 어려움은 무엇이고,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평화를 위해 어떤 노력을 할까요?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분단으로 생긴 어려움을 세 가지 이상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평화 통일을 위한 노력과 내가 할 수 있는 일을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북에 서로 다른 정부가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세워진 해는?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1953년 정전 협정으로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전쟁이 완전히 끝났나요?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산업화로 달라진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하나는?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분단의 모습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북은 70년 넘게 나뉘어 살고 있어요.</a:t>
            </a:r>
            <a:endParaRPr lang="ko-KR" sz="2800" dirty="0"/>
          </a:p>
        </p:txBody>
      </p:sp>
      <p:sp>
        <p:nvSpPr>
          <p:cNvPr id="5" name="S03-figure11" descr="간단히 나타낸 그림: 위쪽은 북한, 아래쪽은 대한민국이다. 가운데를 가로지르는 빨간 점선이 휴전선이고, 그 위아래로 노란 띠(비무장 지대)가 있다. 실제 지도가 아니다."/>
          <p:cNvSpPr/>
          <p:nvPr/>
        </p:nvSpPr>
        <p:spPr>
          <a:xfrm>
            <a:off x="1696041" y="1409700"/>
            <a:ext cx="3173730" cy="1632204"/>
          </a:xfrm>
          <a:custGeom>
            <a:avLst/>
            <a:gdLst/>
            <a:ahLst/>
            <a:cxnLst/>
            <a:rect l="l" t="t" r="r" b="b"/>
            <a:pathLst>
              <a:path w="3173730" h="1632204">
                <a:moveTo>
                  <a:pt x="0" y="1632204"/>
                </a:moveTo>
                <a:lnTo>
                  <a:pt x="3173730" y="1632204"/>
                </a:lnTo>
                <a:lnTo>
                  <a:pt x="3173730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AF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mark12"/>
          <p:cNvSpPr/>
          <p:nvPr/>
        </p:nvSpPr>
        <p:spPr>
          <a:xfrm>
            <a:off x="1696041" y="3041904"/>
            <a:ext cx="3173730" cy="362712"/>
          </a:xfrm>
          <a:custGeom>
            <a:avLst/>
            <a:gdLst/>
            <a:ahLst/>
            <a:cxnLst/>
            <a:rect l="l" t="t" r="r" b="b"/>
            <a:pathLst>
              <a:path w="3173730" h="362712">
                <a:moveTo>
                  <a:pt x="0" y="362712"/>
                </a:moveTo>
                <a:lnTo>
                  <a:pt x="3173730" y="362712"/>
                </a:lnTo>
                <a:lnTo>
                  <a:pt x="3173730" y="0"/>
                </a:lnTo>
                <a:lnTo>
                  <a:pt x="0" y="0"/>
                </a:lnTo>
                <a:close/>
              </a:path>
            </a:pathLst>
          </a:custGeom>
          <a:solidFill>
            <a:srgbClr val="F3E6A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mark13"/>
          <p:cNvSpPr/>
          <p:nvPr/>
        </p:nvSpPr>
        <p:spPr>
          <a:xfrm>
            <a:off x="1696041" y="3404616"/>
            <a:ext cx="3173730" cy="1632204"/>
          </a:xfrm>
          <a:custGeom>
            <a:avLst/>
            <a:gdLst/>
            <a:ahLst/>
            <a:cxnLst/>
            <a:rect l="l" t="t" r="r" b="b"/>
            <a:pathLst>
              <a:path w="3173730" h="1632204">
                <a:moveTo>
                  <a:pt x="0" y="1632204"/>
                </a:moveTo>
                <a:lnTo>
                  <a:pt x="3173730" y="1632204"/>
                </a:lnTo>
                <a:lnTo>
                  <a:pt x="3173730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mark14"/>
          <p:cNvSpPr/>
          <p:nvPr/>
        </p:nvSpPr>
        <p:spPr>
          <a:xfrm>
            <a:off x="1696041" y="3223260"/>
            <a:ext cx="317373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dash"/>
          </a:ln>
        </p:spPr>
      </p:sp>
      <p:sp>
        <p:nvSpPr>
          <p:cNvPr id="9" name="S03-mark15"/>
          <p:cNvSpPr/>
          <p:nvPr/>
        </p:nvSpPr>
        <p:spPr>
          <a:xfrm>
            <a:off x="4937779" y="3223260"/>
            <a:ext cx="29470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" name="S03-mark16"/>
          <p:cNvSpPr/>
          <p:nvPr/>
        </p:nvSpPr>
        <p:spPr>
          <a:xfrm flipV="1">
            <a:off x="4937779" y="2633853"/>
            <a:ext cx="294704" cy="45339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1" name="S03-label18"/>
          <p:cNvSpPr txBox="1"/>
          <p:nvPr/>
        </p:nvSpPr>
        <p:spPr>
          <a:xfrm>
            <a:off x="2954230" y="205117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북한</a:t>
            </a:r>
            <a:endParaRPr lang="ko-KR" sz="2200" dirty="0"/>
          </a:p>
        </p:txBody>
      </p:sp>
      <p:sp>
        <p:nvSpPr>
          <p:cNvPr id="12" name="S03-label20"/>
          <p:cNvSpPr txBox="1"/>
          <p:nvPr/>
        </p:nvSpPr>
        <p:spPr>
          <a:xfrm>
            <a:off x="2680418" y="4046093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대한민국</a:t>
            </a:r>
            <a:endParaRPr lang="ko-KR" sz="2200" dirty="0"/>
          </a:p>
        </p:txBody>
      </p:sp>
      <p:sp>
        <p:nvSpPr>
          <p:cNvPr id="13" name="S03-label22"/>
          <p:cNvSpPr txBox="1"/>
          <p:nvPr/>
        </p:nvSpPr>
        <p:spPr>
          <a:xfrm>
            <a:off x="5300491" y="304863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휴전선</a:t>
            </a:r>
            <a:endParaRPr lang="ko-KR" sz="2200" dirty="0"/>
          </a:p>
        </p:txBody>
      </p:sp>
      <p:sp>
        <p:nvSpPr>
          <p:cNvPr id="14" name="S03-label24"/>
          <p:cNvSpPr txBox="1"/>
          <p:nvPr/>
        </p:nvSpPr>
        <p:spPr>
          <a:xfrm>
            <a:off x="5300491" y="2445639"/>
            <a:ext cx="12984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비무장 지대</a:t>
            </a:r>
            <a:endParaRPr lang="ko-KR" sz="1800" dirty="0"/>
          </a:p>
        </p:txBody>
      </p:sp>
      <p:sp>
        <p:nvSpPr>
          <p:cNvPr id="15" name="S03-card25"/>
          <p:cNvSpPr/>
          <p:nvPr/>
        </p:nvSpPr>
        <p:spPr>
          <a:xfrm>
            <a:off x="6813652" y="1588008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3-cardtext26"/>
          <p:cNvSpPr txBox="1"/>
          <p:nvPr/>
        </p:nvSpPr>
        <p:spPr>
          <a:xfrm>
            <a:off x="7087972" y="1725168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휴전선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 협정으로 정한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북의 경계선</a:t>
            </a:r>
            <a:endParaRPr lang="ko-KR" sz="2800" dirty="0"/>
          </a:p>
        </p:txBody>
      </p:sp>
      <p:sp>
        <p:nvSpPr>
          <p:cNvPr id="17" name="S03-card27"/>
          <p:cNvSpPr/>
          <p:nvPr/>
        </p:nvSpPr>
        <p:spPr>
          <a:xfrm>
            <a:off x="6813652" y="3337560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3-cardtext28"/>
          <p:cNvSpPr txBox="1"/>
          <p:nvPr/>
        </p:nvSpPr>
        <p:spPr>
          <a:xfrm>
            <a:off x="7087972" y="3474720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비무장 지대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휴전선 남북으로 2 km씩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군대를 두지 않기로 한 땅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분단으로 생긴 어려움</a:t>
            </a:r>
            <a:endParaRPr lang="ko-KR" sz="4000" dirty="0"/>
          </a:p>
        </p:txBody>
      </p:sp>
      <p:sp>
        <p:nvSpPr>
          <p:cNvPr id="3" name="S04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분단이 오래 이어져서 생긴 어려움이에요.</a:t>
            </a:r>
            <a:endParaRPr lang="ko-KR" sz="2800" dirty="0"/>
          </a:p>
        </p:txBody>
      </p:sp>
      <p:sp>
        <p:nvSpPr>
          <p:cNvPr id="5" name="S04-card31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32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헤어진 가족을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만나지 못해요.</a:t>
            </a:r>
            <a:endParaRPr lang="ko-KR" sz="2800" dirty="0"/>
          </a:p>
        </p:txBody>
      </p:sp>
      <p:sp>
        <p:nvSpPr>
          <p:cNvPr id="7" name="S04-card33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34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군사비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지키는 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돈을 써요.</a:t>
            </a:r>
            <a:endParaRPr lang="ko-KR" sz="2800" dirty="0"/>
          </a:p>
        </p:txBody>
      </p:sp>
      <p:sp>
        <p:nvSpPr>
          <p:cNvPr id="9" name="S04-card35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36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 걱정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긴장이 높아지면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사람들이 불안해해요.</a:t>
            </a:r>
            <a:endParaRPr lang="ko-KR" sz="2800" dirty="0"/>
          </a:p>
        </p:txBody>
      </p:sp>
      <p:sp>
        <p:nvSpPr>
          <p:cNvPr id="11" name="S04-card37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38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말과 생활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떨어져 지내 말과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모습이 달라졌어요.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 할아버지의 편지</a:t>
            </a:r>
            <a:endParaRPr lang="ko-KR" sz="4000" dirty="0"/>
          </a:p>
        </p:txBody>
      </p:sp>
      <p:sp>
        <p:nvSpPr>
          <p:cNvPr id="3" name="S05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할아버지가 겪는 어려움은 무엇인가요? 왜 마음이 급할까요?</a:t>
            </a:r>
            <a:endParaRPr lang="ko-KR" sz="2800" dirty="0"/>
          </a:p>
        </p:txBody>
      </p:sp>
      <p:sp>
        <p:nvSpPr>
          <p:cNvPr id="5" name="S05-passagebox4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4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손녀에게 쓴 편지(꾸며 쓴 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할아버지 고향은 휴전선 북쪽의 작은 마을이란다. 전쟁 때 피란을 오다가 동생과 헤어졌어.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동생이 살아 있는지도 알 수 없구나. 만남을 신청했지만 아직 차례가 오지 않았단다.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이제 나이가 많아 마음이 급하구나. 고향 땅을 한 번만이라도 밟아 보고 싶어.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북한 말 짐작하기</a:t>
            </a:r>
            <a:endParaRPr lang="ko-KR" sz="40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북한에서 쓰는 낱말이에요. 무슨 뜻일까요?</a:t>
            </a:r>
            <a:endParaRPr lang="ko-KR" sz="2800" dirty="0"/>
          </a:p>
        </p:txBody>
      </p:sp>
      <p:sp>
        <p:nvSpPr>
          <p:cNvPr id="4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곽: 작은 상자 / 기척: 누가 있다는 것을 알리는 소리</a:t>
            </a:r>
            <a:endParaRPr lang="ko-KR" sz="2800" dirty="0"/>
          </a:p>
        </p:txBody>
      </p:sp>
      <p:sp>
        <p:nvSpPr>
          <p:cNvPr id="6" name="S06-chip4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4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곽밥</a:t>
            </a:r>
            <a:endParaRPr lang="ko-KR" sz="2800" dirty="0"/>
          </a:p>
        </p:txBody>
      </p:sp>
      <p:sp>
        <p:nvSpPr>
          <p:cNvPr id="8" name="S06-chip4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4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손기척</a:t>
            </a:r>
            <a:endParaRPr lang="ko-KR" sz="2800" dirty="0"/>
          </a:p>
        </p:txBody>
      </p:sp>
      <p:sp>
        <p:nvSpPr>
          <p:cNvPr id="10" name="S06-chip5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5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닭알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어려움일까요?</a:t>
            </a:r>
            <a:endParaRPr lang="ko-KR" sz="4000" dirty="0"/>
          </a:p>
        </p:txBody>
      </p:sp>
      <p:sp>
        <p:nvSpPr>
          <p:cNvPr id="3" name="S07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 · 군사비 · 전쟁 걱정 · 말과 생활</a:t>
            </a:r>
            <a:endParaRPr lang="ko-KR" sz="2800" dirty="0"/>
          </a:p>
        </p:txBody>
      </p:sp>
      <p:sp>
        <p:nvSpPr>
          <p:cNvPr id="5" name="S07-chip5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7-text5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할머니는 70년 넘게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오빠를 만나지 못했어요.</a:t>
            </a:r>
            <a:endParaRPr lang="ko-KR" sz="2800" dirty="0"/>
          </a:p>
        </p:txBody>
      </p:sp>
      <p:sp>
        <p:nvSpPr>
          <p:cNvPr id="7" name="S07-chip5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7-text5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살림에서 국방에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돈을 써요.</a:t>
            </a:r>
            <a:endParaRPr lang="ko-KR" sz="2800" dirty="0"/>
          </a:p>
        </p:txBody>
      </p:sp>
      <p:sp>
        <p:nvSpPr>
          <p:cNvPr id="9" name="S07-chip5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7-text59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북에서 온 친구가 낯선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어려워해요.</a:t>
            </a:r>
            <a:endParaRPr lang="ko-KR" sz="2800" dirty="0"/>
          </a:p>
        </p:txBody>
      </p:sp>
      <p:sp>
        <p:nvSpPr>
          <p:cNvPr id="11" name="S07-chip6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7-text61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긴장이 높아졌다는 소식에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사람들이 걱정해요.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평화 통일을 위한 노력</a:t>
            </a:r>
            <a:endParaRPr lang="ko-KR" sz="4000" dirty="0"/>
          </a:p>
        </p:txBody>
      </p:sp>
      <p:sp>
        <p:nvSpPr>
          <p:cNvPr id="3" name="S08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평화 통일: 전쟁 없이 대화와 교류로 하나가 되는 것</a:t>
            </a:r>
            <a:endParaRPr lang="ko-KR" sz="2800" dirty="0"/>
          </a:p>
        </p:txBody>
      </p:sp>
      <p:sp>
        <p:nvSpPr>
          <p:cNvPr id="5" name="S08-card64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65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 정상 회담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북의 대표가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 평화를 약속해요.</a:t>
            </a:r>
            <a:endParaRPr lang="ko-KR" sz="2800" dirty="0"/>
          </a:p>
        </p:txBody>
      </p:sp>
      <p:sp>
        <p:nvSpPr>
          <p:cNvPr id="7" name="S08-card66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7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 상봉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헤어진 가족이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잠시 만나요.</a:t>
            </a:r>
            <a:endParaRPr lang="ko-KR" sz="2800" dirty="0"/>
          </a:p>
        </p:txBody>
      </p:sp>
      <p:sp>
        <p:nvSpPr>
          <p:cNvPr id="9" name="S08-card68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69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체육 교류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 대회에 함께 입장하거나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팀으로 나가요.</a:t>
            </a:r>
            <a:endParaRPr lang="ko-KR" sz="2800" dirty="0"/>
          </a:p>
        </p:txBody>
      </p:sp>
      <p:sp>
        <p:nvSpPr>
          <p:cNvPr id="11" name="S08-card70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8-cardtext71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 교류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공연하고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우리말 사전을 만들어요.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이런 노력을 할까요?</a:t>
            </a:r>
            <a:endParaRPr lang="ko-KR" sz="4000" dirty="0"/>
          </a:p>
        </p:txBody>
      </p:sp>
      <p:sp>
        <p:nvSpPr>
          <p:cNvPr id="3" name="S09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S05의 편지와 S08의 카드를 떠올려요.</a:t>
            </a:r>
            <a:endParaRPr lang="ko-KR" sz="2800" dirty="0"/>
          </a:p>
        </p:txBody>
      </p:sp>
      <p:sp>
        <p:nvSpPr>
          <p:cNvPr id="5" name="S09-chip7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75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 정상 회담을 하는 까닭은?</a:t>
            </a:r>
            <a:endParaRPr lang="ko-KR" sz="2800" dirty="0"/>
          </a:p>
        </p:txBody>
      </p:sp>
      <p:sp>
        <p:nvSpPr>
          <p:cNvPr id="7" name="S09-chip7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77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 상봉을 서둘러야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까닭은?</a:t>
            </a:r>
            <a:endParaRPr lang="ko-KR" sz="2800" dirty="0"/>
          </a:p>
        </p:txBody>
      </p:sp>
      <p:sp>
        <p:nvSpPr>
          <p:cNvPr id="9" name="S09-chip7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79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체육 교류로 얻을 수 있는 것은?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생각할 점</a:t>
            </a:r>
            <a:endParaRPr lang="ko-KR" sz="4000" dirty="0"/>
          </a:p>
        </p:txBody>
      </p:sp>
      <p:sp>
        <p:nvSpPr>
          <p:cNvPr id="3" name="S10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생각은 여러 가지일 수 있지만, 평화로운 방법이어야 해요.</a:t>
            </a:r>
            <a:endParaRPr lang="ko-KR" sz="2800" dirty="0"/>
          </a:p>
        </p:txBody>
      </p:sp>
      <p:sp>
        <p:nvSpPr>
          <p:cNvPr id="5" name="S10-card82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6" name="S10-cardtext83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통일이 되면 기대하는 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이산가족이 만나요.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군사비를 다른 곳에 써요.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 걱정이 줄어요.</a:t>
            </a:r>
            <a:endParaRPr lang="ko-KR" sz="2800" dirty="0"/>
          </a:p>
        </p:txBody>
      </p:sp>
      <p:sp>
        <p:nvSpPr>
          <p:cNvPr id="7" name="S10-card84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8" name="S10-cardtext85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준비할 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말과 생활을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이해해야 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돈과 시간이 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통일은 누가 준비할까?</a:t>
            </a:r>
            <a:endParaRPr lang="ko-KR" sz="4000" dirty="0"/>
          </a:p>
        </p:txBody>
      </p:sp>
      <p:sp>
        <p:nvSpPr>
          <p:cNvPr id="3" name="S11-card8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평화 통일을 배우고 두 친구가 말했어요.</a:t>
            </a:r>
            <a:endParaRPr lang="ko-KR" sz="2800" dirty="0"/>
          </a:p>
        </p:txBody>
      </p:sp>
      <p:sp>
        <p:nvSpPr>
          <p:cNvPr id="5" name="S11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생각에 더 찬성하나요? 나는 무엇을 할 수 있을까요?</a:t>
            </a:r>
            <a:endParaRPr lang="ko-KR" sz="2800" dirty="0"/>
          </a:p>
        </p:txBody>
      </p:sp>
      <p:sp>
        <p:nvSpPr>
          <p:cNvPr id="7" name="S11-chip9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1-text9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“통일은 어른들과 정부가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일이라 나는 할 일이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없어요.”</a:t>
            </a:r>
            <a:endParaRPr lang="ko-KR" sz="2800" dirty="0"/>
          </a:p>
        </p:txBody>
      </p:sp>
      <p:sp>
        <p:nvSpPr>
          <p:cNvPr id="9" name="S11-chip9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1-text9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“북한의 말과 생활을 알아보고,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북에서 온 친구를 이웃으로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대하는 것도 준비예요.”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남북이 함께한 일 찾기</a:t>
            </a:r>
            <a:endParaRPr lang="ko-KR" sz="4000" dirty="0"/>
          </a:p>
        </p:txBody>
      </p:sp>
      <p:sp>
        <p:nvSpPr>
          <p:cNvPr id="3" name="S12-card94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5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함께한 일 하나를 찾았어요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무엇을 했는지 적었어요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평화에 준 도움을 말했어요</a:t>
            </a:r>
            <a:endParaRPr lang="ko-KR" sz="2800" dirty="0"/>
          </a:p>
        </p:txBody>
      </p:sp>
      <p:sp>
        <p:nvSpPr>
          <p:cNvPr id="5" name="S12-stepno96"/>
          <p:cNvSpPr txBox="1"/>
          <p:nvPr/>
        </p:nvSpPr>
        <p:spPr>
          <a:xfrm>
            <a:off x="548640" y="183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2-text97"/>
          <p:cNvSpPr txBox="1"/>
          <p:nvPr/>
        </p:nvSpPr>
        <p:spPr>
          <a:xfrm>
            <a:off x="1325880" y="1789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부모님과 함께 책이나 누리집을 찾아요.</a:t>
            </a:r>
            <a:endParaRPr lang="ko-KR" sz="2800" dirty="0"/>
          </a:p>
        </p:txBody>
      </p:sp>
      <p:sp>
        <p:nvSpPr>
          <p:cNvPr id="7" name="S12-stepno98"/>
          <p:cNvSpPr txBox="1"/>
          <p:nvPr/>
        </p:nvSpPr>
        <p:spPr>
          <a:xfrm>
            <a:off x="548640" y="286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2-text99"/>
          <p:cNvSpPr txBox="1"/>
          <p:nvPr/>
        </p:nvSpPr>
        <p:spPr>
          <a:xfrm>
            <a:off x="1325880" y="2821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남북이 함께한 일 하나를 골라요.</a:t>
            </a:r>
            <a:endParaRPr lang="ko-KR" sz="2800" dirty="0"/>
          </a:p>
        </p:txBody>
      </p:sp>
      <p:sp>
        <p:nvSpPr>
          <p:cNvPr id="9" name="S12-stepno100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2-text101"/>
          <p:cNvSpPr txBox="1"/>
          <p:nvPr/>
        </p:nvSpPr>
        <p:spPr>
          <a:xfrm>
            <a:off x="1325880" y="38541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어떻게 했는지 활동지에 적어요.</a:t>
            </a:r>
            <a:endParaRPr lang="ko-KR" sz="2800" dirty="0"/>
          </a:p>
        </p:txBody>
      </p:sp>
      <p:sp>
        <p:nvSpPr>
          <p:cNvPr id="11" name="S12-stepno102"/>
          <p:cNvSpPr txBox="1"/>
          <p:nvPr/>
        </p:nvSpPr>
        <p:spPr>
          <a:xfrm>
            <a:off x="548640" y="493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2-text103"/>
          <p:cNvSpPr txBox="1"/>
          <p:nvPr/>
        </p:nvSpPr>
        <p:spPr>
          <a:xfrm>
            <a:off x="1325880" y="48864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일이 평화에 준 도움을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chip10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10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분단으로 생긴 어려움 세 가지는?</a:t>
            </a:r>
            <a:endParaRPr lang="ko-KR" sz="2800" dirty="0"/>
          </a:p>
        </p:txBody>
      </p:sp>
      <p:sp>
        <p:nvSpPr>
          <p:cNvPr id="5" name="S13-chip10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10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평화 통일을 위한 노력 두 가지는?</a:t>
            </a:r>
            <a:endParaRPr lang="ko-KR" sz="2800" dirty="0"/>
          </a:p>
        </p:txBody>
      </p:sp>
      <p:sp>
        <p:nvSpPr>
          <p:cNvPr id="7" name="S13-chip10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3-text10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할 수 있는 일 하나와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1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1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분단으로 이산가족의 아픔 같은 여러 어려움이 생겼어요.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대화와 교류로 평화 통일을 준비해요.</a:t>
            </a:r>
            <a:endParaRPr lang="ko-KR" sz="2800" dirty="0"/>
          </a:p>
        </p:txBody>
      </p:sp>
      <p:sp>
        <p:nvSpPr>
          <p:cNvPr id="5" name="S15-chip11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서로 알고 이해하려 하기</a:t>
            </a:r>
            <a:endParaRPr lang="ko-KR" sz="2200" dirty="0"/>
          </a:p>
        </p:txBody>
      </p:sp>
      <p:sp>
        <p:nvSpPr>
          <p:cNvPr id="6" name="S15-chip11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나는 할 일이 없다고 여기기</a:t>
            </a:r>
            <a:endParaRPr lang="ko-KR" sz="2200" dirty="0"/>
          </a:p>
        </p:txBody>
      </p:sp>
      <p:sp>
        <p:nvSpPr>
          <p:cNvPr id="7" name="S15-text11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5-text11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이산가족이란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누구인가요?</a:t>
            </a:r>
            <a:endParaRPr lang="ko-KR" sz="2200" dirty="0"/>
          </a:p>
        </p:txBody>
      </p:sp>
      <p:sp>
        <p:nvSpPr>
          <p:cNvPr id="9" name="S15-text11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평화 통일을 위한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노력 하나는?</a:t>
            </a:r>
            <a:endParaRPr lang="ko-KR" sz="2200" dirty="0"/>
          </a:p>
        </p:txBody>
      </p:sp>
      <p:sp>
        <p:nvSpPr>
          <p:cNvPr id="10" name="S15-text11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북한 말 ‘곽밥’은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남한 말로?</a:t>
            </a:r>
            <a:endParaRPr lang="ko-KR" sz="2200" dirty="0"/>
          </a:p>
        </p:txBody>
      </p:sp>
      <p:sp>
        <p:nvSpPr>
          <p:cNvPr id="11" name="S15-text11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국가 기관의 역할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분단이 굳어지기까지</a:t>
            </a:r>
            <a:endParaRPr lang="ko-KR" sz="4000" dirty="0"/>
          </a:p>
        </p:txBody>
      </p:sp>
      <p:sp>
        <p:nvSpPr>
          <p:cNvPr id="3" name="S16-text1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5학년 때 배운 흐름을 다시 봐요.</a:t>
            </a:r>
            <a:endParaRPr lang="ko-KR" sz="2800" dirty="0"/>
          </a:p>
        </p:txBody>
      </p:sp>
      <p:sp>
        <p:nvSpPr>
          <p:cNvPr id="4" name="S16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정전은 싸움을 멈춘 것이에요. 그래서 지금도 휴전선이 있어요.</a:t>
            </a:r>
            <a:endParaRPr lang="ko-KR" sz="2800" dirty="0"/>
          </a:p>
        </p:txBody>
      </p:sp>
      <p:sp>
        <p:nvSpPr>
          <p:cNvPr id="6" name="S16-line122"/>
          <p:cNvSpPr/>
          <p:nvPr/>
        </p:nvSpPr>
        <p:spPr>
          <a:xfrm>
            <a:off x="822960" y="3566160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16-event123"/>
          <p:cNvSpPr/>
          <p:nvPr/>
        </p:nvSpPr>
        <p:spPr>
          <a:xfrm>
            <a:off x="1758391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16-label124"/>
          <p:cNvSpPr txBox="1"/>
          <p:nvPr/>
        </p:nvSpPr>
        <p:spPr>
          <a:xfrm>
            <a:off x="868680" y="2883535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</a:t>
            </a:r>
            <a:endParaRPr lang="ko-KR" sz="2200" dirty="0"/>
          </a:p>
        </p:txBody>
      </p:sp>
      <p:sp>
        <p:nvSpPr>
          <p:cNvPr id="9" name="S16-label125"/>
          <p:cNvSpPr txBox="1"/>
          <p:nvPr/>
        </p:nvSpPr>
        <p:spPr>
          <a:xfrm>
            <a:off x="868680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1945년</a:t>
            </a:r>
            <a:endParaRPr lang="ko-KR" sz="1800" dirty="0"/>
          </a:p>
        </p:txBody>
      </p:sp>
      <p:sp>
        <p:nvSpPr>
          <p:cNvPr id="10" name="S16-event126"/>
          <p:cNvSpPr/>
          <p:nvPr/>
        </p:nvSpPr>
        <p:spPr>
          <a:xfrm>
            <a:off x="3866998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16-label127"/>
          <p:cNvSpPr txBox="1"/>
          <p:nvPr/>
        </p:nvSpPr>
        <p:spPr>
          <a:xfrm>
            <a:off x="2977286" y="2534285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38도선으로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나뉨</a:t>
            </a:r>
            <a:endParaRPr lang="ko-KR" sz="2200" dirty="0"/>
          </a:p>
        </p:txBody>
      </p:sp>
      <p:sp>
        <p:nvSpPr>
          <p:cNvPr id="12" name="S16-label128"/>
          <p:cNvSpPr txBox="1"/>
          <p:nvPr/>
        </p:nvSpPr>
        <p:spPr>
          <a:xfrm>
            <a:off x="2977286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남북에 다른 군대</a:t>
            </a:r>
            <a:endParaRPr lang="ko-KR" sz="1800" dirty="0"/>
          </a:p>
        </p:txBody>
      </p:sp>
      <p:sp>
        <p:nvSpPr>
          <p:cNvPr id="13" name="S16-event129"/>
          <p:cNvSpPr/>
          <p:nvPr/>
        </p:nvSpPr>
        <p:spPr>
          <a:xfrm>
            <a:off x="5975604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16-label130"/>
          <p:cNvSpPr txBox="1"/>
          <p:nvPr/>
        </p:nvSpPr>
        <p:spPr>
          <a:xfrm>
            <a:off x="5085893" y="2534285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남북에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정부</a:t>
            </a:r>
            <a:endParaRPr lang="ko-KR" sz="2200" dirty="0"/>
          </a:p>
        </p:txBody>
      </p:sp>
      <p:sp>
        <p:nvSpPr>
          <p:cNvPr id="15" name="S16-label131"/>
          <p:cNvSpPr txBox="1"/>
          <p:nvPr/>
        </p:nvSpPr>
        <p:spPr>
          <a:xfrm>
            <a:off x="5085893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1948년</a:t>
            </a:r>
            <a:endParaRPr lang="ko-KR" sz="1800" dirty="0"/>
          </a:p>
        </p:txBody>
      </p:sp>
      <p:sp>
        <p:nvSpPr>
          <p:cNvPr id="16" name="S16-event132"/>
          <p:cNvSpPr/>
          <p:nvPr/>
        </p:nvSpPr>
        <p:spPr>
          <a:xfrm>
            <a:off x="8084210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16-label133"/>
          <p:cNvSpPr txBox="1"/>
          <p:nvPr/>
        </p:nvSpPr>
        <p:spPr>
          <a:xfrm>
            <a:off x="7194499" y="2883535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</a:t>
            </a:r>
            <a:endParaRPr lang="ko-KR" sz="2200" dirty="0"/>
          </a:p>
        </p:txBody>
      </p:sp>
      <p:sp>
        <p:nvSpPr>
          <p:cNvPr id="18" name="S16-label134"/>
          <p:cNvSpPr txBox="1"/>
          <p:nvPr/>
        </p:nvSpPr>
        <p:spPr>
          <a:xfrm>
            <a:off x="7194499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1950년</a:t>
            </a:r>
            <a:endParaRPr lang="ko-KR" sz="1800" dirty="0"/>
          </a:p>
        </p:txBody>
      </p:sp>
      <p:sp>
        <p:nvSpPr>
          <p:cNvPr id="19" name="S16-event135"/>
          <p:cNvSpPr/>
          <p:nvPr/>
        </p:nvSpPr>
        <p:spPr>
          <a:xfrm>
            <a:off x="10192817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16-label136"/>
          <p:cNvSpPr txBox="1"/>
          <p:nvPr/>
        </p:nvSpPr>
        <p:spPr>
          <a:xfrm>
            <a:off x="9303106" y="2883535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 협정</a:t>
            </a:r>
            <a:endParaRPr lang="ko-KR" sz="2200" dirty="0"/>
          </a:p>
        </p:txBody>
      </p:sp>
      <p:sp>
        <p:nvSpPr>
          <p:cNvPr id="21" name="S16-label137"/>
          <p:cNvSpPr txBox="1"/>
          <p:nvPr/>
        </p:nvSpPr>
        <p:spPr>
          <a:xfrm>
            <a:off x="9303106" y="3794760"/>
            <a:ext cx="20171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1953년, 싸움을 멈춤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분단과 평화 통일</dc:title>
  <dc:subject>KR22-G06-SOC-PEACE-L01</dc:subject>
  <dc:creator>education-ppt</dc:creator>
  <cp:lastModifiedBy>education-ppt</cp:lastModifiedBy>
  <cp:revision>1</cp:revision>
  <dcterms:created xsi:type="dcterms:W3CDTF">2026-10-26T13:52:13Z</dcterms:created>
  <dcterms:modified xsi:type="dcterms:W3CDTF">2026-10-26T13:52:13Z</dcterms:modified>
</cp:coreProperties>
</file>