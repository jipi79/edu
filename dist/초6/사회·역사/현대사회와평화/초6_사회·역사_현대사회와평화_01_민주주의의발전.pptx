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161593d3-c3a8-6f6c-4b23-c6c26eac384c}">
          <p14:sldIdLst>
            <p14:sldId id="256"/>
            <p14:sldId id="257"/>
          </p14:sldIdLst>
        </p14:section>
        <p14:section name="개념" id="{b42c9ec1-8d94-890c-4053-b3e082340cc3}">
          <p14:sldIdLst>
            <p14:sldId id="258"/>
            <p14:sldId id="259"/>
            <p14:sldId id="260"/>
            <p14:sldId id="262"/>
            <p14:sldId id="263"/>
            <p14:sldId id="266"/>
          </p14:sldIdLst>
        </p14:section>
        <p14:section name="연습" id="{e6d1b7dd-cc97-d689-17fd-07e91662391e}">
          <p14:sldIdLst>
            <p14:sldId id="261"/>
            <p14:sldId id="264"/>
            <p14:sldId id="265"/>
          </p14:sldIdLst>
        </p14:section>
        <p14:section name="개념" id="{4f8faad0-4eab-ddf0-8497-e2d47e1af43a}">
          <p14:sldIdLst/>
        </p14:section>
        <p14:section name="연습" id="{8ae69d9b-87fb-7dd3-d0d7-36e403080983}">
          <p14:sldIdLst/>
        </p14:section>
        <p14:section name="개념" id="{5276b587-f7ab-d25e-84f8-59b057aa7da5}">
          <p14:sldIdLst/>
        </p14:section>
        <p14:section name="확인" id="{7c3ea867-041f-943e-e789-1690d923781f}">
          <p14:sldIdLst>
            <p14:sldId id="267"/>
            <p14:sldId id="268"/>
          </p14:sldIdLst>
        </p14:section>
        <p14:section name="정리" id="{94f23249-4ad8-e5d1-4c6c-aa82c50153b0}">
          <p14:sldIdLst>
            <p14:sldId id="269"/>
          </p14:sldIdLst>
        </p14:section>
        <p14:section name="보충" id="{0f36ce2d-2e0c-52b2-b90e-3b71865ee581}">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배울 것을 알리고, 지난 시간의 ‘국민이 대표를 뽑은 총선거’와 이어 민주주의에 관심을 엽니다.
시간: 약 2분
이렇게 말해 보세요
- “지난 시간에 1948년, 국민이 처음으로 투표해 대표를 뽑았다고 했지? 그럼 그 뒤로 우리나라는 쭉 국민이 주인인 나라였을까?”
- “오늘은 민주주의가 흔들릴 때마다 학생과 시민들이 어떻게 나섰는지, 그래서 무엇이 바뀌었는지 알아볼 거야.”
예상 답
- “네, 그때부터 민주주의 나라예요.” “잘 모르겠어요.”
막히면
- 답을 고치지 말고 “오늘 함께 확인해 보자.”라고 넘어갑니다(S04에서 다시 봅니다).
주의
- 민주화 운동에는 아픈 일도 있었습니다. 장면을 자세히 묘사하지 않고, 사람들이 무엇을 바라고 노력했는지에 초점을 둡니다.
- 오늘날의 정치인·정당 이야기로 넘어가지 않습니다. 아이가 물으면 “오늘은 그때 시민들이 무엇을 바랐는지에 집중하자.”라고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확인(광복과 6·25전쟁)]
목적: 앞 차시 ‘광복과 6·25전쟁’(KR22-G05-SOC-LIBERATION-L01)의 정부 수립과 총선거, 6·25 전쟁의 해를 기억하는지 확인합니다. 오늘 시간 띠의 출발점이 됩니다.
시간: 약 3분
이렇게 말해 보세요
- “지난 시간에 배운 것을 세 가지 물어볼게. 해는 대충 말해도 괜찮아.”
정답
- ① 1948년(8월 15일)
- ② 국민이 처음으로 직접 투표해 대표를 뽑았기 때문이에요(국민이 나라의 주인이 됨).
- ③ 1950년에 시작, 1953년에 정전 협정
막히면
- ②를 어려워하면 “조선 때는 누가 나라를 다스렸지? 1948년에는 누가 대표를 뽑았어?”라고 묻습니다.
- 세 문제 가운데 두 개 이상 어려워하면 S15(보충)를 먼저 합니다. 보충으로도 어려우면 앞 차시 ‘광복과 6·25전쟁’(KR22-G05-SOC-LIBERATION-L01)을 다시 합니다.
주의
- ②의 ‘국민이 주인’이라는 생각은 S03의 민주주의 뜻으로 바로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민주주의·독재·민주화 운동의 뜻]
목적: 오늘 쓰는 세 낱말(민주주의, 독재, 민주화 운동)의 뜻을 알려 주고, 정부 수립만으로 민주주의가 완성되지 않았다는 것을 짚습니다(목표 B, 오해 M1).
시간: 약 2분
이렇게 말해 보세요
- “‘권력’은 나라의 일을 정하고 사람들에게 따르게 할 수 있는 힘이야. 민주주의에서는 이 힘이 국민에게서 나와.”
- “그런데 한 사람이 선거를 마음대로 바꾸거나, 국민의 뜻과 상관없이 오래 권력을 쥐고 있으면 어떻게 될까?”
- “그럴 때 학생과 시민들이 ‘국민이 주인이다’라고 외친 것을 민주화 운동이라고 해.”
예상 답
- “국민이 하고 싶은 말을 못 해요.” “불공평해요.”
막히면
- “반장이 학급 규칙을 혼자 정하고 바꾸면 어떨까?”처럼 학급의 예로 묻습니다.
주의
- 어느 한 사람을 나쁜 사람으로 몰기보다 ‘권력이 한쪽에 몰리면 국민의 뜻이 무시될 수 있다’는 데 초점을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민주주의 발전의 큰 흐름(시간 띠)]
목적: 오늘 배울 세 사건을 시간 띠에 놓아 큰 흐름을 먼저 보여 줍니다(목표 A, 오해 M1·M3).
시간: 약 3분
이렇게 말해 보세요
- “1948년에 정부가 세워졌지. 그 뒤로 1960년, 1980년, 1987년에 시민들이 크게 나섰어. 사건 이름을 하나씩 같이 읽어 볼까?”
- “5·18 민주화 운동은 어느 도시에서 일어났다고 쓰여 있어?”
- “세 사건 사이는 몇 해씩 떨어져 있을까? 손가락으로 짚어 봐.”
예상 답
- “광주요.” “20년, 7년쯤이요.”
정답
- 1960년 → 1980년은 20년, 1980년 → 1987년은 7년 차이입니다.
막히면
- 시간 띠의 점을 왼쪽부터 짚으며 “그다음에는?”이라고 묻습니다.
주의
- 아이가 사이의 일을 물으면 짧게만 답합니다: 4·19 혁명 뒤 들어선 정부는 1961년 군인들이 일으킨 정변으로 물러났고, 그 뒤 한 대통령이 오랫동안 나라를 이끌었습니다. 1972년부터 1987년까지는 국민이 대통령을 직접 뽑지 못했습니다.
- 사건 이름의 숫자는 날짜입니다. 4·19는 4월 19일, 5·18은 5월 18일을 뜻합니다.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자료 읽기(4·19 혁명)]
목적: 꾸며 쓴 이야기로 4·19 혁명의 까닭(부정 선거와 독재), 시민들이 바란 것(공정한 선거), 결과(대통령이 물러남)를 찾습니다(목표 A).
시간: 약 3분
이렇게 말해 보세요
- “이 글은 실제 한 사람의 이야기가 아니라, 그때 많은 사람이 겪은 일을 바탕으로 꾸며 쓴 글이야. 소리 내어 읽어 볼래?”
- “‘부정 선거’는 규칙을 어기고 결과를 미리 정해 버리는 선거야. 투표함을 바꾸면 국민의 뜻은 어떻게 될까?”
- “①에서 사람들이 맞선 것, ②에서 바란 것, ③에서 바뀐 것을 찾아볼래?”
예상 답
- “부정 선거에 맞섰어요.” “공정하게 다시 선거하라고 했어요.” “대통령이 물러났어요.”
막히면
- “반장 선거에서 누가 투표함에 미리 표를 넣어 두었다면 너는 어떻게 할 거야?”라고 아이의 일로 바꾸어 묻습니다.
주의
- 당시 이승만 정부는 오랫동안 권력을 이어 가려고 이 선거에서 부정을 저질렀습니다. 4·19 혁명은 학생과 시민의 힘으로 독재 정부를 물러나게 한 일로 배웁니다.
- 시위 과정에서 다치거나 목숨을 잃은 사람도 있었다는 것은 담담히 한 문장으로만 말합니다.
- 4월 19일은 4·19 혁명 기념일입니다(활동지 4에서 찾아봅니다).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안내받는 연습(4·19 혁명 정리)]
목적: 한 사건을 ‘맞선 것 → 바란 것 → 바뀐 것’으로 정리하는 방법을 익힙니다. 뒤의 두 사건도 같은 틀로 봅니다(목표 A).
시간: 약 3분
이렇게 말해 보세요
- “①부터 하나씩 말해 볼래? 이야기의 몇 번 문단에서 찾았는지도 말해 줘.”
- “이 세 가지 틀로 다음 두 사건도 볼 거야.”
정답
- ① 부정 선거, 오랫동안 권력을 이어 가려는 독재(① 문단)
- ② 선거를 공정하게 다시 하는 것, 독재를 멈추는 것(② 문단)
- ③ 대통령이 물러나고 새로 선거를 치렀어요(③ 문단).
- 기준: 세 가지를 문단에서 찾아 자기 말로 말하면 맞음
막히면
- S05로 돌아가 문단 번호를 짚으며 “여기서 사람들은 무엇을 외쳤지?”라고 묻습니다.
주의
- ②에서 ‘대통령이 물러나는 것’이라고만 말해도 받아 주되, “왜 물러나라고 했을까?”라고 한 번 더 물어 ‘공정한 선거’로 이어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자료 읽기(5·18 민주화 운동)]
목적: 꾸며 쓴 이야기로 5·18 민주화 운동에서 시민들이 바란 것(민주주의 회복)과 서로 도운 모습, 그 뒤의 의미를 찾습니다(목표 A, 오해 M2).
시간: 약 3분
이렇게 말해 보세요
- “1980년, 군인 세력이 나라의 권력을 잡으려 했어. 광주의 학생과 시민들은 무엇을 외쳤을까? ① 문단에서 찾아볼래?”
- “② 문단에서 어려운 가운데도 시민들이 한 일은 무엇이었어?”
- “③ 문단을 보면, 이 일은 그때로 끝났을까?”
예상 답
- “민주주의를 되찾자고 했어요.” “주먹밥을 나누고 헌혈했어요.” “다음 민주화 운동으로 이어졌어요.”
정답
- 바란 것: 군인 세력이 물러나고 민주주의를 되찾는 것
- 서로 도운 모습: 주먹밥 나누기, 헌혈 / 그 뒤: 정신이 이어지고 기록물이 세계 기록 유산이 됨
막히면
- “시민들은 누가 나라의 주인이어야 한다고 생각했을까?”라고 묻습니다.
주의
- 당시 전두환 등을 중심으로 한 군인 세력(신군부)이 권력을 잡으려 했고, 이에 맞선 광주 시민들을 계엄군이 무력으로 진압했습니다. 진압 장면이나 희생자 수는 말하지 않고 ‘많은 사람이 다치고 목숨을 잃었다’까지만 담담히 말합니다.
- 그때는 진실이 널리 알려지지 않았지만 뒤에 밝혀졌습니다. 5월 18일은 국가 기념일이고, 광주에 국립 5·18 민주 묘지가 있습니다.
- 아이가 무서워하면 “사람들이 서로 돕고 민주주의를 지키려 한 이야기야. 그래서 오늘 우리가 기억하는 거야.”라고 안심시킵니다.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자료 읽기(6월 민주 항쟁)]
목적: 꾸며 쓴 이야기로 6월 민주 항쟁에서 시민들이 바란 것(대통령 직선제)과 결과(헌법을 고쳐 직선제)를 찾습니다(목표 A).
시간: 약 3분
이렇게 말해 보세요
- “국민이 직접 뽑는 것과 대표들이 모여 뽑는 것은 무엇이 다를까?”
- “② 문단에서 거리로 나선 사람은 누구누구야? 학생만이었어?”
- “③ 문단에서 무엇이 바뀌었어? 헌법은 나라의 가장 기본이 되는 법이야.”
예상 답
- “직접 뽑으면 내 뜻이 바로 들어가요.” “회사원도 나왔어요.” “국민이 대통령을 직접 뽑게 됐어요.”
정답
- 바란 것: 국민이 대통령을 직접 뽑을 수 있게 헌법을 고치는 것(대통령 직선제), 독재를 멈추는 것
- 바뀐 것: 헌법을 고쳐 국민이 대통령을 직접 뽑게 되었어요.
막히면
- “반장을 우리 반 모두가 뽑는 것과, 몇몇 대표만 모여 뽑는 것 가운데 어느 쪽이 우리 반의 뜻을 더 잘 담을까?”라고 묻습니다.
주의
- 그해 정부가 헌법을 고치지 않겠다고 발표하고, 대학생이 경찰 조사를 받다 숨진 일이 알려지면서 많은 시민이 함께 나섰습니다. 사람들은 ‘독재 타도, 호헌 철폐(지금 헌법을 지키겠다는 것에 반대)’를 외쳤습니다. 궁금해하면 알려 주는 정도로만 말합니다.
- 1972년부터 이때까지는 대통령을 간접 선거로 뽑았습니다. 6월 민주 항쟁 뒤 지방 자치제가 다시 실시되는 등 민주주의가 넓어졌습니다.
- 6월 10일은 6·10 민주 항쟁 기념일입니다.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안내받는 연습(세 사건 정리표)]
목적: 세 사건의 바란 것과 바뀐 것을 한 표로 정리해, 사건끼리 섞지 않게 합니다(목표 A, 오해 M3).
시간: 약 4분
이렇게 말해 보세요
- “첫 줄은 S06에서 함께 정리한 4·19 혁명이야. 둘째 줄, 광주 시민들이 바란 것은?”
- “5·18 민주화 운동은 그때 무엇이 바뀌었을까? 바로 바뀌지 않았다면, 그 뒤에는?”
- “셋째 줄도 채워 볼래?”
정답
- 5·18 민주화 운동 – 바란 것: 군인 세력이 물러나고 민주주의를 되찾기 / 바뀐 것: 그때는 무력으로 진압되었지만, 그 정신이 6월 민주 항쟁으로 이어졌어요(오늘날 국가 기념일, 기록물은 세계 기록 유산).
- 6월 민주 항쟁 – 바란 것: 대통령을 국민이 직접 뽑기(헌법 고치기), 독재 멈추기 / 바뀐 것: 헌법을 고쳐 대통령 직선제가 되었어요.
- 기준: 사건마다 바란 것과 바뀐 것을 섞지 않고 말하면 맞음
막히면
- S07·S08의 ③ 문단을 다시 보여 줍니다.
주의
- 아이가 ‘4·19 혁명으로 직선제가 되었다’처럼 섞으면 S08의 ③ 문단을 함께 읽고 고칩니다.
- 활동지 2에 같은 표가 있습니다. 말로 한 것을 수업 뒤에 옮겨 써도 됩니다.
- 여기까지가 세 사건을 알아보는 부분입니다. 아이가 지치면 여기서 나누어 다음 날 S10부터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오해 비교(진압된 운동은 소용없었을까)]
목적: 그때 진압된 운동도 뒤의 민주화로 이어졌다는 것을 근거로 말하게 합니다(목표 B, 오해 M2).
시간: 약 3분
이렇게 말해 보세요
- “가의 말에도 맞는 부분이 있을까? 1980년 그때 바로 바뀐 것이 있었어?”
- “그럼 7년 뒤 1987년에는 어떤 일이 있었지? 5·18을 기억한 사람들은 어떤 마음이었을까?”
정답
- 나. 1980년에는 무력으로 진압되었지만, 광주 시민들의 정신이 알려지면서 1987년 6월 민주 항쟁으로 이어졌고, 오늘날 국가 기념일이 되고 기록물이 세계 기록 유산이 되었기 때문이에요.
- 기준: ‘그 뒤로 이어졌다’는 근거(6월 민주 항쟁, 기념일, 세계 기록 유산 가운데 하나)를 들면 잘함
막히면
- S07의 ③ 문단을 다시 읽고 “이 일은 그때로 끝났을까?”라고 묻습니다.
- “지난 시간에 3·1 운동이 바로 독립을 이루지 못했어도 임시 정부로 이어졌지? 비슷한 점이 있을까?”라고 앞 학년의 예로 묻습니다.
주의
- 가의 말을 ‘틀렸다’고 하기보다 ‘그때만 보면 그렇게 보일 수 있지만, 그 뒤까지 보면?’으로 생각을 넓혀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세 사건의 공통점과 오늘날의 민주주의]
목적: 세 사건의 공통점을 ‘누가 – 무엇을 – 그래서’로 정리하고, 오늘날 시민이 민주주의를 지키는 방법으로 이어 줍니다(목표 B, 오해 M1·M4).
시간: 약 3분
이렇게 말해 보세요
- “세 이야기에서 거리로 나선 사람들은 누구였지? 대통령이나 정치인이었어?”
- “세 사건에서 사람들이 바란 것은 무엇이 닮았어?”
- “오늘날 우리는 거리로 나서지 않아도 민주주의를 지킬 수 있어. 어떻게 할 수 있을까?”
예상 답
- “학생과 시민이요.” “모두 국민이 주인인 나라를 바랐어요.”
- “투표해요.” “의견을 말해요.” “다른 사람 의견도 들어요.” “학급 회의에서 함께 정해요.”
막히면
- S09의 표를 다시 보며 ‘바란 것’ 칸을 위아래로 읽고 “닮은 낱말이 있어?”라고 묻습니다.
주의
- 오늘날의 방법은 선거, 의견 내기(서명, 누리집 의견 등), 다른 생각 존중하기 정도로만 말합니다. 선거의 원칙과 여러 참여 방법은 ‘시민 참여와 선거’에서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혼자 해 보기(차례, 바란 것, 바뀐 것, 공통점)]
목적: 세 사건의 차례와 해, 사건별로 바란 것과 바뀐 것, 공통점을 도움 없이 말하는지 확인합니다(목표 A·B).
시간: 약 5분
이렇게 말해 보세요
- “이번에는 혼자 해 볼래? ①은 활동지 1의 시간 띠에 써도 돼.”
- “다 하면 왜 그렇게 생각했는지 말해 줘.”
정답
- ① 4·19 혁명(1960년) → 5·18 민주화 운동(1980년) → 6월 민주 항쟁(1987년)
- ② 부정 선거를 바로잡고 선거를 공정하게 다시 하기, 독재를 멈추기
- ③ 헌법을 고쳐 국민이 대통령을 직접 뽑게 되었어요(대통령 직선제).
- ④ 예: 학생과 시민들이 독재에 맞서 국민이 주인인 나라를 바랐고, 그 노력으로 민주주의가 발전했어요.
- 기준: 네 문제 가운데 세 개 이상, 그리고 ④에서 ‘시민의 노력’을 말하면 목표를 이룬 것으로 봅니다.
막히면
- 바로 알려 주지 말고 ①은 “해가 가장 이른 것부터 놓아 봐.”, ③은 “할아버지 이야기의 마지막 문단을 떠올려 봐.”라고만 묻습니다.
- 도움을 받아 해결했다면 기록표에 ‘도움’으로 표시합니다.
주의
- ④는 아이의 말로 하면 됩니다. ‘사람들이 싸웠다’처럼만 말하면 “무엇을 바라고 나섰어?”라고 한 번 더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정답과 피드백]
목적: S12의 답을 확인하고 흔한 실수와 견줍니다.
시간: 약 2분
이렇게 말해 보세요
- “네 답과 왼쪽을 견주어 보자. 오른쪽 두 생각은 무엇을 놓쳤을까?”
예상 답
- “직선제는 6월 민주 항쟁 때예요.” “5·18 정신이 1987년으로 이어졌어요.”
정답
- ① 4·19 혁명(1960년) → 5·18 민주화 운동(1980년) → 6월 민주 항쟁(1987년) ② 공정한 선거, 독재 멈추기 ③ 헌법을 고쳐 대통령 직선제 ④ 학생과 시민이 독재에 맞서 민주주의를 지키고 키웠다
막히면
- ①은 S04, ②③은 S09, ④는 S11을 다시 봅니다.
주의
- 이 장은 학생용 파일에서 빠집니다.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 첫 5분에 풀 복습 질문을 알려 줍니다.
시간: 약 2분
이렇게 말해 보세요
- “오늘 배운 세 사건 가운데 가장 마음에 남는 것은 무엇이야? 왜 그래?”
- “오늘날 너는 어떻게 민주주의를 지킬 수 있을까?”
예상 답
- “주먹밥을 나눈 광주 시민들이요. 어려워도 서로 도와서요.”
- “학급 회의에서 의견을 말하고, 다른 친구 말도 들을래요.”
정답
- ① 1960년 ② 헌법을 고쳐 국민이 대통령을 직접 뽑게 되었다 ③ 광주
막히면
- S04의 시간 띠와 S09의 표를 다시 보여 줍니다.
주의
- 활동지 4(기념일 찾기, 어른께 여쭈기)는 수업 뒤에 함께 해도 됩니다.
- 다음 차시 ‘산업화와 생활 변화’에서는 같은 시기에 경제가 어떻게 자랐는지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보충(광복에서 6·25 전쟁까지 다시 보기)]
목적: S02에서 지난 차시의 흐름을 어려워하면 광복부터 정전 협정까지를 시간 띠로 다시 익히고, ‘국민이 주인’이라는 생각을 오늘 수업으로 이어 줍니다.
시간: 약 4분
이렇게 말해 보세요
- “시간 띠를 왼쪽부터 같이 읽어 보자. 1945년에 무슨 일이 있었지?”
- “1948년 총선거에서는 누가 대표를 뽑았어? 왜 그게 소중할까?”
- “이번에는 화면을 가리고 차례로 말해 볼래?”
정답
- 1945년 광복 → 1948년 총선거와 대한민국 정부 수립 → 1950년 6·25 전쟁 시작 → 1953년 정전 협정
- 총선거: 국민이 처음으로 직접 투표해 대표를 뽑아 나라의 주인이 되었어요.
막히면
- 종이 카드 네 장에 일을 써서 차례로 놓아 보게 합니다.
주의
- 이 차시의 계획상 선수 차시는 ‘광복과 6·25전쟁’(KR22-G05-SOC-LIBERATION-L01)입니다. 보충 뒤에도 어려우면 그 차시를 다시 하고 오늘 수업은 다음 날 S02부터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사회·역사 · 현대사회와평화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초6 사회·역사 · 민주주의의 발전</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사회·역사 · 민주주의의 발전</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초6 사회·역사 · 민주주의의 발전</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민주주의의 발전</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국민이 나라의 주인이 되기까지</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어떤 노력이 있었을까요?</a:t>
            </a:r>
            <a:endParaRPr lang="ko-KR" sz="2800" dirty="0"/>
          </a:p>
        </p:txBody>
      </p:sp>
      <p:sp>
        <p:nvSpPr>
          <p:cNvPr id="4" name="S01-card1"/>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5" name="S01-cardtext2"/>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민주화 운동 세 가지를 차례로 놓고 시민들이 바란 것을 말해요.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민주주의가 시민의 노력으로 발전했음을 설명해요.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시간 떠올리기</a:t>
            </a:r>
            <a:endParaRPr lang="ko-KR" sz="4000" dirty="0"/>
          </a:p>
        </p:txBody>
      </p:sp>
      <p:sp>
        <p:nvSpPr>
          <p:cNvPr id="3" name="S02-chip3"/>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4" name="S02-text4"/>
          <p:cNvSpPr txBox="1"/>
          <p:nvPr/>
        </p:nvSpPr>
        <p:spPr>
          <a:xfrm>
            <a:off x="1344168" y="132588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대한민국 정부가 세워진 해는?</a:t>
            </a:r>
            <a:endParaRPr lang="ko-KR" sz="2800" dirty="0"/>
          </a:p>
        </p:txBody>
      </p:sp>
      <p:sp>
        <p:nvSpPr>
          <p:cNvPr id="5" name="S02-chip5"/>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6" name="S02-text6"/>
          <p:cNvSpPr txBox="1"/>
          <p:nvPr/>
        </p:nvSpPr>
        <p:spPr>
          <a:xfrm>
            <a:off x="1344168" y="301752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1948년 총선거가 소중한 까닭은?</a:t>
            </a:r>
            <a:endParaRPr lang="ko-KR" sz="2800" dirty="0"/>
          </a:p>
        </p:txBody>
      </p:sp>
      <p:sp>
        <p:nvSpPr>
          <p:cNvPr id="7" name="S02-chip7"/>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8" name="S02-text8"/>
          <p:cNvSpPr txBox="1"/>
          <p:nvPr/>
        </p:nvSpPr>
        <p:spPr>
          <a:xfrm>
            <a:off x="1344168" y="470916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6·25 전쟁이 시작된 해와</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정전 협정을 맺은 해는?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민주주의란?</a:t>
            </a:r>
            <a:endParaRPr lang="ko-KR" sz="4000" dirty="0"/>
          </a:p>
        </p:txBody>
      </p:sp>
      <p:sp>
        <p:nvSpPr>
          <p:cNvPr id="3" name="S03-card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정부가 세워진 뒤에도 민주주의가 흔들릴 때가 있었어요.</a:t>
            </a:r>
            <a:endParaRPr lang="ko-KR" sz="2800" dirty="0"/>
          </a:p>
        </p:txBody>
      </p:sp>
      <p:sp>
        <p:nvSpPr>
          <p:cNvPr id="5" name="S03-card11"/>
          <p:cNvSpPr/>
          <p:nvPr/>
        </p:nvSpPr>
        <p:spPr>
          <a:xfrm>
            <a:off x="548640" y="2125980"/>
            <a:ext cx="3544824" cy="2194560"/>
          </a:xfrm>
          <a:prstGeom prst="roundRect">
            <a:avLst>
              <a:gd name="adj" fmla="val 5000"/>
            </a:avLst>
          </a:prstGeom>
          <a:solidFill>
            <a:srgbClr val="FDEBDD"/>
          </a:solidFill>
          <a:ln w="12700">
            <a:solidFill>
              <a:srgbClr val="FDEBDD"/>
            </a:solidFill>
            <a:prstDash val="solid"/>
          </a:ln>
        </p:spPr>
      </p:sp>
      <p:sp>
        <p:nvSpPr>
          <p:cNvPr id="6" name="S03-cardtext12"/>
          <p:cNvSpPr txBox="1"/>
          <p:nvPr/>
        </p:nvSpPr>
        <p:spPr>
          <a:xfrm>
            <a:off x="822960"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민주주의</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국민이 나라의 주인이</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되어 나라의 일을</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함께 정하는 것</a:t>
            </a:r>
            <a:endParaRPr lang="ko-KR" sz="2800" dirty="0"/>
          </a:p>
        </p:txBody>
      </p:sp>
      <p:sp>
        <p:nvSpPr>
          <p:cNvPr id="7" name="S03-card13"/>
          <p:cNvSpPr/>
          <p:nvPr/>
        </p:nvSpPr>
        <p:spPr>
          <a:xfrm>
            <a:off x="4322064" y="2125980"/>
            <a:ext cx="3544824" cy="2194560"/>
          </a:xfrm>
          <a:prstGeom prst="roundRect">
            <a:avLst>
              <a:gd name="adj" fmla="val 5000"/>
            </a:avLst>
          </a:prstGeom>
          <a:solidFill>
            <a:srgbClr val="EAF3F1"/>
          </a:solidFill>
          <a:ln w="12700">
            <a:solidFill>
              <a:srgbClr val="EAF3F1"/>
            </a:solidFill>
            <a:prstDash val="solid"/>
          </a:ln>
        </p:spPr>
      </p:sp>
      <p:sp>
        <p:nvSpPr>
          <p:cNvPr id="8" name="S03-cardtext14"/>
          <p:cNvSpPr txBox="1"/>
          <p:nvPr/>
        </p:nvSpPr>
        <p:spPr>
          <a:xfrm>
            <a:off x="4596384"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독재</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한 사람이나 몇몇</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사람이 권력을</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마음대로 쓰는 것</a:t>
            </a:r>
            <a:endParaRPr lang="ko-KR" sz="2800" dirty="0"/>
          </a:p>
        </p:txBody>
      </p:sp>
      <p:sp>
        <p:nvSpPr>
          <p:cNvPr id="9" name="S03-card15"/>
          <p:cNvSpPr/>
          <p:nvPr/>
        </p:nvSpPr>
        <p:spPr>
          <a:xfrm>
            <a:off x="8095488" y="2125980"/>
            <a:ext cx="3544824" cy="2194560"/>
          </a:xfrm>
          <a:prstGeom prst="roundRect">
            <a:avLst>
              <a:gd name="adj" fmla="val 5000"/>
            </a:avLst>
          </a:prstGeom>
          <a:solidFill>
            <a:srgbClr val="EAF3F1"/>
          </a:solidFill>
          <a:ln w="12700">
            <a:solidFill>
              <a:srgbClr val="EAF3F1"/>
            </a:solidFill>
            <a:prstDash val="solid"/>
          </a:ln>
        </p:spPr>
      </p:sp>
      <p:sp>
        <p:nvSpPr>
          <p:cNvPr id="10" name="S03-cardtext16"/>
          <p:cNvSpPr txBox="1"/>
          <p:nvPr/>
        </p:nvSpPr>
        <p:spPr>
          <a:xfrm>
            <a:off x="8369808"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민주화 운동</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독재에 맞서</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민주주의를 지키고</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넓히려는 노력</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민주주의 발전의 흐름</a:t>
            </a:r>
            <a:endParaRPr lang="ko-KR" sz="4000" dirty="0"/>
          </a:p>
        </p:txBody>
      </p:sp>
      <p:sp>
        <p:nvSpPr>
          <p:cNvPr id="3" name="S04-text1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시민들은 세 번 크게 민주주의를 외쳤어요.</a:t>
            </a:r>
            <a:endParaRPr lang="ko-KR" sz="2800" dirty="0"/>
          </a:p>
        </p:txBody>
      </p:sp>
      <p:sp>
        <p:nvSpPr>
          <p:cNvPr id="4" name="S04-card1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4-cardtext1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시민들이 나설 때마다 민주주의가 한 걸음씩 자랐어요.</a:t>
            </a:r>
            <a:endParaRPr lang="ko-KR" sz="2800" dirty="0"/>
          </a:p>
        </p:txBody>
      </p:sp>
      <p:sp>
        <p:nvSpPr>
          <p:cNvPr id="6" name="S04-line20"/>
          <p:cNvSpPr/>
          <p:nvPr/>
        </p:nvSpPr>
        <p:spPr>
          <a:xfrm>
            <a:off x="822960" y="3566160"/>
            <a:ext cx="10543032" cy="0"/>
          </a:xfrm>
          <a:prstGeom prst="line">
            <a:avLst/>
          </a:prstGeom>
          <a:noFill/>
          <a:ln w="38100">
            <a:solidFill>
              <a:srgbClr val="264653"/>
            </a:solidFill>
            <a:prstDash val="solid"/>
            <a:tailEnd type="triangle"/>
          </a:ln>
        </p:spPr>
      </p:sp>
      <p:sp>
        <p:nvSpPr>
          <p:cNvPr id="7" name="S04-event21"/>
          <p:cNvSpPr/>
          <p:nvPr/>
        </p:nvSpPr>
        <p:spPr>
          <a:xfrm>
            <a:off x="1758391" y="3447288"/>
            <a:ext cx="237744" cy="237744"/>
          </a:xfrm>
          <a:prstGeom prst="ellipse">
            <a:avLst/>
          </a:prstGeom>
          <a:solidFill>
            <a:srgbClr val="E9762B"/>
          </a:solidFill>
          <a:ln w="19050">
            <a:solidFill>
              <a:srgbClr val="FFFFFF"/>
            </a:solidFill>
            <a:prstDash val="solid"/>
          </a:ln>
        </p:spPr>
      </p:sp>
      <p:sp>
        <p:nvSpPr>
          <p:cNvPr id="8" name="S04-label22"/>
          <p:cNvSpPr txBox="1"/>
          <p:nvPr/>
        </p:nvSpPr>
        <p:spPr>
          <a:xfrm>
            <a:off x="868680" y="2883535"/>
            <a:ext cx="2017166" cy="45402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정부 수립</a:t>
            </a:r>
            <a:endParaRPr lang="ko-KR" sz="2200" dirty="0"/>
          </a:p>
        </p:txBody>
      </p:sp>
      <p:sp>
        <p:nvSpPr>
          <p:cNvPr id="9" name="S04-label23"/>
          <p:cNvSpPr txBox="1"/>
          <p:nvPr/>
        </p:nvSpPr>
        <p:spPr>
          <a:xfrm>
            <a:off x="868680" y="3794760"/>
            <a:ext cx="2017166"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1948년</a:t>
            </a:r>
            <a:endParaRPr lang="ko-KR" sz="1800" dirty="0"/>
          </a:p>
        </p:txBody>
      </p:sp>
      <p:sp>
        <p:nvSpPr>
          <p:cNvPr id="10" name="S04-event24"/>
          <p:cNvSpPr/>
          <p:nvPr/>
        </p:nvSpPr>
        <p:spPr>
          <a:xfrm>
            <a:off x="3866998" y="3447288"/>
            <a:ext cx="237744" cy="237744"/>
          </a:xfrm>
          <a:prstGeom prst="ellipse">
            <a:avLst/>
          </a:prstGeom>
          <a:solidFill>
            <a:srgbClr val="E9762B"/>
          </a:solidFill>
          <a:ln w="19050">
            <a:solidFill>
              <a:srgbClr val="FFFFFF"/>
            </a:solidFill>
            <a:prstDash val="solid"/>
          </a:ln>
        </p:spPr>
      </p:sp>
      <p:sp>
        <p:nvSpPr>
          <p:cNvPr id="11" name="S04-label25"/>
          <p:cNvSpPr txBox="1"/>
          <p:nvPr/>
        </p:nvSpPr>
        <p:spPr>
          <a:xfrm>
            <a:off x="2977286" y="2883535"/>
            <a:ext cx="2017166" cy="45402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4·19 혁명</a:t>
            </a:r>
            <a:endParaRPr lang="ko-KR" sz="2200" dirty="0"/>
          </a:p>
        </p:txBody>
      </p:sp>
      <p:sp>
        <p:nvSpPr>
          <p:cNvPr id="12" name="S04-label26"/>
          <p:cNvSpPr txBox="1"/>
          <p:nvPr/>
        </p:nvSpPr>
        <p:spPr>
          <a:xfrm>
            <a:off x="2977286" y="3794760"/>
            <a:ext cx="2017166"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1960년</a:t>
            </a:r>
            <a:endParaRPr lang="ko-KR" sz="1800" dirty="0"/>
          </a:p>
        </p:txBody>
      </p:sp>
      <p:sp>
        <p:nvSpPr>
          <p:cNvPr id="13" name="S04-event27"/>
          <p:cNvSpPr/>
          <p:nvPr/>
        </p:nvSpPr>
        <p:spPr>
          <a:xfrm>
            <a:off x="5975604" y="3447288"/>
            <a:ext cx="237744" cy="237744"/>
          </a:xfrm>
          <a:prstGeom prst="ellipse">
            <a:avLst/>
          </a:prstGeom>
          <a:solidFill>
            <a:srgbClr val="E9762B"/>
          </a:solidFill>
          <a:ln w="19050">
            <a:solidFill>
              <a:srgbClr val="FFFFFF"/>
            </a:solidFill>
            <a:prstDash val="solid"/>
          </a:ln>
        </p:spPr>
      </p:sp>
      <p:sp>
        <p:nvSpPr>
          <p:cNvPr id="14" name="S04-label28"/>
          <p:cNvSpPr txBox="1"/>
          <p:nvPr/>
        </p:nvSpPr>
        <p:spPr>
          <a:xfrm>
            <a:off x="5085893" y="2534285"/>
            <a:ext cx="2017166" cy="80327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5·18</a:t>
            </a:r>
            <a:endParaRPr lang="ko-KR" sz="2200" dirty="0"/>
          </a:p>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민주화 운동</a:t>
            </a:r>
            <a:endParaRPr lang="ko-KR" sz="2200" dirty="0"/>
          </a:p>
        </p:txBody>
      </p:sp>
      <p:sp>
        <p:nvSpPr>
          <p:cNvPr id="15" name="S04-label29"/>
          <p:cNvSpPr txBox="1"/>
          <p:nvPr/>
        </p:nvSpPr>
        <p:spPr>
          <a:xfrm>
            <a:off x="5085893" y="3794760"/>
            <a:ext cx="2017166"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1980년, 광주</a:t>
            </a:r>
            <a:endParaRPr lang="ko-KR" sz="1800" dirty="0"/>
          </a:p>
        </p:txBody>
      </p:sp>
      <p:sp>
        <p:nvSpPr>
          <p:cNvPr id="16" name="S04-event30"/>
          <p:cNvSpPr/>
          <p:nvPr/>
        </p:nvSpPr>
        <p:spPr>
          <a:xfrm>
            <a:off x="8084210" y="3447288"/>
            <a:ext cx="237744" cy="237744"/>
          </a:xfrm>
          <a:prstGeom prst="ellipse">
            <a:avLst/>
          </a:prstGeom>
          <a:solidFill>
            <a:srgbClr val="E9762B"/>
          </a:solidFill>
          <a:ln w="19050">
            <a:solidFill>
              <a:srgbClr val="FFFFFF"/>
            </a:solidFill>
            <a:prstDash val="solid"/>
          </a:ln>
        </p:spPr>
      </p:sp>
      <p:sp>
        <p:nvSpPr>
          <p:cNvPr id="17" name="S04-label31"/>
          <p:cNvSpPr txBox="1"/>
          <p:nvPr/>
        </p:nvSpPr>
        <p:spPr>
          <a:xfrm>
            <a:off x="7194499" y="2534285"/>
            <a:ext cx="2017166" cy="80327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6월</a:t>
            </a:r>
            <a:endParaRPr lang="ko-KR" sz="2200" dirty="0"/>
          </a:p>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민주 항쟁</a:t>
            </a:r>
            <a:endParaRPr lang="ko-KR" sz="2200" dirty="0"/>
          </a:p>
        </p:txBody>
      </p:sp>
      <p:sp>
        <p:nvSpPr>
          <p:cNvPr id="18" name="S04-label32"/>
          <p:cNvSpPr txBox="1"/>
          <p:nvPr/>
        </p:nvSpPr>
        <p:spPr>
          <a:xfrm>
            <a:off x="7194499" y="3794760"/>
            <a:ext cx="2017166"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1987년</a:t>
            </a:r>
            <a:endParaRPr lang="ko-KR" sz="1800" dirty="0"/>
          </a:p>
        </p:txBody>
      </p:sp>
      <p:sp>
        <p:nvSpPr>
          <p:cNvPr id="19" name="S04-event33"/>
          <p:cNvSpPr/>
          <p:nvPr/>
        </p:nvSpPr>
        <p:spPr>
          <a:xfrm>
            <a:off x="10192817" y="3447288"/>
            <a:ext cx="237744" cy="237744"/>
          </a:xfrm>
          <a:prstGeom prst="ellipse">
            <a:avLst/>
          </a:prstGeom>
          <a:solidFill>
            <a:srgbClr val="E9762B"/>
          </a:solidFill>
          <a:ln w="19050">
            <a:solidFill>
              <a:srgbClr val="FFFFFF"/>
            </a:solidFill>
            <a:prstDash val="solid"/>
          </a:ln>
        </p:spPr>
      </p:sp>
      <p:sp>
        <p:nvSpPr>
          <p:cNvPr id="20" name="S04-label34"/>
          <p:cNvSpPr txBox="1"/>
          <p:nvPr/>
        </p:nvSpPr>
        <p:spPr>
          <a:xfrm>
            <a:off x="9303106" y="2883535"/>
            <a:ext cx="2017166" cy="45402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오늘날</a:t>
            </a:r>
            <a:endParaRPr lang="ko-KR" sz="2200" dirty="0"/>
          </a:p>
        </p:txBody>
      </p:sp>
      <p:sp>
        <p:nvSpPr>
          <p:cNvPr id="21" name="S04-label35"/>
          <p:cNvSpPr txBox="1"/>
          <p:nvPr/>
        </p:nvSpPr>
        <p:spPr>
          <a:xfrm>
            <a:off x="9303106" y="3794760"/>
            <a:ext cx="2017166"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생활 속 민주주의</a:t>
            </a:r>
            <a:endParaRPr lang="ko-KR" sz="1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4·19 혁명(1960년)</a:t>
            </a:r>
            <a:endParaRPr lang="ko-KR" sz="4000" dirty="0"/>
          </a:p>
        </p:txBody>
      </p:sp>
      <p:sp>
        <p:nvSpPr>
          <p:cNvPr id="3" name="S05-card3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5-cardtext3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사람들은 무엇에 맞섰고, 무엇을 바랐나요?</a:t>
            </a:r>
            <a:endParaRPr lang="ko-KR" sz="2800" dirty="0"/>
          </a:p>
        </p:txBody>
      </p:sp>
      <p:sp>
        <p:nvSpPr>
          <p:cNvPr id="5" name="S05-passagebox38"/>
          <p:cNvSpPr/>
          <p:nvPr/>
        </p:nvSpPr>
        <p:spPr>
          <a:xfrm>
            <a:off x="548640" y="1325880"/>
            <a:ext cx="11091672" cy="3794760"/>
          </a:xfrm>
          <a:prstGeom prst="roundRect">
            <a:avLst>
              <a:gd name="adj" fmla="val 2410"/>
            </a:avLst>
          </a:prstGeom>
          <a:solidFill>
            <a:srgbClr val="FFFFFF"/>
          </a:solidFill>
          <a:ln w="19050">
            <a:solidFill>
              <a:srgbClr val="264653"/>
            </a:solidFill>
            <a:prstDash val="solid"/>
          </a:ln>
        </p:spPr>
      </p:sp>
      <p:sp>
        <p:nvSpPr>
          <p:cNvPr id="6" name="S05-passage39"/>
          <p:cNvSpPr txBox="1"/>
          <p:nvPr/>
        </p:nvSpPr>
        <p:spPr>
          <a:xfrm>
            <a:off x="822960" y="1508760"/>
            <a:ext cx="10543032" cy="342900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3000" b="1" dirty="0">
                <a:solidFill>
                  <a:srgbClr val="1F2937"/>
                </a:solidFill>
                <a:latin typeface="맑은 고딕" pitchFamily="34" charset="0"/>
                <a:ea typeface="맑은 고딕" pitchFamily="34" charset="-122"/>
                <a:cs typeface="맑은 고딕" pitchFamily="34" charset="-120"/>
              </a:rPr>
              <a:t>이웃 할아버지의 이야기(그때를 바탕으로 꾸며 쓴 글)</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① 1960년 3월 15일 선거에서 미리 표를 넣어 두거나 투표함을 바꾸는 부정 선거가 있었어.</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② 학생들이 먼저 ‘선거를 다시 하라’고 외쳤고, 4월 19일에는 많은 시민이 함께 거리로 나섰지.</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③ 결국 대통령이 물러났고, 새로 선거를 치렀단다.</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4·19 혁명 정리하기</a:t>
            </a:r>
            <a:endParaRPr lang="ko-KR" sz="4000" dirty="0"/>
          </a:p>
        </p:txBody>
      </p:sp>
      <p:sp>
        <p:nvSpPr>
          <p:cNvPr id="3" name="S06-text4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S05의 이야기에서 찾아 말해요.</a:t>
            </a:r>
            <a:endParaRPr lang="ko-KR" sz="2800" dirty="0"/>
          </a:p>
        </p:txBody>
      </p:sp>
      <p:sp>
        <p:nvSpPr>
          <p:cNvPr id="4" name="S06-card41"/>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6-cardtext4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맞선 것 → 바란 것 → 바뀐 것 차례로 말해요.</a:t>
            </a:r>
            <a:endParaRPr lang="ko-KR" sz="2800" dirty="0"/>
          </a:p>
        </p:txBody>
      </p:sp>
      <p:sp>
        <p:nvSpPr>
          <p:cNvPr id="6" name="S06-chip43"/>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7" name="S06-text44"/>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사람들이 맞선 것은?</a:t>
            </a:r>
            <a:endParaRPr lang="ko-KR" sz="2800" dirty="0"/>
          </a:p>
        </p:txBody>
      </p:sp>
      <p:sp>
        <p:nvSpPr>
          <p:cNvPr id="8" name="S06-chip45"/>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9" name="S06-text46"/>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사람들이 바란 것은?</a:t>
            </a:r>
            <a:endParaRPr lang="ko-KR" sz="2800" dirty="0"/>
          </a:p>
        </p:txBody>
      </p:sp>
      <p:sp>
        <p:nvSpPr>
          <p:cNvPr id="10" name="S06-chip47"/>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1" name="S06-text48"/>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그 결과 바뀐 것은?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5·18 민주화 운동(1980년)</a:t>
            </a:r>
            <a:endParaRPr lang="ko-KR" sz="4000" dirty="0"/>
          </a:p>
        </p:txBody>
      </p:sp>
      <p:sp>
        <p:nvSpPr>
          <p:cNvPr id="3" name="S07-card4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7-cardtext5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광주 시민들이 바란 것은 무엇이었나요?</a:t>
            </a:r>
            <a:endParaRPr lang="ko-KR" sz="2800" dirty="0"/>
          </a:p>
        </p:txBody>
      </p:sp>
      <p:sp>
        <p:nvSpPr>
          <p:cNvPr id="5" name="S07-passagebox51"/>
          <p:cNvSpPr/>
          <p:nvPr/>
        </p:nvSpPr>
        <p:spPr>
          <a:xfrm>
            <a:off x="548640" y="1325880"/>
            <a:ext cx="11091672" cy="3794760"/>
          </a:xfrm>
          <a:prstGeom prst="roundRect">
            <a:avLst>
              <a:gd name="adj" fmla="val 2410"/>
            </a:avLst>
          </a:prstGeom>
          <a:solidFill>
            <a:srgbClr val="FFFFFF"/>
          </a:solidFill>
          <a:ln w="19050">
            <a:solidFill>
              <a:srgbClr val="264653"/>
            </a:solidFill>
            <a:prstDash val="solid"/>
          </a:ln>
        </p:spPr>
      </p:sp>
      <p:sp>
        <p:nvSpPr>
          <p:cNvPr id="6" name="S07-passage52"/>
          <p:cNvSpPr txBox="1"/>
          <p:nvPr/>
        </p:nvSpPr>
        <p:spPr>
          <a:xfrm>
            <a:off x="822960" y="1508760"/>
            <a:ext cx="10543032" cy="342900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3000" b="1" dirty="0">
                <a:solidFill>
                  <a:srgbClr val="1F2937"/>
                </a:solidFill>
                <a:latin typeface="맑은 고딕" pitchFamily="34" charset="0"/>
                <a:ea typeface="맑은 고딕" pitchFamily="34" charset="-122"/>
                <a:cs typeface="맑은 고딕" pitchFamily="34" charset="-120"/>
              </a:rPr>
              <a:t>광주에 사는 할머니의 이야기(꾸며 쓴 글)</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① 1980년 5월, 군인 세력이 힘으로 권력을 잡으려 하자 광주의 학생과 시민들이 민주주의를 되찾자고 외쳤어.</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② 군인들이 무력으로 막아 많은 사람이 다치고 목숨을 잃었어. 그래도 시민들은 주먹밥을 나누고 헌혈하며 서로 도왔지.</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③ 그 정신은 뒤의 민주화 운동으로 이어졌고, 그때의 기록물은 세계 기록 유산이 되었단다.</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6월 민주 항쟁(1987년)</a:t>
            </a:r>
            <a:endParaRPr lang="ko-KR" sz="4000" dirty="0"/>
          </a:p>
        </p:txBody>
      </p:sp>
      <p:sp>
        <p:nvSpPr>
          <p:cNvPr id="3" name="S08-card5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8-cardtext5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시민들이 바란 것과 바뀐 것은 무엇인가요?</a:t>
            </a:r>
            <a:endParaRPr lang="ko-KR" sz="2800" dirty="0"/>
          </a:p>
        </p:txBody>
      </p:sp>
      <p:sp>
        <p:nvSpPr>
          <p:cNvPr id="5" name="S08-passagebox55"/>
          <p:cNvSpPr/>
          <p:nvPr/>
        </p:nvSpPr>
        <p:spPr>
          <a:xfrm>
            <a:off x="548640" y="1325880"/>
            <a:ext cx="11091672" cy="3794760"/>
          </a:xfrm>
          <a:prstGeom prst="roundRect">
            <a:avLst>
              <a:gd name="adj" fmla="val 2410"/>
            </a:avLst>
          </a:prstGeom>
          <a:solidFill>
            <a:srgbClr val="FFFFFF"/>
          </a:solidFill>
          <a:ln w="19050">
            <a:solidFill>
              <a:srgbClr val="264653"/>
            </a:solidFill>
            <a:prstDash val="solid"/>
          </a:ln>
        </p:spPr>
      </p:sp>
      <p:sp>
        <p:nvSpPr>
          <p:cNvPr id="6" name="S08-passage56"/>
          <p:cNvSpPr txBox="1"/>
          <p:nvPr/>
        </p:nvSpPr>
        <p:spPr>
          <a:xfrm>
            <a:off x="822960" y="1508760"/>
            <a:ext cx="10543032" cy="342900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3000" b="1" dirty="0">
                <a:solidFill>
                  <a:srgbClr val="1F2937"/>
                </a:solidFill>
                <a:latin typeface="맑은 고딕" pitchFamily="34" charset="0"/>
                <a:ea typeface="맑은 고딕" pitchFamily="34" charset="-122"/>
                <a:cs typeface="맑은 고딕" pitchFamily="34" charset="-120"/>
              </a:rPr>
              <a:t>할아버지의 대학생 때 이야기(꾸며 쓴 글)</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① 그때는 국민이 대통령을 직접 뽑지 못하고, 대표들이 모여 뽑았어.</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② 1987년 6월, 대통령을 직접 뽑게 헌법을 고치자며 학생과 시민, 회사원까지 전국에서 거리로 나섰지.</a:t>
            </a:r>
            <a:endParaRPr lang="ko-KR" sz="3000" dirty="0"/>
          </a:p>
          <a:p>
            <a:pPr eaLnBrk="0" algn="l" indent="0" marL="0">
              <a:lnSpc>
                <a:spcPct val="105000"/>
              </a:lnSpc>
              <a:spcAft>
                <a:spcPts val="800"/>
              </a:spcAft>
              <a:buNone/>
            </a:pPr>
            <a:r>
              <a:rPr lang="ko-KR" altLang="en-US" sz="2800" dirty="0">
                <a:solidFill>
                  <a:srgbClr val="1F2937"/>
                </a:solidFill>
                <a:latin typeface="맑은 고딕" pitchFamily="34" charset="0"/>
                <a:ea typeface="맑은 고딕" pitchFamily="34" charset="-122"/>
                <a:cs typeface="맑은 고딕" pitchFamily="34" charset="-120"/>
              </a:rPr>
              <a:t>③ 결국 정부가 국민의 요구를 받아들였고, 헌법을 고쳐 그해 겨울 국민이 직접 대통령을 뽑았단다.</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세 사건 정리하기</a:t>
            </a:r>
            <a:endParaRPr lang="ko-KR" sz="4000" dirty="0"/>
          </a:p>
        </p:txBody>
      </p:sp>
      <p:sp>
        <p:nvSpPr>
          <p:cNvPr id="3" name="S09-text5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 칸에 들어갈 말을 이야기에서 찾아 말해요.</a:t>
            </a:r>
            <a:endParaRPr lang="ko-KR" sz="2800" dirty="0"/>
          </a:p>
        </p:txBody>
      </p:sp>
      <p:graphicFrame>
        <p:nvGraphicFramePr>
          <p:cNvPr id="10" name="S09-table58"/>
          <p:cNvGraphicFramePr>
            <a:graphicFrameLocks noGrp="1"/>
          </p:cNvGraphicFramePr>
          <p:nvPr>
            <p:extLst>
              <p:ext uri="{D42A27DB-BD31-4B8C-83A1-F6EECF244321}">
                <p14:modId xmlns:p14="http://schemas.microsoft.com/office/powerpoint/2010/main" val="1579011935"/>
              </p:ext>
            </p:extLst>
          </p:nvPr>
        </p:nvGraphicFramePr>
        <p:xfrm>
          <a:off x="608076" y="2593848"/>
          <a:ext cx="10972800" cy="914400"/>
        </p:xfrm>
        <a:graphic>
          <a:graphicData uri="http://schemas.openxmlformats.org/drawingml/2006/table">
            <a:tbl>
              <a:tblPr/>
              <a:tblGrid>
                <a:gridCol w="3511296"/>
                <a:gridCol w="3730752"/>
                <a:gridCol w="3730752"/>
              </a:tblGrid>
              <a:tr h="481584">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사건</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시민들이 바란 것</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바뀐 것</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853440">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4·19 혁명</a:t>
                      </a:r>
                      <a:endParaRPr lang="en-US" sz="2400" dirty="0">
                        <a:latin typeface="맑은 고딕" charset="0"/>
                        <a:ea typeface="맑은 고딕" charset="0"/>
                        <a:cs typeface="맑은 고딕" charset="0"/>
                      </a:endParaRPr>
                    </a:p>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(1960년)</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공정한 선거,</a:t>
                      </a:r>
                      <a:endParaRPr lang="en-US" sz="2400" dirty="0">
                        <a:latin typeface="맑은 고딕" charset="0"/>
                        <a:ea typeface="맑은 고딕" charset="0"/>
                        <a:cs typeface="맑은 고딕" charset="0"/>
                      </a:endParaRPr>
                    </a:p>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독재 멈추기</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대통령이 물러남</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853440">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5·18 민주화 운동</a:t>
                      </a:r>
                      <a:endParaRPr lang="en-US" sz="2400" dirty="0">
                        <a:latin typeface="맑은 고딕" charset="0"/>
                        <a:ea typeface="맑은 고딕" charset="0"/>
                        <a:cs typeface="맑은 고딕" charset="0"/>
                      </a:endParaRPr>
                    </a:p>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(1980년)</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853440">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6월 민주 항쟁</a:t>
                      </a:r>
                      <a:endParaRPr lang="en-US" sz="2400" dirty="0">
                        <a:latin typeface="맑은 고딕" charset="0"/>
                        <a:ea typeface="맑은 고딕" charset="0"/>
                        <a:cs typeface="맑은 고딕" charset="0"/>
                      </a:endParaRPr>
                    </a:p>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(1987년)</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5·18은 소용없었을까?</a:t>
            </a:r>
            <a:endParaRPr lang="ko-KR" sz="4000" dirty="0"/>
          </a:p>
        </p:txBody>
      </p:sp>
      <p:sp>
        <p:nvSpPr>
          <p:cNvPr id="3" name="S10-card59"/>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10-cardtext60"/>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5·18 민주화 운동을 배우고 두 친구가 말했어요.</a:t>
            </a:r>
            <a:endParaRPr lang="ko-KR" sz="2800" dirty="0"/>
          </a:p>
        </p:txBody>
      </p:sp>
      <p:sp>
        <p:nvSpPr>
          <p:cNvPr id="5" name="S10-card6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10-cardtext6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누구의 말이 더 알맞을까요? 근거를 말해요.</a:t>
            </a:r>
            <a:endParaRPr lang="ko-KR" sz="2800" dirty="0"/>
          </a:p>
        </p:txBody>
      </p:sp>
      <p:sp>
        <p:nvSpPr>
          <p:cNvPr id="7" name="S10-chip63"/>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가</a:t>
            </a:r>
            <a:endParaRPr lang="ko-KR" sz="2200" dirty="0"/>
          </a:p>
        </p:txBody>
      </p:sp>
      <p:sp>
        <p:nvSpPr>
          <p:cNvPr id="8" name="S10-text64"/>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“군인들에게 막혔으니</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아무것도 바뀌지</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않았어요.”</a:t>
            </a:r>
            <a:endParaRPr lang="ko-KR" sz="2800" dirty="0"/>
          </a:p>
        </p:txBody>
      </p:sp>
      <p:sp>
        <p:nvSpPr>
          <p:cNvPr id="9" name="S10-chip65"/>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나</a:t>
            </a:r>
            <a:endParaRPr lang="ko-KR" sz="2200" dirty="0"/>
          </a:p>
        </p:txBody>
      </p:sp>
      <p:sp>
        <p:nvSpPr>
          <p:cNvPr id="10" name="S10-text66"/>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“그때는 막혔지만, 그 정신이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6월 민주 항쟁으로 이어져</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민주주의를 키웠어요.”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세 사건의 공통점</a:t>
            </a:r>
            <a:endParaRPr lang="ko-KR" sz="4000" dirty="0"/>
          </a:p>
        </p:txBody>
      </p:sp>
      <p:sp>
        <p:nvSpPr>
          <p:cNvPr id="3" name="S11-card67"/>
          <p:cNvSpPr/>
          <p:nvPr/>
        </p:nvSpPr>
        <p:spPr>
          <a:xfrm>
            <a:off x="548640" y="5021072"/>
            <a:ext cx="11091672" cy="1196848"/>
          </a:xfrm>
          <a:prstGeom prst="roundRect">
            <a:avLst>
              <a:gd name="adj" fmla="val 9168"/>
            </a:avLst>
          </a:prstGeom>
          <a:solidFill>
            <a:srgbClr val="FDEBDD"/>
          </a:solidFill>
          <a:ln w="12700">
            <a:solidFill>
              <a:srgbClr val="FDEBDD"/>
            </a:solidFill>
            <a:prstDash val="solid"/>
          </a:ln>
        </p:spPr>
      </p:sp>
      <p:sp>
        <p:nvSpPr>
          <p:cNvPr id="4" name="S11-cardtext68"/>
          <p:cNvSpPr txBox="1"/>
          <p:nvPr/>
        </p:nvSpPr>
        <p:spPr>
          <a:xfrm>
            <a:off x="822960" y="5158232"/>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민주주의는 시민들의 노력으로 발전했어요.</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오늘날 우리는 무엇으로 민주주의를 지킬까요?</a:t>
            </a:r>
            <a:endParaRPr lang="ko-KR" sz="2800" dirty="0"/>
          </a:p>
        </p:txBody>
      </p:sp>
      <p:sp>
        <p:nvSpPr>
          <p:cNvPr id="5" name="S11-card69"/>
          <p:cNvSpPr/>
          <p:nvPr/>
        </p:nvSpPr>
        <p:spPr>
          <a:xfrm>
            <a:off x="548640" y="1961896"/>
            <a:ext cx="3544824" cy="2194560"/>
          </a:xfrm>
          <a:prstGeom prst="roundRect">
            <a:avLst>
              <a:gd name="adj" fmla="val 5000"/>
            </a:avLst>
          </a:prstGeom>
          <a:solidFill>
            <a:srgbClr val="EAF3F1"/>
          </a:solidFill>
          <a:ln w="12700">
            <a:solidFill>
              <a:srgbClr val="EAF3F1"/>
            </a:solidFill>
            <a:prstDash val="solid"/>
          </a:ln>
        </p:spPr>
      </p:sp>
      <p:sp>
        <p:nvSpPr>
          <p:cNvPr id="6" name="S11-cardtext70"/>
          <p:cNvSpPr txBox="1"/>
          <p:nvPr/>
        </p:nvSpPr>
        <p:spPr>
          <a:xfrm>
            <a:off x="822960" y="2099056"/>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누가?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학생과 평범한</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시민들이</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나섰어요.</a:t>
            </a:r>
            <a:endParaRPr lang="ko-KR" sz="2800" dirty="0"/>
          </a:p>
        </p:txBody>
      </p:sp>
      <p:sp>
        <p:nvSpPr>
          <p:cNvPr id="7" name="S11-card71"/>
          <p:cNvSpPr/>
          <p:nvPr/>
        </p:nvSpPr>
        <p:spPr>
          <a:xfrm>
            <a:off x="4322064" y="1961896"/>
            <a:ext cx="3544824" cy="2194560"/>
          </a:xfrm>
          <a:prstGeom prst="roundRect">
            <a:avLst>
              <a:gd name="adj" fmla="val 5000"/>
            </a:avLst>
          </a:prstGeom>
          <a:solidFill>
            <a:srgbClr val="EAF3F1"/>
          </a:solidFill>
          <a:ln w="12700">
            <a:solidFill>
              <a:srgbClr val="EAF3F1"/>
            </a:solidFill>
            <a:prstDash val="solid"/>
          </a:ln>
        </p:spPr>
      </p:sp>
      <p:sp>
        <p:nvSpPr>
          <p:cNvPr id="8" name="S11-cardtext72"/>
          <p:cNvSpPr txBox="1"/>
          <p:nvPr/>
        </p:nvSpPr>
        <p:spPr>
          <a:xfrm>
            <a:off x="4596384" y="2099056"/>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무엇을?</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독재에 맞서</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국민이 주인인</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나라를 바랐어요.</a:t>
            </a:r>
            <a:endParaRPr lang="ko-KR" sz="2800" dirty="0"/>
          </a:p>
        </p:txBody>
      </p:sp>
      <p:sp>
        <p:nvSpPr>
          <p:cNvPr id="9" name="S11-card73"/>
          <p:cNvSpPr/>
          <p:nvPr/>
        </p:nvSpPr>
        <p:spPr>
          <a:xfrm>
            <a:off x="8095488" y="1961896"/>
            <a:ext cx="3544824" cy="2194560"/>
          </a:xfrm>
          <a:prstGeom prst="roundRect">
            <a:avLst>
              <a:gd name="adj" fmla="val 5000"/>
            </a:avLst>
          </a:prstGeom>
          <a:solidFill>
            <a:srgbClr val="FDEBDD"/>
          </a:solidFill>
          <a:ln w="12700">
            <a:solidFill>
              <a:srgbClr val="FDEBDD"/>
            </a:solidFill>
            <a:prstDash val="solid"/>
          </a:ln>
        </p:spPr>
      </p:sp>
      <p:sp>
        <p:nvSpPr>
          <p:cNvPr id="10" name="S11-cardtext74"/>
          <p:cNvSpPr txBox="1"/>
          <p:nvPr/>
        </p:nvSpPr>
        <p:spPr>
          <a:xfrm>
            <a:off x="8369808" y="2099056"/>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그래서?</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선거와 헌법이</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바뀌며 민주주의가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자랐어요.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2-chip75"/>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4" name="S12-text76"/>
          <p:cNvSpPr txBox="1"/>
          <p:nvPr/>
        </p:nvSpPr>
        <p:spPr>
          <a:xfrm>
            <a:off x="1344168" y="13258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세 사건을 일어난 차례로</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놓고 해를 말해요.</a:t>
            </a:r>
            <a:endParaRPr lang="ko-KR" sz="2800" dirty="0"/>
          </a:p>
        </p:txBody>
      </p:sp>
      <p:sp>
        <p:nvSpPr>
          <p:cNvPr id="5" name="S12-chip77"/>
          <p:cNvSpPr txBox="1"/>
          <p:nvPr/>
        </p:nvSpPr>
        <p:spPr>
          <a:xfrm>
            <a:off x="6277356"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6" name="S12-text78"/>
          <p:cNvSpPr txBox="1"/>
          <p:nvPr/>
        </p:nvSpPr>
        <p:spPr>
          <a:xfrm>
            <a:off x="7072884" y="13258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4·19 혁명 때 시민들이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바란 것은?</a:t>
            </a:r>
            <a:endParaRPr lang="ko-KR" sz="2800" dirty="0"/>
          </a:p>
        </p:txBody>
      </p:sp>
      <p:sp>
        <p:nvSpPr>
          <p:cNvPr id="7" name="S12-chip79"/>
          <p:cNvSpPr txBox="1"/>
          <p:nvPr/>
        </p:nvSpPr>
        <p:spPr>
          <a:xfrm>
            <a:off x="548640" y="43113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8" name="S12-text80"/>
          <p:cNvSpPr txBox="1"/>
          <p:nvPr/>
        </p:nvSpPr>
        <p:spPr>
          <a:xfrm>
            <a:off x="1344168" y="38633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6월 민주 항쟁으로</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바뀐 것은?</a:t>
            </a:r>
            <a:endParaRPr lang="ko-KR" sz="2800" dirty="0"/>
          </a:p>
        </p:txBody>
      </p:sp>
      <p:sp>
        <p:nvSpPr>
          <p:cNvPr id="9" name="S12-chip81"/>
          <p:cNvSpPr txBox="1"/>
          <p:nvPr/>
        </p:nvSpPr>
        <p:spPr>
          <a:xfrm>
            <a:off x="6277356" y="43113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0" name="S12-text82"/>
          <p:cNvSpPr txBox="1"/>
          <p:nvPr/>
        </p:nvSpPr>
        <p:spPr>
          <a:xfrm>
            <a:off x="7072884" y="38633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세 사건의 공통점을</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한 문장으로 말해요.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3-card83"/>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3-cardtext8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시민들이 나설 때마다 국민이 주인인 나라에 가까워졌어요.</a:t>
            </a:r>
            <a:endParaRPr lang="ko-KR" sz="2800" dirty="0"/>
          </a:p>
        </p:txBody>
      </p:sp>
      <p:sp>
        <p:nvSpPr>
          <p:cNvPr id="5" name="S13-chip85"/>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6" name="S13-text86"/>
          <p:cNvSpPr txBox="1"/>
          <p:nvPr/>
        </p:nvSpPr>
        <p:spPr>
          <a:xfrm>
            <a:off x="548640" y="2057400"/>
            <a:ext cx="5362956"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 1960 → 1980 → 1987</a:t>
            </a:r>
            <a:endParaRPr lang="ko-KR" sz="2800" dirty="0"/>
          </a:p>
        </p:txBody>
      </p:sp>
      <p:sp>
        <p:nvSpPr>
          <p:cNvPr id="7" name="S13-text87"/>
          <p:cNvSpPr txBox="1"/>
          <p:nvPr/>
        </p:nvSpPr>
        <p:spPr>
          <a:xfrm>
            <a:off x="548640" y="2857500"/>
            <a:ext cx="5362956"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② 공정한 선거</a:t>
            </a:r>
            <a:endParaRPr lang="ko-KR" sz="2800" dirty="0"/>
          </a:p>
        </p:txBody>
      </p:sp>
      <p:sp>
        <p:nvSpPr>
          <p:cNvPr id="8" name="S13-text88"/>
          <p:cNvSpPr txBox="1"/>
          <p:nvPr/>
        </p:nvSpPr>
        <p:spPr>
          <a:xfrm>
            <a:off x="548640" y="3657600"/>
            <a:ext cx="5362956"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③ 대통령 직선제</a:t>
            </a:r>
            <a:endParaRPr lang="ko-KR" sz="2800" dirty="0"/>
          </a:p>
        </p:txBody>
      </p:sp>
      <p:sp>
        <p:nvSpPr>
          <p:cNvPr id="9" name="S13-text89"/>
          <p:cNvSpPr txBox="1"/>
          <p:nvPr/>
        </p:nvSpPr>
        <p:spPr>
          <a:xfrm>
            <a:off x="548640" y="4457700"/>
            <a:ext cx="5362956"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④ 시민의 노력으로 발전</a:t>
            </a:r>
            <a:endParaRPr lang="ko-KR" sz="2800" dirty="0"/>
          </a:p>
        </p:txBody>
      </p:sp>
      <p:sp>
        <p:nvSpPr>
          <p:cNvPr id="10" name="S13-chip90"/>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11" name="S13-text91"/>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“4·19로 직선제”</a:t>
            </a:r>
            <a:endParaRPr lang="ko-KR" sz="2800" dirty="0"/>
          </a:p>
        </p:txBody>
      </p:sp>
      <p:sp>
        <p:nvSpPr>
          <p:cNvPr id="12" name="S13-text92"/>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사건을 섞음</a:t>
            </a:r>
            <a:endParaRPr lang="ko-KR" sz="2200" dirty="0"/>
          </a:p>
        </p:txBody>
      </p:sp>
      <p:sp>
        <p:nvSpPr>
          <p:cNvPr id="13" name="S13-text93"/>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“5·18은 소용없음”</a:t>
            </a:r>
            <a:endParaRPr lang="ko-KR" sz="2800" dirty="0"/>
          </a:p>
        </p:txBody>
      </p:sp>
      <p:sp>
        <p:nvSpPr>
          <p:cNvPr id="14" name="S13-text94"/>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정신이 이어짐</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95"/>
          <p:cNvSpPr/>
          <p:nvPr/>
        </p:nvSpPr>
        <p:spPr>
          <a:xfrm>
            <a:off x="548640" y="1325880"/>
            <a:ext cx="11091672" cy="1196848"/>
          </a:xfrm>
          <a:prstGeom prst="roundRect">
            <a:avLst>
              <a:gd name="adj" fmla="val 9168"/>
            </a:avLst>
          </a:prstGeom>
          <a:solidFill>
            <a:srgbClr val="32606F"/>
          </a:solidFill>
          <a:ln w="12700">
            <a:solidFill>
              <a:srgbClr val="32606F"/>
            </a:solidFill>
            <a:prstDash val="solid"/>
          </a:ln>
        </p:spPr>
      </p:sp>
      <p:sp>
        <p:nvSpPr>
          <p:cNvPr id="4" name="S14-cardtext96"/>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4·19 혁명, 5·18 민주화 운동, 6월 민주 항쟁에서</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시민들이 나서 민주주의를 지키고 키웠어요.</a:t>
            </a:r>
            <a:endParaRPr lang="ko-KR" sz="2800" dirty="0"/>
          </a:p>
        </p:txBody>
      </p:sp>
      <p:sp>
        <p:nvSpPr>
          <p:cNvPr id="5" name="S14-chip97"/>
          <p:cNvSpPr txBox="1"/>
          <p:nvPr/>
        </p:nvSpPr>
        <p:spPr>
          <a:xfrm>
            <a:off x="548640" y="2751328"/>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바란 것과 바뀐 것 나누어 말하기</a:t>
            </a:r>
            <a:endParaRPr lang="ko-KR" sz="2200" dirty="0"/>
          </a:p>
        </p:txBody>
      </p:sp>
      <p:sp>
        <p:nvSpPr>
          <p:cNvPr id="6" name="S14-chip98"/>
          <p:cNvSpPr txBox="1"/>
          <p:nvPr/>
        </p:nvSpPr>
        <p:spPr>
          <a:xfrm>
            <a:off x="6208776" y="2751328"/>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민주주의가 저절로 왔다고 여기기</a:t>
            </a:r>
            <a:endParaRPr lang="ko-KR" sz="2200" dirty="0"/>
          </a:p>
        </p:txBody>
      </p:sp>
      <p:sp>
        <p:nvSpPr>
          <p:cNvPr id="7" name="S14-text99"/>
          <p:cNvSpPr txBox="1"/>
          <p:nvPr/>
        </p:nvSpPr>
        <p:spPr>
          <a:xfrm>
            <a:off x="548640" y="3574288"/>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4-text100"/>
          <p:cNvSpPr txBox="1"/>
          <p:nvPr/>
        </p:nvSpPr>
        <p:spPr>
          <a:xfrm>
            <a:off x="548640"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4·19 혁명이</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일어난 해는?</a:t>
            </a:r>
            <a:endParaRPr lang="ko-KR" sz="2200" dirty="0"/>
          </a:p>
        </p:txBody>
      </p:sp>
      <p:sp>
        <p:nvSpPr>
          <p:cNvPr id="9" name="S14-text101"/>
          <p:cNvSpPr txBox="1"/>
          <p:nvPr/>
        </p:nvSpPr>
        <p:spPr>
          <a:xfrm>
            <a:off x="4322064"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6월 민주 항쟁으로</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바뀐 것은?</a:t>
            </a:r>
            <a:endParaRPr lang="ko-KR" sz="2200" dirty="0"/>
          </a:p>
        </p:txBody>
      </p:sp>
      <p:sp>
        <p:nvSpPr>
          <p:cNvPr id="10" name="S14-text102"/>
          <p:cNvSpPr txBox="1"/>
          <p:nvPr/>
        </p:nvSpPr>
        <p:spPr>
          <a:xfrm>
            <a:off x="8095488"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③ 5·18 민주화 운동이</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일어난 도시는?</a:t>
            </a:r>
            <a:endParaRPr lang="ko-KR" sz="2200" dirty="0"/>
          </a:p>
        </p:txBody>
      </p:sp>
      <p:sp>
        <p:nvSpPr>
          <p:cNvPr id="11" name="S14-text103"/>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산업화와 생활 변화</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광복에서 정전까지</a:t>
            </a:r>
            <a:endParaRPr lang="ko-KR" sz="4000" dirty="0"/>
          </a:p>
        </p:txBody>
      </p:sp>
      <p:sp>
        <p:nvSpPr>
          <p:cNvPr id="3" name="S15-text10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지난 시간의 흐름을 다시 봐요.</a:t>
            </a:r>
            <a:endParaRPr lang="ko-KR" sz="2800" dirty="0"/>
          </a:p>
        </p:txBody>
      </p:sp>
      <p:sp>
        <p:nvSpPr>
          <p:cNvPr id="4" name="S15-card105"/>
          <p:cNvSpPr/>
          <p:nvPr/>
        </p:nvSpPr>
        <p:spPr>
          <a:xfrm>
            <a:off x="548640" y="5021072"/>
            <a:ext cx="11091672" cy="1196848"/>
          </a:xfrm>
          <a:prstGeom prst="roundRect">
            <a:avLst>
              <a:gd name="adj" fmla="val 9168"/>
            </a:avLst>
          </a:prstGeom>
          <a:solidFill>
            <a:srgbClr val="FDEBDD"/>
          </a:solidFill>
          <a:ln w="12700">
            <a:solidFill>
              <a:srgbClr val="FDEBDD"/>
            </a:solidFill>
            <a:prstDash val="solid"/>
          </a:ln>
        </p:spPr>
      </p:sp>
      <p:sp>
        <p:nvSpPr>
          <p:cNvPr id="5" name="S15-cardtext106"/>
          <p:cNvSpPr txBox="1"/>
          <p:nvPr/>
        </p:nvSpPr>
        <p:spPr>
          <a:xfrm>
            <a:off x="822960" y="5158232"/>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1948년 총선거에서 국민이 처음 대표를 뽑았어요.</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국민이 주인인 나라의 시작이에요.</a:t>
            </a:r>
            <a:endParaRPr lang="ko-KR" sz="2800" dirty="0"/>
          </a:p>
        </p:txBody>
      </p:sp>
      <p:sp>
        <p:nvSpPr>
          <p:cNvPr id="6" name="S15-line107"/>
          <p:cNvSpPr/>
          <p:nvPr/>
        </p:nvSpPr>
        <p:spPr>
          <a:xfrm>
            <a:off x="822960" y="3402076"/>
            <a:ext cx="10543032" cy="0"/>
          </a:xfrm>
          <a:prstGeom prst="line">
            <a:avLst/>
          </a:prstGeom>
          <a:noFill/>
          <a:ln w="38100">
            <a:solidFill>
              <a:srgbClr val="264653"/>
            </a:solidFill>
            <a:prstDash val="solid"/>
            <a:tailEnd type="triangle"/>
          </a:ln>
        </p:spPr>
      </p:sp>
      <p:sp>
        <p:nvSpPr>
          <p:cNvPr id="7" name="S15-event108"/>
          <p:cNvSpPr/>
          <p:nvPr/>
        </p:nvSpPr>
        <p:spPr>
          <a:xfrm>
            <a:off x="2021967" y="3283204"/>
            <a:ext cx="237744" cy="237744"/>
          </a:xfrm>
          <a:prstGeom prst="ellipse">
            <a:avLst/>
          </a:prstGeom>
          <a:solidFill>
            <a:srgbClr val="E9762B"/>
          </a:solidFill>
          <a:ln w="19050">
            <a:solidFill>
              <a:srgbClr val="FFFFFF"/>
            </a:solidFill>
            <a:prstDash val="solid"/>
          </a:ln>
        </p:spPr>
      </p:sp>
      <p:sp>
        <p:nvSpPr>
          <p:cNvPr id="8" name="S15-label109"/>
          <p:cNvSpPr txBox="1"/>
          <p:nvPr/>
        </p:nvSpPr>
        <p:spPr>
          <a:xfrm>
            <a:off x="868680" y="2719451"/>
            <a:ext cx="2544318" cy="45402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광복</a:t>
            </a:r>
            <a:endParaRPr lang="ko-KR" sz="2200" dirty="0"/>
          </a:p>
        </p:txBody>
      </p:sp>
      <p:sp>
        <p:nvSpPr>
          <p:cNvPr id="9" name="S15-label110"/>
          <p:cNvSpPr txBox="1"/>
          <p:nvPr/>
        </p:nvSpPr>
        <p:spPr>
          <a:xfrm>
            <a:off x="868680" y="3630676"/>
            <a:ext cx="2544318"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1945년</a:t>
            </a:r>
            <a:endParaRPr lang="ko-KR" sz="1800" dirty="0"/>
          </a:p>
        </p:txBody>
      </p:sp>
      <p:sp>
        <p:nvSpPr>
          <p:cNvPr id="10" name="S15-event111"/>
          <p:cNvSpPr/>
          <p:nvPr/>
        </p:nvSpPr>
        <p:spPr>
          <a:xfrm>
            <a:off x="4657725" y="3283204"/>
            <a:ext cx="237744" cy="237744"/>
          </a:xfrm>
          <a:prstGeom prst="ellipse">
            <a:avLst/>
          </a:prstGeom>
          <a:solidFill>
            <a:srgbClr val="E9762B"/>
          </a:solidFill>
          <a:ln w="19050">
            <a:solidFill>
              <a:srgbClr val="FFFFFF"/>
            </a:solidFill>
            <a:prstDash val="solid"/>
          </a:ln>
        </p:spPr>
      </p:sp>
      <p:sp>
        <p:nvSpPr>
          <p:cNvPr id="11" name="S15-label112"/>
          <p:cNvSpPr txBox="1"/>
          <p:nvPr/>
        </p:nvSpPr>
        <p:spPr>
          <a:xfrm>
            <a:off x="3504438" y="2370201"/>
            <a:ext cx="2544318" cy="80327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총선거와</a:t>
            </a:r>
            <a:endParaRPr lang="ko-KR" sz="2200" dirty="0"/>
          </a:p>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정부 수립</a:t>
            </a:r>
            <a:endParaRPr lang="ko-KR" sz="2200" dirty="0"/>
          </a:p>
        </p:txBody>
      </p:sp>
      <p:sp>
        <p:nvSpPr>
          <p:cNvPr id="12" name="S15-label113"/>
          <p:cNvSpPr txBox="1"/>
          <p:nvPr/>
        </p:nvSpPr>
        <p:spPr>
          <a:xfrm>
            <a:off x="3504438" y="3630676"/>
            <a:ext cx="2544318"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1948년</a:t>
            </a:r>
            <a:endParaRPr lang="ko-KR" sz="1800" dirty="0"/>
          </a:p>
        </p:txBody>
      </p:sp>
      <p:sp>
        <p:nvSpPr>
          <p:cNvPr id="13" name="S15-event114"/>
          <p:cNvSpPr/>
          <p:nvPr/>
        </p:nvSpPr>
        <p:spPr>
          <a:xfrm>
            <a:off x="7293483" y="3283204"/>
            <a:ext cx="237744" cy="237744"/>
          </a:xfrm>
          <a:prstGeom prst="ellipse">
            <a:avLst/>
          </a:prstGeom>
          <a:solidFill>
            <a:srgbClr val="E9762B"/>
          </a:solidFill>
          <a:ln w="19050">
            <a:solidFill>
              <a:srgbClr val="FFFFFF"/>
            </a:solidFill>
            <a:prstDash val="solid"/>
          </a:ln>
        </p:spPr>
      </p:sp>
      <p:sp>
        <p:nvSpPr>
          <p:cNvPr id="14" name="S15-label115"/>
          <p:cNvSpPr txBox="1"/>
          <p:nvPr/>
        </p:nvSpPr>
        <p:spPr>
          <a:xfrm>
            <a:off x="6140196" y="2370201"/>
            <a:ext cx="2544318" cy="80327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6·25 전쟁</a:t>
            </a:r>
            <a:endParaRPr lang="ko-KR" sz="2200" dirty="0"/>
          </a:p>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시작</a:t>
            </a:r>
            <a:endParaRPr lang="ko-KR" sz="2200" dirty="0"/>
          </a:p>
        </p:txBody>
      </p:sp>
      <p:sp>
        <p:nvSpPr>
          <p:cNvPr id="15" name="S15-label116"/>
          <p:cNvSpPr txBox="1"/>
          <p:nvPr/>
        </p:nvSpPr>
        <p:spPr>
          <a:xfrm>
            <a:off x="6140196" y="3630676"/>
            <a:ext cx="2544318"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1950년</a:t>
            </a:r>
            <a:endParaRPr lang="ko-KR" sz="1800" dirty="0"/>
          </a:p>
        </p:txBody>
      </p:sp>
      <p:sp>
        <p:nvSpPr>
          <p:cNvPr id="16" name="S15-event117"/>
          <p:cNvSpPr/>
          <p:nvPr/>
        </p:nvSpPr>
        <p:spPr>
          <a:xfrm>
            <a:off x="9929241" y="3283204"/>
            <a:ext cx="237744" cy="237744"/>
          </a:xfrm>
          <a:prstGeom prst="ellipse">
            <a:avLst/>
          </a:prstGeom>
          <a:solidFill>
            <a:srgbClr val="E9762B"/>
          </a:solidFill>
          <a:ln w="19050">
            <a:solidFill>
              <a:srgbClr val="FFFFFF"/>
            </a:solidFill>
            <a:prstDash val="solid"/>
          </a:ln>
        </p:spPr>
      </p:sp>
      <p:sp>
        <p:nvSpPr>
          <p:cNvPr id="17" name="S15-label118"/>
          <p:cNvSpPr txBox="1"/>
          <p:nvPr/>
        </p:nvSpPr>
        <p:spPr>
          <a:xfrm>
            <a:off x="8775954" y="2719451"/>
            <a:ext cx="2544318" cy="454025"/>
          </a:xfrm>
          <a:prstGeom prst="rect">
            <a:avLst/>
          </a:prstGeom>
          <a:noFill/>
          <a:ln/>
        </p:spPr>
        <p:txBody>
          <a:bodyPr wrap="square" lIns="0" tIns="0" rIns="0" bIns="0" rtlCol="0" anchor="b"/>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정전 협정</a:t>
            </a:r>
            <a:endParaRPr lang="ko-KR" sz="2200" dirty="0"/>
          </a:p>
        </p:txBody>
      </p:sp>
      <p:sp>
        <p:nvSpPr>
          <p:cNvPr id="18" name="S15-label119"/>
          <p:cNvSpPr txBox="1"/>
          <p:nvPr/>
        </p:nvSpPr>
        <p:spPr>
          <a:xfrm>
            <a:off x="8775954" y="3630676"/>
            <a:ext cx="2544318" cy="342900"/>
          </a:xfrm>
          <a:prstGeom prst="rect">
            <a:avLst/>
          </a:prstGeom>
          <a:noFill/>
          <a:ln/>
        </p:spPr>
        <p:txBody>
          <a:bodyPr wrap="square" lIns="0" tIns="0" rIns="0" bIns="0" rtlCol="0" anchor="t"/>
          <a:lstStyle/>
          <a:p>
            <a:pPr eaLnBrk="0" algn="ctr" indent="0" marL="0">
              <a:buNone/>
            </a:pPr>
            <a:r>
              <a:rPr lang="ko-KR" altLang="en-US" sz="1800" dirty="0">
                <a:solidFill>
                  <a:srgbClr val="4B5563"/>
                </a:solidFill>
                <a:latin typeface="맑은 고딕" pitchFamily="34" charset="0"/>
                <a:ea typeface="맑은 고딕" pitchFamily="34" charset="-122"/>
                <a:cs typeface="맑은 고딕" pitchFamily="34" charset="-120"/>
              </a:rPr>
              <a:t>1953년</a:t>
            </a:r>
            <a:endParaRPr lang="ko-KR" sz="1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초6 사회·역사 민주주의의 발전</dc:title>
  <dc:subject>KR22-G06-SOC-DEMOCRACY-L01</dc:subject>
  <dc:creator>education-ppt</dc:creator>
  <cp:lastModifiedBy>education-ppt</cp:lastModifiedBy>
  <cp:revision>1</cp:revision>
  <dcterms:created xsi:type="dcterms:W3CDTF">2026-10-26T13:30:47Z</dcterms:created>
  <dcterms:modified xsi:type="dcterms:W3CDTF">2026-10-26T13:30:47Z</dcterms:modified>
</cp:coreProperties>
</file>