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6c037ae-0589-5336-5bf5-04d8501df972}">
          <p14:sldIdLst>
            <p14:sldId id="256"/>
            <p14:sldId id="257"/>
          </p14:sldIdLst>
        </p14:section>
        <p14:section name="개념" id="{cb98907a-0f37-0e1f-bed3-e42bf116046d}">
          <p14:sldIdLst>
            <p14:sldId id="258"/>
            <p14:sldId id="259"/>
            <p14:sldId id="262"/>
            <p14:sldId id="264"/>
          </p14:sldIdLst>
        </p14:section>
        <p14:section name="연습" id="{0c044a31-7d14-99b9-f836-5f159bd90910}">
          <p14:sldIdLst>
            <p14:sldId id="260"/>
            <p14:sldId id="261"/>
            <p14:sldId id="263"/>
            <p14:sldId id="265"/>
            <p14:sldId id="266"/>
          </p14:sldIdLst>
        </p14:section>
        <p14:section name="개념" id="{98e9d188-a197-a056-fca5-fe9556325081}">
          <p14:sldIdLst/>
        </p14:section>
        <p14:section name="연습" id="{169b61da-784b-8da3-6044-e23715a3a4a5}">
          <p14:sldIdLst/>
        </p14:section>
        <p14:section name="개념" id="{8a56c95e-3840-8f5f-6f11-ee4aa89faf2b}">
          <p14:sldIdLst/>
        </p14:section>
        <p14:section name="연습" id="{0d9cbce1-7caf-0a50-94c4-8ffc7d790467}">
          <p14:sldIdLst/>
        </p14:section>
        <p14:section name="확인" id="{def70da5-5431-9760-e1dc-697cad5f4d1a}">
          <p14:sldIdLst>
            <p14:sldId id="267"/>
            <p14:sldId id="268"/>
          </p14:sldIdLst>
        </p14:section>
        <p14:section name="정리" id="{03d28104-09c7-d567-19a7-ad294df2e0ff}">
          <p14:sldIdLst>
            <p14:sldId id="269"/>
          </p14:sldIdLst>
        </p14:section>
        <p14:section name="보충" id="{c9a97385-3a2e-882a-bf89-c182cbefd86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1F2937"/>
                </a:solidFill>
                <a:latin typeface="+mn-lt"/>
              </a:rPr>
              <a:t>별빛시 사람 수(지어낸 예시 자료)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별빛시 사람 수(지어낸 예시 자료)</c:v>
                </c:pt>
              </c:strCache>
            </c:strRef>
          </c:tx>
          <c:spPr>
            <a:solidFill>
              <a:srgbClr val="E97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할머니 어릴 때</c:v>
                  </c:pt>
                  <c:pt idx="1">
                    <c:v>부모님 어릴 때</c:v>
                  </c:pt>
                  <c:pt idx="2">
                    <c:v>지금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1800" b="0" i="0" u="none" strike="noStrike">
                    <a:solidFill>
                      <a:srgbClr val="000000"/>
                    </a:solidFill>
                    <a:latin typeface="+mn-lt"/>
                  </a:rPr>
                  <a:t>만 명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할머니·할아버지가 어릴 때와 지금의 생활을 견주는 데 관심을 갖게 합니다.
시간: 약 2분
이렇게 말해 보세요
- “할머니(할아버지)가 어릴 때 집에 냉장고나 텔레비전이 있었을까? 학교에는 어떻게 갔을까?”
- “오늘은 6·25 전쟁 뒤 우리나라가 어떻게 물건을 만들고 팔며 살림을 키웠는지, 그래서 생활이 어떻게 바뀌었는지 알아볼 거야.”
예상 답
- “없었을 것 같아요.” “걸어서 갔을 것 같아요.”
막히면
- 부모님이 어릴 때 집에 있던 물건 하나를 먼저 이야기해 줍니다.
주의
- 할머니·할아버지의 실제 이야기는 S11과 활동지 4에서 여쭈어 봅니다. 지금은 짐작만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확인(민주주의의 발전)]
목적: 앞 차시 ‘민주주의의 발전’(KR22-G06-SOC-DEMOCRACY-L01)의 핵심과, 6·25 전쟁이 남긴 무너진 삶터를 기억하는지 확인합니다. 오늘은 같은 시기에 경제가 어떻게 자랐는지 배웁니다.
시간: 약 3분
이렇게 말해 보세요
- “지난 시간에 배운 것 두 가지와, 그 전에 배운 것 하나를 물어볼게.”
정답
- ① 부정 선거를 바로잡고 공정하게 선거하기, 독재를 멈추기
- ② 헌법을 고쳐 국민이 대통령을 직접 뽑게 되었어요(대통령 직선제).
- ③ 집·학교·공장·다리가 많이 무너지고 살림이 어려웠어요.
막히면
- ①②를 어려워하면 S15(보충)를 먼저 합니다. 보충으로도 어려우면 앞 차시 ‘민주주의의 발전’(KR22-G06-SOC-DEMOCRACY-L01)의 S09~S11을 다시 합니다.
- ③은 “전쟁이 끝난 뒤 공장과 다리는 어떻게 되었을까?”라고 묻습니다.
주의
- ③은 오늘의 출발점입니다. 무너진 삶터에서 사람들이 다시 일어섰다는 것으로 S04에 이어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산업의 종류(농업, 경공업, 중화학 공업, 첨단 산업)]
목적: 오늘 쓰는 산업의 이름 네 가지와 그 예를 알려 줍니다(목표 A).
시간: 약 3분
이렇게 말해 보세요
- “경공업의 ‘경’은 가볍다는 뜻이야. 옷, 신발, 가방처럼 가벼운 물건을 만들어.”
- “중화학 공업은 철, 배, 자동차처럼 무겁고 큰 것을 만드는 공업과, 석유로 플라스틱 같은 원료를 만드는 화학 공업을 함께 부르는 말이야.”
- “반도체는 휴대 전화나 컴퓨터 속에 들어가는 아주 작은 부품이야. 높은 기술이 있어야 만들 수 있어서 첨단 산업이라고 해. 우리 집에 반도체가 들어간 물건은 무엇이 있을까?”
예상 답
- “휴대 전화요.” “컴퓨터요.” “텔레비전이요.”
막히면
- 집에 있는 옷, 숟가락(철), 휴대 전화를 가리키며 어느 카드와 어울리는지 짝지어 봅니다.
주의
- ‘가볍다’는 물건의 무게를 말합니다. 경공업이 쉬운 일이라는 뜻은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우리나라 산업의 변화(시간 띠)]
목적: 우리나라 산업의 중심이 바뀐 큰 차례를 시간 띠로 보여 줍니다(목표 A, 오해 M2).
시간: 약 3분
이렇게 말해 보세요
- “전쟁이 끝난 뒤에는 농사짓는 사람이 가장 많았어. 1960년대에는 옷, 신발, 가발 같은 물건을 만들어 다른 나라에 많이 팔았어.”
- “1970년대에는 철, 배, 석유 화학 제품을 만드는 큰 공장을 지었고, 1980년대에는 자동차와 텔레비전 같은 가전제품도 많이 만들었어.”
- “1990년대 이후에는 반도체, 컴퓨터, 휴대 전화 같은 첨단 산업이 크게 자랐어. 시간 띠를 보면서 차례로 말해 볼래?”
예상 답
- “농업, 경공업, 중화학 공업, 첨단 산업이요.”
막히면
- S03의 카드를 다시 보며 “가벼운 것 → 무겁고 큰 것 → 높은 기술” 순서로 손가락을 옮겨 줍니다.
주의
- 해는 ‘무렵’으로 보는 큰 흐름입니다. 정확한 해를 외우게 하지 않습니다.
- 정부는 1960년대부터 경제를 키우는 계획을 세웠고, 기업과 일하는 사람들이 함께 땀 흘려 일했습니다. 2000년대 이후에는 정보 통신, 문화 콘텐츠 같은 산업도 커졌습니다(궁금해하면 알려 주는 정도로).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물건의 예를 산업으로 나누기]
목적: 물건의 예를 경공업·중화학 공업·첨단 산업으로 나누고 까닭을 말합니다(목표 A).
시간: 약 3분
이렇게 말해 보세요
- “①부터 어느 산업인지 말하고, 왜 그렇게 생각하는지도 말해 줘.”
정답
- ① 경공업(옷감·옷은 가벼운 물건)
- ② 중화학 공업(배는 무겁고 큰 것)
- ③ 첨단 산업(반도체는 높은 기술이 필요)
- ④ 중화학 공업(철은 무겁고, 큰 공장이 필요)
막히면
- 아래 도움말 세 가지를 하나씩 대어 보며 “이건 가벼워? 무겁고 커? 높은 기술이 필요해?”라고 묻습니다.
주의
- ④의 ‘용광로’는 철광석을 아주 높은 온도로 녹여 철을 만드는 커다란 화로입니다.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오해 비교(왜 경공업부터 시작했을까)]
목적: 그때의 형편(돈과 기술 부족, 일할 사람은 많음)을 근거로 경공업부터 시작한 까닭을 말하게 합니다(목표 A, 오해 M3).
시간: 약 3분
이렇게 말해 보세요
- “큰 배를 만들려면 무엇이 필요할까? 큰 공장, 많은 돈, 높은 기술이 그때 우리에게 있었을까?”
- “옷이나 신발을 만들 때는 무엇이 많이 필요할까?”
- “경공업으로 번 돈과 쌓은 기술은 그 뒤 어디에 쓰였을까?”
정답
- 나. 그때는 큰 공장을 지을 돈과 기술이 부족했지만 일할 사람은 많았어요. 그래서 사람의 손이 많이 필요하고 돈이 적게 드는 경공업부터 했고, 여기서 번 돈과 기술로 1970년대에 중화학 공업을 키웠어요.
- 기준: 돈·기술·일할 사람 가운데 두 가지 이상을 근거로 말하면 잘함
막히면
- “용돈이 조금밖에 없을 때 처음부터 비싼 것을 살 수 있을까? 작은 것부터 모아야겠지?”라고 생활의 예로 묻습니다.
주의
- 그때 많은 사람이 공장에서 오랜 시간 땀 흘려 일한 덕분에 경제가 자랐다는 것도 짚어 줍니다. 그 과정의 어려움(노동 문제)은 S09에서 다룹니다.
- 여기까지가 산업의 변화를 배우는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산업화로 달라진 생활(도시화, 가전제품, 교통)]
목적: 산업화로 달라진 생활 세 가지(도시화, 가전제품, 교통)를 알려 줍니다(목표 B).
시간: 약 3분
이렇게 말해 보세요
- “공장은 주로 도시와 그 가까이에 생겼어. 그럼 일자리를 찾는 사람들은 어디로 갔을까?”
- “냉장고와 세탁기가 없을 때 빨래는 어떻게 했을까?”
- “고속 국도는 자동차가 빠르게 달리는 큰 길이야. 먼 도시까지 하루 만에 다녀올 수 있게 되었어.”
예상 답
- “도시로 갔어요.” “손으로 빨았을 것 같아요.”
막히면
- 우리 집의 가전제품을 둘러보고 “이게 없으면 무엇이 힘들까?”라고 묻습니다.
주의
- 휴대 전화와 인터넷처럼 통신이 달라진 것도 좋은 예입니다. 아이가 말하면 칭찬해 줍니다.
- 도시로 사람이 몰리면서 아파트가 많이 지어졌습니다. 반대로 농촌은 사람이 줄었습니다(S09 격차와 이어짐).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지어낸 예시 그래프 읽기(도시화)]
목적: 지어낸 예시 그래프에서 도시의 사람 수가 늘어난 것을 읽고, 그 까닭을 산업화(공장, 일자리)와 이어 말합니다(목표 B).
시간: 약 3분
이렇게 말해 보세요
- “별빛시는 수업을 위해 지어낸 도시이고, 이 숫자도 지어낸 예시야. 실제 도시의 숫자는 아니야.”
- “막대 하나의 눈금 한 칸은 2만 명이야. ①, 사람 수는 어떻게 변했어? ②, 지금은 할머니 어릴 때보다 몇 만 명 많아?”
- “③, 왜 별빛시에 사람이 많아졌을까? 위의 문장을 다시 읽어 봐.”
정답
- ① 점점 많아졌어요(2만 명 → 6만 명 → 10만 명).
- ② 10 − 2 = 8, 8만 명 늘었어요.
- ③ 공장이 생겨 일자리를 찾아 사람들이 도시로 왔기 때문이에요(도시화).
막히면
- 막대 끝에서 왼쪽 눈금까지 손가락으로 따라가 숫자를 읽게 합니다.
주의
- 실제 통계는 쓰지 않습니다. 실제로도 산업화 시기에 도시에 사는 사람이 크게 늘었다는 큰 흐름만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산업화로 생긴 문제와 해결 노력]
목적: 산업화로 생긴 문제 네 가지와 해결 노력을 표로 정리합니다(목표 B, 오해 M1).
시간: 약 4분
이렇게 말해 보세요
- “공장이 많아지고 자동차가 늘면 공기와 물은 어떻게 될까?”
- “그때 많은 사람이 하루에 아주 오랜 시간, 위험한 곳에서 일하기도 했어. 그래서 일하는 사람을 지키는 법이 필요해졌어.”
- “‘격차’는 차이가 벌어지는 거야. 도시로 사람이 몰리면 농촌은 어떻게 될까?”
예상 답
- “공기가 더러워져요.” “농촌에 사람이 줄어요.”
막히면
- 한 줄씩 ‘문제 → 모습 → 노력’ 차례로 손가락으로 따라 읽습니다.
주의
- 어느 한쪽을 탓하기보다 ‘빠르게 자라면서 생긴 문제를 사람들이 함께 고쳐 가고 있다’는 데 초점을 둡니다.
- 오늘날에도 환경을 지키고 일하는 사람의 안전을 지키려는 노력이 이어지고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자료에서 좋아진 점과 문제 찾기]
목적: 지어낸 마을 이야기에서 산업화로 좋아진 점과 생긴 문제를 함께 찾고, 해결 방법을 생각합니다(목표 B, 오해 M1).
시간: 약 3분
이렇게 말해 보세요
- “글을 소리 내어 읽고, 좋아진 점은 ‘좋아’, 문제는 ‘걱정’이라고 말하면서 문단을 짚어 볼래?”
- “냇물을 다시 깨끗하게 하려면 공장, 마을 사람, 시청은 각각 무엇을 할 수 있을까?”
정답
- ① 일자리가 생겼어요. 버스가 자주 다녀요. 냉장고와 세탁기로 생활이 편리해졌어요(가운데 두 가지).
- ② 문제: 냇물이 더러워져 물고기가 줄었어요(환경 오염). 해결 예: 공장이 더러운 물을 깨끗하게 거른 뒤 내보내기, 오염을 막는 법 지키기, 마을 사람들이 냇물을 살피고 알리기
- 기준: 좋아진 점과 문제를 나누어 말하고, 해결 방법을 하나 이상 까닭과 함께 말하면 잘함
막히면
- S09 표의 ‘환경 오염’ 줄을 다시 봅니다.
주의
- 공장을 없애자는 답만 나오면 “그럼 일자리는 어떻게 될까?”라고 물어 둘 다 지키는 방법을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어른께 어릴 적 생활 여쭈기(조사)]
목적: 어른과의 면담으로 산업화 전후의 생활 변화를 직접 조사하고, 달라진 까닭을 오늘 배운 것과 잇습니다(목표 B).
시간: 약 3분(면담은 수업 뒤에)
이렇게 말해 보세요
- “오늘 배운 것이 진짜였는지 할머니(할아버지)께 여쭈어 보자. 무엇을 여쭈면 좋을까?”
- “여쭐 때는 ‘어릴 때 집에 냉장고가 있었어요? 학교에는 어떻게 다니셨어요?’처럼 물어봐.”
예상 답
- 예: “할머니는 어릴 때 냇가에서 손으로 빨래하셨대요. 지금은 세탁기가 해요. 가전제품이 많이 만들어졌기 때문이에요.”
정답
- 기준: ① 집·교통·집안일 세 가지를 여쭈어 적음 ② 지금과 다른 점을 하나 이상 찾음 ③ 달라진 까닭을 산업화(공장, 가전제품, 도로)와 이어 말함. 집마다 답이 다릅니다.
막히면
- 여쭐 어른이 없으면 부모님이 어릴 때를 이야기해 주거나, 마을 도서관의 옛 생활 사진 책을 함께 봅니다.
주의
- 전화로 여쭈어도 좋습니다. 어른의 어려웠던 기억을 억지로 여쭙지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 보기(산업의 차례, 예, 생활 변화, 문제)]
목적: 산업이 바뀐 차례와 예, 산업화로 달라진 생활과 생긴 문제, 해결 노력을 도움 없이 말하는지 확인합니다(목표 A·B).
시간: 약 5분
이렇게 말해 보세요
- “이번에는 혼자 해 볼래? 다 하면 왜 그렇게 생각했는지 말해 줘.”
정답
- ① 경공업 → 중화학 공업 → 첨단 산업
- ② 반도체, 컴퓨터, 휴대 전화 가운데 하나
- ③ 도시화(도시로 사람이 몰림), 가전제품으로 집안일이 쉬워짐, 고속 국도·지하철로 교통이 편리해짐 가운데 두 가지
- ④ 예: 환경 오염 – 환경을 지키는 법, 오염 줄이는 시설 / 노동 문제 – 일하는 사람의 권리를 지키는 법 / 격차 – 농촌 살리기, 어려운 이웃 돕기
- 기준: 네 문제 가운데 세 개 이상, 그리고 ④에서 문제와 노력을 짝지어 말하면 목표를 이룬 것으로 봅니다.
막히면
- 바로 알려 주지 말고 ①은 “가벼운 것, 무거운 것, 높은 기술 가운데 무엇이 먼저였지?”라고만 묻습니다.
- 도움을 받아 해결했다면 기록표에 ‘도움’으로 표시합니다.
주의
- ④에서 문제만 말하면 “그 문제를 어떻게 고치려고 할까?”라고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S12의 답을 확인하고 흔한 실수와 견줍니다.
시간: 약 2분
이렇게 말해 보세요
- “네 답과 왼쪽을 견주어 보자. 오른쪽 두 생각은 무엇을 놓쳤을까?”
예상 답
- “환경 오염 같은 문제도 있었어요.” “지금도 옷을 만들어요.”
정답
- ① 경공업 → 중화학 공업 → 첨단 산업 ② 반도체·컴퓨터·휴대 전화 ③ 도시화, 가전제품, 교통 가운데 두 가지 ④ 문제와 해결 노력을 짝지어 말함
막히면
- ①②는 S04, ③은 S07, ④는 S09를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 질문을 알려 줍니다.
시간: 약 2분
이렇게 말해 보세요
- “오늘 배운 것을 할머니(할아버지)께 설명해 드린다면 무엇부터 말할래?”
예상 답
- “옛날에는 옷이나 신발을 만들었고, 지금은 반도체를 만들어요. 생활은 편해졌지만 환경 오염 같은 문제도 생겼어요.”
정답
- ① 옷, 신발, 가발 가운데 하나 ② 도시에 사는 사람이 많아지는 것 ③ 환경 오염, 노동 문제, 격차, 도시 문제 가운데 하나
막히면
- S04와 S09를 다시 보여 줍니다.
주의
- 활동지 4(어른께 여쭈어 보기)는 다음 수업 전까지 해 두면 좋습니다. 다음 수업 시작할 때 이야기를 들어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보충(민주주의의 발전 다시 보기)]
목적: S02에서 지난 차시 내용을 어려워하면 세 사건의 바란 것과 바뀐 것을 표로 다시 익히고 오늘 수업으로 이어 줍니다.
시간: 약 4분
이렇게 말해 보세요
- “표를 한 줄씩 같이 읽어 보자. 4·19 혁명 때 시민들은 무엇을 바랐지?”
- “이번에는 ‘바뀐 것’ 칸을 가리고 말해 볼래?”
정답
- 4·19 혁명 – 공정한 선거, 대통령이 물러남 / 5·18 민주화 운동 – 민주주의 되찾기, 그 정신이 6월 민주 항쟁으로 이어짐 / 6월 민주 항쟁 – 대통령을 직접 뽑기, 헌법을 고쳐 대통령 직선제
막히면
- 앞 차시 S05·S07·S08의 이야기를 하나씩 다시 읽습니다.
주의
- 이 차시의 계획상 선수 차시는 ‘민주주의의 발전’(KR22-G06-SOC-DEMOCRACY-L01)입니다. 보충 뒤에도 어려우면 그 차시를 다시 하고 오늘 수업은 다음 날 S02부터 시작합니다. 오늘 수업은 앞 차시 내용을 몰라도 따라갈 수 있으므로, 시간이 없으면 보충을 짧게 하고 넘어가도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현대사회와평화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산업화와 생활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산업화와 생활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산업화와 생활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산업화와 생활 변화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어릴 때와 지금,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생활은 어떻게 달라졌을까요?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우리나라 산업이 바뀐 차례를 말하고 예를 들어요.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산업화로 달라진 생활과 생긴 문제를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4·19 혁명 때 시민들이 바란 것은?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 민주 항쟁으로 바뀐 것은?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 뒤 삶터는 어땠나요?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산업의 종류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산업: 생활에 필요한 것을 만들어 내는 일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논밭에서 곡식과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채소를 길러요.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경공업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옷·신발처럼 가벼운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만들어요.</a:t>
            </a:r>
            <a:endParaRPr lang="ko-KR" sz="2800" dirty="0"/>
          </a:p>
        </p:txBody>
      </p:sp>
      <p:sp>
        <p:nvSpPr>
          <p:cNvPr id="9" name="S03-card15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중화학 공업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철·배·자동차처럼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무겁고 큰 것을 만들어요.</a:t>
            </a:r>
            <a:endParaRPr lang="ko-KR" sz="2800" dirty="0"/>
          </a:p>
        </p:txBody>
      </p:sp>
      <p:sp>
        <p:nvSpPr>
          <p:cNvPr id="11" name="S03-card17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S03-cardtext18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첨단 산업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반도체·휴대 전화처럼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기술로 만들어요.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 산업의 변화</a:t>
            </a:r>
            <a:endParaRPr lang="ko-KR" sz="40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 뒤 어려운 살림에서 산업이 이렇게 바뀌었어요.</a:t>
            </a:r>
            <a:endParaRPr lang="ko-KR" sz="2800" dirty="0"/>
          </a:p>
        </p:txBody>
      </p:sp>
      <p:sp>
        <p:nvSpPr>
          <p:cNvPr id="4" name="S04-card2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중심이 되는 산업이 바뀌었을 뿐, 지금도 농사를 짓고 옷을 만들어요.</a:t>
            </a:r>
            <a:endParaRPr lang="ko-KR" sz="2800" dirty="0"/>
          </a:p>
        </p:txBody>
      </p:sp>
      <p:sp>
        <p:nvSpPr>
          <p:cNvPr id="6" name="S04-line22"/>
          <p:cNvSpPr/>
          <p:nvPr/>
        </p:nvSpPr>
        <p:spPr>
          <a:xfrm>
            <a:off x="822960" y="3402076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4-event23"/>
          <p:cNvSpPr/>
          <p:nvPr/>
        </p:nvSpPr>
        <p:spPr>
          <a:xfrm>
            <a:off x="2021967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4-label24"/>
          <p:cNvSpPr txBox="1"/>
          <p:nvPr/>
        </p:nvSpPr>
        <p:spPr>
          <a:xfrm>
            <a:off x="868680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농업 중심</a:t>
            </a:r>
            <a:endParaRPr lang="ko-KR" sz="2200" dirty="0"/>
          </a:p>
        </p:txBody>
      </p:sp>
      <p:sp>
        <p:nvSpPr>
          <p:cNvPr id="9" name="S04-label25"/>
          <p:cNvSpPr txBox="1"/>
          <p:nvPr/>
        </p:nvSpPr>
        <p:spPr>
          <a:xfrm>
            <a:off x="868680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1950년대</a:t>
            </a:r>
            <a:endParaRPr lang="ko-KR" sz="1800" dirty="0"/>
          </a:p>
        </p:txBody>
      </p:sp>
      <p:sp>
        <p:nvSpPr>
          <p:cNvPr id="10" name="S04-event26"/>
          <p:cNvSpPr/>
          <p:nvPr/>
        </p:nvSpPr>
        <p:spPr>
          <a:xfrm>
            <a:off x="4657725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4-label27"/>
          <p:cNvSpPr txBox="1"/>
          <p:nvPr/>
        </p:nvSpPr>
        <p:spPr>
          <a:xfrm>
            <a:off x="3504438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경공업</a:t>
            </a:r>
            <a:endParaRPr lang="ko-KR" sz="2200" dirty="0"/>
          </a:p>
        </p:txBody>
      </p:sp>
      <p:sp>
        <p:nvSpPr>
          <p:cNvPr id="12" name="S04-label28"/>
          <p:cNvSpPr txBox="1"/>
          <p:nvPr/>
        </p:nvSpPr>
        <p:spPr>
          <a:xfrm>
            <a:off x="3504438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1960년대, 옷·신발</a:t>
            </a:r>
            <a:endParaRPr lang="ko-KR" sz="1800" dirty="0"/>
          </a:p>
        </p:txBody>
      </p:sp>
      <p:sp>
        <p:nvSpPr>
          <p:cNvPr id="13" name="S04-event29"/>
          <p:cNvSpPr/>
          <p:nvPr/>
        </p:nvSpPr>
        <p:spPr>
          <a:xfrm>
            <a:off x="7293483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4-label30"/>
          <p:cNvSpPr txBox="1"/>
          <p:nvPr/>
        </p:nvSpPr>
        <p:spPr>
          <a:xfrm>
            <a:off x="6140196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중화학 공업</a:t>
            </a:r>
            <a:endParaRPr lang="ko-KR" sz="2200" dirty="0"/>
          </a:p>
        </p:txBody>
      </p:sp>
      <p:sp>
        <p:nvSpPr>
          <p:cNvPr id="15" name="S04-label31"/>
          <p:cNvSpPr txBox="1"/>
          <p:nvPr/>
        </p:nvSpPr>
        <p:spPr>
          <a:xfrm>
            <a:off x="6140196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1970년대, 철강·배</a:t>
            </a:r>
            <a:endParaRPr lang="ko-KR" sz="1800" dirty="0"/>
          </a:p>
        </p:txBody>
      </p:sp>
      <p:sp>
        <p:nvSpPr>
          <p:cNvPr id="16" name="S04-event32"/>
          <p:cNvSpPr/>
          <p:nvPr/>
        </p:nvSpPr>
        <p:spPr>
          <a:xfrm>
            <a:off x="9929241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4-label33"/>
          <p:cNvSpPr txBox="1"/>
          <p:nvPr/>
        </p:nvSpPr>
        <p:spPr>
          <a:xfrm>
            <a:off x="8775954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첨단 산업</a:t>
            </a:r>
            <a:endParaRPr lang="ko-KR" sz="2200" dirty="0"/>
          </a:p>
        </p:txBody>
      </p:sp>
      <p:sp>
        <p:nvSpPr>
          <p:cNvPr id="18" name="S04-label34"/>
          <p:cNvSpPr txBox="1"/>
          <p:nvPr/>
        </p:nvSpPr>
        <p:spPr>
          <a:xfrm>
            <a:off x="8775954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1990년대 이후, 반도체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산업일까요?</a:t>
            </a:r>
            <a:endParaRPr lang="ko-KR" sz="4000" dirty="0"/>
          </a:p>
        </p:txBody>
      </p:sp>
      <p:sp>
        <p:nvSpPr>
          <p:cNvPr id="3" name="S05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산업의 이름을 말해요.</a:t>
            </a:r>
            <a:endParaRPr lang="ko-KR" sz="2800" dirty="0"/>
          </a:p>
        </p:txBody>
      </p:sp>
      <p:sp>
        <p:nvSpPr>
          <p:cNvPr id="4" name="S05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가벼운 물건 · 무겁고 큰 것 · 높은 기술</a:t>
            </a:r>
            <a:endParaRPr lang="ko-KR" sz="2800" dirty="0"/>
          </a:p>
        </p:txBody>
      </p:sp>
      <p:sp>
        <p:nvSpPr>
          <p:cNvPr id="6" name="S05-chip3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3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공장에서 실로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옷감을 짜요.</a:t>
            </a:r>
            <a:endParaRPr lang="ko-KR" sz="2800" dirty="0"/>
          </a:p>
        </p:txBody>
      </p:sp>
      <p:sp>
        <p:nvSpPr>
          <p:cNvPr id="8" name="S05-chip4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4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배를 만들어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나라에 팔아요.</a:t>
            </a:r>
            <a:endParaRPr lang="ko-KR" sz="2800" dirty="0"/>
          </a:p>
        </p:txBody>
      </p:sp>
      <p:sp>
        <p:nvSpPr>
          <p:cNvPr id="10" name="S05-chip42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43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 전화에 들어가는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반도체를 만들어요.</a:t>
            </a:r>
            <a:endParaRPr lang="ko-KR" sz="2800" dirty="0"/>
          </a:p>
        </p:txBody>
      </p:sp>
      <p:sp>
        <p:nvSpPr>
          <p:cNvPr id="12" name="S05-chip4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text45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용광로에서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철을 만들어요.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경공업부터 했을까?</a:t>
            </a:r>
            <a:endParaRPr lang="ko-KR" sz="4000" dirty="0"/>
          </a:p>
        </p:txBody>
      </p:sp>
      <p:sp>
        <p:nvSpPr>
          <p:cNvPr id="3" name="S06-card4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1960년대 우리나라는 돈과 기술이 부족했고, 일할 사람은 많았어요.</a:t>
            </a:r>
            <a:endParaRPr lang="ko-KR" sz="2800" dirty="0"/>
          </a:p>
        </p:txBody>
      </p:sp>
      <p:sp>
        <p:nvSpPr>
          <p:cNvPr id="5" name="S06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더 알맞을까요? 까닭을 말해요.</a:t>
            </a:r>
            <a:endParaRPr lang="ko-KR" sz="2800" dirty="0"/>
          </a:p>
        </p:txBody>
      </p:sp>
      <p:sp>
        <p:nvSpPr>
          <p:cNvPr id="7" name="S06-chip50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6-text51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“처음부터 큰 배와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자동차를 만들면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됐을 거예요.”</a:t>
            </a:r>
            <a:endParaRPr lang="ko-KR" sz="2800" dirty="0"/>
          </a:p>
        </p:txBody>
      </p:sp>
      <p:sp>
        <p:nvSpPr>
          <p:cNvPr id="9" name="S06-chip52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6-text53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“돈과 기술이 적게 들고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일할 사람이 많이 필요한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경공업부터 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생활</a:t>
            </a:r>
            <a:endParaRPr lang="ko-KR" sz="4000" dirty="0"/>
          </a:p>
        </p:txBody>
      </p:sp>
      <p:sp>
        <p:nvSpPr>
          <p:cNvPr id="3" name="S07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도시화: 도시에 사는 사람이 많아지는 것</a:t>
            </a:r>
            <a:endParaRPr lang="ko-KR" sz="2800" dirty="0"/>
          </a:p>
        </p:txBody>
      </p:sp>
      <p:sp>
        <p:nvSpPr>
          <p:cNvPr id="5" name="S07-card56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7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일자리를 찾아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사람이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도시로 옮겨 갔어요.</a:t>
            </a:r>
            <a:endParaRPr lang="ko-KR" sz="2800" dirty="0"/>
          </a:p>
        </p:txBody>
      </p:sp>
      <p:sp>
        <p:nvSpPr>
          <p:cNvPr id="7" name="S07-card58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59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가전제품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냉장고·세탁기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덕분에 집안일이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쉬워졌어요.</a:t>
            </a:r>
            <a:endParaRPr lang="ko-KR" sz="2800" dirty="0"/>
          </a:p>
        </p:txBody>
      </p:sp>
      <p:sp>
        <p:nvSpPr>
          <p:cNvPr id="9" name="S07-card60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61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고속 국도와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지하철로 먼 곳도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사람 수의 변화</a:t>
            </a:r>
            <a:endParaRPr lang="ko-KR" sz="4000" dirty="0"/>
          </a:p>
        </p:txBody>
      </p:sp>
      <p:sp>
        <p:nvSpPr>
          <p:cNvPr id="3" name="S08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별빛시에 공장이 많이 생겼어요.</a:t>
            </a:r>
            <a:endParaRPr lang="ko-KR" sz="2800" dirty="0"/>
          </a:p>
        </p:txBody>
      </p:sp>
      <p:sp>
        <p:nvSpPr>
          <p:cNvPr id="4" name="S08-card6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사람 수는 어떻게 변했나요? ② 몇 만 명 늘었나요?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왜 그랬을까요?</a:t>
            </a:r>
            <a:endParaRPr lang="ko-KR" sz="2800" dirty="0"/>
          </a:p>
        </p:txBody>
      </p:sp>
      <p:graphicFrame>
        <p:nvGraphicFramePr>
          <p:cNvPr id="6" name="S08-chart65" descr=""/>
          <p:cNvGraphicFramePr/>
          <p:nvPr/>
        </p:nvGraphicFramePr>
        <p:xfrm>
          <a:off x="548640" y="2011680"/>
          <a:ext cx="11091672" cy="2780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산업화로 생긴 문제</a:t>
            </a:r>
            <a:endParaRPr lang="ko-KR" sz="4000" dirty="0"/>
          </a:p>
        </p:txBody>
      </p:sp>
      <p:sp>
        <p:nvSpPr>
          <p:cNvPr id="3" name="S09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편리해진 만큼 생긴 문제도 함께 풀어 가요.</a:t>
            </a:r>
            <a:endParaRPr lang="ko-KR" sz="2800" dirty="0"/>
          </a:p>
        </p:txBody>
      </p:sp>
      <p:graphicFrame>
        <p:nvGraphicFramePr>
          <p:cNvPr id="10" name="S09-table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585468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169664"/>
                <a:gridCol w="4608576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어떤 모습?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해결하려는 노력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 오염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공장 연기, 더러운 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환경을 지키는 법,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오염 줄이는 시설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노동 문제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오랜 시간 일하고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일터가 위험함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일하는 사람의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권리를 지키는 법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격차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도시와 농촌, 소득의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차이가 커짐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농촌 살리기,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어려운 이웃 돕기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도시 문제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 부족, 교통 혼잡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도시, 대중교통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하늘마을 이야기</a:t>
            </a:r>
            <a:endParaRPr lang="ko-KR" sz="4000" dirty="0"/>
          </a:p>
        </p:txBody>
      </p:sp>
      <p:sp>
        <p:nvSpPr>
          <p:cNvPr id="3" name="S10-card6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7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좋아진 점 두 가지는?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생긴 문제와 해결 방법은?</a:t>
            </a:r>
            <a:endParaRPr lang="ko-KR" sz="2800" dirty="0"/>
          </a:p>
        </p:txBody>
      </p:sp>
      <p:sp>
        <p:nvSpPr>
          <p:cNvPr id="5" name="S10-passagebox71"/>
          <p:cNvSpPr/>
          <p:nvPr/>
        </p:nvSpPr>
        <p:spPr>
          <a:xfrm>
            <a:off x="548640" y="1325880"/>
            <a:ext cx="11091672" cy="3466592"/>
          </a:xfrm>
          <a:prstGeom prst="roundRect">
            <a:avLst>
              <a:gd name="adj" fmla="val 2638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72"/>
          <p:cNvSpPr txBox="1"/>
          <p:nvPr/>
        </p:nvSpPr>
        <p:spPr>
          <a:xfrm>
            <a:off x="822960" y="1508760"/>
            <a:ext cx="10543032" cy="310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하늘마을(지어낸 마을)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하늘마을 앞 들판에 큰 공장이 들어서서 마을 사람들이 일자리를 얻었어요.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버스가 자주 다니고, 집집마다 냉장고와 세탁기가 생겼어요.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그런데 공장 옆 냇물이 더러워져 물고기가 줄었어요.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어른께 여쭈어 보기</a:t>
            </a:r>
            <a:endParaRPr lang="ko-KR" sz="4000" dirty="0"/>
          </a:p>
        </p:txBody>
      </p:sp>
      <p:sp>
        <p:nvSpPr>
          <p:cNvPr id="3" name="S11-card73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4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가지를 여쭈어 적었어요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지금과 다른 점을 찾았어요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달라진 까닭을 말했어요</a:t>
            </a:r>
            <a:endParaRPr lang="ko-KR" sz="2800" dirty="0"/>
          </a:p>
        </p:txBody>
      </p:sp>
      <p:sp>
        <p:nvSpPr>
          <p:cNvPr id="5" name="S11-stepno75"/>
          <p:cNvSpPr txBox="1"/>
          <p:nvPr/>
        </p:nvSpPr>
        <p:spPr>
          <a:xfrm>
            <a:off x="548640" y="183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1-text76"/>
          <p:cNvSpPr txBox="1"/>
          <p:nvPr/>
        </p:nvSpPr>
        <p:spPr>
          <a:xfrm>
            <a:off x="1325880" y="1789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할머니·할아버지나 이웃 어른께 여쭈어요.</a:t>
            </a:r>
            <a:endParaRPr lang="ko-KR" sz="2800" dirty="0"/>
          </a:p>
        </p:txBody>
      </p:sp>
      <p:sp>
        <p:nvSpPr>
          <p:cNvPr id="7" name="S11-stepno77"/>
          <p:cNvSpPr txBox="1"/>
          <p:nvPr/>
        </p:nvSpPr>
        <p:spPr>
          <a:xfrm>
            <a:off x="548640" y="286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1-text78"/>
          <p:cNvSpPr txBox="1"/>
          <p:nvPr/>
        </p:nvSpPr>
        <p:spPr>
          <a:xfrm>
            <a:off x="1325880" y="2821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어릴 때의 집, 교통, 집안일을 여쭈어요.</a:t>
            </a:r>
            <a:endParaRPr lang="ko-KR" sz="2800" dirty="0"/>
          </a:p>
        </p:txBody>
      </p:sp>
      <p:sp>
        <p:nvSpPr>
          <p:cNvPr id="9" name="S11-stepno79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1-text80"/>
          <p:cNvSpPr txBox="1"/>
          <p:nvPr/>
        </p:nvSpPr>
        <p:spPr>
          <a:xfrm>
            <a:off x="1325880" y="38541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4에 지금과 견주어 적어요.</a:t>
            </a:r>
            <a:endParaRPr lang="ko-KR" sz="2800" dirty="0"/>
          </a:p>
        </p:txBody>
      </p:sp>
      <p:sp>
        <p:nvSpPr>
          <p:cNvPr id="11" name="S11-stepno81"/>
          <p:cNvSpPr txBox="1"/>
          <p:nvPr/>
        </p:nvSpPr>
        <p:spPr>
          <a:xfrm>
            <a:off x="548640" y="493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1-text82"/>
          <p:cNvSpPr txBox="1"/>
          <p:nvPr/>
        </p:nvSpPr>
        <p:spPr>
          <a:xfrm>
            <a:off x="1325880" y="48864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까닭을 산업화와 이어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8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8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경공업, 첨단 산업,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중화학 공업을 바뀐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차례로 놓아요.</a:t>
            </a:r>
            <a:endParaRPr lang="ko-KR" sz="2800" dirty="0"/>
          </a:p>
        </p:txBody>
      </p:sp>
      <p:sp>
        <p:nvSpPr>
          <p:cNvPr id="5" name="S12-chip8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8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첨단 산업의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하나는?</a:t>
            </a:r>
            <a:endParaRPr lang="ko-KR" sz="2800" dirty="0"/>
          </a:p>
        </p:txBody>
      </p:sp>
      <p:sp>
        <p:nvSpPr>
          <p:cNvPr id="7" name="S12-chip87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2-text88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산업화로 달라진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두 가지는?</a:t>
            </a:r>
            <a:endParaRPr lang="ko-KR" sz="2800" dirty="0"/>
          </a:p>
        </p:txBody>
      </p:sp>
      <p:sp>
        <p:nvSpPr>
          <p:cNvPr id="9" name="S12-chip89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2-text90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산업화로 생긴 문제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하나와 해결 노력은?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3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산업이 자라며 생활이 편리해졌고, 생긴 문제도 함께 풀어 가요.</a:t>
            </a:r>
            <a:endParaRPr lang="ko-KR" sz="2800" dirty="0"/>
          </a:p>
        </p:txBody>
      </p:sp>
      <p:sp>
        <p:nvSpPr>
          <p:cNvPr id="5" name="S13-chip9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3-text94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경공업 → 중화학 → 첨단</a:t>
            </a:r>
            <a:endParaRPr lang="ko-KR" sz="2800" dirty="0"/>
          </a:p>
        </p:txBody>
      </p:sp>
      <p:sp>
        <p:nvSpPr>
          <p:cNvPr id="7" name="S13-text95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반도체 등</a:t>
            </a:r>
            <a:endParaRPr lang="ko-KR" sz="2800" dirty="0"/>
          </a:p>
        </p:txBody>
      </p:sp>
      <p:sp>
        <p:nvSpPr>
          <p:cNvPr id="8" name="S13-text96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도시화, 가전제품 등</a:t>
            </a:r>
            <a:endParaRPr lang="ko-KR" sz="2800" dirty="0"/>
          </a:p>
        </p:txBody>
      </p:sp>
      <p:sp>
        <p:nvSpPr>
          <p:cNvPr id="9" name="S13-text97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환경 오염 – 법·시설</a:t>
            </a:r>
            <a:endParaRPr lang="ko-KR" sz="2800" dirty="0"/>
          </a:p>
        </p:txBody>
      </p:sp>
      <p:sp>
        <p:nvSpPr>
          <p:cNvPr id="10" name="S13-chip9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3-text9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“좋아지기만 했어요”</a:t>
            </a:r>
            <a:endParaRPr lang="ko-KR" sz="2800" dirty="0"/>
          </a:p>
        </p:txBody>
      </p:sp>
      <p:sp>
        <p:nvSpPr>
          <p:cNvPr id="12" name="S13-text10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문제도 생김</a:t>
            </a:r>
            <a:endParaRPr lang="ko-KR" sz="2200" dirty="0"/>
          </a:p>
        </p:txBody>
      </p:sp>
      <p:sp>
        <p:nvSpPr>
          <p:cNvPr id="13" name="S13-text10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“이제 옷은 안 만들어요”</a:t>
            </a:r>
            <a:endParaRPr lang="ko-KR" sz="2800" dirty="0"/>
          </a:p>
        </p:txBody>
      </p:sp>
      <p:sp>
        <p:nvSpPr>
          <p:cNvPr id="14" name="S13-text10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중심만 바뀜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0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산업은 경공업 → 중화학 공업 → 첨단 산업으로 자랐어요.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생활이 편리해진 만큼 생긴 문제도 함께 풀어 가요.</a:t>
            </a:r>
            <a:endParaRPr lang="ko-KR" sz="2800" dirty="0"/>
          </a:p>
        </p:txBody>
      </p:sp>
      <p:sp>
        <p:nvSpPr>
          <p:cNvPr id="5" name="S14-chip10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좋아진 점과 문제를 함께 보기</a:t>
            </a:r>
            <a:endParaRPr lang="ko-KR" sz="2200" dirty="0"/>
          </a:p>
        </p:txBody>
      </p:sp>
      <p:sp>
        <p:nvSpPr>
          <p:cNvPr id="6" name="S14-chip10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좋아지기만 했다고 여기기</a:t>
            </a:r>
            <a:endParaRPr lang="ko-KR" sz="2200" dirty="0"/>
          </a:p>
        </p:txBody>
      </p:sp>
      <p:sp>
        <p:nvSpPr>
          <p:cNvPr id="7" name="S14-text10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경공업에서 만드는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물건의 예는?</a:t>
            </a:r>
            <a:endParaRPr lang="ko-KR" sz="2200" dirty="0"/>
          </a:p>
        </p:txBody>
      </p:sp>
      <p:sp>
        <p:nvSpPr>
          <p:cNvPr id="9" name="S14-text10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도시화란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무엇인가요?</a:t>
            </a:r>
            <a:endParaRPr lang="ko-KR" sz="2200" dirty="0"/>
          </a:p>
        </p:txBody>
      </p:sp>
      <p:sp>
        <p:nvSpPr>
          <p:cNvPr id="10" name="S14-text11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산업화로 생긴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하나는?</a:t>
            </a:r>
            <a:endParaRPr lang="ko-KR" sz="2200" dirty="0"/>
          </a:p>
        </p:txBody>
      </p:sp>
      <p:sp>
        <p:nvSpPr>
          <p:cNvPr id="11" name="S14-text11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분단과 평화 통일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민주주의의 발전</a:t>
            </a:r>
            <a:endParaRPr lang="ko-KR" sz="4000" dirty="0"/>
          </a:p>
        </p:txBody>
      </p:sp>
      <p:sp>
        <p:nvSpPr>
          <p:cNvPr id="3" name="S15-text1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시간에 배운 세 사건을 다시 봐요.</a:t>
            </a:r>
            <a:endParaRPr lang="ko-KR" sz="2800" dirty="0"/>
          </a:p>
        </p:txBody>
      </p:sp>
      <p:sp>
        <p:nvSpPr>
          <p:cNvPr id="4" name="S15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시민들이 나서 민주주의를 지키고 키웠어요.</a:t>
            </a:r>
            <a:endParaRPr lang="ko-KR" sz="2800" dirty="0"/>
          </a:p>
        </p:txBody>
      </p:sp>
      <p:graphicFrame>
        <p:nvGraphicFramePr>
          <p:cNvPr id="16" name="S15-table1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45208"/>
          <a:ext cx="10972800" cy="914400"/>
        </p:xfrm>
        <a:graphic>
          <a:graphicData uri="http://schemas.openxmlformats.org/drawingml/2006/table">
            <a:tbl>
              <a:tblPr/>
              <a:tblGrid>
                <a:gridCol w="3730752"/>
                <a:gridCol w="3621024"/>
                <a:gridCol w="362102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시민들이 바란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바뀐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4·19 혁명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(1960년)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공정한 선거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대통령이 물러남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5·18 민주화 운동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(1980년, 광주)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민주주의 되찾기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정신이 뒤로 이어짐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6월 민주 항쟁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(1987년)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대통령 직접 뽑기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대통령 직선제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산업화와 생활 변화</dc:title>
  <dc:subject>KR22-G06-SOC-INDUSTRY-L01</dc:subject>
  <dc:creator>education-ppt</dc:creator>
  <cp:lastModifiedBy>education-ppt</cp:lastModifiedBy>
  <cp:revision>1</cp:revision>
  <dcterms:created xsi:type="dcterms:W3CDTF">2026-10-26T13:39:37Z</dcterms:created>
  <dcterms:modified xsi:type="dcterms:W3CDTF">2026-10-26T13:39:37Z</dcterms:modified>
</cp:coreProperties>
</file>