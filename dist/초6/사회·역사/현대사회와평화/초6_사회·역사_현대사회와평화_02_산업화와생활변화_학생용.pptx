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5dbf76d-d4a0-c4e8-9e85-cf51712e6113}">
          <p14:sldIdLst>
            <p14:sldId id="256"/>
            <p14:sldId id="257"/>
          </p14:sldIdLst>
        </p14:section>
        <p14:section name="개념" id="{a1580697-52f2-4be9-243f-0ec891784dc8}">
          <p14:sldIdLst>
            <p14:sldId id="258"/>
            <p14:sldId id="259"/>
            <p14:sldId id="262"/>
            <p14:sldId id="264"/>
          </p14:sldIdLst>
        </p14:section>
        <p14:section name="연습" id="{05f239a9-4d19-6087-73f7-db33f057efd9}">
          <p14:sldIdLst>
            <p14:sldId id="260"/>
            <p14:sldId id="261"/>
            <p14:sldId id="263"/>
            <p14:sldId id="265"/>
            <p14:sldId id="266"/>
          </p14:sldIdLst>
        </p14:section>
        <p14:section name="개념" id="{3f64a324-b904-af12-fa56-599d8ad83338}">
          <p14:sldIdLst/>
        </p14:section>
        <p14:section name="연습" id="{360d9dbb-f059-4631-0774-7094dfbf58b5}">
          <p14:sldIdLst/>
        </p14:section>
        <p14:section name="개념" id="{ff204334-76c3-aaab-8204-c6618b56c82c}">
          <p14:sldIdLst/>
        </p14:section>
        <p14:section name="연습" id="{3c3bc49a-417c-3182-ff5d-685d9022fae7}">
          <p14:sldIdLst/>
        </p14:section>
        <p14:section name="확인" id="{3c5a8c85-cb80-e596-4f1f-24ce4511ccf8}">
          <p14:sldIdLst>
            <p14:sldId id="267"/>
          </p14:sldIdLst>
        </p14:section>
        <p14:section name="정리" id="{20301a30-8a44-5edd-bb7f-424c72c7f2d5}">
          <p14:sldIdLst>
            <p14:sldId id="268"/>
          </p14:sldIdLst>
        </p14:section>
        <p14:section name="보충" id="{a7981f4a-a9d0-7bf2-8ef9-193eb43bca3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F2937"/>
                </a:solidFill>
                <a:latin typeface="+mn-lt"/>
              </a:rPr>
              <a:t>별빛시 사람 수(지어낸 예시 자료)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별빛시 사람 수(지어낸 예시 자료)</c:v>
                </c:pt>
              </c:strCache>
            </c:strRef>
          </c:tx>
          <c:spPr>
            <a:solidFill>
              <a:srgbClr val="E97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할머니 어릴 때</c:v>
                  </c:pt>
                  <c:pt idx="1">
                    <c:v>부모님 어릴 때</c:v>
                  </c:pt>
                  <c:pt idx="2">
                    <c:v>지금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8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9525" cap="flat">
              <a:solidFill>
                <a:srgbClr val="D1D5D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r>
                  <a:rPr sz="1800" b="0" i="0" u="none" strike="noStrike">
                    <a:solidFill>
                      <a:srgbClr val="000000"/>
                    </a:solidFill>
                    <a:latin typeface="+mn-lt"/>
                  </a:rPr>
                  <a:t>만 명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현대사회와평화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산업화와 생활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사회·역사 · 산업화와 생활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사회·역사 · 산업화와 생활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산업화와 생활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어릴 때와 지금,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달라졌을까요?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우리나라 산업이 바뀐 차례를 말하고 예를 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산업화로 달라진 생활과 생긴 문제를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4·19 혁명 때 시민들이 바란 것은?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6월 민주 항쟁으로 바뀐 것은?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 뒤 삶터는 어땠나요?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산업의 종류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산업: 생활에 필요한 것을 만들어 내는 일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논밭에서 곡식과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채소를 길러요.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옷·신발처럼 가벼운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물건을 만들어요.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중화학 공업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철·배·자동차처럼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무겁고 큰 것을 만들어요.</a:t>
            </a:r>
            <a:endParaRPr lang="ko-KR" sz="28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산업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반도체·휴대 전화처럼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높은 기술로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 산업의 변화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뒤 어려운 살림에서 산업이 이렇게 바뀌었어요.</a:t>
            </a:r>
            <a:endParaRPr lang="ko-KR" sz="2800" dirty="0"/>
          </a:p>
        </p:txBody>
      </p:sp>
      <p:sp>
        <p:nvSpPr>
          <p:cNvPr id="4" name="S04-card2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중심이 되는 산업이 바뀌었을 뿐, 지금도 농사를 짓고 옷을 만들어요.</a:t>
            </a:r>
            <a:endParaRPr lang="ko-KR" sz="2800" dirty="0"/>
          </a:p>
        </p:txBody>
      </p:sp>
      <p:sp>
        <p:nvSpPr>
          <p:cNvPr id="6" name="S04-line22"/>
          <p:cNvSpPr/>
          <p:nvPr/>
        </p:nvSpPr>
        <p:spPr>
          <a:xfrm>
            <a:off x="822960" y="3402076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4-event23"/>
          <p:cNvSpPr/>
          <p:nvPr/>
        </p:nvSpPr>
        <p:spPr>
          <a:xfrm>
            <a:off x="2021967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4-label24"/>
          <p:cNvSpPr txBox="1"/>
          <p:nvPr/>
        </p:nvSpPr>
        <p:spPr>
          <a:xfrm>
            <a:off x="868680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농업 중심</a:t>
            </a:r>
            <a:endParaRPr lang="ko-KR" sz="2200" dirty="0"/>
          </a:p>
        </p:txBody>
      </p:sp>
      <p:sp>
        <p:nvSpPr>
          <p:cNvPr id="9" name="S04-label25"/>
          <p:cNvSpPr txBox="1"/>
          <p:nvPr/>
        </p:nvSpPr>
        <p:spPr>
          <a:xfrm>
            <a:off x="868680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1950년대</a:t>
            </a:r>
            <a:endParaRPr lang="ko-KR" sz="1800" dirty="0"/>
          </a:p>
        </p:txBody>
      </p:sp>
      <p:sp>
        <p:nvSpPr>
          <p:cNvPr id="10" name="S04-event26"/>
          <p:cNvSpPr/>
          <p:nvPr/>
        </p:nvSpPr>
        <p:spPr>
          <a:xfrm>
            <a:off x="4657725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4-label27"/>
          <p:cNvSpPr txBox="1"/>
          <p:nvPr/>
        </p:nvSpPr>
        <p:spPr>
          <a:xfrm>
            <a:off x="3504438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</a:t>
            </a:r>
            <a:endParaRPr lang="ko-KR" sz="2200" dirty="0"/>
          </a:p>
        </p:txBody>
      </p:sp>
      <p:sp>
        <p:nvSpPr>
          <p:cNvPr id="12" name="S04-label28"/>
          <p:cNvSpPr txBox="1"/>
          <p:nvPr/>
        </p:nvSpPr>
        <p:spPr>
          <a:xfrm>
            <a:off x="3504438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1960년대, 옷·신발</a:t>
            </a:r>
            <a:endParaRPr lang="ko-KR" sz="1800" dirty="0"/>
          </a:p>
        </p:txBody>
      </p:sp>
      <p:sp>
        <p:nvSpPr>
          <p:cNvPr id="13" name="S04-event29"/>
          <p:cNvSpPr/>
          <p:nvPr/>
        </p:nvSpPr>
        <p:spPr>
          <a:xfrm>
            <a:off x="7293483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4-label30"/>
          <p:cNvSpPr txBox="1"/>
          <p:nvPr/>
        </p:nvSpPr>
        <p:spPr>
          <a:xfrm>
            <a:off x="6140196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중화학 공업</a:t>
            </a:r>
            <a:endParaRPr lang="ko-KR" sz="2200" dirty="0"/>
          </a:p>
        </p:txBody>
      </p:sp>
      <p:sp>
        <p:nvSpPr>
          <p:cNvPr id="15" name="S04-label31"/>
          <p:cNvSpPr txBox="1"/>
          <p:nvPr/>
        </p:nvSpPr>
        <p:spPr>
          <a:xfrm>
            <a:off x="6140196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1970년대, 철강·배</a:t>
            </a:r>
            <a:endParaRPr lang="ko-KR" sz="1800" dirty="0"/>
          </a:p>
        </p:txBody>
      </p:sp>
      <p:sp>
        <p:nvSpPr>
          <p:cNvPr id="16" name="S04-event32"/>
          <p:cNvSpPr/>
          <p:nvPr/>
        </p:nvSpPr>
        <p:spPr>
          <a:xfrm>
            <a:off x="9929241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4-label33"/>
          <p:cNvSpPr txBox="1"/>
          <p:nvPr/>
        </p:nvSpPr>
        <p:spPr>
          <a:xfrm>
            <a:off x="8775954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산업</a:t>
            </a:r>
            <a:endParaRPr lang="ko-KR" sz="2200" dirty="0"/>
          </a:p>
        </p:txBody>
      </p:sp>
      <p:sp>
        <p:nvSpPr>
          <p:cNvPr id="18" name="S04-label34"/>
          <p:cNvSpPr txBox="1"/>
          <p:nvPr/>
        </p:nvSpPr>
        <p:spPr>
          <a:xfrm>
            <a:off x="8775954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1990년대 이후, 반도체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산업일까요?</a:t>
            </a:r>
            <a:endParaRPr lang="ko-KR" sz="4000" dirty="0"/>
          </a:p>
        </p:txBody>
      </p:sp>
      <p:sp>
        <p:nvSpPr>
          <p:cNvPr id="3" name="S05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산업의 이름을 말해요.</a:t>
            </a:r>
            <a:endParaRPr lang="ko-KR" sz="2800" dirty="0"/>
          </a:p>
        </p:txBody>
      </p:sp>
      <p:sp>
        <p:nvSpPr>
          <p:cNvPr id="4" name="S05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물건 · 무겁고 큰 것 · 높은 기술</a:t>
            </a:r>
            <a:endParaRPr lang="ko-KR" sz="2800" dirty="0"/>
          </a:p>
        </p:txBody>
      </p:sp>
      <p:sp>
        <p:nvSpPr>
          <p:cNvPr id="6" name="S05-chip3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3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공장에서 실로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옷감을 짜요.</a:t>
            </a:r>
            <a:endParaRPr lang="ko-KR" sz="2800" dirty="0"/>
          </a:p>
        </p:txBody>
      </p:sp>
      <p:sp>
        <p:nvSpPr>
          <p:cNvPr id="8" name="S05-chip4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4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배를 만들어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나라에 팔아요.</a:t>
            </a:r>
            <a:endParaRPr lang="ko-KR" sz="2800" dirty="0"/>
          </a:p>
        </p:txBody>
      </p:sp>
      <p:sp>
        <p:nvSpPr>
          <p:cNvPr id="10" name="S05-chip42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43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 전화에 들어가는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반도체를 만들어요.</a:t>
            </a:r>
            <a:endParaRPr lang="ko-KR" sz="2800" dirty="0"/>
          </a:p>
        </p:txBody>
      </p:sp>
      <p:sp>
        <p:nvSpPr>
          <p:cNvPr id="12" name="S05-chip44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45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용광로에서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철을 만들어요.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경공업부터 했을까?</a:t>
            </a:r>
            <a:endParaRPr lang="ko-KR" sz="4000" dirty="0"/>
          </a:p>
        </p:txBody>
      </p:sp>
      <p:sp>
        <p:nvSpPr>
          <p:cNvPr id="3" name="S06-card46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7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1960년대 우리나라는 돈과 기술이 부족했고, 일할 사람은 많았어요.</a:t>
            </a:r>
            <a:endParaRPr lang="ko-KR" sz="2800" dirty="0"/>
          </a:p>
        </p:txBody>
      </p:sp>
      <p:sp>
        <p:nvSpPr>
          <p:cNvPr id="5" name="S06-card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생각이 더 알맞을까요? 까닭을 말해요.</a:t>
            </a:r>
            <a:endParaRPr lang="ko-KR" sz="2800" dirty="0"/>
          </a:p>
        </p:txBody>
      </p:sp>
      <p:sp>
        <p:nvSpPr>
          <p:cNvPr id="7" name="S06-chip50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51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“처음부터 큰 배와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자동차를 만들면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됐을 거예요.”</a:t>
            </a:r>
            <a:endParaRPr lang="ko-KR" sz="2800" dirty="0"/>
          </a:p>
        </p:txBody>
      </p:sp>
      <p:sp>
        <p:nvSpPr>
          <p:cNvPr id="9" name="S06-chip52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53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“돈과 기술이 적게 들고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일할 사람이 많이 필요한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경공업부터 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생활</a:t>
            </a:r>
            <a:endParaRPr lang="ko-KR" sz="4000" dirty="0"/>
          </a:p>
        </p:txBody>
      </p:sp>
      <p:sp>
        <p:nvSpPr>
          <p:cNvPr id="3" name="S07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도시화: 도시에 사는 사람이 많아지는 것</a:t>
            </a:r>
            <a:endParaRPr lang="ko-KR" sz="2800" dirty="0"/>
          </a:p>
        </p:txBody>
      </p:sp>
      <p:sp>
        <p:nvSpPr>
          <p:cNvPr id="5" name="S07-card56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57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일자리를 찾아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사람이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도시로 옮겨 갔어요.</a:t>
            </a:r>
            <a:endParaRPr lang="ko-KR" sz="2800" dirty="0"/>
          </a:p>
        </p:txBody>
      </p:sp>
      <p:sp>
        <p:nvSpPr>
          <p:cNvPr id="7" name="S07-card58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59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가전제품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냉장고·세탁기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덕분에 집안일이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쉬워졌어요.</a:t>
            </a:r>
            <a:endParaRPr lang="ko-KR" sz="2800" dirty="0"/>
          </a:p>
        </p:txBody>
      </p:sp>
      <p:sp>
        <p:nvSpPr>
          <p:cNvPr id="9" name="S07-card60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61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고속 국도와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지하철로 먼 곳도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 사람 수의 변화</a:t>
            </a:r>
            <a:endParaRPr lang="ko-KR" sz="4000" dirty="0"/>
          </a:p>
        </p:txBody>
      </p:sp>
      <p:sp>
        <p:nvSpPr>
          <p:cNvPr id="3" name="S08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별빛시에 공장이 많이 생겼어요.</a:t>
            </a:r>
            <a:endParaRPr lang="ko-KR" sz="2800" dirty="0"/>
          </a:p>
        </p:txBody>
      </p:sp>
      <p:sp>
        <p:nvSpPr>
          <p:cNvPr id="4" name="S08-card6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사람 수는 어떻게 변했나요? ② 몇 만 명 늘었나요?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왜 그랬을까요?</a:t>
            </a:r>
            <a:endParaRPr lang="ko-KR" sz="2800" dirty="0"/>
          </a:p>
        </p:txBody>
      </p:sp>
      <p:graphicFrame>
        <p:nvGraphicFramePr>
          <p:cNvPr id="6" name="S08-chart65" descr=""/>
          <p:cNvGraphicFramePr/>
          <p:nvPr/>
        </p:nvGraphicFramePr>
        <p:xfrm>
          <a:off x="548640" y="2011680"/>
          <a:ext cx="11091672" cy="2780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생긴 문제</a:t>
            </a:r>
            <a:endParaRPr lang="ko-KR" sz="4000" dirty="0"/>
          </a:p>
        </p:txBody>
      </p:sp>
      <p:sp>
        <p:nvSpPr>
          <p:cNvPr id="3" name="S09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편리해진 만큼 생긴 문제도 함께 풀어 가요.</a:t>
            </a:r>
            <a:endParaRPr lang="ko-KR" sz="2800" dirty="0"/>
          </a:p>
        </p:txBody>
      </p:sp>
      <p:graphicFrame>
        <p:nvGraphicFramePr>
          <p:cNvPr id="10" name="S09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85468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169664"/>
                <a:gridCol w="4608576"/>
              </a:tblGrid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어떤 모습?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해결하려는 노력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오염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공장 연기, 더러운 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환경을 지키는 법,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오염 줄이는 시설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노동 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오랜 시간 일하고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일터가 위험함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일하는 사람의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권리를 지키는 법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146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격차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도시와 농촌, 소득의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차이가 커짐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농촌 살리기,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어려운 이웃 돕기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59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도시 문제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 부족, 교통 혼잡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도시, 대중교통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하늘마을 이야기</a:t>
            </a:r>
            <a:endParaRPr lang="ko-KR" sz="4000" dirty="0"/>
          </a:p>
        </p:txBody>
      </p:sp>
      <p:sp>
        <p:nvSpPr>
          <p:cNvPr id="3" name="S10-card6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7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좋아진 점 두 가지는?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생긴 문제와 해결 방법은?</a:t>
            </a:r>
            <a:endParaRPr lang="ko-KR" sz="2800" dirty="0"/>
          </a:p>
        </p:txBody>
      </p:sp>
      <p:sp>
        <p:nvSpPr>
          <p:cNvPr id="5" name="S10-passagebox71"/>
          <p:cNvSpPr/>
          <p:nvPr/>
        </p:nvSpPr>
        <p:spPr>
          <a:xfrm>
            <a:off x="548640" y="1325880"/>
            <a:ext cx="11091672" cy="3466592"/>
          </a:xfrm>
          <a:prstGeom prst="roundRect">
            <a:avLst>
              <a:gd name="adj" fmla="val 2638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2"/>
          <p:cNvSpPr txBox="1"/>
          <p:nvPr/>
        </p:nvSpPr>
        <p:spPr>
          <a:xfrm>
            <a:off x="822960" y="1508760"/>
            <a:ext cx="10543032" cy="3100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하늘마을(지어낸 마을)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하늘마을 앞 들판에 큰 공장이 들어서서 마을 사람들이 일자리를 얻었어요.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버스가 자주 다니고, 집집마다 냉장고와 세탁기가 생겼어요.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그런데 공장 옆 냇물이 더러워져 물고기가 줄었어요.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 여쭈어 보기</a:t>
            </a:r>
            <a:endParaRPr lang="ko-KR" sz="4000" dirty="0"/>
          </a:p>
        </p:txBody>
      </p:sp>
      <p:sp>
        <p:nvSpPr>
          <p:cNvPr id="3" name="S11-card73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4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세 가지를 여쭈어 적었어요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지금과 다른 점을 찾았어요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달라진 까닭을 말했어요</a:t>
            </a:r>
            <a:endParaRPr lang="ko-KR" sz="2800" dirty="0"/>
          </a:p>
        </p:txBody>
      </p:sp>
      <p:sp>
        <p:nvSpPr>
          <p:cNvPr id="5" name="S11-stepno75"/>
          <p:cNvSpPr txBox="1"/>
          <p:nvPr/>
        </p:nvSpPr>
        <p:spPr>
          <a:xfrm>
            <a:off x="548640" y="183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1-text76"/>
          <p:cNvSpPr txBox="1"/>
          <p:nvPr/>
        </p:nvSpPr>
        <p:spPr>
          <a:xfrm>
            <a:off x="1325880" y="1789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할머니·할아버지나 이웃 어른께 여쭈어요.</a:t>
            </a:r>
            <a:endParaRPr lang="ko-KR" sz="2800" dirty="0"/>
          </a:p>
        </p:txBody>
      </p:sp>
      <p:sp>
        <p:nvSpPr>
          <p:cNvPr id="7" name="S11-stepno77"/>
          <p:cNvSpPr txBox="1"/>
          <p:nvPr/>
        </p:nvSpPr>
        <p:spPr>
          <a:xfrm>
            <a:off x="548640" y="286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1-text78"/>
          <p:cNvSpPr txBox="1"/>
          <p:nvPr/>
        </p:nvSpPr>
        <p:spPr>
          <a:xfrm>
            <a:off x="1325880" y="2821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어릴 때의 집, 교통, 집안일을 여쭈어요.</a:t>
            </a:r>
            <a:endParaRPr lang="ko-KR" sz="2800" dirty="0"/>
          </a:p>
        </p:txBody>
      </p:sp>
      <p:sp>
        <p:nvSpPr>
          <p:cNvPr id="9" name="S11-stepno79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1-text80"/>
          <p:cNvSpPr txBox="1"/>
          <p:nvPr/>
        </p:nvSpPr>
        <p:spPr>
          <a:xfrm>
            <a:off x="1325880" y="38541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4에 지금과 견주어 적어요.</a:t>
            </a:r>
            <a:endParaRPr lang="ko-KR" sz="2800" dirty="0"/>
          </a:p>
        </p:txBody>
      </p:sp>
      <p:sp>
        <p:nvSpPr>
          <p:cNvPr id="11" name="S11-stepno81"/>
          <p:cNvSpPr txBox="1"/>
          <p:nvPr/>
        </p:nvSpPr>
        <p:spPr>
          <a:xfrm>
            <a:off x="548640" y="493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1-text82"/>
          <p:cNvSpPr txBox="1"/>
          <p:nvPr/>
        </p:nvSpPr>
        <p:spPr>
          <a:xfrm>
            <a:off x="1325880" y="4886452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까닭을 산업화와 이어 말해요.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8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8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경공업, 첨단 산업,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중화학 공업을 바뀐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차례로 놓아요.</a:t>
            </a:r>
            <a:endParaRPr lang="ko-KR" sz="2800" dirty="0"/>
          </a:p>
        </p:txBody>
      </p:sp>
      <p:sp>
        <p:nvSpPr>
          <p:cNvPr id="5" name="S12-chip8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8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 산업의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하나는?</a:t>
            </a:r>
            <a:endParaRPr lang="ko-KR" sz="2800" dirty="0"/>
          </a:p>
        </p:txBody>
      </p:sp>
      <p:sp>
        <p:nvSpPr>
          <p:cNvPr id="7" name="S12-chip8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8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달라진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두 가지는?</a:t>
            </a:r>
            <a:endParaRPr lang="ko-KR" sz="2800" dirty="0"/>
          </a:p>
        </p:txBody>
      </p:sp>
      <p:sp>
        <p:nvSpPr>
          <p:cNvPr id="9" name="S12-chip8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9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산업화로 생긴 문제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하나와 해결 노력은?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산업은 경공업 → 중화학 공업 → 첨단 산업으로 자랐어요.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생활이 편리해진 만큼 생긴 문제도 함께 풀어 가요.</a:t>
            </a:r>
            <a:endParaRPr lang="ko-KR" sz="2800" dirty="0"/>
          </a:p>
        </p:txBody>
      </p:sp>
      <p:sp>
        <p:nvSpPr>
          <p:cNvPr id="5" name="S14-chip9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좋아진 점과 문제를 함께 보기</a:t>
            </a:r>
            <a:endParaRPr lang="ko-KR" sz="2200" dirty="0"/>
          </a:p>
        </p:txBody>
      </p:sp>
      <p:sp>
        <p:nvSpPr>
          <p:cNvPr id="6" name="S14-chip9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좋아지기만 했다고 여기기</a:t>
            </a:r>
            <a:endParaRPr lang="ko-KR" sz="2200" dirty="0"/>
          </a:p>
        </p:txBody>
      </p:sp>
      <p:sp>
        <p:nvSpPr>
          <p:cNvPr id="7" name="S14-text9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경공업에서 만드는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물건의 예는?</a:t>
            </a:r>
            <a:endParaRPr lang="ko-KR" sz="2200" dirty="0"/>
          </a:p>
        </p:txBody>
      </p:sp>
      <p:sp>
        <p:nvSpPr>
          <p:cNvPr id="9" name="S14-text9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도시화란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무엇인가요?</a:t>
            </a:r>
            <a:endParaRPr lang="ko-KR" sz="2200" dirty="0"/>
          </a:p>
        </p:txBody>
      </p:sp>
      <p:sp>
        <p:nvSpPr>
          <p:cNvPr id="10" name="S14-text9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산업화로 생긴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하나는?</a:t>
            </a:r>
            <a:endParaRPr lang="ko-KR" sz="2200" dirty="0"/>
          </a:p>
        </p:txBody>
      </p:sp>
      <p:sp>
        <p:nvSpPr>
          <p:cNvPr id="11" name="S14-text9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분단과 평화 통일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민주주의의 발전</a:t>
            </a:r>
            <a:endParaRPr lang="ko-KR" sz="4000" dirty="0"/>
          </a:p>
        </p:txBody>
      </p:sp>
      <p:sp>
        <p:nvSpPr>
          <p:cNvPr id="3" name="S15-text10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배운 세 사건을 다시 봐요.</a:t>
            </a:r>
            <a:endParaRPr lang="ko-KR" sz="2800" dirty="0"/>
          </a:p>
        </p:txBody>
      </p:sp>
      <p:sp>
        <p:nvSpPr>
          <p:cNvPr id="4" name="S15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시민들이 나서 민주주의를 지키고 키웠어요.</a:t>
            </a:r>
            <a:endParaRPr lang="ko-KR" sz="2800" dirty="0"/>
          </a:p>
        </p:txBody>
      </p:sp>
      <p:graphicFrame>
        <p:nvGraphicFramePr>
          <p:cNvPr id="15" name="S15-table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45208"/>
          <a:ext cx="10972800" cy="914400"/>
        </p:xfrm>
        <a:graphic>
          <a:graphicData uri="http://schemas.openxmlformats.org/drawingml/2006/table">
            <a:tbl>
              <a:tblPr/>
              <a:tblGrid>
                <a:gridCol w="3730752"/>
                <a:gridCol w="3621024"/>
                <a:gridCol w="362102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시민들이 바란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4·19 혁명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(1960년)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공정한 선거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대통령이 물러남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5·18 민주화 운동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(1980년, 광주)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민주주의 되찾기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정신이 뒤로 이어짐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6월 민주 항쟁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(1987년)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 직접 뽑기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대통령 직선제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사회·역사 산업화와 생활 변화</dc:title>
  <dc:subject>KR22-G06-SOC-INDUSTRY-L01</dc:subject>
  <dc:creator>education-ppt</dc:creator>
  <cp:lastModifiedBy>education-ppt</cp:lastModifiedBy>
  <cp:revision>1</cp:revision>
  <dcterms:created xsi:type="dcterms:W3CDTF">2026-10-26T13:52:10Z</dcterms:created>
  <dcterms:modified xsi:type="dcterms:W3CDTF">2026-10-26T13:52:10Z</dcterms:modified>
</cp:coreProperties>
</file>