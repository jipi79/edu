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c0d6494-4d63-e112-1d66-3dbc023d1f55}">
          <p14:sldIdLst>
            <p14:sldId id="256"/>
            <p14:sldId id="257"/>
          </p14:sldIdLst>
        </p14:section>
        <p14:section name="개념" id="{cadd42c7-61b4-4c7a-d71b-c4e4d04bce35}">
          <p14:sldIdLst>
            <p14:sldId id="258"/>
            <p14:sldId id="259"/>
            <p14:sldId id="262"/>
          </p14:sldIdLst>
        </p14:section>
        <p14:section name="연습" id="{26b0e396-1650-4e19-e6b2-6a466aa89876}">
          <p14:sldIdLst>
            <p14:sldId id="260"/>
            <p14:sldId id="261"/>
            <p14:sldId id="263"/>
          </p14:sldIdLst>
        </p14:section>
        <p14:section name="개념" id="{0aeeb7f3-cabd-5ee4-dbff-c2d3ac959bc4}">
          <p14:sldIdLst/>
        </p14:section>
        <p14:section name="연습" id="{333f3b9c-2845-686d-53fb-b0422a902de7}">
          <p14:sldIdLst/>
        </p14:section>
        <p14:section name="확인" id="{e79d8fd0-e2f7-b944-4abe-5d14b449457a}">
          <p14:sldIdLst>
            <p14:sldId id="264"/>
            <p14:sldId id="265"/>
            <p14:sldId id="266"/>
          </p14:sldIdLst>
        </p14:section>
        <p14:section name="정리" id="{7ed736be-6f26-d3fc-4b6e-c77a4cf483f3}">
          <p14:sldIdLst>
            <p14:sldId id="267"/>
          </p14:sldIdLst>
        </p14:section>
        <p14:section name="보충" id="{78a0a5b0-89a6-628f-d983-b296ebbe61c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지금까지 배운 여러 그래프를 떠올리고, 자료에 따라 알맞은 그래프가 다르다는 질문을 던집니다.
시간: 약 2분
이렇게 말해 보세요
- “지금까지 배운 그래프를 모두 말해 볼래? 그림그래프, 막대그래프, 꺾은선그래프, 띠그래프, 원그래프가 있었지.”
- “키가 자라는 모습을 원그래프로 그리면 어떨까? 오늘은 자료에 맞는 그래프를 고르는 방법을 알아볼 거야.”
예상 답
- “막대그래프, 꺾은선그래프, 원그래프요.” “키는 원그래프로 그리면 이상해요.” 어떤 답이든 괜찮습니다.
막히면
- 그래프 이름이 생각나지 않으면 S04의 카드를 미리 보여 줍니다.
주의
- 그림그래프는 3학년, 막대그래프·꺾은선그래프는 4학년, 띠그래프·원그래프는 지난 차시에 배웠습니다.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확인(원그래프 읽기)]
목적: 지난 차시 ‘띠그래프와 원그래프’에서 배운 원그래프 읽기와 해석을 할 수 있는지 확인합니다.
시간: 약 3분
이렇게 말해 보세요
- “원그래프에서 가장 넓은 부분은 무엇이야? 몇 %야?”
- “40명의 25 %는 몇 명일까?”
정답
- ① 장미, 40 %
- ② 10명 (40 × 0.25)
- ③ 100 %
막히면
- ①③이 어려우면 S13(보충)과 함께 앞 차시 ‘띠그래프와 원그래프’의 S03·S04를 다시 봅니다. 그래도 어려우면 그 차시를 먼저 다시 합니다.
- ②는 40명의 10 %가 4명이라는 것부터 생각하게 합니다.
주의
- 원그래프와 띠그래프는 백분율의 합이 100 %인 자료, 즉 전체를 나눈 자료를 나타낸다는 점을 오늘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같은 자료를 두 그래프로 견주기]
목적: 같은 자료라도 막대그래프는 항목끼리 수량을, 띠그래프는 전체에 대한 비율을 잘 보여 준다는 것을 비교합니다.
시간: 약 3분
이렇게 말해 보세요
- “왼쪽과 오른쪽은 같은 자료야. 동화책이 몇 권인지 알려면 어느 그래프를 봐?”
- “동화책이 전체의 몇 %인지 알려면 어느 그래프가 편해?”
- “그러면 그래프는 무엇을 알고 싶은지에 따라 고르면 되겠지?”
예상 답
- “막대그래프요. 7권이에요.” “띠그래프요. 35 %예요.”
막히면
- 막대그래프에서 동화 막대 끝을 옆으로 따라가 7권을 읽고, 띠그래프에서 동화 칸이 35 %인 것을 짚어 줍니다.
주의
- 자료: 동화 7권, 과학 6권, 역사 4권, 만화 3권(20권). 띠그래프는 35 %, 30 %, 20 %, 15 %입니다.
- ‘알고 싶은 것에 따라 알맞은 그래프가 달라요’가 오늘의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다섯 가지 그래프가 잘 보여 주는 것]
목적: 다섯 가지 그래프가 각각 무엇을 잘 보여 주는지 정리하고, 고르는 기준(무엇을 알고 싶은가)을 알려 줍니다.
시간: 약 3분
이렇게 말해 보세요
- “꺾은선그래프는 언제 썼지? 시간에 따라 기온이나 키가 변하는 모습을 볼 때였어.”
- “띠그래프와 원그래프는 둘 다 비율을 보여 주는데, 여러 해의 비율을 견줄 때는 띠를 위아래로 나란히 놓으면 편해.”
- “그래프를 고를 때는 먼저 ‘무엇을 알고 싶은가’를 생각해.”
예상 답
- “변화는 꺾은선, 비교는 막대, 비율은 띠나 원이에요.”
막히면
- 그래프마다 예를 하나씩 말하게 합니다(예: 꺾은선그래프 — 강아지 몸무게의 변화).
주의
- 그림그래프는 마을·지역처럼 장소별 수량을 그림의 크기나 개수로 나타내어 지도 위에서 한눈에 보기 좋습니다.
- 한 상황에 알맞은 그래프가 둘일 수 있습니다(띠그래프·원그래프). 까닭이 기준에 맞으면 맞음으로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연습(알맞은 그래프 고르기)]
목적: 도움을 받으며 상황마다 알고 싶은 것(변화·비교·비율·장소)을 찾아 알맞은 그래프를 고르고 까닭을 말합니다.
시간: 약 4분
이렇게 말해 보세요
- “①은 무엇을 알고 싶은 자료야? 몸무게가 어떻게 변하는지지? 그러면 어떤 그래프야?”
- “③은 용돈 전체 중 몇 %를 어디에 썼는지야. 어떤 그래프가 알맞을까?”
- “까닭도 꼭 말해 줘.”
정답
- ① 꺾은선그래프 — 시간(달)에 따른 몸무게의 변화를 보려고
- ② 막대그래프 — 과일(항목)끼리 학생 수를 비교하려고
- ③ 원그래프 또는 띠그래프 — 전체 용돈에 대한 비율을 보려고
- ④ 그림그래프 — 마을(장소)별 생산량의 많고 적음을 지도 위에서 한눈에 보려고
막히면
- S04의 카드에서 ‘변화·비교·비율·장소’ 중 어느 것인지 먼저 고르게 합니다.
주의
- 까닭 없이 그래프 이름만 말하면 “왜 그 그래프야?”라고 다시 묻습니다(M3). ‘예뻐서’, ‘그리기 쉬워서’는 기준이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비교(항목별 자료를 꺾은선으로 잇기)]
목적: 종류(항목)별 자료를 꺾은선으로 이으면 선분이 아무 뜻이 없다는 것을 보여 주어, 항목 비교에는 막대그래프가 알맞음을 압니다(M1).
시간: 약 3분
이렇게 말해 보세요
- “꺾은선그래프의 선분은 원래 무엇을 보여 줬지? 시간이 지나면서 변하는 모습이었어.”
- “사과와 배 사이에 시간이 흘렀어? 사과에서 배로 학생 수가 줄어든 걸까?”
예상 답
- “아무 뜻이 없어요. 과일끼리는 시간이 흐른 게 아니에요.” “곰이 맞아요.”
정답
- 곰의 막대그래프가 알맞습니다. 과일별 학생 수는 항목끼리 비교하는 자료입니다.
- 토끼 그래프의 선분은 ‘사과에서 배로 줄어들었다’처럼 보이지만, 과일 사이에는 시간의 흐름이 없으므로 뜻이 없습니다.
막히면
- S04의 꺾은선그래프 카드(시간에 따른 변화)를 다시 보여 주고, 과일 사이에는 ‘시간’이 없다는 것을 짚어 줍니다.
주의
- 두 그래프의 높이(수)는 같습니다. 문제는 선분입니다. 항목의 차례를 바꾸면 꺾은선 모양이 달라지므로 변화를 뜻할 수 없습니다.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골라서 나타내고 해석하기(시범)]
목적: 알고 싶은 것 정하기 → 그래프 고르기 → 나타내기 → 해석하기 순서를 시범으로 보여 줍니다.
시간: 약 4분
이렇게 말해 보세요
- “알고 싶은 것이 ‘전체 중 몇 %’이니까 띠그래프나 원그래프가 알맞아. 오늘은 원그래프로 해 볼게.”
- “문학책 160권은 400권의 몇 %일까? 160 ÷ 400 × 100 = 40이야.”
- “그래프를 보고 알 수 있는 것을 하나 더 말해 볼래?”
예상 답
- “과학책이 25 %로 두 번째로 많아요.” “문학책은 역사책의 2배예요.”
막히면
- 백분율 구하기가 어려우면 400권의 10 %가 40권이라는 것부터 생각하게 합니다.
주의
- 자료: 문학 160권(40 %), 과학 100권(25 %), 역사 80권(20 %), 기타 60권(15 %). 합계 100 %.
- 해석의 예: 문학책은 역사책의 2배입니다. 문학책과 과학책을 합하면 65 %입니다.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연습(그래프 해석과 고른 까닭)]
목적: 도움을 받으며 꺾은선그래프를 해석하고, 이 자료에 원그래프가 알맞지 않은 까닭을 기준으로 말합니다.
시간: 약 4분
이렇게 말해 보세요
- “눈금 한 칸은 몇 명이야? 물결선 위 첫 눈금은 몇이야?”
- “선분이 가장 많이 기운 곳은 어디야? 몇 명 늘었어?”
- “③ 이 자료는 무엇을 알고 싶은 자료야? 전체를 나눈 비율일까, 달마다 변하는 모습일까?”
정답
- ① 5월과 6월 사이(120명 → 180명, 60명 늘어남)
- ② 80명 (200 − 120)
- ③ 알맞지 않습니다. 시간(달)에 따라 변하는 모습을 보는 자료이므로 꺾은선그래프가 알맞습니다. 원그래프는 전체에 대한 비율을 볼 때 씁니다.
막히면
- 물결선 위 첫 눈금 100부터 20씩 커지는 눈금을 손가락으로 짚으며 점마다 이용자 수를 읽게 합니다(120, 140, 120, 180, 200).
주의
- ③에서 ‘아니요’만 말하면 까닭을 다시 묻습니다(M2). 달마다의 이용자 수를 모두 더한 수는 ‘전체’로서 뜻이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해결(알맞은 그래프와 까닭)]
목적: 도움 없이 상황마다 알맞은 그래프를 고르고 까닭을 기준(변화·비교·비율)으로 말하는지 확인합니다.
시간: 약 4분
이렇게 말해 보세요
- “이번에는 혼자 해 볼래? 그래프 이름과 까닭을 함께 말해 줘.”
정답
- ① 꺾은선그래프 — 해마다 변하는 모습
- ② 막대그래프 — 학년(항목)끼리 비교
- ③ 원그래프 또는 띠그래프 — 전체 넓이에 대한 비율
- ④ 띠그래프 — 두 해의 비율을 띠로 나란히 놓아 견주기
막히면
- 바로 알려 주지 말고 “무엇을 알고 싶은 자료야? 변화야, 비교야, 비율이야?”라고만 묻습니다.
- 도움을 받아 해결했다면 기록표에 ‘도움’으로 표시합니다.
주의
- ③은 띠그래프도 맞습니다. ④는 원그래프 두 개라고 해도 ‘비율’이라는 까닭이 맞으면 맞음으로 하고, 띠그래프를 위아래로 놓으면 견주기 쉽다고 덧붙입니다.
- 정답 확인은 다음 장(S10)에서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답과 까닭을 함께 확인하고, 항목을 꺾은선으로 잇거나 변화 자료를 원그래프로 고르는 실수를 바로잡습니다. 수업용에만 있는 장입니다.
시간: 약 2분
이렇게 말해 보세요
- “네 답과 까닭을 볼까? 까닭에 ‘변화’, ‘비교’, ‘비율’ 같은 말이 들어 있어?”
정답
- ① 꺾은선 ② 막대 ③ 원 또는 띠 ④ 띠(원그래프 두 개도 까닭이 비율이면 맞음)
막히면
- ②를 꺾은선으로 고르면 S06으로(M1), ①을 원그래프로 고르면 S08 ③으로(M2) 돌아갑니다.
주의
-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확인(그래프 고르고 해석하기)]
목적: 처음 보는 자료에서 알고 싶은 것에 맞는 그래프를 고르고, 백분율을 구해 해석하는지 확인합니다. 실제로 그리는 것은 활동지 3에서 합니다.
시간: 약 3분
이렇게 말해 보세요
- “방법별로 전체의 몇 %인지 알고 싶어. 어떤 그래프가 알맞을까? 왜?”
- “20명이면 1명은 몇 %야? 걸어서 오는 12명은?”
정답
- ① 원그래프 또는 띠그래프 — 전체에 대한 비율을 보려고
- ② 60 % (12 ÷ 20 × 100)
- ③ 20 % (버스 15 % + 자동차 5 %)
막히면
- S07의 순서(알고 싶은 것 → 그래프 → 백분율 → 해석)를 다시 보여 줍니다.
주의
- 그래프와 까닭, 백분율 해석을 모두 말하면 목표 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1분
이렇게 말해 보세요
- “그래프를 고를 때 가장 먼저 무엇을 생각한다고 했지?”
- “다음 수업을 시작할 때 이 세 문제를 먼저 풀 거야.”
예상 답
- “무엇을 알고 싶은지요. 비교, 변화, 비율이요.”
정답
- ① 꺾은선그래프 ② 띠그래프, 원그래프 ③ 막대그래프
막히면
- S04의 카드를 다시 보여 줍니다.
주의
- 이 차시는 초등 수학 계획의 마지막 차시입니다(계획에 다음 수학 차시가 없습니다). 복습 세 문제는 다음 수업을 시작할 때 활동지 마지막 쪽과 함께 풉니다.
- S09·S11 결과를 기록표에 적어 두고, 흔들린 그래프는 해당 차시(막대그래프·꺾은선그래프·띠그래프와 원그래프)를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보충(막대그래프와 꺾은선그래프)]
목적: S02가 흔들리거나 그래프의 쓰임을 헷갈리면, 먼저 막대그래프(비교)와 꺾은선그래프(변화)를 견주어 다시 봅니다.
시간: 약 5분
이렇게 말해 보세요
- “왼쪽은 좋아하는 운동별 학생 수야. 가장 많은 운동은? 몇 명이야?”
- “오른쪽은 강낭콩 키를 주마다 잰 거야. 키가 어떻게 변했어? 가장 많이 자란 때는?”
- “운동 사이에는 시간이 흐르지 않았지? 그래서 막대로 나타내.”
정답
- 축구가 5명으로 가장 많음
- 강낭콩 키는 계속 자람(2 → 3 → 5 → 6 cm), 가장 많이 자란 때는 2주와 3주 사이(2 cm)
막히면
- 그래프를 손가락으로 짚으며 막대 끝과 점의 높이를 세로 눈금에서 읽게 합니다.
주의
- 원그래프 읽기(S02)가 흔들리면 앞 차시 ‘띠그래프와 원그래프’를 먼저 다시 합니다. 막대그래프·꺾은선그래프가 흔들리면 4학년 ‘막대그래프’, ‘꺾은선그래프’를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원과자료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알맞은 그래프 고르기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알맞은 그래프 고르기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알맞은 그래프 고르기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 고르기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자료마다 어울리는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그래프가 따로 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자료와 알고 싶은 것에 맞는 그래프를 골라 까닭을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고른 그래프로 나타내고 해석해요.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꽃이에요.</a:t>
            </a:r>
            <a:endParaRPr lang="ko-KR" sz="2800" dirty="0"/>
          </a:p>
        </p:txBody>
      </p:sp>
      <p:sp>
        <p:nvSpPr>
          <p:cNvPr id="4" name="S02-figure4" descr="원그래프 ‘좋아하는 꽃’(40명): 장미 40 %, 튤립 25 %, 해바라기 20 %, 기타 15 %"/>
          <p:cNvSpPr/>
          <p:nvPr/>
        </p:nvSpPr>
        <p:spPr>
          <a:xfrm>
            <a:off x="8958834" y="2666615"/>
            <a:ext cx="1631758" cy="2951874"/>
          </a:xfrm>
          <a:custGeom>
            <a:avLst/>
            <a:gdLst/>
            <a:ahLst/>
            <a:cxnLst/>
            <a:rect l="l" t="t" r="r" b="b"/>
            <a:pathLst>
              <a:path w="1631758" h="2951874">
                <a:moveTo>
                  <a:pt x="0" y="1631758"/>
                </a:moveTo>
                <a:lnTo>
                  <a:pt x="0" y="0"/>
                </a:lnTo>
                <a:lnTo>
                  <a:pt x="85398" y="2236"/>
                </a:lnTo>
                <a:lnTo>
                  <a:pt x="170568" y="8942"/>
                </a:lnTo>
                <a:lnTo>
                  <a:pt x="255264" y="20087"/>
                </a:lnTo>
                <a:lnTo>
                  <a:pt x="339259" y="35654"/>
                </a:lnTo>
                <a:lnTo>
                  <a:pt x="422331" y="55602"/>
                </a:lnTo>
                <a:lnTo>
                  <a:pt x="504238" y="79866"/>
                </a:lnTo>
                <a:lnTo>
                  <a:pt x="584773" y="108381"/>
                </a:lnTo>
                <a:lnTo>
                  <a:pt x="663693" y="141074"/>
                </a:lnTo>
                <a:lnTo>
                  <a:pt x="740802" y="177853"/>
                </a:lnTo>
                <a:lnTo>
                  <a:pt x="815879" y="218615"/>
                </a:lnTo>
                <a:lnTo>
                  <a:pt x="888720" y="263251"/>
                </a:lnTo>
                <a:lnTo>
                  <a:pt x="959123" y="311641"/>
                </a:lnTo>
                <a:lnTo>
                  <a:pt x="1026898" y="363645"/>
                </a:lnTo>
                <a:lnTo>
                  <a:pt x="1091858" y="419125"/>
                </a:lnTo>
                <a:lnTo>
                  <a:pt x="1153824" y="477934"/>
                </a:lnTo>
                <a:lnTo>
                  <a:pt x="1212632" y="539900"/>
                </a:lnTo>
                <a:lnTo>
                  <a:pt x="1268112" y="604860"/>
                </a:lnTo>
                <a:lnTo>
                  <a:pt x="1320116" y="672635"/>
                </a:lnTo>
                <a:lnTo>
                  <a:pt x="1368506" y="743037"/>
                </a:lnTo>
                <a:lnTo>
                  <a:pt x="1413143" y="815879"/>
                </a:lnTo>
                <a:lnTo>
                  <a:pt x="1453904" y="890956"/>
                </a:lnTo>
                <a:lnTo>
                  <a:pt x="1490684" y="968065"/>
                </a:lnTo>
                <a:lnTo>
                  <a:pt x="1523376" y="1046985"/>
                </a:lnTo>
                <a:lnTo>
                  <a:pt x="1551891" y="1127520"/>
                </a:lnTo>
                <a:lnTo>
                  <a:pt x="1576155" y="1209426"/>
                </a:lnTo>
                <a:lnTo>
                  <a:pt x="1596104" y="1292499"/>
                </a:lnTo>
                <a:lnTo>
                  <a:pt x="1611671" y="1376494"/>
                </a:lnTo>
                <a:lnTo>
                  <a:pt x="1622816" y="1461190"/>
                </a:lnTo>
                <a:lnTo>
                  <a:pt x="1629522" y="1546360"/>
                </a:lnTo>
                <a:lnTo>
                  <a:pt x="1631758" y="1631758"/>
                </a:lnTo>
                <a:lnTo>
                  <a:pt x="1629522" y="1717156"/>
                </a:lnTo>
                <a:lnTo>
                  <a:pt x="1622816" y="1802325"/>
                </a:lnTo>
                <a:lnTo>
                  <a:pt x="1611671" y="1887022"/>
                </a:lnTo>
                <a:lnTo>
                  <a:pt x="1596104" y="1971016"/>
                </a:lnTo>
                <a:lnTo>
                  <a:pt x="1576155" y="2054089"/>
                </a:lnTo>
                <a:lnTo>
                  <a:pt x="1551891" y="2135995"/>
                </a:lnTo>
                <a:lnTo>
                  <a:pt x="1523376" y="2216531"/>
                </a:lnTo>
                <a:lnTo>
                  <a:pt x="1490684" y="2295450"/>
                </a:lnTo>
                <a:lnTo>
                  <a:pt x="1453904" y="2372559"/>
                </a:lnTo>
                <a:lnTo>
                  <a:pt x="1413143" y="2447636"/>
                </a:lnTo>
                <a:lnTo>
                  <a:pt x="1368506" y="2520478"/>
                </a:lnTo>
                <a:lnTo>
                  <a:pt x="1320116" y="2590880"/>
                </a:lnTo>
                <a:lnTo>
                  <a:pt x="1268112" y="2658655"/>
                </a:lnTo>
                <a:lnTo>
                  <a:pt x="1212632" y="2723616"/>
                </a:lnTo>
                <a:lnTo>
                  <a:pt x="1153824" y="2785582"/>
                </a:lnTo>
                <a:lnTo>
                  <a:pt x="1091858" y="2844390"/>
                </a:lnTo>
                <a:lnTo>
                  <a:pt x="1026898" y="2899870"/>
                </a:lnTo>
                <a:lnTo>
                  <a:pt x="959123" y="2951874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7638718" y="4298373"/>
            <a:ext cx="2279239" cy="1631758"/>
          </a:xfrm>
          <a:custGeom>
            <a:avLst/>
            <a:gdLst/>
            <a:ahLst/>
            <a:cxnLst/>
            <a:rect l="l" t="t" r="r" b="b"/>
            <a:pathLst>
              <a:path w="2279239" h="1631758">
                <a:moveTo>
                  <a:pt x="1320116" y="0"/>
                </a:moveTo>
                <a:lnTo>
                  <a:pt x="2279239" y="1320116"/>
                </a:lnTo>
                <a:lnTo>
                  <a:pt x="2208837" y="1368506"/>
                </a:lnTo>
                <a:lnTo>
                  <a:pt x="2135995" y="1413143"/>
                </a:lnTo>
                <a:lnTo>
                  <a:pt x="2060918" y="1453904"/>
                </a:lnTo>
                <a:lnTo>
                  <a:pt x="1983809" y="1490684"/>
                </a:lnTo>
                <a:lnTo>
                  <a:pt x="1904889" y="1523376"/>
                </a:lnTo>
                <a:lnTo>
                  <a:pt x="1824354" y="1551891"/>
                </a:lnTo>
                <a:lnTo>
                  <a:pt x="1742448" y="1576155"/>
                </a:lnTo>
                <a:lnTo>
                  <a:pt x="1659375" y="1596104"/>
                </a:lnTo>
                <a:lnTo>
                  <a:pt x="1575380" y="1611671"/>
                </a:lnTo>
                <a:lnTo>
                  <a:pt x="1490684" y="1622816"/>
                </a:lnTo>
                <a:lnTo>
                  <a:pt x="1405514" y="1629522"/>
                </a:lnTo>
                <a:lnTo>
                  <a:pt x="1320116" y="1631758"/>
                </a:lnTo>
                <a:lnTo>
                  <a:pt x="1234718" y="1629522"/>
                </a:lnTo>
                <a:lnTo>
                  <a:pt x="1149549" y="1622816"/>
                </a:lnTo>
                <a:lnTo>
                  <a:pt x="1064852" y="1611671"/>
                </a:lnTo>
                <a:lnTo>
                  <a:pt x="980858" y="1596104"/>
                </a:lnTo>
                <a:lnTo>
                  <a:pt x="897785" y="1576155"/>
                </a:lnTo>
                <a:lnTo>
                  <a:pt x="815879" y="1551891"/>
                </a:lnTo>
                <a:lnTo>
                  <a:pt x="735343" y="1523376"/>
                </a:lnTo>
                <a:lnTo>
                  <a:pt x="656423" y="1490684"/>
                </a:lnTo>
                <a:lnTo>
                  <a:pt x="579315" y="1453904"/>
                </a:lnTo>
                <a:lnTo>
                  <a:pt x="504238" y="1413143"/>
                </a:lnTo>
                <a:lnTo>
                  <a:pt x="431396" y="1368506"/>
                </a:lnTo>
                <a:lnTo>
                  <a:pt x="360994" y="1320116"/>
                </a:lnTo>
                <a:lnTo>
                  <a:pt x="293219" y="1268112"/>
                </a:lnTo>
                <a:lnTo>
                  <a:pt x="228258" y="1212632"/>
                </a:lnTo>
                <a:lnTo>
                  <a:pt x="166292" y="1153824"/>
                </a:lnTo>
                <a:lnTo>
                  <a:pt x="107484" y="1091858"/>
                </a:lnTo>
                <a:lnTo>
                  <a:pt x="52004" y="1026898"/>
                </a:lnTo>
                <a:lnTo>
                  <a:pt x="0" y="959123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7327076" y="3339250"/>
            <a:ext cx="1631758" cy="1918245"/>
          </a:xfrm>
          <a:custGeom>
            <a:avLst/>
            <a:gdLst/>
            <a:ahLst/>
            <a:cxnLst/>
            <a:rect l="l" t="t" r="r" b="b"/>
            <a:pathLst>
              <a:path w="1631758" h="1918245">
                <a:moveTo>
                  <a:pt x="1631758" y="959123"/>
                </a:moveTo>
                <a:lnTo>
                  <a:pt x="311641" y="1918245"/>
                </a:lnTo>
                <a:lnTo>
                  <a:pt x="263251" y="1847843"/>
                </a:lnTo>
                <a:lnTo>
                  <a:pt x="218615" y="1775001"/>
                </a:lnTo>
                <a:lnTo>
                  <a:pt x="177853" y="1699924"/>
                </a:lnTo>
                <a:lnTo>
                  <a:pt x="141074" y="1622816"/>
                </a:lnTo>
                <a:lnTo>
                  <a:pt x="108381" y="1543896"/>
                </a:lnTo>
                <a:lnTo>
                  <a:pt x="79866" y="1463360"/>
                </a:lnTo>
                <a:lnTo>
                  <a:pt x="55602" y="1381454"/>
                </a:lnTo>
                <a:lnTo>
                  <a:pt x="35654" y="1298381"/>
                </a:lnTo>
                <a:lnTo>
                  <a:pt x="20087" y="1214387"/>
                </a:lnTo>
                <a:lnTo>
                  <a:pt x="8942" y="1129690"/>
                </a:lnTo>
                <a:lnTo>
                  <a:pt x="2236" y="1044521"/>
                </a:lnTo>
                <a:lnTo>
                  <a:pt x="0" y="959123"/>
                </a:lnTo>
                <a:lnTo>
                  <a:pt x="2236" y="873725"/>
                </a:lnTo>
                <a:lnTo>
                  <a:pt x="8942" y="788555"/>
                </a:lnTo>
                <a:lnTo>
                  <a:pt x="20087" y="703859"/>
                </a:lnTo>
                <a:lnTo>
                  <a:pt x="35654" y="619864"/>
                </a:lnTo>
                <a:lnTo>
                  <a:pt x="55602" y="536791"/>
                </a:lnTo>
                <a:lnTo>
                  <a:pt x="79866" y="454885"/>
                </a:lnTo>
                <a:lnTo>
                  <a:pt x="108381" y="374350"/>
                </a:lnTo>
                <a:lnTo>
                  <a:pt x="141074" y="295430"/>
                </a:lnTo>
                <a:lnTo>
                  <a:pt x="177853" y="218321"/>
                </a:lnTo>
                <a:lnTo>
                  <a:pt x="218615" y="143244"/>
                </a:lnTo>
                <a:lnTo>
                  <a:pt x="263251" y="70402"/>
                </a:lnTo>
                <a:lnTo>
                  <a:pt x="311641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638718" y="2666615"/>
            <a:ext cx="1320116" cy="1631758"/>
          </a:xfrm>
          <a:custGeom>
            <a:avLst/>
            <a:gdLst/>
            <a:ahLst/>
            <a:cxnLst/>
            <a:rect l="l" t="t" r="r" b="b"/>
            <a:pathLst>
              <a:path w="1320116" h="1631758">
                <a:moveTo>
                  <a:pt x="1320116" y="1631758"/>
                </a:moveTo>
                <a:lnTo>
                  <a:pt x="0" y="672635"/>
                </a:lnTo>
                <a:lnTo>
                  <a:pt x="52004" y="604860"/>
                </a:lnTo>
                <a:lnTo>
                  <a:pt x="107484" y="539900"/>
                </a:lnTo>
                <a:lnTo>
                  <a:pt x="166292" y="477934"/>
                </a:lnTo>
                <a:lnTo>
                  <a:pt x="228258" y="419125"/>
                </a:lnTo>
                <a:lnTo>
                  <a:pt x="293219" y="363645"/>
                </a:lnTo>
                <a:lnTo>
                  <a:pt x="360994" y="311641"/>
                </a:lnTo>
                <a:lnTo>
                  <a:pt x="431396" y="263251"/>
                </a:lnTo>
                <a:lnTo>
                  <a:pt x="504238" y="218615"/>
                </a:lnTo>
                <a:lnTo>
                  <a:pt x="579315" y="177853"/>
                </a:lnTo>
                <a:lnTo>
                  <a:pt x="656423" y="141074"/>
                </a:lnTo>
                <a:lnTo>
                  <a:pt x="735343" y="108381"/>
                </a:lnTo>
                <a:lnTo>
                  <a:pt x="815879" y="79866"/>
                </a:lnTo>
                <a:lnTo>
                  <a:pt x="897785" y="55602"/>
                </a:lnTo>
                <a:lnTo>
                  <a:pt x="980858" y="35654"/>
                </a:lnTo>
                <a:lnTo>
                  <a:pt x="1064852" y="20087"/>
                </a:lnTo>
                <a:lnTo>
                  <a:pt x="1149549" y="8942"/>
                </a:lnTo>
                <a:lnTo>
                  <a:pt x="1234718" y="2236"/>
                </a:lnTo>
                <a:lnTo>
                  <a:pt x="1320116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 flipV="1">
            <a:off x="8958834" y="2487122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 flipV="1">
            <a:off x="9463072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 flipV="1">
            <a:off x="9917957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 flipV="1">
            <a:off x="10278950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 flipV="1">
            <a:off x="10510725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>
            <a:off x="10590592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2-mark14"/>
          <p:cNvSpPr/>
          <p:nvPr/>
        </p:nvSpPr>
        <p:spPr>
          <a:xfrm>
            <a:off x="10510725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2-mark15"/>
          <p:cNvSpPr/>
          <p:nvPr/>
        </p:nvSpPr>
        <p:spPr>
          <a:xfrm>
            <a:off x="10278950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2-mark16"/>
          <p:cNvSpPr/>
          <p:nvPr/>
        </p:nvSpPr>
        <p:spPr>
          <a:xfrm>
            <a:off x="9917957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2-mark17"/>
          <p:cNvSpPr/>
          <p:nvPr/>
        </p:nvSpPr>
        <p:spPr>
          <a:xfrm>
            <a:off x="9463072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2-mark18"/>
          <p:cNvSpPr/>
          <p:nvPr/>
        </p:nvSpPr>
        <p:spPr>
          <a:xfrm>
            <a:off x="8958834" y="5930130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2-mark19"/>
          <p:cNvSpPr/>
          <p:nvPr/>
        </p:nvSpPr>
        <p:spPr>
          <a:xfrm flipH="1">
            <a:off x="8424335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2-mark20"/>
          <p:cNvSpPr/>
          <p:nvPr/>
        </p:nvSpPr>
        <p:spPr>
          <a:xfrm flipH="1">
            <a:off x="7942167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2-mark21"/>
          <p:cNvSpPr/>
          <p:nvPr/>
        </p:nvSpPr>
        <p:spPr>
          <a:xfrm flipH="1">
            <a:off x="7559504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2-mark22"/>
          <p:cNvSpPr/>
          <p:nvPr/>
        </p:nvSpPr>
        <p:spPr>
          <a:xfrm flipH="1">
            <a:off x="7313827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2-mark23"/>
          <p:cNvSpPr/>
          <p:nvPr/>
        </p:nvSpPr>
        <p:spPr>
          <a:xfrm flipH="1">
            <a:off x="7147583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2-mark24"/>
          <p:cNvSpPr/>
          <p:nvPr/>
        </p:nvSpPr>
        <p:spPr>
          <a:xfrm flipH="1" flipV="1">
            <a:off x="7313827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2-mark25"/>
          <p:cNvSpPr/>
          <p:nvPr/>
        </p:nvSpPr>
        <p:spPr>
          <a:xfrm flipH="1" flipV="1">
            <a:off x="7559504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2-mark26"/>
          <p:cNvSpPr/>
          <p:nvPr/>
        </p:nvSpPr>
        <p:spPr>
          <a:xfrm flipH="1" flipV="1">
            <a:off x="7942167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2-mark27"/>
          <p:cNvSpPr/>
          <p:nvPr/>
        </p:nvSpPr>
        <p:spPr>
          <a:xfrm flipH="1" flipV="1">
            <a:off x="8424335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2-label29"/>
          <p:cNvSpPr txBox="1"/>
          <p:nvPr/>
        </p:nvSpPr>
        <p:spPr>
          <a:xfrm>
            <a:off x="9348615" y="3633949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장미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29" name="S02-label31"/>
          <p:cNvSpPr txBox="1"/>
          <p:nvPr/>
        </p:nvSpPr>
        <p:spPr>
          <a:xfrm>
            <a:off x="8219194" y="4956407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튤립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0" name="S02-label33"/>
          <p:cNvSpPr txBox="1"/>
          <p:nvPr/>
        </p:nvSpPr>
        <p:spPr>
          <a:xfrm>
            <a:off x="7085038" y="3949123"/>
            <a:ext cx="170789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해바라기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1" name="S02-label35"/>
          <p:cNvSpPr txBox="1"/>
          <p:nvPr/>
        </p:nvSpPr>
        <p:spPr>
          <a:xfrm>
            <a:off x="7845358" y="2902350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2" name="S02-label37"/>
          <p:cNvSpPr txBox="1"/>
          <p:nvPr/>
        </p:nvSpPr>
        <p:spPr>
          <a:xfrm>
            <a:off x="8177530" y="1920875"/>
            <a:ext cx="15626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꽃</a:t>
            </a:r>
            <a:endParaRPr lang="ko-KR" sz="2200" dirty="0"/>
          </a:p>
        </p:txBody>
      </p:sp>
      <p:sp>
        <p:nvSpPr>
          <p:cNvPr id="33" name="S02-chip3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02-text39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꽃과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비율은?</a:t>
            </a:r>
            <a:endParaRPr lang="ko-KR" sz="2800" dirty="0"/>
          </a:p>
        </p:txBody>
      </p:sp>
      <p:sp>
        <p:nvSpPr>
          <p:cNvPr id="35" name="S02-chip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02-text41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튤립을 좋아하는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학생은 몇 명?</a:t>
            </a:r>
            <a:endParaRPr lang="ko-KR" sz="2800" dirty="0"/>
          </a:p>
        </p:txBody>
      </p:sp>
      <p:sp>
        <p:nvSpPr>
          <p:cNvPr id="37" name="S02-chip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02-text43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더하면 얼마?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자료, 다른 그래프</a:t>
            </a:r>
            <a:endParaRPr lang="ko-KR" sz="4000" dirty="0"/>
          </a:p>
        </p:txBody>
      </p:sp>
      <p:sp>
        <p:nvSpPr>
          <p:cNvPr id="3" name="S03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 책 20권의 종류예요.</a:t>
            </a:r>
            <a:endParaRPr lang="ko-KR" sz="2800" dirty="0"/>
          </a:p>
        </p:txBody>
      </p:sp>
      <p:sp>
        <p:nvSpPr>
          <p:cNvPr id="4" name="S03-card45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46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권인지, 어느 것이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많은지 비교해요.</a:t>
            </a:r>
            <a:endParaRPr lang="ko-KR" sz="2800" dirty="0"/>
          </a:p>
        </p:txBody>
      </p:sp>
      <p:sp>
        <p:nvSpPr>
          <p:cNvPr id="6" name="S03-card47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48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%인지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보여요.</a:t>
            </a:r>
            <a:endParaRPr lang="ko-KR" sz="2800" dirty="0"/>
          </a:p>
        </p:txBody>
      </p:sp>
      <p:sp>
        <p:nvSpPr>
          <p:cNvPr id="8" name="S03-figure49" descr="막대그래프(세로 눈금 한 칸 1권): 동화 7권, 과학 6권, 역사 4권, 만화 3권"/>
          <p:cNvSpPr/>
          <p:nvPr/>
        </p:nvSpPr>
        <p:spPr>
          <a:xfrm>
            <a:off x="2726886" y="2517787"/>
            <a:ext cx="211143" cy="1231669"/>
          </a:xfrm>
          <a:custGeom>
            <a:avLst/>
            <a:gdLst/>
            <a:ahLst/>
            <a:cxnLst/>
            <a:rect l="l" t="t" r="r" b="b"/>
            <a:pathLst>
              <a:path w="211143" h="1231669">
                <a:moveTo>
                  <a:pt x="0" y="1231669"/>
                </a:moveTo>
                <a:lnTo>
                  <a:pt x="211143" y="1231669"/>
                </a:lnTo>
                <a:lnTo>
                  <a:pt x="2111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50"/>
          <p:cNvSpPr/>
          <p:nvPr/>
        </p:nvSpPr>
        <p:spPr>
          <a:xfrm>
            <a:off x="3078792" y="2693739"/>
            <a:ext cx="211143" cy="1055716"/>
          </a:xfrm>
          <a:custGeom>
            <a:avLst/>
            <a:gdLst/>
            <a:ahLst/>
            <a:cxnLst/>
            <a:rect l="l" t="t" r="r" b="b"/>
            <a:pathLst>
              <a:path w="211143" h="1055716">
                <a:moveTo>
                  <a:pt x="0" y="1055716"/>
                </a:moveTo>
                <a:lnTo>
                  <a:pt x="211143" y="1055716"/>
                </a:lnTo>
                <a:lnTo>
                  <a:pt x="2111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mark51"/>
          <p:cNvSpPr/>
          <p:nvPr/>
        </p:nvSpPr>
        <p:spPr>
          <a:xfrm>
            <a:off x="3430697" y="3045645"/>
            <a:ext cx="211143" cy="703811"/>
          </a:xfrm>
          <a:custGeom>
            <a:avLst/>
            <a:gdLst/>
            <a:ahLst/>
            <a:cxnLst/>
            <a:rect l="l" t="t" r="r" b="b"/>
            <a:pathLst>
              <a:path w="211143" h="703811">
                <a:moveTo>
                  <a:pt x="0" y="703811"/>
                </a:moveTo>
                <a:lnTo>
                  <a:pt x="211143" y="703811"/>
                </a:lnTo>
                <a:lnTo>
                  <a:pt x="2111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52"/>
          <p:cNvSpPr/>
          <p:nvPr/>
        </p:nvSpPr>
        <p:spPr>
          <a:xfrm>
            <a:off x="3782603" y="3221597"/>
            <a:ext cx="211143" cy="527858"/>
          </a:xfrm>
          <a:custGeom>
            <a:avLst/>
            <a:gdLst/>
            <a:ahLst/>
            <a:cxnLst/>
            <a:rect l="l" t="t" r="r" b="b"/>
            <a:pathLst>
              <a:path w="211143" h="527858">
                <a:moveTo>
                  <a:pt x="0" y="527858"/>
                </a:moveTo>
                <a:lnTo>
                  <a:pt x="211143" y="527858"/>
                </a:lnTo>
                <a:lnTo>
                  <a:pt x="2111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53"/>
          <p:cNvSpPr/>
          <p:nvPr/>
        </p:nvSpPr>
        <p:spPr>
          <a:xfrm>
            <a:off x="2603719" y="3573503"/>
            <a:ext cx="151319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54"/>
          <p:cNvSpPr/>
          <p:nvPr/>
        </p:nvSpPr>
        <p:spPr>
          <a:xfrm>
            <a:off x="2603719" y="3397550"/>
            <a:ext cx="151319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55"/>
          <p:cNvSpPr/>
          <p:nvPr/>
        </p:nvSpPr>
        <p:spPr>
          <a:xfrm>
            <a:off x="2603719" y="3221597"/>
            <a:ext cx="151319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56"/>
          <p:cNvSpPr/>
          <p:nvPr/>
        </p:nvSpPr>
        <p:spPr>
          <a:xfrm>
            <a:off x="2603719" y="3045645"/>
            <a:ext cx="151319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57"/>
          <p:cNvSpPr/>
          <p:nvPr/>
        </p:nvSpPr>
        <p:spPr>
          <a:xfrm>
            <a:off x="2603719" y="2869692"/>
            <a:ext cx="151319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58"/>
          <p:cNvSpPr/>
          <p:nvPr/>
        </p:nvSpPr>
        <p:spPr>
          <a:xfrm>
            <a:off x="2603719" y="2693739"/>
            <a:ext cx="151319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59"/>
          <p:cNvSpPr/>
          <p:nvPr/>
        </p:nvSpPr>
        <p:spPr>
          <a:xfrm>
            <a:off x="2603719" y="2517787"/>
            <a:ext cx="151319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60"/>
          <p:cNvSpPr/>
          <p:nvPr/>
        </p:nvSpPr>
        <p:spPr>
          <a:xfrm>
            <a:off x="2603719" y="2341834"/>
            <a:ext cx="151319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61"/>
          <p:cNvSpPr/>
          <p:nvPr/>
        </p:nvSpPr>
        <p:spPr>
          <a:xfrm>
            <a:off x="2603719" y="3749456"/>
            <a:ext cx="151319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3-mark62"/>
          <p:cNvSpPr/>
          <p:nvPr/>
        </p:nvSpPr>
        <p:spPr>
          <a:xfrm flipV="1">
            <a:off x="2603719" y="2271453"/>
            <a:ext cx="0" cy="147800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3-label64"/>
          <p:cNvSpPr txBox="1"/>
          <p:nvPr/>
        </p:nvSpPr>
        <p:spPr>
          <a:xfrm>
            <a:off x="2307094" y="357483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3" name="S03-label66"/>
          <p:cNvSpPr txBox="1"/>
          <p:nvPr/>
        </p:nvSpPr>
        <p:spPr>
          <a:xfrm>
            <a:off x="2307094" y="322292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4" name="S03-label68"/>
          <p:cNvSpPr txBox="1"/>
          <p:nvPr/>
        </p:nvSpPr>
        <p:spPr>
          <a:xfrm>
            <a:off x="2307094" y="287102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5" name="S03-label70"/>
          <p:cNvSpPr txBox="1"/>
          <p:nvPr/>
        </p:nvSpPr>
        <p:spPr>
          <a:xfrm>
            <a:off x="2307094" y="251911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6" name="S03-label72"/>
          <p:cNvSpPr txBox="1"/>
          <p:nvPr/>
        </p:nvSpPr>
        <p:spPr>
          <a:xfrm>
            <a:off x="2307094" y="216720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7" name="S03-label74"/>
          <p:cNvSpPr txBox="1"/>
          <p:nvPr/>
        </p:nvSpPr>
        <p:spPr>
          <a:xfrm>
            <a:off x="2094750" y="1991256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(권)</a:t>
            </a:r>
            <a:endParaRPr lang="ko-KR" sz="2200" dirty="0"/>
          </a:p>
        </p:txBody>
      </p:sp>
      <p:sp>
        <p:nvSpPr>
          <p:cNvPr id="28" name="S03-label76"/>
          <p:cNvSpPr txBox="1"/>
          <p:nvPr/>
        </p:nvSpPr>
        <p:spPr>
          <a:xfrm>
            <a:off x="2503782" y="368920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200" dirty="0"/>
          </a:p>
        </p:txBody>
      </p:sp>
      <p:sp>
        <p:nvSpPr>
          <p:cNvPr id="29" name="S03-label78"/>
          <p:cNvSpPr txBox="1"/>
          <p:nvPr/>
        </p:nvSpPr>
        <p:spPr>
          <a:xfrm>
            <a:off x="2855687" y="368920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200" dirty="0"/>
          </a:p>
        </p:txBody>
      </p:sp>
      <p:sp>
        <p:nvSpPr>
          <p:cNvPr id="30" name="S03-label80"/>
          <p:cNvSpPr txBox="1"/>
          <p:nvPr/>
        </p:nvSpPr>
        <p:spPr>
          <a:xfrm>
            <a:off x="3207593" y="368920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</a:t>
            </a:r>
            <a:endParaRPr lang="ko-KR" sz="2200" dirty="0"/>
          </a:p>
        </p:txBody>
      </p:sp>
      <p:sp>
        <p:nvSpPr>
          <p:cNvPr id="31" name="S03-label82"/>
          <p:cNvSpPr txBox="1"/>
          <p:nvPr/>
        </p:nvSpPr>
        <p:spPr>
          <a:xfrm>
            <a:off x="3559498" y="368920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</a:t>
            </a:r>
            <a:endParaRPr lang="ko-KR" sz="2200" dirty="0"/>
          </a:p>
        </p:txBody>
      </p:sp>
      <p:sp>
        <p:nvSpPr>
          <p:cNvPr id="32" name="S03-label83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</a:t>
            </a:r>
            <a:endParaRPr lang="ko-KR" sz="2200" dirty="0"/>
          </a:p>
        </p:txBody>
      </p:sp>
      <p:sp>
        <p:nvSpPr>
          <p:cNvPr id="33" name="S03-figure84" descr="같은 자료의 띠그래프: 동화 35 %, 과학 30 %, 역사 20 %, 만화 15 %"/>
          <p:cNvSpPr/>
          <p:nvPr/>
        </p:nvSpPr>
        <p:spPr>
          <a:xfrm>
            <a:off x="6338316" y="2452019"/>
            <a:ext cx="1595076" cy="820325"/>
          </a:xfrm>
          <a:custGeom>
            <a:avLst/>
            <a:gdLst/>
            <a:ahLst/>
            <a:cxnLst/>
            <a:rect l="l" t="t" r="r" b="b"/>
            <a:pathLst>
              <a:path w="1595076" h="820325">
                <a:moveTo>
                  <a:pt x="0" y="820325"/>
                </a:moveTo>
                <a:lnTo>
                  <a:pt x="1595076" y="820325"/>
                </a:lnTo>
                <a:lnTo>
                  <a:pt x="15950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mark85"/>
          <p:cNvSpPr/>
          <p:nvPr/>
        </p:nvSpPr>
        <p:spPr>
          <a:xfrm>
            <a:off x="7933392" y="2452019"/>
            <a:ext cx="1367208" cy="820325"/>
          </a:xfrm>
          <a:custGeom>
            <a:avLst/>
            <a:gdLst/>
            <a:ahLst/>
            <a:cxnLst/>
            <a:rect l="l" t="t" r="r" b="b"/>
            <a:pathLst>
              <a:path w="1367208" h="820325">
                <a:moveTo>
                  <a:pt x="0" y="820325"/>
                </a:moveTo>
                <a:lnTo>
                  <a:pt x="1367208" y="820325"/>
                </a:lnTo>
                <a:lnTo>
                  <a:pt x="136720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mark86"/>
          <p:cNvSpPr/>
          <p:nvPr/>
        </p:nvSpPr>
        <p:spPr>
          <a:xfrm>
            <a:off x="9300599" y="2452019"/>
            <a:ext cx="911472" cy="820325"/>
          </a:xfrm>
          <a:custGeom>
            <a:avLst/>
            <a:gdLst/>
            <a:ahLst/>
            <a:cxnLst/>
            <a:rect l="l" t="t" r="r" b="b"/>
            <a:pathLst>
              <a:path w="911472" h="820325">
                <a:moveTo>
                  <a:pt x="0" y="820325"/>
                </a:moveTo>
                <a:lnTo>
                  <a:pt x="911472" y="820325"/>
                </a:lnTo>
                <a:lnTo>
                  <a:pt x="91147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mark87"/>
          <p:cNvSpPr/>
          <p:nvPr/>
        </p:nvSpPr>
        <p:spPr>
          <a:xfrm>
            <a:off x="10212071" y="2452019"/>
            <a:ext cx="683604" cy="820325"/>
          </a:xfrm>
          <a:custGeom>
            <a:avLst/>
            <a:gdLst/>
            <a:ahLst/>
            <a:cxnLst/>
            <a:rect l="l" t="t" r="r" b="b"/>
            <a:pathLst>
              <a:path w="683604" h="820325">
                <a:moveTo>
                  <a:pt x="0" y="820325"/>
                </a:moveTo>
                <a:lnTo>
                  <a:pt x="683604" y="820325"/>
                </a:lnTo>
                <a:lnTo>
                  <a:pt x="683604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mark88"/>
          <p:cNvSpPr/>
          <p:nvPr/>
        </p:nvSpPr>
        <p:spPr>
          <a:xfrm>
            <a:off x="6338316" y="3327032"/>
            <a:ext cx="455735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8" name="S03-mark89"/>
          <p:cNvSpPr/>
          <p:nvPr/>
        </p:nvSpPr>
        <p:spPr>
          <a:xfrm>
            <a:off x="6338316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9" name="S03-mark90"/>
          <p:cNvSpPr/>
          <p:nvPr/>
        </p:nvSpPr>
        <p:spPr>
          <a:xfrm>
            <a:off x="6566184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0" name="S03-mark91"/>
          <p:cNvSpPr/>
          <p:nvPr/>
        </p:nvSpPr>
        <p:spPr>
          <a:xfrm>
            <a:off x="6794052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1" name="S03-mark92"/>
          <p:cNvSpPr/>
          <p:nvPr/>
        </p:nvSpPr>
        <p:spPr>
          <a:xfrm>
            <a:off x="7021920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2" name="S03-mark93"/>
          <p:cNvSpPr/>
          <p:nvPr/>
        </p:nvSpPr>
        <p:spPr>
          <a:xfrm>
            <a:off x="7249788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3" name="S03-mark94"/>
          <p:cNvSpPr/>
          <p:nvPr/>
        </p:nvSpPr>
        <p:spPr>
          <a:xfrm>
            <a:off x="7477656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4" name="S03-mark95"/>
          <p:cNvSpPr/>
          <p:nvPr/>
        </p:nvSpPr>
        <p:spPr>
          <a:xfrm>
            <a:off x="7705524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5" name="S03-mark96"/>
          <p:cNvSpPr/>
          <p:nvPr/>
        </p:nvSpPr>
        <p:spPr>
          <a:xfrm>
            <a:off x="7933392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6" name="S03-mark97"/>
          <p:cNvSpPr/>
          <p:nvPr/>
        </p:nvSpPr>
        <p:spPr>
          <a:xfrm>
            <a:off x="8161260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7" name="S03-mark98"/>
          <p:cNvSpPr/>
          <p:nvPr/>
        </p:nvSpPr>
        <p:spPr>
          <a:xfrm>
            <a:off x="8389128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8" name="S03-mark99"/>
          <p:cNvSpPr/>
          <p:nvPr/>
        </p:nvSpPr>
        <p:spPr>
          <a:xfrm>
            <a:off x="8616995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9" name="S03-mark100"/>
          <p:cNvSpPr/>
          <p:nvPr/>
        </p:nvSpPr>
        <p:spPr>
          <a:xfrm>
            <a:off x="8844863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0" name="S03-mark101"/>
          <p:cNvSpPr/>
          <p:nvPr/>
        </p:nvSpPr>
        <p:spPr>
          <a:xfrm>
            <a:off x="9072731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1" name="S03-mark102"/>
          <p:cNvSpPr/>
          <p:nvPr/>
        </p:nvSpPr>
        <p:spPr>
          <a:xfrm>
            <a:off x="9300599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2" name="S03-mark103"/>
          <p:cNvSpPr/>
          <p:nvPr/>
        </p:nvSpPr>
        <p:spPr>
          <a:xfrm>
            <a:off x="9528467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3" name="S03-mark104"/>
          <p:cNvSpPr/>
          <p:nvPr/>
        </p:nvSpPr>
        <p:spPr>
          <a:xfrm>
            <a:off x="9756335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4" name="S03-mark105"/>
          <p:cNvSpPr/>
          <p:nvPr/>
        </p:nvSpPr>
        <p:spPr>
          <a:xfrm>
            <a:off x="9984203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5" name="S03-mark106"/>
          <p:cNvSpPr/>
          <p:nvPr/>
        </p:nvSpPr>
        <p:spPr>
          <a:xfrm>
            <a:off x="10212071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6" name="S03-mark107"/>
          <p:cNvSpPr/>
          <p:nvPr/>
        </p:nvSpPr>
        <p:spPr>
          <a:xfrm>
            <a:off x="10439939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7" name="S03-mark108"/>
          <p:cNvSpPr/>
          <p:nvPr/>
        </p:nvSpPr>
        <p:spPr>
          <a:xfrm>
            <a:off x="10667807" y="3327032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8" name="S03-mark109"/>
          <p:cNvSpPr/>
          <p:nvPr/>
        </p:nvSpPr>
        <p:spPr>
          <a:xfrm>
            <a:off x="10895675" y="3327032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9" name="S03-label111"/>
          <p:cNvSpPr txBox="1"/>
          <p:nvPr/>
        </p:nvSpPr>
        <p:spPr>
          <a:xfrm>
            <a:off x="6555718" y="251293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동화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60" name="S03-label113"/>
          <p:cNvSpPr txBox="1"/>
          <p:nvPr/>
        </p:nvSpPr>
        <p:spPr>
          <a:xfrm>
            <a:off x="8036859" y="251293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과학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61" name="S03-label115"/>
          <p:cNvSpPr txBox="1"/>
          <p:nvPr/>
        </p:nvSpPr>
        <p:spPr>
          <a:xfrm>
            <a:off x="9176199" y="251293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역사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62" name="S03-label117"/>
          <p:cNvSpPr txBox="1"/>
          <p:nvPr/>
        </p:nvSpPr>
        <p:spPr>
          <a:xfrm>
            <a:off x="9973737" y="251293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만화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63" name="S03-label119"/>
          <p:cNvSpPr txBox="1"/>
          <p:nvPr/>
        </p:nvSpPr>
        <p:spPr>
          <a:xfrm>
            <a:off x="6191250" y="340306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64" name="S03-label121"/>
          <p:cNvSpPr txBox="1"/>
          <p:nvPr/>
        </p:nvSpPr>
        <p:spPr>
          <a:xfrm>
            <a:off x="7010520" y="3403062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65" name="S03-label123"/>
          <p:cNvSpPr txBox="1"/>
          <p:nvPr/>
        </p:nvSpPr>
        <p:spPr>
          <a:xfrm>
            <a:off x="7921992" y="3403062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66" name="S03-label125"/>
          <p:cNvSpPr txBox="1"/>
          <p:nvPr/>
        </p:nvSpPr>
        <p:spPr>
          <a:xfrm>
            <a:off x="8833463" y="3403062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67" name="S03-label127"/>
          <p:cNvSpPr txBox="1"/>
          <p:nvPr/>
        </p:nvSpPr>
        <p:spPr>
          <a:xfrm>
            <a:off x="9744935" y="3403062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68" name="S03-label129"/>
          <p:cNvSpPr txBox="1"/>
          <p:nvPr/>
        </p:nvSpPr>
        <p:spPr>
          <a:xfrm>
            <a:off x="10564205" y="3403062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69" name="S03-label131"/>
          <p:cNvSpPr txBox="1"/>
          <p:nvPr/>
        </p:nvSpPr>
        <p:spPr>
          <a:xfrm>
            <a:off x="11070233" y="3403062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70" name="S03-label132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그래프마다 잘 보여 주는 것</a:t>
            </a:r>
            <a:endParaRPr lang="ko-KR" sz="4000" dirty="0"/>
          </a:p>
        </p:txBody>
      </p:sp>
      <p:sp>
        <p:nvSpPr>
          <p:cNvPr id="3" name="S04-card133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34"/>
          <p:cNvSpPr txBox="1"/>
          <p:nvPr/>
        </p:nvSpPr>
        <p:spPr>
          <a:xfrm>
            <a:off x="822960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장소별 많고 적음을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한눈에</a:t>
            </a:r>
            <a:endParaRPr lang="ko-KR" sz="2800" dirty="0"/>
          </a:p>
        </p:txBody>
      </p:sp>
      <p:sp>
        <p:nvSpPr>
          <p:cNvPr id="5" name="S04-card135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36"/>
          <p:cNvSpPr txBox="1"/>
          <p:nvPr/>
        </p:nvSpPr>
        <p:spPr>
          <a:xfrm>
            <a:off x="4596384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항목끼리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 비교</a:t>
            </a:r>
            <a:endParaRPr lang="ko-KR" sz="2800" dirty="0"/>
          </a:p>
        </p:txBody>
      </p:sp>
      <p:sp>
        <p:nvSpPr>
          <p:cNvPr id="7" name="S04-card137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38"/>
          <p:cNvSpPr txBox="1"/>
          <p:nvPr/>
        </p:nvSpPr>
        <p:spPr>
          <a:xfrm>
            <a:off x="8369808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시간에 따른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</a:t>
            </a:r>
            <a:endParaRPr lang="ko-KR" sz="2800" dirty="0"/>
          </a:p>
        </p:txBody>
      </p:sp>
      <p:sp>
        <p:nvSpPr>
          <p:cNvPr id="9" name="S04-card139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140"/>
          <p:cNvSpPr txBox="1"/>
          <p:nvPr/>
        </p:nvSpPr>
        <p:spPr>
          <a:xfrm>
            <a:off x="822960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전체에 대한 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띠를 견주기 좋아요.</a:t>
            </a:r>
            <a:endParaRPr lang="ko-KR" sz="2800" dirty="0"/>
          </a:p>
        </p:txBody>
      </p:sp>
      <p:sp>
        <p:nvSpPr>
          <p:cNvPr id="11" name="S04-card141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142"/>
          <p:cNvSpPr txBox="1"/>
          <p:nvPr/>
        </p:nvSpPr>
        <p:spPr>
          <a:xfrm>
            <a:off x="4596384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전체에 대한 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자료를 한눈에</a:t>
            </a:r>
            <a:endParaRPr lang="ko-KR" sz="2800" dirty="0"/>
          </a:p>
        </p:txBody>
      </p:sp>
      <p:sp>
        <p:nvSpPr>
          <p:cNvPr id="13" name="S04-card143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4" name="S04-cardtext144"/>
          <p:cNvSpPr txBox="1"/>
          <p:nvPr/>
        </p:nvSpPr>
        <p:spPr>
          <a:xfrm>
            <a:off x="8369808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기준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알고 싶나요?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· 변화 · 비율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그래프가 알맞을까요?</a:t>
            </a:r>
            <a:endParaRPr lang="ko-KR" sz="4000" dirty="0"/>
          </a:p>
        </p:txBody>
      </p:sp>
      <p:sp>
        <p:nvSpPr>
          <p:cNvPr id="3" name="S05-text1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그래프와 까닭을 말해요.</a:t>
            </a:r>
            <a:endParaRPr lang="ko-KR" sz="2800" dirty="0"/>
          </a:p>
        </p:txBody>
      </p:sp>
      <p:sp>
        <p:nvSpPr>
          <p:cNvPr id="4" name="S05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변화? 비교? 비율? 장소? 알고 싶은 것을 먼저 찾아요.</a:t>
            </a:r>
            <a:endParaRPr lang="ko-KR" sz="2800" dirty="0"/>
          </a:p>
        </p:txBody>
      </p:sp>
      <p:sp>
        <p:nvSpPr>
          <p:cNvPr id="6" name="S05-chip14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14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몸무게를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1월부터 6월까지 매달</a:t>
            </a:r>
            <a:endParaRPr lang="ko-KR" sz="2800" dirty="0"/>
          </a:p>
        </p:txBody>
      </p:sp>
      <p:sp>
        <p:nvSpPr>
          <p:cNvPr id="8" name="S05-chip15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15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과일별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 비교</a:t>
            </a:r>
            <a:endParaRPr lang="ko-KR" sz="2800" dirty="0"/>
          </a:p>
        </p:txBody>
      </p:sp>
      <p:sp>
        <p:nvSpPr>
          <p:cNvPr id="10" name="S05-chip15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text15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용돈을 쓴 곳별로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%인지</a:t>
            </a:r>
            <a:endParaRPr lang="ko-KR" sz="2800" dirty="0"/>
          </a:p>
        </p:txBody>
      </p:sp>
      <p:sp>
        <p:nvSpPr>
          <p:cNvPr id="12" name="S05-chip15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text15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마을별 사과 생산량을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위에 그림으로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그래프가 알맞을까요?</a:t>
            </a:r>
            <a:endParaRPr lang="ko-KR" sz="4000" dirty="0"/>
          </a:p>
        </p:txBody>
      </p:sp>
      <p:sp>
        <p:nvSpPr>
          <p:cNvPr id="3" name="S06-card1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과일별 학생 수를 나타냈어요.</a:t>
            </a:r>
            <a:endParaRPr lang="ko-KR" sz="2800" dirty="0"/>
          </a:p>
        </p:txBody>
      </p:sp>
      <p:sp>
        <p:nvSpPr>
          <p:cNvPr id="5" name="S06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사과와 배 사이의 선분은 무엇을 뜻할까요?</a:t>
            </a:r>
            <a:endParaRPr lang="ko-KR" sz="2800" dirty="0"/>
          </a:p>
        </p:txBody>
      </p:sp>
      <p:sp>
        <p:nvSpPr>
          <p:cNvPr id="7" name="S06-chip16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꺾은선그래프</a:t>
            </a:r>
            <a:endParaRPr lang="ko-KR" sz="2200" dirty="0"/>
          </a:p>
        </p:txBody>
      </p:sp>
      <p:sp>
        <p:nvSpPr>
          <p:cNvPr id="8" name="S06-figure161" descr="좋아하는 과일별 학생 수를 꺾은선으로 이은 그래프: 사과 6, 배 3, 귤 7, 포도 4"/>
          <p:cNvSpPr/>
          <p:nvPr/>
        </p:nvSpPr>
        <p:spPr>
          <a:xfrm>
            <a:off x="2830013" y="3651511"/>
            <a:ext cx="1032528" cy="688352"/>
          </a:xfrm>
          <a:custGeom>
            <a:avLst/>
            <a:gdLst/>
            <a:ahLst/>
            <a:cxnLst/>
            <a:rect l="l" t="t" r="r" b="b"/>
            <a:pathLst>
              <a:path w="1032528" h="688352">
                <a:moveTo>
                  <a:pt x="0" y="172088"/>
                </a:moveTo>
                <a:lnTo>
                  <a:pt x="344176" y="688352"/>
                </a:lnTo>
                <a:lnTo>
                  <a:pt x="688352" y="0"/>
                </a:lnTo>
                <a:lnTo>
                  <a:pt x="1032528" y="516264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9" name="S06-mark162"/>
          <p:cNvSpPr/>
          <p:nvPr/>
        </p:nvSpPr>
        <p:spPr>
          <a:xfrm flipV="1">
            <a:off x="2830013" y="3479423"/>
            <a:ext cx="0" cy="13767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63"/>
          <p:cNvSpPr/>
          <p:nvPr/>
        </p:nvSpPr>
        <p:spPr>
          <a:xfrm flipV="1">
            <a:off x="3174189" y="3479423"/>
            <a:ext cx="0" cy="13767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64"/>
          <p:cNvSpPr/>
          <p:nvPr/>
        </p:nvSpPr>
        <p:spPr>
          <a:xfrm flipV="1">
            <a:off x="3518365" y="3479423"/>
            <a:ext cx="0" cy="13767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65"/>
          <p:cNvSpPr/>
          <p:nvPr/>
        </p:nvSpPr>
        <p:spPr>
          <a:xfrm flipV="1">
            <a:off x="3862542" y="3479423"/>
            <a:ext cx="0" cy="13767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66"/>
          <p:cNvSpPr/>
          <p:nvPr/>
        </p:nvSpPr>
        <p:spPr>
          <a:xfrm>
            <a:off x="2606299" y="4684040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67"/>
          <p:cNvSpPr/>
          <p:nvPr/>
        </p:nvSpPr>
        <p:spPr>
          <a:xfrm>
            <a:off x="2606299" y="4511951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68"/>
          <p:cNvSpPr/>
          <p:nvPr/>
        </p:nvSpPr>
        <p:spPr>
          <a:xfrm>
            <a:off x="2606299" y="4339863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169"/>
          <p:cNvSpPr/>
          <p:nvPr/>
        </p:nvSpPr>
        <p:spPr>
          <a:xfrm>
            <a:off x="2606299" y="4167775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170"/>
          <p:cNvSpPr/>
          <p:nvPr/>
        </p:nvSpPr>
        <p:spPr>
          <a:xfrm>
            <a:off x="2606299" y="3995687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171"/>
          <p:cNvSpPr/>
          <p:nvPr/>
        </p:nvSpPr>
        <p:spPr>
          <a:xfrm>
            <a:off x="2606299" y="3823599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6-mark172"/>
          <p:cNvSpPr/>
          <p:nvPr/>
        </p:nvSpPr>
        <p:spPr>
          <a:xfrm>
            <a:off x="2606299" y="3651511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6-mark173"/>
          <p:cNvSpPr/>
          <p:nvPr/>
        </p:nvSpPr>
        <p:spPr>
          <a:xfrm>
            <a:off x="2606299" y="3479423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6-mark174"/>
          <p:cNvSpPr/>
          <p:nvPr/>
        </p:nvSpPr>
        <p:spPr>
          <a:xfrm>
            <a:off x="2606299" y="4856128"/>
            <a:ext cx="147995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6-mark175"/>
          <p:cNvSpPr/>
          <p:nvPr/>
        </p:nvSpPr>
        <p:spPr>
          <a:xfrm flipV="1">
            <a:off x="2606299" y="3410588"/>
            <a:ext cx="0" cy="144554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6-mark176"/>
          <p:cNvSpPr/>
          <p:nvPr/>
        </p:nvSpPr>
        <p:spPr>
          <a:xfrm>
            <a:off x="2770577" y="376416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mark177"/>
          <p:cNvSpPr/>
          <p:nvPr/>
        </p:nvSpPr>
        <p:spPr>
          <a:xfrm>
            <a:off x="3114753" y="428042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mark178"/>
          <p:cNvSpPr/>
          <p:nvPr/>
        </p:nvSpPr>
        <p:spPr>
          <a:xfrm>
            <a:off x="3458929" y="359207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mark179"/>
          <p:cNvSpPr/>
          <p:nvPr/>
        </p:nvSpPr>
        <p:spPr>
          <a:xfrm>
            <a:off x="3803106" y="410833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label181"/>
          <p:cNvSpPr txBox="1"/>
          <p:nvPr/>
        </p:nvSpPr>
        <p:spPr>
          <a:xfrm>
            <a:off x="2312958" y="468150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8" name="S06-label183"/>
          <p:cNvSpPr txBox="1"/>
          <p:nvPr/>
        </p:nvSpPr>
        <p:spPr>
          <a:xfrm>
            <a:off x="2312958" y="468150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9" name="S06-label185"/>
          <p:cNvSpPr txBox="1"/>
          <p:nvPr/>
        </p:nvSpPr>
        <p:spPr>
          <a:xfrm>
            <a:off x="2312958" y="433732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0" name="S06-label187"/>
          <p:cNvSpPr txBox="1"/>
          <p:nvPr/>
        </p:nvSpPr>
        <p:spPr>
          <a:xfrm>
            <a:off x="2312958" y="399315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31" name="S06-label189"/>
          <p:cNvSpPr txBox="1"/>
          <p:nvPr/>
        </p:nvSpPr>
        <p:spPr>
          <a:xfrm>
            <a:off x="2312958" y="364897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32" name="S06-label191"/>
          <p:cNvSpPr txBox="1"/>
          <p:nvPr/>
        </p:nvSpPr>
        <p:spPr>
          <a:xfrm>
            <a:off x="2312958" y="330479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33" name="S06-label193"/>
          <p:cNvSpPr txBox="1"/>
          <p:nvPr/>
        </p:nvSpPr>
        <p:spPr>
          <a:xfrm>
            <a:off x="2100614" y="3132710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34" name="S06-label195"/>
          <p:cNvSpPr txBox="1"/>
          <p:nvPr/>
        </p:nvSpPr>
        <p:spPr>
          <a:xfrm>
            <a:off x="2501337" y="479336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200" dirty="0"/>
          </a:p>
        </p:txBody>
      </p:sp>
      <p:sp>
        <p:nvSpPr>
          <p:cNvPr id="35" name="S06-label197"/>
          <p:cNvSpPr txBox="1"/>
          <p:nvPr/>
        </p:nvSpPr>
        <p:spPr>
          <a:xfrm>
            <a:off x="2982419" y="479336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2200" dirty="0"/>
          </a:p>
        </p:txBody>
      </p:sp>
      <p:sp>
        <p:nvSpPr>
          <p:cNvPr id="36" name="S06-label199"/>
          <p:cNvSpPr txBox="1"/>
          <p:nvPr/>
        </p:nvSpPr>
        <p:spPr>
          <a:xfrm>
            <a:off x="3326595" y="479336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200" dirty="0"/>
          </a:p>
        </p:txBody>
      </p:sp>
      <p:sp>
        <p:nvSpPr>
          <p:cNvPr id="37" name="S06-label201"/>
          <p:cNvSpPr txBox="1"/>
          <p:nvPr/>
        </p:nvSpPr>
        <p:spPr>
          <a:xfrm>
            <a:off x="3533866" y="479336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200" dirty="0"/>
          </a:p>
        </p:txBody>
      </p:sp>
      <p:sp>
        <p:nvSpPr>
          <p:cNvPr id="38" name="S06-chip2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막대그래프</a:t>
            </a:r>
            <a:endParaRPr lang="ko-KR" sz="2200" dirty="0"/>
          </a:p>
        </p:txBody>
      </p:sp>
      <p:sp>
        <p:nvSpPr>
          <p:cNvPr id="39" name="S06-figure203" descr="좋아하는 과일별 학생 수 막대그래프: 사과 6, 배 3, 귤 7, 포도 4"/>
          <p:cNvSpPr/>
          <p:nvPr/>
        </p:nvSpPr>
        <p:spPr>
          <a:xfrm>
            <a:off x="8455476" y="3823599"/>
            <a:ext cx="206506" cy="1032528"/>
          </a:xfrm>
          <a:custGeom>
            <a:avLst/>
            <a:gdLst/>
            <a:ahLst/>
            <a:cxnLst/>
            <a:rect l="l" t="t" r="r" b="b"/>
            <a:pathLst>
              <a:path w="206506" h="1032528">
                <a:moveTo>
                  <a:pt x="0" y="1032528"/>
                </a:moveTo>
                <a:lnTo>
                  <a:pt x="206506" y="1032528"/>
                </a:lnTo>
                <a:lnTo>
                  <a:pt x="20650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mark204"/>
          <p:cNvSpPr/>
          <p:nvPr/>
        </p:nvSpPr>
        <p:spPr>
          <a:xfrm>
            <a:off x="8799653" y="4339863"/>
            <a:ext cx="206506" cy="516264"/>
          </a:xfrm>
          <a:custGeom>
            <a:avLst/>
            <a:gdLst/>
            <a:ahLst/>
            <a:cxnLst/>
            <a:rect l="l" t="t" r="r" b="b"/>
            <a:pathLst>
              <a:path w="206506" h="516264">
                <a:moveTo>
                  <a:pt x="0" y="516264"/>
                </a:moveTo>
                <a:lnTo>
                  <a:pt x="206506" y="516264"/>
                </a:lnTo>
                <a:lnTo>
                  <a:pt x="20650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mark205"/>
          <p:cNvSpPr/>
          <p:nvPr/>
        </p:nvSpPr>
        <p:spPr>
          <a:xfrm>
            <a:off x="9143829" y="3651511"/>
            <a:ext cx="206506" cy="1204616"/>
          </a:xfrm>
          <a:custGeom>
            <a:avLst/>
            <a:gdLst/>
            <a:ahLst/>
            <a:cxnLst/>
            <a:rect l="l" t="t" r="r" b="b"/>
            <a:pathLst>
              <a:path w="206506" h="1204616">
                <a:moveTo>
                  <a:pt x="0" y="1204616"/>
                </a:moveTo>
                <a:lnTo>
                  <a:pt x="206506" y="1204616"/>
                </a:lnTo>
                <a:lnTo>
                  <a:pt x="20650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mark206"/>
          <p:cNvSpPr/>
          <p:nvPr/>
        </p:nvSpPr>
        <p:spPr>
          <a:xfrm>
            <a:off x="9488005" y="4167775"/>
            <a:ext cx="206506" cy="688352"/>
          </a:xfrm>
          <a:custGeom>
            <a:avLst/>
            <a:gdLst/>
            <a:ahLst/>
            <a:cxnLst/>
            <a:rect l="l" t="t" r="r" b="b"/>
            <a:pathLst>
              <a:path w="206506" h="688352">
                <a:moveTo>
                  <a:pt x="0" y="688352"/>
                </a:moveTo>
                <a:lnTo>
                  <a:pt x="206506" y="688352"/>
                </a:lnTo>
                <a:lnTo>
                  <a:pt x="20650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mark207"/>
          <p:cNvSpPr/>
          <p:nvPr/>
        </p:nvSpPr>
        <p:spPr>
          <a:xfrm>
            <a:off x="8335015" y="4684040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6-mark208"/>
          <p:cNvSpPr/>
          <p:nvPr/>
        </p:nvSpPr>
        <p:spPr>
          <a:xfrm>
            <a:off x="8335015" y="4511951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6-mark209"/>
          <p:cNvSpPr/>
          <p:nvPr/>
        </p:nvSpPr>
        <p:spPr>
          <a:xfrm>
            <a:off x="8335015" y="4339863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6-mark210"/>
          <p:cNvSpPr/>
          <p:nvPr/>
        </p:nvSpPr>
        <p:spPr>
          <a:xfrm>
            <a:off x="8335015" y="4167775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6-mark211"/>
          <p:cNvSpPr/>
          <p:nvPr/>
        </p:nvSpPr>
        <p:spPr>
          <a:xfrm>
            <a:off x="8335015" y="3995687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6-mark212"/>
          <p:cNvSpPr/>
          <p:nvPr/>
        </p:nvSpPr>
        <p:spPr>
          <a:xfrm>
            <a:off x="8335015" y="3823599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6-mark213"/>
          <p:cNvSpPr/>
          <p:nvPr/>
        </p:nvSpPr>
        <p:spPr>
          <a:xfrm>
            <a:off x="8335015" y="3651511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6-mark214"/>
          <p:cNvSpPr/>
          <p:nvPr/>
        </p:nvSpPr>
        <p:spPr>
          <a:xfrm>
            <a:off x="8335015" y="3479423"/>
            <a:ext cx="147995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6-mark215"/>
          <p:cNvSpPr/>
          <p:nvPr/>
        </p:nvSpPr>
        <p:spPr>
          <a:xfrm>
            <a:off x="8335015" y="4856128"/>
            <a:ext cx="147995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2" name="S06-mark216"/>
          <p:cNvSpPr/>
          <p:nvPr/>
        </p:nvSpPr>
        <p:spPr>
          <a:xfrm flipV="1">
            <a:off x="8335015" y="3410588"/>
            <a:ext cx="0" cy="144554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3" name="S06-label218"/>
          <p:cNvSpPr txBox="1"/>
          <p:nvPr/>
        </p:nvSpPr>
        <p:spPr>
          <a:xfrm>
            <a:off x="8041674" y="468150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54" name="S06-label220"/>
          <p:cNvSpPr txBox="1"/>
          <p:nvPr/>
        </p:nvSpPr>
        <p:spPr>
          <a:xfrm>
            <a:off x="8041674" y="433732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5" name="S06-label222"/>
          <p:cNvSpPr txBox="1"/>
          <p:nvPr/>
        </p:nvSpPr>
        <p:spPr>
          <a:xfrm>
            <a:off x="8041674" y="399315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56" name="S06-label224"/>
          <p:cNvSpPr txBox="1"/>
          <p:nvPr/>
        </p:nvSpPr>
        <p:spPr>
          <a:xfrm>
            <a:off x="8041674" y="364897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57" name="S06-label226"/>
          <p:cNvSpPr txBox="1"/>
          <p:nvPr/>
        </p:nvSpPr>
        <p:spPr>
          <a:xfrm>
            <a:off x="8041674" y="330479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58" name="S06-label228"/>
          <p:cNvSpPr txBox="1"/>
          <p:nvPr/>
        </p:nvSpPr>
        <p:spPr>
          <a:xfrm>
            <a:off x="7829330" y="3132710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59" name="S06-label230"/>
          <p:cNvSpPr txBox="1"/>
          <p:nvPr/>
        </p:nvSpPr>
        <p:spPr>
          <a:xfrm>
            <a:off x="8230053" y="479336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200" dirty="0"/>
          </a:p>
        </p:txBody>
      </p:sp>
      <p:sp>
        <p:nvSpPr>
          <p:cNvPr id="60" name="S06-label232"/>
          <p:cNvSpPr txBox="1"/>
          <p:nvPr/>
        </p:nvSpPr>
        <p:spPr>
          <a:xfrm>
            <a:off x="8711135" y="479336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2200" dirty="0"/>
          </a:p>
        </p:txBody>
      </p:sp>
      <p:sp>
        <p:nvSpPr>
          <p:cNvPr id="61" name="S06-label234"/>
          <p:cNvSpPr txBox="1"/>
          <p:nvPr/>
        </p:nvSpPr>
        <p:spPr>
          <a:xfrm>
            <a:off x="9055311" y="479336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200" dirty="0"/>
          </a:p>
        </p:txBody>
      </p:sp>
      <p:sp>
        <p:nvSpPr>
          <p:cNvPr id="62" name="S06-label236"/>
          <p:cNvSpPr txBox="1"/>
          <p:nvPr/>
        </p:nvSpPr>
        <p:spPr>
          <a:xfrm>
            <a:off x="9262582" y="479336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골라서 나타내고 해석해요</a:t>
            </a:r>
            <a:endParaRPr lang="ko-KR" sz="4000" dirty="0"/>
          </a:p>
        </p:txBody>
      </p:sp>
      <p:sp>
        <p:nvSpPr>
          <p:cNvPr id="3" name="S07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책 400권의 종류별 비율이 궁금해요.</a:t>
            </a:r>
            <a:endParaRPr lang="ko-KR" sz="2800" dirty="0"/>
          </a:p>
        </p:txBody>
      </p:sp>
      <p:sp>
        <p:nvSpPr>
          <p:cNvPr id="4" name="S07-figure238" descr="원그래프 ‘도서관 책의 종류’(400권): 문학 40 %, 과학 25 %, 역사 20 %, 기타 15 %"/>
          <p:cNvSpPr/>
          <p:nvPr/>
        </p:nvSpPr>
        <p:spPr>
          <a:xfrm>
            <a:off x="9226982" y="2666615"/>
            <a:ext cx="1631758" cy="2951874"/>
          </a:xfrm>
          <a:custGeom>
            <a:avLst/>
            <a:gdLst/>
            <a:ahLst/>
            <a:cxnLst/>
            <a:rect l="l" t="t" r="r" b="b"/>
            <a:pathLst>
              <a:path w="1631758" h="2951874">
                <a:moveTo>
                  <a:pt x="0" y="1631758"/>
                </a:moveTo>
                <a:lnTo>
                  <a:pt x="0" y="0"/>
                </a:lnTo>
                <a:lnTo>
                  <a:pt x="85398" y="2236"/>
                </a:lnTo>
                <a:lnTo>
                  <a:pt x="170568" y="8942"/>
                </a:lnTo>
                <a:lnTo>
                  <a:pt x="255264" y="20087"/>
                </a:lnTo>
                <a:lnTo>
                  <a:pt x="339259" y="35654"/>
                </a:lnTo>
                <a:lnTo>
                  <a:pt x="422331" y="55602"/>
                </a:lnTo>
                <a:lnTo>
                  <a:pt x="504238" y="79866"/>
                </a:lnTo>
                <a:lnTo>
                  <a:pt x="584773" y="108381"/>
                </a:lnTo>
                <a:lnTo>
                  <a:pt x="663693" y="141074"/>
                </a:lnTo>
                <a:lnTo>
                  <a:pt x="740802" y="177853"/>
                </a:lnTo>
                <a:lnTo>
                  <a:pt x="815879" y="218615"/>
                </a:lnTo>
                <a:lnTo>
                  <a:pt x="888720" y="263251"/>
                </a:lnTo>
                <a:lnTo>
                  <a:pt x="959123" y="311641"/>
                </a:lnTo>
                <a:lnTo>
                  <a:pt x="1026898" y="363645"/>
                </a:lnTo>
                <a:lnTo>
                  <a:pt x="1091858" y="419125"/>
                </a:lnTo>
                <a:lnTo>
                  <a:pt x="1153824" y="477934"/>
                </a:lnTo>
                <a:lnTo>
                  <a:pt x="1212632" y="539900"/>
                </a:lnTo>
                <a:lnTo>
                  <a:pt x="1268112" y="604860"/>
                </a:lnTo>
                <a:lnTo>
                  <a:pt x="1320116" y="672635"/>
                </a:lnTo>
                <a:lnTo>
                  <a:pt x="1368506" y="743037"/>
                </a:lnTo>
                <a:lnTo>
                  <a:pt x="1413143" y="815879"/>
                </a:lnTo>
                <a:lnTo>
                  <a:pt x="1453904" y="890956"/>
                </a:lnTo>
                <a:lnTo>
                  <a:pt x="1490684" y="968065"/>
                </a:lnTo>
                <a:lnTo>
                  <a:pt x="1523376" y="1046985"/>
                </a:lnTo>
                <a:lnTo>
                  <a:pt x="1551891" y="1127520"/>
                </a:lnTo>
                <a:lnTo>
                  <a:pt x="1576155" y="1209426"/>
                </a:lnTo>
                <a:lnTo>
                  <a:pt x="1596104" y="1292499"/>
                </a:lnTo>
                <a:lnTo>
                  <a:pt x="1611671" y="1376494"/>
                </a:lnTo>
                <a:lnTo>
                  <a:pt x="1622816" y="1461190"/>
                </a:lnTo>
                <a:lnTo>
                  <a:pt x="1629522" y="1546360"/>
                </a:lnTo>
                <a:lnTo>
                  <a:pt x="1631758" y="1631758"/>
                </a:lnTo>
                <a:lnTo>
                  <a:pt x="1629522" y="1717156"/>
                </a:lnTo>
                <a:lnTo>
                  <a:pt x="1622816" y="1802325"/>
                </a:lnTo>
                <a:lnTo>
                  <a:pt x="1611671" y="1887022"/>
                </a:lnTo>
                <a:lnTo>
                  <a:pt x="1596104" y="1971016"/>
                </a:lnTo>
                <a:lnTo>
                  <a:pt x="1576155" y="2054089"/>
                </a:lnTo>
                <a:lnTo>
                  <a:pt x="1551891" y="2135995"/>
                </a:lnTo>
                <a:lnTo>
                  <a:pt x="1523376" y="2216531"/>
                </a:lnTo>
                <a:lnTo>
                  <a:pt x="1490684" y="2295450"/>
                </a:lnTo>
                <a:lnTo>
                  <a:pt x="1453904" y="2372559"/>
                </a:lnTo>
                <a:lnTo>
                  <a:pt x="1413143" y="2447636"/>
                </a:lnTo>
                <a:lnTo>
                  <a:pt x="1368506" y="2520478"/>
                </a:lnTo>
                <a:lnTo>
                  <a:pt x="1320116" y="2590880"/>
                </a:lnTo>
                <a:lnTo>
                  <a:pt x="1268112" y="2658655"/>
                </a:lnTo>
                <a:lnTo>
                  <a:pt x="1212632" y="2723616"/>
                </a:lnTo>
                <a:lnTo>
                  <a:pt x="1153824" y="2785582"/>
                </a:lnTo>
                <a:lnTo>
                  <a:pt x="1091858" y="2844390"/>
                </a:lnTo>
                <a:lnTo>
                  <a:pt x="1026898" y="2899870"/>
                </a:lnTo>
                <a:lnTo>
                  <a:pt x="959123" y="2951874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7-mark239"/>
          <p:cNvSpPr/>
          <p:nvPr/>
        </p:nvSpPr>
        <p:spPr>
          <a:xfrm>
            <a:off x="7906865" y="4298373"/>
            <a:ext cx="2279239" cy="1631758"/>
          </a:xfrm>
          <a:custGeom>
            <a:avLst/>
            <a:gdLst/>
            <a:ahLst/>
            <a:cxnLst/>
            <a:rect l="l" t="t" r="r" b="b"/>
            <a:pathLst>
              <a:path w="2279239" h="1631758">
                <a:moveTo>
                  <a:pt x="1320116" y="0"/>
                </a:moveTo>
                <a:lnTo>
                  <a:pt x="2279239" y="1320116"/>
                </a:lnTo>
                <a:lnTo>
                  <a:pt x="2208837" y="1368506"/>
                </a:lnTo>
                <a:lnTo>
                  <a:pt x="2135995" y="1413143"/>
                </a:lnTo>
                <a:lnTo>
                  <a:pt x="2060918" y="1453904"/>
                </a:lnTo>
                <a:lnTo>
                  <a:pt x="1983809" y="1490684"/>
                </a:lnTo>
                <a:lnTo>
                  <a:pt x="1904889" y="1523376"/>
                </a:lnTo>
                <a:lnTo>
                  <a:pt x="1824354" y="1551891"/>
                </a:lnTo>
                <a:lnTo>
                  <a:pt x="1742448" y="1576155"/>
                </a:lnTo>
                <a:lnTo>
                  <a:pt x="1659375" y="1596104"/>
                </a:lnTo>
                <a:lnTo>
                  <a:pt x="1575380" y="1611671"/>
                </a:lnTo>
                <a:lnTo>
                  <a:pt x="1490684" y="1622816"/>
                </a:lnTo>
                <a:lnTo>
                  <a:pt x="1405514" y="1629522"/>
                </a:lnTo>
                <a:lnTo>
                  <a:pt x="1320116" y="1631758"/>
                </a:lnTo>
                <a:lnTo>
                  <a:pt x="1234718" y="1629522"/>
                </a:lnTo>
                <a:lnTo>
                  <a:pt x="1149549" y="1622816"/>
                </a:lnTo>
                <a:lnTo>
                  <a:pt x="1064852" y="1611671"/>
                </a:lnTo>
                <a:lnTo>
                  <a:pt x="980858" y="1596104"/>
                </a:lnTo>
                <a:lnTo>
                  <a:pt x="897785" y="1576155"/>
                </a:lnTo>
                <a:lnTo>
                  <a:pt x="815879" y="1551891"/>
                </a:lnTo>
                <a:lnTo>
                  <a:pt x="735343" y="1523376"/>
                </a:lnTo>
                <a:lnTo>
                  <a:pt x="656423" y="1490684"/>
                </a:lnTo>
                <a:lnTo>
                  <a:pt x="579315" y="1453904"/>
                </a:lnTo>
                <a:lnTo>
                  <a:pt x="504238" y="1413143"/>
                </a:lnTo>
                <a:lnTo>
                  <a:pt x="431396" y="1368506"/>
                </a:lnTo>
                <a:lnTo>
                  <a:pt x="360994" y="1320116"/>
                </a:lnTo>
                <a:lnTo>
                  <a:pt x="293219" y="1268112"/>
                </a:lnTo>
                <a:lnTo>
                  <a:pt x="228258" y="1212632"/>
                </a:lnTo>
                <a:lnTo>
                  <a:pt x="166292" y="1153824"/>
                </a:lnTo>
                <a:lnTo>
                  <a:pt x="107484" y="1091858"/>
                </a:lnTo>
                <a:lnTo>
                  <a:pt x="52004" y="1026898"/>
                </a:lnTo>
                <a:lnTo>
                  <a:pt x="0" y="959123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240"/>
          <p:cNvSpPr/>
          <p:nvPr/>
        </p:nvSpPr>
        <p:spPr>
          <a:xfrm>
            <a:off x="7595224" y="3339250"/>
            <a:ext cx="1631758" cy="1918245"/>
          </a:xfrm>
          <a:custGeom>
            <a:avLst/>
            <a:gdLst/>
            <a:ahLst/>
            <a:cxnLst/>
            <a:rect l="l" t="t" r="r" b="b"/>
            <a:pathLst>
              <a:path w="1631758" h="1918245">
                <a:moveTo>
                  <a:pt x="1631758" y="959123"/>
                </a:moveTo>
                <a:lnTo>
                  <a:pt x="311641" y="1918245"/>
                </a:lnTo>
                <a:lnTo>
                  <a:pt x="263251" y="1847843"/>
                </a:lnTo>
                <a:lnTo>
                  <a:pt x="218615" y="1775001"/>
                </a:lnTo>
                <a:lnTo>
                  <a:pt x="177853" y="1699924"/>
                </a:lnTo>
                <a:lnTo>
                  <a:pt x="141074" y="1622816"/>
                </a:lnTo>
                <a:lnTo>
                  <a:pt x="108381" y="1543896"/>
                </a:lnTo>
                <a:lnTo>
                  <a:pt x="79866" y="1463360"/>
                </a:lnTo>
                <a:lnTo>
                  <a:pt x="55602" y="1381454"/>
                </a:lnTo>
                <a:lnTo>
                  <a:pt x="35654" y="1298381"/>
                </a:lnTo>
                <a:lnTo>
                  <a:pt x="20087" y="1214387"/>
                </a:lnTo>
                <a:lnTo>
                  <a:pt x="8942" y="1129690"/>
                </a:lnTo>
                <a:lnTo>
                  <a:pt x="2236" y="1044521"/>
                </a:lnTo>
                <a:lnTo>
                  <a:pt x="0" y="959123"/>
                </a:lnTo>
                <a:lnTo>
                  <a:pt x="2236" y="873725"/>
                </a:lnTo>
                <a:lnTo>
                  <a:pt x="8942" y="788555"/>
                </a:lnTo>
                <a:lnTo>
                  <a:pt x="20087" y="703859"/>
                </a:lnTo>
                <a:lnTo>
                  <a:pt x="35654" y="619864"/>
                </a:lnTo>
                <a:lnTo>
                  <a:pt x="55602" y="536791"/>
                </a:lnTo>
                <a:lnTo>
                  <a:pt x="79866" y="454885"/>
                </a:lnTo>
                <a:lnTo>
                  <a:pt x="108381" y="374350"/>
                </a:lnTo>
                <a:lnTo>
                  <a:pt x="141074" y="295430"/>
                </a:lnTo>
                <a:lnTo>
                  <a:pt x="177853" y="218321"/>
                </a:lnTo>
                <a:lnTo>
                  <a:pt x="218615" y="143244"/>
                </a:lnTo>
                <a:lnTo>
                  <a:pt x="263251" y="70402"/>
                </a:lnTo>
                <a:lnTo>
                  <a:pt x="311641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241"/>
          <p:cNvSpPr/>
          <p:nvPr/>
        </p:nvSpPr>
        <p:spPr>
          <a:xfrm>
            <a:off x="7906865" y="2666615"/>
            <a:ext cx="1320116" cy="1631758"/>
          </a:xfrm>
          <a:custGeom>
            <a:avLst/>
            <a:gdLst/>
            <a:ahLst/>
            <a:cxnLst/>
            <a:rect l="l" t="t" r="r" b="b"/>
            <a:pathLst>
              <a:path w="1320116" h="1631758">
                <a:moveTo>
                  <a:pt x="1320116" y="1631758"/>
                </a:moveTo>
                <a:lnTo>
                  <a:pt x="0" y="672635"/>
                </a:lnTo>
                <a:lnTo>
                  <a:pt x="52004" y="604860"/>
                </a:lnTo>
                <a:lnTo>
                  <a:pt x="107484" y="539900"/>
                </a:lnTo>
                <a:lnTo>
                  <a:pt x="166292" y="477934"/>
                </a:lnTo>
                <a:lnTo>
                  <a:pt x="228258" y="419125"/>
                </a:lnTo>
                <a:lnTo>
                  <a:pt x="293219" y="363645"/>
                </a:lnTo>
                <a:lnTo>
                  <a:pt x="360994" y="311641"/>
                </a:lnTo>
                <a:lnTo>
                  <a:pt x="431396" y="263251"/>
                </a:lnTo>
                <a:lnTo>
                  <a:pt x="504238" y="218615"/>
                </a:lnTo>
                <a:lnTo>
                  <a:pt x="579315" y="177853"/>
                </a:lnTo>
                <a:lnTo>
                  <a:pt x="656423" y="141074"/>
                </a:lnTo>
                <a:lnTo>
                  <a:pt x="735343" y="108381"/>
                </a:lnTo>
                <a:lnTo>
                  <a:pt x="815879" y="79866"/>
                </a:lnTo>
                <a:lnTo>
                  <a:pt x="897785" y="55602"/>
                </a:lnTo>
                <a:lnTo>
                  <a:pt x="980858" y="35654"/>
                </a:lnTo>
                <a:lnTo>
                  <a:pt x="1064852" y="20087"/>
                </a:lnTo>
                <a:lnTo>
                  <a:pt x="1149549" y="8942"/>
                </a:lnTo>
                <a:lnTo>
                  <a:pt x="1234718" y="2236"/>
                </a:lnTo>
                <a:lnTo>
                  <a:pt x="1320116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242"/>
          <p:cNvSpPr/>
          <p:nvPr/>
        </p:nvSpPr>
        <p:spPr>
          <a:xfrm flipV="1">
            <a:off x="9226982" y="2487122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7-mark243"/>
          <p:cNvSpPr/>
          <p:nvPr/>
        </p:nvSpPr>
        <p:spPr>
          <a:xfrm flipV="1">
            <a:off x="9731219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7-mark244"/>
          <p:cNvSpPr/>
          <p:nvPr/>
        </p:nvSpPr>
        <p:spPr>
          <a:xfrm flipV="1">
            <a:off x="10186104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7-mark245"/>
          <p:cNvSpPr/>
          <p:nvPr/>
        </p:nvSpPr>
        <p:spPr>
          <a:xfrm flipV="1">
            <a:off x="10547098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7-mark246"/>
          <p:cNvSpPr/>
          <p:nvPr/>
        </p:nvSpPr>
        <p:spPr>
          <a:xfrm flipV="1">
            <a:off x="10778873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7-mark247"/>
          <p:cNvSpPr/>
          <p:nvPr/>
        </p:nvSpPr>
        <p:spPr>
          <a:xfrm>
            <a:off x="10858739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7-mark248"/>
          <p:cNvSpPr/>
          <p:nvPr/>
        </p:nvSpPr>
        <p:spPr>
          <a:xfrm>
            <a:off x="10778873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7-mark249"/>
          <p:cNvSpPr/>
          <p:nvPr/>
        </p:nvSpPr>
        <p:spPr>
          <a:xfrm>
            <a:off x="10547098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7-mark250"/>
          <p:cNvSpPr/>
          <p:nvPr/>
        </p:nvSpPr>
        <p:spPr>
          <a:xfrm>
            <a:off x="10186104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7-mark251"/>
          <p:cNvSpPr/>
          <p:nvPr/>
        </p:nvSpPr>
        <p:spPr>
          <a:xfrm>
            <a:off x="9731219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7-mark252"/>
          <p:cNvSpPr/>
          <p:nvPr/>
        </p:nvSpPr>
        <p:spPr>
          <a:xfrm>
            <a:off x="9226982" y="5930130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7-mark253"/>
          <p:cNvSpPr/>
          <p:nvPr/>
        </p:nvSpPr>
        <p:spPr>
          <a:xfrm flipH="1">
            <a:off x="8692483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7-mark254"/>
          <p:cNvSpPr/>
          <p:nvPr/>
        </p:nvSpPr>
        <p:spPr>
          <a:xfrm flipH="1">
            <a:off x="8210315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7-mark255"/>
          <p:cNvSpPr/>
          <p:nvPr/>
        </p:nvSpPr>
        <p:spPr>
          <a:xfrm flipH="1">
            <a:off x="7827652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7-mark256"/>
          <p:cNvSpPr/>
          <p:nvPr/>
        </p:nvSpPr>
        <p:spPr>
          <a:xfrm flipH="1">
            <a:off x="7581974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7-mark257"/>
          <p:cNvSpPr/>
          <p:nvPr/>
        </p:nvSpPr>
        <p:spPr>
          <a:xfrm flipH="1">
            <a:off x="7415731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7-mark258"/>
          <p:cNvSpPr/>
          <p:nvPr/>
        </p:nvSpPr>
        <p:spPr>
          <a:xfrm flipH="1" flipV="1">
            <a:off x="7581974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7-mark259"/>
          <p:cNvSpPr/>
          <p:nvPr/>
        </p:nvSpPr>
        <p:spPr>
          <a:xfrm flipH="1" flipV="1">
            <a:off x="7827652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7-mark260"/>
          <p:cNvSpPr/>
          <p:nvPr/>
        </p:nvSpPr>
        <p:spPr>
          <a:xfrm flipH="1" flipV="1">
            <a:off x="8210315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7-mark261"/>
          <p:cNvSpPr/>
          <p:nvPr/>
        </p:nvSpPr>
        <p:spPr>
          <a:xfrm flipH="1" flipV="1">
            <a:off x="8692483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7-label263"/>
          <p:cNvSpPr txBox="1"/>
          <p:nvPr/>
        </p:nvSpPr>
        <p:spPr>
          <a:xfrm>
            <a:off x="9616763" y="3633949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문학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29" name="S07-label265"/>
          <p:cNvSpPr txBox="1"/>
          <p:nvPr/>
        </p:nvSpPr>
        <p:spPr>
          <a:xfrm>
            <a:off x="8487341" y="4956407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과학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0" name="S07-label267"/>
          <p:cNvSpPr txBox="1"/>
          <p:nvPr/>
        </p:nvSpPr>
        <p:spPr>
          <a:xfrm>
            <a:off x="7626997" y="3949123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역사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1" name="S07-label269"/>
          <p:cNvSpPr txBox="1"/>
          <p:nvPr/>
        </p:nvSpPr>
        <p:spPr>
          <a:xfrm>
            <a:off x="8113506" y="2902350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2" name="S07-label271"/>
          <p:cNvSpPr txBox="1"/>
          <p:nvPr/>
        </p:nvSpPr>
        <p:spPr>
          <a:xfrm>
            <a:off x="8129956" y="1920875"/>
            <a:ext cx="21940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책의 종류</a:t>
            </a:r>
            <a:endParaRPr lang="ko-KR" sz="2200" dirty="0"/>
          </a:p>
        </p:txBody>
      </p:sp>
      <p:sp>
        <p:nvSpPr>
          <p:cNvPr id="33" name="S07-stepno272"/>
          <p:cNvSpPr txBox="1"/>
          <p:nvPr/>
        </p:nvSpPr>
        <p:spPr>
          <a:xfrm>
            <a:off x="548640" y="2178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4" name="S07-text273"/>
          <p:cNvSpPr txBox="1"/>
          <p:nvPr/>
        </p:nvSpPr>
        <p:spPr>
          <a:xfrm>
            <a:off x="1325880" y="21325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전체에 대한 비율</a:t>
            </a:r>
            <a:endParaRPr lang="ko-KR" sz="2800" dirty="0"/>
          </a:p>
        </p:txBody>
      </p:sp>
      <p:sp>
        <p:nvSpPr>
          <p:cNvPr id="35" name="S07-stepno274"/>
          <p:cNvSpPr txBox="1"/>
          <p:nvPr/>
        </p:nvSpPr>
        <p:spPr>
          <a:xfrm>
            <a:off x="548640" y="3210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6" name="S07-text275"/>
          <p:cNvSpPr txBox="1"/>
          <p:nvPr/>
        </p:nvSpPr>
        <p:spPr>
          <a:xfrm>
            <a:off x="1325880" y="3164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그래프: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2800" dirty="0"/>
          </a:p>
        </p:txBody>
      </p:sp>
      <p:sp>
        <p:nvSpPr>
          <p:cNvPr id="37" name="S07-stepno276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8" name="S07-text277"/>
          <p:cNvSpPr txBox="1"/>
          <p:nvPr/>
        </p:nvSpPr>
        <p:spPr>
          <a:xfrm>
            <a:off x="1325880" y="41970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구해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나타내요.</a:t>
            </a:r>
            <a:endParaRPr lang="ko-KR" sz="2800" dirty="0"/>
          </a:p>
        </p:txBody>
      </p:sp>
      <p:sp>
        <p:nvSpPr>
          <p:cNvPr id="39" name="S07-stepno278"/>
          <p:cNvSpPr txBox="1"/>
          <p:nvPr/>
        </p:nvSpPr>
        <p:spPr>
          <a:xfrm>
            <a:off x="548640" y="527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0" name="S07-text279"/>
          <p:cNvSpPr txBox="1"/>
          <p:nvPr/>
        </p:nvSpPr>
        <p:spPr>
          <a:xfrm>
            <a:off x="1325880" y="52293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해석: 문학책이 40 %로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해석해요</a:t>
            </a:r>
            <a:endParaRPr lang="ko-KR" sz="4000" dirty="0"/>
          </a:p>
        </p:txBody>
      </p:sp>
      <p:sp>
        <p:nvSpPr>
          <p:cNvPr id="3" name="S08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도서관 이용자 수예요.</a:t>
            </a:r>
            <a:endParaRPr lang="ko-KR" sz="2800" dirty="0"/>
          </a:p>
        </p:txBody>
      </p:sp>
      <p:sp>
        <p:nvSpPr>
          <p:cNvPr id="4" name="S08-figure281" descr="꺾은선그래프 ‘월별 도서관 이용자 수’(세로 눈금 한 칸 20명, 물결선 위 100부터): 3월 120, 4월 140, 5월 120, 6월 180, 7월 200"/>
          <p:cNvSpPr/>
          <p:nvPr/>
        </p:nvSpPr>
        <p:spPr>
          <a:xfrm>
            <a:off x="6783410" y="4913373"/>
            <a:ext cx="220296" cy="367160"/>
          </a:xfrm>
          <a:custGeom>
            <a:avLst/>
            <a:gdLst/>
            <a:ahLst/>
            <a:cxnLst/>
            <a:rect l="l" t="t" r="r" b="b"/>
            <a:pathLst>
              <a:path w="220296" h="367160">
                <a:moveTo>
                  <a:pt x="110148" y="367160"/>
                </a:moveTo>
                <a:lnTo>
                  <a:pt x="110148" y="312086"/>
                </a:lnTo>
                <a:lnTo>
                  <a:pt x="0" y="249669"/>
                </a:lnTo>
                <a:lnTo>
                  <a:pt x="220296" y="183580"/>
                </a:lnTo>
                <a:lnTo>
                  <a:pt x="0" y="117491"/>
                </a:lnTo>
                <a:lnTo>
                  <a:pt x="110148" y="55074"/>
                </a:lnTo>
                <a:lnTo>
                  <a:pt x="110148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8-mark282"/>
          <p:cNvSpPr/>
          <p:nvPr/>
        </p:nvSpPr>
        <p:spPr>
          <a:xfrm>
            <a:off x="7444298" y="3077573"/>
            <a:ext cx="3524737" cy="1468641"/>
          </a:xfrm>
          <a:custGeom>
            <a:avLst/>
            <a:gdLst/>
            <a:ahLst/>
            <a:cxnLst/>
            <a:rect l="l" t="t" r="r" b="b"/>
            <a:pathLst>
              <a:path w="3524737" h="1468641">
                <a:moveTo>
                  <a:pt x="0" y="1468641"/>
                </a:moveTo>
                <a:lnTo>
                  <a:pt x="881184" y="1101480"/>
                </a:lnTo>
                <a:lnTo>
                  <a:pt x="1762369" y="1468641"/>
                </a:lnTo>
                <a:lnTo>
                  <a:pt x="2643553" y="367160"/>
                </a:lnTo>
                <a:lnTo>
                  <a:pt x="3524737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8-mark283"/>
          <p:cNvSpPr/>
          <p:nvPr/>
        </p:nvSpPr>
        <p:spPr>
          <a:xfrm flipV="1">
            <a:off x="7444298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284"/>
          <p:cNvSpPr/>
          <p:nvPr/>
        </p:nvSpPr>
        <p:spPr>
          <a:xfrm flipV="1">
            <a:off x="8325483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285"/>
          <p:cNvSpPr/>
          <p:nvPr/>
        </p:nvSpPr>
        <p:spPr>
          <a:xfrm flipV="1">
            <a:off x="9206667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86"/>
          <p:cNvSpPr/>
          <p:nvPr/>
        </p:nvSpPr>
        <p:spPr>
          <a:xfrm flipV="1">
            <a:off x="10087851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87"/>
          <p:cNvSpPr/>
          <p:nvPr/>
        </p:nvSpPr>
        <p:spPr>
          <a:xfrm flipV="1">
            <a:off x="10969036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88"/>
          <p:cNvSpPr/>
          <p:nvPr/>
        </p:nvSpPr>
        <p:spPr>
          <a:xfrm>
            <a:off x="6893558" y="491337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89"/>
          <p:cNvSpPr/>
          <p:nvPr/>
        </p:nvSpPr>
        <p:spPr>
          <a:xfrm>
            <a:off x="6893558" y="454621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90"/>
          <p:cNvSpPr/>
          <p:nvPr/>
        </p:nvSpPr>
        <p:spPr>
          <a:xfrm>
            <a:off x="6893558" y="417905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91"/>
          <p:cNvSpPr/>
          <p:nvPr/>
        </p:nvSpPr>
        <p:spPr>
          <a:xfrm>
            <a:off x="6893558" y="381189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92"/>
          <p:cNvSpPr/>
          <p:nvPr/>
        </p:nvSpPr>
        <p:spPr>
          <a:xfrm>
            <a:off x="6893558" y="344473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93"/>
          <p:cNvSpPr/>
          <p:nvPr/>
        </p:nvSpPr>
        <p:spPr>
          <a:xfrm>
            <a:off x="6893558" y="307757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94"/>
          <p:cNvSpPr/>
          <p:nvPr/>
        </p:nvSpPr>
        <p:spPr>
          <a:xfrm>
            <a:off x="6893558" y="5280533"/>
            <a:ext cx="462621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8-mark295"/>
          <p:cNvSpPr/>
          <p:nvPr/>
        </p:nvSpPr>
        <p:spPr>
          <a:xfrm flipV="1">
            <a:off x="6893558" y="2930709"/>
            <a:ext cx="0" cy="198266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8-mark296"/>
          <p:cNvSpPr/>
          <p:nvPr/>
        </p:nvSpPr>
        <p:spPr>
          <a:xfrm>
            <a:off x="7384862" y="448677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mark297"/>
          <p:cNvSpPr/>
          <p:nvPr/>
        </p:nvSpPr>
        <p:spPr>
          <a:xfrm>
            <a:off x="8266047" y="411961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mark298"/>
          <p:cNvSpPr/>
          <p:nvPr/>
        </p:nvSpPr>
        <p:spPr>
          <a:xfrm>
            <a:off x="9147231" y="448677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8-mark299"/>
          <p:cNvSpPr/>
          <p:nvPr/>
        </p:nvSpPr>
        <p:spPr>
          <a:xfrm>
            <a:off x="10028415" y="338529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8-mark300"/>
          <p:cNvSpPr/>
          <p:nvPr/>
        </p:nvSpPr>
        <p:spPr>
          <a:xfrm>
            <a:off x="10909600" y="301813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label302"/>
          <p:cNvSpPr txBox="1"/>
          <p:nvPr/>
        </p:nvSpPr>
        <p:spPr>
          <a:xfrm>
            <a:off x="6434406" y="510590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5" name="S08-label304"/>
          <p:cNvSpPr txBox="1"/>
          <p:nvPr/>
        </p:nvSpPr>
        <p:spPr>
          <a:xfrm>
            <a:off x="6250002" y="473874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26" name="S08-label306"/>
          <p:cNvSpPr txBox="1"/>
          <p:nvPr/>
        </p:nvSpPr>
        <p:spPr>
          <a:xfrm>
            <a:off x="6250002" y="437158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2200" dirty="0"/>
          </a:p>
        </p:txBody>
      </p:sp>
      <p:sp>
        <p:nvSpPr>
          <p:cNvPr id="27" name="S08-label308"/>
          <p:cNvSpPr txBox="1"/>
          <p:nvPr/>
        </p:nvSpPr>
        <p:spPr>
          <a:xfrm>
            <a:off x="6250002" y="400442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2200" dirty="0"/>
          </a:p>
        </p:txBody>
      </p:sp>
      <p:sp>
        <p:nvSpPr>
          <p:cNvPr id="28" name="S08-label310"/>
          <p:cNvSpPr txBox="1"/>
          <p:nvPr/>
        </p:nvSpPr>
        <p:spPr>
          <a:xfrm>
            <a:off x="6250002" y="363726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2200" dirty="0"/>
          </a:p>
        </p:txBody>
      </p:sp>
      <p:sp>
        <p:nvSpPr>
          <p:cNvPr id="29" name="S08-label312"/>
          <p:cNvSpPr txBox="1"/>
          <p:nvPr/>
        </p:nvSpPr>
        <p:spPr>
          <a:xfrm>
            <a:off x="6250002" y="32701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2200" dirty="0"/>
          </a:p>
        </p:txBody>
      </p:sp>
      <p:sp>
        <p:nvSpPr>
          <p:cNvPr id="30" name="S08-label314"/>
          <p:cNvSpPr txBox="1"/>
          <p:nvPr/>
        </p:nvSpPr>
        <p:spPr>
          <a:xfrm>
            <a:off x="6250002" y="290294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2200" dirty="0"/>
          </a:p>
        </p:txBody>
      </p:sp>
      <p:sp>
        <p:nvSpPr>
          <p:cNvPr id="31" name="S08-label316"/>
          <p:cNvSpPr txBox="1"/>
          <p:nvPr/>
        </p:nvSpPr>
        <p:spPr>
          <a:xfrm>
            <a:off x="6222062" y="2535787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32" name="S08-label318"/>
          <p:cNvSpPr txBox="1"/>
          <p:nvPr/>
        </p:nvSpPr>
        <p:spPr>
          <a:xfrm>
            <a:off x="7160326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3월</a:t>
            </a:r>
            <a:endParaRPr lang="ko-KR" sz="2200" dirty="0"/>
          </a:p>
        </p:txBody>
      </p:sp>
      <p:sp>
        <p:nvSpPr>
          <p:cNvPr id="33" name="S08-label320"/>
          <p:cNvSpPr txBox="1"/>
          <p:nvPr/>
        </p:nvSpPr>
        <p:spPr>
          <a:xfrm>
            <a:off x="8041511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ko-KR" sz="2200" dirty="0"/>
          </a:p>
        </p:txBody>
      </p:sp>
      <p:sp>
        <p:nvSpPr>
          <p:cNvPr id="34" name="S08-label322"/>
          <p:cNvSpPr txBox="1"/>
          <p:nvPr/>
        </p:nvSpPr>
        <p:spPr>
          <a:xfrm>
            <a:off x="8922695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5월</a:t>
            </a:r>
            <a:endParaRPr lang="ko-KR" sz="2200" dirty="0"/>
          </a:p>
        </p:txBody>
      </p:sp>
      <p:sp>
        <p:nvSpPr>
          <p:cNvPr id="35" name="S08-label324"/>
          <p:cNvSpPr txBox="1"/>
          <p:nvPr/>
        </p:nvSpPr>
        <p:spPr>
          <a:xfrm>
            <a:off x="9803879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</a:t>
            </a:r>
            <a:endParaRPr lang="ko-KR" sz="2200" dirty="0"/>
          </a:p>
        </p:txBody>
      </p:sp>
      <p:sp>
        <p:nvSpPr>
          <p:cNvPr id="36" name="S08-label326"/>
          <p:cNvSpPr txBox="1"/>
          <p:nvPr/>
        </p:nvSpPr>
        <p:spPr>
          <a:xfrm>
            <a:off x="10685064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ko-KR" sz="2200" dirty="0"/>
          </a:p>
        </p:txBody>
      </p:sp>
      <p:sp>
        <p:nvSpPr>
          <p:cNvPr id="37" name="S08-chip32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8" name="S08-text328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늘어난 때는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언제와 언제 사이?</a:t>
            </a:r>
            <a:endParaRPr lang="ko-KR" sz="2800" dirty="0"/>
          </a:p>
        </p:txBody>
      </p:sp>
      <p:sp>
        <p:nvSpPr>
          <p:cNvPr id="39" name="S08-chip32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0" name="S08-text330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7월은 3월보다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 많을까요?</a:t>
            </a:r>
            <a:endParaRPr lang="ko-KR" sz="2800" dirty="0"/>
          </a:p>
        </p:txBody>
      </p:sp>
      <p:sp>
        <p:nvSpPr>
          <p:cNvPr id="41" name="S08-chip33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2" name="S08-text332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자료를 원그래프로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그리면 알맞을까요?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3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그래프와 까닭을 말해요.</a:t>
            </a:r>
            <a:endParaRPr lang="ko-KR" sz="2800" dirty="0"/>
          </a:p>
        </p:txBody>
      </p:sp>
      <p:sp>
        <p:nvSpPr>
          <p:cNvPr id="4" name="S09-chip33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9-text33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도시 인구를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동안 해마다</a:t>
            </a:r>
            <a:endParaRPr lang="ko-KR" sz="2800" dirty="0"/>
          </a:p>
        </p:txBody>
      </p:sp>
      <p:sp>
        <p:nvSpPr>
          <p:cNvPr id="6" name="S09-chip33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9-text33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학년별 안경 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 비교</a:t>
            </a:r>
            <a:endParaRPr lang="ko-KR" sz="2800" dirty="0"/>
          </a:p>
        </p:txBody>
      </p:sp>
      <p:sp>
        <p:nvSpPr>
          <p:cNvPr id="8" name="S09-chip33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9-text33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텃밭 넓이를 채소별로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나눈 비율</a:t>
            </a:r>
            <a:endParaRPr lang="ko-KR" sz="2800" dirty="0"/>
          </a:p>
        </p:txBody>
      </p:sp>
      <p:sp>
        <p:nvSpPr>
          <p:cNvPr id="10" name="S09-chip34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9-text34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해의 장래 희망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견주기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34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4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까닭에 변화·비교·비율 중 알맞은 기준이 들어 있는지 확인하세요.</a:t>
            </a:r>
            <a:endParaRPr lang="ko-KR" sz="2800" dirty="0"/>
          </a:p>
        </p:txBody>
      </p:sp>
      <p:sp>
        <p:nvSpPr>
          <p:cNvPr id="5" name="S10-chip34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0-text345"/>
          <p:cNvSpPr txBox="1"/>
          <p:nvPr/>
        </p:nvSpPr>
        <p:spPr>
          <a:xfrm>
            <a:off x="548640" y="2057400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꺾은선그래프</a:t>
            </a:r>
            <a:endParaRPr lang="ko-KR" sz="2800" dirty="0"/>
          </a:p>
        </p:txBody>
      </p:sp>
      <p:sp>
        <p:nvSpPr>
          <p:cNvPr id="7" name="S10-text346"/>
          <p:cNvSpPr txBox="1"/>
          <p:nvPr/>
        </p:nvSpPr>
        <p:spPr>
          <a:xfrm>
            <a:off x="3367278" y="2057400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</a:t>
            </a:r>
            <a:endParaRPr lang="ko-KR" sz="2200" dirty="0"/>
          </a:p>
        </p:txBody>
      </p:sp>
      <p:sp>
        <p:nvSpPr>
          <p:cNvPr id="8" name="S10-text347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막대그래프</a:t>
            </a:r>
            <a:endParaRPr lang="ko-KR" sz="2800" dirty="0"/>
          </a:p>
        </p:txBody>
      </p:sp>
      <p:sp>
        <p:nvSpPr>
          <p:cNvPr id="9" name="S10-text348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</a:t>
            </a:r>
            <a:endParaRPr lang="ko-KR" sz="2200" dirty="0"/>
          </a:p>
        </p:txBody>
      </p:sp>
      <p:sp>
        <p:nvSpPr>
          <p:cNvPr id="10" name="S10-text349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원(띠)그래프</a:t>
            </a:r>
            <a:endParaRPr lang="ko-KR" sz="2800" dirty="0"/>
          </a:p>
        </p:txBody>
      </p:sp>
      <p:sp>
        <p:nvSpPr>
          <p:cNvPr id="11" name="S10-text350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200" dirty="0"/>
          </a:p>
        </p:txBody>
      </p:sp>
      <p:sp>
        <p:nvSpPr>
          <p:cNvPr id="12" name="S10-text351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띠그래프</a:t>
            </a:r>
            <a:endParaRPr lang="ko-KR" sz="2800" dirty="0"/>
          </a:p>
        </p:txBody>
      </p:sp>
      <p:sp>
        <p:nvSpPr>
          <p:cNvPr id="13" name="S10-text352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 견주기</a:t>
            </a:r>
            <a:endParaRPr lang="ko-KR" sz="2200" dirty="0"/>
          </a:p>
        </p:txBody>
      </p:sp>
      <p:sp>
        <p:nvSpPr>
          <p:cNvPr id="14" name="S10-chip35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0-text35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꺾은선그래프</a:t>
            </a:r>
            <a:endParaRPr lang="ko-KR" sz="2800" dirty="0"/>
          </a:p>
        </p:txBody>
      </p:sp>
      <p:sp>
        <p:nvSpPr>
          <p:cNvPr id="16" name="S10-text35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학년 사이에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변화가 없어요</a:t>
            </a:r>
            <a:endParaRPr lang="ko-KR" sz="2200" dirty="0"/>
          </a:p>
        </p:txBody>
      </p:sp>
      <p:sp>
        <p:nvSpPr>
          <p:cNvPr id="17" name="S10-text35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원그래프</a:t>
            </a:r>
            <a:endParaRPr lang="ko-KR" sz="2800" dirty="0"/>
          </a:p>
        </p:txBody>
      </p:sp>
      <p:sp>
        <p:nvSpPr>
          <p:cNvPr id="18" name="S10-text35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합계는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전체가 아니에요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골라서 해석해요</a:t>
            </a:r>
            <a:endParaRPr lang="ko-KR" sz="4000" dirty="0"/>
          </a:p>
        </p:txBody>
      </p:sp>
      <p:sp>
        <p:nvSpPr>
          <p:cNvPr id="3" name="S11-text3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 20명이 학교에 오는 방법이에요.</a:t>
            </a:r>
            <a:endParaRPr lang="ko-KR" sz="2800" dirty="0"/>
          </a:p>
        </p:txBody>
      </p:sp>
      <p:graphicFrame>
        <p:nvGraphicFramePr>
          <p:cNvPr id="12" name="S11-table3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670048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걸어서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자동차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1-chip36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1-text36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비율을 보려면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그래프? 까닭은?</a:t>
            </a:r>
            <a:endParaRPr lang="ko-KR" sz="2800" dirty="0"/>
          </a:p>
        </p:txBody>
      </p:sp>
      <p:sp>
        <p:nvSpPr>
          <p:cNvPr id="7" name="S11-chip36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1-text36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걸어서 오는 학생은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%?</a:t>
            </a:r>
            <a:endParaRPr lang="ko-KR" sz="2800" dirty="0"/>
          </a:p>
        </p:txBody>
      </p:sp>
      <p:sp>
        <p:nvSpPr>
          <p:cNvPr id="9" name="S11-chip36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1-text36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버스와 자동차를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합하면 몇 %?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6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6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것이 비교인지, 변화인지, 비율인지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생각하고 알맞은 그래프를 골라요.</a:t>
            </a:r>
            <a:endParaRPr lang="ko-KR" sz="2800" dirty="0"/>
          </a:p>
        </p:txBody>
      </p:sp>
      <p:sp>
        <p:nvSpPr>
          <p:cNvPr id="5" name="S12-chip36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기준으로 말하기</a:t>
            </a:r>
            <a:endParaRPr lang="ko-KR" sz="2200" dirty="0"/>
          </a:p>
        </p:txBody>
      </p:sp>
      <p:sp>
        <p:nvSpPr>
          <p:cNvPr id="6" name="S12-chip36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항목끼리 꺾은선으로 잇기</a:t>
            </a:r>
            <a:endParaRPr lang="ko-KR" sz="2200" dirty="0"/>
          </a:p>
        </p:txBody>
      </p:sp>
      <p:sp>
        <p:nvSpPr>
          <p:cNvPr id="7" name="S12-text37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2-text371"/>
          <p:cNvSpPr txBox="1"/>
          <p:nvPr/>
        </p:nvSpPr>
        <p:spPr>
          <a:xfrm>
            <a:off x="548640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시간에 따른 변화에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그래프는?</a:t>
            </a:r>
            <a:endParaRPr lang="ko-KR" sz="2200" dirty="0"/>
          </a:p>
        </p:txBody>
      </p:sp>
      <p:sp>
        <p:nvSpPr>
          <p:cNvPr id="9" name="S12-text372"/>
          <p:cNvSpPr txBox="1"/>
          <p:nvPr/>
        </p:nvSpPr>
        <p:spPr>
          <a:xfrm>
            <a:off x="4322064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전체에 대한 비율에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 두 가지는?</a:t>
            </a:r>
            <a:endParaRPr lang="ko-KR" sz="2200" dirty="0"/>
          </a:p>
        </p:txBody>
      </p:sp>
      <p:sp>
        <p:nvSpPr>
          <p:cNvPr id="10" name="S12-text373"/>
          <p:cNvSpPr txBox="1"/>
          <p:nvPr/>
        </p:nvSpPr>
        <p:spPr>
          <a:xfrm>
            <a:off x="8095488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항목끼리 크기를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비교할 때는?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막대와 꺾은선</a:t>
            </a:r>
            <a:endParaRPr lang="ko-KR" sz="4000" dirty="0"/>
          </a:p>
        </p:txBody>
      </p:sp>
      <p:sp>
        <p:nvSpPr>
          <p:cNvPr id="3" name="S13-card37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7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막대그래프는 항목끼리 비교, 꺾은선그래프는 시간에 따른 변화를 보여 줘요.</a:t>
            </a:r>
            <a:endParaRPr lang="ko-KR" sz="2800" dirty="0"/>
          </a:p>
        </p:txBody>
      </p:sp>
      <p:sp>
        <p:nvSpPr>
          <p:cNvPr id="5" name="S13-figure376" descr="막대그래프: 축구 5명, 야구 3명, 농구 4명"/>
          <p:cNvSpPr/>
          <p:nvPr/>
        </p:nvSpPr>
        <p:spPr>
          <a:xfrm>
            <a:off x="2525182" y="2218773"/>
            <a:ext cx="404536" cy="1685568"/>
          </a:xfrm>
          <a:custGeom>
            <a:avLst/>
            <a:gdLst/>
            <a:ahLst/>
            <a:cxnLst/>
            <a:rect l="l" t="t" r="r" b="b"/>
            <a:pathLst>
              <a:path w="404536" h="1685568">
                <a:moveTo>
                  <a:pt x="0" y="1685568"/>
                </a:moveTo>
                <a:lnTo>
                  <a:pt x="404536" y="1685568"/>
                </a:lnTo>
                <a:lnTo>
                  <a:pt x="404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3-mark377"/>
          <p:cNvSpPr/>
          <p:nvPr/>
        </p:nvSpPr>
        <p:spPr>
          <a:xfrm>
            <a:off x="3266832" y="2893000"/>
            <a:ext cx="404536" cy="1011341"/>
          </a:xfrm>
          <a:custGeom>
            <a:avLst/>
            <a:gdLst/>
            <a:ahLst/>
            <a:cxnLst/>
            <a:rect l="l" t="t" r="r" b="b"/>
            <a:pathLst>
              <a:path w="404536" h="1011341">
                <a:moveTo>
                  <a:pt x="0" y="1011341"/>
                </a:moveTo>
                <a:lnTo>
                  <a:pt x="404536" y="1011341"/>
                </a:lnTo>
                <a:lnTo>
                  <a:pt x="404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mark378"/>
          <p:cNvSpPr/>
          <p:nvPr/>
        </p:nvSpPr>
        <p:spPr>
          <a:xfrm>
            <a:off x="4008481" y="2555886"/>
            <a:ext cx="404536" cy="1348454"/>
          </a:xfrm>
          <a:custGeom>
            <a:avLst/>
            <a:gdLst/>
            <a:ahLst/>
            <a:cxnLst/>
            <a:rect l="l" t="t" r="r" b="b"/>
            <a:pathLst>
              <a:path w="404536" h="1348454">
                <a:moveTo>
                  <a:pt x="0" y="1348454"/>
                </a:moveTo>
                <a:lnTo>
                  <a:pt x="404536" y="1348454"/>
                </a:lnTo>
                <a:lnTo>
                  <a:pt x="404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mark379"/>
          <p:cNvSpPr/>
          <p:nvPr/>
        </p:nvSpPr>
        <p:spPr>
          <a:xfrm>
            <a:off x="2255491" y="3567227"/>
            <a:ext cx="2427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380"/>
          <p:cNvSpPr/>
          <p:nvPr/>
        </p:nvSpPr>
        <p:spPr>
          <a:xfrm>
            <a:off x="2255491" y="3230113"/>
            <a:ext cx="2427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381"/>
          <p:cNvSpPr/>
          <p:nvPr/>
        </p:nvSpPr>
        <p:spPr>
          <a:xfrm>
            <a:off x="2255491" y="2893000"/>
            <a:ext cx="2427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382"/>
          <p:cNvSpPr/>
          <p:nvPr/>
        </p:nvSpPr>
        <p:spPr>
          <a:xfrm>
            <a:off x="2255491" y="2555886"/>
            <a:ext cx="2427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383"/>
          <p:cNvSpPr/>
          <p:nvPr/>
        </p:nvSpPr>
        <p:spPr>
          <a:xfrm>
            <a:off x="2255491" y="2218773"/>
            <a:ext cx="2427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384"/>
          <p:cNvSpPr/>
          <p:nvPr/>
        </p:nvSpPr>
        <p:spPr>
          <a:xfrm>
            <a:off x="2255491" y="1881659"/>
            <a:ext cx="2427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385"/>
          <p:cNvSpPr/>
          <p:nvPr/>
        </p:nvSpPr>
        <p:spPr>
          <a:xfrm>
            <a:off x="2255491" y="3904341"/>
            <a:ext cx="242721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3-mark386"/>
          <p:cNvSpPr/>
          <p:nvPr/>
        </p:nvSpPr>
        <p:spPr>
          <a:xfrm flipV="1">
            <a:off x="2255491" y="1746814"/>
            <a:ext cx="0" cy="215752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3-label388"/>
          <p:cNvSpPr txBox="1"/>
          <p:nvPr/>
        </p:nvSpPr>
        <p:spPr>
          <a:xfrm>
            <a:off x="1821878" y="372971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7" name="S13-label390"/>
          <p:cNvSpPr txBox="1"/>
          <p:nvPr/>
        </p:nvSpPr>
        <p:spPr>
          <a:xfrm>
            <a:off x="1821878" y="33926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13-label392"/>
          <p:cNvSpPr txBox="1"/>
          <p:nvPr/>
        </p:nvSpPr>
        <p:spPr>
          <a:xfrm>
            <a:off x="1821878" y="305548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9" name="S13-label394"/>
          <p:cNvSpPr txBox="1"/>
          <p:nvPr/>
        </p:nvSpPr>
        <p:spPr>
          <a:xfrm>
            <a:off x="1821878" y="27183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0" name="S13-label396"/>
          <p:cNvSpPr txBox="1"/>
          <p:nvPr/>
        </p:nvSpPr>
        <p:spPr>
          <a:xfrm>
            <a:off x="1821878" y="238126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1" name="S13-label398"/>
          <p:cNvSpPr txBox="1"/>
          <p:nvPr/>
        </p:nvSpPr>
        <p:spPr>
          <a:xfrm>
            <a:off x="1821878" y="204414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" name="S13-label400"/>
          <p:cNvSpPr txBox="1"/>
          <p:nvPr/>
        </p:nvSpPr>
        <p:spPr>
          <a:xfrm>
            <a:off x="1821878" y="170703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3" name="S13-label402"/>
          <p:cNvSpPr txBox="1"/>
          <p:nvPr/>
        </p:nvSpPr>
        <p:spPr>
          <a:xfrm>
            <a:off x="1609534" y="1369920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24" name="S13-label404"/>
          <p:cNvSpPr txBox="1"/>
          <p:nvPr/>
        </p:nvSpPr>
        <p:spPr>
          <a:xfrm>
            <a:off x="2398774" y="394884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200" dirty="0"/>
          </a:p>
        </p:txBody>
      </p:sp>
      <p:sp>
        <p:nvSpPr>
          <p:cNvPr id="25" name="S13-label406"/>
          <p:cNvSpPr txBox="1"/>
          <p:nvPr/>
        </p:nvSpPr>
        <p:spPr>
          <a:xfrm>
            <a:off x="3140424" y="394884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200" dirty="0"/>
          </a:p>
        </p:txBody>
      </p:sp>
      <p:sp>
        <p:nvSpPr>
          <p:cNvPr id="26" name="S13-label408"/>
          <p:cNvSpPr txBox="1"/>
          <p:nvPr/>
        </p:nvSpPr>
        <p:spPr>
          <a:xfrm>
            <a:off x="3882074" y="394884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</a:t>
            </a:r>
            <a:endParaRPr lang="ko-KR" sz="2200" dirty="0"/>
          </a:p>
        </p:txBody>
      </p:sp>
      <p:sp>
        <p:nvSpPr>
          <p:cNvPr id="27" name="S13-label409"/>
          <p:cNvSpPr txBox="1"/>
          <p:nvPr/>
        </p:nvSpPr>
        <p:spPr>
          <a:xfrm>
            <a:off x="548640" y="4415282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막대그래프: 비교</a:t>
            </a:r>
            <a:endParaRPr lang="ko-KR" sz="2200" dirty="0"/>
          </a:p>
        </p:txBody>
      </p:sp>
      <p:sp>
        <p:nvSpPr>
          <p:cNvPr id="28" name="S13-figure410" descr="꺾은선그래프: 1주 2 cm, 2주 3 cm, 3주 5 cm, 4주 6 cm"/>
          <p:cNvSpPr/>
          <p:nvPr/>
        </p:nvSpPr>
        <p:spPr>
          <a:xfrm>
            <a:off x="8062481" y="1881659"/>
            <a:ext cx="2224950" cy="1348454"/>
          </a:xfrm>
          <a:custGeom>
            <a:avLst/>
            <a:gdLst/>
            <a:ahLst/>
            <a:cxnLst/>
            <a:rect l="l" t="t" r="r" b="b"/>
            <a:pathLst>
              <a:path w="2224950" h="1348454">
                <a:moveTo>
                  <a:pt x="0" y="1348454"/>
                </a:moveTo>
                <a:lnTo>
                  <a:pt x="741650" y="1011341"/>
                </a:lnTo>
                <a:lnTo>
                  <a:pt x="1483300" y="337114"/>
                </a:lnTo>
                <a:lnTo>
                  <a:pt x="2224950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29" name="S13-mark411"/>
          <p:cNvSpPr/>
          <p:nvPr/>
        </p:nvSpPr>
        <p:spPr>
          <a:xfrm flipV="1">
            <a:off x="8062481" y="1881659"/>
            <a:ext cx="0" cy="202268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3-mark412"/>
          <p:cNvSpPr/>
          <p:nvPr/>
        </p:nvSpPr>
        <p:spPr>
          <a:xfrm flipV="1">
            <a:off x="8804131" y="1881659"/>
            <a:ext cx="0" cy="202268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3-mark413"/>
          <p:cNvSpPr/>
          <p:nvPr/>
        </p:nvSpPr>
        <p:spPr>
          <a:xfrm flipV="1">
            <a:off x="9545781" y="1881659"/>
            <a:ext cx="0" cy="202268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3-mark414"/>
          <p:cNvSpPr/>
          <p:nvPr/>
        </p:nvSpPr>
        <p:spPr>
          <a:xfrm flipV="1">
            <a:off x="10287431" y="1881659"/>
            <a:ext cx="0" cy="202268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3-mark415"/>
          <p:cNvSpPr/>
          <p:nvPr/>
        </p:nvSpPr>
        <p:spPr>
          <a:xfrm>
            <a:off x="7590522" y="3567227"/>
            <a:ext cx="31688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3-mark416"/>
          <p:cNvSpPr/>
          <p:nvPr/>
        </p:nvSpPr>
        <p:spPr>
          <a:xfrm>
            <a:off x="7590522" y="3230113"/>
            <a:ext cx="31688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3-mark417"/>
          <p:cNvSpPr/>
          <p:nvPr/>
        </p:nvSpPr>
        <p:spPr>
          <a:xfrm>
            <a:off x="7590522" y="2893000"/>
            <a:ext cx="31688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3-mark418"/>
          <p:cNvSpPr/>
          <p:nvPr/>
        </p:nvSpPr>
        <p:spPr>
          <a:xfrm>
            <a:off x="7590522" y="2555886"/>
            <a:ext cx="31688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3-mark419"/>
          <p:cNvSpPr/>
          <p:nvPr/>
        </p:nvSpPr>
        <p:spPr>
          <a:xfrm>
            <a:off x="7590522" y="2218773"/>
            <a:ext cx="31688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420"/>
          <p:cNvSpPr/>
          <p:nvPr/>
        </p:nvSpPr>
        <p:spPr>
          <a:xfrm>
            <a:off x="7590522" y="1881659"/>
            <a:ext cx="316886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421"/>
          <p:cNvSpPr/>
          <p:nvPr/>
        </p:nvSpPr>
        <p:spPr>
          <a:xfrm>
            <a:off x="7590522" y="3904341"/>
            <a:ext cx="316886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13-mark422"/>
          <p:cNvSpPr/>
          <p:nvPr/>
        </p:nvSpPr>
        <p:spPr>
          <a:xfrm flipV="1">
            <a:off x="7590522" y="1746814"/>
            <a:ext cx="0" cy="215752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1" name="S13-mark423"/>
          <p:cNvSpPr/>
          <p:nvPr/>
        </p:nvSpPr>
        <p:spPr>
          <a:xfrm>
            <a:off x="8003045" y="317067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3-mark424"/>
          <p:cNvSpPr/>
          <p:nvPr/>
        </p:nvSpPr>
        <p:spPr>
          <a:xfrm>
            <a:off x="8744695" y="28335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3-mark425"/>
          <p:cNvSpPr/>
          <p:nvPr/>
        </p:nvSpPr>
        <p:spPr>
          <a:xfrm>
            <a:off x="9486345" y="215933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3-mark426"/>
          <p:cNvSpPr/>
          <p:nvPr/>
        </p:nvSpPr>
        <p:spPr>
          <a:xfrm>
            <a:off x="10227995" y="1822223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3-label428"/>
          <p:cNvSpPr txBox="1"/>
          <p:nvPr/>
        </p:nvSpPr>
        <p:spPr>
          <a:xfrm>
            <a:off x="7156909" y="372971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6" name="S13-label430"/>
          <p:cNvSpPr txBox="1"/>
          <p:nvPr/>
        </p:nvSpPr>
        <p:spPr>
          <a:xfrm>
            <a:off x="7156909" y="372971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7" name="S13-label432"/>
          <p:cNvSpPr txBox="1"/>
          <p:nvPr/>
        </p:nvSpPr>
        <p:spPr>
          <a:xfrm>
            <a:off x="7156909" y="33926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13-label434"/>
          <p:cNvSpPr txBox="1"/>
          <p:nvPr/>
        </p:nvSpPr>
        <p:spPr>
          <a:xfrm>
            <a:off x="7156909" y="305548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9" name="S13-label436"/>
          <p:cNvSpPr txBox="1"/>
          <p:nvPr/>
        </p:nvSpPr>
        <p:spPr>
          <a:xfrm>
            <a:off x="7156909" y="27183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50" name="S13-label438"/>
          <p:cNvSpPr txBox="1"/>
          <p:nvPr/>
        </p:nvSpPr>
        <p:spPr>
          <a:xfrm>
            <a:off x="7156909" y="238126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51" name="S13-label440"/>
          <p:cNvSpPr txBox="1"/>
          <p:nvPr/>
        </p:nvSpPr>
        <p:spPr>
          <a:xfrm>
            <a:off x="7156909" y="204414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52" name="S13-label442"/>
          <p:cNvSpPr txBox="1"/>
          <p:nvPr/>
        </p:nvSpPr>
        <p:spPr>
          <a:xfrm>
            <a:off x="7156909" y="170703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53" name="S13-label444"/>
          <p:cNvSpPr txBox="1"/>
          <p:nvPr/>
        </p:nvSpPr>
        <p:spPr>
          <a:xfrm>
            <a:off x="6888685" y="1369920"/>
            <a:ext cx="8305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(cm)</a:t>
            </a:r>
            <a:endParaRPr lang="ko-KR" sz="2200" dirty="0"/>
          </a:p>
        </p:txBody>
      </p:sp>
      <p:sp>
        <p:nvSpPr>
          <p:cNvPr id="54" name="S13-label446"/>
          <p:cNvSpPr txBox="1"/>
          <p:nvPr/>
        </p:nvSpPr>
        <p:spPr>
          <a:xfrm>
            <a:off x="7778509" y="3948840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</a:t>
            </a:r>
            <a:endParaRPr lang="ko-KR" sz="2200" dirty="0"/>
          </a:p>
        </p:txBody>
      </p:sp>
      <p:sp>
        <p:nvSpPr>
          <p:cNvPr id="55" name="S13-label448"/>
          <p:cNvSpPr txBox="1"/>
          <p:nvPr/>
        </p:nvSpPr>
        <p:spPr>
          <a:xfrm>
            <a:off x="8520159" y="3948840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</a:t>
            </a:r>
            <a:endParaRPr lang="ko-KR" sz="2200" dirty="0"/>
          </a:p>
        </p:txBody>
      </p:sp>
      <p:sp>
        <p:nvSpPr>
          <p:cNvPr id="56" name="S13-label450"/>
          <p:cNvSpPr txBox="1"/>
          <p:nvPr/>
        </p:nvSpPr>
        <p:spPr>
          <a:xfrm>
            <a:off x="9261809" y="3948840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</a:t>
            </a:r>
            <a:endParaRPr lang="ko-KR" sz="2200" dirty="0"/>
          </a:p>
        </p:txBody>
      </p:sp>
      <p:sp>
        <p:nvSpPr>
          <p:cNvPr id="57" name="S13-label452"/>
          <p:cNvSpPr txBox="1"/>
          <p:nvPr/>
        </p:nvSpPr>
        <p:spPr>
          <a:xfrm>
            <a:off x="10003459" y="3948840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</a:t>
            </a:r>
            <a:endParaRPr lang="ko-KR" sz="2200" dirty="0"/>
          </a:p>
        </p:txBody>
      </p:sp>
      <p:sp>
        <p:nvSpPr>
          <p:cNvPr id="58" name="S13-label453"/>
          <p:cNvSpPr txBox="1"/>
          <p:nvPr/>
        </p:nvSpPr>
        <p:spPr>
          <a:xfrm>
            <a:off x="6254496" y="4415282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꺾은선그래프: 변화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알맞은 그래프 고르기</dc:title>
  <dc:subject>KR22-G06-MAT-GRAPHS-L01</dc:subject>
  <dc:creator>education-ppt</dc:creator>
  <cp:lastModifiedBy>education-ppt</cp:lastModifiedBy>
  <cp:revision>1</cp:revision>
  <dcterms:created xsi:type="dcterms:W3CDTF">2026-10-26T09:34:20Z</dcterms:created>
  <dcterms:modified xsi:type="dcterms:W3CDTF">2026-10-26T09:34:20Z</dcterms:modified>
</cp:coreProperties>
</file>