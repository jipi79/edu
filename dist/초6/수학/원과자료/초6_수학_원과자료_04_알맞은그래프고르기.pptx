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ddf3437f-9e8a-b7bb-1892-41219224bfaa}">
          <p14:sldIdLst>
            <p14:sldId id="256"/>
            <p14:sldId id="257"/>
          </p14:sldIdLst>
        </p14:section>
        <p14:section name="개념" id="{da5e388f-2e2a-16ae-0448-94d1d05634b5}">
          <p14:sldIdLst>
            <p14:sldId id="258"/>
            <p14:sldId id="259"/>
            <p14:sldId id="262"/>
          </p14:sldIdLst>
        </p14:section>
        <p14:section name="연습" id="{d892687a-d881-264f-f418-443b0e626083}">
          <p14:sldIdLst>
            <p14:sldId id="260"/>
            <p14:sldId id="261"/>
            <p14:sldId id="263"/>
          </p14:sldIdLst>
        </p14:section>
        <p14:section name="개념" id="{6ddaae7b-8e28-57aa-0506-8ad354174ebf}">
          <p14:sldIdLst/>
        </p14:section>
        <p14:section name="연습" id="{0a287f48-f1c5-06d8-8d0b-1a337688c31d}">
          <p14:sldIdLst/>
        </p14:section>
        <p14:section name="확인" id="{4a65f54a-c618-b1e2-70a7-2646691a8098}">
          <p14:sldIdLst>
            <p14:sldId id="264"/>
            <p14:sldId id="265"/>
            <p14:sldId id="266"/>
          </p14:sldIdLst>
        </p14:section>
        <p14:section name="정리" id="{5391a20c-73fd-4da2-d2de-3250c256fda6}">
          <p14:sldIdLst>
            <p14:sldId id="267"/>
          </p14:sldIdLst>
        </p14:section>
        <p14:section name="보충" id="{83dd26dd-922d-261b-8f8d-ed2886d96cb9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지금까지 배운 여러 그래프를 떠올리고, 자료에 따라 알맞은 그래프가 다르다는 질문을 던집니다.
시간: 약 2분
이렇게 말해 보세요
- “지금까지 배운 그래프를 모두 말해 볼래? 그림그래프, 막대그래프, 꺾은선그래프, 띠그래프, 원그래프가 있었지.”
- “키가 자라는 모습을 원그래프로 그리면 어떨까? 오늘은 자료에 맞는 그래프를 고르는 방법을 알아볼 거야.”
예상 답
- “막대그래프, 꺾은선그래프, 원그래프요.” “키는 원그래프로 그리면 이상해요.” 어떤 답이든 괜찮습니다.
막히면
- 그래프 이름이 생각나지 않으면 S04의 카드를 미리 보여 줍니다.
주의
- 그림그래프는 3학년, 막대그래프·꺾은선그래프는 4학년, 띠그래프·원그래프는 지난 차시에 배웠습니다.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확인(원그래프 읽기)]
목적: 지난 차시 ‘띠그래프와 원그래프’에서 배운 원그래프 읽기와 해석을 할 수 있는지 확인합니다.
시간: 약 3분
이렇게 말해 보세요
- “원그래프에서 가장 넓은 부분은 무엇이야? 몇 %야?”
- “40명의 25 %는 몇 명일까?”
정답
- ① 장미, 40 %
- ② 10명 (40 × 0.25)
- ③ 100 %
막히면
- ①③이 어려우면 S13(보충)과 함께 앞 차시 ‘띠그래프와 원그래프’의 S03·S04를 다시 봅니다. 그래도 어려우면 그 차시를 먼저 다시 합니다.
- ②는 40명의 10 %가 4명이라는 것부터 생각하게 합니다.
주의
- 원그래프와 띠그래프는 백분율의 합이 100 %인 자료, 즉 전체를 나눈 자료를 나타낸다는 점을 오늘 다시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같은 자료를 두 그래프로 견주기]
목적: 같은 자료라도 막대그래프는 항목끼리 수량을, 띠그래프는 전체에 대한 비율을 잘 보여 준다는 것을 비교합니다.
시간: 약 3분
이렇게 말해 보세요
- “왼쪽과 오른쪽은 같은 자료야. 동화책이 몇 권인지 알려면 어느 그래프를 봐?”
- “동화책이 전체의 몇 %인지 알려면 어느 그래프가 편해?”
- “그러면 그래프는 무엇을 알고 싶은지에 따라 고르면 되겠지?”
예상 답
- “막대그래프요. 7권이에요.” “띠그래프요. 35 %예요.”
막히면
- 막대그래프에서 동화 막대 끝을 옆으로 따라가 7권을 읽고, 띠그래프에서 동화 칸이 35 %인 것을 짚어 줍니다.
주의
- 자료: 동화 7권, 과학 5권, 역사 4권, 만화 4권(20권). 띠그래프는 35 %, 25 %, 20 %, 20 %입니다. 역사와 만화는 막대 높이도, 띠의 길이도 같습니다.
- ‘알고 싶은 것에 따라 알맞은 그래프가 달라요’가 오늘의 핵심입니다.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다섯 가지 그래프가 잘 보여 주는 것]
목적: 다섯 가지 그래프가 각각 무엇을 잘 보여 주는지 정리하고, 고르는 기준(무엇을 알고 싶은가)을 알려 줍니다.
시간: 약 3분
이렇게 말해 보세요
- “꺾은선그래프는 언제 썼지? 시간에 따라 기온이나 키가 변하는 모습을 볼 때였어.”
- “띠그래프와 원그래프는 둘 다 비율을 보여 주는데, 여러 해의 비율을 견줄 때는 띠를 위아래로 나란히 놓으면 편해.”
- “그래프를 고를 때는 먼저 ‘무엇을 알고 싶은가’를 생각해.”
예상 답
- “변화는 꺾은선, 비교는 막대, 비율은 띠나 원이에요.”
막히면
- 그래프마다 예를 하나씩 말하게 합니다(예: 꺾은선그래프 — 강아지 몸무게의 변화).
주의
- 그림그래프는 마을·지역처럼 장소별 수량을 그림의 크기나 개수로 나타내어 지도 위에서 한눈에 보기 좋습니다.
- 한 상황에 알맞은 그래프가 둘일 수 있습니다(띠그래프·원그래프). 까닭이 기준에 맞으면 맞음으로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안내받는 연습(알맞은 그래프 고르기)]
목적: 도움을 받으며 상황마다 알고 싶은 것(변화·비교·비율·장소)을 찾아 알맞은 그래프를 고르고 까닭을 말합니다.
시간: 약 4분
이렇게 말해 보세요
- “①은 무엇을 알고 싶은 자료야? 몸무게가 어떻게 변하는지지? 그러면 어떤 그래프야?”
- “③은 용돈 전체 중 몇 %를 어디에 썼는지야. 어떤 그래프가 알맞을까?”
- “까닭도 꼭 말해 줘.”
정답
- ① 꺾은선그래프 — 시간(달)에 따른 몸무게의 변화를 보려고
- ② 막대그래프 — 과일(항목)끼리 학생 수를 비교하려고
- ③ 원그래프 또는 띠그래프 — 전체 용돈에 대한 비율을 보려고
- ④ 그림그래프 — 마을(장소)별 생산량의 많고 적음을 지도 위에서 한눈에 보려고
막히면
- S04의 카드에서 ‘변화·비교·비율·장소’ 중 어느 것인지 먼저 고르게 합니다.
주의
- 까닭 없이 그래프 이름만 말하면 “왜 그 그래프야?”라고 다시 묻습니다(M3). ‘예뻐서’, ‘그리기 쉬워서’는 기준이 아닙니다.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오개념 비교(항목별 자료를 꺾은선으로 잇기)]
목적: 종류(항목)별 자료를 꺾은선으로 이으면 선분이 아무 뜻이 없다는 것을 보여 주어, 항목 비교에는 막대그래프가 알맞음을 압니다(M1).
시간: 약 3분
이렇게 말해 보세요
- “꺾은선그래프의 선분은 원래 무엇을 보여 줬지? 시간이 지나면서 변하는 모습이었어.”
- “사과와 배 사이에 시간이 흘렀어? 사과에서 배로 학생 수가 줄어든 걸까?”
예상 답
- “아무 뜻이 없어요. 과일끼리는 시간이 흐른 게 아니에요.” “곰이 맞아요.”
정답
- 곰의 막대그래프가 알맞습니다. 과일별 학생 수는 항목끼리 비교하는 자료입니다.
- 토끼 그래프의 선분은 ‘사과에서 배로 줄어들었다’처럼 보이지만, 과일 사이에는 시간의 흐름이 없으므로 뜻이 없습니다.
막히면
- S04의 꺾은선그래프 카드(시간에 따른 변화)를 다시 보여 주고, 과일 사이에는 ‘시간’이 없다는 것을 짚어 줍니다.
주의
- 두 그래프의 높이(수)는 같습니다. 문제는 선분입니다. 항목의 차례를 바꾸면 꺾은선 모양이 달라지므로 변화를 뜻할 수 없습니다.
- 지치면 여기서 쉬고, 다음에 S07부터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골라서 나타내고 해석하기(시범)]
목적: 알고 싶은 것 정하기 → 그래프 고르기 → 나타내기 → 해석하기 순서를 시범으로 보여 줍니다.
시간: 약 5분
이렇게 말해 보세요
- “알고 싶은 것이 ‘전체 중 몇 %’이니까 띠그래프나 원그래프가 알맞아. 오늘은 원그래프로 해 볼게.”
- “문학책 160권은 400권의 몇 %일까? 160 ÷ 400 × 100 = 40이야.”
- “그래프를 보고 알 수 있는 것을 하나 더 말해 볼래?”
예상 답
- “과학책이 25 %로 두 번째로 많아요.” “문학책은 역사책의 2배예요.”
막히면
- 백분율 구하기가 어려우면 400권의 10 %가 40권이라는 것부터 생각하게 합니다.
주의
- 자료: 문학 160권(40 %), 과학 100권(25 %), 역사 80권(20 %), 기타 60권(15 %). 합계 100 %.
- 해석의 예: 문학책은 역사책의 2배입니다. 문학책과 과학책을 합하면 65 %입니다.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안내받는 연습(그래프 해석과 고른 까닭)]
목적: 도움을 받으며 꺾은선그래프를 해석하고, 이 자료에 원그래프가 알맞지 않은 까닭을 기준으로 말합니다.
시간: 약 4분
이렇게 말해 보세요
- “눈금 한 칸은 몇 명이야? 물결선 위 첫 눈금은 몇이야?”
- “선분이 가장 많이 기운 곳은 어디야? 몇 명 늘었어?”
- “③ 이 자료는 무엇을 알고 싶은 자료야? 전체를 나눈 비율일까, 달마다 변하는 모습일까?”
정답
- ① 5월과 6월 사이(120명 → 180명, 60명 늘어남)
- ② 80명 (200 − 120)
- ③ 알맞지 않습니다. 시간(달)에 따라 변하는 모습을 보는 자료이므로 꺾은선그래프가 알맞습니다. 원그래프는 전체에 대한 비율을 볼 때 씁니다.
막히면
- 물결선 위 첫 눈금 100부터 20씩 커지는 눈금을 손가락으로 짚으며 점마다 이용자 수를 읽게 합니다(120, 140, 120, 180, 200).
주의
- ③에서 ‘아니요’만 말하면 까닭을 다시 묻습니다(M2). 달마다의 이용자 수를 모두 더한 수는 ‘전체’로서 뜻이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혼자 해결(알맞은 그래프와 까닭)]
목적: 도움 없이 상황마다 알맞은 그래프를 고르고 까닭을 기준(변화·비교·비율)으로 말하는지 확인합니다.
시간: 약 4분
이렇게 말해 보세요
- “이번에는 혼자 해 볼래? 그래프 이름과 까닭을 함께 말해 줘.”
정답
- ① 꺾은선그래프 — 해마다 변하는 모습
- ② 막대그래프 — 학년(항목)끼리 비교
- ③ 원그래프 또는 띠그래프 — 전체 넓이에 대한 비율
- ④ 띠그래프 — 두 해의 비율을 띠로 나란히 놓아 견주기
막히면
- 바로 알려 주지 말고 “무엇을 알고 싶은 자료야? 변화야, 비교야, 비율이야?”라고만 묻습니다.
- 도움을 받아 해결했다면 기록표에 ‘도움’으로 표시합니다.
주의
- ③은 띠그래프도 맞습니다. ④는 원그래프 두 개라고 해도 ‘비율’이라는 까닭이 맞으면 맞음으로 하고, 띠그래프를 위아래로 놓으면 견주기 쉽다고 덧붙입니다.
- 정답 확인은 다음 장(S10)에서 함께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정답과 피드백]
목적: 아이의 답과 까닭을 함께 확인하고, 항목을 꺾은선으로 잇거나 변화 자료를 원그래프로 고르는 실수를 바로잡습니다. 수업용에만 있는 장입니다.
시간: 약 2분
이렇게 말해 보세요
- “네 답과 까닭을 볼까? 까닭에 ‘변화’, ‘비교’, ‘비율’ 같은 말이 들어 있어?”
정답
- ① 꺾은선 ② 막대 ③ 원 또는 띠 ④ 띠(원그래프 두 개도 까닭이 비율이면 맞음)
막히면
- ②를 꺾은선으로 고르면 S06으로(M1), ①을 원그래프로 고르면 S08 ③으로(M2) 돌아갑니다.
주의
- 이 장은 학생용 파일에는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마무리 확인(그래프 고르고 해석하기)]
목적: 처음 보는 자료에서 알고 싶은 것에 맞는 그래프를 고르고, 백분율을 구해 해석하는지 확인합니다. 실제로 그리는 것은 활동지 3에서 합니다.
시간: 약 4분
이렇게 말해 보세요
- “방법별로 전체의 몇 %인지 알고 싶어. 어떤 그래프가 알맞을까? 왜?”
- “20명이면 1명은 몇 %야? 걸어서 오는 12명은?”
정답
- ① 원그래프 또는 띠그래프 — 전체에 대한 비율을 보려고
- ② 60 % (12 ÷ 20 × 100)
- ③ 20 % (버스 15 % + 자동차 5 %)
막히면
- S07의 순서(알고 싶은 것 → 그래프 → 백분율 → 해석)를 다시 보여 줍니다.
주의
- 그래프와 까닭, 백분율 해석을 모두 말하면 목표 B 확인 완료입니다.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정리와 다음 수업 복습]
목적: 핵심을 정리하고 다음 수업 첫 5분에 풀 복습 문제를 알려 줍니다.
시간: 약 1분
이렇게 말해 보세요
- “그래프를 고를 때 가장 먼저 무엇을 생각한다고 했지?”
- “다음 수업을 시작할 때 이 세 문제를 먼저 풀 거야.”
예상 답
- “무엇을 알고 싶은지요. 비교, 변화, 비율이요.”
정답
- ① 꺾은선그래프 ② 띠그래프, 원그래프 ③ 막대그래프
막히면
- S04의 카드를 다시 보여 줍니다.
주의
- 이 차시는 초등 수학 계획의 마지막 차시입니다(계획에 다음 수학 차시가 없습니다). 복습 세 문제는 다음 수업을 시작할 때 활동지 마지막 쪽과 함께 풉니다.
- S09·S11 결과를 기록표에 적어 두고, 흔들린 그래프는 해당 차시(막대그래프·꺾은선그래프·띠그래프와 원그래프)를 다시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선수 학습 보충(막대그래프와 꺾은선그래프)]
목적: S02가 흔들리거나 그래프의 쓰임을 헷갈리면, 먼저 막대그래프(비교)와 꺾은선그래프(변화)를 견주어 다시 봅니다.
시간: 약 5분
이렇게 말해 보세요
- “왼쪽은 좋아하는 운동별 학생 수야. 가장 많은 운동은? 몇 명이야?”
- “오른쪽은 강낭콩 키를 주마다 잰 거야. 키가 어떻게 변했어? 가장 많이 자란 때는?”
- “운동 사이에는 시간이 흐르지 않았지? 그래서 막대로 나타내.”
정답
- 축구가 5명으로 가장 많음
- 강낭콩 키는 계속 자람(2 → 3 → 5 → 6 cm), 가장 많이 자란 때는 2주와 3주 사이(2 cm)
막히면
- 그래프를 손가락으로 짚으며 막대 끝과 점의 높이를 세로 눈금에서 읽게 합니다.
주의
- 원그래프 읽기(S02)가 흔들리면 앞 차시 ‘띠그래프와 원그래프’를 먼저 다시 합니다. 막대그래프·꺾은선그래프가 흔들리면 4학년 ‘막대그래프’, ‘꺾은선그래프’를 다시 봅니다.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원과자료 · 4차시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알맞은 그래프 고르기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알맞은 그래프 고르기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수학 · 알맞은 그래프 고르기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그래프 고르기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자료마다 어울리는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그래프가 따로 있을까?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자료와 알고 싶은 것에 맞는 그래프를 골라 까닭을 말해요.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고른 그래프로 나타내고 해석해요.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6학년 40명이 좋아하는 꽃이에요.</a:t>
            </a:r>
            <a:endParaRPr lang="ko-KR" sz="2800" dirty="0"/>
          </a:p>
        </p:txBody>
      </p:sp>
      <p:sp>
        <p:nvSpPr>
          <p:cNvPr id="4" name="S02-figure4" descr="원그래프 ‘좋아하는 꽃’(40명): 장미 40 %, 튤립 25 %, 해바라기 20 %, 기타 15 %"/>
          <p:cNvSpPr/>
          <p:nvPr/>
        </p:nvSpPr>
        <p:spPr>
          <a:xfrm>
            <a:off x="8958834" y="2666615"/>
            <a:ext cx="1631758" cy="2951874"/>
          </a:xfrm>
          <a:custGeom>
            <a:avLst/>
            <a:gdLst/>
            <a:ahLst/>
            <a:cxnLst/>
            <a:rect l="l" t="t" r="r" b="b"/>
            <a:pathLst>
              <a:path w="1631758" h="2951874">
                <a:moveTo>
                  <a:pt x="0" y="1631758"/>
                </a:moveTo>
                <a:lnTo>
                  <a:pt x="0" y="0"/>
                </a:lnTo>
                <a:lnTo>
                  <a:pt x="85398" y="2236"/>
                </a:lnTo>
                <a:lnTo>
                  <a:pt x="170568" y="8942"/>
                </a:lnTo>
                <a:lnTo>
                  <a:pt x="255264" y="20087"/>
                </a:lnTo>
                <a:lnTo>
                  <a:pt x="339259" y="35654"/>
                </a:lnTo>
                <a:lnTo>
                  <a:pt x="422331" y="55602"/>
                </a:lnTo>
                <a:lnTo>
                  <a:pt x="504238" y="79866"/>
                </a:lnTo>
                <a:lnTo>
                  <a:pt x="584773" y="108381"/>
                </a:lnTo>
                <a:lnTo>
                  <a:pt x="663693" y="141074"/>
                </a:lnTo>
                <a:lnTo>
                  <a:pt x="740802" y="177853"/>
                </a:lnTo>
                <a:lnTo>
                  <a:pt x="815879" y="218615"/>
                </a:lnTo>
                <a:lnTo>
                  <a:pt x="888720" y="263251"/>
                </a:lnTo>
                <a:lnTo>
                  <a:pt x="959123" y="311641"/>
                </a:lnTo>
                <a:lnTo>
                  <a:pt x="1026898" y="363645"/>
                </a:lnTo>
                <a:lnTo>
                  <a:pt x="1091858" y="419125"/>
                </a:lnTo>
                <a:lnTo>
                  <a:pt x="1153824" y="477934"/>
                </a:lnTo>
                <a:lnTo>
                  <a:pt x="1212632" y="539900"/>
                </a:lnTo>
                <a:lnTo>
                  <a:pt x="1268112" y="604860"/>
                </a:lnTo>
                <a:lnTo>
                  <a:pt x="1320116" y="672635"/>
                </a:lnTo>
                <a:lnTo>
                  <a:pt x="1368506" y="743037"/>
                </a:lnTo>
                <a:lnTo>
                  <a:pt x="1413143" y="815879"/>
                </a:lnTo>
                <a:lnTo>
                  <a:pt x="1453904" y="890956"/>
                </a:lnTo>
                <a:lnTo>
                  <a:pt x="1490684" y="968065"/>
                </a:lnTo>
                <a:lnTo>
                  <a:pt x="1523376" y="1046985"/>
                </a:lnTo>
                <a:lnTo>
                  <a:pt x="1551891" y="1127520"/>
                </a:lnTo>
                <a:lnTo>
                  <a:pt x="1576155" y="1209426"/>
                </a:lnTo>
                <a:lnTo>
                  <a:pt x="1596104" y="1292499"/>
                </a:lnTo>
                <a:lnTo>
                  <a:pt x="1611671" y="1376494"/>
                </a:lnTo>
                <a:lnTo>
                  <a:pt x="1622816" y="1461190"/>
                </a:lnTo>
                <a:lnTo>
                  <a:pt x="1629522" y="1546360"/>
                </a:lnTo>
                <a:lnTo>
                  <a:pt x="1631758" y="1631758"/>
                </a:lnTo>
                <a:lnTo>
                  <a:pt x="1629522" y="1717156"/>
                </a:lnTo>
                <a:lnTo>
                  <a:pt x="1622816" y="1802325"/>
                </a:lnTo>
                <a:lnTo>
                  <a:pt x="1611671" y="1887022"/>
                </a:lnTo>
                <a:lnTo>
                  <a:pt x="1596104" y="1971016"/>
                </a:lnTo>
                <a:lnTo>
                  <a:pt x="1576155" y="2054089"/>
                </a:lnTo>
                <a:lnTo>
                  <a:pt x="1551891" y="2135995"/>
                </a:lnTo>
                <a:lnTo>
                  <a:pt x="1523376" y="2216531"/>
                </a:lnTo>
                <a:lnTo>
                  <a:pt x="1490684" y="2295450"/>
                </a:lnTo>
                <a:lnTo>
                  <a:pt x="1453904" y="2372559"/>
                </a:lnTo>
                <a:lnTo>
                  <a:pt x="1413143" y="2447636"/>
                </a:lnTo>
                <a:lnTo>
                  <a:pt x="1368506" y="2520478"/>
                </a:lnTo>
                <a:lnTo>
                  <a:pt x="1320116" y="2590880"/>
                </a:lnTo>
                <a:lnTo>
                  <a:pt x="1268112" y="2658655"/>
                </a:lnTo>
                <a:lnTo>
                  <a:pt x="1212632" y="2723616"/>
                </a:lnTo>
                <a:lnTo>
                  <a:pt x="1153824" y="2785582"/>
                </a:lnTo>
                <a:lnTo>
                  <a:pt x="1091858" y="2844390"/>
                </a:lnTo>
                <a:lnTo>
                  <a:pt x="1026898" y="2899870"/>
                </a:lnTo>
                <a:lnTo>
                  <a:pt x="959123" y="2951874"/>
                </a:lnTo>
                <a:close/>
              </a:path>
            </a:pathLst>
          </a:custGeom>
          <a:solidFill>
            <a:srgbClr val="FBE3D2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2-mark5"/>
          <p:cNvSpPr/>
          <p:nvPr/>
        </p:nvSpPr>
        <p:spPr>
          <a:xfrm>
            <a:off x="7638718" y="4298373"/>
            <a:ext cx="2279239" cy="1631758"/>
          </a:xfrm>
          <a:custGeom>
            <a:avLst/>
            <a:gdLst/>
            <a:ahLst/>
            <a:cxnLst/>
            <a:rect l="l" t="t" r="r" b="b"/>
            <a:pathLst>
              <a:path w="2279239" h="1631758">
                <a:moveTo>
                  <a:pt x="1320116" y="0"/>
                </a:moveTo>
                <a:lnTo>
                  <a:pt x="2279239" y="1320116"/>
                </a:lnTo>
                <a:lnTo>
                  <a:pt x="2208837" y="1368506"/>
                </a:lnTo>
                <a:lnTo>
                  <a:pt x="2135995" y="1413143"/>
                </a:lnTo>
                <a:lnTo>
                  <a:pt x="2060918" y="1453904"/>
                </a:lnTo>
                <a:lnTo>
                  <a:pt x="1983809" y="1490684"/>
                </a:lnTo>
                <a:lnTo>
                  <a:pt x="1904889" y="1523376"/>
                </a:lnTo>
                <a:lnTo>
                  <a:pt x="1824354" y="1551891"/>
                </a:lnTo>
                <a:lnTo>
                  <a:pt x="1742448" y="1576155"/>
                </a:lnTo>
                <a:lnTo>
                  <a:pt x="1659375" y="1596104"/>
                </a:lnTo>
                <a:lnTo>
                  <a:pt x="1575380" y="1611671"/>
                </a:lnTo>
                <a:lnTo>
                  <a:pt x="1490684" y="1622816"/>
                </a:lnTo>
                <a:lnTo>
                  <a:pt x="1405514" y="1629522"/>
                </a:lnTo>
                <a:lnTo>
                  <a:pt x="1320116" y="1631758"/>
                </a:lnTo>
                <a:lnTo>
                  <a:pt x="1234718" y="1629522"/>
                </a:lnTo>
                <a:lnTo>
                  <a:pt x="1149549" y="1622816"/>
                </a:lnTo>
                <a:lnTo>
                  <a:pt x="1064852" y="1611671"/>
                </a:lnTo>
                <a:lnTo>
                  <a:pt x="980858" y="1596104"/>
                </a:lnTo>
                <a:lnTo>
                  <a:pt x="897785" y="1576155"/>
                </a:lnTo>
                <a:lnTo>
                  <a:pt x="815879" y="1551891"/>
                </a:lnTo>
                <a:lnTo>
                  <a:pt x="735343" y="1523376"/>
                </a:lnTo>
                <a:lnTo>
                  <a:pt x="656423" y="1490684"/>
                </a:lnTo>
                <a:lnTo>
                  <a:pt x="579315" y="1453904"/>
                </a:lnTo>
                <a:lnTo>
                  <a:pt x="504238" y="1413143"/>
                </a:lnTo>
                <a:lnTo>
                  <a:pt x="431396" y="1368506"/>
                </a:lnTo>
                <a:lnTo>
                  <a:pt x="360994" y="1320116"/>
                </a:lnTo>
                <a:lnTo>
                  <a:pt x="293219" y="1268112"/>
                </a:lnTo>
                <a:lnTo>
                  <a:pt x="228258" y="1212632"/>
                </a:lnTo>
                <a:lnTo>
                  <a:pt x="166292" y="1153824"/>
                </a:lnTo>
                <a:lnTo>
                  <a:pt x="107484" y="1091858"/>
                </a:lnTo>
                <a:lnTo>
                  <a:pt x="52004" y="1026898"/>
                </a:lnTo>
                <a:lnTo>
                  <a:pt x="0" y="959123"/>
                </a:lnTo>
                <a:close/>
              </a:path>
            </a:pathLst>
          </a:custGeom>
          <a:solidFill>
            <a:srgbClr val="D5EFEA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2-mark6"/>
          <p:cNvSpPr/>
          <p:nvPr/>
        </p:nvSpPr>
        <p:spPr>
          <a:xfrm>
            <a:off x="7327076" y="3339250"/>
            <a:ext cx="1631758" cy="1918245"/>
          </a:xfrm>
          <a:custGeom>
            <a:avLst/>
            <a:gdLst/>
            <a:ahLst/>
            <a:cxnLst/>
            <a:rect l="l" t="t" r="r" b="b"/>
            <a:pathLst>
              <a:path w="1631758" h="1918245">
                <a:moveTo>
                  <a:pt x="1631758" y="959123"/>
                </a:moveTo>
                <a:lnTo>
                  <a:pt x="311641" y="1918245"/>
                </a:lnTo>
                <a:lnTo>
                  <a:pt x="263251" y="1847843"/>
                </a:lnTo>
                <a:lnTo>
                  <a:pt x="218615" y="1775001"/>
                </a:lnTo>
                <a:lnTo>
                  <a:pt x="177853" y="1699924"/>
                </a:lnTo>
                <a:lnTo>
                  <a:pt x="141074" y="1622816"/>
                </a:lnTo>
                <a:lnTo>
                  <a:pt x="108381" y="1543896"/>
                </a:lnTo>
                <a:lnTo>
                  <a:pt x="79866" y="1463360"/>
                </a:lnTo>
                <a:lnTo>
                  <a:pt x="55602" y="1381454"/>
                </a:lnTo>
                <a:lnTo>
                  <a:pt x="35654" y="1298381"/>
                </a:lnTo>
                <a:lnTo>
                  <a:pt x="20087" y="1214387"/>
                </a:lnTo>
                <a:lnTo>
                  <a:pt x="8942" y="1129690"/>
                </a:lnTo>
                <a:lnTo>
                  <a:pt x="2236" y="1044521"/>
                </a:lnTo>
                <a:lnTo>
                  <a:pt x="0" y="959123"/>
                </a:lnTo>
                <a:lnTo>
                  <a:pt x="2236" y="873725"/>
                </a:lnTo>
                <a:lnTo>
                  <a:pt x="8942" y="788555"/>
                </a:lnTo>
                <a:lnTo>
                  <a:pt x="20087" y="703859"/>
                </a:lnTo>
                <a:lnTo>
                  <a:pt x="35654" y="619864"/>
                </a:lnTo>
                <a:lnTo>
                  <a:pt x="55602" y="536791"/>
                </a:lnTo>
                <a:lnTo>
                  <a:pt x="79866" y="454885"/>
                </a:lnTo>
                <a:lnTo>
                  <a:pt x="108381" y="374350"/>
                </a:lnTo>
                <a:lnTo>
                  <a:pt x="141074" y="295430"/>
                </a:lnTo>
                <a:lnTo>
                  <a:pt x="177853" y="218321"/>
                </a:lnTo>
                <a:lnTo>
                  <a:pt x="218615" y="143244"/>
                </a:lnTo>
                <a:lnTo>
                  <a:pt x="263251" y="70402"/>
                </a:lnTo>
                <a:lnTo>
                  <a:pt x="311641" y="0"/>
                </a:lnTo>
                <a:close/>
              </a:path>
            </a:pathLst>
          </a:custGeom>
          <a:solidFill>
            <a:srgbClr val="FCEFC7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2-mark7"/>
          <p:cNvSpPr/>
          <p:nvPr/>
        </p:nvSpPr>
        <p:spPr>
          <a:xfrm>
            <a:off x="7638718" y="2666615"/>
            <a:ext cx="1320116" cy="1631758"/>
          </a:xfrm>
          <a:custGeom>
            <a:avLst/>
            <a:gdLst/>
            <a:ahLst/>
            <a:cxnLst/>
            <a:rect l="l" t="t" r="r" b="b"/>
            <a:pathLst>
              <a:path w="1320116" h="1631758">
                <a:moveTo>
                  <a:pt x="1320116" y="1631758"/>
                </a:moveTo>
                <a:lnTo>
                  <a:pt x="0" y="672635"/>
                </a:lnTo>
                <a:lnTo>
                  <a:pt x="52004" y="604860"/>
                </a:lnTo>
                <a:lnTo>
                  <a:pt x="107484" y="539900"/>
                </a:lnTo>
                <a:lnTo>
                  <a:pt x="166292" y="477934"/>
                </a:lnTo>
                <a:lnTo>
                  <a:pt x="228258" y="419125"/>
                </a:lnTo>
                <a:lnTo>
                  <a:pt x="293219" y="363645"/>
                </a:lnTo>
                <a:lnTo>
                  <a:pt x="360994" y="311641"/>
                </a:lnTo>
                <a:lnTo>
                  <a:pt x="431396" y="263251"/>
                </a:lnTo>
                <a:lnTo>
                  <a:pt x="504238" y="218615"/>
                </a:lnTo>
                <a:lnTo>
                  <a:pt x="579315" y="177853"/>
                </a:lnTo>
                <a:lnTo>
                  <a:pt x="656423" y="141074"/>
                </a:lnTo>
                <a:lnTo>
                  <a:pt x="735343" y="108381"/>
                </a:lnTo>
                <a:lnTo>
                  <a:pt x="815879" y="79866"/>
                </a:lnTo>
                <a:lnTo>
                  <a:pt x="897785" y="55602"/>
                </a:lnTo>
                <a:lnTo>
                  <a:pt x="980858" y="35654"/>
                </a:lnTo>
                <a:lnTo>
                  <a:pt x="1064852" y="20087"/>
                </a:lnTo>
                <a:lnTo>
                  <a:pt x="1149549" y="8942"/>
                </a:lnTo>
                <a:lnTo>
                  <a:pt x="1234718" y="2236"/>
                </a:lnTo>
                <a:lnTo>
                  <a:pt x="1320116" y="0"/>
                </a:lnTo>
                <a:close/>
              </a:path>
            </a:pathLst>
          </a:custGeom>
          <a:solidFill>
            <a:srgbClr val="DCE4E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2-mark8"/>
          <p:cNvSpPr/>
          <p:nvPr/>
        </p:nvSpPr>
        <p:spPr>
          <a:xfrm flipV="1">
            <a:off x="8958834" y="2487122"/>
            <a:ext cx="0" cy="179493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9" name="S02-mark9"/>
          <p:cNvSpPr/>
          <p:nvPr/>
        </p:nvSpPr>
        <p:spPr>
          <a:xfrm flipV="1">
            <a:off x="9463072" y="2653365"/>
            <a:ext cx="30261" cy="9311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0" name="S02-mark10"/>
          <p:cNvSpPr/>
          <p:nvPr/>
        </p:nvSpPr>
        <p:spPr>
          <a:xfrm flipV="1">
            <a:off x="9917957" y="2899043"/>
            <a:ext cx="57544" cy="7921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1" name="S02-mark11"/>
          <p:cNvSpPr/>
          <p:nvPr/>
        </p:nvSpPr>
        <p:spPr>
          <a:xfrm flipV="1">
            <a:off x="10278950" y="3281706"/>
            <a:ext cx="79214" cy="5754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2" name="S02-mark12"/>
          <p:cNvSpPr/>
          <p:nvPr/>
        </p:nvSpPr>
        <p:spPr>
          <a:xfrm flipV="1">
            <a:off x="10510725" y="3763874"/>
            <a:ext cx="93116" cy="30261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3" name="S02-mark13"/>
          <p:cNvSpPr/>
          <p:nvPr/>
        </p:nvSpPr>
        <p:spPr>
          <a:xfrm>
            <a:off x="10590592" y="4298373"/>
            <a:ext cx="179493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4" name="S02-mark14"/>
          <p:cNvSpPr/>
          <p:nvPr/>
        </p:nvSpPr>
        <p:spPr>
          <a:xfrm>
            <a:off x="10510725" y="4802610"/>
            <a:ext cx="93116" cy="30261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5" name="S02-mark15"/>
          <p:cNvSpPr/>
          <p:nvPr/>
        </p:nvSpPr>
        <p:spPr>
          <a:xfrm>
            <a:off x="10278950" y="5257495"/>
            <a:ext cx="79214" cy="5754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6" name="S02-mark16"/>
          <p:cNvSpPr/>
          <p:nvPr/>
        </p:nvSpPr>
        <p:spPr>
          <a:xfrm>
            <a:off x="9917957" y="5618489"/>
            <a:ext cx="57544" cy="7921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7" name="S02-mark17"/>
          <p:cNvSpPr/>
          <p:nvPr/>
        </p:nvSpPr>
        <p:spPr>
          <a:xfrm>
            <a:off x="9463072" y="5850264"/>
            <a:ext cx="30261" cy="9311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8" name="S02-mark18"/>
          <p:cNvSpPr/>
          <p:nvPr/>
        </p:nvSpPr>
        <p:spPr>
          <a:xfrm>
            <a:off x="8958834" y="5930130"/>
            <a:ext cx="0" cy="179493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9" name="S02-mark19"/>
          <p:cNvSpPr/>
          <p:nvPr/>
        </p:nvSpPr>
        <p:spPr>
          <a:xfrm flipH="1">
            <a:off x="8424335" y="5850264"/>
            <a:ext cx="30261" cy="9311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0" name="S02-mark20"/>
          <p:cNvSpPr/>
          <p:nvPr/>
        </p:nvSpPr>
        <p:spPr>
          <a:xfrm flipH="1">
            <a:off x="7942167" y="5618489"/>
            <a:ext cx="57544" cy="7921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1" name="S02-mark21"/>
          <p:cNvSpPr/>
          <p:nvPr/>
        </p:nvSpPr>
        <p:spPr>
          <a:xfrm flipH="1">
            <a:off x="7559504" y="5257495"/>
            <a:ext cx="79214" cy="5754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2" name="S02-mark22"/>
          <p:cNvSpPr/>
          <p:nvPr/>
        </p:nvSpPr>
        <p:spPr>
          <a:xfrm flipH="1">
            <a:off x="7313827" y="4802610"/>
            <a:ext cx="93116" cy="30261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3" name="S02-mark23"/>
          <p:cNvSpPr/>
          <p:nvPr/>
        </p:nvSpPr>
        <p:spPr>
          <a:xfrm flipH="1">
            <a:off x="7147583" y="4298373"/>
            <a:ext cx="179493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4" name="S02-mark24"/>
          <p:cNvSpPr/>
          <p:nvPr/>
        </p:nvSpPr>
        <p:spPr>
          <a:xfrm flipH="1" flipV="1">
            <a:off x="7313827" y="3763874"/>
            <a:ext cx="93116" cy="30261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5" name="S02-mark25"/>
          <p:cNvSpPr/>
          <p:nvPr/>
        </p:nvSpPr>
        <p:spPr>
          <a:xfrm flipH="1" flipV="1">
            <a:off x="7559504" y="3281706"/>
            <a:ext cx="79214" cy="5754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6" name="S02-mark26"/>
          <p:cNvSpPr/>
          <p:nvPr/>
        </p:nvSpPr>
        <p:spPr>
          <a:xfrm flipH="1" flipV="1">
            <a:off x="7942167" y="2899043"/>
            <a:ext cx="57544" cy="7921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7" name="S02-mark27"/>
          <p:cNvSpPr/>
          <p:nvPr/>
        </p:nvSpPr>
        <p:spPr>
          <a:xfrm flipH="1" flipV="1">
            <a:off x="8424335" y="2653365"/>
            <a:ext cx="30261" cy="9311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8" name="S02-label29"/>
          <p:cNvSpPr txBox="1"/>
          <p:nvPr/>
        </p:nvSpPr>
        <p:spPr>
          <a:xfrm>
            <a:off x="9348615" y="3633949"/>
            <a:ext cx="1160272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장미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40 %</a:t>
            </a:r>
            <a:endParaRPr lang="ko-KR" sz="2200" dirty="0"/>
          </a:p>
        </p:txBody>
      </p:sp>
      <p:sp>
        <p:nvSpPr>
          <p:cNvPr id="29" name="S02-label31"/>
          <p:cNvSpPr txBox="1"/>
          <p:nvPr/>
        </p:nvSpPr>
        <p:spPr>
          <a:xfrm>
            <a:off x="8219194" y="4956407"/>
            <a:ext cx="1160272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튤립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25 %</a:t>
            </a:r>
            <a:endParaRPr lang="ko-KR" sz="2200" dirty="0"/>
          </a:p>
        </p:txBody>
      </p:sp>
      <p:sp>
        <p:nvSpPr>
          <p:cNvPr id="30" name="S02-label33"/>
          <p:cNvSpPr txBox="1"/>
          <p:nvPr/>
        </p:nvSpPr>
        <p:spPr>
          <a:xfrm>
            <a:off x="7085038" y="3949123"/>
            <a:ext cx="1707896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해바라기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20 %</a:t>
            </a:r>
            <a:endParaRPr lang="ko-KR" sz="2200" dirty="0"/>
          </a:p>
        </p:txBody>
      </p:sp>
      <p:sp>
        <p:nvSpPr>
          <p:cNvPr id="31" name="S02-label35"/>
          <p:cNvSpPr txBox="1"/>
          <p:nvPr/>
        </p:nvSpPr>
        <p:spPr>
          <a:xfrm>
            <a:off x="7845358" y="2902350"/>
            <a:ext cx="1160272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기타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15 %</a:t>
            </a:r>
            <a:endParaRPr lang="ko-KR" sz="2200" dirty="0"/>
          </a:p>
        </p:txBody>
      </p:sp>
      <p:sp>
        <p:nvSpPr>
          <p:cNvPr id="32" name="S02-label37"/>
          <p:cNvSpPr txBox="1"/>
          <p:nvPr/>
        </p:nvSpPr>
        <p:spPr>
          <a:xfrm>
            <a:off x="8177530" y="1920875"/>
            <a:ext cx="1562608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좋아하는 꽃</a:t>
            </a:r>
            <a:endParaRPr lang="ko-KR" sz="2200" dirty="0"/>
          </a:p>
        </p:txBody>
      </p:sp>
      <p:sp>
        <p:nvSpPr>
          <p:cNvPr id="33" name="S02-chip38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34" name="S02-text39"/>
          <p:cNvSpPr txBox="1"/>
          <p:nvPr/>
        </p:nvSpPr>
        <p:spPr>
          <a:xfrm>
            <a:off x="1344168" y="201168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많은 꽃과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비율은?</a:t>
            </a:r>
            <a:endParaRPr lang="ko-KR" sz="2800" dirty="0"/>
          </a:p>
        </p:txBody>
      </p:sp>
      <p:sp>
        <p:nvSpPr>
          <p:cNvPr id="35" name="S02-chip40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36" name="S02-text41"/>
          <p:cNvSpPr txBox="1"/>
          <p:nvPr/>
        </p:nvSpPr>
        <p:spPr>
          <a:xfrm>
            <a:off x="1344168" y="347472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튤립을 좋아하는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학생은 몇 명?</a:t>
            </a:r>
            <a:endParaRPr lang="ko-KR" sz="2800" dirty="0"/>
          </a:p>
        </p:txBody>
      </p:sp>
      <p:sp>
        <p:nvSpPr>
          <p:cNvPr id="37" name="S02-chip42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38" name="S02-text43"/>
          <p:cNvSpPr txBox="1"/>
          <p:nvPr/>
        </p:nvSpPr>
        <p:spPr>
          <a:xfrm>
            <a:off x="1344168" y="493776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백분율을 모두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더하면 얼마?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자료, 다른 그래프</a:t>
            </a:r>
            <a:endParaRPr lang="ko-KR" sz="4000" dirty="0"/>
          </a:p>
        </p:txBody>
      </p:sp>
      <p:sp>
        <p:nvSpPr>
          <p:cNvPr id="3" name="S03-text4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학급 문고 책 20권의 종류예요.</a:t>
            </a:r>
            <a:endParaRPr lang="ko-KR" sz="2800" dirty="0"/>
          </a:p>
        </p:txBody>
      </p:sp>
      <p:sp>
        <p:nvSpPr>
          <p:cNvPr id="4" name="S03-card4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4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알고 싶은 것에 따라 알맞은 그래프가 달라요.</a:t>
            </a:r>
            <a:endParaRPr lang="ko-KR" sz="2800" dirty="0"/>
          </a:p>
        </p:txBody>
      </p:sp>
      <p:sp>
        <p:nvSpPr>
          <p:cNvPr id="6" name="S03-figure47" descr="막대그래프(세로 눈금 한 칸 1권): 동화 7권, 과학 5권, 역사 4권, 만화 4권"/>
          <p:cNvSpPr/>
          <p:nvPr/>
        </p:nvSpPr>
        <p:spPr>
          <a:xfrm>
            <a:off x="1711376" y="2925826"/>
            <a:ext cx="569366" cy="1162456"/>
          </a:xfrm>
          <a:custGeom>
            <a:avLst/>
            <a:gdLst/>
            <a:ahLst/>
            <a:cxnLst/>
            <a:rect l="l" t="t" r="r" b="b"/>
            <a:pathLst>
              <a:path w="569366" h="1162456">
                <a:moveTo>
                  <a:pt x="0" y="1162456"/>
                </a:moveTo>
                <a:lnTo>
                  <a:pt x="569366" y="1162456"/>
                </a:lnTo>
                <a:lnTo>
                  <a:pt x="569366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3-mark48"/>
          <p:cNvSpPr/>
          <p:nvPr/>
        </p:nvSpPr>
        <p:spPr>
          <a:xfrm>
            <a:off x="2755214" y="3257956"/>
            <a:ext cx="569366" cy="830326"/>
          </a:xfrm>
          <a:custGeom>
            <a:avLst/>
            <a:gdLst/>
            <a:ahLst/>
            <a:cxnLst/>
            <a:rect l="l" t="t" r="r" b="b"/>
            <a:pathLst>
              <a:path w="569366" h="830326">
                <a:moveTo>
                  <a:pt x="0" y="830326"/>
                </a:moveTo>
                <a:lnTo>
                  <a:pt x="569366" y="830326"/>
                </a:lnTo>
                <a:lnTo>
                  <a:pt x="569366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3-mark49"/>
          <p:cNvSpPr/>
          <p:nvPr/>
        </p:nvSpPr>
        <p:spPr>
          <a:xfrm>
            <a:off x="3799053" y="3424022"/>
            <a:ext cx="569366" cy="664261"/>
          </a:xfrm>
          <a:custGeom>
            <a:avLst/>
            <a:gdLst/>
            <a:ahLst/>
            <a:cxnLst/>
            <a:rect l="l" t="t" r="r" b="b"/>
            <a:pathLst>
              <a:path w="569366" h="664261">
                <a:moveTo>
                  <a:pt x="0" y="664261"/>
                </a:moveTo>
                <a:lnTo>
                  <a:pt x="569366" y="664261"/>
                </a:lnTo>
                <a:lnTo>
                  <a:pt x="569366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3-mark50"/>
          <p:cNvSpPr/>
          <p:nvPr/>
        </p:nvSpPr>
        <p:spPr>
          <a:xfrm>
            <a:off x="4842891" y="3424022"/>
            <a:ext cx="569366" cy="664261"/>
          </a:xfrm>
          <a:custGeom>
            <a:avLst/>
            <a:gdLst/>
            <a:ahLst/>
            <a:cxnLst/>
            <a:rect l="l" t="t" r="r" b="b"/>
            <a:pathLst>
              <a:path w="569366" h="664261">
                <a:moveTo>
                  <a:pt x="0" y="664261"/>
                </a:moveTo>
                <a:lnTo>
                  <a:pt x="569366" y="664261"/>
                </a:lnTo>
                <a:lnTo>
                  <a:pt x="569366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3-mark51"/>
          <p:cNvSpPr/>
          <p:nvPr/>
        </p:nvSpPr>
        <p:spPr>
          <a:xfrm>
            <a:off x="1331798" y="3922217"/>
            <a:ext cx="446003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3-mark52"/>
          <p:cNvSpPr/>
          <p:nvPr/>
        </p:nvSpPr>
        <p:spPr>
          <a:xfrm>
            <a:off x="1331798" y="3756152"/>
            <a:ext cx="446003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3-mark53"/>
          <p:cNvSpPr/>
          <p:nvPr/>
        </p:nvSpPr>
        <p:spPr>
          <a:xfrm>
            <a:off x="1331798" y="3590087"/>
            <a:ext cx="446003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3-mark54"/>
          <p:cNvSpPr/>
          <p:nvPr/>
        </p:nvSpPr>
        <p:spPr>
          <a:xfrm>
            <a:off x="1331798" y="3424022"/>
            <a:ext cx="446003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3-mark55"/>
          <p:cNvSpPr/>
          <p:nvPr/>
        </p:nvSpPr>
        <p:spPr>
          <a:xfrm>
            <a:off x="1331798" y="3257956"/>
            <a:ext cx="446003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3-mark56"/>
          <p:cNvSpPr/>
          <p:nvPr/>
        </p:nvSpPr>
        <p:spPr>
          <a:xfrm>
            <a:off x="1331798" y="3091891"/>
            <a:ext cx="446003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3-mark57"/>
          <p:cNvSpPr/>
          <p:nvPr/>
        </p:nvSpPr>
        <p:spPr>
          <a:xfrm>
            <a:off x="1331798" y="2925826"/>
            <a:ext cx="446003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3-mark58"/>
          <p:cNvSpPr/>
          <p:nvPr/>
        </p:nvSpPr>
        <p:spPr>
          <a:xfrm>
            <a:off x="1331798" y="2759761"/>
            <a:ext cx="446003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3-mark59"/>
          <p:cNvSpPr/>
          <p:nvPr/>
        </p:nvSpPr>
        <p:spPr>
          <a:xfrm>
            <a:off x="1331798" y="4088282"/>
            <a:ext cx="4460037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9" name="S03-mark60"/>
          <p:cNvSpPr/>
          <p:nvPr/>
        </p:nvSpPr>
        <p:spPr>
          <a:xfrm flipV="1">
            <a:off x="1331798" y="2569972"/>
            <a:ext cx="0" cy="151831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0" name="S03-label62"/>
          <p:cNvSpPr txBox="1"/>
          <p:nvPr/>
        </p:nvSpPr>
        <p:spPr>
          <a:xfrm>
            <a:off x="781431" y="3913657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200" dirty="0"/>
          </a:p>
        </p:txBody>
      </p:sp>
      <p:sp>
        <p:nvSpPr>
          <p:cNvPr id="21" name="S03-label64"/>
          <p:cNvSpPr txBox="1"/>
          <p:nvPr/>
        </p:nvSpPr>
        <p:spPr>
          <a:xfrm>
            <a:off x="781431" y="3581527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22" name="S03-label66"/>
          <p:cNvSpPr txBox="1"/>
          <p:nvPr/>
        </p:nvSpPr>
        <p:spPr>
          <a:xfrm>
            <a:off x="781431" y="3249397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23" name="S03-label68"/>
          <p:cNvSpPr txBox="1"/>
          <p:nvPr/>
        </p:nvSpPr>
        <p:spPr>
          <a:xfrm>
            <a:off x="781431" y="2917266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200" dirty="0"/>
          </a:p>
        </p:txBody>
      </p:sp>
      <p:sp>
        <p:nvSpPr>
          <p:cNvPr id="24" name="S03-label70"/>
          <p:cNvSpPr txBox="1"/>
          <p:nvPr/>
        </p:nvSpPr>
        <p:spPr>
          <a:xfrm>
            <a:off x="781431" y="2585136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200" dirty="0"/>
          </a:p>
        </p:txBody>
      </p:sp>
      <p:sp>
        <p:nvSpPr>
          <p:cNvPr id="25" name="S03-label72"/>
          <p:cNvSpPr txBox="1"/>
          <p:nvPr/>
        </p:nvSpPr>
        <p:spPr>
          <a:xfrm>
            <a:off x="569087" y="2110664"/>
            <a:ext cx="71882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(권)</a:t>
            </a:r>
            <a:endParaRPr lang="ko-KR" sz="2200" dirty="0"/>
          </a:p>
        </p:txBody>
      </p:sp>
      <p:sp>
        <p:nvSpPr>
          <p:cNvPr id="26" name="S03-label74"/>
          <p:cNvSpPr txBox="1"/>
          <p:nvPr/>
        </p:nvSpPr>
        <p:spPr>
          <a:xfrm>
            <a:off x="1667383" y="4222064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동화</a:t>
            </a:r>
            <a:endParaRPr lang="ko-KR" sz="2200" dirty="0"/>
          </a:p>
        </p:txBody>
      </p:sp>
      <p:sp>
        <p:nvSpPr>
          <p:cNvPr id="27" name="S03-label76"/>
          <p:cNvSpPr txBox="1"/>
          <p:nvPr/>
        </p:nvSpPr>
        <p:spPr>
          <a:xfrm>
            <a:off x="2711221" y="4222064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과학</a:t>
            </a:r>
            <a:endParaRPr lang="ko-KR" sz="2200" dirty="0"/>
          </a:p>
        </p:txBody>
      </p:sp>
      <p:sp>
        <p:nvSpPr>
          <p:cNvPr id="28" name="S03-label78"/>
          <p:cNvSpPr txBox="1"/>
          <p:nvPr/>
        </p:nvSpPr>
        <p:spPr>
          <a:xfrm>
            <a:off x="3755060" y="4222064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역사</a:t>
            </a:r>
            <a:endParaRPr lang="ko-KR" sz="2200" dirty="0"/>
          </a:p>
        </p:txBody>
      </p:sp>
      <p:sp>
        <p:nvSpPr>
          <p:cNvPr id="29" name="S03-label80"/>
          <p:cNvSpPr txBox="1"/>
          <p:nvPr/>
        </p:nvSpPr>
        <p:spPr>
          <a:xfrm>
            <a:off x="4798898" y="4222064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만화</a:t>
            </a:r>
            <a:endParaRPr lang="ko-KR" sz="2200" dirty="0"/>
          </a:p>
        </p:txBody>
      </p:sp>
      <p:sp>
        <p:nvSpPr>
          <p:cNvPr id="30" name="S03-label81"/>
          <p:cNvSpPr txBox="1"/>
          <p:nvPr/>
        </p:nvSpPr>
        <p:spPr>
          <a:xfrm>
            <a:off x="548640" y="4743450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막대그래프: 몇 권인지 비교</a:t>
            </a:r>
            <a:endParaRPr lang="ko-KR" sz="2200" dirty="0"/>
          </a:p>
        </p:txBody>
      </p:sp>
      <p:sp>
        <p:nvSpPr>
          <p:cNvPr id="31" name="S03-figure82" descr="같은 자료의 띠그래프: 동화 35 %, 과학 25 %, 역사 20 %, 만화 20 %"/>
          <p:cNvSpPr/>
          <p:nvPr/>
        </p:nvSpPr>
        <p:spPr>
          <a:xfrm>
            <a:off x="6338316" y="2778155"/>
            <a:ext cx="1595076" cy="820325"/>
          </a:xfrm>
          <a:custGeom>
            <a:avLst/>
            <a:gdLst/>
            <a:ahLst/>
            <a:cxnLst/>
            <a:rect l="l" t="t" r="r" b="b"/>
            <a:pathLst>
              <a:path w="1595076" h="820325">
                <a:moveTo>
                  <a:pt x="0" y="820325"/>
                </a:moveTo>
                <a:lnTo>
                  <a:pt x="1595076" y="820325"/>
                </a:lnTo>
                <a:lnTo>
                  <a:pt x="1595076" y="0"/>
                </a:lnTo>
                <a:lnTo>
                  <a:pt x="0" y="0"/>
                </a:lnTo>
                <a:close/>
              </a:path>
            </a:pathLst>
          </a:custGeom>
          <a:solidFill>
            <a:srgbClr val="FBE3D2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3-mark83"/>
          <p:cNvSpPr/>
          <p:nvPr/>
        </p:nvSpPr>
        <p:spPr>
          <a:xfrm>
            <a:off x="7933392" y="2778155"/>
            <a:ext cx="1139340" cy="820325"/>
          </a:xfrm>
          <a:custGeom>
            <a:avLst/>
            <a:gdLst/>
            <a:ahLst/>
            <a:cxnLst/>
            <a:rect l="l" t="t" r="r" b="b"/>
            <a:pathLst>
              <a:path w="1139340" h="820325">
                <a:moveTo>
                  <a:pt x="0" y="820325"/>
                </a:moveTo>
                <a:lnTo>
                  <a:pt x="1139340" y="820325"/>
                </a:lnTo>
                <a:lnTo>
                  <a:pt x="1139340" y="0"/>
                </a:lnTo>
                <a:lnTo>
                  <a:pt x="0" y="0"/>
                </a:lnTo>
                <a:close/>
              </a:path>
            </a:pathLst>
          </a:custGeom>
          <a:solidFill>
            <a:srgbClr val="D5EFEA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3-mark84"/>
          <p:cNvSpPr/>
          <p:nvPr/>
        </p:nvSpPr>
        <p:spPr>
          <a:xfrm>
            <a:off x="9072731" y="2778155"/>
            <a:ext cx="911472" cy="820325"/>
          </a:xfrm>
          <a:custGeom>
            <a:avLst/>
            <a:gdLst/>
            <a:ahLst/>
            <a:cxnLst/>
            <a:rect l="l" t="t" r="r" b="b"/>
            <a:pathLst>
              <a:path w="911472" h="820325">
                <a:moveTo>
                  <a:pt x="0" y="820325"/>
                </a:moveTo>
                <a:lnTo>
                  <a:pt x="911472" y="820325"/>
                </a:lnTo>
                <a:lnTo>
                  <a:pt x="911472" y="0"/>
                </a:lnTo>
                <a:lnTo>
                  <a:pt x="0" y="0"/>
                </a:lnTo>
                <a:close/>
              </a:path>
            </a:pathLst>
          </a:custGeom>
          <a:solidFill>
            <a:srgbClr val="FCEFC7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3-mark85"/>
          <p:cNvSpPr/>
          <p:nvPr/>
        </p:nvSpPr>
        <p:spPr>
          <a:xfrm>
            <a:off x="9984203" y="2778155"/>
            <a:ext cx="911472" cy="820325"/>
          </a:xfrm>
          <a:custGeom>
            <a:avLst/>
            <a:gdLst/>
            <a:ahLst/>
            <a:cxnLst/>
            <a:rect l="l" t="t" r="r" b="b"/>
            <a:pathLst>
              <a:path w="911472" h="820325">
                <a:moveTo>
                  <a:pt x="0" y="820325"/>
                </a:moveTo>
                <a:lnTo>
                  <a:pt x="911472" y="820325"/>
                </a:lnTo>
                <a:lnTo>
                  <a:pt x="911472" y="0"/>
                </a:lnTo>
                <a:lnTo>
                  <a:pt x="0" y="0"/>
                </a:lnTo>
                <a:close/>
              </a:path>
            </a:pathLst>
          </a:custGeom>
          <a:solidFill>
            <a:srgbClr val="DCE4E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3-mark86"/>
          <p:cNvSpPr/>
          <p:nvPr/>
        </p:nvSpPr>
        <p:spPr>
          <a:xfrm>
            <a:off x="6338316" y="3653168"/>
            <a:ext cx="4557359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36" name="S03-mark87"/>
          <p:cNvSpPr/>
          <p:nvPr/>
        </p:nvSpPr>
        <p:spPr>
          <a:xfrm>
            <a:off x="6338316" y="3653168"/>
            <a:ext cx="0" cy="100262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37" name="S03-mark88"/>
          <p:cNvSpPr/>
          <p:nvPr/>
        </p:nvSpPr>
        <p:spPr>
          <a:xfrm>
            <a:off x="6566184" y="3653168"/>
            <a:ext cx="0" cy="5468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38" name="S03-mark89"/>
          <p:cNvSpPr/>
          <p:nvPr/>
        </p:nvSpPr>
        <p:spPr>
          <a:xfrm>
            <a:off x="6794052" y="3653168"/>
            <a:ext cx="0" cy="100262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39" name="S03-mark90"/>
          <p:cNvSpPr/>
          <p:nvPr/>
        </p:nvSpPr>
        <p:spPr>
          <a:xfrm>
            <a:off x="7021920" y="3653168"/>
            <a:ext cx="0" cy="5468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40" name="S03-mark91"/>
          <p:cNvSpPr/>
          <p:nvPr/>
        </p:nvSpPr>
        <p:spPr>
          <a:xfrm>
            <a:off x="7249788" y="3653168"/>
            <a:ext cx="0" cy="100262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41" name="S03-mark92"/>
          <p:cNvSpPr/>
          <p:nvPr/>
        </p:nvSpPr>
        <p:spPr>
          <a:xfrm>
            <a:off x="7477656" y="3653168"/>
            <a:ext cx="0" cy="5468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42" name="S03-mark93"/>
          <p:cNvSpPr/>
          <p:nvPr/>
        </p:nvSpPr>
        <p:spPr>
          <a:xfrm>
            <a:off x="7705524" y="3653168"/>
            <a:ext cx="0" cy="100262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43" name="S03-mark94"/>
          <p:cNvSpPr/>
          <p:nvPr/>
        </p:nvSpPr>
        <p:spPr>
          <a:xfrm>
            <a:off x="7933392" y="3653168"/>
            <a:ext cx="0" cy="5468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44" name="S03-mark95"/>
          <p:cNvSpPr/>
          <p:nvPr/>
        </p:nvSpPr>
        <p:spPr>
          <a:xfrm>
            <a:off x="8161260" y="3653168"/>
            <a:ext cx="0" cy="100262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45" name="S03-mark96"/>
          <p:cNvSpPr/>
          <p:nvPr/>
        </p:nvSpPr>
        <p:spPr>
          <a:xfrm>
            <a:off x="8389128" y="3653168"/>
            <a:ext cx="0" cy="5468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46" name="S03-mark97"/>
          <p:cNvSpPr/>
          <p:nvPr/>
        </p:nvSpPr>
        <p:spPr>
          <a:xfrm>
            <a:off x="8616995" y="3653168"/>
            <a:ext cx="0" cy="100262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47" name="S03-mark98"/>
          <p:cNvSpPr/>
          <p:nvPr/>
        </p:nvSpPr>
        <p:spPr>
          <a:xfrm>
            <a:off x="8844863" y="3653168"/>
            <a:ext cx="0" cy="5468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48" name="S03-mark99"/>
          <p:cNvSpPr/>
          <p:nvPr/>
        </p:nvSpPr>
        <p:spPr>
          <a:xfrm>
            <a:off x="9072731" y="3653168"/>
            <a:ext cx="0" cy="100262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49" name="S03-mark100"/>
          <p:cNvSpPr/>
          <p:nvPr/>
        </p:nvSpPr>
        <p:spPr>
          <a:xfrm>
            <a:off x="9300599" y="3653168"/>
            <a:ext cx="0" cy="5468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50" name="S03-mark101"/>
          <p:cNvSpPr/>
          <p:nvPr/>
        </p:nvSpPr>
        <p:spPr>
          <a:xfrm>
            <a:off x="9528467" y="3653168"/>
            <a:ext cx="0" cy="100262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51" name="S03-mark102"/>
          <p:cNvSpPr/>
          <p:nvPr/>
        </p:nvSpPr>
        <p:spPr>
          <a:xfrm>
            <a:off x="9756335" y="3653168"/>
            <a:ext cx="0" cy="5468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52" name="S03-mark103"/>
          <p:cNvSpPr/>
          <p:nvPr/>
        </p:nvSpPr>
        <p:spPr>
          <a:xfrm>
            <a:off x="9984203" y="3653168"/>
            <a:ext cx="0" cy="100262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53" name="S03-mark104"/>
          <p:cNvSpPr/>
          <p:nvPr/>
        </p:nvSpPr>
        <p:spPr>
          <a:xfrm>
            <a:off x="10212071" y="3653168"/>
            <a:ext cx="0" cy="5468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54" name="S03-mark105"/>
          <p:cNvSpPr/>
          <p:nvPr/>
        </p:nvSpPr>
        <p:spPr>
          <a:xfrm>
            <a:off x="10439939" y="3653168"/>
            <a:ext cx="0" cy="100262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55" name="S03-mark106"/>
          <p:cNvSpPr/>
          <p:nvPr/>
        </p:nvSpPr>
        <p:spPr>
          <a:xfrm>
            <a:off x="10667807" y="3653168"/>
            <a:ext cx="0" cy="54688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56" name="S03-mark107"/>
          <p:cNvSpPr/>
          <p:nvPr/>
        </p:nvSpPr>
        <p:spPr>
          <a:xfrm>
            <a:off x="10895675" y="3653168"/>
            <a:ext cx="0" cy="100262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57" name="S03-label109"/>
          <p:cNvSpPr txBox="1"/>
          <p:nvPr/>
        </p:nvSpPr>
        <p:spPr>
          <a:xfrm>
            <a:off x="6555718" y="2839067"/>
            <a:ext cx="1160272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동화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35 %</a:t>
            </a:r>
            <a:endParaRPr lang="ko-KR" sz="2200" dirty="0"/>
          </a:p>
        </p:txBody>
      </p:sp>
      <p:sp>
        <p:nvSpPr>
          <p:cNvPr id="58" name="S03-label111"/>
          <p:cNvSpPr txBox="1"/>
          <p:nvPr/>
        </p:nvSpPr>
        <p:spPr>
          <a:xfrm>
            <a:off x="7922926" y="2839067"/>
            <a:ext cx="1160272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과학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25 %</a:t>
            </a:r>
            <a:endParaRPr lang="ko-KR" sz="2200" dirty="0"/>
          </a:p>
        </p:txBody>
      </p:sp>
      <p:sp>
        <p:nvSpPr>
          <p:cNvPr id="59" name="S03-label113"/>
          <p:cNvSpPr txBox="1"/>
          <p:nvPr/>
        </p:nvSpPr>
        <p:spPr>
          <a:xfrm>
            <a:off x="8948331" y="2839067"/>
            <a:ext cx="1160272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역사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20 %</a:t>
            </a:r>
            <a:endParaRPr lang="ko-KR" sz="2200" dirty="0"/>
          </a:p>
        </p:txBody>
      </p:sp>
      <p:sp>
        <p:nvSpPr>
          <p:cNvPr id="60" name="S03-label115"/>
          <p:cNvSpPr txBox="1"/>
          <p:nvPr/>
        </p:nvSpPr>
        <p:spPr>
          <a:xfrm>
            <a:off x="9859803" y="2839067"/>
            <a:ext cx="1160272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만화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20 %</a:t>
            </a:r>
            <a:endParaRPr lang="ko-KR" sz="2200" dirty="0"/>
          </a:p>
        </p:txBody>
      </p:sp>
      <p:sp>
        <p:nvSpPr>
          <p:cNvPr id="61" name="S03-label117"/>
          <p:cNvSpPr txBox="1"/>
          <p:nvPr/>
        </p:nvSpPr>
        <p:spPr>
          <a:xfrm>
            <a:off x="6191250" y="3729198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200" dirty="0"/>
          </a:p>
        </p:txBody>
      </p:sp>
      <p:sp>
        <p:nvSpPr>
          <p:cNvPr id="62" name="S03-label119"/>
          <p:cNvSpPr txBox="1"/>
          <p:nvPr/>
        </p:nvSpPr>
        <p:spPr>
          <a:xfrm>
            <a:off x="7010520" y="3729198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200" dirty="0"/>
          </a:p>
        </p:txBody>
      </p:sp>
      <p:sp>
        <p:nvSpPr>
          <p:cNvPr id="63" name="S03-label121"/>
          <p:cNvSpPr txBox="1"/>
          <p:nvPr/>
        </p:nvSpPr>
        <p:spPr>
          <a:xfrm>
            <a:off x="7921992" y="3729198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2200" dirty="0"/>
          </a:p>
        </p:txBody>
      </p:sp>
      <p:sp>
        <p:nvSpPr>
          <p:cNvPr id="64" name="S03-label123"/>
          <p:cNvSpPr txBox="1"/>
          <p:nvPr/>
        </p:nvSpPr>
        <p:spPr>
          <a:xfrm>
            <a:off x="8833463" y="3729198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</a:t>
            </a:r>
            <a:endParaRPr lang="ko-KR" sz="2200" dirty="0"/>
          </a:p>
        </p:txBody>
      </p:sp>
      <p:sp>
        <p:nvSpPr>
          <p:cNvPr id="65" name="S03-label125"/>
          <p:cNvSpPr txBox="1"/>
          <p:nvPr/>
        </p:nvSpPr>
        <p:spPr>
          <a:xfrm>
            <a:off x="9744935" y="3729198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</a:t>
            </a:r>
            <a:endParaRPr lang="ko-KR" sz="2200" dirty="0"/>
          </a:p>
        </p:txBody>
      </p:sp>
      <p:sp>
        <p:nvSpPr>
          <p:cNvPr id="66" name="S03-label127"/>
          <p:cNvSpPr txBox="1"/>
          <p:nvPr/>
        </p:nvSpPr>
        <p:spPr>
          <a:xfrm>
            <a:off x="10564205" y="3729198"/>
            <a:ext cx="6629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ko-KR" sz="2200" dirty="0"/>
          </a:p>
        </p:txBody>
      </p:sp>
      <p:sp>
        <p:nvSpPr>
          <p:cNvPr id="67" name="S03-label129"/>
          <p:cNvSpPr txBox="1"/>
          <p:nvPr/>
        </p:nvSpPr>
        <p:spPr>
          <a:xfrm>
            <a:off x="10975237" y="3729198"/>
            <a:ext cx="752348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(%)</a:t>
            </a:r>
            <a:endParaRPr lang="ko-KR" sz="2200" dirty="0"/>
          </a:p>
        </p:txBody>
      </p:sp>
      <p:sp>
        <p:nvSpPr>
          <p:cNvPr id="68" name="S03-label130"/>
          <p:cNvSpPr txBox="1"/>
          <p:nvPr/>
        </p:nvSpPr>
        <p:spPr>
          <a:xfrm>
            <a:off x="6254496" y="4743450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띠그래프: 전체의 몇 %인지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그래프마다 잘 보여 주는 것</a:t>
            </a:r>
            <a:endParaRPr lang="ko-KR" sz="4000" dirty="0"/>
          </a:p>
        </p:txBody>
      </p:sp>
      <p:sp>
        <p:nvSpPr>
          <p:cNvPr id="3" name="S04-card131"/>
          <p:cNvSpPr/>
          <p:nvPr/>
        </p:nvSpPr>
        <p:spPr>
          <a:xfrm>
            <a:off x="548640" y="1325880"/>
            <a:ext cx="3544824" cy="2331720"/>
          </a:xfrm>
          <a:prstGeom prst="roundRect">
            <a:avLst>
              <a:gd name="adj" fmla="val 470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4-cardtext132"/>
          <p:cNvSpPr txBox="1"/>
          <p:nvPr/>
        </p:nvSpPr>
        <p:spPr>
          <a:xfrm>
            <a:off x="822960" y="1463040"/>
            <a:ext cx="299618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그림그래프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장소별 많고 적음을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그림으로 한눈에</a:t>
            </a:r>
            <a:endParaRPr lang="ko-KR" sz="2800" dirty="0"/>
          </a:p>
        </p:txBody>
      </p:sp>
      <p:sp>
        <p:nvSpPr>
          <p:cNvPr id="5" name="S04-card133"/>
          <p:cNvSpPr/>
          <p:nvPr/>
        </p:nvSpPr>
        <p:spPr>
          <a:xfrm>
            <a:off x="4322064" y="1325880"/>
            <a:ext cx="3544824" cy="2331720"/>
          </a:xfrm>
          <a:prstGeom prst="roundRect">
            <a:avLst>
              <a:gd name="adj" fmla="val 470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134"/>
          <p:cNvSpPr txBox="1"/>
          <p:nvPr/>
        </p:nvSpPr>
        <p:spPr>
          <a:xfrm>
            <a:off x="4596384" y="1463040"/>
            <a:ext cx="299618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막대그래프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항목끼리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 비교</a:t>
            </a:r>
            <a:endParaRPr lang="ko-KR" sz="2800" dirty="0"/>
          </a:p>
        </p:txBody>
      </p:sp>
      <p:sp>
        <p:nvSpPr>
          <p:cNvPr id="7" name="S04-card135"/>
          <p:cNvSpPr/>
          <p:nvPr/>
        </p:nvSpPr>
        <p:spPr>
          <a:xfrm>
            <a:off x="8095488" y="1325880"/>
            <a:ext cx="3544824" cy="2331720"/>
          </a:xfrm>
          <a:prstGeom prst="roundRect">
            <a:avLst>
              <a:gd name="adj" fmla="val 470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4-cardtext136"/>
          <p:cNvSpPr txBox="1"/>
          <p:nvPr/>
        </p:nvSpPr>
        <p:spPr>
          <a:xfrm>
            <a:off x="8369808" y="1463040"/>
            <a:ext cx="299618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꺾은선그래프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시간에 따른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변화</a:t>
            </a:r>
            <a:endParaRPr lang="ko-KR" sz="2800" dirty="0"/>
          </a:p>
        </p:txBody>
      </p:sp>
      <p:sp>
        <p:nvSpPr>
          <p:cNvPr id="9" name="S04-card137"/>
          <p:cNvSpPr/>
          <p:nvPr/>
        </p:nvSpPr>
        <p:spPr>
          <a:xfrm>
            <a:off x="548640" y="3886200"/>
            <a:ext cx="3544824" cy="2331720"/>
          </a:xfrm>
          <a:prstGeom prst="roundRect">
            <a:avLst>
              <a:gd name="adj" fmla="val 470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4-cardtext138"/>
          <p:cNvSpPr txBox="1"/>
          <p:nvPr/>
        </p:nvSpPr>
        <p:spPr>
          <a:xfrm>
            <a:off x="822960" y="4023360"/>
            <a:ext cx="299618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띠그래프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전체에 대한 비율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띠를 견주기 좋아요.</a:t>
            </a:r>
            <a:endParaRPr lang="ko-KR" sz="2800" dirty="0"/>
          </a:p>
        </p:txBody>
      </p:sp>
      <p:sp>
        <p:nvSpPr>
          <p:cNvPr id="11" name="S04-card139"/>
          <p:cNvSpPr/>
          <p:nvPr/>
        </p:nvSpPr>
        <p:spPr>
          <a:xfrm>
            <a:off x="4322064" y="3886200"/>
            <a:ext cx="3544824" cy="2331720"/>
          </a:xfrm>
          <a:prstGeom prst="roundRect">
            <a:avLst>
              <a:gd name="adj" fmla="val 470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4-cardtext140"/>
          <p:cNvSpPr txBox="1"/>
          <p:nvPr/>
        </p:nvSpPr>
        <p:spPr>
          <a:xfrm>
            <a:off x="4596384" y="4023360"/>
            <a:ext cx="299618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원그래프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전체에 대한 비율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자료를 한눈에</a:t>
            </a:r>
            <a:endParaRPr lang="ko-KR" sz="2800" dirty="0"/>
          </a:p>
        </p:txBody>
      </p:sp>
      <p:sp>
        <p:nvSpPr>
          <p:cNvPr id="13" name="S04-card141"/>
          <p:cNvSpPr/>
          <p:nvPr/>
        </p:nvSpPr>
        <p:spPr>
          <a:xfrm>
            <a:off x="8095488" y="3886200"/>
            <a:ext cx="3544824" cy="2331720"/>
          </a:xfrm>
          <a:prstGeom prst="roundRect">
            <a:avLst>
              <a:gd name="adj" fmla="val 4706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4" name="S04-cardtext142"/>
          <p:cNvSpPr txBox="1"/>
          <p:nvPr/>
        </p:nvSpPr>
        <p:spPr>
          <a:xfrm>
            <a:off x="8369808" y="4023360"/>
            <a:ext cx="299618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고르는 기준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알고 싶나요?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 · 변화 · 비율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그래프가 알맞을까요?</a:t>
            </a:r>
            <a:endParaRPr lang="ko-KR" sz="4000" dirty="0"/>
          </a:p>
        </p:txBody>
      </p:sp>
      <p:sp>
        <p:nvSpPr>
          <p:cNvPr id="3" name="S05-text14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그래프와 까닭을 말해요.</a:t>
            </a:r>
            <a:endParaRPr lang="ko-KR" sz="2800" dirty="0"/>
          </a:p>
        </p:txBody>
      </p:sp>
      <p:sp>
        <p:nvSpPr>
          <p:cNvPr id="4" name="S05-card14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14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변화? 비교? 비율? 장소? 알고 싶은 것을 먼저 찾아요.</a:t>
            </a:r>
            <a:endParaRPr lang="ko-KR" sz="2800" dirty="0"/>
          </a:p>
        </p:txBody>
      </p:sp>
      <p:sp>
        <p:nvSpPr>
          <p:cNvPr id="6" name="S05-chip14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5-text147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강아지 몸무게를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1월부터 6월까지 매달</a:t>
            </a:r>
            <a:endParaRPr lang="ko-KR" sz="2800" dirty="0"/>
          </a:p>
        </p:txBody>
      </p:sp>
      <p:sp>
        <p:nvSpPr>
          <p:cNvPr id="8" name="S05-chip148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5-text149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좋아하는 과일별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수 비교</a:t>
            </a:r>
            <a:endParaRPr lang="ko-KR" sz="2800" dirty="0"/>
          </a:p>
        </p:txBody>
      </p:sp>
      <p:sp>
        <p:nvSpPr>
          <p:cNvPr id="10" name="S05-chip150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5-text151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용돈을 쓴 곳별로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전체의 몇 %인지</a:t>
            </a:r>
            <a:endParaRPr lang="ko-KR" sz="2800" dirty="0"/>
          </a:p>
        </p:txBody>
      </p:sp>
      <p:sp>
        <p:nvSpPr>
          <p:cNvPr id="12" name="S05-chip152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3" name="S05-text153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마을별 사과 생산량을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위에 그림으로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그래프가 알맞을까요?</a:t>
            </a:r>
            <a:endParaRPr lang="ko-KR" sz="4000" dirty="0"/>
          </a:p>
        </p:txBody>
      </p:sp>
      <p:sp>
        <p:nvSpPr>
          <p:cNvPr id="3" name="S06-card15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15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좋아하는 과일별 학생 수를 나타냈어요.</a:t>
            </a:r>
            <a:endParaRPr lang="ko-KR" sz="2800" dirty="0"/>
          </a:p>
        </p:txBody>
      </p:sp>
      <p:sp>
        <p:nvSpPr>
          <p:cNvPr id="5" name="S06-card15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6-cardtext15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사과와 배 사이의 선분은 무엇을 뜻할까요?</a:t>
            </a:r>
            <a:endParaRPr lang="ko-KR" sz="2800" dirty="0"/>
          </a:p>
        </p:txBody>
      </p:sp>
      <p:sp>
        <p:nvSpPr>
          <p:cNvPr id="7" name="S06-chip158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꺾은선그래프</a:t>
            </a:r>
            <a:endParaRPr lang="ko-KR" sz="2200" dirty="0"/>
          </a:p>
        </p:txBody>
      </p:sp>
      <p:sp>
        <p:nvSpPr>
          <p:cNvPr id="8" name="S06-figure159" descr="좋아하는 과일별 학생 수를 꺾은선으로 이은 그래프: 사과 6, 배 3, 귤 7, 포도 4"/>
          <p:cNvSpPr/>
          <p:nvPr/>
        </p:nvSpPr>
        <p:spPr>
          <a:xfrm>
            <a:off x="2394615" y="3811416"/>
            <a:ext cx="2100692" cy="509259"/>
          </a:xfrm>
          <a:custGeom>
            <a:avLst/>
            <a:gdLst/>
            <a:ahLst/>
            <a:cxnLst/>
            <a:rect l="l" t="t" r="r" b="b"/>
            <a:pathLst>
              <a:path w="2100692" h="509259">
                <a:moveTo>
                  <a:pt x="0" y="127315"/>
                </a:moveTo>
                <a:lnTo>
                  <a:pt x="700231" y="509259"/>
                </a:lnTo>
                <a:lnTo>
                  <a:pt x="1400462" y="0"/>
                </a:lnTo>
                <a:lnTo>
                  <a:pt x="2100692" y="381944"/>
                </a:lnTo>
              </a:path>
            </a:pathLst>
          </a:custGeom>
          <a:noFill/>
          <a:ln w="38100">
            <a:solidFill>
              <a:srgbClr val="E9762B"/>
            </a:solidFill>
            <a:prstDash val="solid"/>
          </a:ln>
        </p:spPr>
      </p:sp>
      <p:sp>
        <p:nvSpPr>
          <p:cNvPr id="9" name="S06-mark160"/>
          <p:cNvSpPr/>
          <p:nvPr/>
        </p:nvSpPr>
        <p:spPr>
          <a:xfrm flipV="1">
            <a:off x="2394615" y="3684101"/>
            <a:ext cx="0" cy="101851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6-mark161"/>
          <p:cNvSpPr/>
          <p:nvPr/>
        </p:nvSpPr>
        <p:spPr>
          <a:xfrm flipV="1">
            <a:off x="3094846" y="3684101"/>
            <a:ext cx="0" cy="101851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6-mark162"/>
          <p:cNvSpPr/>
          <p:nvPr/>
        </p:nvSpPr>
        <p:spPr>
          <a:xfrm flipV="1">
            <a:off x="3795077" y="3684101"/>
            <a:ext cx="0" cy="101851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6-mark163"/>
          <p:cNvSpPr/>
          <p:nvPr/>
        </p:nvSpPr>
        <p:spPr>
          <a:xfrm flipV="1">
            <a:off x="4495308" y="3684101"/>
            <a:ext cx="0" cy="101851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6-mark164"/>
          <p:cNvSpPr/>
          <p:nvPr/>
        </p:nvSpPr>
        <p:spPr>
          <a:xfrm>
            <a:off x="1949014" y="4575304"/>
            <a:ext cx="299189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6-mark165"/>
          <p:cNvSpPr/>
          <p:nvPr/>
        </p:nvSpPr>
        <p:spPr>
          <a:xfrm>
            <a:off x="1949014" y="4447990"/>
            <a:ext cx="299189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6-mark166"/>
          <p:cNvSpPr/>
          <p:nvPr/>
        </p:nvSpPr>
        <p:spPr>
          <a:xfrm>
            <a:off x="1949014" y="4320675"/>
            <a:ext cx="299189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6-mark167"/>
          <p:cNvSpPr/>
          <p:nvPr/>
        </p:nvSpPr>
        <p:spPr>
          <a:xfrm>
            <a:off x="1949014" y="4193360"/>
            <a:ext cx="299189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6-mark168"/>
          <p:cNvSpPr/>
          <p:nvPr/>
        </p:nvSpPr>
        <p:spPr>
          <a:xfrm>
            <a:off x="1949014" y="4066045"/>
            <a:ext cx="299189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6-mark169"/>
          <p:cNvSpPr/>
          <p:nvPr/>
        </p:nvSpPr>
        <p:spPr>
          <a:xfrm>
            <a:off x="1949014" y="3938731"/>
            <a:ext cx="299189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6-mark170"/>
          <p:cNvSpPr/>
          <p:nvPr/>
        </p:nvSpPr>
        <p:spPr>
          <a:xfrm>
            <a:off x="1949014" y="3811416"/>
            <a:ext cx="299189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6-mark171"/>
          <p:cNvSpPr/>
          <p:nvPr/>
        </p:nvSpPr>
        <p:spPr>
          <a:xfrm>
            <a:off x="1949014" y="3684101"/>
            <a:ext cx="299189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06-mark172"/>
          <p:cNvSpPr/>
          <p:nvPr/>
        </p:nvSpPr>
        <p:spPr>
          <a:xfrm>
            <a:off x="1949014" y="4702619"/>
            <a:ext cx="2991895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2" name="S06-mark173"/>
          <p:cNvSpPr/>
          <p:nvPr/>
        </p:nvSpPr>
        <p:spPr>
          <a:xfrm flipV="1">
            <a:off x="1949014" y="3556787"/>
            <a:ext cx="0" cy="1145832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3" name="S06-mark174"/>
          <p:cNvSpPr/>
          <p:nvPr/>
        </p:nvSpPr>
        <p:spPr>
          <a:xfrm>
            <a:off x="2335179" y="3879295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6-mark175"/>
          <p:cNvSpPr/>
          <p:nvPr/>
        </p:nvSpPr>
        <p:spPr>
          <a:xfrm>
            <a:off x="3035410" y="4261239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6-mark176"/>
          <p:cNvSpPr/>
          <p:nvPr/>
        </p:nvSpPr>
        <p:spPr>
          <a:xfrm>
            <a:off x="3735641" y="3751980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6-mark177"/>
          <p:cNvSpPr/>
          <p:nvPr/>
        </p:nvSpPr>
        <p:spPr>
          <a:xfrm>
            <a:off x="4435872" y="413392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06-label179"/>
          <p:cNvSpPr txBox="1"/>
          <p:nvPr/>
        </p:nvSpPr>
        <p:spPr>
          <a:xfrm>
            <a:off x="1531404" y="4527994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200" dirty="0"/>
          </a:p>
        </p:txBody>
      </p:sp>
      <p:sp>
        <p:nvSpPr>
          <p:cNvPr id="28" name="S06-label181"/>
          <p:cNvSpPr txBox="1"/>
          <p:nvPr/>
        </p:nvSpPr>
        <p:spPr>
          <a:xfrm>
            <a:off x="1531404" y="4018735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29" name="S06-label183"/>
          <p:cNvSpPr txBox="1"/>
          <p:nvPr/>
        </p:nvSpPr>
        <p:spPr>
          <a:xfrm>
            <a:off x="1531404" y="3509476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200" dirty="0"/>
          </a:p>
        </p:txBody>
      </p:sp>
      <p:sp>
        <p:nvSpPr>
          <p:cNvPr id="30" name="S06-label185"/>
          <p:cNvSpPr txBox="1"/>
          <p:nvPr/>
        </p:nvSpPr>
        <p:spPr>
          <a:xfrm>
            <a:off x="1319060" y="3191190"/>
            <a:ext cx="71882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(명)</a:t>
            </a:r>
            <a:endParaRPr lang="ko-KR" sz="2200" dirty="0"/>
          </a:p>
        </p:txBody>
      </p:sp>
      <p:sp>
        <p:nvSpPr>
          <p:cNvPr id="31" name="S06-label187"/>
          <p:cNvSpPr txBox="1"/>
          <p:nvPr/>
        </p:nvSpPr>
        <p:spPr>
          <a:xfrm>
            <a:off x="2065939" y="4734880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</a:t>
            </a:r>
            <a:endParaRPr lang="ko-KR" sz="2200" dirty="0"/>
          </a:p>
        </p:txBody>
      </p:sp>
      <p:sp>
        <p:nvSpPr>
          <p:cNvPr id="32" name="S06-label189"/>
          <p:cNvSpPr txBox="1"/>
          <p:nvPr/>
        </p:nvSpPr>
        <p:spPr>
          <a:xfrm>
            <a:off x="2903076" y="4734880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</a:t>
            </a:r>
            <a:endParaRPr lang="ko-KR" sz="2200" dirty="0"/>
          </a:p>
        </p:txBody>
      </p:sp>
      <p:sp>
        <p:nvSpPr>
          <p:cNvPr id="33" name="S06-label191"/>
          <p:cNvSpPr txBox="1"/>
          <p:nvPr/>
        </p:nvSpPr>
        <p:spPr>
          <a:xfrm>
            <a:off x="3603307" y="4734880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귤</a:t>
            </a:r>
            <a:endParaRPr lang="ko-KR" sz="2200" dirty="0"/>
          </a:p>
        </p:txBody>
      </p:sp>
      <p:sp>
        <p:nvSpPr>
          <p:cNvPr id="34" name="S06-label193"/>
          <p:cNvSpPr txBox="1"/>
          <p:nvPr/>
        </p:nvSpPr>
        <p:spPr>
          <a:xfrm>
            <a:off x="4166632" y="4734880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포도</a:t>
            </a:r>
            <a:endParaRPr lang="ko-KR" sz="2200" dirty="0"/>
          </a:p>
        </p:txBody>
      </p:sp>
      <p:sp>
        <p:nvSpPr>
          <p:cNvPr id="35" name="S06-chip194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막대그래프</a:t>
            </a:r>
            <a:endParaRPr lang="ko-KR" sz="2200" dirty="0"/>
          </a:p>
        </p:txBody>
      </p:sp>
      <p:sp>
        <p:nvSpPr>
          <p:cNvPr id="36" name="S06-figure195" descr="좋아하는 과일별 학생 수 막대그래프: 사과 6, 배 3, 귤 7, 포도 4"/>
          <p:cNvSpPr/>
          <p:nvPr/>
        </p:nvSpPr>
        <p:spPr>
          <a:xfrm>
            <a:off x="7932359" y="3938731"/>
            <a:ext cx="381944" cy="763888"/>
          </a:xfrm>
          <a:custGeom>
            <a:avLst/>
            <a:gdLst/>
            <a:ahLst/>
            <a:cxnLst/>
            <a:rect l="l" t="t" r="r" b="b"/>
            <a:pathLst>
              <a:path w="381944" h="763888">
                <a:moveTo>
                  <a:pt x="0" y="763888"/>
                </a:moveTo>
                <a:lnTo>
                  <a:pt x="381944" y="763888"/>
                </a:lnTo>
                <a:lnTo>
                  <a:pt x="381944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6-mark196"/>
          <p:cNvSpPr/>
          <p:nvPr/>
        </p:nvSpPr>
        <p:spPr>
          <a:xfrm>
            <a:off x="8632590" y="4320675"/>
            <a:ext cx="381944" cy="381944"/>
          </a:xfrm>
          <a:custGeom>
            <a:avLst/>
            <a:gdLst/>
            <a:ahLst/>
            <a:cxnLst/>
            <a:rect l="l" t="t" r="r" b="b"/>
            <a:pathLst>
              <a:path w="381944" h="381944">
                <a:moveTo>
                  <a:pt x="0" y="381944"/>
                </a:moveTo>
                <a:lnTo>
                  <a:pt x="381944" y="381944"/>
                </a:lnTo>
                <a:lnTo>
                  <a:pt x="381944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06-mark197"/>
          <p:cNvSpPr/>
          <p:nvPr/>
        </p:nvSpPr>
        <p:spPr>
          <a:xfrm>
            <a:off x="9332821" y="3811416"/>
            <a:ext cx="381944" cy="891203"/>
          </a:xfrm>
          <a:custGeom>
            <a:avLst/>
            <a:gdLst/>
            <a:ahLst/>
            <a:cxnLst/>
            <a:rect l="l" t="t" r="r" b="b"/>
            <a:pathLst>
              <a:path w="381944" h="891203">
                <a:moveTo>
                  <a:pt x="0" y="891203"/>
                </a:moveTo>
                <a:lnTo>
                  <a:pt x="381944" y="891203"/>
                </a:lnTo>
                <a:lnTo>
                  <a:pt x="381944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6-mark198"/>
          <p:cNvSpPr/>
          <p:nvPr/>
        </p:nvSpPr>
        <p:spPr>
          <a:xfrm>
            <a:off x="10033052" y="4193360"/>
            <a:ext cx="381944" cy="509259"/>
          </a:xfrm>
          <a:custGeom>
            <a:avLst/>
            <a:gdLst/>
            <a:ahLst/>
            <a:cxnLst/>
            <a:rect l="l" t="t" r="r" b="b"/>
            <a:pathLst>
              <a:path w="381944" h="509259">
                <a:moveTo>
                  <a:pt x="0" y="509259"/>
                </a:moveTo>
                <a:lnTo>
                  <a:pt x="381944" y="509259"/>
                </a:lnTo>
                <a:lnTo>
                  <a:pt x="381944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06-mark199"/>
          <p:cNvSpPr/>
          <p:nvPr/>
        </p:nvSpPr>
        <p:spPr>
          <a:xfrm>
            <a:off x="7677730" y="4575304"/>
            <a:ext cx="299189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1" name="S06-mark200"/>
          <p:cNvSpPr/>
          <p:nvPr/>
        </p:nvSpPr>
        <p:spPr>
          <a:xfrm>
            <a:off x="7677730" y="4447990"/>
            <a:ext cx="299189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2" name="S06-mark201"/>
          <p:cNvSpPr/>
          <p:nvPr/>
        </p:nvSpPr>
        <p:spPr>
          <a:xfrm>
            <a:off x="7677730" y="4320675"/>
            <a:ext cx="299189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3" name="S06-mark202"/>
          <p:cNvSpPr/>
          <p:nvPr/>
        </p:nvSpPr>
        <p:spPr>
          <a:xfrm>
            <a:off x="7677730" y="4193360"/>
            <a:ext cx="299189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4" name="S06-mark203"/>
          <p:cNvSpPr/>
          <p:nvPr/>
        </p:nvSpPr>
        <p:spPr>
          <a:xfrm>
            <a:off x="7677730" y="4066045"/>
            <a:ext cx="299189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5" name="S06-mark204"/>
          <p:cNvSpPr/>
          <p:nvPr/>
        </p:nvSpPr>
        <p:spPr>
          <a:xfrm>
            <a:off x="7677730" y="3938731"/>
            <a:ext cx="299189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6" name="S06-mark205"/>
          <p:cNvSpPr/>
          <p:nvPr/>
        </p:nvSpPr>
        <p:spPr>
          <a:xfrm>
            <a:off x="7677730" y="3811416"/>
            <a:ext cx="299189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7" name="S06-mark206"/>
          <p:cNvSpPr/>
          <p:nvPr/>
        </p:nvSpPr>
        <p:spPr>
          <a:xfrm>
            <a:off x="7677730" y="3684101"/>
            <a:ext cx="299189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8" name="S06-mark207"/>
          <p:cNvSpPr/>
          <p:nvPr/>
        </p:nvSpPr>
        <p:spPr>
          <a:xfrm>
            <a:off x="7677730" y="4702619"/>
            <a:ext cx="2991895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9" name="S06-mark208"/>
          <p:cNvSpPr/>
          <p:nvPr/>
        </p:nvSpPr>
        <p:spPr>
          <a:xfrm flipV="1">
            <a:off x="7677730" y="3556787"/>
            <a:ext cx="0" cy="1145832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50" name="S06-label210"/>
          <p:cNvSpPr txBox="1"/>
          <p:nvPr/>
        </p:nvSpPr>
        <p:spPr>
          <a:xfrm>
            <a:off x="7260120" y="4527994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200" dirty="0"/>
          </a:p>
        </p:txBody>
      </p:sp>
      <p:sp>
        <p:nvSpPr>
          <p:cNvPr id="51" name="S06-label212"/>
          <p:cNvSpPr txBox="1"/>
          <p:nvPr/>
        </p:nvSpPr>
        <p:spPr>
          <a:xfrm>
            <a:off x="7260120" y="4018735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52" name="S06-label214"/>
          <p:cNvSpPr txBox="1"/>
          <p:nvPr/>
        </p:nvSpPr>
        <p:spPr>
          <a:xfrm>
            <a:off x="7260120" y="3509476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200" dirty="0"/>
          </a:p>
        </p:txBody>
      </p:sp>
      <p:sp>
        <p:nvSpPr>
          <p:cNvPr id="53" name="S06-label216"/>
          <p:cNvSpPr txBox="1"/>
          <p:nvPr/>
        </p:nvSpPr>
        <p:spPr>
          <a:xfrm>
            <a:off x="7047776" y="3191190"/>
            <a:ext cx="71882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(명)</a:t>
            </a:r>
            <a:endParaRPr lang="ko-KR" sz="2200" dirty="0"/>
          </a:p>
        </p:txBody>
      </p:sp>
      <p:sp>
        <p:nvSpPr>
          <p:cNvPr id="54" name="S06-label218"/>
          <p:cNvSpPr txBox="1"/>
          <p:nvPr/>
        </p:nvSpPr>
        <p:spPr>
          <a:xfrm>
            <a:off x="7794655" y="4734880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</a:t>
            </a:r>
            <a:endParaRPr lang="ko-KR" sz="2200" dirty="0"/>
          </a:p>
        </p:txBody>
      </p:sp>
      <p:sp>
        <p:nvSpPr>
          <p:cNvPr id="55" name="S06-label220"/>
          <p:cNvSpPr txBox="1"/>
          <p:nvPr/>
        </p:nvSpPr>
        <p:spPr>
          <a:xfrm>
            <a:off x="8631792" y="4734880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</a:t>
            </a:r>
            <a:endParaRPr lang="ko-KR" sz="2200" dirty="0"/>
          </a:p>
        </p:txBody>
      </p:sp>
      <p:sp>
        <p:nvSpPr>
          <p:cNvPr id="56" name="S06-label222"/>
          <p:cNvSpPr txBox="1"/>
          <p:nvPr/>
        </p:nvSpPr>
        <p:spPr>
          <a:xfrm>
            <a:off x="9332023" y="4734880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귤</a:t>
            </a:r>
            <a:endParaRPr lang="ko-KR" sz="2200" dirty="0"/>
          </a:p>
        </p:txBody>
      </p:sp>
      <p:sp>
        <p:nvSpPr>
          <p:cNvPr id="57" name="S06-label224"/>
          <p:cNvSpPr txBox="1"/>
          <p:nvPr/>
        </p:nvSpPr>
        <p:spPr>
          <a:xfrm>
            <a:off x="9895348" y="4734880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포도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골라서 나타내고 해석해요</a:t>
            </a:r>
            <a:endParaRPr lang="ko-KR" sz="4000" dirty="0"/>
          </a:p>
        </p:txBody>
      </p:sp>
      <p:sp>
        <p:nvSpPr>
          <p:cNvPr id="3" name="S07-text22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도서관 책 400권의 종류별 비율이 궁금해요.</a:t>
            </a:r>
            <a:endParaRPr lang="ko-KR" sz="2800" dirty="0"/>
          </a:p>
        </p:txBody>
      </p:sp>
      <p:sp>
        <p:nvSpPr>
          <p:cNvPr id="4" name="S07-figure226" descr="원그래프 ‘도서관 책의 종류’(400권): 문학 40 %, 과학 25 %, 역사 20 %, 기타 15 %"/>
          <p:cNvSpPr/>
          <p:nvPr/>
        </p:nvSpPr>
        <p:spPr>
          <a:xfrm>
            <a:off x="9226982" y="2666615"/>
            <a:ext cx="1631758" cy="2951874"/>
          </a:xfrm>
          <a:custGeom>
            <a:avLst/>
            <a:gdLst/>
            <a:ahLst/>
            <a:cxnLst/>
            <a:rect l="l" t="t" r="r" b="b"/>
            <a:pathLst>
              <a:path w="1631758" h="2951874">
                <a:moveTo>
                  <a:pt x="0" y="1631758"/>
                </a:moveTo>
                <a:lnTo>
                  <a:pt x="0" y="0"/>
                </a:lnTo>
                <a:lnTo>
                  <a:pt x="85398" y="2236"/>
                </a:lnTo>
                <a:lnTo>
                  <a:pt x="170568" y="8942"/>
                </a:lnTo>
                <a:lnTo>
                  <a:pt x="255264" y="20087"/>
                </a:lnTo>
                <a:lnTo>
                  <a:pt x="339259" y="35654"/>
                </a:lnTo>
                <a:lnTo>
                  <a:pt x="422331" y="55602"/>
                </a:lnTo>
                <a:lnTo>
                  <a:pt x="504238" y="79866"/>
                </a:lnTo>
                <a:lnTo>
                  <a:pt x="584773" y="108381"/>
                </a:lnTo>
                <a:lnTo>
                  <a:pt x="663693" y="141074"/>
                </a:lnTo>
                <a:lnTo>
                  <a:pt x="740802" y="177853"/>
                </a:lnTo>
                <a:lnTo>
                  <a:pt x="815879" y="218615"/>
                </a:lnTo>
                <a:lnTo>
                  <a:pt x="888720" y="263251"/>
                </a:lnTo>
                <a:lnTo>
                  <a:pt x="959123" y="311641"/>
                </a:lnTo>
                <a:lnTo>
                  <a:pt x="1026898" y="363645"/>
                </a:lnTo>
                <a:lnTo>
                  <a:pt x="1091858" y="419125"/>
                </a:lnTo>
                <a:lnTo>
                  <a:pt x="1153824" y="477934"/>
                </a:lnTo>
                <a:lnTo>
                  <a:pt x="1212632" y="539900"/>
                </a:lnTo>
                <a:lnTo>
                  <a:pt x="1268112" y="604860"/>
                </a:lnTo>
                <a:lnTo>
                  <a:pt x="1320116" y="672635"/>
                </a:lnTo>
                <a:lnTo>
                  <a:pt x="1368506" y="743037"/>
                </a:lnTo>
                <a:lnTo>
                  <a:pt x="1413143" y="815879"/>
                </a:lnTo>
                <a:lnTo>
                  <a:pt x="1453904" y="890956"/>
                </a:lnTo>
                <a:lnTo>
                  <a:pt x="1490684" y="968065"/>
                </a:lnTo>
                <a:lnTo>
                  <a:pt x="1523376" y="1046985"/>
                </a:lnTo>
                <a:lnTo>
                  <a:pt x="1551891" y="1127520"/>
                </a:lnTo>
                <a:lnTo>
                  <a:pt x="1576155" y="1209426"/>
                </a:lnTo>
                <a:lnTo>
                  <a:pt x="1596104" y="1292499"/>
                </a:lnTo>
                <a:lnTo>
                  <a:pt x="1611671" y="1376494"/>
                </a:lnTo>
                <a:lnTo>
                  <a:pt x="1622816" y="1461190"/>
                </a:lnTo>
                <a:lnTo>
                  <a:pt x="1629522" y="1546360"/>
                </a:lnTo>
                <a:lnTo>
                  <a:pt x="1631758" y="1631758"/>
                </a:lnTo>
                <a:lnTo>
                  <a:pt x="1629522" y="1717156"/>
                </a:lnTo>
                <a:lnTo>
                  <a:pt x="1622816" y="1802325"/>
                </a:lnTo>
                <a:lnTo>
                  <a:pt x="1611671" y="1887022"/>
                </a:lnTo>
                <a:lnTo>
                  <a:pt x="1596104" y="1971016"/>
                </a:lnTo>
                <a:lnTo>
                  <a:pt x="1576155" y="2054089"/>
                </a:lnTo>
                <a:lnTo>
                  <a:pt x="1551891" y="2135995"/>
                </a:lnTo>
                <a:lnTo>
                  <a:pt x="1523376" y="2216531"/>
                </a:lnTo>
                <a:lnTo>
                  <a:pt x="1490684" y="2295450"/>
                </a:lnTo>
                <a:lnTo>
                  <a:pt x="1453904" y="2372559"/>
                </a:lnTo>
                <a:lnTo>
                  <a:pt x="1413143" y="2447636"/>
                </a:lnTo>
                <a:lnTo>
                  <a:pt x="1368506" y="2520478"/>
                </a:lnTo>
                <a:lnTo>
                  <a:pt x="1320116" y="2590880"/>
                </a:lnTo>
                <a:lnTo>
                  <a:pt x="1268112" y="2658655"/>
                </a:lnTo>
                <a:lnTo>
                  <a:pt x="1212632" y="2723616"/>
                </a:lnTo>
                <a:lnTo>
                  <a:pt x="1153824" y="2785582"/>
                </a:lnTo>
                <a:lnTo>
                  <a:pt x="1091858" y="2844390"/>
                </a:lnTo>
                <a:lnTo>
                  <a:pt x="1026898" y="2899870"/>
                </a:lnTo>
                <a:lnTo>
                  <a:pt x="959123" y="2951874"/>
                </a:lnTo>
                <a:close/>
              </a:path>
            </a:pathLst>
          </a:custGeom>
          <a:solidFill>
            <a:srgbClr val="FBE3D2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7-mark227"/>
          <p:cNvSpPr/>
          <p:nvPr/>
        </p:nvSpPr>
        <p:spPr>
          <a:xfrm>
            <a:off x="7906865" y="4298373"/>
            <a:ext cx="2279239" cy="1631758"/>
          </a:xfrm>
          <a:custGeom>
            <a:avLst/>
            <a:gdLst/>
            <a:ahLst/>
            <a:cxnLst/>
            <a:rect l="l" t="t" r="r" b="b"/>
            <a:pathLst>
              <a:path w="2279239" h="1631758">
                <a:moveTo>
                  <a:pt x="1320116" y="0"/>
                </a:moveTo>
                <a:lnTo>
                  <a:pt x="2279239" y="1320116"/>
                </a:lnTo>
                <a:lnTo>
                  <a:pt x="2208837" y="1368506"/>
                </a:lnTo>
                <a:lnTo>
                  <a:pt x="2135995" y="1413143"/>
                </a:lnTo>
                <a:lnTo>
                  <a:pt x="2060918" y="1453904"/>
                </a:lnTo>
                <a:lnTo>
                  <a:pt x="1983809" y="1490684"/>
                </a:lnTo>
                <a:lnTo>
                  <a:pt x="1904889" y="1523376"/>
                </a:lnTo>
                <a:lnTo>
                  <a:pt x="1824354" y="1551891"/>
                </a:lnTo>
                <a:lnTo>
                  <a:pt x="1742448" y="1576155"/>
                </a:lnTo>
                <a:lnTo>
                  <a:pt x="1659375" y="1596104"/>
                </a:lnTo>
                <a:lnTo>
                  <a:pt x="1575380" y="1611671"/>
                </a:lnTo>
                <a:lnTo>
                  <a:pt x="1490684" y="1622816"/>
                </a:lnTo>
                <a:lnTo>
                  <a:pt x="1405514" y="1629522"/>
                </a:lnTo>
                <a:lnTo>
                  <a:pt x="1320116" y="1631758"/>
                </a:lnTo>
                <a:lnTo>
                  <a:pt x="1234718" y="1629522"/>
                </a:lnTo>
                <a:lnTo>
                  <a:pt x="1149549" y="1622816"/>
                </a:lnTo>
                <a:lnTo>
                  <a:pt x="1064852" y="1611671"/>
                </a:lnTo>
                <a:lnTo>
                  <a:pt x="980858" y="1596104"/>
                </a:lnTo>
                <a:lnTo>
                  <a:pt x="897785" y="1576155"/>
                </a:lnTo>
                <a:lnTo>
                  <a:pt x="815879" y="1551891"/>
                </a:lnTo>
                <a:lnTo>
                  <a:pt x="735343" y="1523376"/>
                </a:lnTo>
                <a:lnTo>
                  <a:pt x="656423" y="1490684"/>
                </a:lnTo>
                <a:lnTo>
                  <a:pt x="579315" y="1453904"/>
                </a:lnTo>
                <a:lnTo>
                  <a:pt x="504238" y="1413143"/>
                </a:lnTo>
                <a:lnTo>
                  <a:pt x="431396" y="1368506"/>
                </a:lnTo>
                <a:lnTo>
                  <a:pt x="360994" y="1320116"/>
                </a:lnTo>
                <a:lnTo>
                  <a:pt x="293219" y="1268112"/>
                </a:lnTo>
                <a:lnTo>
                  <a:pt x="228258" y="1212632"/>
                </a:lnTo>
                <a:lnTo>
                  <a:pt x="166292" y="1153824"/>
                </a:lnTo>
                <a:lnTo>
                  <a:pt x="107484" y="1091858"/>
                </a:lnTo>
                <a:lnTo>
                  <a:pt x="52004" y="1026898"/>
                </a:lnTo>
                <a:lnTo>
                  <a:pt x="0" y="959123"/>
                </a:lnTo>
                <a:close/>
              </a:path>
            </a:pathLst>
          </a:custGeom>
          <a:solidFill>
            <a:srgbClr val="D5EFEA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7-mark228"/>
          <p:cNvSpPr/>
          <p:nvPr/>
        </p:nvSpPr>
        <p:spPr>
          <a:xfrm>
            <a:off x="7595224" y="3339250"/>
            <a:ext cx="1631758" cy="1918245"/>
          </a:xfrm>
          <a:custGeom>
            <a:avLst/>
            <a:gdLst/>
            <a:ahLst/>
            <a:cxnLst/>
            <a:rect l="l" t="t" r="r" b="b"/>
            <a:pathLst>
              <a:path w="1631758" h="1918245">
                <a:moveTo>
                  <a:pt x="1631758" y="959123"/>
                </a:moveTo>
                <a:lnTo>
                  <a:pt x="311641" y="1918245"/>
                </a:lnTo>
                <a:lnTo>
                  <a:pt x="263251" y="1847843"/>
                </a:lnTo>
                <a:lnTo>
                  <a:pt x="218615" y="1775001"/>
                </a:lnTo>
                <a:lnTo>
                  <a:pt x="177853" y="1699924"/>
                </a:lnTo>
                <a:lnTo>
                  <a:pt x="141074" y="1622816"/>
                </a:lnTo>
                <a:lnTo>
                  <a:pt x="108381" y="1543896"/>
                </a:lnTo>
                <a:lnTo>
                  <a:pt x="79866" y="1463360"/>
                </a:lnTo>
                <a:lnTo>
                  <a:pt x="55602" y="1381454"/>
                </a:lnTo>
                <a:lnTo>
                  <a:pt x="35654" y="1298381"/>
                </a:lnTo>
                <a:lnTo>
                  <a:pt x="20087" y="1214387"/>
                </a:lnTo>
                <a:lnTo>
                  <a:pt x="8942" y="1129690"/>
                </a:lnTo>
                <a:lnTo>
                  <a:pt x="2236" y="1044521"/>
                </a:lnTo>
                <a:lnTo>
                  <a:pt x="0" y="959123"/>
                </a:lnTo>
                <a:lnTo>
                  <a:pt x="2236" y="873725"/>
                </a:lnTo>
                <a:lnTo>
                  <a:pt x="8942" y="788555"/>
                </a:lnTo>
                <a:lnTo>
                  <a:pt x="20087" y="703859"/>
                </a:lnTo>
                <a:lnTo>
                  <a:pt x="35654" y="619864"/>
                </a:lnTo>
                <a:lnTo>
                  <a:pt x="55602" y="536791"/>
                </a:lnTo>
                <a:lnTo>
                  <a:pt x="79866" y="454885"/>
                </a:lnTo>
                <a:lnTo>
                  <a:pt x="108381" y="374350"/>
                </a:lnTo>
                <a:lnTo>
                  <a:pt x="141074" y="295430"/>
                </a:lnTo>
                <a:lnTo>
                  <a:pt x="177853" y="218321"/>
                </a:lnTo>
                <a:lnTo>
                  <a:pt x="218615" y="143244"/>
                </a:lnTo>
                <a:lnTo>
                  <a:pt x="263251" y="70402"/>
                </a:lnTo>
                <a:lnTo>
                  <a:pt x="311641" y="0"/>
                </a:lnTo>
                <a:close/>
              </a:path>
            </a:pathLst>
          </a:custGeom>
          <a:solidFill>
            <a:srgbClr val="FCEFC7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7-mark229"/>
          <p:cNvSpPr/>
          <p:nvPr/>
        </p:nvSpPr>
        <p:spPr>
          <a:xfrm>
            <a:off x="7906865" y="2666615"/>
            <a:ext cx="1320116" cy="1631758"/>
          </a:xfrm>
          <a:custGeom>
            <a:avLst/>
            <a:gdLst/>
            <a:ahLst/>
            <a:cxnLst/>
            <a:rect l="l" t="t" r="r" b="b"/>
            <a:pathLst>
              <a:path w="1320116" h="1631758">
                <a:moveTo>
                  <a:pt x="1320116" y="1631758"/>
                </a:moveTo>
                <a:lnTo>
                  <a:pt x="0" y="672635"/>
                </a:lnTo>
                <a:lnTo>
                  <a:pt x="52004" y="604860"/>
                </a:lnTo>
                <a:lnTo>
                  <a:pt x="107484" y="539900"/>
                </a:lnTo>
                <a:lnTo>
                  <a:pt x="166292" y="477934"/>
                </a:lnTo>
                <a:lnTo>
                  <a:pt x="228258" y="419125"/>
                </a:lnTo>
                <a:lnTo>
                  <a:pt x="293219" y="363645"/>
                </a:lnTo>
                <a:lnTo>
                  <a:pt x="360994" y="311641"/>
                </a:lnTo>
                <a:lnTo>
                  <a:pt x="431396" y="263251"/>
                </a:lnTo>
                <a:lnTo>
                  <a:pt x="504238" y="218615"/>
                </a:lnTo>
                <a:lnTo>
                  <a:pt x="579315" y="177853"/>
                </a:lnTo>
                <a:lnTo>
                  <a:pt x="656423" y="141074"/>
                </a:lnTo>
                <a:lnTo>
                  <a:pt x="735343" y="108381"/>
                </a:lnTo>
                <a:lnTo>
                  <a:pt x="815879" y="79866"/>
                </a:lnTo>
                <a:lnTo>
                  <a:pt x="897785" y="55602"/>
                </a:lnTo>
                <a:lnTo>
                  <a:pt x="980858" y="35654"/>
                </a:lnTo>
                <a:lnTo>
                  <a:pt x="1064852" y="20087"/>
                </a:lnTo>
                <a:lnTo>
                  <a:pt x="1149549" y="8942"/>
                </a:lnTo>
                <a:lnTo>
                  <a:pt x="1234718" y="2236"/>
                </a:lnTo>
                <a:lnTo>
                  <a:pt x="1320116" y="0"/>
                </a:lnTo>
                <a:close/>
              </a:path>
            </a:pathLst>
          </a:custGeom>
          <a:solidFill>
            <a:srgbClr val="DCE4E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7-mark230"/>
          <p:cNvSpPr/>
          <p:nvPr/>
        </p:nvSpPr>
        <p:spPr>
          <a:xfrm flipV="1">
            <a:off x="9226982" y="2487122"/>
            <a:ext cx="0" cy="179493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9" name="S07-mark231"/>
          <p:cNvSpPr/>
          <p:nvPr/>
        </p:nvSpPr>
        <p:spPr>
          <a:xfrm flipV="1">
            <a:off x="9731219" y="2653365"/>
            <a:ext cx="30261" cy="9311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0" name="S07-mark232"/>
          <p:cNvSpPr/>
          <p:nvPr/>
        </p:nvSpPr>
        <p:spPr>
          <a:xfrm flipV="1">
            <a:off x="10186104" y="2899043"/>
            <a:ext cx="57544" cy="7921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1" name="S07-mark233"/>
          <p:cNvSpPr/>
          <p:nvPr/>
        </p:nvSpPr>
        <p:spPr>
          <a:xfrm flipV="1">
            <a:off x="10547098" y="3281706"/>
            <a:ext cx="79214" cy="5754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2" name="S07-mark234"/>
          <p:cNvSpPr/>
          <p:nvPr/>
        </p:nvSpPr>
        <p:spPr>
          <a:xfrm flipV="1">
            <a:off x="10778873" y="3763874"/>
            <a:ext cx="93116" cy="30261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3" name="S07-mark235"/>
          <p:cNvSpPr/>
          <p:nvPr/>
        </p:nvSpPr>
        <p:spPr>
          <a:xfrm>
            <a:off x="10858739" y="4298373"/>
            <a:ext cx="179493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4" name="S07-mark236"/>
          <p:cNvSpPr/>
          <p:nvPr/>
        </p:nvSpPr>
        <p:spPr>
          <a:xfrm>
            <a:off x="10778873" y="4802610"/>
            <a:ext cx="93116" cy="30261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5" name="S07-mark237"/>
          <p:cNvSpPr/>
          <p:nvPr/>
        </p:nvSpPr>
        <p:spPr>
          <a:xfrm>
            <a:off x="10547098" y="5257495"/>
            <a:ext cx="79214" cy="5754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6" name="S07-mark238"/>
          <p:cNvSpPr/>
          <p:nvPr/>
        </p:nvSpPr>
        <p:spPr>
          <a:xfrm>
            <a:off x="10186104" y="5618489"/>
            <a:ext cx="57544" cy="7921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7" name="S07-mark239"/>
          <p:cNvSpPr/>
          <p:nvPr/>
        </p:nvSpPr>
        <p:spPr>
          <a:xfrm>
            <a:off x="9731219" y="5850264"/>
            <a:ext cx="30261" cy="9311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8" name="S07-mark240"/>
          <p:cNvSpPr/>
          <p:nvPr/>
        </p:nvSpPr>
        <p:spPr>
          <a:xfrm>
            <a:off x="9226982" y="5930130"/>
            <a:ext cx="0" cy="179493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9" name="S07-mark241"/>
          <p:cNvSpPr/>
          <p:nvPr/>
        </p:nvSpPr>
        <p:spPr>
          <a:xfrm flipH="1">
            <a:off x="8692483" y="5850264"/>
            <a:ext cx="30261" cy="9311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0" name="S07-mark242"/>
          <p:cNvSpPr/>
          <p:nvPr/>
        </p:nvSpPr>
        <p:spPr>
          <a:xfrm flipH="1">
            <a:off x="8210315" y="5618489"/>
            <a:ext cx="57544" cy="7921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1" name="S07-mark243"/>
          <p:cNvSpPr/>
          <p:nvPr/>
        </p:nvSpPr>
        <p:spPr>
          <a:xfrm flipH="1">
            <a:off x="7827652" y="5257495"/>
            <a:ext cx="79214" cy="5754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2" name="S07-mark244"/>
          <p:cNvSpPr/>
          <p:nvPr/>
        </p:nvSpPr>
        <p:spPr>
          <a:xfrm flipH="1">
            <a:off x="7581974" y="4802610"/>
            <a:ext cx="93116" cy="30261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3" name="S07-mark245"/>
          <p:cNvSpPr/>
          <p:nvPr/>
        </p:nvSpPr>
        <p:spPr>
          <a:xfrm flipH="1">
            <a:off x="7415731" y="4298373"/>
            <a:ext cx="179493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4" name="S07-mark246"/>
          <p:cNvSpPr/>
          <p:nvPr/>
        </p:nvSpPr>
        <p:spPr>
          <a:xfrm flipH="1" flipV="1">
            <a:off x="7581974" y="3763874"/>
            <a:ext cx="93116" cy="30261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5" name="S07-mark247"/>
          <p:cNvSpPr/>
          <p:nvPr/>
        </p:nvSpPr>
        <p:spPr>
          <a:xfrm flipH="1" flipV="1">
            <a:off x="7827652" y="3281706"/>
            <a:ext cx="79214" cy="5754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6" name="S07-mark248"/>
          <p:cNvSpPr/>
          <p:nvPr/>
        </p:nvSpPr>
        <p:spPr>
          <a:xfrm flipH="1" flipV="1">
            <a:off x="8210315" y="2899043"/>
            <a:ext cx="57544" cy="7921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7" name="S07-mark249"/>
          <p:cNvSpPr/>
          <p:nvPr/>
        </p:nvSpPr>
        <p:spPr>
          <a:xfrm flipH="1" flipV="1">
            <a:off x="8692483" y="2653365"/>
            <a:ext cx="30261" cy="9311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8" name="S07-label251"/>
          <p:cNvSpPr txBox="1"/>
          <p:nvPr/>
        </p:nvSpPr>
        <p:spPr>
          <a:xfrm>
            <a:off x="9616763" y="3633949"/>
            <a:ext cx="1160272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문학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40 %</a:t>
            </a:r>
            <a:endParaRPr lang="ko-KR" sz="2200" dirty="0"/>
          </a:p>
        </p:txBody>
      </p:sp>
      <p:sp>
        <p:nvSpPr>
          <p:cNvPr id="29" name="S07-label253"/>
          <p:cNvSpPr txBox="1"/>
          <p:nvPr/>
        </p:nvSpPr>
        <p:spPr>
          <a:xfrm>
            <a:off x="8487341" y="4956407"/>
            <a:ext cx="1160272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과학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25 %</a:t>
            </a:r>
            <a:endParaRPr lang="ko-KR" sz="2200" dirty="0"/>
          </a:p>
        </p:txBody>
      </p:sp>
      <p:sp>
        <p:nvSpPr>
          <p:cNvPr id="30" name="S07-label255"/>
          <p:cNvSpPr txBox="1"/>
          <p:nvPr/>
        </p:nvSpPr>
        <p:spPr>
          <a:xfrm>
            <a:off x="7626997" y="3949123"/>
            <a:ext cx="1160272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역사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20 %</a:t>
            </a:r>
            <a:endParaRPr lang="ko-KR" sz="2200" dirty="0"/>
          </a:p>
        </p:txBody>
      </p:sp>
      <p:sp>
        <p:nvSpPr>
          <p:cNvPr id="31" name="S07-label257"/>
          <p:cNvSpPr txBox="1"/>
          <p:nvPr/>
        </p:nvSpPr>
        <p:spPr>
          <a:xfrm>
            <a:off x="8113506" y="2902350"/>
            <a:ext cx="1160272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   기타  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15 %</a:t>
            </a:r>
            <a:endParaRPr lang="ko-KR" sz="2200" dirty="0"/>
          </a:p>
        </p:txBody>
      </p:sp>
      <p:sp>
        <p:nvSpPr>
          <p:cNvPr id="32" name="S07-label259"/>
          <p:cNvSpPr txBox="1"/>
          <p:nvPr/>
        </p:nvSpPr>
        <p:spPr>
          <a:xfrm>
            <a:off x="8129956" y="1920875"/>
            <a:ext cx="21940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도서관 책의 종류</a:t>
            </a:r>
            <a:endParaRPr lang="ko-KR" sz="2200" dirty="0"/>
          </a:p>
        </p:txBody>
      </p:sp>
      <p:sp>
        <p:nvSpPr>
          <p:cNvPr id="33" name="S07-stepno260"/>
          <p:cNvSpPr txBox="1"/>
          <p:nvPr/>
        </p:nvSpPr>
        <p:spPr>
          <a:xfrm>
            <a:off x="548640" y="21783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34" name="S07-text261"/>
          <p:cNvSpPr txBox="1"/>
          <p:nvPr/>
        </p:nvSpPr>
        <p:spPr>
          <a:xfrm>
            <a:off x="1325880" y="2132584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알고 싶은 것: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전체에 대한 비율</a:t>
            </a:r>
            <a:endParaRPr lang="ko-KR" sz="2800" dirty="0"/>
          </a:p>
        </p:txBody>
      </p:sp>
      <p:sp>
        <p:nvSpPr>
          <p:cNvPr id="35" name="S07-stepno262"/>
          <p:cNvSpPr txBox="1"/>
          <p:nvPr/>
        </p:nvSpPr>
        <p:spPr>
          <a:xfrm>
            <a:off x="548640" y="32105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36" name="S07-text263"/>
          <p:cNvSpPr txBox="1"/>
          <p:nvPr/>
        </p:nvSpPr>
        <p:spPr>
          <a:xfrm>
            <a:off x="1325880" y="3164840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그래프: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원그래프</a:t>
            </a:r>
            <a:endParaRPr lang="ko-KR" sz="2800" dirty="0"/>
          </a:p>
        </p:txBody>
      </p:sp>
      <p:sp>
        <p:nvSpPr>
          <p:cNvPr id="37" name="S07-stepno264"/>
          <p:cNvSpPr txBox="1"/>
          <p:nvPr/>
        </p:nvSpPr>
        <p:spPr>
          <a:xfrm>
            <a:off x="548640" y="42428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38" name="S07-text265"/>
          <p:cNvSpPr txBox="1"/>
          <p:nvPr/>
        </p:nvSpPr>
        <p:spPr>
          <a:xfrm>
            <a:off x="1325880" y="4197096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백분율을 구해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나타내요.</a:t>
            </a:r>
            <a:endParaRPr lang="ko-KR" sz="2800" dirty="0"/>
          </a:p>
        </p:txBody>
      </p:sp>
      <p:sp>
        <p:nvSpPr>
          <p:cNvPr id="39" name="S07-stepno266"/>
          <p:cNvSpPr txBox="1"/>
          <p:nvPr/>
        </p:nvSpPr>
        <p:spPr>
          <a:xfrm>
            <a:off x="548640" y="52750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40" name="S07-text267"/>
          <p:cNvSpPr txBox="1"/>
          <p:nvPr/>
        </p:nvSpPr>
        <p:spPr>
          <a:xfrm>
            <a:off x="1325880" y="5229352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해석: 문학책이 40 %로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많아요.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그래프를 해석해요</a:t>
            </a:r>
            <a:endParaRPr lang="ko-KR" sz="4000" dirty="0"/>
          </a:p>
        </p:txBody>
      </p:sp>
      <p:sp>
        <p:nvSpPr>
          <p:cNvPr id="3" name="S08-text26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월별 도서관 이용자 수예요.</a:t>
            </a:r>
            <a:endParaRPr lang="ko-KR" sz="2800" dirty="0"/>
          </a:p>
        </p:txBody>
      </p:sp>
      <p:sp>
        <p:nvSpPr>
          <p:cNvPr id="4" name="S08-figure269" descr="꺾은선그래프 ‘월별 도서관 이용자 수’(세로 눈금 한 칸 20명, 물결선 위 100부터): 3월 120, 4월 140, 5월 120, 6월 180, 7월 200"/>
          <p:cNvSpPr/>
          <p:nvPr/>
        </p:nvSpPr>
        <p:spPr>
          <a:xfrm>
            <a:off x="6783410" y="4913373"/>
            <a:ext cx="220296" cy="367160"/>
          </a:xfrm>
          <a:custGeom>
            <a:avLst/>
            <a:gdLst/>
            <a:ahLst/>
            <a:cxnLst/>
            <a:rect l="l" t="t" r="r" b="b"/>
            <a:pathLst>
              <a:path w="220296" h="367160">
                <a:moveTo>
                  <a:pt x="110148" y="367160"/>
                </a:moveTo>
                <a:lnTo>
                  <a:pt x="110148" y="312086"/>
                </a:lnTo>
                <a:lnTo>
                  <a:pt x="0" y="249669"/>
                </a:lnTo>
                <a:lnTo>
                  <a:pt x="220296" y="183580"/>
                </a:lnTo>
                <a:lnTo>
                  <a:pt x="0" y="117491"/>
                </a:lnTo>
                <a:lnTo>
                  <a:pt x="110148" y="55074"/>
                </a:lnTo>
                <a:lnTo>
                  <a:pt x="110148" y="0"/>
                </a:lnTo>
              </a:path>
            </a:pathLst>
          </a:cu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" name="S08-mark270"/>
          <p:cNvSpPr/>
          <p:nvPr/>
        </p:nvSpPr>
        <p:spPr>
          <a:xfrm>
            <a:off x="7444298" y="3077573"/>
            <a:ext cx="3524737" cy="1468641"/>
          </a:xfrm>
          <a:custGeom>
            <a:avLst/>
            <a:gdLst/>
            <a:ahLst/>
            <a:cxnLst/>
            <a:rect l="l" t="t" r="r" b="b"/>
            <a:pathLst>
              <a:path w="3524737" h="1468641">
                <a:moveTo>
                  <a:pt x="0" y="1468641"/>
                </a:moveTo>
                <a:lnTo>
                  <a:pt x="881184" y="1101480"/>
                </a:lnTo>
                <a:lnTo>
                  <a:pt x="1762369" y="1468641"/>
                </a:lnTo>
                <a:lnTo>
                  <a:pt x="2643553" y="367160"/>
                </a:lnTo>
                <a:lnTo>
                  <a:pt x="3524737" y="0"/>
                </a:lnTo>
              </a:path>
            </a:pathLst>
          </a:custGeom>
          <a:noFill/>
          <a:ln w="38100">
            <a:solidFill>
              <a:srgbClr val="E9762B"/>
            </a:solidFill>
            <a:prstDash val="solid"/>
          </a:ln>
        </p:spPr>
      </p:sp>
      <p:sp>
        <p:nvSpPr>
          <p:cNvPr id="6" name="S08-mark271"/>
          <p:cNvSpPr/>
          <p:nvPr/>
        </p:nvSpPr>
        <p:spPr>
          <a:xfrm flipV="1">
            <a:off x="7444298" y="3077573"/>
            <a:ext cx="0" cy="2202961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8-mark272"/>
          <p:cNvSpPr/>
          <p:nvPr/>
        </p:nvSpPr>
        <p:spPr>
          <a:xfrm flipV="1">
            <a:off x="8325483" y="3077573"/>
            <a:ext cx="0" cy="2202961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8-mark273"/>
          <p:cNvSpPr/>
          <p:nvPr/>
        </p:nvSpPr>
        <p:spPr>
          <a:xfrm flipV="1">
            <a:off x="9206667" y="3077573"/>
            <a:ext cx="0" cy="2202961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8-mark274"/>
          <p:cNvSpPr/>
          <p:nvPr/>
        </p:nvSpPr>
        <p:spPr>
          <a:xfrm flipV="1">
            <a:off x="10087851" y="3077573"/>
            <a:ext cx="0" cy="2202961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8-mark275"/>
          <p:cNvSpPr/>
          <p:nvPr/>
        </p:nvSpPr>
        <p:spPr>
          <a:xfrm flipV="1">
            <a:off x="10969036" y="3077573"/>
            <a:ext cx="0" cy="2202961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8-mark276"/>
          <p:cNvSpPr/>
          <p:nvPr/>
        </p:nvSpPr>
        <p:spPr>
          <a:xfrm>
            <a:off x="6893558" y="4913373"/>
            <a:ext cx="462621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8-mark277"/>
          <p:cNvSpPr/>
          <p:nvPr/>
        </p:nvSpPr>
        <p:spPr>
          <a:xfrm>
            <a:off x="6893558" y="4546213"/>
            <a:ext cx="462621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8-mark278"/>
          <p:cNvSpPr/>
          <p:nvPr/>
        </p:nvSpPr>
        <p:spPr>
          <a:xfrm>
            <a:off x="6893558" y="4179053"/>
            <a:ext cx="462621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8-mark279"/>
          <p:cNvSpPr/>
          <p:nvPr/>
        </p:nvSpPr>
        <p:spPr>
          <a:xfrm>
            <a:off x="6893558" y="3811893"/>
            <a:ext cx="462621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8-mark280"/>
          <p:cNvSpPr/>
          <p:nvPr/>
        </p:nvSpPr>
        <p:spPr>
          <a:xfrm>
            <a:off x="6893558" y="3444733"/>
            <a:ext cx="462621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8-mark281"/>
          <p:cNvSpPr/>
          <p:nvPr/>
        </p:nvSpPr>
        <p:spPr>
          <a:xfrm>
            <a:off x="6893558" y="3077573"/>
            <a:ext cx="462621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8-mark282"/>
          <p:cNvSpPr/>
          <p:nvPr/>
        </p:nvSpPr>
        <p:spPr>
          <a:xfrm>
            <a:off x="6893558" y="5280533"/>
            <a:ext cx="4626218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8" name="S08-mark283"/>
          <p:cNvSpPr/>
          <p:nvPr/>
        </p:nvSpPr>
        <p:spPr>
          <a:xfrm flipV="1">
            <a:off x="6893558" y="2930709"/>
            <a:ext cx="0" cy="198266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9" name="S08-mark284"/>
          <p:cNvSpPr/>
          <p:nvPr/>
        </p:nvSpPr>
        <p:spPr>
          <a:xfrm>
            <a:off x="7384862" y="4486777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8-mark285"/>
          <p:cNvSpPr/>
          <p:nvPr/>
        </p:nvSpPr>
        <p:spPr>
          <a:xfrm>
            <a:off x="8266047" y="4119617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8-mark286"/>
          <p:cNvSpPr/>
          <p:nvPr/>
        </p:nvSpPr>
        <p:spPr>
          <a:xfrm>
            <a:off x="9147231" y="4486777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8-mark287"/>
          <p:cNvSpPr/>
          <p:nvPr/>
        </p:nvSpPr>
        <p:spPr>
          <a:xfrm>
            <a:off x="10028415" y="3385297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08-mark288"/>
          <p:cNvSpPr/>
          <p:nvPr/>
        </p:nvSpPr>
        <p:spPr>
          <a:xfrm>
            <a:off x="10909600" y="3018137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8-label290"/>
          <p:cNvSpPr txBox="1"/>
          <p:nvPr/>
        </p:nvSpPr>
        <p:spPr>
          <a:xfrm>
            <a:off x="6434406" y="5105908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200" dirty="0"/>
          </a:p>
        </p:txBody>
      </p:sp>
      <p:sp>
        <p:nvSpPr>
          <p:cNvPr id="25" name="S08-label292"/>
          <p:cNvSpPr txBox="1"/>
          <p:nvPr/>
        </p:nvSpPr>
        <p:spPr>
          <a:xfrm>
            <a:off x="6250002" y="4738748"/>
            <a:ext cx="6629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ko-KR" sz="2200" dirty="0"/>
          </a:p>
        </p:txBody>
      </p:sp>
      <p:sp>
        <p:nvSpPr>
          <p:cNvPr id="26" name="S08-label294"/>
          <p:cNvSpPr txBox="1"/>
          <p:nvPr/>
        </p:nvSpPr>
        <p:spPr>
          <a:xfrm>
            <a:off x="6250002" y="4371588"/>
            <a:ext cx="6629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</a:t>
            </a:r>
            <a:endParaRPr lang="ko-KR" sz="2200" dirty="0"/>
          </a:p>
        </p:txBody>
      </p:sp>
      <p:sp>
        <p:nvSpPr>
          <p:cNvPr id="27" name="S08-label296"/>
          <p:cNvSpPr txBox="1"/>
          <p:nvPr/>
        </p:nvSpPr>
        <p:spPr>
          <a:xfrm>
            <a:off x="6250002" y="4004428"/>
            <a:ext cx="6629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140</a:t>
            </a:r>
            <a:endParaRPr lang="ko-KR" sz="2200" dirty="0"/>
          </a:p>
        </p:txBody>
      </p:sp>
      <p:sp>
        <p:nvSpPr>
          <p:cNvPr id="28" name="S08-label298"/>
          <p:cNvSpPr txBox="1"/>
          <p:nvPr/>
        </p:nvSpPr>
        <p:spPr>
          <a:xfrm>
            <a:off x="6250002" y="3637268"/>
            <a:ext cx="6629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160</a:t>
            </a:r>
            <a:endParaRPr lang="ko-KR" sz="2200" dirty="0"/>
          </a:p>
        </p:txBody>
      </p:sp>
      <p:sp>
        <p:nvSpPr>
          <p:cNvPr id="29" name="S08-label300"/>
          <p:cNvSpPr txBox="1"/>
          <p:nvPr/>
        </p:nvSpPr>
        <p:spPr>
          <a:xfrm>
            <a:off x="6250002" y="3270108"/>
            <a:ext cx="6629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180</a:t>
            </a:r>
            <a:endParaRPr lang="ko-KR" sz="2200" dirty="0"/>
          </a:p>
        </p:txBody>
      </p:sp>
      <p:sp>
        <p:nvSpPr>
          <p:cNvPr id="30" name="S08-label302"/>
          <p:cNvSpPr txBox="1"/>
          <p:nvPr/>
        </p:nvSpPr>
        <p:spPr>
          <a:xfrm>
            <a:off x="6250002" y="2902948"/>
            <a:ext cx="6629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</a:t>
            </a:r>
            <a:endParaRPr lang="ko-KR" sz="2200" dirty="0"/>
          </a:p>
        </p:txBody>
      </p:sp>
      <p:sp>
        <p:nvSpPr>
          <p:cNvPr id="31" name="S08-label304"/>
          <p:cNvSpPr txBox="1"/>
          <p:nvPr/>
        </p:nvSpPr>
        <p:spPr>
          <a:xfrm>
            <a:off x="6222062" y="2535787"/>
            <a:ext cx="71882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(명)</a:t>
            </a:r>
            <a:endParaRPr lang="ko-KR" sz="2200" dirty="0"/>
          </a:p>
        </p:txBody>
      </p:sp>
      <p:sp>
        <p:nvSpPr>
          <p:cNvPr id="32" name="S08-label306"/>
          <p:cNvSpPr txBox="1"/>
          <p:nvPr/>
        </p:nvSpPr>
        <p:spPr>
          <a:xfrm>
            <a:off x="7160326" y="5344563"/>
            <a:ext cx="56794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3월</a:t>
            </a:r>
            <a:endParaRPr lang="ko-KR" sz="2200" dirty="0"/>
          </a:p>
        </p:txBody>
      </p:sp>
      <p:sp>
        <p:nvSpPr>
          <p:cNvPr id="33" name="S08-label308"/>
          <p:cNvSpPr txBox="1"/>
          <p:nvPr/>
        </p:nvSpPr>
        <p:spPr>
          <a:xfrm>
            <a:off x="8041511" y="5344563"/>
            <a:ext cx="56794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4월</a:t>
            </a:r>
            <a:endParaRPr lang="ko-KR" sz="2200" dirty="0"/>
          </a:p>
        </p:txBody>
      </p:sp>
      <p:sp>
        <p:nvSpPr>
          <p:cNvPr id="34" name="S08-label310"/>
          <p:cNvSpPr txBox="1"/>
          <p:nvPr/>
        </p:nvSpPr>
        <p:spPr>
          <a:xfrm>
            <a:off x="8922695" y="5344563"/>
            <a:ext cx="56794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5월</a:t>
            </a:r>
            <a:endParaRPr lang="ko-KR" sz="2200" dirty="0"/>
          </a:p>
        </p:txBody>
      </p:sp>
      <p:sp>
        <p:nvSpPr>
          <p:cNvPr id="35" name="S08-label312"/>
          <p:cNvSpPr txBox="1"/>
          <p:nvPr/>
        </p:nvSpPr>
        <p:spPr>
          <a:xfrm>
            <a:off x="9803879" y="5344563"/>
            <a:ext cx="56794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6월</a:t>
            </a:r>
            <a:endParaRPr lang="ko-KR" sz="2200" dirty="0"/>
          </a:p>
        </p:txBody>
      </p:sp>
      <p:sp>
        <p:nvSpPr>
          <p:cNvPr id="36" name="S08-label314"/>
          <p:cNvSpPr txBox="1"/>
          <p:nvPr/>
        </p:nvSpPr>
        <p:spPr>
          <a:xfrm>
            <a:off x="10685064" y="5344563"/>
            <a:ext cx="56794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7월</a:t>
            </a:r>
            <a:endParaRPr lang="ko-KR" sz="2200" dirty="0"/>
          </a:p>
        </p:txBody>
      </p:sp>
      <p:sp>
        <p:nvSpPr>
          <p:cNvPr id="37" name="S08-chip315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38" name="S08-text316"/>
          <p:cNvSpPr txBox="1"/>
          <p:nvPr/>
        </p:nvSpPr>
        <p:spPr>
          <a:xfrm>
            <a:off x="1344168" y="201168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많이 늘어난 때는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언제와 언제 사이?</a:t>
            </a:r>
            <a:endParaRPr lang="ko-KR" sz="2800" dirty="0"/>
          </a:p>
        </p:txBody>
      </p:sp>
      <p:sp>
        <p:nvSpPr>
          <p:cNvPr id="39" name="S08-chip317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40" name="S08-text318"/>
          <p:cNvSpPr txBox="1"/>
          <p:nvPr/>
        </p:nvSpPr>
        <p:spPr>
          <a:xfrm>
            <a:off x="1344168" y="347472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7월은 3월보다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명 많을까요?</a:t>
            </a:r>
            <a:endParaRPr lang="ko-KR" sz="2800" dirty="0"/>
          </a:p>
        </p:txBody>
      </p:sp>
      <p:sp>
        <p:nvSpPr>
          <p:cNvPr id="41" name="S08-chip319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42" name="S08-text320"/>
          <p:cNvSpPr txBox="1"/>
          <p:nvPr/>
        </p:nvSpPr>
        <p:spPr>
          <a:xfrm>
            <a:off x="1344168" y="493776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자료를 원그래프로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그리면 알맞을까요?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09-text32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그래프와 까닭을 말해요.</a:t>
            </a:r>
            <a:endParaRPr lang="ko-KR" sz="2800" dirty="0"/>
          </a:p>
        </p:txBody>
      </p:sp>
      <p:sp>
        <p:nvSpPr>
          <p:cNvPr id="4" name="S09-chip322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9-text323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도시 인구를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10년 동안 해마다</a:t>
            </a:r>
            <a:endParaRPr lang="ko-KR" sz="2800" dirty="0"/>
          </a:p>
        </p:txBody>
      </p:sp>
      <p:sp>
        <p:nvSpPr>
          <p:cNvPr id="6" name="S09-chip324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09-text325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학년별 안경 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수 비교</a:t>
            </a:r>
            <a:endParaRPr lang="ko-KR" sz="2800" dirty="0"/>
          </a:p>
        </p:txBody>
      </p:sp>
      <p:sp>
        <p:nvSpPr>
          <p:cNvPr id="8" name="S09-chip326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09-text327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텃밭 넓이를 채소별로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나눈 비율</a:t>
            </a:r>
            <a:endParaRPr lang="ko-KR" sz="2800" dirty="0"/>
          </a:p>
        </p:txBody>
      </p:sp>
      <p:sp>
        <p:nvSpPr>
          <p:cNvPr id="10" name="S09-chip328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1" name="S09-text329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해의 장래 희망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비율을 견주기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0-card330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331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까닭에 변화·비교·비율 중 알맞은 기준이 들어 있는지 확인하세요.</a:t>
            </a:r>
            <a:endParaRPr lang="ko-KR" sz="2800" dirty="0"/>
          </a:p>
        </p:txBody>
      </p:sp>
      <p:sp>
        <p:nvSpPr>
          <p:cNvPr id="5" name="S10-chip332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0-text333"/>
          <p:cNvSpPr txBox="1"/>
          <p:nvPr/>
        </p:nvSpPr>
        <p:spPr>
          <a:xfrm>
            <a:off x="548640" y="2057400"/>
            <a:ext cx="268147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꺾은선그래프</a:t>
            </a:r>
            <a:endParaRPr lang="ko-KR" sz="2800" dirty="0"/>
          </a:p>
        </p:txBody>
      </p:sp>
      <p:sp>
        <p:nvSpPr>
          <p:cNvPr id="7" name="S10-text334"/>
          <p:cNvSpPr txBox="1"/>
          <p:nvPr/>
        </p:nvSpPr>
        <p:spPr>
          <a:xfrm>
            <a:off x="3367278" y="2057400"/>
            <a:ext cx="254431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변화</a:t>
            </a:r>
            <a:endParaRPr lang="ko-KR" sz="2200" dirty="0"/>
          </a:p>
        </p:txBody>
      </p:sp>
      <p:sp>
        <p:nvSpPr>
          <p:cNvPr id="8" name="S10-text335"/>
          <p:cNvSpPr txBox="1"/>
          <p:nvPr/>
        </p:nvSpPr>
        <p:spPr>
          <a:xfrm>
            <a:off x="548640" y="2775458"/>
            <a:ext cx="268147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막대그래프</a:t>
            </a:r>
            <a:endParaRPr lang="ko-KR" sz="2800" dirty="0"/>
          </a:p>
        </p:txBody>
      </p:sp>
      <p:sp>
        <p:nvSpPr>
          <p:cNvPr id="9" name="S10-text336"/>
          <p:cNvSpPr txBox="1"/>
          <p:nvPr/>
        </p:nvSpPr>
        <p:spPr>
          <a:xfrm>
            <a:off x="3367278" y="2775458"/>
            <a:ext cx="254431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</a:t>
            </a:r>
            <a:endParaRPr lang="ko-KR" sz="2200" dirty="0"/>
          </a:p>
        </p:txBody>
      </p:sp>
      <p:sp>
        <p:nvSpPr>
          <p:cNvPr id="10" name="S10-text337"/>
          <p:cNvSpPr txBox="1"/>
          <p:nvPr/>
        </p:nvSpPr>
        <p:spPr>
          <a:xfrm>
            <a:off x="548640" y="3493516"/>
            <a:ext cx="268147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원그래프</a:t>
            </a:r>
            <a:endParaRPr lang="ko-KR" sz="2800" dirty="0"/>
          </a:p>
        </p:txBody>
      </p:sp>
      <p:sp>
        <p:nvSpPr>
          <p:cNvPr id="11" name="S10-text338"/>
          <p:cNvSpPr txBox="1"/>
          <p:nvPr/>
        </p:nvSpPr>
        <p:spPr>
          <a:xfrm>
            <a:off x="3367278" y="3493516"/>
            <a:ext cx="254431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비율(띠도 맞음)</a:t>
            </a:r>
            <a:endParaRPr lang="ko-KR" sz="2200" dirty="0"/>
          </a:p>
        </p:txBody>
      </p:sp>
      <p:sp>
        <p:nvSpPr>
          <p:cNvPr id="12" name="S10-text339"/>
          <p:cNvSpPr txBox="1"/>
          <p:nvPr/>
        </p:nvSpPr>
        <p:spPr>
          <a:xfrm>
            <a:off x="548640" y="4211574"/>
            <a:ext cx="268147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띠그래프</a:t>
            </a:r>
            <a:endParaRPr lang="ko-KR" sz="2800" dirty="0"/>
          </a:p>
        </p:txBody>
      </p:sp>
      <p:sp>
        <p:nvSpPr>
          <p:cNvPr id="13" name="S10-text340"/>
          <p:cNvSpPr txBox="1"/>
          <p:nvPr/>
        </p:nvSpPr>
        <p:spPr>
          <a:xfrm>
            <a:off x="3367278" y="4211574"/>
            <a:ext cx="254431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비율 견주기</a:t>
            </a:r>
            <a:endParaRPr lang="ko-KR" sz="2200" dirty="0"/>
          </a:p>
        </p:txBody>
      </p:sp>
      <p:sp>
        <p:nvSpPr>
          <p:cNvPr id="14" name="S10-chip341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5" name="S10-text342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꺾은선그래프</a:t>
            </a:r>
            <a:endParaRPr lang="ko-KR" sz="2800" dirty="0"/>
          </a:p>
        </p:txBody>
      </p:sp>
      <p:sp>
        <p:nvSpPr>
          <p:cNvPr id="16" name="S10-text343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학년 사이에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변화가 없어요</a:t>
            </a:r>
            <a:endParaRPr lang="ko-KR" sz="2200" dirty="0"/>
          </a:p>
        </p:txBody>
      </p:sp>
      <p:sp>
        <p:nvSpPr>
          <p:cNvPr id="17" name="S10-text344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원그래프</a:t>
            </a:r>
            <a:endParaRPr lang="ko-KR" sz="2800" dirty="0"/>
          </a:p>
        </p:txBody>
      </p:sp>
      <p:sp>
        <p:nvSpPr>
          <p:cNvPr id="18" name="S10-text345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인구 합계는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전체가 아니에요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골라서 해석해요</a:t>
            </a:r>
            <a:endParaRPr lang="ko-KR" sz="4000" dirty="0"/>
          </a:p>
        </p:txBody>
      </p:sp>
      <p:sp>
        <p:nvSpPr>
          <p:cNvPr id="3" name="S11-text34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반 20명이 학교에 오는 방법이에요.</a:t>
            </a:r>
            <a:endParaRPr lang="ko-KR" sz="2800" dirty="0"/>
          </a:p>
        </p:txBody>
      </p:sp>
      <p:graphicFrame>
        <p:nvGraphicFramePr>
          <p:cNvPr id="12" name="S11-table3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7154" y="2670048"/>
          <a:ext cx="4023360" cy="914400"/>
        </p:xfrm>
        <a:graphic>
          <a:graphicData uri="http://schemas.openxmlformats.org/drawingml/2006/table">
            <a:tbl>
              <a:tblPr/>
              <a:tblGrid>
                <a:gridCol w="1810512"/>
                <a:gridCol w="2212848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방법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학생 수(명)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걸어서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자전거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버스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자동차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11-chip348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6" name="S11-text349"/>
          <p:cNvSpPr txBox="1"/>
          <p:nvPr/>
        </p:nvSpPr>
        <p:spPr>
          <a:xfrm>
            <a:off x="1344168" y="201168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방법별 비율을 보려면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그래프? 까닭은?</a:t>
            </a:r>
            <a:endParaRPr lang="ko-KR" sz="2800" dirty="0"/>
          </a:p>
        </p:txBody>
      </p:sp>
      <p:sp>
        <p:nvSpPr>
          <p:cNvPr id="7" name="S11-chip350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8" name="S11-text351"/>
          <p:cNvSpPr txBox="1"/>
          <p:nvPr/>
        </p:nvSpPr>
        <p:spPr>
          <a:xfrm>
            <a:off x="1344168" y="347472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걸어서 오는 학생은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전체의 몇 %?</a:t>
            </a:r>
            <a:endParaRPr lang="ko-KR" sz="2800" dirty="0"/>
          </a:p>
        </p:txBody>
      </p:sp>
      <p:sp>
        <p:nvSpPr>
          <p:cNvPr id="9" name="S11-chip352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0" name="S11-text353"/>
          <p:cNvSpPr txBox="1"/>
          <p:nvPr/>
        </p:nvSpPr>
        <p:spPr>
          <a:xfrm>
            <a:off x="1344168" y="493776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버스와 자동차를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합하면 몇 %?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2-card354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2-cardtext355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알고 싶은 것이 비교인지, 변화인지, 비율인지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생각하고 알맞은 그래프를 골라요.</a:t>
            </a:r>
            <a:endParaRPr lang="ko-KR" sz="2800" dirty="0"/>
          </a:p>
        </p:txBody>
      </p:sp>
      <p:sp>
        <p:nvSpPr>
          <p:cNvPr id="5" name="S12-chip356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까닭을 기준으로 말하기</a:t>
            </a:r>
            <a:endParaRPr lang="ko-KR" sz="2200" dirty="0"/>
          </a:p>
        </p:txBody>
      </p:sp>
      <p:sp>
        <p:nvSpPr>
          <p:cNvPr id="6" name="S12-chip357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항목끼리 꺾은선으로 잇기</a:t>
            </a:r>
            <a:endParaRPr lang="ko-KR" sz="2200" dirty="0"/>
          </a:p>
        </p:txBody>
      </p:sp>
      <p:sp>
        <p:nvSpPr>
          <p:cNvPr id="7" name="S12-text358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2-text359"/>
          <p:cNvSpPr txBox="1"/>
          <p:nvPr/>
        </p:nvSpPr>
        <p:spPr>
          <a:xfrm>
            <a:off x="548640" y="4077208"/>
            <a:ext cx="3544824" cy="2003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시간에 따른 변화에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그래프는?</a:t>
            </a:r>
            <a:endParaRPr lang="ko-KR" sz="2200" dirty="0"/>
          </a:p>
        </p:txBody>
      </p:sp>
      <p:sp>
        <p:nvSpPr>
          <p:cNvPr id="9" name="S12-text360"/>
          <p:cNvSpPr txBox="1"/>
          <p:nvPr/>
        </p:nvSpPr>
        <p:spPr>
          <a:xfrm>
            <a:off x="4322064" y="4077208"/>
            <a:ext cx="3544824" cy="2003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전체에 대한 비율에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그래프 두 가지는?</a:t>
            </a:r>
            <a:endParaRPr lang="ko-KR" sz="2200" dirty="0"/>
          </a:p>
        </p:txBody>
      </p:sp>
      <p:sp>
        <p:nvSpPr>
          <p:cNvPr id="10" name="S12-text361"/>
          <p:cNvSpPr txBox="1"/>
          <p:nvPr/>
        </p:nvSpPr>
        <p:spPr>
          <a:xfrm>
            <a:off x="8095488" y="4077208"/>
            <a:ext cx="3544824" cy="2003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항목끼리 크기를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비교할 때는?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막대와 꺾은선</a:t>
            </a:r>
            <a:endParaRPr lang="ko-KR" sz="4000" dirty="0"/>
          </a:p>
        </p:txBody>
      </p:sp>
      <p:sp>
        <p:nvSpPr>
          <p:cNvPr id="3" name="S13-card362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3-cardtext363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막대그래프는 항목끼리 비교,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꺾은선그래프는 시간에 따른 변화를 보여 줘요.</a:t>
            </a:r>
            <a:endParaRPr lang="ko-KR" sz="2800" dirty="0"/>
          </a:p>
        </p:txBody>
      </p:sp>
      <p:sp>
        <p:nvSpPr>
          <p:cNvPr id="5" name="S13-figure364" descr="막대그래프: 축구 5명, 야구 3명, 농구 4명"/>
          <p:cNvSpPr/>
          <p:nvPr/>
        </p:nvSpPr>
        <p:spPr>
          <a:xfrm>
            <a:off x="2146834" y="2351389"/>
            <a:ext cx="565014" cy="1412534"/>
          </a:xfrm>
          <a:custGeom>
            <a:avLst/>
            <a:gdLst/>
            <a:ahLst/>
            <a:cxnLst/>
            <a:rect l="l" t="t" r="r" b="b"/>
            <a:pathLst>
              <a:path w="565014" h="1412534">
                <a:moveTo>
                  <a:pt x="0" y="1412534"/>
                </a:moveTo>
                <a:lnTo>
                  <a:pt x="565014" y="1412534"/>
                </a:lnTo>
                <a:lnTo>
                  <a:pt x="565014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13-mark365"/>
          <p:cNvSpPr/>
          <p:nvPr/>
        </p:nvSpPr>
        <p:spPr>
          <a:xfrm>
            <a:off x="3276861" y="2916403"/>
            <a:ext cx="565014" cy="847520"/>
          </a:xfrm>
          <a:custGeom>
            <a:avLst/>
            <a:gdLst/>
            <a:ahLst/>
            <a:cxnLst/>
            <a:rect l="l" t="t" r="r" b="b"/>
            <a:pathLst>
              <a:path w="565014" h="847520">
                <a:moveTo>
                  <a:pt x="0" y="847520"/>
                </a:moveTo>
                <a:lnTo>
                  <a:pt x="565014" y="847520"/>
                </a:lnTo>
                <a:lnTo>
                  <a:pt x="565014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13-mark366"/>
          <p:cNvSpPr/>
          <p:nvPr/>
        </p:nvSpPr>
        <p:spPr>
          <a:xfrm>
            <a:off x="4406888" y="2633896"/>
            <a:ext cx="565014" cy="1130027"/>
          </a:xfrm>
          <a:custGeom>
            <a:avLst/>
            <a:gdLst/>
            <a:ahLst/>
            <a:cxnLst/>
            <a:rect l="l" t="t" r="r" b="b"/>
            <a:pathLst>
              <a:path w="565014" h="1130027">
                <a:moveTo>
                  <a:pt x="0" y="1130027"/>
                </a:moveTo>
                <a:lnTo>
                  <a:pt x="565014" y="1130027"/>
                </a:lnTo>
                <a:lnTo>
                  <a:pt x="565014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13-mark367"/>
          <p:cNvSpPr/>
          <p:nvPr/>
        </p:nvSpPr>
        <p:spPr>
          <a:xfrm>
            <a:off x="1723074" y="3481416"/>
            <a:ext cx="367258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13-mark368"/>
          <p:cNvSpPr/>
          <p:nvPr/>
        </p:nvSpPr>
        <p:spPr>
          <a:xfrm>
            <a:off x="1723074" y="3198910"/>
            <a:ext cx="367258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13-mark369"/>
          <p:cNvSpPr/>
          <p:nvPr/>
        </p:nvSpPr>
        <p:spPr>
          <a:xfrm>
            <a:off x="1723074" y="2916403"/>
            <a:ext cx="367258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13-mark370"/>
          <p:cNvSpPr/>
          <p:nvPr/>
        </p:nvSpPr>
        <p:spPr>
          <a:xfrm>
            <a:off x="1723074" y="2633896"/>
            <a:ext cx="367258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13-mark371"/>
          <p:cNvSpPr/>
          <p:nvPr/>
        </p:nvSpPr>
        <p:spPr>
          <a:xfrm>
            <a:off x="1723074" y="2351389"/>
            <a:ext cx="367258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13-mark372"/>
          <p:cNvSpPr/>
          <p:nvPr/>
        </p:nvSpPr>
        <p:spPr>
          <a:xfrm>
            <a:off x="1723074" y="2068882"/>
            <a:ext cx="367258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13-mark373"/>
          <p:cNvSpPr/>
          <p:nvPr/>
        </p:nvSpPr>
        <p:spPr>
          <a:xfrm>
            <a:off x="1723074" y="3763923"/>
            <a:ext cx="3672588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5" name="S13-mark374"/>
          <p:cNvSpPr/>
          <p:nvPr/>
        </p:nvSpPr>
        <p:spPr>
          <a:xfrm flipV="1">
            <a:off x="1723074" y="1880545"/>
            <a:ext cx="0" cy="1883379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6" name="S13-label376"/>
          <p:cNvSpPr txBox="1"/>
          <p:nvPr/>
        </p:nvSpPr>
        <p:spPr>
          <a:xfrm>
            <a:off x="1175790" y="3589298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200" dirty="0"/>
          </a:p>
        </p:txBody>
      </p:sp>
      <p:sp>
        <p:nvSpPr>
          <p:cNvPr id="17" name="S13-label378"/>
          <p:cNvSpPr txBox="1"/>
          <p:nvPr/>
        </p:nvSpPr>
        <p:spPr>
          <a:xfrm>
            <a:off x="1175790" y="3024285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8" name="S13-label380"/>
          <p:cNvSpPr txBox="1"/>
          <p:nvPr/>
        </p:nvSpPr>
        <p:spPr>
          <a:xfrm>
            <a:off x="1175790" y="2459271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9" name="S13-label382"/>
          <p:cNvSpPr txBox="1"/>
          <p:nvPr/>
        </p:nvSpPr>
        <p:spPr>
          <a:xfrm>
            <a:off x="1175790" y="1894257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200" dirty="0"/>
          </a:p>
        </p:txBody>
      </p:sp>
      <p:sp>
        <p:nvSpPr>
          <p:cNvPr id="20" name="S13-label384"/>
          <p:cNvSpPr txBox="1"/>
          <p:nvPr/>
        </p:nvSpPr>
        <p:spPr>
          <a:xfrm>
            <a:off x="963446" y="1423413"/>
            <a:ext cx="71882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(명)</a:t>
            </a:r>
            <a:endParaRPr lang="ko-KR" sz="2200" dirty="0"/>
          </a:p>
        </p:txBody>
      </p:sp>
      <p:sp>
        <p:nvSpPr>
          <p:cNvPr id="21" name="S13-label386"/>
          <p:cNvSpPr txBox="1"/>
          <p:nvPr/>
        </p:nvSpPr>
        <p:spPr>
          <a:xfrm>
            <a:off x="2100665" y="3895347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축구</a:t>
            </a:r>
            <a:endParaRPr lang="ko-KR" sz="2200" dirty="0"/>
          </a:p>
        </p:txBody>
      </p:sp>
      <p:sp>
        <p:nvSpPr>
          <p:cNvPr id="22" name="S13-label388"/>
          <p:cNvSpPr txBox="1"/>
          <p:nvPr/>
        </p:nvSpPr>
        <p:spPr>
          <a:xfrm>
            <a:off x="3230692" y="3895347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야구</a:t>
            </a:r>
            <a:endParaRPr lang="ko-KR" sz="2200" dirty="0"/>
          </a:p>
        </p:txBody>
      </p:sp>
      <p:sp>
        <p:nvSpPr>
          <p:cNvPr id="23" name="S13-label390"/>
          <p:cNvSpPr txBox="1"/>
          <p:nvPr/>
        </p:nvSpPr>
        <p:spPr>
          <a:xfrm>
            <a:off x="4360719" y="3895347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농구</a:t>
            </a:r>
            <a:endParaRPr lang="ko-KR" sz="2200" dirty="0"/>
          </a:p>
        </p:txBody>
      </p:sp>
      <p:sp>
        <p:nvSpPr>
          <p:cNvPr id="24" name="S13-label391"/>
          <p:cNvSpPr txBox="1"/>
          <p:nvPr/>
        </p:nvSpPr>
        <p:spPr>
          <a:xfrm>
            <a:off x="548640" y="4415282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막대그래프: 비교</a:t>
            </a:r>
            <a:endParaRPr lang="ko-KR" sz="2200" dirty="0"/>
          </a:p>
        </p:txBody>
      </p:sp>
      <p:sp>
        <p:nvSpPr>
          <p:cNvPr id="25" name="S13-figure392" descr="꺾은선그래프: 1주 2 cm, 2주 3 cm, 3주 5 cm, 4주 6 cm"/>
          <p:cNvSpPr/>
          <p:nvPr/>
        </p:nvSpPr>
        <p:spPr>
          <a:xfrm>
            <a:off x="7648411" y="2112342"/>
            <a:ext cx="3197521" cy="1065840"/>
          </a:xfrm>
          <a:custGeom>
            <a:avLst/>
            <a:gdLst/>
            <a:ahLst/>
            <a:cxnLst/>
            <a:rect l="l" t="t" r="r" b="b"/>
            <a:pathLst>
              <a:path w="3197521" h="1065840">
                <a:moveTo>
                  <a:pt x="0" y="1065840"/>
                </a:moveTo>
                <a:lnTo>
                  <a:pt x="1065840" y="799380"/>
                </a:lnTo>
                <a:lnTo>
                  <a:pt x="2131680" y="266460"/>
                </a:lnTo>
                <a:lnTo>
                  <a:pt x="3197521" y="0"/>
                </a:lnTo>
              </a:path>
            </a:pathLst>
          </a:custGeom>
          <a:noFill/>
          <a:ln w="38100">
            <a:solidFill>
              <a:srgbClr val="E9762B"/>
            </a:solidFill>
            <a:prstDash val="solid"/>
          </a:ln>
        </p:spPr>
      </p:sp>
      <p:sp>
        <p:nvSpPr>
          <p:cNvPr id="26" name="S13-mark393"/>
          <p:cNvSpPr/>
          <p:nvPr/>
        </p:nvSpPr>
        <p:spPr>
          <a:xfrm flipV="1">
            <a:off x="7648411" y="2112342"/>
            <a:ext cx="0" cy="15987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7" name="S13-mark394"/>
          <p:cNvSpPr/>
          <p:nvPr/>
        </p:nvSpPr>
        <p:spPr>
          <a:xfrm flipV="1">
            <a:off x="8714251" y="2112342"/>
            <a:ext cx="0" cy="15987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8" name="S13-mark395"/>
          <p:cNvSpPr/>
          <p:nvPr/>
        </p:nvSpPr>
        <p:spPr>
          <a:xfrm flipV="1">
            <a:off x="9780092" y="2112342"/>
            <a:ext cx="0" cy="15987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9" name="S13-mark396"/>
          <p:cNvSpPr/>
          <p:nvPr/>
        </p:nvSpPr>
        <p:spPr>
          <a:xfrm flipV="1">
            <a:off x="10845932" y="2112342"/>
            <a:ext cx="0" cy="15987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0" name="S13-mark397"/>
          <p:cNvSpPr/>
          <p:nvPr/>
        </p:nvSpPr>
        <p:spPr>
          <a:xfrm>
            <a:off x="6982261" y="3444643"/>
            <a:ext cx="4529821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1" name="S13-mark398"/>
          <p:cNvSpPr/>
          <p:nvPr/>
        </p:nvSpPr>
        <p:spPr>
          <a:xfrm>
            <a:off x="6982261" y="3178183"/>
            <a:ext cx="4529821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2" name="S13-mark399"/>
          <p:cNvSpPr/>
          <p:nvPr/>
        </p:nvSpPr>
        <p:spPr>
          <a:xfrm>
            <a:off x="6982261" y="2911723"/>
            <a:ext cx="4529821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3" name="S13-mark400"/>
          <p:cNvSpPr/>
          <p:nvPr/>
        </p:nvSpPr>
        <p:spPr>
          <a:xfrm>
            <a:off x="6982261" y="2645262"/>
            <a:ext cx="4529821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4" name="S13-mark401"/>
          <p:cNvSpPr/>
          <p:nvPr/>
        </p:nvSpPr>
        <p:spPr>
          <a:xfrm>
            <a:off x="6982261" y="2378802"/>
            <a:ext cx="4529821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5" name="S13-mark402"/>
          <p:cNvSpPr/>
          <p:nvPr/>
        </p:nvSpPr>
        <p:spPr>
          <a:xfrm>
            <a:off x="6982261" y="2112342"/>
            <a:ext cx="4529821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6" name="S13-mark403"/>
          <p:cNvSpPr/>
          <p:nvPr/>
        </p:nvSpPr>
        <p:spPr>
          <a:xfrm>
            <a:off x="6982261" y="3711103"/>
            <a:ext cx="4529821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37" name="S13-mark404"/>
          <p:cNvSpPr/>
          <p:nvPr/>
        </p:nvSpPr>
        <p:spPr>
          <a:xfrm flipV="1">
            <a:off x="6982261" y="1934702"/>
            <a:ext cx="0" cy="177640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38" name="S13-mark405"/>
          <p:cNvSpPr/>
          <p:nvPr/>
        </p:nvSpPr>
        <p:spPr>
          <a:xfrm>
            <a:off x="7588975" y="3118747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9" name="S13-mark406"/>
          <p:cNvSpPr/>
          <p:nvPr/>
        </p:nvSpPr>
        <p:spPr>
          <a:xfrm>
            <a:off x="8654815" y="2852287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0" name="S13-mark407"/>
          <p:cNvSpPr/>
          <p:nvPr/>
        </p:nvSpPr>
        <p:spPr>
          <a:xfrm>
            <a:off x="9720656" y="2319366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1" name="S13-mark408"/>
          <p:cNvSpPr/>
          <p:nvPr/>
        </p:nvSpPr>
        <p:spPr>
          <a:xfrm>
            <a:off x="10786496" y="2052906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2" name="S13-label410"/>
          <p:cNvSpPr txBox="1"/>
          <p:nvPr/>
        </p:nvSpPr>
        <p:spPr>
          <a:xfrm>
            <a:off x="6457710" y="3536478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200" dirty="0"/>
          </a:p>
        </p:txBody>
      </p:sp>
      <p:sp>
        <p:nvSpPr>
          <p:cNvPr id="43" name="S13-label412"/>
          <p:cNvSpPr txBox="1"/>
          <p:nvPr/>
        </p:nvSpPr>
        <p:spPr>
          <a:xfrm>
            <a:off x="6457710" y="3003558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44" name="S13-label414"/>
          <p:cNvSpPr txBox="1"/>
          <p:nvPr/>
        </p:nvSpPr>
        <p:spPr>
          <a:xfrm>
            <a:off x="6457710" y="2470637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45" name="S13-label416"/>
          <p:cNvSpPr txBox="1"/>
          <p:nvPr/>
        </p:nvSpPr>
        <p:spPr>
          <a:xfrm>
            <a:off x="6457710" y="1937717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200" dirty="0"/>
          </a:p>
        </p:txBody>
      </p:sp>
      <p:sp>
        <p:nvSpPr>
          <p:cNvPr id="46" name="S13-label418"/>
          <p:cNvSpPr txBox="1"/>
          <p:nvPr/>
        </p:nvSpPr>
        <p:spPr>
          <a:xfrm>
            <a:off x="6189486" y="1493617"/>
            <a:ext cx="83058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(cm)</a:t>
            </a:r>
            <a:endParaRPr lang="ko-KR" sz="2200" dirty="0"/>
          </a:p>
        </p:txBody>
      </p:sp>
      <p:sp>
        <p:nvSpPr>
          <p:cNvPr id="47" name="S13-label420"/>
          <p:cNvSpPr txBox="1"/>
          <p:nvPr/>
        </p:nvSpPr>
        <p:spPr>
          <a:xfrm>
            <a:off x="7364439" y="3825143"/>
            <a:ext cx="56794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1주</a:t>
            </a:r>
            <a:endParaRPr lang="ko-KR" sz="2200" dirty="0"/>
          </a:p>
        </p:txBody>
      </p:sp>
      <p:sp>
        <p:nvSpPr>
          <p:cNvPr id="48" name="S13-label422"/>
          <p:cNvSpPr txBox="1"/>
          <p:nvPr/>
        </p:nvSpPr>
        <p:spPr>
          <a:xfrm>
            <a:off x="8430279" y="3825143"/>
            <a:ext cx="56794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</a:t>
            </a:r>
            <a:endParaRPr lang="ko-KR" sz="2200" dirty="0"/>
          </a:p>
        </p:txBody>
      </p:sp>
      <p:sp>
        <p:nvSpPr>
          <p:cNvPr id="49" name="S13-label424"/>
          <p:cNvSpPr txBox="1"/>
          <p:nvPr/>
        </p:nvSpPr>
        <p:spPr>
          <a:xfrm>
            <a:off x="9496120" y="3825143"/>
            <a:ext cx="56794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3주</a:t>
            </a:r>
            <a:endParaRPr lang="ko-KR" sz="2200" dirty="0"/>
          </a:p>
        </p:txBody>
      </p:sp>
      <p:sp>
        <p:nvSpPr>
          <p:cNvPr id="50" name="S13-label426"/>
          <p:cNvSpPr txBox="1"/>
          <p:nvPr/>
        </p:nvSpPr>
        <p:spPr>
          <a:xfrm>
            <a:off x="10561960" y="3825143"/>
            <a:ext cx="56794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4주</a:t>
            </a:r>
            <a:endParaRPr lang="ko-KR" sz="2200" dirty="0"/>
          </a:p>
        </p:txBody>
      </p:sp>
      <p:sp>
        <p:nvSpPr>
          <p:cNvPr id="51" name="S13-label427"/>
          <p:cNvSpPr txBox="1"/>
          <p:nvPr/>
        </p:nvSpPr>
        <p:spPr>
          <a:xfrm>
            <a:off x="6254496" y="4415282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꺾은선그래프: 변화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수학 알맞은 그래프 고르기</dc:title>
  <dc:subject>KR22-G06-MAT-GRAPHS-L01</dc:subject>
  <dc:creator>education-ppt</dc:creator>
  <cp:lastModifiedBy>education-ppt</cp:lastModifiedBy>
  <cp:revision>1</cp:revision>
  <dcterms:created xsi:type="dcterms:W3CDTF">2026-10-26T09:43:57Z</dcterms:created>
  <dcterms:modified xsi:type="dcterms:W3CDTF">2026-10-26T09:43:57Z</dcterms:modified>
</cp:coreProperties>
</file>