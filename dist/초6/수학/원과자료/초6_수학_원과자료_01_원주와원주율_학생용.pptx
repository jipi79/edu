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bfab7f3-3ba7-4208-94f2-ed56d5180062}">
          <p14:sldIdLst>
            <p14:sldId id="256"/>
            <p14:sldId id="257"/>
          </p14:sldIdLst>
        </p14:section>
        <p14:section name="개념" id="{98d9b0ae-44af-26eb-0bb3-5682c490f4fd}">
          <p14:sldIdLst>
            <p14:sldId id="258"/>
            <p14:sldId id="260"/>
            <p14:sldId id="261"/>
            <p14:sldId id="264"/>
          </p14:sldIdLst>
        </p14:section>
        <p14:section name="연습" id="{c02516a9-469b-ea8b-c1f6-111a800c25c0}">
          <p14:sldIdLst>
            <p14:sldId id="259"/>
            <p14:sldId id="262"/>
            <p14:sldId id="263"/>
            <p14:sldId id="265"/>
          </p14:sldIdLst>
        </p14:section>
        <p14:section name="개념" id="{1b4cc190-5e0b-dc68-d68f-da0f4b288b5c}">
          <p14:sldIdLst/>
        </p14:section>
        <p14:section name="연습" id="{4018f104-7b26-7a8e-259e-b1f101a5e5e2}">
          <p14:sldIdLst/>
        </p14:section>
        <p14:section name="개념" id="{b0649f15-af16-fdec-da15-888206c75430}">
          <p14:sldIdLst/>
        </p14:section>
        <p14:section name="연습" id="{4ffc7cbd-2499-1d9f-40f2-30db8b9dd3d9}">
          <p14:sldIdLst/>
        </p14:section>
        <p14:section name="확인" id="{7e39f78d-001c-8f91-b395-175fababa263}">
          <p14:sldIdLst>
            <p14:sldId id="266"/>
            <p14:sldId id="267"/>
          </p14:sldIdLst>
        </p14:section>
        <p14:section name="정리" id="{b3f1edd2-b5b7-d051-a3c2-7d381e194c06}">
          <p14:sldIdLst>
            <p14:sldId id="268"/>
          </p14:sldIdLst>
        </p14:section>
        <p14:section name="보충" id="{d5cc4c50-5c68-d438-4f92-bace7dc1ea4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원과자료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원주와 원주율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원주와 원주율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원주와 원주율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원주와 원주율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둘레는 지름의 몇 배일까?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원과 원의 중심을 지나는 지름(주황색)"/>
          <p:cNvSpPr/>
          <p:nvPr/>
        </p:nvSpPr>
        <p:spPr>
          <a:xfrm>
            <a:off x="8275320" y="73152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2743200" y="1371600"/>
                </a:moveTo>
                <a:lnTo>
                  <a:pt x="2737714" y="1251814"/>
                </a:lnTo>
                <a:lnTo>
                  <a:pt x="2722169" y="1133856"/>
                </a:lnTo>
                <a:lnTo>
                  <a:pt x="2696566" y="1016813"/>
                </a:lnTo>
                <a:lnTo>
                  <a:pt x="2660904" y="902513"/>
                </a:lnTo>
                <a:lnTo>
                  <a:pt x="2614270" y="791870"/>
                </a:lnTo>
                <a:lnTo>
                  <a:pt x="2559406" y="685800"/>
                </a:lnTo>
                <a:lnTo>
                  <a:pt x="2495398" y="585216"/>
                </a:lnTo>
                <a:lnTo>
                  <a:pt x="2422246" y="490118"/>
                </a:lnTo>
                <a:lnTo>
                  <a:pt x="2341778" y="401422"/>
                </a:lnTo>
                <a:lnTo>
                  <a:pt x="2253082" y="320954"/>
                </a:lnTo>
                <a:lnTo>
                  <a:pt x="2157984" y="247802"/>
                </a:lnTo>
                <a:lnTo>
                  <a:pt x="2057400" y="183794"/>
                </a:lnTo>
                <a:lnTo>
                  <a:pt x="1951330" y="128930"/>
                </a:lnTo>
                <a:lnTo>
                  <a:pt x="1840687" y="82296"/>
                </a:lnTo>
                <a:lnTo>
                  <a:pt x="1726387" y="46634"/>
                </a:lnTo>
                <a:lnTo>
                  <a:pt x="1609344" y="21031"/>
                </a:lnTo>
                <a:lnTo>
                  <a:pt x="1491386" y="5486"/>
                </a:lnTo>
                <a:lnTo>
                  <a:pt x="1371600" y="0"/>
                </a:lnTo>
                <a:lnTo>
                  <a:pt x="1251814" y="5486"/>
                </a:lnTo>
                <a:lnTo>
                  <a:pt x="1133856" y="21031"/>
                </a:lnTo>
                <a:lnTo>
                  <a:pt x="1016813" y="46634"/>
                </a:lnTo>
                <a:lnTo>
                  <a:pt x="902513" y="82296"/>
                </a:lnTo>
                <a:lnTo>
                  <a:pt x="791870" y="128930"/>
                </a:lnTo>
                <a:lnTo>
                  <a:pt x="685800" y="183794"/>
                </a:lnTo>
                <a:lnTo>
                  <a:pt x="585216" y="247802"/>
                </a:lnTo>
                <a:lnTo>
                  <a:pt x="490118" y="320954"/>
                </a:lnTo>
                <a:lnTo>
                  <a:pt x="401422" y="401422"/>
                </a:lnTo>
                <a:lnTo>
                  <a:pt x="320954" y="490118"/>
                </a:lnTo>
                <a:lnTo>
                  <a:pt x="247802" y="585216"/>
                </a:lnTo>
                <a:lnTo>
                  <a:pt x="183794" y="685800"/>
                </a:lnTo>
                <a:lnTo>
                  <a:pt x="128930" y="791870"/>
                </a:lnTo>
                <a:lnTo>
                  <a:pt x="82296" y="902513"/>
                </a:lnTo>
                <a:lnTo>
                  <a:pt x="46634" y="1016813"/>
                </a:lnTo>
                <a:lnTo>
                  <a:pt x="21031" y="1133856"/>
                </a:lnTo>
                <a:lnTo>
                  <a:pt x="5486" y="1251814"/>
                </a:lnTo>
                <a:lnTo>
                  <a:pt x="0" y="1371600"/>
                </a:lnTo>
                <a:lnTo>
                  <a:pt x="5486" y="1491386"/>
                </a:lnTo>
                <a:lnTo>
                  <a:pt x="21031" y="1609344"/>
                </a:lnTo>
                <a:lnTo>
                  <a:pt x="46634" y="1726387"/>
                </a:lnTo>
                <a:lnTo>
                  <a:pt x="82296" y="1840687"/>
                </a:lnTo>
                <a:lnTo>
                  <a:pt x="128930" y="1951330"/>
                </a:lnTo>
                <a:lnTo>
                  <a:pt x="183794" y="2057400"/>
                </a:lnTo>
                <a:lnTo>
                  <a:pt x="247802" y="2157984"/>
                </a:lnTo>
                <a:lnTo>
                  <a:pt x="320954" y="2253082"/>
                </a:lnTo>
                <a:lnTo>
                  <a:pt x="401422" y="2341778"/>
                </a:lnTo>
                <a:lnTo>
                  <a:pt x="490118" y="2422246"/>
                </a:lnTo>
                <a:lnTo>
                  <a:pt x="585216" y="2495398"/>
                </a:lnTo>
                <a:lnTo>
                  <a:pt x="685800" y="2559406"/>
                </a:lnTo>
                <a:lnTo>
                  <a:pt x="791870" y="2614270"/>
                </a:lnTo>
                <a:lnTo>
                  <a:pt x="902513" y="2660904"/>
                </a:lnTo>
                <a:lnTo>
                  <a:pt x="1016813" y="2696566"/>
                </a:lnTo>
                <a:lnTo>
                  <a:pt x="1133856" y="2722169"/>
                </a:lnTo>
                <a:lnTo>
                  <a:pt x="1251814" y="2737714"/>
                </a:lnTo>
                <a:lnTo>
                  <a:pt x="1371600" y="2743200"/>
                </a:lnTo>
                <a:lnTo>
                  <a:pt x="1491386" y="2737714"/>
                </a:lnTo>
                <a:lnTo>
                  <a:pt x="1609344" y="2722169"/>
                </a:lnTo>
                <a:lnTo>
                  <a:pt x="1726387" y="2696566"/>
                </a:lnTo>
                <a:lnTo>
                  <a:pt x="1840687" y="2660904"/>
                </a:lnTo>
                <a:lnTo>
                  <a:pt x="1951330" y="2614270"/>
                </a:lnTo>
                <a:lnTo>
                  <a:pt x="2057400" y="2559406"/>
                </a:lnTo>
                <a:lnTo>
                  <a:pt x="2157984" y="2495398"/>
                </a:lnTo>
                <a:lnTo>
                  <a:pt x="2253082" y="2422246"/>
                </a:lnTo>
                <a:lnTo>
                  <a:pt x="2341778" y="2341778"/>
                </a:lnTo>
                <a:lnTo>
                  <a:pt x="2422246" y="2253082"/>
                </a:lnTo>
                <a:lnTo>
                  <a:pt x="2495398" y="2157984"/>
                </a:lnTo>
                <a:lnTo>
                  <a:pt x="2559406" y="2057400"/>
                </a:lnTo>
                <a:lnTo>
                  <a:pt x="2614270" y="1951330"/>
                </a:lnTo>
                <a:lnTo>
                  <a:pt x="2660904" y="1840687"/>
                </a:lnTo>
                <a:lnTo>
                  <a:pt x="2696566" y="1726387"/>
                </a:lnTo>
                <a:lnTo>
                  <a:pt x="2722169" y="1609344"/>
                </a:lnTo>
                <a:lnTo>
                  <a:pt x="2737714" y="149138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275320" y="2103120"/>
            <a:ext cx="2743200" cy="0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587484" y="204368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원주와 지름의 관계(원주율)를 알아봐요.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원주율로 원주와 지름을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4 cm인 원의 지름은?</a:t>
            </a:r>
            <a:endParaRPr lang="ko-KR" sz="28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3.14 = □</a:t>
            </a:r>
            <a:endParaRPr lang="ko-KR" sz="32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eq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31.4 ÷ 10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원주는 지름의 몇 배일까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둘레를 원주라고 해요.</a:t>
            </a:r>
            <a:endParaRPr lang="ko-KR" sz="2800" dirty="0"/>
          </a:p>
        </p:txBody>
      </p:sp>
      <p:sp>
        <p:nvSpPr>
          <p:cNvPr id="4" name="S03-figure14" descr="원과, 원 안에 꼭 맞는 정육각형(주황색), 원 밖에 꼭 맞는 정사각형(파란색). 원의 지름을 점선으로 표시"/>
          <p:cNvSpPr/>
          <p:nvPr/>
        </p:nvSpPr>
        <p:spPr>
          <a:xfrm>
            <a:off x="1590370" y="27432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743200" h="2743200">
                <a:moveTo>
                  <a:pt x="0" y="2743200"/>
                </a:moveTo>
                <a:lnTo>
                  <a:pt x="2743200" y="27432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5" name="S03-mark15"/>
          <p:cNvSpPr/>
          <p:nvPr/>
        </p:nvSpPr>
        <p:spPr>
          <a:xfrm>
            <a:off x="1590370" y="2926994"/>
            <a:ext cx="2743200" cy="2375611"/>
          </a:xfrm>
          <a:custGeom>
            <a:avLst/>
            <a:gdLst/>
            <a:ahLst/>
            <a:cxnLst/>
            <a:rect l="l" t="t" r="r" b="b"/>
            <a:pathLst>
              <a:path w="2743200" h="2375611">
                <a:moveTo>
                  <a:pt x="2743200" y="1187806"/>
                </a:moveTo>
                <a:lnTo>
                  <a:pt x="2057400" y="0"/>
                </a:lnTo>
                <a:lnTo>
                  <a:pt x="685800" y="0"/>
                </a:lnTo>
                <a:lnTo>
                  <a:pt x="0" y="1187806"/>
                </a:lnTo>
                <a:lnTo>
                  <a:pt x="685800" y="2375611"/>
                </a:lnTo>
                <a:lnTo>
                  <a:pt x="2057400" y="2375611"/>
                </a:lnTo>
                <a:close/>
              </a:path>
            </a:pathLst>
          </a:custGeom>
          <a:solidFill>
            <a:srgbClr val="FDEBDD"/>
          </a:solidFill>
          <a:ln w="38100">
            <a:solidFill>
              <a:srgbClr val="E9762B"/>
            </a:solidFill>
            <a:prstDash val="solid"/>
          </a:ln>
        </p:spPr>
      </p:sp>
      <p:sp>
        <p:nvSpPr>
          <p:cNvPr id="6" name="S03-mark16"/>
          <p:cNvSpPr/>
          <p:nvPr/>
        </p:nvSpPr>
        <p:spPr>
          <a:xfrm>
            <a:off x="1590370" y="2743200"/>
            <a:ext cx="2743200" cy="27432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17"/>
          <p:cNvSpPr/>
          <p:nvPr/>
        </p:nvSpPr>
        <p:spPr>
          <a:xfrm>
            <a:off x="1590370" y="411480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3-label19"/>
          <p:cNvSpPr txBox="1"/>
          <p:nvPr/>
        </p:nvSpPr>
        <p:spPr>
          <a:xfrm>
            <a:off x="2633294" y="41916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9" name="S03-card20"/>
          <p:cNvSpPr/>
          <p:nvPr/>
        </p:nvSpPr>
        <p:spPr>
          <a:xfrm>
            <a:off x="5741060" y="2107692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21"/>
          <p:cNvSpPr txBox="1"/>
          <p:nvPr/>
        </p:nvSpPr>
        <p:spPr>
          <a:xfrm>
            <a:off x="6015380" y="2244852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정육각형의 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× 3</a:t>
            </a:r>
            <a:endParaRPr lang="ko-KR" sz="2800" dirty="0"/>
          </a:p>
        </p:txBody>
      </p:sp>
      <p:sp>
        <p:nvSpPr>
          <p:cNvPr id="11" name="S03-card22"/>
          <p:cNvSpPr/>
          <p:nvPr/>
        </p:nvSpPr>
        <p:spPr>
          <a:xfrm>
            <a:off x="5741060" y="3516376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2" name="S03-cardtext23"/>
          <p:cNvSpPr txBox="1"/>
          <p:nvPr/>
        </p:nvSpPr>
        <p:spPr>
          <a:xfrm>
            <a:off x="6015380" y="3653536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× 4</a:t>
            </a:r>
            <a:endParaRPr lang="ko-KR" sz="2800" dirty="0"/>
          </a:p>
        </p:txBody>
      </p:sp>
      <p:sp>
        <p:nvSpPr>
          <p:cNvPr id="13" name="S03-card24"/>
          <p:cNvSpPr/>
          <p:nvPr/>
        </p:nvSpPr>
        <p:spPr>
          <a:xfrm>
            <a:off x="5741060" y="4925060"/>
            <a:ext cx="589925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5"/>
          <p:cNvSpPr txBox="1"/>
          <p:nvPr/>
        </p:nvSpPr>
        <p:spPr>
          <a:xfrm>
            <a:off x="6015380" y="5062220"/>
            <a:ext cx="535061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원주는 지름의 3배보다 길고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4배보다 짧아요.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재어 봐요</a:t>
            </a:r>
            <a:endParaRPr lang="ko-KR" sz="4000" dirty="0"/>
          </a:p>
        </p:txBody>
      </p:sp>
      <p:sp>
        <p:nvSpPr>
          <p:cNvPr id="3" name="S04-card26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7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쟀는지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지름은 가장 긴 곳을 쟀나요?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띠를 팽팽하게 감았나요?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몫이 3과 4 사이인가요?</a:t>
            </a:r>
            <a:endParaRPr lang="ko-KR" sz="2800" dirty="0"/>
          </a:p>
        </p:txBody>
      </p:sp>
      <p:sp>
        <p:nvSpPr>
          <p:cNvPr id="5" name="S04-stepno28"/>
          <p:cNvSpPr txBox="1"/>
          <p:nvPr/>
        </p:nvSpPr>
        <p:spPr>
          <a:xfrm>
            <a:off x="548640" y="26248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4-text29"/>
          <p:cNvSpPr txBox="1"/>
          <p:nvPr/>
        </p:nvSpPr>
        <p:spPr>
          <a:xfrm>
            <a:off x="1325880" y="26248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바닥의 지름을 자로 재요.</a:t>
            </a:r>
            <a:endParaRPr lang="ko-KR" sz="2800" dirty="0"/>
          </a:p>
        </p:txBody>
      </p:sp>
      <p:sp>
        <p:nvSpPr>
          <p:cNvPr id="7" name="S04-stepno30"/>
          <p:cNvSpPr txBox="1"/>
          <p:nvPr/>
        </p:nvSpPr>
        <p:spPr>
          <a:xfrm>
            <a:off x="548640" y="3383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4-text31"/>
          <p:cNvSpPr txBox="1"/>
          <p:nvPr/>
        </p:nvSpPr>
        <p:spPr>
          <a:xfrm>
            <a:off x="1325880" y="3338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띠를 컵에 한 바퀴 감고 표시해 원주를 재요.</a:t>
            </a:r>
            <a:endParaRPr lang="ko-KR" sz="2800" dirty="0"/>
          </a:p>
        </p:txBody>
      </p:sp>
      <p:sp>
        <p:nvSpPr>
          <p:cNvPr id="9" name="S04-stepno32"/>
          <p:cNvSpPr txBox="1"/>
          <p:nvPr/>
        </p:nvSpPr>
        <p:spPr>
          <a:xfrm>
            <a:off x="548640" y="4370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4-text33"/>
          <p:cNvSpPr txBox="1"/>
          <p:nvPr/>
        </p:nvSpPr>
        <p:spPr>
          <a:xfrm>
            <a:off x="1325880" y="4370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÷ 지름을 계산해요.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</a:t>
            </a:r>
            <a:endParaRPr lang="ko-KR" sz="40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다른 원을 재어 원주 ÷ 지름을 구했어요(예).</a:t>
            </a:r>
            <a:endParaRPr lang="ko-KR" sz="2800" dirty="0"/>
          </a:p>
        </p:txBody>
      </p:sp>
      <p:sp>
        <p:nvSpPr>
          <p:cNvPr id="4" name="S05-card3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 = 원주 ÷ 지름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크기와 관계없이 일정해요. 약 3.14</a:t>
            </a:r>
            <a:endParaRPr lang="ko-KR" sz="2800" dirty="0"/>
          </a:p>
        </p:txBody>
      </p:sp>
      <p:graphicFrame>
        <p:nvGraphicFramePr>
          <p:cNvPr id="6" name="S05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447290"/>
          <a:ext cx="9601200" cy="914400"/>
        </p:xfrm>
        <a:graphic>
          <a:graphicData uri="http://schemas.openxmlformats.org/drawingml/2006/table">
            <a:tbl>
              <a:tblPr/>
              <a:tblGrid>
                <a:gridCol w="2112264"/>
                <a:gridCol w="2304288"/>
                <a:gridCol w="2304288"/>
                <a:gridCol w="2880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원주(cm)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지름(cm)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원주 ÷ 지름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병뚜껑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3.13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3.14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62.8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구하기</a:t>
            </a:r>
            <a:endParaRPr lang="ko-KR" sz="4000" dirty="0"/>
          </a:p>
        </p:txBody>
      </p:sp>
      <p:sp>
        <p:nvSpPr>
          <p:cNvPr id="3" name="S06-card38"/>
          <p:cNvSpPr/>
          <p:nvPr/>
        </p:nvSpPr>
        <p:spPr>
          <a:xfrm>
            <a:off x="548640" y="4356100"/>
            <a:ext cx="3544824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9"/>
          <p:cNvSpPr txBox="1"/>
          <p:nvPr/>
        </p:nvSpPr>
        <p:spPr>
          <a:xfrm>
            <a:off x="822960" y="4493260"/>
            <a:ext cx="2996184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× 원주율</a:t>
            </a:r>
            <a:endParaRPr lang="ko-KR" sz="2800" dirty="0"/>
          </a:p>
        </p:txBody>
      </p:sp>
      <p:sp>
        <p:nvSpPr>
          <p:cNvPr id="5" name="S06-card40"/>
          <p:cNvSpPr/>
          <p:nvPr/>
        </p:nvSpPr>
        <p:spPr>
          <a:xfrm>
            <a:off x="4322064" y="4356100"/>
            <a:ext cx="3544824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1"/>
          <p:cNvSpPr txBox="1"/>
          <p:nvPr/>
        </p:nvSpPr>
        <p:spPr>
          <a:xfrm>
            <a:off x="4596384" y="4493260"/>
            <a:ext cx="2996184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반지름을 알 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× 2 × 원주율</a:t>
            </a:r>
            <a:endParaRPr lang="ko-KR" sz="2800" dirty="0"/>
          </a:p>
        </p:txBody>
      </p:sp>
      <p:sp>
        <p:nvSpPr>
          <p:cNvPr id="7" name="S06-card42"/>
          <p:cNvSpPr/>
          <p:nvPr/>
        </p:nvSpPr>
        <p:spPr>
          <a:xfrm>
            <a:off x="8095488" y="4356100"/>
            <a:ext cx="3544824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3"/>
          <p:cNvSpPr txBox="1"/>
          <p:nvPr/>
        </p:nvSpPr>
        <p:spPr>
          <a:xfrm>
            <a:off x="8369808" y="4493260"/>
            <a:ext cx="2996184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예(원주율 3.14)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10 cm →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× 3.14 = 31.4 (cm)</a:t>
            </a:r>
            <a:endParaRPr lang="ko-KR" sz="2800" dirty="0"/>
          </a:p>
        </p:txBody>
      </p:sp>
      <p:sp>
        <p:nvSpPr>
          <p:cNvPr id="9" name="S06-figure44" descr="원을 직선 위에서 한 바퀴 굴린 길이(원주)가 지름 3개를 이은 길이보다 조금 더 김"/>
          <p:cNvSpPr/>
          <p:nvPr/>
        </p:nvSpPr>
        <p:spPr>
          <a:xfrm>
            <a:off x="2857494" y="1409700"/>
            <a:ext cx="1563193" cy="1563193"/>
          </a:xfrm>
          <a:custGeom>
            <a:avLst/>
            <a:gdLst/>
            <a:ahLst/>
            <a:cxnLst/>
            <a:rect l="l" t="t" r="r" b="b"/>
            <a:pathLst>
              <a:path w="1563193" h="1563193">
                <a:moveTo>
                  <a:pt x="1563193" y="781596"/>
                </a:moveTo>
                <a:lnTo>
                  <a:pt x="1556159" y="679207"/>
                </a:lnTo>
                <a:lnTo>
                  <a:pt x="1536619" y="579163"/>
                </a:lnTo>
                <a:lnTo>
                  <a:pt x="1503792" y="482245"/>
                </a:lnTo>
                <a:lnTo>
                  <a:pt x="1458459" y="390798"/>
                </a:lnTo>
                <a:lnTo>
                  <a:pt x="1401402" y="305604"/>
                </a:lnTo>
                <a:lnTo>
                  <a:pt x="1334185" y="229008"/>
                </a:lnTo>
                <a:lnTo>
                  <a:pt x="1257589" y="161790"/>
                </a:lnTo>
                <a:lnTo>
                  <a:pt x="1172395" y="104734"/>
                </a:lnTo>
                <a:lnTo>
                  <a:pt x="1080948" y="59401"/>
                </a:lnTo>
                <a:lnTo>
                  <a:pt x="984030" y="26574"/>
                </a:lnTo>
                <a:lnTo>
                  <a:pt x="883986" y="7034"/>
                </a:lnTo>
                <a:lnTo>
                  <a:pt x="781596" y="0"/>
                </a:lnTo>
                <a:lnTo>
                  <a:pt x="679207" y="7034"/>
                </a:lnTo>
                <a:lnTo>
                  <a:pt x="579163" y="26574"/>
                </a:lnTo>
                <a:lnTo>
                  <a:pt x="482245" y="59401"/>
                </a:lnTo>
                <a:lnTo>
                  <a:pt x="390798" y="104734"/>
                </a:lnTo>
                <a:lnTo>
                  <a:pt x="305604" y="161790"/>
                </a:lnTo>
                <a:lnTo>
                  <a:pt x="229008" y="229008"/>
                </a:lnTo>
                <a:lnTo>
                  <a:pt x="161790" y="305604"/>
                </a:lnTo>
                <a:lnTo>
                  <a:pt x="104734" y="390798"/>
                </a:lnTo>
                <a:lnTo>
                  <a:pt x="59401" y="482245"/>
                </a:lnTo>
                <a:lnTo>
                  <a:pt x="26574" y="579163"/>
                </a:lnTo>
                <a:lnTo>
                  <a:pt x="7034" y="679207"/>
                </a:lnTo>
                <a:lnTo>
                  <a:pt x="0" y="781596"/>
                </a:lnTo>
                <a:lnTo>
                  <a:pt x="7034" y="883986"/>
                </a:lnTo>
                <a:lnTo>
                  <a:pt x="26574" y="984030"/>
                </a:lnTo>
                <a:lnTo>
                  <a:pt x="59401" y="1080948"/>
                </a:lnTo>
                <a:lnTo>
                  <a:pt x="104734" y="1172395"/>
                </a:lnTo>
                <a:lnTo>
                  <a:pt x="161790" y="1257589"/>
                </a:lnTo>
                <a:lnTo>
                  <a:pt x="229008" y="1334185"/>
                </a:lnTo>
                <a:lnTo>
                  <a:pt x="305604" y="1401402"/>
                </a:lnTo>
                <a:lnTo>
                  <a:pt x="390798" y="1458459"/>
                </a:lnTo>
                <a:lnTo>
                  <a:pt x="482245" y="1503792"/>
                </a:lnTo>
                <a:lnTo>
                  <a:pt x="579163" y="1536619"/>
                </a:lnTo>
                <a:lnTo>
                  <a:pt x="679207" y="1556159"/>
                </a:lnTo>
                <a:lnTo>
                  <a:pt x="781596" y="1563193"/>
                </a:lnTo>
                <a:lnTo>
                  <a:pt x="883986" y="1556159"/>
                </a:lnTo>
                <a:lnTo>
                  <a:pt x="984030" y="1536619"/>
                </a:lnTo>
                <a:lnTo>
                  <a:pt x="1080948" y="1503792"/>
                </a:lnTo>
                <a:lnTo>
                  <a:pt x="1172395" y="1458459"/>
                </a:lnTo>
                <a:lnTo>
                  <a:pt x="1257589" y="1401402"/>
                </a:lnTo>
                <a:lnTo>
                  <a:pt x="1334185" y="1334185"/>
                </a:lnTo>
                <a:lnTo>
                  <a:pt x="1401402" y="1257589"/>
                </a:lnTo>
                <a:lnTo>
                  <a:pt x="1458459" y="1172395"/>
                </a:lnTo>
                <a:lnTo>
                  <a:pt x="1503792" y="1080948"/>
                </a:lnTo>
                <a:lnTo>
                  <a:pt x="1536619" y="984030"/>
                </a:lnTo>
                <a:lnTo>
                  <a:pt x="1556159" y="88398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6-mark45"/>
          <p:cNvSpPr/>
          <p:nvPr/>
        </p:nvSpPr>
        <p:spPr>
          <a:xfrm>
            <a:off x="3639091" y="3066684"/>
            <a:ext cx="537972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46"/>
          <p:cNvSpPr/>
          <p:nvPr/>
        </p:nvSpPr>
        <p:spPr>
          <a:xfrm>
            <a:off x="3639091" y="2972893"/>
            <a:ext cx="1563193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12" name="S06-mark47"/>
          <p:cNvSpPr/>
          <p:nvPr/>
        </p:nvSpPr>
        <p:spPr>
          <a:xfrm>
            <a:off x="5202284" y="2972893"/>
            <a:ext cx="1563193" cy="0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13" name="S06-mark48"/>
          <p:cNvSpPr/>
          <p:nvPr/>
        </p:nvSpPr>
        <p:spPr>
          <a:xfrm>
            <a:off x="6765477" y="2972893"/>
            <a:ext cx="1563193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14" name="S06-mark49"/>
          <p:cNvSpPr/>
          <p:nvPr/>
        </p:nvSpPr>
        <p:spPr>
          <a:xfrm>
            <a:off x="8328669" y="2972893"/>
            <a:ext cx="221192" cy="0"/>
          </a:xfrm>
          <a:prstGeom prst="line">
            <a:avLst/>
          </a:prstGeom>
          <a:noFill/>
          <a:ln w="76200">
            <a:solidFill>
              <a:srgbClr val="2A9D8F"/>
            </a:solidFill>
            <a:prstDash val="solid"/>
          </a:ln>
        </p:spPr>
      </p:sp>
      <p:sp>
        <p:nvSpPr>
          <p:cNvPr id="15" name="S06-mark50"/>
          <p:cNvSpPr/>
          <p:nvPr/>
        </p:nvSpPr>
        <p:spPr>
          <a:xfrm flipV="1">
            <a:off x="3639091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6-mark51"/>
          <p:cNvSpPr/>
          <p:nvPr/>
        </p:nvSpPr>
        <p:spPr>
          <a:xfrm flipV="1">
            <a:off x="5202284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6-mark52"/>
          <p:cNvSpPr/>
          <p:nvPr/>
        </p:nvSpPr>
        <p:spPr>
          <a:xfrm flipV="1">
            <a:off x="6765477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6-mark53"/>
          <p:cNvSpPr/>
          <p:nvPr/>
        </p:nvSpPr>
        <p:spPr>
          <a:xfrm flipV="1">
            <a:off x="8328669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6-mark54"/>
          <p:cNvSpPr/>
          <p:nvPr/>
        </p:nvSpPr>
        <p:spPr>
          <a:xfrm flipV="1">
            <a:off x="8549861" y="2793126"/>
            <a:ext cx="0" cy="4689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55"/>
          <p:cNvSpPr/>
          <p:nvPr/>
        </p:nvSpPr>
        <p:spPr>
          <a:xfrm>
            <a:off x="2857494" y="2191296"/>
            <a:ext cx="156319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1" name="S06-mark56"/>
          <p:cNvSpPr/>
          <p:nvPr/>
        </p:nvSpPr>
        <p:spPr>
          <a:xfrm>
            <a:off x="3579655" y="291345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label58"/>
          <p:cNvSpPr txBox="1"/>
          <p:nvPr/>
        </p:nvSpPr>
        <p:spPr>
          <a:xfrm>
            <a:off x="4092011" y="33219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23" name="S06-label60"/>
          <p:cNvSpPr txBox="1"/>
          <p:nvPr/>
        </p:nvSpPr>
        <p:spPr>
          <a:xfrm>
            <a:off x="5655204" y="33219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24" name="S06-label62"/>
          <p:cNvSpPr txBox="1"/>
          <p:nvPr/>
        </p:nvSpPr>
        <p:spPr>
          <a:xfrm>
            <a:off x="7218397" y="332193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25" name="S06-label64"/>
          <p:cNvSpPr txBox="1"/>
          <p:nvPr/>
        </p:nvSpPr>
        <p:spPr>
          <a:xfrm>
            <a:off x="8315928" y="2305862"/>
            <a:ext cx="10149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더</a:t>
            </a:r>
            <a:endParaRPr lang="ko-KR" sz="2200" dirty="0"/>
          </a:p>
        </p:txBody>
      </p:sp>
      <p:sp>
        <p:nvSpPr>
          <p:cNvPr id="26" name="S06-label66"/>
          <p:cNvSpPr txBox="1"/>
          <p:nvPr/>
        </p:nvSpPr>
        <p:spPr>
          <a:xfrm>
            <a:off x="4198757" y="3869055"/>
            <a:ext cx="37922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원주(원을 한 바퀴 굴린 길이)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원주를 구해요</a:t>
            </a:r>
            <a:endParaRPr lang="ko-KR" sz="4000" dirty="0"/>
          </a:p>
        </p:txBody>
      </p:sp>
      <p:sp>
        <p:nvSpPr>
          <p:cNvPr id="3" name="S07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원주율로 원주를 구해요.</a:t>
            </a:r>
            <a:endParaRPr lang="ko-KR" sz="2800" dirty="0"/>
          </a:p>
        </p:txBody>
      </p:sp>
      <p:sp>
        <p:nvSpPr>
          <p:cNvPr id="4" name="S07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= 지름 × 원주율, 지름 = 반지름 × 2</a:t>
            </a:r>
            <a:endParaRPr lang="ko-KR" sz="2800" dirty="0"/>
          </a:p>
        </p:txBody>
      </p:sp>
      <p:sp>
        <p:nvSpPr>
          <p:cNvPr id="6" name="S07-chip7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7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10 cm (원주율 3.14)</a:t>
            </a:r>
            <a:endParaRPr lang="ko-KR" sz="2800" dirty="0"/>
          </a:p>
        </p:txBody>
      </p:sp>
      <p:sp>
        <p:nvSpPr>
          <p:cNvPr id="8" name="S07-chip7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7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5 cm (원주율 3.1)</a:t>
            </a:r>
            <a:endParaRPr lang="ko-KR" sz="2800" dirty="0"/>
          </a:p>
        </p:txBody>
      </p:sp>
      <p:sp>
        <p:nvSpPr>
          <p:cNvPr id="10" name="S07-chip7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7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7 cm (원주율 3)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반지름이 4 cm인 원의 원주는? (원주율 3.14)</a:t>
            </a:r>
            <a:endParaRPr lang="ko-KR" sz="2800" dirty="0"/>
          </a:p>
        </p:txBody>
      </p:sp>
      <p:sp>
        <p:nvSpPr>
          <p:cNvPr id="5" name="S08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토끼는 무엇을 빠뜨렸나요?</a:t>
            </a:r>
            <a:endParaRPr lang="ko-KR" sz="2800" dirty="0"/>
          </a:p>
        </p:txBody>
      </p:sp>
      <p:sp>
        <p:nvSpPr>
          <p:cNvPr id="7" name="S08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12.56 cm</a:t>
            </a:r>
            <a:endParaRPr lang="ko-KR" sz="2200" dirty="0"/>
          </a:p>
        </p:txBody>
      </p:sp>
      <p:sp>
        <p:nvSpPr>
          <p:cNvPr id="8" name="S08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 × 3.14 = 12.56이에요.”</a:t>
            </a:r>
            <a:endParaRPr lang="ko-KR" sz="2800" dirty="0"/>
          </a:p>
        </p:txBody>
      </p:sp>
      <p:sp>
        <p:nvSpPr>
          <p:cNvPr id="9" name="S08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25.12 cm</a:t>
            </a:r>
            <a:endParaRPr lang="ko-KR" sz="2200" dirty="0"/>
          </a:p>
        </p:txBody>
      </p:sp>
      <p:sp>
        <p:nvSpPr>
          <p:cNvPr id="10" name="S08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 × 2 × 3.14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25.12예요.”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원주로 지름 구하기</a:t>
            </a:r>
            <a:endParaRPr lang="ko-KR" sz="4000" dirty="0"/>
          </a:p>
        </p:txBody>
      </p:sp>
      <p:sp>
        <p:nvSpPr>
          <p:cNvPr id="3" name="S09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원주 ÷ 원주율</a:t>
            </a:r>
            <a:endParaRPr lang="ko-KR" sz="2800" dirty="0"/>
          </a:p>
        </p:txBody>
      </p:sp>
      <p:sp>
        <p:nvSpPr>
          <p:cNvPr id="5" name="S09-text8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원주가 18.6 cm인 원의 지름은? (원주율 3.1)</a:t>
            </a:r>
            <a:endParaRPr lang="ko-KR" sz="2800" dirty="0"/>
          </a:p>
        </p:txBody>
      </p:sp>
      <p:sp>
        <p:nvSpPr>
          <p:cNvPr id="6" name="S09-stepno87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9-text88"/>
          <p:cNvSpPr txBox="1"/>
          <p:nvPr/>
        </p:nvSpPr>
        <p:spPr>
          <a:xfrm>
            <a:off x="1325880" y="287578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= 지름 × 원주율</a:t>
            </a:r>
            <a:endParaRPr lang="ko-KR" sz="2800" dirty="0"/>
          </a:p>
        </p:txBody>
      </p:sp>
      <p:sp>
        <p:nvSpPr>
          <p:cNvPr id="8" name="S09-eqtext89"/>
          <p:cNvSpPr txBox="1"/>
          <p:nvPr/>
        </p:nvSpPr>
        <p:spPr>
          <a:xfrm>
            <a:off x="6981810" y="287578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× 3.1 = 18.6</a:t>
            </a:r>
            <a:endParaRPr lang="ko-KR" sz="2800" dirty="0"/>
          </a:p>
        </p:txBody>
      </p:sp>
      <p:sp>
        <p:nvSpPr>
          <p:cNvPr id="9" name="S09-stepno90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9-text91"/>
          <p:cNvSpPr txBox="1"/>
          <p:nvPr/>
        </p:nvSpPr>
        <p:spPr>
          <a:xfrm>
            <a:off x="1325880" y="358902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원주 ÷ 원주율</a:t>
            </a:r>
            <a:endParaRPr lang="ko-KR" sz="2800" dirty="0"/>
          </a:p>
        </p:txBody>
      </p:sp>
      <p:sp>
        <p:nvSpPr>
          <p:cNvPr id="11" name="S09-eqtext92"/>
          <p:cNvSpPr txBox="1"/>
          <p:nvPr/>
        </p:nvSpPr>
        <p:spPr>
          <a:xfrm>
            <a:off x="6981810" y="358902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18.6 ÷ 3.1 = 6</a:t>
            </a:r>
            <a:endParaRPr lang="ko-KR" sz="2800" dirty="0"/>
          </a:p>
        </p:txBody>
      </p:sp>
      <p:sp>
        <p:nvSpPr>
          <p:cNvPr id="12" name="S09-stepno93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9-text94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지름은 6 cm, 반지름은 3 cm예요.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지름을 구해요</a:t>
            </a:r>
            <a:endParaRPr lang="ko-KR" sz="4000" dirty="0"/>
          </a:p>
        </p:txBody>
      </p:sp>
      <p:sp>
        <p:nvSpPr>
          <p:cNvPr id="3" name="S10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원주율로 구해요.</a:t>
            </a:r>
            <a:endParaRPr lang="ko-KR" sz="2800" dirty="0"/>
          </a:p>
        </p:txBody>
      </p:sp>
      <p:sp>
        <p:nvSpPr>
          <p:cNvPr id="4" name="S10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원주 ÷ 원주율, 반지름 = 지름 ÷ 2</a:t>
            </a:r>
            <a:endParaRPr lang="ko-KR" sz="2800" dirty="0"/>
          </a:p>
        </p:txBody>
      </p:sp>
      <p:sp>
        <p:nvSpPr>
          <p:cNvPr id="6" name="S10-chip9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9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31.4 cm인 원의 지름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8" name="S10-chip10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10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37.2 cm인 원의 반지름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3.1)</a:t>
            </a:r>
            <a:endParaRPr lang="ko-KR" sz="2800" dirty="0"/>
          </a:p>
        </p:txBody>
      </p:sp>
      <p:sp>
        <p:nvSpPr>
          <p:cNvPr id="10" name="S10-chip10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10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24 cm인 원의 지름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답하고, 어떻게 구했는지 말해요.</a:t>
            </a:r>
            <a:endParaRPr lang="ko-KR" sz="2800" dirty="0"/>
          </a:p>
        </p:txBody>
      </p:sp>
      <p:sp>
        <p:nvSpPr>
          <p:cNvPr id="4" name="S11-chip10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10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원주율은 무엇을 무엇으로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값인가요?</a:t>
            </a:r>
            <a:endParaRPr lang="ko-KR" sz="2800" dirty="0"/>
          </a:p>
        </p:txBody>
      </p:sp>
      <p:sp>
        <p:nvSpPr>
          <p:cNvPr id="6" name="S11-chip10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10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20 cm인 원의 원주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8" name="S11-chip10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11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6 cm인 원의 원주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3.1)</a:t>
            </a:r>
            <a:endParaRPr lang="ko-KR" sz="2800" dirty="0"/>
          </a:p>
        </p:txBody>
      </p:sp>
      <p:sp>
        <p:nvSpPr>
          <p:cNvPr id="10" name="S11-chip11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1-text11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43.96 cm인 원의 지름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원주율에 대해 옳은 것은?</a:t>
            </a:r>
            <a:endParaRPr lang="ko-KR" sz="4000" dirty="0"/>
          </a:p>
        </p:txBody>
      </p:sp>
      <p:sp>
        <p:nvSpPr>
          <p:cNvPr id="3" name="S13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 것을 모두 고르고, 틀린 것은 바르게 고쳐 말해요.</a:t>
            </a:r>
            <a:endParaRPr lang="ko-KR" sz="2800" dirty="0"/>
          </a:p>
        </p:txBody>
      </p:sp>
      <p:sp>
        <p:nvSpPr>
          <p:cNvPr id="5" name="S13-chip115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card116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117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원일수록 원주율이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커요.</a:t>
            </a:r>
            <a:endParaRPr lang="ko-KR" sz="2800" dirty="0"/>
          </a:p>
        </p:txBody>
      </p:sp>
      <p:sp>
        <p:nvSpPr>
          <p:cNvPr id="8" name="S13-chip118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3-card119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20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원주율은 원주 ÷ 지름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이에요.</a:t>
            </a:r>
            <a:endParaRPr lang="ko-KR" sz="2800" dirty="0"/>
          </a:p>
        </p:txBody>
      </p:sp>
      <p:sp>
        <p:nvSpPr>
          <p:cNvPr id="11" name="S13-chip121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3-card122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123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원주율은 정확히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3.14예요.</a:t>
            </a:r>
            <a:endParaRPr lang="ko-KR" sz="2800" dirty="0"/>
          </a:p>
        </p:txBody>
      </p:sp>
      <p:sp>
        <p:nvSpPr>
          <p:cNvPr id="14" name="S13-chip124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3-card125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126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원주는 지름의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3.14배예요.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원주율 = 원주 ÷ 지름(약 3.14), 원주 = 지름 × 원주율</a:t>
            </a:r>
            <a:endParaRPr lang="ko-KR" sz="2800" dirty="0"/>
          </a:p>
        </p:txBody>
      </p:sp>
      <p:sp>
        <p:nvSpPr>
          <p:cNvPr id="5" name="S14-chip12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반지름이면 먼저 × 2</a:t>
            </a:r>
            <a:endParaRPr lang="ko-KR" sz="2200" dirty="0"/>
          </a:p>
        </p:txBody>
      </p:sp>
      <p:sp>
        <p:nvSpPr>
          <p:cNvPr id="6" name="S14-chip13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반지름에 바로 원주율 곱하기</a:t>
            </a:r>
            <a:endParaRPr lang="ko-KR" sz="2200" dirty="0"/>
          </a:p>
        </p:txBody>
      </p:sp>
      <p:sp>
        <p:nvSpPr>
          <p:cNvPr id="7" name="S14-text13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3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원주율은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 ÷ 무엇?</a:t>
            </a:r>
            <a:endParaRPr lang="ko-KR" sz="2200" dirty="0"/>
          </a:p>
        </p:txBody>
      </p:sp>
      <p:sp>
        <p:nvSpPr>
          <p:cNvPr id="9" name="S14-text13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지름 5 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원주는?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3.14)</a:t>
            </a:r>
            <a:endParaRPr lang="ko-KR" sz="2200" dirty="0"/>
          </a:p>
        </p:txBody>
      </p:sp>
      <p:sp>
        <p:nvSpPr>
          <p:cNvPr id="10" name="S14-text13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원주 9.3 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원의 지름은?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(원주율 3.1)</a:t>
            </a:r>
            <a:endParaRPr lang="ko-KR" sz="2200" dirty="0"/>
          </a:p>
        </p:txBody>
      </p:sp>
      <p:sp>
        <p:nvSpPr>
          <p:cNvPr id="11" name="S14-text13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원의 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지름과 소수의 곱셈</a:t>
            </a:r>
            <a:endParaRPr lang="ko-KR" sz="4000" dirty="0"/>
          </a:p>
        </p:txBody>
      </p:sp>
      <p:sp>
        <p:nvSpPr>
          <p:cNvPr id="3" name="S15-figure136" descr="원의 중심, 반지름(주황색), 지름"/>
          <p:cNvSpPr/>
          <p:nvPr/>
        </p:nvSpPr>
        <p:spPr>
          <a:xfrm>
            <a:off x="1590370" y="2400300"/>
            <a:ext cx="2743200" cy="2743200"/>
          </a:xfrm>
          <a:prstGeom prst="ellips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" name="S15-mark137"/>
          <p:cNvSpPr/>
          <p:nvPr/>
        </p:nvSpPr>
        <p:spPr>
          <a:xfrm>
            <a:off x="1590370" y="3771900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" name="S15-mark138"/>
          <p:cNvSpPr/>
          <p:nvPr/>
        </p:nvSpPr>
        <p:spPr>
          <a:xfrm flipV="1">
            <a:off x="2961970" y="2584094"/>
            <a:ext cx="685800" cy="1187806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15-label140"/>
          <p:cNvSpPr txBox="1"/>
          <p:nvPr/>
        </p:nvSpPr>
        <p:spPr>
          <a:xfrm>
            <a:off x="2633294" y="38487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</a:t>
            </a:r>
            <a:endParaRPr lang="ko-KR" sz="2200" dirty="0"/>
          </a:p>
        </p:txBody>
      </p:sp>
      <p:sp>
        <p:nvSpPr>
          <p:cNvPr id="7" name="S15-label142"/>
          <p:cNvSpPr txBox="1"/>
          <p:nvPr/>
        </p:nvSpPr>
        <p:spPr>
          <a:xfrm>
            <a:off x="2386073" y="2741701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</a:t>
            </a:r>
            <a:endParaRPr lang="ko-KR" sz="2200" dirty="0"/>
          </a:p>
        </p:txBody>
      </p:sp>
      <p:sp>
        <p:nvSpPr>
          <p:cNvPr id="8" name="S15-mark143"/>
          <p:cNvSpPr/>
          <p:nvPr/>
        </p:nvSpPr>
        <p:spPr>
          <a:xfrm>
            <a:off x="2902534" y="37124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card144"/>
          <p:cNvSpPr/>
          <p:nvPr/>
        </p:nvSpPr>
        <p:spPr>
          <a:xfrm>
            <a:off x="5741060" y="2307082"/>
            <a:ext cx="589925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5-cardtext145"/>
          <p:cNvSpPr txBox="1"/>
          <p:nvPr/>
        </p:nvSpPr>
        <p:spPr>
          <a:xfrm>
            <a:off x="6015380" y="2444242"/>
            <a:ext cx="535061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지름 = 반지름 × 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반지름 4 cm → 지름 8 cm</a:t>
            </a:r>
            <a:endParaRPr lang="ko-KR" sz="2800" dirty="0"/>
          </a:p>
        </p:txBody>
      </p:sp>
      <p:sp>
        <p:nvSpPr>
          <p:cNvPr id="11" name="S15-card146"/>
          <p:cNvSpPr/>
          <p:nvPr/>
        </p:nvSpPr>
        <p:spPr>
          <a:xfrm>
            <a:off x="5741060" y="3715766"/>
            <a:ext cx="5899252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5-cardtext147"/>
          <p:cNvSpPr txBox="1"/>
          <p:nvPr/>
        </p:nvSpPr>
        <p:spPr>
          <a:xfrm>
            <a:off x="6015380" y="3852926"/>
            <a:ext cx="5350612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곱셈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314 = 3768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3.14 = 37.68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원주와 원주율</dc:title>
  <dc:subject>KR22-G06-MAT-CIRCUM-L01</dc:subject>
  <dc:creator>education-ppt</dc:creator>
  <cp:lastModifiedBy>education-ppt</cp:lastModifiedBy>
  <cp:revision>1</cp:revision>
  <dcterms:created xsi:type="dcterms:W3CDTF">2026-10-26T09:27:59Z</dcterms:created>
  <dcterms:modified xsi:type="dcterms:W3CDTF">2026-10-26T09:27:59Z</dcterms:modified>
</cp:coreProperties>
</file>