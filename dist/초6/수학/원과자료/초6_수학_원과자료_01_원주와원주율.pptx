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1c1b917-56a5-3d7e-c241-34bed976abaf}">
          <p14:sldIdLst>
            <p14:sldId id="256"/>
            <p14:sldId id="257"/>
          </p14:sldIdLst>
        </p14:section>
        <p14:section name="개념" id="{32211ed8-2954-2e39-c6e6-7b1ad742d475}">
          <p14:sldIdLst>
            <p14:sldId id="258"/>
            <p14:sldId id="260"/>
            <p14:sldId id="261"/>
            <p14:sldId id="264"/>
          </p14:sldIdLst>
        </p14:section>
        <p14:section name="연습" id="{0872f908-999c-7647-a436-7cac0478d562}">
          <p14:sldIdLst>
            <p14:sldId id="259"/>
            <p14:sldId id="262"/>
            <p14:sldId id="263"/>
            <p14:sldId id="265"/>
          </p14:sldIdLst>
        </p14:section>
        <p14:section name="개념" id="{1777dc3c-0a57-5e99-af8c-6f60ffd99a3d}">
          <p14:sldIdLst/>
        </p14:section>
        <p14:section name="연습" id="{e0a0847e-a182-56b6-1442-2897a1d7ba22}">
          <p14:sldIdLst/>
        </p14:section>
        <p14:section name="개념" id="{d31465b0-5b7b-fd55-172d-bf7b6c9b8716}">
          <p14:sldIdLst/>
        </p14:section>
        <p14:section name="연습" id="{2205416f-d721-b0df-7823-1af288a3acdc}">
          <p14:sldIdLst/>
        </p14:section>
        <p14:section name="확인" id="{21c8b270-c1af-1e8e-045c-d2b77e1b5938}">
          <p14:sldIdLst>
            <p14:sldId id="266"/>
            <p14:sldId id="267"/>
            <p14:sldId id="268"/>
          </p14:sldIdLst>
        </p14:section>
        <p14:section name="정리" id="{64ca2a75-dda6-6c89-ade0-25f5b3b13ba2}">
          <p14:sldIdLst>
            <p14:sldId id="269"/>
          </p14:sldIdLst>
        </p14:section>
        <p14:section name="보충" id="{8ddce3a1-a407-a792-baef-449bd453a6d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원의 둘레와 지름 사이에 어떤 관계가 있는지 궁금하게 하고 오늘 할 일을 알려 줍니다.
시간: 약 2분
이렇게 말해 보세요
- “원의 둘레를 자로 바로 잴 수 있을까? 지름은 자로 재기 쉽지?”
- “원의 둘레는 지름의 몇 배쯤 될까? 2배? 3배? 4배? 예상해 봐.”
예상 답
- “2배요.” “3배쯤이요.” “모르겠어요.”
막히면
- 예상만 적어 두고 넘어갑니다. S04에서 직접 재어 확인합니다.
주의
- 준비물: 둥근 컵이나 접시 2~3개, 종이 띠(A4를 길게 잘라 이음)나 끈, 자, 계산기(나눗셈 확인용, 있으면).
- ‘원주율’은 원의 크기와 관계없이 늘 같은 값이라는 것이 오늘의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확인(지름, 소수의 곱셈·나눗셈)]
목적: 오늘 쓰는 지름과 반지름의 관계, (자연수) × (소수), (소수) ÷ (자연수)를 확인합니다.
시간: 약 3분
이렇게 말해 보세요
- “①은 3학년 때 배운 원이야. 지름은 반지름의 몇 배였지?”
- “②③은 소수의 계산이야. 소수점의 위치를 조심해서 해 볼래?”
정답
- ① 8 cm (4 × 2)
- ② 37.68
- ③ 3.14
막히면
- ②는 12 × 314 = 3768을 먼저 하고 소수점 아래 두 자리를 맞춥니다.
- 두 개 이상 틀리면 S15(보충)를 먼저 합니다. 보충으로도 어려우면 초3 ‘원의 중심·반지름·지름’, 초5 ‘소수의 곱셈’을 먼저 다시 합니다.
주의
- 오늘 문제의 계산은 대부분 이 세 가지입니다. 계산이 오래 걸리면 계산기를 써도 되지만, 식은 아이가 세우게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원주의 뜻과 어림(정육각형·정사각형)]
목적: 원의 둘레를 원주라고 하고, 원 안의 정육각형과 원 밖의 정사각형의 둘레와 비교해 원주가 지름의 3배보다 길고 4배보다 짧음을 압니다.
시간: 약 3분
이렇게 말해 보세요
- “원의 둘레를 ‘원주’라고 해. 원 안에 꼭 맞는 정육각형이 있어. 정육각형의 한 변은 반지름과 같아. 둘레는 반지름 몇 개야?”
- “반지름 6개는 지름 몇 개와 같지?”
- “원 밖의 정사각형은 한 변이 지름과 같아. 둘레는 지름의 몇 배야?”
- “그러면 원주는 지름의 몇 배쯤일까?”
예상 답
- “정육각형은 반지름 6개니까 지름 3개예요.” “정사각형은 지름 4개예요.”
- “원주는 3배와 4배 사이예요.”
막히면
- 정육각형은 정삼각형 6개로 나뉘어 한 변이 반지름과 같다는 것을 그림에서 짚어 줍니다.
- 원은 정육각형보다 밖에, 정사각형보다 안에 있으니 둘레도 그 사이라는 것을 손가락으로 따라가 봅니다.
주의
- 정육각형의 한 변이 반지름과 같은 까닭은 깊게 다루지 않습니다. 그림으로 확인하는 정도면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원주와 지름을 재어 원주 ÷ 지름 구하기(직접 해 보기)]
목적: 집에 있는 둥근 물건 2~3개의 원주와 지름을 직접 재어 원주 ÷ 지름이 모두 3.1쯤으로 비슷하다는 것을 확인합니다.
시간: 약 5분
이렇게 말해 보세요
- “컵 바닥을 종이에 대고 원을 그리자. 원 안에서 가장 긴 곳(중심을 지나는 곳)을 자로 재면 지름이야.”
- “종이 띠를 컵에 한 바퀴 감고 만나는 곳에 표시한 다음, 띠를 펴서 자로 재면 원주야.”
- “원주 ÷ 지름을 계산해 볼까? 다른 물건도 해 보자. 결과가 어때?”
예상 답
- “컵은 3.1쯤, 접시도 3.1쯤 나와요.” “물건이 달라도 비슷해요.”
막히면
- 지름을 잴 때는 원을 반으로 접어 접힌 선을 재면 정확합니다.
- 나눗셈은 소수 둘째 자리까지만 구하거나 계산기를 씁니다. 예: 원주 25.1 cm, 지름 8 cm → 25.1 ÷ 8 = 3.1375 → 약 3.14
주의
- 손으로 재면 오차가 생겨 3.0이나 3.2가 나올 수도 있습니다. ‘3보다 조금 크다’면 잘 잰 것입니다.
- 잰 값은 활동지 5번 표에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원주율의 뜻]
목적: 원의 지름에 대한 원주의 비율을 원주율이라 하고, 원주율(원주 ÷ 지름)은 원의 크기와 관계없이 일정하며 약 3.14임을 압니다.
시간: 약 3분
이렇게 말해 보세요
- “병뚜껑, 컵, 접시는 크기가 다른데 원주 ÷ 지름은 어때?”
- “이렇게 원주를 지름으로 나눈 값을 ‘원주율’이라고 해. 어떤 원이든 원주율은 같아.”
- “원주율은 3.1415926535…처럼 끝없이 이어지는 수야. 그래서 3.14, 3.1, 3처럼 어림해서 써.”
예상 답
- “모두 3.14쯤이에요.”
막히면
- S04에서 직접 잰 값과 표의 값을 나란히 놓고 비교합니다.
주의
- 표의 값은 원주를 소수 첫째 자리까지 잰 예입니다. 재는 방법에 따라 3.13처럼 조금 다를 수 있습니다.
- 문제마다 어떤 원주율(3, 3.1, 3.14)을 쓰는지 주어집니다. 주어진 값을 써야 답이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원주 = 지름 × 원주율]
목적: 원주율 = 원주 ÷ 지름에서 원주 = 지름 × 원주율(= 반지름 × 2 × 원주율)임을 알고 원주를 구합니다.
시간: 약 3분
이렇게 말해 보세요
- “원을 한 바퀴 굴리면 굴러간 길이가 원주야. 지름 몇 개만큼이야?”
- “원주는 지름의 원주율배니까 원주 = 지름 × 원주율이야. 반지름만 알면 어떻게 할까?”
- “지름이 10 cm이고 원주율이 3.14이면 원주는?”
예상 답
- “지름 3개하고 조금 더예요.”
- “반지름에 2를 곱해 지름을 만들어요.”
- “31.4 cm예요.”
막히면
- 컵을 책상 위에서 한 바퀴 굴려 굴러간 길이를 재 봅니다(시작점에 표시).
주의
- 그림은 지름 3개를 이은 길이(주황·파랑)와 남은 길이(초록)를 보여 줍니다. 원주는 지름의 약 3.14배입니다.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연습(원주 구하기)]
목적: 도움을 받으며 지름이나 반지름과 주어진 원주율로 원주를 구합니다.
시간: 약 3분
이렇게 말해 보세요
- “①은 지름을 알아. 원주는?”
- “②는 반지름이야. 지름부터 구해 볼까? 원주율은 3.1을 써.”
- “③은 원주율을 3으로 어림했어.”
정답
- ① 10 × 3.14 = 31.4, 31.4 cm
- ② 5 × 2 × 3.1 = 31, 31 cm
- ③ 7 × 3 = 21, 21 cm
막히면
- 원을 그리고 반지름, 지름을 표시한 뒤 식을 세웁니다.
주의
- ②를 5 × 3.1 = 15.5로 하면 S08에서 다룹니다.
- 원주율에 따라 답이 조금씩 다를 수 있습니다. 문제에 주어진 원주율을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비교(반지름 × 원주율)]
목적: 반지름에 바로 원주율을 곱하는 실수(M2)를 찾고, 원주는 지름의 원주율배라는 것으로 설명합니다.
시간: 약 2분
이렇게 말해 보세요
- “원주율은 원주가 무엇의 몇 배인지 나타낸 수였지? 반지름이야, 지름이야?”
예상 답
- “곰이요. 원주는 지름 × 원주율인데 토끼는 반지름에 곱했어요.”
정답
- 곰이 맞습니다. 지름이 4 × 2 = 8 cm이므로 원주는 8 × 3.14 = 25.12 cm입니다.
- 토끼의 12.56 cm는 원주의 절반입니다.
막히면
- S03 그림에서 원주가 지름의 3배보다 길다는 것을 떠올리게 합니다. 12.56은 지름 8의 3배(24)보다 작으니 너무 짧습니다.
주의
- 답을 어림해 보는 습관: 원주는 지름의 3배보다 조금 깁니다(8 × 3 = 24 → 25.12는 알맞음).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원주로 지름 구하기]
목적: 원주 = 지름 × 원주율에서 지름 = 원주 ÷ 원주율임을 알고, 원주로 지름과 반지름을 구합니다.
시간: 약 3분
이렇게 말해 보세요
- “지름을 □라고 하면 □ × 3.1 = 18.6이야. □는 어떻게 구할까?”
- “곱셈식의 □는 나눗셈으로 구했지? 18.6 ÷ 3.1은?”
- “반지름은?”
예상 답
- “18.6 ÷ 3.1 = 6, 지름은 6 cm예요. 반지름은 3 cm예요.”
막히면
- 18.6 ÷ 3.1은 186 ÷ 31로 바꾸어 계산합니다(나누는 수와 나뉘는 수에 똑같이 10을 곱함).
- 거꾸로 확인: 6 × 3.1 = 18.6
주의
- (소수) ÷ (소수)는 초6 ‘소수의 나눗셈 2’에서 배웠습니다. 막히면 계산기를 써도 되지만 식은 아이가 세웁니다.
- 여기까지가 설명입니다. 지치면 쉬고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연습(지름·반지름 구하기)]
목적: 도움을 받으며 원주와 원주율로 지름과 반지름을 구합니다.
시간: 약 3분
이렇게 말해 보세요
- “①은 원주를 원주율로 나누면 돼.”
- “②는 반지름을 묻고 있어. 지름부터 구하자.”
- “③은 원주율이 3이야.”
정답
- ① 31.4 ÷ 3.14 = 10, 10 cm
- ② 37.2 ÷ 3.1 = 12, 반지름 12 ÷ 2 = 6, 6 cm
- ③ 24 ÷ 3 = 8, 8 cm
막히면
- 답을 원주 = 지름 × 원주율에 넣어 맞는지 확인하게 합니다(10 × 3.14 = 31.4).
주의
- ②에서 12 cm라고 하면 “지름이야, 반지름이야?”라고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원주율의 뜻(목표 ①)을 말하고, 원주와 지름을 구하는지(목표 ②) 봅니다.
시간: 약 5분
이렇게 말해 보세요
- “이번에는 혼자 해 볼래? 다 하면 어떤 식을 세웠는지 말해 줘.”
정답
- ① 원주를 지름으로 나눈 값(원주 ÷ 지름), 약 3.14
- ② 20 × 3.14 = 62.8, 62.8 cm
- ③ 6 × 2 × 3.1 = 37.2, 37.2 cm
- ④ 43.96 ÷ 3.14 = 14, 14 cm
막히면
- 바로 알려 주지 말고 “원주를 구하는 식이 뭐였지?”라고만 묻습니다.
- 도움을 받아 해결했다면 기록표에 ‘도움’으로 표시합니다.
주의
- ④의 나눗셈은 4396 ÷ 314로 바꾸어 계산할 수 있습니다. 14 × 3.14 = 43.96으로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어느 식이 달랐는지 같이 보자.”
정답
- ① 원주 ÷ 지름(약 3.14) ② 62.8 cm ③ 37.2 cm ④ 14 cm
막히면
- ①은 S05, ②③은 S06·S08, ④는 S09를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확인(원주율의 성질)]
목적: 처음 보는 문장에서 원주율의 뜻과 성질(일정함, 어림값)을 판단하고 고쳐 말하는지 확인합니다.
시간: 약 2분
이렇게 말해 보세요
- “옳은 것을 모두 골라 볼래? 틀린 것은 어떻게 고치면 맞을까?”
정답
- 나, 라
- 가: 원의 크기와 관계없이 원주율은 일정합니다(큰 원은 원주와 지름이 함께 커짐).
- 다: 원주율은 3.1415926535…처럼 끝없이 이어지는 수이고, 3.14는 어림한 값입니다.
막히면
- S05 표에서 병뚜껑과 접시의 원주 ÷ 지름을 다시 봅니다.
주의
- 가를 고르면 ‘원주가 커지면 원주율도 커진다’고 생각한 것입니다. 지름도 함께 커진다는 것을 짚어 줍니다. 틀린 문장을 고쳐 말하면 목표 ①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“원주율이 뭐였지? 원주는 어떻게 구하지? 지름은?”
예상 답
- “원주 ÷ 지름이고 약 3.14예요. 원주는 지름 × 원주율, 지름은 원주 ÷ 원주율이에요.”
정답
- ① 원주 ÷ 지름
- ② 5 × 3.14 = 15.7, 15.7 cm
- ③ 9.3 ÷ 3.1 = 3, 3 cm
막히면
- S05와 S06, S09를 다시 보여 줍니다.
주의
- 복습 세 문제는 다음 수업을 시작할 때 활동지 마지막 쪽과 함께 풉니다.
- 다음 차시 ‘원의 넓이’에서는 종이 원(컴퍼스나 컵으로 그림), 가위, 풀을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보충(지름과 반지름, 소수의 곱셈)]
목적: S02에서 지름이나 소수의 곱셈이 흔들리면, 오늘 내용 전에 두 가지를 다시 익힙니다.
시간: 약 5분
이렇게 말해 보세요
- “지름은 반지름 두 개를 이은 길이였어. 반지름이 4 cm면 지름은?”
- “12 × 3.14는 먼저 12 × 314를 하고, 3.14의 소수점 아래 두 자리만큼 소수점을 찍어.”
정답
- 지름 8 cm
- 12 × 3.14 = 37.68
막히면
- 3.14를 ‘3과 0.14’로 나누어 12 × 3 = 36, 12 × 0.14 = 1.68, 36 + 1.68 = 37.68로 계산해 봅니다.
주의
- 보충으로도 어려우면 초3 ‘원의 중심·반지름·지름’과 초5 ‘소수의 곱셈’을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원주와 원주율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둘레는 지름의 몇 배일까?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과 원의 중심을 지나는 지름(주황색)"/>
          <p:cNvSpPr/>
          <p:nvPr/>
        </p:nvSpPr>
        <p:spPr>
          <a:xfrm>
            <a:off x="8275320" y="73152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743200" y="1371600"/>
                </a:moveTo>
                <a:lnTo>
                  <a:pt x="2737714" y="1251814"/>
                </a:lnTo>
                <a:lnTo>
                  <a:pt x="2722169" y="1133856"/>
                </a:lnTo>
                <a:lnTo>
                  <a:pt x="2696566" y="1016813"/>
                </a:lnTo>
                <a:lnTo>
                  <a:pt x="2660904" y="902513"/>
                </a:lnTo>
                <a:lnTo>
                  <a:pt x="2614270" y="791870"/>
                </a:lnTo>
                <a:lnTo>
                  <a:pt x="2559406" y="685800"/>
                </a:lnTo>
                <a:lnTo>
                  <a:pt x="2495398" y="585216"/>
                </a:lnTo>
                <a:lnTo>
                  <a:pt x="2422246" y="490118"/>
                </a:lnTo>
                <a:lnTo>
                  <a:pt x="2341778" y="401422"/>
                </a:lnTo>
                <a:lnTo>
                  <a:pt x="2253082" y="320954"/>
                </a:lnTo>
                <a:lnTo>
                  <a:pt x="2157984" y="247802"/>
                </a:lnTo>
                <a:lnTo>
                  <a:pt x="2057400" y="183794"/>
                </a:lnTo>
                <a:lnTo>
                  <a:pt x="1951330" y="128930"/>
                </a:lnTo>
                <a:lnTo>
                  <a:pt x="1840687" y="82296"/>
                </a:lnTo>
                <a:lnTo>
                  <a:pt x="1726387" y="46634"/>
                </a:lnTo>
                <a:lnTo>
                  <a:pt x="1609344" y="21031"/>
                </a:lnTo>
                <a:lnTo>
                  <a:pt x="1491386" y="5486"/>
                </a:lnTo>
                <a:lnTo>
                  <a:pt x="1371600" y="0"/>
                </a:lnTo>
                <a:lnTo>
                  <a:pt x="1251814" y="5486"/>
                </a:lnTo>
                <a:lnTo>
                  <a:pt x="1133856" y="21031"/>
                </a:lnTo>
                <a:lnTo>
                  <a:pt x="1016813" y="46634"/>
                </a:lnTo>
                <a:lnTo>
                  <a:pt x="902513" y="82296"/>
                </a:lnTo>
                <a:lnTo>
                  <a:pt x="791870" y="128930"/>
                </a:lnTo>
                <a:lnTo>
                  <a:pt x="685800" y="183794"/>
                </a:lnTo>
                <a:lnTo>
                  <a:pt x="585216" y="247802"/>
                </a:lnTo>
                <a:lnTo>
                  <a:pt x="490118" y="320954"/>
                </a:lnTo>
                <a:lnTo>
                  <a:pt x="401422" y="401422"/>
                </a:lnTo>
                <a:lnTo>
                  <a:pt x="320954" y="490118"/>
                </a:lnTo>
                <a:lnTo>
                  <a:pt x="247802" y="585216"/>
                </a:lnTo>
                <a:lnTo>
                  <a:pt x="183794" y="685800"/>
                </a:lnTo>
                <a:lnTo>
                  <a:pt x="128930" y="791870"/>
                </a:lnTo>
                <a:lnTo>
                  <a:pt x="82296" y="902513"/>
                </a:lnTo>
                <a:lnTo>
                  <a:pt x="46634" y="1016813"/>
                </a:lnTo>
                <a:lnTo>
                  <a:pt x="21031" y="1133856"/>
                </a:lnTo>
                <a:lnTo>
                  <a:pt x="5486" y="1251814"/>
                </a:lnTo>
                <a:lnTo>
                  <a:pt x="0" y="1371600"/>
                </a:lnTo>
                <a:lnTo>
                  <a:pt x="5486" y="1491386"/>
                </a:lnTo>
                <a:lnTo>
                  <a:pt x="21031" y="1609344"/>
                </a:lnTo>
                <a:lnTo>
                  <a:pt x="46634" y="1726387"/>
                </a:lnTo>
                <a:lnTo>
                  <a:pt x="82296" y="1840687"/>
                </a:lnTo>
                <a:lnTo>
                  <a:pt x="128930" y="1951330"/>
                </a:lnTo>
                <a:lnTo>
                  <a:pt x="183794" y="2057400"/>
                </a:lnTo>
                <a:lnTo>
                  <a:pt x="247802" y="2157984"/>
                </a:lnTo>
                <a:lnTo>
                  <a:pt x="320954" y="2253082"/>
                </a:lnTo>
                <a:lnTo>
                  <a:pt x="401422" y="2341778"/>
                </a:lnTo>
                <a:lnTo>
                  <a:pt x="490118" y="2422246"/>
                </a:lnTo>
                <a:lnTo>
                  <a:pt x="585216" y="2495398"/>
                </a:lnTo>
                <a:lnTo>
                  <a:pt x="685800" y="2559406"/>
                </a:lnTo>
                <a:lnTo>
                  <a:pt x="791870" y="2614270"/>
                </a:lnTo>
                <a:lnTo>
                  <a:pt x="902513" y="2660904"/>
                </a:lnTo>
                <a:lnTo>
                  <a:pt x="1016813" y="2696566"/>
                </a:lnTo>
                <a:lnTo>
                  <a:pt x="1133856" y="2722169"/>
                </a:lnTo>
                <a:lnTo>
                  <a:pt x="1251814" y="2737714"/>
                </a:lnTo>
                <a:lnTo>
                  <a:pt x="1371600" y="2743200"/>
                </a:lnTo>
                <a:lnTo>
                  <a:pt x="1491386" y="2737714"/>
                </a:lnTo>
                <a:lnTo>
                  <a:pt x="1609344" y="2722169"/>
                </a:lnTo>
                <a:lnTo>
                  <a:pt x="1726387" y="2696566"/>
                </a:lnTo>
                <a:lnTo>
                  <a:pt x="1840687" y="2660904"/>
                </a:lnTo>
                <a:lnTo>
                  <a:pt x="1951330" y="2614270"/>
                </a:lnTo>
                <a:lnTo>
                  <a:pt x="2057400" y="2559406"/>
                </a:lnTo>
                <a:lnTo>
                  <a:pt x="2157984" y="2495398"/>
                </a:lnTo>
                <a:lnTo>
                  <a:pt x="2253082" y="2422246"/>
                </a:lnTo>
                <a:lnTo>
                  <a:pt x="2341778" y="2341778"/>
                </a:lnTo>
                <a:lnTo>
                  <a:pt x="2422246" y="2253082"/>
                </a:lnTo>
                <a:lnTo>
                  <a:pt x="2495398" y="2157984"/>
                </a:lnTo>
                <a:lnTo>
                  <a:pt x="2559406" y="2057400"/>
                </a:lnTo>
                <a:lnTo>
                  <a:pt x="2614270" y="1951330"/>
                </a:lnTo>
                <a:lnTo>
                  <a:pt x="2660904" y="1840687"/>
                </a:lnTo>
                <a:lnTo>
                  <a:pt x="2696566" y="1726387"/>
                </a:lnTo>
                <a:lnTo>
                  <a:pt x="2722169" y="1609344"/>
                </a:lnTo>
                <a:lnTo>
                  <a:pt x="2737714" y="149138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75320" y="2103120"/>
            <a:ext cx="2743200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587484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원주와 지름의 관계(원주율)를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원주율로 원주와 지름을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 원의 지름은?</a:t>
            </a:r>
            <a:endParaRPr lang="ko-KR" sz="28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3.14 = □</a:t>
            </a:r>
            <a:endParaRPr lang="ko-KR" sz="32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31.4 ÷ 10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 몇 배일까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둘레를 원주라고 해요.</a:t>
            </a:r>
            <a:endParaRPr lang="ko-KR" sz="2800" dirty="0"/>
          </a:p>
        </p:txBody>
      </p:sp>
      <p:sp>
        <p:nvSpPr>
          <p:cNvPr id="4" name="S03-figure14" descr="원과, 원 안에 꼭 맞는 정육각형(주황색), 원 밖에 꼭 맞는 정사각형(파란색). 원의 지름을 점선으로 표시"/>
          <p:cNvSpPr/>
          <p:nvPr/>
        </p:nvSpPr>
        <p:spPr>
          <a:xfrm>
            <a:off x="1590370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" name="S03-mark15"/>
          <p:cNvSpPr/>
          <p:nvPr/>
        </p:nvSpPr>
        <p:spPr>
          <a:xfrm>
            <a:off x="1590370" y="2926994"/>
            <a:ext cx="2743200" cy="2375611"/>
          </a:xfrm>
          <a:custGeom>
            <a:avLst/>
            <a:gdLst/>
            <a:ahLst/>
            <a:cxnLst/>
            <a:rect l="l" t="t" r="r" b="b"/>
            <a:pathLst>
              <a:path w="2743200" h="2375611">
                <a:moveTo>
                  <a:pt x="2743200" y="1187806"/>
                </a:moveTo>
                <a:lnTo>
                  <a:pt x="2057400" y="0"/>
                </a:lnTo>
                <a:lnTo>
                  <a:pt x="685800" y="0"/>
                </a:lnTo>
                <a:lnTo>
                  <a:pt x="0" y="1187806"/>
                </a:lnTo>
                <a:lnTo>
                  <a:pt x="685800" y="2375611"/>
                </a:lnTo>
                <a:lnTo>
                  <a:pt x="2057400" y="2375611"/>
                </a:lnTo>
                <a:close/>
              </a:path>
            </a:pathLst>
          </a:custGeom>
          <a:solidFill>
            <a:srgbClr val="FDEBDD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16"/>
          <p:cNvSpPr/>
          <p:nvPr/>
        </p:nvSpPr>
        <p:spPr>
          <a:xfrm>
            <a:off x="1590370" y="27432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17"/>
          <p:cNvSpPr/>
          <p:nvPr/>
        </p:nvSpPr>
        <p:spPr>
          <a:xfrm>
            <a:off x="1590370" y="41148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label19"/>
          <p:cNvSpPr txBox="1"/>
          <p:nvPr/>
        </p:nvSpPr>
        <p:spPr>
          <a:xfrm>
            <a:off x="2633294" y="41916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9" name="S03-card20"/>
          <p:cNvSpPr/>
          <p:nvPr/>
        </p:nvSpPr>
        <p:spPr>
          <a:xfrm>
            <a:off x="5741060" y="2107692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21"/>
          <p:cNvSpPr txBox="1"/>
          <p:nvPr/>
        </p:nvSpPr>
        <p:spPr>
          <a:xfrm>
            <a:off x="6015380" y="2244852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3</a:t>
            </a:r>
            <a:endParaRPr lang="ko-KR" sz="2800" dirty="0"/>
          </a:p>
        </p:txBody>
      </p:sp>
      <p:sp>
        <p:nvSpPr>
          <p:cNvPr id="11" name="S03-card22"/>
          <p:cNvSpPr/>
          <p:nvPr/>
        </p:nvSpPr>
        <p:spPr>
          <a:xfrm>
            <a:off x="5741060" y="3516376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2" name="S03-cardtext23"/>
          <p:cNvSpPr txBox="1"/>
          <p:nvPr/>
        </p:nvSpPr>
        <p:spPr>
          <a:xfrm>
            <a:off x="6015380" y="3653536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4</a:t>
            </a:r>
            <a:endParaRPr lang="ko-KR" sz="2800" dirty="0"/>
          </a:p>
        </p:txBody>
      </p:sp>
      <p:sp>
        <p:nvSpPr>
          <p:cNvPr id="13" name="S03-card24"/>
          <p:cNvSpPr/>
          <p:nvPr/>
        </p:nvSpPr>
        <p:spPr>
          <a:xfrm>
            <a:off x="5741060" y="4925060"/>
            <a:ext cx="589925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5"/>
          <p:cNvSpPr txBox="1"/>
          <p:nvPr/>
        </p:nvSpPr>
        <p:spPr>
          <a:xfrm>
            <a:off x="6015380" y="5062220"/>
            <a:ext cx="535061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 3배보다 길고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4배보다 짧아요.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재어 봐요</a:t>
            </a:r>
            <a:endParaRPr lang="ko-KR" sz="4000" dirty="0"/>
          </a:p>
        </p:txBody>
      </p:sp>
      <p:sp>
        <p:nvSpPr>
          <p:cNvPr id="3" name="S04-card2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쟀는지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지름은 가장 긴 곳을 쟀나요?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띠를 팽팽하게 감았나요?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몫이 3과 4 사이인가요?</a:t>
            </a:r>
            <a:endParaRPr lang="ko-KR" sz="2800" dirty="0"/>
          </a:p>
        </p:txBody>
      </p:sp>
      <p:sp>
        <p:nvSpPr>
          <p:cNvPr id="5" name="S04-stepno28"/>
          <p:cNvSpPr txBox="1"/>
          <p:nvPr/>
        </p:nvSpPr>
        <p:spPr>
          <a:xfrm>
            <a:off x="548640" y="2624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29"/>
          <p:cNvSpPr txBox="1"/>
          <p:nvPr/>
        </p:nvSpPr>
        <p:spPr>
          <a:xfrm>
            <a:off x="1325880" y="2624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바닥의 지름을 자로 재요.</a:t>
            </a:r>
            <a:endParaRPr lang="ko-KR" sz="2800" dirty="0"/>
          </a:p>
        </p:txBody>
      </p:sp>
      <p:sp>
        <p:nvSpPr>
          <p:cNvPr id="7" name="S04-stepno30"/>
          <p:cNvSpPr txBox="1"/>
          <p:nvPr/>
        </p:nvSpPr>
        <p:spPr>
          <a:xfrm>
            <a:off x="548640" y="3383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31"/>
          <p:cNvSpPr txBox="1"/>
          <p:nvPr/>
        </p:nvSpPr>
        <p:spPr>
          <a:xfrm>
            <a:off x="1325880" y="3338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컵에 한 바퀴 감고 표시해 원주를 재요.</a:t>
            </a:r>
            <a:endParaRPr lang="ko-KR" sz="2800" dirty="0"/>
          </a:p>
        </p:txBody>
      </p:sp>
      <p:sp>
        <p:nvSpPr>
          <p:cNvPr id="9" name="S04-stepno32"/>
          <p:cNvSpPr txBox="1"/>
          <p:nvPr/>
        </p:nvSpPr>
        <p:spPr>
          <a:xfrm>
            <a:off x="548640" y="4370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33"/>
          <p:cNvSpPr txBox="1"/>
          <p:nvPr/>
        </p:nvSpPr>
        <p:spPr>
          <a:xfrm>
            <a:off x="1325880" y="4370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÷ 지름을 계산해요.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다른 원을 재어 원주 ÷ 지름을 구했어요(예).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= 원주 ÷ 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크기와 관계없이 일정해요. 약 3.14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447290"/>
          <a:ext cx="9601200" cy="914400"/>
        </p:xfrm>
        <a:graphic>
          <a:graphicData uri="http://schemas.openxmlformats.org/drawingml/2006/table">
            <a:tbl>
              <a:tblPr/>
              <a:tblGrid>
                <a:gridCol w="2112264"/>
                <a:gridCol w="2304288"/>
                <a:gridCol w="2304288"/>
                <a:gridCol w="2880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원주(cm)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지름(cm)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원주 ÷ 지름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병뚜껑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3.13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3.14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62.8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구하기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원주율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4322064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4596384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반지름을 알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× 2 × 원주율</a:t>
            </a:r>
            <a:endParaRPr lang="ko-KR" sz="2800" dirty="0"/>
          </a:p>
        </p:txBody>
      </p:sp>
      <p:sp>
        <p:nvSpPr>
          <p:cNvPr id="7" name="S06-card42"/>
          <p:cNvSpPr/>
          <p:nvPr/>
        </p:nvSpPr>
        <p:spPr>
          <a:xfrm>
            <a:off x="8095488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3"/>
          <p:cNvSpPr txBox="1"/>
          <p:nvPr/>
        </p:nvSpPr>
        <p:spPr>
          <a:xfrm>
            <a:off x="8369808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예(원주율 3.14)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3.14 = 31.4 (cm)</a:t>
            </a:r>
            <a:endParaRPr lang="ko-KR" sz="2800" dirty="0"/>
          </a:p>
        </p:txBody>
      </p:sp>
      <p:sp>
        <p:nvSpPr>
          <p:cNvPr id="9" name="S06-figure44" descr="원을 직선 위에서 한 바퀴 굴린 길이(원주)가 지름 3개를 이은 길이보다 조금 더 김"/>
          <p:cNvSpPr/>
          <p:nvPr/>
        </p:nvSpPr>
        <p:spPr>
          <a:xfrm>
            <a:off x="2857494" y="1409700"/>
            <a:ext cx="1563193" cy="1563193"/>
          </a:xfrm>
          <a:custGeom>
            <a:avLst/>
            <a:gdLst/>
            <a:ahLst/>
            <a:cxnLst/>
            <a:rect l="l" t="t" r="r" b="b"/>
            <a:pathLst>
              <a:path w="1563193" h="1563193">
                <a:moveTo>
                  <a:pt x="1563193" y="781596"/>
                </a:moveTo>
                <a:lnTo>
                  <a:pt x="1556159" y="679207"/>
                </a:lnTo>
                <a:lnTo>
                  <a:pt x="1536619" y="579163"/>
                </a:lnTo>
                <a:lnTo>
                  <a:pt x="1503792" y="482245"/>
                </a:lnTo>
                <a:lnTo>
                  <a:pt x="1458459" y="390798"/>
                </a:lnTo>
                <a:lnTo>
                  <a:pt x="1401402" y="305604"/>
                </a:lnTo>
                <a:lnTo>
                  <a:pt x="1334185" y="229008"/>
                </a:lnTo>
                <a:lnTo>
                  <a:pt x="1257589" y="161790"/>
                </a:lnTo>
                <a:lnTo>
                  <a:pt x="1172395" y="104734"/>
                </a:lnTo>
                <a:lnTo>
                  <a:pt x="1080948" y="59401"/>
                </a:lnTo>
                <a:lnTo>
                  <a:pt x="984030" y="26574"/>
                </a:lnTo>
                <a:lnTo>
                  <a:pt x="883986" y="7034"/>
                </a:lnTo>
                <a:lnTo>
                  <a:pt x="781596" y="0"/>
                </a:lnTo>
                <a:lnTo>
                  <a:pt x="679207" y="7034"/>
                </a:lnTo>
                <a:lnTo>
                  <a:pt x="579163" y="26574"/>
                </a:lnTo>
                <a:lnTo>
                  <a:pt x="482245" y="59401"/>
                </a:lnTo>
                <a:lnTo>
                  <a:pt x="390798" y="104734"/>
                </a:lnTo>
                <a:lnTo>
                  <a:pt x="305604" y="161790"/>
                </a:lnTo>
                <a:lnTo>
                  <a:pt x="229008" y="229008"/>
                </a:lnTo>
                <a:lnTo>
                  <a:pt x="161790" y="305604"/>
                </a:lnTo>
                <a:lnTo>
                  <a:pt x="104734" y="390798"/>
                </a:lnTo>
                <a:lnTo>
                  <a:pt x="59401" y="482245"/>
                </a:lnTo>
                <a:lnTo>
                  <a:pt x="26574" y="579163"/>
                </a:lnTo>
                <a:lnTo>
                  <a:pt x="7034" y="679207"/>
                </a:lnTo>
                <a:lnTo>
                  <a:pt x="0" y="781596"/>
                </a:lnTo>
                <a:lnTo>
                  <a:pt x="7034" y="883986"/>
                </a:lnTo>
                <a:lnTo>
                  <a:pt x="26574" y="984030"/>
                </a:lnTo>
                <a:lnTo>
                  <a:pt x="59401" y="1080948"/>
                </a:lnTo>
                <a:lnTo>
                  <a:pt x="104734" y="1172395"/>
                </a:lnTo>
                <a:lnTo>
                  <a:pt x="161790" y="1257589"/>
                </a:lnTo>
                <a:lnTo>
                  <a:pt x="229008" y="1334185"/>
                </a:lnTo>
                <a:lnTo>
                  <a:pt x="305604" y="1401402"/>
                </a:lnTo>
                <a:lnTo>
                  <a:pt x="390798" y="1458459"/>
                </a:lnTo>
                <a:lnTo>
                  <a:pt x="482245" y="1503792"/>
                </a:lnTo>
                <a:lnTo>
                  <a:pt x="579163" y="1536619"/>
                </a:lnTo>
                <a:lnTo>
                  <a:pt x="679207" y="1556159"/>
                </a:lnTo>
                <a:lnTo>
                  <a:pt x="781596" y="1563193"/>
                </a:lnTo>
                <a:lnTo>
                  <a:pt x="883986" y="1556159"/>
                </a:lnTo>
                <a:lnTo>
                  <a:pt x="984030" y="1536619"/>
                </a:lnTo>
                <a:lnTo>
                  <a:pt x="1080948" y="1503792"/>
                </a:lnTo>
                <a:lnTo>
                  <a:pt x="1172395" y="1458459"/>
                </a:lnTo>
                <a:lnTo>
                  <a:pt x="1257589" y="1401402"/>
                </a:lnTo>
                <a:lnTo>
                  <a:pt x="1334185" y="1334185"/>
                </a:lnTo>
                <a:lnTo>
                  <a:pt x="1401402" y="1257589"/>
                </a:lnTo>
                <a:lnTo>
                  <a:pt x="1458459" y="1172395"/>
                </a:lnTo>
                <a:lnTo>
                  <a:pt x="1503792" y="1080948"/>
                </a:lnTo>
                <a:lnTo>
                  <a:pt x="1536619" y="984030"/>
                </a:lnTo>
                <a:lnTo>
                  <a:pt x="1556159" y="88398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45"/>
          <p:cNvSpPr/>
          <p:nvPr/>
        </p:nvSpPr>
        <p:spPr>
          <a:xfrm>
            <a:off x="3639091" y="3066684"/>
            <a:ext cx="537972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46"/>
          <p:cNvSpPr/>
          <p:nvPr/>
        </p:nvSpPr>
        <p:spPr>
          <a:xfrm>
            <a:off x="3639091" y="2972893"/>
            <a:ext cx="1563193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2" name="S06-mark47"/>
          <p:cNvSpPr/>
          <p:nvPr/>
        </p:nvSpPr>
        <p:spPr>
          <a:xfrm>
            <a:off x="5202284" y="2972893"/>
            <a:ext cx="1563193" cy="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13" name="S06-mark48"/>
          <p:cNvSpPr/>
          <p:nvPr/>
        </p:nvSpPr>
        <p:spPr>
          <a:xfrm>
            <a:off x="6765477" y="2972893"/>
            <a:ext cx="1563193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4" name="S06-mark49"/>
          <p:cNvSpPr/>
          <p:nvPr/>
        </p:nvSpPr>
        <p:spPr>
          <a:xfrm>
            <a:off x="8328669" y="2972893"/>
            <a:ext cx="221192" cy="0"/>
          </a:xfrm>
          <a:prstGeom prst="line">
            <a:avLst/>
          </a:pr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15" name="S06-mark50"/>
          <p:cNvSpPr/>
          <p:nvPr/>
        </p:nvSpPr>
        <p:spPr>
          <a:xfrm flipV="1">
            <a:off x="3639091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51"/>
          <p:cNvSpPr/>
          <p:nvPr/>
        </p:nvSpPr>
        <p:spPr>
          <a:xfrm flipV="1">
            <a:off x="5202284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2"/>
          <p:cNvSpPr/>
          <p:nvPr/>
        </p:nvSpPr>
        <p:spPr>
          <a:xfrm flipV="1">
            <a:off x="6765477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53"/>
          <p:cNvSpPr/>
          <p:nvPr/>
        </p:nvSpPr>
        <p:spPr>
          <a:xfrm flipV="1">
            <a:off x="8328669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54"/>
          <p:cNvSpPr/>
          <p:nvPr/>
        </p:nvSpPr>
        <p:spPr>
          <a:xfrm flipV="1">
            <a:off x="8549861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55"/>
          <p:cNvSpPr/>
          <p:nvPr/>
        </p:nvSpPr>
        <p:spPr>
          <a:xfrm>
            <a:off x="2857494" y="2191296"/>
            <a:ext cx="156319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1" name="S06-mark56"/>
          <p:cNvSpPr/>
          <p:nvPr/>
        </p:nvSpPr>
        <p:spPr>
          <a:xfrm>
            <a:off x="3579655" y="29134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label58"/>
          <p:cNvSpPr txBox="1"/>
          <p:nvPr/>
        </p:nvSpPr>
        <p:spPr>
          <a:xfrm>
            <a:off x="4092011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3" name="S06-label60"/>
          <p:cNvSpPr txBox="1"/>
          <p:nvPr/>
        </p:nvSpPr>
        <p:spPr>
          <a:xfrm>
            <a:off x="5655204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4" name="S06-label62"/>
          <p:cNvSpPr txBox="1"/>
          <p:nvPr/>
        </p:nvSpPr>
        <p:spPr>
          <a:xfrm>
            <a:off x="7218397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5" name="S06-label64"/>
          <p:cNvSpPr txBox="1"/>
          <p:nvPr/>
        </p:nvSpPr>
        <p:spPr>
          <a:xfrm>
            <a:off x="8315928" y="2305862"/>
            <a:ext cx="10149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</a:t>
            </a:r>
            <a:endParaRPr lang="ko-KR" sz="2200" dirty="0"/>
          </a:p>
        </p:txBody>
      </p:sp>
      <p:sp>
        <p:nvSpPr>
          <p:cNvPr id="26" name="S06-label66"/>
          <p:cNvSpPr txBox="1"/>
          <p:nvPr/>
        </p:nvSpPr>
        <p:spPr>
          <a:xfrm>
            <a:off x="4198757" y="3869055"/>
            <a:ext cx="37922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원주(원을 한 바퀴 굴린 길이)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원주를 구해요</a:t>
            </a:r>
            <a:endParaRPr lang="ko-KR" sz="4000" dirty="0"/>
          </a:p>
        </p:txBody>
      </p:sp>
      <p:sp>
        <p:nvSpPr>
          <p:cNvPr id="3" name="S07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원주를 구해요.</a:t>
            </a:r>
            <a:endParaRPr lang="ko-KR" sz="2800" dirty="0"/>
          </a:p>
        </p:txBody>
      </p:sp>
      <p:sp>
        <p:nvSpPr>
          <p:cNvPr id="4" name="S07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= 지름 × 원주율, 지름 = 반지름 × 2</a:t>
            </a:r>
            <a:endParaRPr lang="ko-KR" sz="2800" dirty="0"/>
          </a:p>
        </p:txBody>
      </p:sp>
      <p:sp>
        <p:nvSpPr>
          <p:cNvPr id="6" name="S07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 (원주율 3.14)</a:t>
            </a:r>
            <a:endParaRPr lang="ko-KR" sz="2800" dirty="0"/>
          </a:p>
        </p:txBody>
      </p:sp>
      <p:sp>
        <p:nvSpPr>
          <p:cNvPr id="8" name="S07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 (원주율 3.1)</a:t>
            </a:r>
            <a:endParaRPr lang="ko-KR" sz="2800" dirty="0"/>
          </a:p>
        </p:txBody>
      </p:sp>
      <p:sp>
        <p:nvSpPr>
          <p:cNvPr id="10" name="S07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7 cm 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 원의 원주는? (원주율 3.14)</a:t>
            </a:r>
            <a:endParaRPr lang="ko-KR" sz="28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토끼는 무엇을 빠뜨렸나요?</a:t>
            </a:r>
            <a:endParaRPr lang="ko-KR" sz="28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12.56 cm</a:t>
            </a:r>
            <a:endParaRPr lang="ko-KR" sz="22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× 3.14 = 12.56이에요.”</a:t>
            </a:r>
            <a:endParaRPr lang="ko-KR" sz="28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25.12 cm</a:t>
            </a:r>
            <a:endParaRPr lang="ko-KR" sz="22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× 2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25.12예요.”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원주로 지름 구하기</a:t>
            </a:r>
            <a:endParaRPr lang="ko-KR" sz="4000" dirty="0"/>
          </a:p>
        </p:txBody>
      </p:sp>
      <p:sp>
        <p:nvSpPr>
          <p:cNvPr id="3" name="S09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</a:t>
            </a:r>
            <a:endParaRPr lang="ko-KR" sz="2800" dirty="0"/>
          </a:p>
        </p:txBody>
      </p:sp>
      <p:sp>
        <p:nvSpPr>
          <p:cNvPr id="5" name="S09-text8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 18.6 cm인 원의 지름은? (원주율 3.1)</a:t>
            </a:r>
            <a:endParaRPr lang="ko-KR" sz="2800" dirty="0"/>
          </a:p>
        </p:txBody>
      </p:sp>
      <p:sp>
        <p:nvSpPr>
          <p:cNvPr id="6" name="S09-stepno8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9-text88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= 지름 × 원주율</a:t>
            </a:r>
            <a:endParaRPr lang="ko-KR" sz="2800" dirty="0"/>
          </a:p>
        </p:txBody>
      </p:sp>
      <p:sp>
        <p:nvSpPr>
          <p:cNvPr id="8" name="S09-eqtext89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× 3.1 = 18.6</a:t>
            </a:r>
            <a:endParaRPr lang="ko-KR" sz="2800" dirty="0"/>
          </a:p>
        </p:txBody>
      </p:sp>
      <p:sp>
        <p:nvSpPr>
          <p:cNvPr id="9" name="S09-stepno90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9-text91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</a:t>
            </a:r>
            <a:endParaRPr lang="ko-KR" sz="2800" dirty="0"/>
          </a:p>
        </p:txBody>
      </p:sp>
      <p:sp>
        <p:nvSpPr>
          <p:cNvPr id="11" name="S09-eqtext92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18.6 ÷ 3.1 = 6</a:t>
            </a:r>
            <a:endParaRPr lang="ko-KR" sz="2800" dirty="0"/>
          </a:p>
        </p:txBody>
      </p:sp>
      <p:sp>
        <p:nvSpPr>
          <p:cNvPr id="12" name="S09-stepno93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94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6 cm, 반지름은 3 cm예요.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지름을 구해요</a:t>
            </a:r>
            <a:endParaRPr lang="ko-KR" sz="4000" dirty="0"/>
          </a:p>
        </p:txBody>
      </p:sp>
      <p:sp>
        <p:nvSpPr>
          <p:cNvPr id="3" name="S10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구해요.</a:t>
            </a:r>
            <a:endParaRPr lang="ko-KR" sz="2800" dirty="0"/>
          </a:p>
        </p:txBody>
      </p:sp>
      <p:sp>
        <p:nvSpPr>
          <p:cNvPr id="4" name="S10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원주율, 반지름 = 지름 ÷ 2</a:t>
            </a:r>
            <a:endParaRPr lang="ko-KR" sz="2800" dirty="0"/>
          </a:p>
        </p:txBody>
      </p:sp>
      <p:sp>
        <p:nvSpPr>
          <p:cNvPr id="6" name="S10-chip9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9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31.4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8" name="S10-chip10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0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37.2 cm인 원의 반지름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10" name="S10-chip10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0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24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구했는지 말해요.</a:t>
            </a:r>
            <a:endParaRPr lang="ko-KR" sz="2800" dirty="0"/>
          </a:p>
        </p:txBody>
      </p:sp>
      <p:sp>
        <p:nvSpPr>
          <p:cNvPr id="4" name="S11-chip1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1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무엇을 무엇으로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값인가요?</a:t>
            </a:r>
            <a:endParaRPr lang="ko-KR" sz="2800" dirty="0"/>
          </a:p>
        </p:txBody>
      </p:sp>
      <p:sp>
        <p:nvSpPr>
          <p:cNvPr id="6" name="S11-chip1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1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20 cm인 원의 원주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8" name="S11-chip10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1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6 cm인 원의 원주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10" name="S11-chip1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1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43.96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1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원을 그려 반지름과 지름을 표시한 뒤 다시 식을 세우게 하세요.</a:t>
            </a:r>
            <a:endParaRPr lang="ko-KR" sz="2800" dirty="0"/>
          </a:p>
        </p:txBody>
      </p:sp>
      <p:sp>
        <p:nvSpPr>
          <p:cNvPr id="5" name="S12-chip11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1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원주 ÷ 지름</a:t>
            </a:r>
            <a:endParaRPr lang="ko-KR" sz="2800" dirty="0"/>
          </a:p>
        </p:txBody>
      </p:sp>
      <p:sp>
        <p:nvSpPr>
          <p:cNvPr id="7" name="S12-text11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62.8 cm</a:t>
            </a:r>
            <a:endParaRPr lang="ko-KR" sz="2800" dirty="0"/>
          </a:p>
        </p:txBody>
      </p:sp>
      <p:sp>
        <p:nvSpPr>
          <p:cNvPr id="8" name="S12-text118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37.2 cm</a:t>
            </a:r>
            <a:endParaRPr lang="ko-KR" sz="2800" dirty="0"/>
          </a:p>
        </p:txBody>
      </p:sp>
      <p:sp>
        <p:nvSpPr>
          <p:cNvPr id="9" name="S12-text119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14 cm</a:t>
            </a:r>
            <a:endParaRPr lang="ko-KR" sz="2800" dirty="0"/>
          </a:p>
        </p:txBody>
      </p:sp>
      <p:sp>
        <p:nvSpPr>
          <p:cNvPr id="10" name="S12-chip12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2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18.6 cm</a:t>
            </a:r>
            <a:endParaRPr lang="ko-KR" sz="2800" dirty="0"/>
          </a:p>
        </p:txBody>
      </p:sp>
      <p:sp>
        <p:nvSpPr>
          <p:cNvPr id="12" name="S12-text12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× 원주율</a:t>
            </a:r>
            <a:endParaRPr lang="ko-KR" sz="2200" dirty="0"/>
          </a:p>
        </p:txBody>
      </p:sp>
      <p:sp>
        <p:nvSpPr>
          <p:cNvPr id="13" name="S12-text12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지름 ÷ 원주</a:t>
            </a:r>
            <a:endParaRPr lang="ko-KR" sz="2800" dirty="0"/>
          </a:p>
        </p:txBody>
      </p:sp>
      <p:sp>
        <p:nvSpPr>
          <p:cNvPr id="14" name="S12-text12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순서가 바뀜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원주율에 대해 옳은 것은?</a:t>
            </a:r>
            <a:endParaRPr lang="ko-KR" sz="4000" dirty="0"/>
          </a:p>
        </p:txBody>
      </p:sp>
      <p:sp>
        <p:nvSpPr>
          <p:cNvPr id="3" name="S13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고르고, 틀린 것은 바르게 고쳐 말해요.</a:t>
            </a:r>
            <a:endParaRPr lang="ko-KR" sz="2800" dirty="0"/>
          </a:p>
        </p:txBody>
      </p:sp>
      <p:sp>
        <p:nvSpPr>
          <p:cNvPr id="5" name="S13-chip12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128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29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원일수록 원주율이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커요.</a:t>
            </a:r>
            <a:endParaRPr lang="ko-KR" sz="2800" dirty="0"/>
          </a:p>
        </p:txBody>
      </p:sp>
      <p:sp>
        <p:nvSpPr>
          <p:cNvPr id="8" name="S13-chip13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131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32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원주 ÷ 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이에요.</a:t>
            </a:r>
            <a:endParaRPr lang="ko-KR" sz="2800" dirty="0"/>
          </a:p>
        </p:txBody>
      </p:sp>
      <p:sp>
        <p:nvSpPr>
          <p:cNvPr id="11" name="S13-chip13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134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35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정확히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3.14예요.</a:t>
            </a:r>
            <a:endParaRPr lang="ko-KR" sz="2800" dirty="0"/>
          </a:p>
        </p:txBody>
      </p:sp>
      <p:sp>
        <p:nvSpPr>
          <p:cNvPr id="14" name="S13-chip13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137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38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3.14배예요.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= 원주 ÷ 지름(약 3.14), 원주 = 지름 × 원주율</a:t>
            </a:r>
            <a:endParaRPr lang="ko-KR" sz="2800" dirty="0"/>
          </a:p>
        </p:txBody>
      </p:sp>
      <p:sp>
        <p:nvSpPr>
          <p:cNvPr id="5" name="S14-chip14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반지름이면 먼저 × 2</a:t>
            </a:r>
            <a:endParaRPr lang="ko-KR" sz="2200" dirty="0"/>
          </a:p>
        </p:txBody>
      </p:sp>
      <p:sp>
        <p:nvSpPr>
          <p:cNvPr id="6" name="S14-chip14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반지름에 바로 원주율 곱하기</a:t>
            </a:r>
            <a:endParaRPr lang="ko-KR" sz="2200" dirty="0"/>
          </a:p>
        </p:txBody>
      </p:sp>
      <p:sp>
        <p:nvSpPr>
          <p:cNvPr id="7" name="S14-text14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4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원주율은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 ÷ 무엇?</a:t>
            </a:r>
            <a:endParaRPr lang="ko-KR" sz="2200" dirty="0"/>
          </a:p>
        </p:txBody>
      </p:sp>
      <p:sp>
        <p:nvSpPr>
          <p:cNvPr id="9" name="S14-text14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지름 5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원주는?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200" dirty="0"/>
          </a:p>
        </p:txBody>
      </p:sp>
      <p:sp>
        <p:nvSpPr>
          <p:cNvPr id="10" name="S14-text14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원주 9.3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200" dirty="0"/>
          </a:p>
        </p:txBody>
      </p:sp>
      <p:sp>
        <p:nvSpPr>
          <p:cNvPr id="11" name="S14-text1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지름과 소수의 곱셈</a:t>
            </a:r>
            <a:endParaRPr lang="ko-KR" sz="4000" dirty="0"/>
          </a:p>
        </p:txBody>
      </p:sp>
      <p:sp>
        <p:nvSpPr>
          <p:cNvPr id="3" name="S15-figure148" descr="원의 중심, 반지름(주황색), 지름"/>
          <p:cNvSpPr/>
          <p:nvPr/>
        </p:nvSpPr>
        <p:spPr>
          <a:xfrm>
            <a:off x="1590370" y="24003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5-mark149"/>
          <p:cNvSpPr/>
          <p:nvPr/>
        </p:nvSpPr>
        <p:spPr>
          <a:xfrm>
            <a:off x="1590370" y="37719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5-mark150"/>
          <p:cNvSpPr/>
          <p:nvPr/>
        </p:nvSpPr>
        <p:spPr>
          <a:xfrm flipV="1">
            <a:off x="2961970" y="2584094"/>
            <a:ext cx="685800" cy="1187806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15-label152"/>
          <p:cNvSpPr txBox="1"/>
          <p:nvPr/>
        </p:nvSpPr>
        <p:spPr>
          <a:xfrm>
            <a:off x="2633294" y="38487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7" name="S15-label154"/>
          <p:cNvSpPr txBox="1"/>
          <p:nvPr/>
        </p:nvSpPr>
        <p:spPr>
          <a:xfrm>
            <a:off x="2386073" y="274170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8" name="S15-mark155"/>
          <p:cNvSpPr/>
          <p:nvPr/>
        </p:nvSpPr>
        <p:spPr>
          <a:xfrm>
            <a:off x="2902534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card156"/>
          <p:cNvSpPr/>
          <p:nvPr/>
        </p:nvSpPr>
        <p:spPr>
          <a:xfrm>
            <a:off x="5741060" y="2307082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5-cardtext157"/>
          <p:cNvSpPr txBox="1"/>
          <p:nvPr/>
        </p:nvSpPr>
        <p:spPr>
          <a:xfrm>
            <a:off x="6015380" y="2444242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반지름 ×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4 cm → 지름 8 cm</a:t>
            </a:r>
            <a:endParaRPr lang="ko-KR" sz="2800" dirty="0"/>
          </a:p>
        </p:txBody>
      </p:sp>
      <p:sp>
        <p:nvSpPr>
          <p:cNvPr id="11" name="S15-card158"/>
          <p:cNvSpPr/>
          <p:nvPr/>
        </p:nvSpPr>
        <p:spPr>
          <a:xfrm>
            <a:off x="5741060" y="3715766"/>
            <a:ext cx="589925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5-cardtext159"/>
          <p:cNvSpPr txBox="1"/>
          <p:nvPr/>
        </p:nvSpPr>
        <p:spPr>
          <a:xfrm>
            <a:off x="6015380" y="3852926"/>
            <a:ext cx="535061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곱셈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314 = 3768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3.14 = 37.68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원주와 원주율</dc:title>
  <dc:subject>KR22-G06-MAT-CIRCUM-L01</dc:subject>
  <dc:creator>education-ppt</dc:creator>
  <cp:lastModifiedBy>education-ppt</cp:lastModifiedBy>
  <cp:revision>1</cp:revision>
  <dcterms:created xsi:type="dcterms:W3CDTF">2026-10-26T09:27:58Z</dcterms:created>
  <dcterms:modified xsi:type="dcterms:W3CDTF">2026-10-26T09:27:58Z</dcterms:modified>
</cp:coreProperties>
</file>