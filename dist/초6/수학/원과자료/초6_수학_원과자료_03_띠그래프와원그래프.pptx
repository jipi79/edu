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8a01186-8f38-78cd-457c-2193921c48f7}">
          <p14:sldIdLst>
            <p14:sldId id="256"/>
            <p14:sldId id="257"/>
          </p14:sldIdLst>
        </p14:section>
        <p14:section name="개념" id="{a78377f2-1a59-46f8-25ad-54bf05ba00f8}">
          <p14:sldIdLst>
            <p14:sldId id="258"/>
            <p14:sldId id="259"/>
            <p14:sldId id="262"/>
            <p14:sldId id="263"/>
          </p14:sldIdLst>
        </p14:section>
        <p14:section name="연습" id="{157201e3-6d69-0405-4cf4-cd2e0a02230d}">
          <p14:sldIdLst>
            <p14:sldId id="260"/>
            <p14:sldId id="261"/>
            <p14:sldId id="264"/>
          </p14:sldIdLst>
        </p14:section>
        <p14:section name="개념" id="{1d96a671-004a-8daf-d989-a9e89f846d8e}">
          <p14:sldIdLst/>
        </p14:section>
        <p14:section name="연습" id="{43e23c90-47d8-6138-784a-ecba4670cfe3}">
          <p14:sldIdLst/>
        </p14:section>
        <p14:section name="확인" id="{10902526-64df-c867-c465-071ed883575a}">
          <p14:sldIdLst>
            <p14:sldId id="265"/>
            <p14:sldId id="266"/>
            <p14:sldId id="267"/>
          </p14:sldIdLst>
        </p14:section>
        <p14:section name="정리" id="{f26b3ebe-6d8e-1d81-e413-8551cd58fd5b}">
          <p14:sldIdLst>
            <p14:sldId id="268"/>
          </p14:sldIdLst>
        </p14:section>
        <p14:section name="보충" id="{e51dba7a-fc1e-03a2-bc4f-94aaa740ba4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전체에 대한 각 부분의 비율을 한눈에 보여 주는 그래프가 있다는 것을 보여 주고 오늘 할 일을 알려 줍니다.
시간: 약 2분
이렇게 말해 보세요
- “오른쪽 그림은 6학년 학생들이 좋아하는 계절을 나타낸 거야. 어느 계절을 좋아하는 학생이 가장 많아 보여?”
- “전체 중 얼마만큼인지를 한눈에 보여 주는 그래프를 오늘 배울 거야.”
예상 답
- “가을이요. 가장 넓어요.” 어떤 답이든 괜찮습니다.
막히면
- 답을 확인하지 않고 넘어갑니다. S03·S04에서 같은 자료를 자세히 봅니다.
주의
- 오른쪽 그림은 원그래프입니다(가을 35 %, 봄 30 %, 여름 25 %, 겨울 10 %). 지금은 이름을 알려 주지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확인(백분율)]
목적: 지난 차시 ‘백분율’에서 배운 백분율 구하기와 백분율만큼의 수 구하기를 확인합니다. 오늘 그래프를 읽고 그릴 때 그대로 씁니다.
시간: 약 3분
이렇게 말해 보세요
- “①의 기준량은 몇 명이야? 비율에 100을 곱하면?”
- “③은 15 %를 소수로 바꾸어 200에 곱해 볼까?”
정답
- ① 40 % (10 ÷ 25 × 100)
- ② 35 %
- ③ 30명 (200 × 0.15)
막히면
- ①②가 어려우면 S14(보충)를 먼저 합니다. 보충으로도 어려우면 앞 차시 ‘백분율’을 다시 합니다.
- ③은 200명의 1 %가 2명이라는 것부터 생각하게 합니다.
주의
- 원그래프의 원은 3학년 ‘원’과 앞 차시 ‘원의 넓이’에서 본 원의 중심과 반지름을 씁니다. 원의 중심을 모르면 S14 노트를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띠그래프의 뜻과 읽기]
목적: 전체에 대한 각 부분의 비율을 띠 모양에 나타낸 그래프를 띠그래프라 하고, 칸의 길이와 백분율로 비율을 읽는다는 것을 압니다.
시간: 약 3분
이렇게 말해 보세요
- “띠 전체가 6학년 40명 모두야. 몇 %일까?”
- “가장 많은 학생이 좋아하는 계절은 무엇이고, 몇 %야? 칸의 길이로도 확인해 봐.”
- “봄은 30 %야. 40명의 30 %면 몇 명일까?”
예상 답
- “100 %요.” “가을이요, 35 %예요.” “12명이에요.”
막히면
- 띠 아래 눈금에서 각 칸의 시작과 끝을 손가락으로 짚어 길이를 비교하게 합니다.
주의
- 자료의 학생 수: 봄 12명, 여름 10명, 가을 14명, 겨울 4명(모두 40명). 띠의 길이는 백분율에 정확히 비례하게 그렸습니다.
- 백분율을 모두 더하면 100 %입니다(30 + 25 + 35 + 10).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원그래프의 뜻과 읽기]
목적: 같은 자료를 원 모양에 나타낸 원그래프를 알고, 부채꼴의 크기와 둘레의 눈금으로 비율을 읽습니다.
시간: 약 3분
이렇게 말해 보세요
- “S03의 띠그래프와 같은 자료야. 띠를 둥글게 말아 원으로 만들었다고 생각해 봐.”
- “원 둘레의 눈금은 모두 20칸이야. 한 칸은 몇 %일까? 겨울은 몇 칸이야?”
- “가을과 겨울 중 어느 쪽이 넓어? 백분율과 같은 순서야?”
예상 답
- “한 칸은 5 %예요.” “겨울은 2칸이에요.” “가을이 넓어요.”
막히면
- 원 둘레의 눈금을 12시 방향부터 시계 방향으로 함께 세어 봅니다(봄 6칸, 여름 5칸, 가을 7칸, 겨울 2칸).
주의
- 원그래프는 보통 12시 방향에서 시작해 시계 방향으로 자료 순서대로 그립니다.
- 부모님 참고: 원 전체는 360°이므로 1 %는 3.6°입니다. 봄 30 %는 108°, 여름 90°, 가을 126°, 겨울 36°로 정확히 그렸습니다. 아이는 각도기 대신 둘레의 눈금으로 나눕니다.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연습(띠그래프 읽고 해석하기)]
목적: 도움을 받으며 띠그래프에서 백분율을 읽고, 두 항목을 몇 배로 비교하고, 전체 수에 대한 항목의 수를 구합니다.
시간: 약 4분
이렇게 말해 보세요
- “가장 긴 칸은 어디야? 몇 %야?”
- “과학관 40 %와 박물관 20 %를 비교하면 몇 배야?”
- “200명의 25 %는 몇 명일까? 25 %를 소수로 바꾸어 곱해 봐.”
정답
- ① 과학관, 40 %
- ② 2배 (40 ÷ 20)
- ③ 50명 (200 × 0.25)
막히면
- ③은 200명의 10 %가 20명이라는 것부터 생각하게 합니다(25 %는 20 + 20 + 10 = 50명).
주의
- ②는 띠의 길이로도 확인할 수 있습니다. 과학관 칸이 박물관 칸 길이의 2배입니다.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비교(끝 눈금을 비율로 읽기)]
목적: 눈금에서 항목이 끝나는 곳의 수를 그 항목의 백분율로 읽는 실수(M1)를 띠의 길이로 반박합니다.
시간: 약 3분
이렇게 말해 보세요
- “역사 칸은 눈금 몇에서 시작해서 몇에서 끝나? 칸의 길이는 몇 %만큼이야?”
- “역사책이 75 %라면 동화책(35 %)보다 칸이 길어야 하지 않을까?”
예상 답
- “곰이요. 역사 칸은 짧아요.” “60부터 75까지라서 15 %예요.”
정답
- 곰이 맞습니다. 역사책은 60부터 75까지이므로 75 − 60 = 15 %입니다.
- 75는 동화·과학·역사를 모두 더한 백분율입니다(35 + 25 + 15). 나머지 기타는 100 − 75 = 25 %입니다.
막히면
- 역사 칸의 시작(60)과 끝(75)에 손가락을 대고, 그 사이의 눈금을 5 %씩 세게 합니다.
주의
- 띠그래프 아래 눈금은 0부터 쌓아 올린 수입니다. 항목의 백분율은 (끝 눈금) − (시작 눈금)으로 읽습니다.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자료를 백분율로 나타내기]
목적: 그래프를 그리기 전에 각 항목의 수를 백분율로 나타내고, 백분율의 합계가 100 %인지 확인합니다.
시간: 약 3분
이렇게 말해 보세요
- “전체 학생은 몇 명이야? 축구 35 %는 어떻게 구했을까?”
- “피구, 줄넘기, 수영의 백분율도 구해 볼래? 다 구하면 모두 더해 봐.”
예상 답
- “7 ÷ 20 × 100이요.” “피구 30 %, 줄넘기 20 %, 수영 15 %예요.” “더하면 100이에요.”
정답
- 피구 30 % (6 ÷ 20 × 100), 줄넘기 20 %, 수영 15 %, 합계 35 + 30 + 20 + 15 = 100
막히면
- 20명이면 1명이 100 ÷ 20 = 5 %라는 것을 먼저 찾게 합니다(피구 6명 → 30 %).
주의
- 백분율의 합계가 100 %가 아니면 계산을 다시 확인합니다(M2). 학생 수를 그대로 %로 쓰면 합계가 20이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원그래프(띠그래프)로 나타내는 순서(시범)]
목적: 백분율 구하기 → 합계 확인 → 눈금을 보고 나누기 → 항목·백분율 쓰기 → 제목 붙이기 순서로 원그래프를 그리는 방법을 보여 줍니다.
시간: 약 4분
이렇게 말해 보세요
- “원 둘레 눈금 한 칸은 5 %야. 축구 35 %는 몇 칸이야?”
- “12시 방향의 반지름에서 시작해서 시계 방향으로 7칸을 세고, 원의 중심과 이어 선을 그어.”
- “피구 30 %는 이어서 몇 칸이야? 마지막 수영은 남은 칸이 몇 칸인지 세어 확인해.”
예상 답
- “7칸이요.” “6칸이요.” “남은 칸이 3칸이라 15 %가 맞아요.”
막히면
- 종이에 원을 그리고 둘레를 20칸으로 나눈 원(활동지 3)을 써서 함께 칸을 셉니다.
주의
- 칸 수: 축구 7칸, 피구 6칸, 줄넘기 4칸, 수영 3칸(모두 20칸). 마지막 항목이 남은 칸과 딱 맞으면 바르게 나눈 것입니다.
- 띠그래프는 띠 전체를 20칸(한 칸 5 %)으로 보고 같은 칸 수만큼 나눕니다. 실제로 그리는 것은 활동지 2·3에서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연습(백분율 구하고 칸 수 정하기)]
목적: 도움을 받으며 자료의 백분율을 구하고 합계를 확인한 뒤, 띠(원)를 나눌 칸 수를 정합니다.
시간: 약 3분
이렇게 말해 보세요
- “과일 14명은 40명의 몇 %일까? 14 ÷ 40 × 100을 해 볼래?”
- “빵, 떡, 기타의 백분율도 구해서 모두 더해 봐.”
- “한 칸이 5 %면 빵 30 %는 몇 칸이야?”
정답
- ① 35 % (14 ÷ 40 × 100)
- ② 100 % (35 + 30 + 25 + 10)
- ③ 6칸 (30 ÷ 5)
막히면
- 40명이면 1명이 2.5 %입니다. 어려우면 ‘40명의 10 %는 4명’에서 시작해 14명이 10 % 3번 반(35 %)인지 생각하게 합니다.
주의
- 빵 30 %, 떡 25 %, 기타 10 %입니다. 띠 20칸에서 과일 7칸, 빵 6칸, 떡 5칸, 기타 2칸입니다.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해결(원그래프 읽고 해석하기)]
목적: 도움 없이 원그래프에서 백분율을 읽고, 몇 배인지, 몇 명인지, 합하면 몇 %인지 해석하는지 확인합니다.
시간: 약 4분
이렇게 말해 보세요
- “이번에는 혼자 해 볼래? 답을 말할 때 어떻게 알았는지도 말해 줘.”
정답
- ① 버스, 45 %
- ② 2.5배 (25 ÷ 10)
- ③ 80명 (400 × 0.2)
- ④ 70 % (45 + 25)
막히면
- 바로 알려 주지 말고 “전체는 몇 명이야? 그 항목은 몇 %야?”라고만 묻습니다.
- 도움을 받아 해결했다면 기록표에 ‘도움’으로 표시합니다.
주의
- ③을 마치면 “다른 마을 200명도 자동차가 20 %라면 자동차를 이용하는 사람 수가 같을까?”라고 물어봅니다(40명, M3).
- 정답 확인은 다음 장(S11)에서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백분율을 사람 수로 착각하는 실수를 바로잡습니다. 수업용에만 있는 장입니다.
시간: 약 2분
이렇게 말해 보세요
- “네 답과 같은지 볼까? 다르면 어디서 달라졌는지 찾아보자.”
정답
- ① 버스 45 % ② 2.5배 ③ 80명 ④ 70 %
막히면
- ③이 틀리면 S05 ③으로, 백분율을 잘못 읽었으면 S04의 눈금 세기로 돌아갑니다.
주의
- ②에서 ‘15배’는 빼기를 한 것입니다. 몇 배는 나눗셈으로 구합니다.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확인(자료에 맞는 띠그래프 고르기)]
목적: 처음 보는 자료의 백분율을 구해 자료에 맞게 나눈 띠그래프를 고르고, 잘못 나눈 곳을 설명하는지 확인합니다.
시간: 약 3분
이렇게 말해 보세요
- “먼저 과목마다 백분율을 구해 볼래? 20명이면 1명은 몇 %야?”
- “가와 나 중 어느 띠가 네가 구한 백분율과 같아? 다른 곳은 어디야?”
정답
- 나. 체육 40 %, 미술 25 %, 음악 20 %, 기타 15 %입니다.
- 가는 미술(5명)을 20 %, 음악(4명)을 25 %로 바꾸어 나누었습니다.
막히면
- 과목 하나씩 백분율을 구해 두 띠에 쓰인 수와 차례로 비교합니다.
주의
- 백분율을 바르게 구하고 잘못된 곳까지 말하면 목표 B 확인 완료입니다. 실제로 그리는 것은 활동지 2·3에서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1분
이렇게 말해 보세요
- “띠그래프와 원그래프는 무엇을 보여 주는 그래프야? 그릴 때 먼저 무엇을 구해?”
- “다음 수업을 시작할 때 이 세 문제를 먼저 풀 거야.”
예상 답
- “전체에 대한 비율이요.” “백분율을 먼저 구해요.”
정답
- ① 10명 (40 × 0.25) ② 25 % (55 − 30) ③ 35 % (5 × 7)
막히면
- S03, S04, S08을 다시 보여 줍니다.
주의
- S10·S12 결과를 기록표에 적어 두면 다음 차시 ‘알맞은 그래프 고르기’로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보충(전체에 대한 백분율 구하기)]
목적: S02가 흔들리면 전체를 100 %로 보고 1명(한 칸)이 몇 %인지 구한 뒤 백분율을 구하는 방법을 다시 합니다.
시간: 약 5분
이렇게 말해 보세요
- “띠 전체가 20명이고 100 %야. 한 칸(1명)은 몇 %일까?”
- “색칠한 7칸은 몇 %야? 7 ÷ 20 × 100으로도 구해 볼까?”
- “이번에는 20명 중 3명은 몇 %인지 구해 볼래?”
정답
- 1명은 5 %, 7명은 35 % (7 ÷ 20 × 100 = 35)
- 20명 중 3명은 15 %
막히면
- 종이 띠를 20칸으로 나누어 접고 7칸을 색칠한 다음, 100 cm 줄자와 견주어 35 cm임을 봅니다.
주의
- 보충으로도 어려우면 앞 차시 ‘백분율’을 먼저 다시 합니다.
- 원그래프의 원이 낯설면 앞 차시 ‘원의 넓이’(3학년 ‘원’)에서 원의 중심과 반지름을 다시 봅니다. 원그래프의 선은 모두 원의 중심에서 둘레까지 그은 반지름입니다.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띠그래프와 원그래프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띠그래프와 원그래프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띠그래프와 원그래프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띠그래프와 원그래프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계절이 전체의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%인지 한눈에 보려면?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그래프: 봄 30 %, 여름 25 %, 가을 35 %, 겨울 10 %"/>
          <p:cNvSpPr/>
          <p:nvPr/>
        </p:nvSpPr>
        <p:spPr>
          <a:xfrm>
            <a:off x="9646920" y="1118996"/>
            <a:ext cx="1112162" cy="1455837"/>
          </a:xfrm>
          <a:custGeom>
            <a:avLst/>
            <a:gdLst/>
            <a:ahLst/>
            <a:cxnLst/>
            <a:rect l="l" t="t" r="r" b="b"/>
            <a:pathLst>
              <a:path w="1112162" h="1455837">
                <a:moveTo>
                  <a:pt x="0" y="1112162"/>
                </a:moveTo>
                <a:lnTo>
                  <a:pt x="0" y="0"/>
                </a:lnTo>
                <a:lnTo>
                  <a:pt x="58205" y="1524"/>
                </a:lnTo>
                <a:lnTo>
                  <a:pt x="116254" y="6095"/>
                </a:lnTo>
                <a:lnTo>
                  <a:pt x="173981" y="13691"/>
                </a:lnTo>
                <a:lnTo>
                  <a:pt x="231230" y="24301"/>
                </a:lnTo>
                <a:lnTo>
                  <a:pt x="287850" y="37897"/>
                </a:lnTo>
                <a:lnTo>
                  <a:pt x="343675" y="54435"/>
                </a:lnTo>
                <a:lnTo>
                  <a:pt x="398566" y="73870"/>
                </a:lnTo>
                <a:lnTo>
                  <a:pt x="452355" y="96152"/>
                </a:lnTo>
                <a:lnTo>
                  <a:pt x="504910" y="121220"/>
                </a:lnTo>
                <a:lnTo>
                  <a:pt x="556081" y="149002"/>
                </a:lnTo>
                <a:lnTo>
                  <a:pt x="605728" y="179425"/>
                </a:lnTo>
                <a:lnTo>
                  <a:pt x="653712" y="212406"/>
                </a:lnTo>
                <a:lnTo>
                  <a:pt x="699906" y="247851"/>
                </a:lnTo>
                <a:lnTo>
                  <a:pt x="744181" y="285664"/>
                </a:lnTo>
                <a:lnTo>
                  <a:pt x="786415" y="325747"/>
                </a:lnTo>
                <a:lnTo>
                  <a:pt x="826498" y="367981"/>
                </a:lnTo>
                <a:lnTo>
                  <a:pt x="864311" y="412256"/>
                </a:lnTo>
                <a:lnTo>
                  <a:pt x="899756" y="458450"/>
                </a:lnTo>
                <a:lnTo>
                  <a:pt x="932737" y="506434"/>
                </a:lnTo>
                <a:lnTo>
                  <a:pt x="963160" y="556081"/>
                </a:lnTo>
                <a:lnTo>
                  <a:pt x="990942" y="607252"/>
                </a:lnTo>
                <a:lnTo>
                  <a:pt x="1016010" y="659807"/>
                </a:lnTo>
                <a:lnTo>
                  <a:pt x="1038292" y="713597"/>
                </a:lnTo>
                <a:lnTo>
                  <a:pt x="1057727" y="768487"/>
                </a:lnTo>
                <a:lnTo>
                  <a:pt x="1074265" y="824312"/>
                </a:lnTo>
                <a:lnTo>
                  <a:pt x="1087861" y="880932"/>
                </a:lnTo>
                <a:lnTo>
                  <a:pt x="1098471" y="938181"/>
                </a:lnTo>
                <a:lnTo>
                  <a:pt x="1106067" y="995908"/>
                </a:lnTo>
                <a:lnTo>
                  <a:pt x="1110638" y="1053957"/>
                </a:lnTo>
                <a:lnTo>
                  <a:pt x="1112162" y="1112162"/>
                </a:lnTo>
                <a:lnTo>
                  <a:pt x="1110638" y="1170367"/>
                </a:lnTo>
                <a:lnTo>
                  <a:pt x="1106067" y="1228416"/>
                </a:lnTo>
                <a:lnTo>
                  <a:pt x="1098471" y="1286143"/>
                </a:lnTo>
                <a:lnTo>
                  <a:pt x="1087861" y="1343392"/>
                </a:lnTo>
                <a:lnTo>
                  <a:pt x="1074265" y="1400012"/>
                </a:lnTo>
                <a:lnTo>
                  <a:pt x="1057727" y="1455837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303245" y="2231158"/>
            <a:ext cx="1401402" cy="1112162"/>
          </a:xfrm>
          <a:custGeom>
            <a:avLst/>
            <a:gdLst/>
            <a:ahLst/>
            <a:cxnLst/>
            <a:rect l="l" t="t" r="r" b="b"/>
            <a:pathLst>
              <a:path w="1401402" h="1112162">
                <a:moveTo>
                  <a:pt x="343675" y="0"/>
                </a:moveTo>
                <a:lnTo>
                  <a:pt x="1401402" y="343675"/>
                </a:lnTo>
                <a:lnTo>
                  <a:pt x="1381967" y="398566"/>
                </a:lnTo>
                <a:lnTo>
                  <a:pt x="1359685" y="452355"/>
                </a:lnTo>
                <a:lnTo>
                  <a:pt x="1334617" y="504910"/>
                </a:lnTo>
                <a:lnTo>
                  <a:pt x="1306835" y="556081"/>
                </a:lnTo>
                <a:lnTo>
                  <a:pt x="1276412" y="605728"/>
                </a:lnTo>
                <a:lnTo>
                  <a:pt x="1243431" y="653712"/>
                </a:lnTo>
                <a:lnTo>
                  <a:pt x="1207986" y="699906"/>
                </a:lnTo>
                <a:lnTo>
                  <a:pt x="1170172" y="744181"/>
                </a:lnTo>
                <a:lnTo>
                  <a:pt x="1130090" y="786415"/>
                </a:lnTo>
                <a:lnTo>
                  <a:pt x="1087856" y="826498"/>
                </a:lnTo>
                <a:lnTo>
                  <a:pt x="1043581" y="864311"/>
                </a:lnTo>
                <a:lnTo>
                  <a:pt x="997387" y="899756"/>
                </a:lnTo>
                <a:lnTo>
                  <a:pt x="949403" y="932737"/>
                </a:lnTo>
                <a:lnTo>
                  <a:pt x="899756" y="963160"/>
                </a:lnTo>
                <a:lnTo>
                  <a:pt x="848585" y="990942"/>
                </a:lnTo>
                <a:lnTo>
                  <a:pt x="796030" y="1016010"/>
                </a:lnTo>
                <a:lnTo>
                  <a:pt x="742240" y="1038292"/>
                </a:lnTo>
                <a:lnTo>
                  <a:pt x="687350" y="1057727"/>
                </a:lnTo>
                <a:lnTo>
                  <a:pt x="631525" y="1074265"/>
                </a:lnTo>
                <a:lnTo>
                  <a:pt x="574904" y="1087861"/>
                </a:lnTo>
                <a:lnTo>
                  <a:pt x="517656" y="1098471"/>
                </a:lnTo>
                <a:lnTo>
                  <a:pt x="459929" y="1106067"/>
                </a:lnTo>
                <a:lnTo>
                  <a:pt x="401880" y="1110638"/>
                </a:lnTo>
                <a:lnTo>
                  <a:pt x="343675" y="1112162"/>
                </a:lnTo>
                <a:lnTo>
                  <a:pt x="285470" y="1110638"/>
                </a:lnTo>
                <a:lnTo>
                  <a:pt x="227420" y="1106067"/>
                </a:lnTo>
                <a:lnTo>
                  <a:pt x="169694" y="1098471"/>
                </a:lnTo>
                <a:lnTo>
                  <a:pt x="112445" y="1087861"/>
                </a:lnTo>
                <a:lnTo>
                  <a:pt x="55825" y="1074265"/>
                </a:lnTo>
                <a:lnTo>
                  <a:pt x="0" y="1057727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534758" y="1331402"/>
            <a:ext cx="1112162" cy="1957483"/>
          </a:xfrm>
          <a:custGeom>
            <a:avLst/>
            <a:gdLst/>
            <a:ahLst/>
            <a:cxnLst/>
            <a:rect l="l" t="t" r="r" b="b"/>
            <a:pathLst>
              <a:path w="1112162" h="1957483">
                <a:moveTo>
                  <a:pt x="1112162" y="899756"/>
                </a:moveTo>
                <a:lnTo>
                  <a:pt x="768487" y="1957483"/>
                </a:lnTo>
                <a:lnTo>
                  <a:pt x="713597" y="1938048"/>
                </a:lnTo>
                <a:lnTo>
                  <a:pt x="659807" y="1915766"/>
                </a:lnTo>
                <a:lnTo>
                  <a:pt x="607252" y="1890698"/>
                </a:lnTo>
                <a:lnTo>
                  <a:pt x="556081" y="1862916"/>
                </a:lnTo>
                <a:lnTo>
                  <a:pt x="506434" y="1832493"/>
                </a:lnTo>
                <a:lnTo>
                  <a:pt x="458450" y="1799512"/>
                </a:lnTo>
                <a:lnTo>
                  <a:pt x="412256" y="1764067"/>
                </a:lnTo>
                <a:lnTo>
                  <a:pt x="367981" y="1726253"/>
                </a:lnTo>
                <a:lnTo>
                  <a:pt x="325747" y="1686171"/>
                </a:lnTo>
                <a:lnTo>
                  <a:pt x="285664" y="1643937"/>
                </a:lnTo>
                <a:lnTo>
                  <a:pt x="247851" y="1599662"/>
                </a:lnTo>
                <a:lnTo>
                  <a:pt x="212406" y="1553468"/>
                </a:lnTo>
                <a:lnTo>
                  <a:pt x="179425" y="1505484"/>
                </a:lnTo>
                <a:lnTo>
                  <a:pt x="149002" y="1455837"/>
                </a:lnTo>
                <a:lnTo>
                  <a:pt x="121220" y="1404666"/>
                </a:lnTo>
                <a:lnTo>
                  <a:pt x="96152" y="1352111"/>
                </a:lnTo>
                <a:lnTo>
                  <a:pt x="73870" y="1298321"/>
                </a:lnTo>
                <a:lnTo>
                  <a:pt x="54435" y="1243431"/>
                </a:lnTo>
                <a:lnTo>
                  <a:pt x="37897" y="1187606"/>
                </a:lnTo>
                <a:lnTo>
                  <a:pt x="24301" y="1130985"/>
                </a:lnTo>
                <a:lnTo>
                  <a:pt x="13691" y="1073737"/>
                </a:lnTo>
                <a:lnTo>
                  <a:pt x="6095" y="1016010"/>
                </a:lnTo>
                <a:lnTo>
                  <a:pt x="1524" y="957961"/>
                </a:lnTo>
                <a:lnTo>
                  <a:pt x="0" y="899756"/>
                </a:lnTo>
                <a:lnTo>
                  <a:pt x="1524" y="841551"/>
                </a:lnTo>
                <a:lnTo>
                  <a:pt x="6095" y="783502"/>
                </a:lnTo>
                <a:lnTo>
                  <a:pt x="13691" y="725775"/>
                </a:lnTo>
                <a:lnTo>
                  <a:pt x="24301" y="668526"/>
                </a:lnTo>
                <a:lnTo>
                  <a:pt x="37897" y="611906"/>
                </a:lnTo>
                <a:lnTo>
                  <a:pt x="54435" y="556081"/>
                </a:lnTo>
                <a:lnTo>
                  <a:pt x="73870" y="501190"/>
                </a:lnTo>
                <a:lnTo>
                  <a:pt x="96152" y="447401"/>
                </a:lnTo>
                <a:lnTo>
                  <a:pt x="121220" y="394845"/>
                </a:lnTo>
                <a:lnTo>
                  <a:pt x="149002" y="343675"/>
                </a:lnTo>
                <a:lnTo>
                  <a:pt x="179425" y="294028"/>
                </a:lnTo>
                <a:lnTo>
                  <a:pt x="212406" y="246044"/>
                </a:lnTo>
                <a:lnTo>
                  <a:pt x="247851" y="199850"/>
                </a:lnTo>
                <a:lnTo>
                  <a:pt x="285664" y="155575"/>
                </a:lnTo>
                <a:lnTo>
                  <a:pt x="325747" y="113340"/>
                </a:lnTo>
                <a:lnTo>
                  <a:pt x="367981" y="73258"/>
                </a:lnTo>
                <a:lnTo>
                  <a:pt x="412256" y="35445"/>
                </a:lnTo>
                <a:lnTo>
                  <a:pt x="45845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993208" y="1118996"/>
            <a:ext cx="653712" cy="1112162"/>
          </a:xfrm>
          <a:custGeom>
            <a:avLst/>
            <a:gdLst/>
            <a:ahLst/>
            <a:cxnLst/>
            <a:rect l="l" t="t" r="r" b="b"/>
            <a:pathLst>
              <a:path w="653712" h="1112162">
                <a:moveTo>
                  <a:pt x="653712" y="1112162"/>
                </a:moveTo>
                <a:lnTo>
                  <a:pt x="0" y="212406"/>
                </a:lnTo>
                <a:lnTo>
                  <a:pt x="47984" y="179425"/>
                </a:lnTo>
                <a:lnTo>
                  <a:pt x="97631" y="149002"/>
                </a:lnTo>
                <a:lnTo>
                  <a:pt x="148802" y="121220"/>
                </a:lnTo>
                <a:lnTo>
                  <a:pt x="201357" y="96152"/>
                </a:lnTo>
                <a:lnTo>
                  <a:pt x="255147" y="73870"/>
                </a:lnTo>
                <a:lnTo>
                  <a:pt x="310037" y="54435"/>
                </a:lnTo>
                <a:lnTo>
                  <a:pt x="365862" y="37897"/>
                </a:lnTo>
                <a:lnTo>
                  <a:pt x="422483" y="24301"/>
                </a:lnTo>
                <a:lnTo>
                  <a:pt x="479731" y="13691"/>
                </a:lnTo>
                <a:lnTo>
                  <a:pt x="537458" y="6095"/>
                </a:lnTo>
                <a:lnTo>
                  <a:pt x="595507" y="1524"/>
                </a:lnTo>
                <a:lnTo>
                  <a:pt x="653712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label7"/>
          <p:cNvSpPr txBox="1"/>
          <p:nvPr/>
        </p:nvSpPr>
        <p:spPr>
          <a:xfrm>
            <a:off x="10039980" y="163163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200" dirty="0"/>
          </a:p>
        </p:txBody>
      </p:sp>
      <p:sp>
        <p:nvSpPr>
          <p:cNvPr id="10" name="S01-label9"/>
          <p:cNvSpPr txBox="1"/>
          <p:nvPr/>
        </p:nvSpPr>
        <p:spPr>
          <a:xfrm>
            <a:off x="9646443" y="270064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200" dirty="0"/>
          </a:p>
        </p:txBody>
      </p:sp>
      <p:sp>
        <p:nvSpPr>
          <p:cNvPr id="11" name="S01-label11"/>
          <p:cNvSpPr txBox="1"/>
          <p:nvPr/>
        </p:nvSpPr>
        <p:spPr>
          <a:xfrm>
            <a:off x="8604236" y="216964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200" dirty="0"/>
          </a:p>
        </p:txBody>
      </p:sp>
      <p:sp>
        <p:nvSpPr>
          <p:cNvPr id="12" name="S01-label13"/>
          <p:cNvSpPr txBox="1"/>
          <p:nvPr/>
        </p:nvSpPr>
        <p:spPr>
          <a:xfrm>
            <a:off x="8828503" y="549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200" dirty="0"/>
          </a:p>
        </p:txBody>
      </p:sp>
      <p:sp>
        <p:nvSpPr>
          <p:cNvPr id="13" name="S01-card1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띠그래프와 원그래프를 읽고 해석해요.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백분율을 구해 띠그래프와 원그래프로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25명 중 10명은 전체의 몇 %?</a:t>
            </a:r>
            <a:endParaRPr lang="ko-KR" sz="2800" dirty="0"/>
          </a:p>
        </p:txBody>
      </p:sp>
      <p:sp>
        <p:nvSpPr>
          <p:cNvPr id="5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0.35를 백분율로 나타내면?</a:t>
            </a:r>
            <a:endParaRPr lang="ko-KR" sz="2800" dirty="0"/>
          </a:p>
        </p:txBody>
      </p:sp>
      <p:sp>
        <p:nvSpPr>
          <p:cNvPr id="7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200명의 15 %는 몇 명?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4000" dirty="0"/>
          </a:p>
        </p:txBody>
      </p:sp>
      <p:sp>
        <p:nvSpPr>
          <p:cNvPr id="3" name="S03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40명이 좋아하는 계절이에요.</a:t>
            </a:r>
            <a:endParaRPr lang="ko-KR" sz="2800" dirty="0"/>
          </a:p>
        </p:txBody>
      </p:sp>
      <p:sp>
        <p:nvSpPr>
          <p:cNvPr id="4" name="S03-card2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전체(100 %)를 띠 하나로 놓고 각 부분의 비율만큼 나눈 그래프예요.</a:t>
            </a:r>
            <a:endParaRPr lang="ko-KR" sz="2800" dirty="0"/>
          </a:p>
        </p:txBody>
      </p:sp>
      <p:sp>
        <p:nvSpPr>
          <p:cNvPr id="6" name="S03-figure25" descr="띠그래프 ‘좋아하는 계절별 학생 수’: 봄 30 %, 여름 25 %, 가을 35 %, 겨울 10 %. 아래에 0부터 100까지 10 %마다 눈금"/>
          <p:cNvSpPr/>
          <p:nvPr/>
        </p:nvSpPr>
        <p:spPr>
          <a:xfrm>
            <a:off x="859536" y="2784094"/>
            <a:ext cx="2743200" cy="1188720"/>
          </a:xfrm>
          <a:custGeom>
            <a:avLst/>
            <a:gdLst/>
            <a:ahLst/>
            <a:cxnLst/>
            <a:rect l="l" t="t" r="r" b="b"/>
            <a:pathLst>
              <a:path w="2743200" h="1188720">
                <a:moveTo>
                  <a:pt x="0" y="1188720"/>
                </a:moveTo>
                <a:lnTo>
                  <a:pt x="2743200" y="118872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>
            <a:off x="3602736" y="2784094"/>
            <a:ext cx="2286000" cy="1188720"/>
          </a:xfrm>
          <a:custGeom>
            <a:avLst/>
            <a:gdLst/>
            <a:ahLst/>
            <a:cxnLst/>
            <a:rect l="l" t="t" r="r" b="b"/>
            <a:pathLst>
              <a:path w="2286000" h="1188720">
                <a:moveTo>
                  <a:pt x="0" y="1188720"/>
                </a:moveTo>
                <a:lnTo>
                  <a:pt x="2286000" y="1188720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>
            <a:off x="5888736" y="2784094"/>
            <a:ext cx="3200400" cy="1188720"/>
          </a:xfrm>
          <a:custGeom>
            <a:avLst/>
            <a:gdLst/>
            <a:ahLst/>
            <a:cxnLst/>
            <a:rect l="l" t="t" r="r" b="b"/>
            <a:pathLst>
              <a:path w="3200400" h="1188720">
                <a:moveTo>
                  <a:pt x="0" y="1188720"/>
                </a:moveTo>
                <a:lnTo>
                  <a:pt x="3200400" y="1188720"/>
                </a:lnTo>
                <a:lnTo>
                  <a:pt x="320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>
            <a:off x="9089136" y="2784094"/>
            <a:ext cx="914400" cy="1188720"/>
          </a:xfrm>
          <a:custGeom>
            <a:avLst/>
            <a:gdLst/>
            <a:ahLst/>
            <a:cxnLst/>
            <a:rect l="l" t="t" r="r" b="b"/>
            <a:pathLst>
              <a:path w="914400" h="1188720">
                <a:moveTo>
                  <a:pt x="0" y="1188720"/>
                </a:moveTo>
                <a:lnTo>
                  <a:pt x="914400" y="118872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>
            <a:off x="859536" y="4082542"/>
            <a:ext cx="914400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>
            <a:off x="8595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>
            <a:off x="13167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>
            <a:off x="17739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>
            <a:off x="22311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3-mark34"/>
          <p:cNvSpPr/>
          <p:nvPr/>
        </p:nvSpPr>
        <p:spPr>
          <a:xfrm>
            <a:off x="26883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3-mark35"/>
          <p:cNvSpPr/>
          <p:nvPr/>
        </p:nvSpPr>
        <p:spPr>
          <a:xfrm>
            <a:off x="31455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3-mark36"/>
          <p:cNvSpPr/>
          <p:nvPr/>
        </p:nvSpPr>
        <p:spPr>
          <a:xfrm>
            <a:off x="36027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3-mark37"/>
          <p:cNvSpPr/>
          <p:nvPr/>
        </p:nvSpPr>
        <p:spPr>
          <a:xfrm>
            <a:off x="40599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03-mark38"/>
          <p:cNvSpPr/>
          <p:nvPr/>
        </p:nvSpPr>
        <p:spPr>
          <a:xfrm>
            <a:off x="45171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03-mark39"/>
          <p:cNvSpPr/>
          <p:nvPr/>
        </p:nvSpPr>
        <p:spPr>
          <a:xfrm>
            <a:off x="49743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>
            <a:off x="54315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03-mark41"/>
          <p:cNvSpPr/>
          <p:nvPr/>
        </p:nvSpPr>
        <p:spPr>
          <a:xfrm>
            <a:off x="58887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03-mark42"/>
          <p:cNvSpPr/>
          <p:nvPr/>
        </p:nvSpPr>
        <p:spPr>
          <a:xfrm>
            <a:off x="63459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>
            <a:off x="68031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72603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>
            <a:off x="77175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>
            <a:off x="81747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>
            <a:off x="86319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03-mark48"/>
          <p:cNvSpPr/>
          <p:nvPr/>
        </p:nvSpPr>
        <p:spPr>
          <a:xfrm>
            <a:off x="90891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03-mark49"/>
          <p:cNvSpPr/>
          <p:nvPr/>
        </p:nvSpPr>
        <p:spPr>
          <a:xfrm>
            <a:off x="95463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03-mark50"/>
          <p:cNvSpPr/>
          <p:nvPr/>
        </p:nvSpPr>
        <p:spPr>
          <a:xfrm>
            <a:off x="100035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03-label52"/>
          <p:cNvSpPr txBox="1"/>
          <p:nvPr/>
        </p:nvSpPr>
        <p:spPr>
          <a:xfrm>
            <a:off x="1787906" y="3029204"/>
            <a:ext cx="8864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30 %</a:t>
            </a:r>
            <a:endParaRPr lang="ko-KR" sz="2200" dirty="0"/>
          </a:p>
        </p:txBody>
      </p:sp>
      <p:sp>
        <p:nvSpPr>
          <p:cNvPr id="33" name="S03-label54"/>
          <p:cNvSpPr txBox="1"/>
          <p:nvPr/>
        </p:nvSpPr>
        <p:spPr>
          <a:xfrm>
            <a:off x="4165600" y="302920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여름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4" name="S03-label56"/>
          <p:cNvSpPr txBox="1"/>
          <p:nvPr/>
        </p:nvSpPr>
        <p:spPr>
          <a:xfrm>
            <a:off x="6908800" y="302920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가을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35" name="S03-label58"/>
          <p:cNvSpPr txBox="1"/>
          <p:nvPr/>
        </p:nvSpPr>
        <p:spPr>
          <a:xfrm>
            <a:off x="8966200" y="302920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겨울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10 %</a:t>
            </a:r>
            <a:endParaRPr lang="ko-KR" sz="2200" dirty="0"/>
          </a:p>
        </p:txBody>
      </p:sp>
      <p:sp>
        <p:nvSpPr>
          <p:cNvPr id="36" name="S03-label60"/>
          <p:cNvSpPr txBox="1"/>
          <p:nvPr/>
        </p:nvSpPr>
        <p:spPr>
          <a:xfrm>
            <a:off x="712470" y="441083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7" name="S03-label62"/>
          <p:cNvSpPr txBox="1"/>
          <p:nvPr/>
        </p:nvSpPr>
        <p:spPr>
          <a:xfrm>
            <a:off x="15346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38" name="S03-label64"/>
          <p:cNvSpPr txBox="1"/>
          <p:nvPr/>
        </p:nvSpPr>
        <p:spPr>
          <a:xfrm>
            <a:off x="24490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39" name="S03-label66"/>
          <p:cNvSpPr txBox="1"/>
          <p:nvPr/>
        </p:nvSpPr>
        <p:spPr>
          <a:xfrm>
            <a:off x="33634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40" name="S03-label68"/>
          <p:cNvSpPr txBox="1"/>
          <p:nvPr/>
        </p:nvSpPr>
        <p:spPr>
          <a:xfrm>
            <a:off x="42778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41" name="S03-label70"/>
          <p:cNvSpPr txBox="1"/>
          <p:nvPr/>
        </p:nvSpPr>
        <p:spPr>
          <a:xfrm>
            <a:off x="51922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2" name="S03-label72"/>
          <p:cNvSpPr txBox="1"/>
          <p:nvPr/>
        </p:nvSpPr>
        <p:spPr>
          <a:xfrm>
            <a:off x="61066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3" name="S03-label74"/>
          <p:cNvSpPr txBox="1"/>
          <p:nvPr/>
        </p:nvSpPr>
        <p:spPr>
          <a:xfrm>
            <a:off x="70210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200" dirty="0"/>
          </a:p>
        </p:txBody>
      </p:sp>
      <p:sp>
        <p:nvSpPr>
          <p:cNvPr id="44" name="S03-label76"/>
          <p:cNvSpPr txBox="1"/>
          <p:nvPr/>
        </p:nvSpPr>
        <p:spPr>
          <a:xfrm>
            <a:off x="79354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45" name="S03-label78"/>
          <p:cNvSpPr txBox="1"/>
          <p:nvPr/>
        </p:nvSpPr>
        <p:spPr>
          <a:xfrm>
            <a:off x="88498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200" dirty="0"/>
          </a:p>
        </p:txBody>
      </p:sp>
      <p:sp>
        <p:nvSpPr>
          <p:cNvPr id="46" name="S03-label80"/>
          <p:cNvSpPr txBox="1"/>
          <p:nvPr/>
        </p:nvSpPr>
        <p:spPr>
          <a:xfrm>
            <a:off x="9672066" y="44108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47" name="S03-label82"/>
          <p:cNvSpPr txBox="1"/>
          <p:nvPr/>
        </p:nvSpPr>
        <p:spPr>
          <a:xfrm>
            <a:off x="10636758" y="4410837"/>
            <a:ext cx="5623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48" name="S03-label84"/>
          <p:cNvSpPr txBox="1"/>
          <p:nvPr/>
        </p:nvSpPr>
        <p:spPr>
          <a:xfrm>
            <a:off x="3881882" y="2060829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계절별 학생 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4000" dirty="0"/>
          </a:p>
        </p:txBody>
      </p:sp>
      <p:sp>
        <p:nvSpPr>
          <p:cNvPr id="3" name="S04-figure85" descr="원그래프 ‘좋아하는 계절별 학생 수’: 위에서 시계 방향으로 봄 30 %, 여름 25 %, 가을 35 %, 겨울 10 %. 둘레에 5 %마다 눈금"/>
          <p:cNvSpPr/>
          <p:nvPr/>
        </p:nvSpPr>
        <p:spPr>
          <a:xfrm>
            <a:off x="3230118" y="2759529"/>
            <a:ext cx="1588034" cy="2078760"/>
          </a:xfrm>
          <a:custGeom>
            <a:avLst/>
            <a:gdLst/>
            <a:ahLst/>
            <a:cxnLst/>
            <a:rect l="l" t="t" r="r" b="b"/>
            <a:pathLst>
              <a:path w="1588034" h="2078760">
                <a:moveTo>
                  <a:pt x="0" y="1588034"/>
                </a:moveTo>
                <a:lnTo>
                  <a:pt x="0" y="0"/>
                </a:lnTo>
                <a:lnTo>
                  <a:pt x="83110" y="2176"/>
                </a:lnTo>
                <a:lnTo>
                  <a:pt x="165997" y="8702"/>
                </a:lnTo>
                <a:lnTo>
                  <a:pt x="248424" y="19549"/>
                </a:lnTo>
                <a:lnTo>
                  <a:pt x="330168" y="34699"/>
                </a:lnTo>
                <a:lnTo>
                  <a:pt x="411015" y="54112"/>
                </a:lnTo>
                <a:lnTo>
                  <a:pt x="490726" y="77726"/>
                </a:lnTo>
                <a:lnTo>
                  <a:pt x="569104" y="105477"/>
                </a:lnTo>
                <a:lnTo>
                  <a:pt x="645909" y="137293"/>
                </a:lnTo>
                <a:lnTo>
                  <a:pt x="720951" y="173088"/>
                </a:lnTo>
                <a:lnTo>
                  <a:pt x="794017" y="212757"/>
                </a:lnTo>
                <a:lnTo>
                  <a:pt x="864907" y="256197"/>
                </a:lnTo>
                <a:lnTo>
                  <a:pt x="933422" y="303291"/>
                </a:lnTo>
                <a:lnTo>
                  <a:pt x="999381" y="353901"/>
                </a:lnTo>
                <a:lnTo>
                  <a:pt x="1062601" y="407894"/>
                </a:lnTo>
                <a:lnTo>
                  <a:pt x="1122907" y="465127"/>
                </a:lnTo>
                <a:lnTo>
                  <a:pt x="1180139" y="525433"/>
                </a:lnTo>
                <a:lnTo>
                  <a:pt x="1234132" y="588652"/>
                </a:lnTo>
                <a:lnTo>
                  <a:pt x="1284743" y="654611"/>
                </a:lnTo>
                <a:lnTo>
                  <a:pt x="1331836" y="723127"/>
                </a:lnTo>
                <a:lnTo>
                  <a:pt x="1375277" y="794017"/>
                </a:lnTo>
                <a:lnTo>
                  <a:pt x="1414946" y="867082"/>
                </a:lnTo>
                <a:lnTo>
                  <a:pt x="1450740" y="942125"/>
                </a:lnTo>
                <a:lnTo>
                  <a:pt x="1482556" y="1018930"/>
                </a:lnTo>
                <a:lnTo>
                  <a:pt x="1510307" y="1097307"/>
                </a:lnTo>
                <a:lnTo>
                  <a:pt x="1533921" y="1177019"/>
                </a:lnTo>
                <a:lnTo>
                  <a:pt x="1553335" y="1257866"/>
                </a:lnTo>
                <a:lnTo>
                  <a:pt x="1568485" y="1339610"/>
                </a:lnTo>
                <a:lnTo>
                  <a:pt x="1579331" y="1422036"/>
                </a:lnTo>
                <a:lnTo>
                  <a:pt x="1585858" y="1504924"/>
                </a:lnTo>
                <a:lnTo>
                  <a:pt x="1588034" y="1588034"/>
                </a:lnTo>
                <a:lnTo>
                  <a:pt x="1585858" y="1671143"/>
                </a:lnTo>
                <a:lnTo>
                  <a:pt x="1579331" y="1754031"/>
                </a:lnTo>
                <a:lnTo>
                  <a:pt x="1568485" y="1836458"/>
                </a:lnTo>
                <a:lnTo>
                  <a:pt x="1553335" y="1918202"/>
                </a:lnTo>
                <a:lnTo>
                  <a:pt x="1533921" y="1999048"/>
                </a:lnTo>
                <a:lnTo>
                  <a:pt x="1510307" y="207876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4-mark86"/>
          <p:cNvSpPr/>
          <p:nvPr/>
        </p:nvSpPr>
        <p:spPr>
          <a:xfrm>
            <a:off x="2739392" y="4347562"/>
            <a:ext cx="2001034" cy="1588034"/>
          </a:xfrm>
          <a:custGeom>
            <a:avLst/>
            <a:gdLst/>
            <a:ahLst/>
            <a:cxnLst/>
            <a:rect l="l" t="t" r="r" b="b"/>
            <a:pathLst>
              <a:path w="2001034" h="1588034">
                <a:moveTo>
                  <a:pt x="490726" y="0"/>
                </a:moveTo>
                <a:lnTo>
                  <a:pt x="2001034" y="490726"/>
                </a:lnTo>
                <a:lnTo>
                  <a:pt x="1973283" y="569104"/>
                </a:lnTo>
                <a:lnTo>
                  <a:pt x="1941466" y="645909"/>
                </a:lnTo>
                <a:lnTo>
                  <a:pt x="1905672" y="720951"/>
                </a:lnTo>
                <a:lnTo>
                  <a:pt x="1866003" y="794017"/>
                </a:lnTo>
                <a:lnTo>
                  <a:pt x="1822562" y="864907"/>
                </a:lnTo>
                <a:lnTo>
                  <a:pt x="1775469" y="933422"/>
                </a:lnTo>
                <a:lnTo>
                  <a:pt x="1724859" y="999381"/>
                </a:lnTo>
                <a:lnTo>
                  <a:pt x="1670865" y="1062601"/>
                </a:lnTo>
                <a:lnTo>
                  <a:pt x="1613633" y="1122907"/>
                </a:lnTo>
                <a:lnTo>
                  <a:pt x="1553327" y="1180139"/>
                </a:lnTo>
                <a:lnTo>
                  <a:pt x="1490108" y="1234132"/>
                </a:lnTo>
                <a:lnTo>
                  <a:pt x="1424149" y="1284743"/>
                </a:lnTo>
                <a:lnTo>
                  <a:pt x="1355633" y="1331836"/>
                </a:lnTo>
                <a:lnTo>
                  <a:pt x="1284743" y="1375277"/>
                </a:lnTo>
                <a:lnTo>
                  <a:pt x="1211678" y="1414946"/>
                </a:lnTo>
                <a:lnTo>
                  <a:pt x="1136635" y="1450740"/>
                </a:lnTo>
                <a:lnTo>
                  <a:pt x="1059830" y="1482556"/>
                </a:lnTo>
                <a:lnTo>
                  <a:pt x="981452" y="1510307"/>
                </a:lnTo>
                <a:lnTo>
                  <a:pt x="901741" y="1533921"/>
                </a:lnTo>
                <a:lnTo>
                  <a:pt x="820894" y="1553335"/>
                </a:lnTo>
                <a:lnTo>
                  <a:pt x="739150" y="1568485"/>
                </a:lnTo>
                <a:lnTo>
                  <a:pt x="656723" y="1579331"/>
                </a:lnTo>
                <a:lnTo>
                  <a:pt x="573836" y="1585858"/>
                </a:lnTo>
                <a:lnTo>
                  <a:pt x="490726" y="1588034"/>
                </a:lnTo>
                <a:lnTo>
                  <a:pt x="407616" y="1585858"/>
                </a:lnTo>
                <a:lnTo>
                  <a:pt x="324729" y="1579331"/>
                </a:lnTo>
                <a:lnTo>
                  <a:pt x="242302" y="1568485"/>
                </a:lnTo>
                <a:lnTo>
                  <a:pt x="160558" y="1553335"/>
                </a:lnTo>
                <a:lnTo>
                  <a:pt x="79711" y="1533921"/>
                </a:lnTo>
                <a:lnTo>
                  <a:pt x="0" y="1510307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4-mark87"/>
          <p:cNvSpPr/>
          <p:nvPr/>
        </p:nvSpPr>
        <p:spPr>
          <a:xfrm>
            <a:off x="1642084" y="3062819"/>
            <a:ext cx="1588034" cy="2795050"/>
          </a:xfrm>
          <a:custGeom>
            <a:avLst/>
            <a:gdLst/>
            <a:ahLst/>
            <a:cxnLst/>
            <a:rect l="l" t="t" r="r" b="b"/>
            <a:pathLst>
              <a:path w="1588034" h="2795050">
                <a:moveTo>
                  <a:pt x="1588034" y="1284743"/>
                </a:moveTo>
                <a:lnTo>
                  <a:pt x="1097307" y="2795050"/>
                </a:lnTo>
                <a:lnTo>
                  <a:pt x="1018930" y="2767299"/>
                </a:lnTo>
                <a:lnTo>
                  <a:pt x="942125" y="2735483"/>
                </a:lnTo>
                <a:lnTo>
                  <a:pt x="867082" y="2699689"/>
                </a:lnTo>
                <a:lnTo>
                  <a:pt x="794017" y="2660020"/>
                </a:lnTo>
                <a:lnTo>
                  <a:pt x="723127" y="2616579"/>
                </a:lnTo>
                <a:lnTo>
                  <a:pt x="654611" y="2569486"/>
                </a:lnTo>
                <a:lnTo>
                  <a:pt x="588652" y="2518875"/>
                </a:lnTo>
                <a:lnTo>
                  <a:pt x="525433" y="2464882"/>
                </a:lnTo>
                <a:lnTo>
                  <a:pt x="465127" y="2407650"/>
                </a:lnTo>
                <a:lnTo>
                  <a:pt x="407894" y="2347344"/>
                </a:lnTo>
                <a:lnTo>
                  <a:pt x="353901" y="2284124"/>
                </a:lnTo>
                <a:lnTo>
                  <a:pt x="303291" y="2218165"/>
                </a:lnTo>
                <a:lnTo>
                  <a:pt x="256197" y="2149650"/>
                </a:lnTo>
                <a:lnTo>
                  <a:pt x="212757" y="2078760"/>
                </a:lnTo>
                <a:lnTo>
                  <a:pt x="173088" y="2005694"/>
                </a:lnTo>
                <a:lnTo>
                  <a:pt x="137293" y="1930652"/>
                </a:lnTo>
                <a:lnTo>
                  <a:pt x="105477" y="1853847"/>
                </a:lnTo>
                <a:lnTo>
                  <a:pt x="77726" y="1775469"/>
                </a:lnTo>
                <a:lnTo>
                  <a:pt x="54112" y="1695758"/>
                </a:lnTo>
                <a:lnTo>
                  <a:pt x="34699" y="1614911"/>
                </a:lnTo>
                <a:lnTo>
                  <a:pt x="19549" y="1533167"/>
                </a:lnTo>
                <a:lnTo>
                  <a:pt x="8702" y="1450740"/>
                </a:lnTo>
                <a:lnTo>
                  <a:pt x="2176" y="1367853"/>
                </a:lnTo>
                <a:lnTo>
                  <a:pt x="0" y="1284743"/>
                </a:lnTo>
                <a:lnTo>
                  <a:pt x="2176" y="1201633"/>
                </a:lnTo>
                <a:lnTo>
                  <a:pt x="8702" y="1118746"/>
                </a:lnTo>
                <a:lnTo>
                  <a:pt x="19549" y="1036319"/>
                </a:lnTo>
                <a:lnTo>
                  <a:pt x="34699" y="954575"/>
                </a:lnTo>
                <a:lnTo>
                  <a:pt x="54112" y="873728"/>
                </a:lnTo>
                <a:lnTo>
                  <a:pt x="77726" y="794017"/>
                </a:lnTo>
                <a:lnTo>
                  <a:pt x="105477" y="715639"/>
                </a:lnTo>
                <a:lnTo>
                  <a:pt x="137293" y="638834"/>
                </a:lnTo>
                <a:lnTo>
                  <a:pt x="173088" y="563792"/>
                </a:lnTo>
                <a:lnTo>
                  <a:pt x="212757" y="490726"/>
                </a:lnTo>
                <a:lnTo>
                  <a:pt x="256197" y="419836"/>
                </a:lnTo>
                <a:lnTo>
                  <a:pt x="303291" y="351321"/>
                </a:lnTo>
                <a:lnTo>
                  <a:pt x="353901" y="285362"/>
                </a:lnTo>
                <a:lnTo>
                  <a:pt x="407894" y="222142"/>
                </a:lnTo>
                <a:lnTo>
                  <a:pt x="465127" y="161837"/>
                </a:lnTo>
                <a:lnTo>
                  <a:pt x="525433" y="104604"/>
                </a:lnTo>
                <a:lnTo>
                  <a:pt x="588652" y="50611"/>
                </a:lnTo>
                <a:lnTo>
                  <a:pt x="654611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88"/>
          <p:cNvSpPr/>
          <p:nvPr/>
        </p:nvSpPr>
        <p:spPr>
          <a:xfrm>
            <a:off x="2296696" y="2759529"/>
            <a:ext cx="933422" cy="1588034"/>
          </a:xfrm>
          <a:custGeom>
            <a:avLst/>
            <a:gdLst/>
            <a:ahLst/>
            <a:cxnLst/>
            <a:rect l="l" t="t" r="r" b="b"/>
            <a:pathLst>
              <a:path w="933422" h="1588034">
                <a:moveTo>
                  <a:pt x="933422" y="1588034"/>
                </a:moveTo>
                <a:lnTo>
                  <a:pt x="0" y="303291"/>
                </a:lnTo>
                <a:lnTo>
                  <a:pt x="68516" y="256197"/>
                </a:lnTo>
                <a:lnTo>
                  <a:pt x="139406" y="212757"/>
                </a:lnTo>
                <a:lnTo>
                  <a:pt x="212471" y="173088"/>
                </a:lnTo>
                <a:lnTo>
                  <a:pt x="287513" y="137293"/>
                </a:lnTo>
                <a:lnTo>
                  <a:pt x="364319" y="105477"/>
                </a:lnTo>
                <a:lnTo>
                  <a:pt x="442696" y="77726"/>
                </a:lnTo>
                <a:lnTo>
                  <a:pt x="522407" y="54112"/>
                </a:lnTo>
                <a:lnTo>
                  <a:pt x="603254" y="34699"/>
                </a:lnTo>
                <a:lnTo>
                  <a:pt x="684998" y="19549"/>
                </a:lnTo>
                <a:lnTo>
                  <a:pt x="767425" y="8702"/>
                </a:lnTo>
                <a:lnTo>
                  <a:pt x="850313" y="2176"/>
                </a:lnTo>
                <a:lnTo>
                  <a:pt x="933422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89"/>
          <p:cNvSpPr/>
          <p:nvPr/>
        </p:nvSpPr>
        <p:spPr>
          <a:xfrm flipV="1">
            <a:off x="3230118" y="2584845"/>
            <a:ext cx="0" cy="17468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S04-mark90"/>
          <p:cNvSpPr/>
          <p:nvPr/>
        </p:nvSpPr>
        <p:spPr>
          <a:xfrm flipV="1">
            <a:off x="3720844" y="2746634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91"/>
          <p:cNvSpPr/>
          <p:nvPr/>
        </p:nvSpPr>
        <p:spPr>
          <a:xfrm flipV="1">
            <a:off x="4163540" y="2985728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4-mark92"/>
          <p:cNvSpPr/>
          <p:nvPr/>
        </p:nvSpPr>
        <p:spPr>
          <a:xfrm flipV="1">
            <a:off x="4514861" y="3358138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4-mark93"/>
          <p:cNvSpPr/>
          <p:nvPr/>
        </p:nvSpPr>
        <p:spPr>
          <a:xfrm flipV="1">
            <a:off x="4740425" y="3827386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94"/>
          <p:cNvSpPr/>
          <p:nvPr/>
        </p:nvSpPr>
        <p:spPr>
          <a:xfrm>
            <a:off x="4818152" y="4347562"/>
            <a:ext cx="17468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4-mark95"/>
          <p:cNvSpPr/>
          <p:nvPr/>
        </p:nvSpPr>
        <p:spPr>
          <a:xfrm>
            <a:off x="4740425" y="4838288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4-mark96"/>
          <p:cNvSpPr/>
          <p:nvPr/>
        </p:nvSpPr>
        <p:spPr>
          <a:xfrm>
            <a:off x="4514861" y="5280985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4-mark97"/>
          <p:cNvSpPr/>
          <p:nvPr/>
        </p:nvSpPr>
        <p:spPr>
          <a:xfrm>
            <a:off x="4163540" y="5632305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4-mark98"/>
          <p:cNvSpPr/>
          <p:nvPr/>
        </p:nvSpPr>
        <p:spPr>
          <a:xfrm>
            <a:off x="3720844" y="5857869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4-mark99"/>
          <p:cNvSpPr/>
          <p:nvPr/>
        </p:nvSpPr>
        <p:spPr>
          <a:xfrm>
            <a:off x="3230118" y="5935596"/>
            <a:ext cx="0" cy="17468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4-mark100"/>
          <p:cNvSpPr/>
          <p:nvPr/>
        </p:nvSpPr>
        <p:spPr>
          <a:xfrm flipH="1">
            <a:off x="2709942" y="5857869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4-mark101"/>
          <p:cNvSpPr/>
          <p:nvPr/>
        </p:nvSpPr>
        <p:spPr>
          <a:xfrm flipH="1">
            <a:off x="2240694" y="5632305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4-mark102"/>
          <p:cNvSpPr/>
          <p:nvPr/>
        </p:nvSpPr>
        <p:spPr>
          <a:xfrm flipH="1">
            <a:off x="1868284" y="5280985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4-mark103"/>
          <p:cNvSpPr/>
          <p:nvPr/>
        </p:nvSpPr>
        <p:spPr>
          <a:xfrm flipH="1">
            <a:off x="1629190" y="4838288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4-mark104"/>
          <p:cNvSpPr/>
          <p:nvPr/>
        </p:nvSpPr>
        <p:spPr>
          <a:xfrm flipH="1">
            <a:off x="1467401" y="4347562"/>
            <a:ext cx="17468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4-mark105"/>
          <p:cNvSpPr/>
          <p:nvPr/>
        </p:nvSpPr>
        <p:spPr>
          <a:xfrm flipH="1" flipV="1">
            <a:off x="1629190" y="3827386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4-mark106"/>
          <p:cNvSpPr/>
          <p:nvPr/>
        </p:nvSpPr>
        <p:spPr>
          <a:xfrm flipH="1" flipV="1">
            <a:off x="1868284" y="3358138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4-mark107"/>
          <p:cNvSpPr/>
          <p:nvPr/>
        </p:nvSpPr>
        <p:spPr>
          <a:xfrm flipH="1" flipV="1">
            <a:off x="2240694" y="2985728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4-mark108"/>
          <p:cNvSpPr/>
          <p:nvPr/>
        </p:nvSpPr>
        <p:spPr>
          <a:xfrm flipH="1" flipV="1">
            <a:off x="2709942" y="2746634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4-label110"/>
          <p:cNvSpPr txBox="1"/>
          <p:nvPr/>
        </p:nvSpPr>
        <p:spPr>
          <a:xfrm>
            <a:off x="3589877" y="3414948"/>
            <a:ext cx="8864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30 %</a:t>
            </a:r>
            <a:endParaRPr lang="ko-KR" sz="2200" dirty="0"/>
          </a:p>
        </p:txBody>
      </p:sp>
      <p:sp>
        <p:nvSpPr>
          <p:cNvPr id="28" name="S04-label112"/>
          <p:cNvSpPr txBox="1"/>
          <p:nvPr/>
        </p:nvSpPr>
        <p:spPr>
          <a:xfrm>
            <a:off x="3100587" y="4882688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여름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29" name="S04-label114"/>
          <p:cNvSpPr txBox="1"/>
          <p:nvPr/>
        </p:nvSpPr>
        <p:spPr>
          <a:xfrm>
            <a:off x="1669689" y="4153542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가을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30" name="S04-label116"/>
          <p:cNvSpPr txBox="1"/>
          <p:nvPr/>
        </p:nvSpPr>
        <p:spPr>
          <a:xfrm>
            <a:off x="1950691" y="1846130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겨울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10 %</a:t>
            </a:r>
            <a:endParaRPr lang="ko-KR" sz="2200" dirty="0"/>
          </a:p>
        </p:txBody>
      </p:sp>
      <p:sp>
        <p:nvSpPr>
          <p:cNvPr id="31" name="S04-label118"/>
          <p:cNvSpPr txBox="1"/>
          <p:nvPr/>
        </p:nvSpPr>
        <p:spPr>
          <a:xfrm>
            <a:off x="1680464" y="1235075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계절별 학생 수</a:t>
            </a:r>
            <a:endParaRPr lang="ko-KR" sz="2200" dirty="0"/>
          </a:p>
        </p:txBody>
      </p:sp>
      <p:sp>
        <p:nvSpPr>
          <p:cNvPr id="32" name="S04-card119"/>
          <p:cNvSpPr/>
          <p:nvPr/>
        </p:nvSpPr>
        <p:spPr>
          <a:xfrm>
            <a:off x="6277356" y="143230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4-cardtext120"/>
          <p:cNvSpPr txBox="1"/>
          <p:nvPr/>
        </p:nvSpPr>
        <p:spPr>
          <a:xfrm>
            <a:off x="6551676" y="156946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전체(100 %)를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비율만큼 나눈 그래프</a:t>
            </a:r>
            <a:endParaRPr lang="ko-KR" sz="2800" dirty="0"/>
          </a:p>
        </p:txBody>
      </p:sp>
      <p:sp>
        <p:nvSpPr>
          <p:cNvPr id="34" name="S04-card121"/>
          <p:cNvSpPr/>
          <p:nvPr/>
        </p:nvSpPr>
        <p:spPr>
          <a:xfrm>
            <a:off x="6277356" y="3181858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4-cardtext122"/>
          <p:cNvSpPr txBox="1"/>
          <p:nvPr/>
        </p:nvSpPr>
        <p:spPr>
          <a:xfrm>
            <a:off x="6551676" y="3319018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눈금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칸이 5 %예요.</a:t>
            </a:r>
            <a:endParaRPr lang="ko-KR" sz="2800" dirty="0"/>
          </a:p>
        </p:txBody>
      </p:sp>
      <p:sp>
        <p:nvSpPr>
          <p:cNvPr id="36" name="S04-card123"/>
          <p:cNvSpPr/>
          <p:nvPr/>
        </p:nvSpPr>
        <p:spPr>
          <a:xfrm>
            <a:off x="6277356" y="459054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7" name="S04-cardtext124"/>
          <p:cNvSpPr txBox="1"/>
          <p:nvPr/>
        </p:nvSpPr>
        <p:spPr>
          <a:xfrm>
            <a:off x="6551676" y="472770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띠그래프와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부분의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보여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띠그래프를 읽어요</a:t>
            </a:r>
            <a:endParaRPr lang="ko-KR" sz="4000" dirty="0"/>
          </a:p>
        </p:txBody>
      </p:sp>
      <p:sp>
        <p:nvSpPr>
          <p:cNvPr id="3" name="S05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200명이 가고 싶은 곳을 조사했어요.</a:t>
            </a:r>
            <a:endParaRPr lang="ko-KR" sz="2800" dirty="0"/>
          </a:p>
        </p:txBody>
      </p:sp>
      <p:sp>
        <p:nvSpPr>
          <p:cNvPr id="4" name="S05-card126"/>
          <p:cNvSpPr/>
          <p:nvPr/>
        </p:nvSpPr>
        <p:spPr>
          <a:xfrm>
            <a:off x="548640" y="4587240"/>
            <a:ext cx="3544824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127"/>
          <p:cNvSpPr txBox="1"/>
          <p:nvPr/>
        </p:nvSpPr>
        <p:spPr>
          <a:xfrm>
            <a:off x="822960" y="4724400"/>
            <a:ext cx="2996184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가장 많은 곳과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비율은?</a:t>
            </a:r>
            <a:endParaRPr lang="ko-KR" sz="2800" dirty="0"/>
          </a:p>
        </p:txBody>
      </p:sp>
      <p:sp>
        <p:nvSpPr>
          <p:cNvPr id="6" name="S05-card128"/>
          <p:cNvSpPr/>
          <p:nvPr/>
        </p:nvSpPr>
        <p:spPr>
          <a:xfrm>
            <a:off x="4322064" y="4587240"/>
            <a:ext cx="3544824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129"/>
          <p:cNvSpPr txBox="1"/>
          <p:nvPr/>
        </p:nvSpPr>
        <p:spPr>
          <a:xfrm>
            <a:off x="4596384" y="4724400"/>
            <a:ext cx="2996184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과학관은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박물관의 몇 배?</a:t>
            </a:r>
            <a:endParaRPr lang="ko-KR" sz="2800" dirty="0"/>
          </a:p>
        </p:txBody>
      </p:sp>
      <p:sp>
        <p:nvSpPr>
          <p:cNvPr id="8" name="S05-card130"/>
          <p:cNvSpPr/>
          <p:nvPr/>
        </p:nvSpPr>
        <p:spPr>
          <a:xfrm>
            <a:off x="8095488" y="4587240"/>
            <a:ext cx="3544824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131"/>
          <p:cNvSpPr txBox="1"/>
          <p:nvPr/>
        </p:nvSpPr>
        <p:spPr>
          <a:xfrm>
            <a:off x="8369808" y="4724400"/>
            <a:ext cx="2996184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놀이공원을 고른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몇 명?</a:t>
            </a:r>
            <a:endParaRPr lang="ko-KR" sz="2800" dirty="0"/>
          </a:p>
        </p:txBody>
      </p:sp>
      <p:sp>
        <p:nvSpPr>
          <p:cNvPr id="10" name="S05-figure132" descr="띠그래프 ‘가고 싶은 체험 학습 장소’(200명): 과학관 40 %, 놀이공원 25 %, 박물관 20 %, 기타 15 %"/>
          <p:cNvSpPr/>
          <p:nvPr/>
        </p:nvSpPr>
        <p:spPr>
          <a:xfrm>
            <a:off x="1239765" y="2604291"/>
            <a:ext cx="3391938" cy="1102380"/>
          </a:xfrm>
          <a:custGeom>
            <a:avLst/>
            <a:gdLst/>
            <a:ahLst/>
            <a:cxnLst/>
            <a:rect l="l" t="t" r="r" b="b"/>
            <a:pathLst>
              <a:path w="3391938" h="1102380">
                <a:moveTo>
                  <a:pt x="0" y="1102380"/>
                </a:moveTo>
                <a:lnTo>
                  <a:pt x="3391938" y="1102380"/>
                </a:lnTo>
                <a:lnTo>
                  <a:pt x="33919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mark133"/>
          <p:cNvSpPr/>
          <p:nvPr/>
        </p:nvSpPr>
        <p:spPr>
          <a:xfrm>
            <a:off x="4631703" y="2604291"/>
            <a:ext cx="2119961" cy="1102380"/>
          </a:xfrm>
          <a:custGeom>
            <a:avLst/>
            <a:gdLst/>
            <a:ahLst/>
            <a:cxnLst/>
            <a:rect l="l" t="t" r="r" b="b"/>
            <a:pathLst>
              <a:path w="2119961" h="1102380">
                <a:moveTo>
                  <a:pt x="0" y="1102380"/>
                </a:moveTo>
                <a:lnTo>
                  <a:pt x="2119961" y="1102380"/>
                </a:lnTo>
                <a:lnTo>
                  <a:pt x="2119961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mark134"/>
          <p:cNvSpPr/>
          <p:nvPr/>
        </p:nvSpPr>
        <p:spPr>
          <a:xfrm>
            <a:off x="6751664" y="2604291"/>
            <a:ext cx="1695969" cy="1102380"/>
          </a:xfrm>
          <a:custGeom>
            <a:avLst/>
            <a:gdLst/>
            <a:ahLst/>
            <a:cxnLst/>
            <a:rect l="l" t="t" r="r" b="b"/>
            <a:pathLst>
              <a:path w="1695969" h="1102380">
                <a:moveTo>
                  <a:pt x="0" y="1102380"/>
                </a:moveTo>
                <a:lnTo>
                  <a:pt x="1695969" y="1102380"/>
                </a:lnTo>
                <a:lnTo>
                  <a:pt x="1695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mark135"/>
          <p:cNvSpPr/>
          <p:nvPr/>
        </p:nvSpPr>
        <p:spPr>
          <a:xfrm>
            <a:off x="8447633" y="2604291"/>
            <a:ext cx="1271977" cy="1102380"/>
          </a:xfrm>
          <a:custGeom>
            <a:avLst/>
            <a:gdLst/>
            <a:ahLst/>
            <a:cxnLst/>
            <a:rect l="l" t="t" r="r" b="b"/>
            <a:pathLst>
              <a:path w="1271977" h="1102380">
                <a:moveTo>
                  <a:pt x="0" y="1102380"/>
                </a:moveTo>
                <a:lnTo>
                  <a:pt x="1271977" y="1102380"/>
                </a:lnTo>
                <a:lnTo>
                  <a:pt x="1271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mark136"/>
          <p:cNvSpPr/>
          <p:nvPr/>
        </p:nvSpPr>
        <p:spPr>
          <a:xfrm>
            <a:off x="1239765" y="3808429"/>
            <a:ext cx="8479844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5-mark137"/>
          <p:cNvSpPr/>
          <p:nvPr/>
        </p:nvSpPr>
        <p:spPr>
          <a:xfrm>
            <a:off x="1239765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5-mark138"/>
          <p:cNvSpPr/>
          <p:nvPr/>
        </p:nvSpPr>
        <p:spPr>
          <a:xfrm>
            <a:off x="1663757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5-mark139"/>
          <p:cNvSpPr/>
          <p:nvPr/>
        </p:nvSpPr>
        <p:spPr>
          <a:xfrm>
            <a:off x="2087750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5-mark140"/>
          <p:cNvSpPr/>
          <p:nvPr/>
        </p:nvSpPr>
        <p:spPr>
          <a:xfrm>
            <a:off x="2511742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05-mark141"/>
          <p:cNvSpPr/>
          <p:nvPr/>
        </p:nvSpPr>
        <p:spPr>
          <a:xfrm>
            <a:off x="2935734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05-mark142"/>
          <p:cNvSpPr/>
          <p:nvPr/>
        </p:nvSpPr>
        <p:spPr>
          <a:xfrm>
            <a:off x="3359726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05-mark143"/>
          <p:cNvSpPr/>
          <p:nvPr/>
        </p:nvSpPr>
        <p:spPr>
          <a:xfrm>
            <a:off x="3783718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05-mark144"/>
          <p:cNvSpPr/>
          <p:nvPr/>
        </p:nvSpPr>
        <p:spPr>
          <a:xfrm>
            <a:off x="4207711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05-mark145"/>
          <p:cNvSpPr/>
          <p:nvPr/>
        </p:nvSpPr>
        <p:spPr>
          <a:xfrm>
            <a:off x="4631703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05-mark146"/>
          <p:cNvSpPr/>
          <p:nvPr/>
        </p:nvSpPr>
        <p:spPr>
          <a:xfrm>
            <a:off x="5055695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05-mark147"/>
          <p:cNvSpPr/>
          <p:nvPr/>
        </p:nvSpPr>
        <p:spPr>
          <a:xfrm>
            <a:off x="5479687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05-mark148"/>
          <p:cNvSpPr/>
          <p:nvPr/>
        </p:nvSpPr>
        <p:spPr>
          <a:xfrm>
            <a:off x="5903680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05-mark149"/>
          <p:cNvSpPr/>
          <p:nvPr/>
        </p:nvSpPr>
        <p:spPr>
          <a:xfrm>
            <a:off x="6327672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05-mark150"/>
          <p:cNvSpPr/>
          <p:nvPr/>
        </p:nvSpPr>
        <p:spPr>
          <a:xfrm>
            <a:off x="6751664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05-mark151"/>
          <p:cNvSpPr/>
          <p:nvPr/>
        </p:nvSpPr>
        <p:spPr>
          <a:xfrm>
            <a:off x="7175656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05-mark152"/>
          <p:cNvSpPr/>
          <p:nvPr/>
        </p:nvSpPr>
        <p:spPr>
          <a:xfrm>
            <a:off x="7599648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05-mark153"/>
          <p:cNvSpPr/>
          <p:nvPr/>
        </p:nvSpPr>
        <p:spPr>
          <a:xfrm>
            <a:off x="8023641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05-mark154"/>
          <p:cNvSpPr/>
          <p:nvPr/>
        </p:nvSpPr>
        <p:spPr>
          <a:xfrm>
            <a:off x="8447633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3" name="S05-mark155"/>
          <p:cNvSpPr/>
          <p:nvPr/>
        </p:nvSpPr>
        <p:spPr>
          <a:xfrm>
            <a:off x="8871625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4" name="S05-mark156"/>
          <p:cNvSpPr/>
          <p:nvPr/>
        </p:nvSpPr>
        <p:spPr>
          <a:xfrm>
            <a:off x="9295617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5" name="S05-mark157"/>
          <p:cNvSpPr/>
          <p:nvPr/>
        </p:nvSpPr>
        <p:spPr>
          <a:xfrm>
            <a:off x="9719609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6" name="S05-label159"/>
          <p:cNvSpPr txBox="1"/>
          <p:nvPr/>
        </p:nvSpPr>
        <p:spPr>
          <a:xfrm>
            <a:off x="2218692" y="2806231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과학관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37" name="S05-label161"/>
          <p:cNvSpPr txBox="1"/>
          <p:nvPr/>
        </p:nvSpPr>
        <p:spPr>
          <a:xfrm>
            <a:off x="4837735" y="2806231"/>
            <a:ext cx="170789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놀이공원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8" name="S05-label163"/>
          <p:cNvSpPr txBox="1"/>
          <p:nvPr/>
        </p:nvSpPr>
        <p:spPr>
          <a:xfrm>
            <a:off x="6882606" y="2806231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박물관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9" name="S05-label165"/>
          <p:cNvSpPr txBox="1"/>
          <p:nvPr/>
        </p:nvSpPr>
        <p:spPr>
          <a:xfrm>
            <a:off x="8503485" y="280623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40" name="S05-label167"/>
          <p:cNvSpPr txBox="1"/>
          <p:nvPr/>
        </p:nvSpPr>
        <p:spPr>
          <a:xfrm>
            <a:off x="1092699" y="410019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41" name="S05-label169"/>
          <p:cNvSpPr txBox="1"/>
          <p:nvPr/>
        </p:nvSpPr>
        <p:spPr>
          <a:xfrm>
            <a:off x="1848482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42" name="S05-label171"/>
          <p:cNvSpPr txBox="1"/>
          <p:nvPr/>
        </p:nvSpPr>
        <p:spPr>
          <a:xfrm>
            <a:off x="2696466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3" name="S05-label173"/>
          <p:cNvSpPr txBox="1"/>
          <p:nvPr/>
        </p:nvSpPr>
        <p:spPr>
          <a:xfrm>
            <a:off x="3544450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44" name="S05-label175"/>
          <p:cNvSpPr txBox="1"/>
          <p:nvPr/>
        </p:nvSpPr>
        <p:spPr>
          <a:xfrm>
            <a:off x="4392435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45" name="S05-label177"/>
          <p:cNvSpPr txBox="1"/>
          <p:nvPr/>
        </p:nvSpPr>
        <p:spPr>
          <a:xfrm>
            <a:off x="5240419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6" name="S05-label179"/>
          <p:cNvSpPr txBox="1"/>
          <p:nvPr/>
        </p:nvSpPr>
        <p:spPr>
          <a:xfrm>
            <a:off x="6088404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7" name="S05-label181"/>
          <p:cNvSpPr txBox="1"/>
          <p:nvPr/>
        </p:nvSpPr>
        <p:spPr>
          <a:xfrm>
            <a:off x="6936388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200" dirty="0"/>
          </a:p>
        </p:txBody>
      </p:sp>
      <p:sp>
        <p:nvSpPr>
          <p:cNvPr id="48" name="S05-label183"/>
          <p:cNvSpPr txBox="1"/>
          <p:nvPr/>
        </p:nvSpPr>
        <p:spPr>
          <a:xfrm>
            <a:off x="7784373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49" name="S05-label185"/>
          <p:cNvSpPr txBox="1"/>
          <p:nvPr/>
        </p:nvSpPr>
        <p:spPr>
          <a:xfrm>
            <a:off x="8632357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200" dirty="0"/>
          </a:p>
        </p:txBody>
      </p:sp>
      <p:sp>
        <p:nvSpPr>
          <p:cNvPr id="50" name="S05-label187"/>
          <p:cNvSpPr txBox="1"/>
          <p:nvPr/>
        </p:nvSpPr>
        <p:spPr>
          <a:xfrm>
            <a:off x="9388139" y="4100195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51" name="S05-label189"/>
          <p:cNvSpPr txBox="1"/>
          <p:nvPr/>
        </p:nvSpPr>
        <p:spPr>
          <a:xfrm>
            <a:off x="10286416" y="4100195"/>
            <a:ext cx="5623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52" name="S05-label191"/>
          <p:cNvSpPr txBox="1"/>
          <p:nvPr/>
        </p:nvSpPr>
        <p:spPr>
          <a:xfrm>
            <a:off x="3888123" y="1920875"/>
            <a:ext cx="318312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가고 싶은 체험 학습 장소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역사책은 몇 %일까요?</a:t>
            </a:r>
            <a:endParaRPr lang="ko-KR" sz="4000" dirty="0"/>
          </a:p>
        </p:txBody>
      </p:sp>
      <p:sp>
        <p:nvSpPr>
          <p:cNvPr id="3" name="S06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띠에서 역사 칸의 길이를 봐요.</a:t>
            </a:r>
            <a:endParaRPr lang="ko-KR" sz="2800" dirty="0"/>
          </a:p>
        </p:txBody>
      </p:sp>
      <p:sp>
        <p:nvSpPr>
          <p:cNvPr id="5" name="S06-card194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195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역사책은 75 %예요.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눈금에서 끝나요.</a:t>
            </a:r>
            <a:endParaRPr lang="ko-KR" sz="2800" dirty="0"/>
          </a:p>
        </p:txBody>
      </p:sp>
      <p:sp>
        <p:nvSpPr>
          <p:cNvPr id="7" name="S06-card196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197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역사책은 15 %예요.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75 − 60 = 15</a:t>
            </a:r>
            <a:endParaRPr lang="ko-KR" sz="2800" dirty="0"/>
          </a:p>
        </p:txBody>
      </p:sp>
      <p:sp>
        <p:nvSpPr>
          <p:cNvPr id="9" name="S06-figure198" descr="띠그래프 ‘학급 문고 책의 종류’(백분율 없이 이름만): 동화 0~35, 과학 35~60, 역사 60~75, 기타 75~100. 아래에 10 %마다 눈금"/>
          <p:cNvSpPr/>
          <p:nvPr/>
        </p:nvSpPr>
        <p:spPr>
          <a:xfrm>
            <a:off x="1911956" y="1848043"/>
            <a:ext cx="2556999" cy="949743"/>
          </a:xfrm>
          <a:custGeom>
            <a:avLst/>
            <a:gdLst/>
            <a:ahLst/>
            <a:cxnLst/>
            <a:rect l="l" t="t" r="r" b="b"/>
            <a:pathLst>
              <a:path w="2556999" h="949743">
                <a:moveTo>
                  <a:pt x="0" y="949743"/>
                </a:moveTo>
                <a:lnTo>
                  <a:pt x="2556999" y="949743"/>
                </a:lnTo>
                <a:lnTo>
                  <a:pt x="2556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mark199"/>
          <p:cNvSpPr/>
          <p:nvPr/>
        </p:nvSpPr>
        <p:spPr>
          <a:xfrm>
            <a:off x="4468955" y="1848043"/>
            <a:ext cx="1826428" cy="949743"/>
          </a:xfrm>
          <a:custGeom>
            <a:avLst/>
            <a:gdLst/>
            <a:ahLst/>
            <a:cxnLst/>
            <a:rect l="l" t="t" r="r" b="b"/>
            <a:pathLst>
              <a:path w="1826428" h="949743">
                <a:moveTo>
                  <a:pt x="0" y="949743"/>
                </a:moveTo>
                <a:lnTo>
                  <a:pt x="1826428" y="949743"/>
                </a:lnTo>
                <a:lnTo>
                  <a:pt x="1826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200"/>
          <p:cNvSpPr/>
          <p:nvPr/>
        </p:nvSpPr>
        <p:spPr>
          <a:xfrm>
            <a:off x="6295383" y="1848043"/>
            <a:ext cx="1095857" cy="949743"/>
          </a:xfrm>
          <a:custGeom>
            <a:avLst/>
            <a:gdLst/>
            <a:ahLst/>
            <a:cxnLst/>
            <a:rect l="l" t="t" r="r" b="b"/>
            <a:pathLst>
              <a:path w="1095857" h="949743">
                <a:moveTo>
                  <a:pt x="0" y="949743"/>
                </a:moveTo>
                <a:lnTo>
                  <a:pt x="1095857" y="949743"/>
                </a:lnTo>
                <a:lnTo>
                  <a:pt x="1095857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201"/>
          <p:cNvSpPr/>
          <p:nvPr/>
        </p:nvSpPr>
        <p:spPr>
          <a:xfrm>
            <a:off x="7391240" y="1848043"/>
            <a:ext cx="1826428" cy="949743"/>
          </a:xfrm>
          <a:custGeom>
            <a:avLst/>
            <a:gdLst/>
            <a:ahLst/>
            <a:cxnLst/>
            <a:rect l="l" t="t" r="r" b="b"/>
            <a:pathLst>
              <a:path w="1826428" h="949743">
                <a:moveTo>
                  <a:pt x="0" y="949743"/>
                </a:moveTo>
                <a:lnTo>
                  <a:pt x="1826428" y="949743"/>
                </a:lnTo>
                <a:lnTo>
                  <a:pt x="1826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202"/>
          <p:cNvSpPr/>
          <p:nvPr/>
        </p:nvSpPr>
        <p:spPr>
          <a:xfrm>
            <a:off x="1911956" y="2885454"/>
            <a:ext cx="7305712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6-mark203"/>
          <p:cNvSpPr/>
          <p:nvPr/>
        </p:nvSpPr>
        <p:spPr>
          <a:xfrm>
            <a:off x="1911956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6-mark204"/>
          <p:cNvSpPr/>
          <p:nvPr/>
        </p:nvSpPr>
        <p:spPr>
          <a:xfrm>
            <a:off x="2277241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6-mark205"/>
          <p:cNvSpPr/>
          <p:nvPr/>
        </p:nvSpPr>
        <p:spPr>
          <a:xfrm>
            <a:off x="2642527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6-mark206"/>
          <p:cNvSpPr/>
          <p:nvPr/>
        </p:nvSpPr>
        <p:spPr>
          <a:xfrm>
            <a:off x="3007813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6-mark207"/>
          <p:cNvSpPr/>
          <p:nvPr/>
        </p:nvSpPr>
        <p:spPr>
          <a:xfrm>
            <a:off x="3373098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06-mark208"/>
          <p:cNvSpPr/>
          <p:nvPr/>
        </p:nvSpPr>
        <p:spPr>
          <a:xfrm>
            <a:off x="3738384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06-mark209"/>
          <p:cNvSpPr/>
          <p:nvPr/>
        </p:nvSpPr>
        <p:spPr>
          <a:xfrm>
            <a:off x="4103669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06-mark210"/>
          <p:cNvSpPr/>
          <p:nvPr/>
        </p:nvSpPr>
        <p:spPr>
          <a:xfrm>
            <a:off x="4468955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06-mark211"/>
          <p:cNvSpPr/>
          <p:nvPr/>
        </p:nvSpPr>
        <p:spPr>
          <a:xfrm>
            <a:off x="4834241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06-mark212"/>
          <p:cNvSpPr/>
          <p:nvPr/>
        </p:nvSpPr>
        <p:spPr>
          <a:xfrm>
            <a:off x="5199526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06-mark213"/>
          <p:cNvSpPr/>
          <p:nvPr/>
        </p:nvSpPr>
        <p:spPr>
          <a:xfrm>
            <a:off x="5564812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06-mark214"/>
          <p:cNvSpPr/>
          <p:nvPr/>
        </p:nvSpPr>
        <p:spPr>
          <a:xfrm>
            <a:off x="5930097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06-mark215"/>
          <p:cNvSpPr/>
          <p:nvPr/>
        </p:nvSpPr>
        <p:spPr>
          <a:xfrm>
            <a:off x="6295383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06-mark216"/>
          <p:cNvSpPr/>
          <p:nvPr/>
        </p:nvSpPr>
        <p:spPr>
          <a:xfrm>
            <a:off x="6660669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06-mark217"/>
          <p:cNvSpPr/>
          <p:nvPr/>
        </p:nvSpPr>
        <p:spPr>
          <a:xfrm>
            <a:off x="7025954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06-mark218"/>
          <p:cNvSpPr/>
          <p:nvPr/>
        </p:nvSpPr>
        <p:spPr>
          <a:xfrm>
            <a:off x="7391240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06-mark219"/>
          <p:cNvSpPr/>
          <p:nvPr/>
        </p:nvSpPr>
        <p:spPr>
          <a:xfrm>
            <a:off x="7756525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06-mark220"/>
          <p:cNvSpPr/>
          <p:nvPr/>
        </p:nvSpPr>
        <p:spPr>
          <a:xfrm>
            <a:off x="8121811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06-mark221"/>
          <p:cNvSpPr/>
          <p:nvPr/>
        </p:nvSpPr>
        <p:spPr>
          <a:xfrm>
            <a:off x="8487097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3" name="S06-mark222"/>
          <p:cNvSpPr/>
          <p:nvPr/>
        </p:nvSpPr>
        <p:spPr>
          <a:xfrm>
            <a:off x="8852382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4" name="S06-mark223"/>
          <p:cNvSpPr/>
          <p:nvPr/>
        </p:nvSpPr>
        <p:spPr>
          <a:xfrm>
            <a:off x="9217668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5" name="S06-label225"/>
          <p:cNvSpPr txBox="1"/>
          <p:nvPr/>
        </p:nvSpPr>
        <p:spPr>
          <a:xfrm>
            <a:off x="2861779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</a:t>
            </a:r>
            <a:endParaRPr lang="ko-KR" sz="2200" dirty="0"/>
          </a:p>
        </p:txBody>
      </p:sp>
      <p:sp>
        <p:nvSpPr>
          <p:cNvPr id="36" name="S06-label227"/>
          <p:cNvSpPr txBox="1"/>
          <p:nvPr/>
        </p:nvSpPr>
        <p:spPr>
          <a:xfrm>
            <a:off x="5053493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</a:t>
            </a:r>
            <a:endParaRPr lang="ko-KR" sz="2200" dirty="0"/>
          </a:p>
        </p:txBody>
      </p:sp>
      <p:sp>
        <p:nvSpPr>
          <p:cNvPr id="37" name="S06-label229"/>
          <p:cNvSpPr txBox="1"/>
          <p:nvPr/>
        </p:nvSpPr>
        <p:spPr>
          <a:xfrm>
            <a:off x="6514635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</a:t>
            </a:r>
            <a:endParaRPr lang="ko-KR" sz="2200" dirty="0"/>
          </a:p>
        </p:txBody>
      </p:sp>
      <p:sp>
        <p:nvSpPr>
          <p:cNvPr id="38" name="S06-label231"/>
          <p:cNvSpPr txBox="1"/>
          <p:nvPr/>
        </p:nvSpPr>
        <p:spPr>
          <a:xfrm>
            <a:off x="7975778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ko-KR" sz="2200" dirty="0"/>
          </a:p>
        </p:txBody>
      </p:sp>
      <p:sp>
        <p:nvSpPr>
          <p:cNvPr id="39" name="S06-label233"/>
          <p:cNvSpPr txBox="1"/>
          <p:nvPr/>
        </p:nvSpPr>
        <p:spPr>
          <a:xfrm>
            <a:off x="1764890" y="31126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40" name="S06-label235"/>
          <p:cNvSpPr txBox="1"/>
          <p:nvPr/>
        </p:nvSpPr>
        <p:spPr>
          <a:xfrm>
            <a:off x="2403259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41" name="S06-label237"/>
          <p:cNvSpPr txBox="1"/>
          <p:nvPr/>
        </p:nvSpPr>
        <p:spPr>
          <a:xfrm>
            <a:off x="3133830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2" name="S06-label239"/>
          <p:cNvSpPr txBox="1"/>
          <p:nvPr/>
        </p:nvSpPr>
        <p:spPr>
          <a:xfrm>
            <a:off x="3864401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43" name="S06-label241"/>
          <p:cNvSpPr txBox="1"/>
          <p:nvPr/>
        </p:nvSpPr>
        <p:spPr>
          <a:xfrm>
            <a:off x="4594973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44" name="S06-label243"/>
          <p:cNvSpPr txBox="1"/>
          <p:nvPr/>
        </p:nvSpPr>
        <p:spPr>
          <a:xfrm>
            <a:off x="5325544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5" name="S06-label245"/>
          <p:cNvSpPr txBox="1"/>
          <p:nvPr/>
        </p:nvSpPr>
        <p:spPr>
          <a:xfrm>
            <a:off x="6056115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6" name="S06-label247"/>
          <p:cNvSpPr txBox="1"/>
          <p:nvPr/>
        </p:nvSpPr>
        <p:spPr>
          <a:xfrm>
            <a:off x="6786686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200" dirty="0"/>
          </a:p>
        </p:txBody>
      </p:sp>
      <p:sp>
        <p:nvSpPr>
          <p:cNvPr id="47" name="S06-label249"/>
          <p:cNvSpPr txBox="1"/>
          <p:nvPr/>
        </p:nvSpPr>
        <p:spPr>
          <a:xfrm>
            <a:off x="7517257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48" name="S06-label251"/>
          <p:cNvSpPr txBox="1"/>
          <p:nvPr/>
        </p:nvSpPr>
        <p:spPr>
          <a:xfrm>
            <a:off x="8247829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200" dirty="0"/>
          </a:p>
        </p:txBody>
      </p:sp>
      <p:sp>
        <p:nvSpPr>
          <p:cNvPr id="49" name="S06-label253"/>
          <p:cNvSpPr txBox="1"/>
          <p:nvPr/>
        </p:nvSpPr>
        <p:spPr>
          <a:xfrm>
            <a:off x="8886198" y="3112643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50" name="S06-label255"/>
          <p:cNvSpPr txBox="1"/>
          <p:nvPr/>
        </p:nvSpPr>
        <p:spPr>
          <a:xfrm>
            <a:off x="9667061" y="3112643"/>
            <a:ext cx="5623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51" name="S06-label257"/>
          <p:cNvSpPr txBox="1"/>
          <p:nvPr/>
        </p:nvSpPr>
        <p:spPr>
          <a:xfrm>
            <a:off x="4288970" y="1235075"/>
            <a:ext cx="25516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문고 책의 종류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백분율을 구해요</a:t>
            </a:r>
            <a:endParaRPr lang="ko-KR" sz="4000" dirty="0"/>
          </a:p>
        </p:txBody>
      </p:sp>
      <p:sp>
        <p:nvSpPr>
          <p:cNvPr id="3" name="S07-text2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20명이 좋아하는 운동이에요.</a:t>
            </a:r>
            <a:endParaRPr lang="ko-KR" sz="2800" dirty="0"/>
          </a:p>
        </p:txBody>
      </p:sp>
      <p:sp>
        <p:nvSpPr>
          <p:cNvPr id="4" name="S07-card25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6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 = 학생 수 ÷ 전체 학생 수 × 100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축구: 7 ÷ 20 × 100 = 35 (%)</a:t>
            </a:r>
            <a:endParaRPr lang="ko-KR" sz="2800" dirty="0"/>
          </a:p>
        </p:txBody>
      </p:sp>
      <p:graphicFrame>
        <p:nvGraphicFramePr>
          <p:cNvPr id="8" name="S07-table2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583688"/>
          <a:ext cx="10607040" cy="914400"/>
        </p:xfrm>
        <a:graphic>
          <a:graphicData uri="http://schemas.openxmlformats.org/drawingml/2006/table">
            <a:tbl>
              <a:tblPr/>
              <a:tblGrid>
                <a:gridCol w="2545690"/>
                <a:gridCol w="1591056"/>
                <a:gridCol w="1591056"/>
                <a:gridCol w="1697126"/>
                <a:gridCol w="1591056"/>
                <a:gridCol w="1591056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백분율(%)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원그래프로 나타내요</a:t>
            </a:r>
            <a:endParaRPr lang="ko-KR" sz="4000" dirty="0"/>
          </a:p>
        </p:txBody>
      </p:sp>
      <p:sp>
        <p:nvSpPr>
          <p:cNvPr id="3" name="S08-card2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띠그래프도 같은 순서로 그려요.</a:t>
            </a:r>
            <a:endParaRPr lang="ko-KR" sz="2800" dirty="0"/>
          </a:p>
        </p:txBody>
      </p:sp>
      <p:sp>
        <p:nvSpPr>
          <p:cNvPr id="5" name="S08-figure264" descr="원그래프 ‘좋아하는 운동별 학생 수’: 위에서 시계 방향으로 축구 35 %, 피구 30 %, 줄넘기 20 %, 수영 15 %. 둘레에 5 %마다 눈금"/>
          <p:cNvSpPr/>
          <p:nvPr/>
        </p:nvSpPr>
        <p:spPr>
          <a:xfrm>
            <a:off x="9119723" y="1922626"/>
            <a:ext cx="1465503" cy="2326904"/>
          </a:xfrm>
          <a:custGeom>
            <a:avLst/>
            <a:gdLst/>
            <a:ahLst/>
            <a:cxnLst/>
            <a:rect l="l" t="t" r="r" b="b"/>
            <a:pathLst>
              <a:path w="1465503" h="2326904">
                <a:moveTo>
                  <a:pt x="0" y="1465503"/>
                </a:moveTo>
                <a:lnTo>
                  <a:pt x="0" y="0"/>
                </a:lnTo>
                <a:lnTo>
                  <a:pt x="76697" y="2008"/>
                </a:lnTo>
                <a:lnTo>
                  <a:pt x="153189" y="8031"/>
                </a:lnTo>
                <a:lnTo>
                  <a:pt x="229256" y="18040"/>
                </a:lnTo>
                <a:lnTo>
                  <a:pt x="304693" y="32021"/>
                </a:lnTo>
                <a:lnTo>
                  <a:pt x="379301" y="49937"/>
                </a:lnTo>
                <a:lnTo>
                  <a:pt x="452862" y="71729"/>
                </a:lnTo>
                <a:lnTo>
                  <a:pt x="525192" y="97339"/>
                </a:lnTo>
                <a:lnTo>
                  <a:pt x="596071" y="126700"/>
                </a:lnTo>
                <a:lnTo>
                  <a:pt x="665324" y="159733"/>
                </a:lnTo>
                <a:lnTo>
                  <a:pt x="732752" y="196341"/>
                </a:lnTo>
                <a:lnTo>
                  <a:pt x="798172" y="236430"/>
                </a:lnTo>
                <a:lnTo>
                  <a:pt x="861401" y="279889"/>
                </a:lnTo>
                <a:lnTo>
                  <a:pt x="922270" y="326595"/>
                </a:lnTo>
                <a:lnTo>
                  <a:pt x="980612" y="376422"/>
                </a:lnTo>
                <a:lnTo>
                  <a:pt x="1036265" y="429239"/>
                </a:lnTo>
                <a:lnTo>
                  <a:pt x="1089081" y="484891"/>
                </a:lnTo>
                <a:lnTo>
                  <a:pt x="1138908" y="543233"/>
                </a:lnTo>
                <a:lnTo>
                  <a:pt x="1185614" y="604102"/>
                </a:lnTo>
                <a:lnTo>
                  <a:pt x="1229073" y="667331"/>
                </a:lnTo>
                <a:lnTo>
                  <a:pt x="1269162" y="732752"/>
                </a:lnTo>
                <a:lnTo>
                  <a:pt x="1305771" y="800179"/>
                </a:lnTo>
                <a:lnTo>
                  <a:pt x="1338803" y="869432"/>
                </a:lnTo>
                <a:lnTo>
                  <a:pt x="1368164" y="940311"/>
                </a:lnTo>
                <a:lnTo>
                  <a:pt x="1393774" y="1012641"/>
                </a:lnTo>
                <a:lnTo>
                  <a:pt x="1415566" y="1086202"/>
                </a:lnTo>
                <a:lnTo>
                  <a:pt x="1433482" y="1160810"/>
                </a:lnTo>
                <a:lnTo>
                  <a:pt x="1447463" y="1236247"/>
                </a:lnTo>
                <a:lnTo>
                  <a:pt x="1457472" y="1312314"/>
                </a:lnTo>
                <a:lnTo>
                  <a:pt x="1463495" y="1388806"/>
                </a:lnTo>
                <a:lnTo>
                  <a:pt x="1465503" y="1465503"/>
                </a:lnTo>
                <a:lnTo>
                  <a:pt x="1463495" y="1542200"/>
                </a:lnTo>
                <a:lnTo>
                  <a:pt x="1457472" y="1618692"/>
                </a:lnTo>
                <a:lnTo>
                  <a:pt x="1447463" y="1694759"/>
                </a:lnTo>
                <a:lnTo>
                  <a:pt x="1433482" y="1770196"/>
                </a:lnTo>
                <a:lnTo>
                  <a:pt x="1415566" y="1844805"/>
                </a:lnTo>
                <a:lnTo>
                  <a:pt x="1393774" y="1918365"/>
                </a:lnTo>
                <a:lnTo>
                  <a:pt x="1368164" y="1990695"/>
                </a:lnTo>
                <a:lnTo>
                  <a:pt x="1338803" y="2061574"/>
                </a:lnTo>
                <a:lnTo>
                  <a:pt x="1305771" y="2130827"/>
                </a:lnTo>
                <a:lnTo>
                  <a:pt x="1269162" y="2198255"/>
                </a:lnTo>
                <a:lnTo>
                  <a:pt x="1229073" y="2263675"/>
                </a:lnTo>
                <a:lnTo>
                  <a:pt x="1185614" y="2326904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8-mark265"/>
          <p:cNvSpPr/>
          <p:nvPr/>
        </p:nvSpPr>
        <p:spPr>
          <a:xfrm>
            <a:off x="7934109" y="3388129"/>
            <a:ext cx="2371228" cy="1465503"/>
          </a:xfrm>
          <a:custGeom>
            <a:avLst/>
            <a:gdLst/>
            <a:ahLst/>
            <a:cxnLst/>
            <a:rect l="l" t="t" r="r" b="b"/>
            <a:pathLst>
              <a:path w="2371228" h="1465503">
                <a:moveTo>
                  <a:pt x="1185614" y="0"/>
                </a:moveTo>
                <a:lnTo>
                  <a:pt x="2371228" y="861401"/>
                </a:lnTo>
                <a:lnTo>
                  <a:pt x="2324522" y="922270"/>
                </a:lnTo>
                <a:lnTo>
                  <a:pt x="2274695" y="980612"/>
                </a:lnTo>
                <a:lnTo>
                  <a:pt x="2221878" y="1036265"/>
                </a:lnTo>
                <a:lnTo>
                  <a:pt x="2166226" y="1089081"/>
                </a:lnTo>
                <a:lnTo>
                  <a:pt x="2107884" y="1138908"/>
                </a:lnTo>
                <a:lnTo>
                  <a:pt x="2047015" y="1185614"/>
                </a:lnTo>
                <a:lnTo>
                  <a:pt x="1983786" y="1229073"/>
                </a:lnTo>
                <a:lnTo>
                  <a:pt x="1918365" y="1269162"/>
                </a:lnTo>
                <a:lnTo>
                  <a:pt x="1850938" y="1305771"/>
                </a:lnTo>
                <a:lnTo>
                  <a:pt x="1781685" y="1338803"/>
                </a:lnTo>
                <a:lnTo>
                  <a:pt x="1710806" y="1368164"/>
                </a:lnTo>
                <a:lnTo>
                  <a:pt x="1638476" y="1393774"/>
                </a:lnTo>
                <a:lnTo>
                  <a:pt x="1564915" y="1415566"/>
                </a:lnTo>
                <a:lnTo>
                  <a:pt x="1490307" y="1433482"/>
                </a:lnTo>
                <a:lnTo>
                  <a:pt x="1414870" y="1447463"/>
                </a:lnTo>
                <a:lnTo>
                  <a:pt x="1338803" y="1457472"/>
                </a:lnTo>
                <a:lnTo>
                  <a:pt x="1262311" y="1463495"/>
                </a:lnTo>
                <a:lnTo>
                  <a:pt x="1185614" y="1465503"/>
                </a:lnTo>
                <a:lnTo>
                  <a:pt x="1108917" y="1463495"/>
                </a:lnTo>
                <a:lnTo>
                  <a:pt x="1032425" y="1457472"/>
                </a:lnTo>
                <a:lnTo>
                  <a:pt x="956358" y="1447463"/>
                </a:lnTo>
                <a:lnTo>
                  <a:pt x="880921" y="1433482"/>
                </a:lnTo>
                <a:lnTo>
                  <a:pt x="806312" y="1415566"/>
                </a:lnTo>
                <a:lnTo>
                  <a:pt x="732752" y="1393774"/>
                </a:lnTo>
                <a:lnTo>
                  <a:pt x="660422" y="1368164"/>
                </a:lnTo>
                <a:lnTo>
                  <a:pt x="589543" y="1338803"/>
                </a:lnTo>
                <a:lnTo>
                  <a:pt x="520290" y="1305771"/>
                </a:lnTo>
                <a:lnTo>
                  <a:pt x="452862" y="1269162"/>
                </a:lnTo>
                <a:lnTo>
                  <a:pt x="387442" y="1229073"/>
                </a:lnTo>
                <a:lnTo>
                  <a:pt x="324213" y="1185614"/>
                </a:lnTo>
                <a:lnTo>
                  <a:pt x="263344" y="1138908"/>
                </a:lnTo>
                <a:lnTo>
                  <a:pt x="205002" y="1089081"/>
                </a:lnTo>
                <a:lnTo>
                  <a:pt x="149349" y="1036265"/>
                </a:lnTo>
                <a:lnTo>
                  <a:pt x="96533" y="980612"/>
                </a:lnTo>
                <a:lnTo>
                  <a:pt x="46706" y="922270"/>
                </a:lnTo>
                <a:lnTo>
                  <a:pt x="0" y="861401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mark266"/>
          <p:cNvSpPr/>
          <p:nvPr/>
        </p:nvSpPr>
        <p:spPr>
          <a:xfrm>
            <a:off x="7654220" y="2526728"/>
            <a:ext cx="1465503" cy="1722801"/>
          </a:xfrm>
          <a:custGeom>
            <a:avLst/>
            <a:gdLst/>
            <a:ahLst/>
            <a:cxnLst/>
            <a:rect l="l" t="t" r="r" b="b"/>
            <a:pathLst>
              <a:path w="1465503" h="1722801">
                <a:moveTo>
                  <a:pt x="1465503" y="861401"/>
                </a:moveTo>
                <a:lnTo>
                  <a:pt x="279889" y="1722801"/>
                </a:lnTo>
                <a:lnTo>
                  <a:pt x="236430" y="1659572"/>
                </a:lnTo>
                <a:lnTo>
                  <a:pt x="196341" y="1594152"/>
                </a:lnTo>
                <a:lnTo>
                  <a:pt x="159733" y="1526724"/>
                </a:lnTo>
                <a:lnTo>
                  <a:pt x="126700" y="1457472"/>
                </a:lnTo>
                <a:lnTo>
                  <a:pt x="97339" y="1386593"/>
                </a:lnTo>
                <a:lnTo>
                  <a:pt x="71729" y="1314263"/>
                </a:lnTo>
                <a:lnTo>
                  <a:pt x="49937" y="1240702"/>
                </a:lnTo>
                <a:lnTo>
                  <a:pt x="32021" y="1166093"/>
                </a:lnTo>
                <a:lnTo>
                  <a:pt x="18040" y="1090657"/>
                </a:lnTo>
                <a:lnTo>
                  <a:pt x="8031" y="1014590"/>
                </a:lnTo>
                <a:lnTo>
                  <a:pt x="2008" y="938098"/>
                </a:lnTo>
                <a:lnTo>
                  <a:pt x="0" y="861401"/>
                </a:lnTo>
                <a:lnTo>
                  <a:pt x="2008" y="784704"/>
                </a:lnTo>
                <a:lnTo>
                  <a:pt x="8031" y="708212"/>
                </a:lnTo>
                <a:lnTo>
                  <a:pt x="18040" y="632145"/>
                </a:lnTo>
                <a:lnTo>
                  <a:pt x="32021" y="556708"/>
                </a:lnTo>
                <a:lnTo>
                  <a:pt x="49937" y="482099"/>
                </a:lnTo>
                <a:lnTo>
                  <a:pt x="71729" y="408538"/>
                </a:lnTo>
                <a:lnTo>
                  <a:pt x="97339" y="336208"/>
                </a:lnTo>
                <a:lnTo>
                  <a:pt x="126700" y="265329"/>
                </a:lnTo>
                <a:lnTo>
                  <a:pt x="159733" y="196077"/>
                </a:lnTo>
                <a:lnTo>
                  <a:pt x="196341" y="128649"/>
                </a:lnTo>
                <a:lnTo>
                  <a:pt x="236430" y="63229"/>
                </a:lnTo>
                <a:lnTo>
                  <a:pt x="279889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267"/>
          <p:cNvSpPr/>
          <p:nvPr/>
        </p:nvSpPr>
        <p:spPr>
          <a:xfrm>
            <a:off x="7934109" y="1922626"/>
            <a:ext cx="1185614" cy="1465503"/>
          </a:xfrm>
          <a:custGeom>
            <a:avLst/>
            <a:gdLst/>
            <a:ahLst/>
            <a:cxnLst/>
            <a:rect l="l" t="t" r="r" b="b"/>
            <a:pathLst>
              <a:path w="1185614" h="1465503">
                <a:moveTo>
                  <a:pt x="1185614" y="1465503"/>
                </a:moveTo>
                <a:lnTo>
                  <a:pt x="0" y="604102"/>
                </a:lnTo>
                <a:lnTo>
                  <a:pt x="46706" y="543233"/>
                </a:lnTo>
                <a:lnTo>
                  <a:pt x="96533" y="484891"/>
                </a:lnTo>
                <a:lnTo>
                  <a:pt x="149349" y="429239"/>
                </a:lnTo>
                <a:lnTo>
                  <a:pt x="205002" y="376422"/>
                </a:lnTo>
                <a:lnTo>
                  <a:pt x="263344" y="326595"/>
                </a:lnTo>
                <a:lnTo>
                  <a:pt x="324213" y="279889"/>
                </a:lnTo>
                <a:lnTo>
                  <a:pt x="387442" y="236430"/>
                </a:lnTo>
                <a:lnTo>
                  <a:pt x="452862" y="196341"/>
                </a:lnTo>
                <a:lnTo>
                  <a:pt x="520290" y="159733"/>
                </a:lnTo>
                <a:lnTo>
                  <a:pt x="589543" y="126700"/>
                </a:lnTo>
                <a:lnTo>
                  <a:pt x="660422" y="97339"/>
                </a:lnTo>
                <a:lnTo>
                  <a:pt x="732752" y="71729"/>
                </a:lnTo>
                <a:lnTo>
                  <a:pt x="806312" y="49937"/>
                </a:lnTo>
                <a:lnTo>
                  <a:pt x="880921" y="32021"/>
                </a:lnTo>
                <a:lnTo>
                  <a:pt x="956358" y="18040"/>
                </a:lnTo>
                <a:lnTo>
                  <a:pt x="1032425" y="8031"/>
                </a:lnTo>
                <a:lnTo>
                  <a:pt x="1108917" y="2008"/>
                </a:lnTo>
                <a:lnTo>
                  <a:pt x="1185614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268"/>
          <p:cNvSpPr/>
          <p:nvPr/>
        </p:nvSpPr>
        <p:spPr>
          <a:xfrm flipV="1">
            <a:off x="9119723" y="1761421"/>
            <a:ext cx="0" cy="1612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8-mark269"/>
          <p:cNvSpPr/>
          <p:nvPr/>
        </p:nvSpPr>
        <p:spPr>
          <a:xfrm flipV="1">
            <a:off x="9572585" y="1910726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8-mark270"/>
          <p:cNvSpPr/>
          <p:nvPr/>
        </p:nvSpPr>
        <p:spPr>
          <a:xfrm flipV="1">
            <a:off x="9981123" y="2131372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8-mark271"/>
          <p:cNvSpPr/>
          <p:nvPr/>
        </p:nvSpPr>
        <p:spPr>
          <a:xfrm flipV="1">
            <a:off x="10305337" y="2475047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8-mark272"/>
          <p:cNvSpPr/>
          <p:nvPr/>
        </p:nvSpPr>
        <p:spPr>
          <a:xfrm flipV="1">
            <a:off x="10513497" y="2908089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8-mark273"/>
          <p:cNvSpPr/>
          <p:nvPr/>
        </p:nvSpPr>
        <p:spPr>
          <a:xfrm>
            <a:off x="10585226" y="3388129"/>
            <a:ext cx="16120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8-mark274"/>
          <p:cNvSpPr/>
          <p:nvPr/>
        </p:nvSpPr>
        <p:spPr>
          <a:xfrm>
            <a:off x="10513497" y="3840992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8-mark275"/>
          <p:cNvSpPr/>
          <p:nvPr/>
        </p:nvSpPr>
        <p:spPr>
          <a:xfrm>
            <a:off x="10305337" y="4249530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8-mark276"/>
          <p:cNvSpPr/>
          <p:nvPr/>
        </p:nvSpPr>
        <p:spPr>
          <a:xfrm>
            <a:off x="9981123" y="4573743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8-mark277"/>
          <p:cNvSpPr/>
          <p:nvPr/>
        </p:nvSpPr>
        <p:spPr>
          <a:xfrm>
            <a:off x="9572585" y="4781903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8-mark278"/>
          <p:cNvSpPr/>
          <p:nvPr/>
        </p:nvSpPr>
        <p:spPr>
          <a:xfrm>
            <a:off x="9119723" y="4853632"/>
            <a:ext cx="0" cy="1612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8-mark279"/>
          <p:cNvSpPr/>
          <p:nvPr/>
        </p:nvSpPr>
        <p:spPr>
          <a:xfrm flipH="1">
            <a:off x="8639683" y="4781903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8-mark280"/>
          <p:cNvSpPr/>
          <p:nvPr/>
        </p:nvSpPr>
        <p:spPr>
          <a:xfrm flipH="1">
            <a:off x="8206641" y="4573743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8-mark281"/>
          <p:cNvSpPr/>
          <p:nvPr/>
        </p:nvSpPr>
        <p:spPr>
          <a:xfrm flipH="1">
            <a:off x="7862966" y="4249530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8-mark282"/>
          <p:cNvSpPr/>
          <p:nvPr/>
        </p:nvSpPr>
        <p:spPr>
          <a:xfrm flipH="1">
            <a:off x="7642320" y="3840992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8-mark283"/>
          <p:cNvSpPr/>
          <p:nvPr/>
        </p:nvSpPr>
        <p:spPr>
          <a:xfrm flipH="1">
            <a:off x="7493014" y="3388129"/>
            <a:ext cx="16120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8-mark284"/>
          <p:cNvSpPr/>
          <p:nvPr/>
        </p:nvSpPr>
        <p:spPr>
          <a:xfrm flipH="1" flipV="1">
            <a:off x="7642320" y="2908089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8-mark285"/>
          <p:cNvSpPr/>
          <p:nvPr/>
        </p:nvSpPr>
        <p:spPr>
          <a:xfrm flipH="1" flipV="1">
            <a:off x="7862966" y="2475047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8-mark286"/>
          <p:cNvSpPr/>
          <p:nvPr/>
        </p:nvSpPr>
        <p:spPr>
          <a:xfrm flipH="1" flipV="1">
            <a:off x="8206641" y="2131372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8-mark287"/>
          <p:cNvSpPr/>
          <p:nvPr/>
        </p:nvSpPr>
        <p:spPr>
          <a:xfrm flipH="1" flipV="1">
            <a:off x="8639683" y="1910726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9" name="S08-label289"/>
          <p:cNvSpPr txBox="1"/>
          <p:nvPr/>
        </p:nvSpPr>
        <p:spPr>
          <a:xfrm>
            <a:off x="9355725" y="2623043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축구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30" name="S08-label291"/>
          <p:cNvSpPr txBox="1"/>
          <p:nvPr/>
        </p:nvSpPr>
        <p:spPr>
          <a:xfrm>
            <a:off x="8539587" y="3954818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피구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30 %</a:t>
            </a:r>
            <a:endParaRPr lang="ko-KR" sz="2200" dirty="0"/>
          </a:p>
        </p:txBody>
      </p:sp>
      <p:sp>
        <p:nvSpPr>
          <p:cNvPr id="31" name="S08-label293"/>
          <p:cNvSpPr txBox="1"/>
          <p:nvPr/>
        </p:nvSpPr>
        <p:spPr>
          <a:xfrm>
            <a:off x="7486741" y="3038879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줄넘기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2" name="S08-label295"/>
          <p:cNvSpPr txBox="1"/>
          <p:nvPr/>
        </p:nvSpPr>
        <p:spPr>
          <a:xfrm>
            <a:off x="8060587" y="2098759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수영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33" name="S08-label297"/>
          <p:cNvSpPr txBox="1"/>
          <p:nvPr/>
        </p:nvSpPr>
        <p:spPr>
          <a:xfrm>
            <a:off x="7570069" y="1235075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운동별 학생 수</a:t>
            </a:r>
            <a:endParaRPr lang="ko-KR" sz="2200" dirty="0"/>
          </a:p>
        </p:txBody>
      </p:sp>
      <p:sp>
        <p:nvSpPr>
          <p:cNvPr id="34" name="S08-stepno298"/>
          <p:cNvSpPr txBox="1"/>
          <p:nvPr/>
        </p:nvSpPr>
        <p:spPr>
          <a:xfrm>
            <a:off x="548640" y="1802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5" name="S08-text299"/>
          <p:cNvSpPr txBox="1"/>
          <p:nvPr/>
        </p:nvSpPr>
        <p:spPr>
          <a:xfrm>
            <a:off x="1325880" y="1757172"/>
            <a:ext cx="4907493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구하고 합계가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100 %인지 확인해요.</a:t>
            </a:r>
            <a:endParaRPr lang="ko-KR" sz="2800" dirty="0"/>
          </a:p>
        </p:txBody>
      </p:sp>
      <p:sp>
        <p:nvSpPr>
          <p:cNvPr id="36" name="S08-stepno300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7" name="S08-text301"/>
          <p:cNvSpPr txBox="1"/>
          <p:nvPr/>
        </p:nvSpPr>
        <p:spPr>
          <a:xfrm>
            <a:off x="1325880" y="2789428"/>
            <a:ext cx="4907493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눈금을 보고 백분율만큼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그어 나눠요.</a:t>
            </a:r>
            <a:endParaRPr lang="ko-KR" sz="2800" dirty="0"/>
          </a:p>
        </p:txBody>
      </p:sp>
      <p:sp>
        <p:nvSpPr>
          <p:cNvPr id="38" name="S08-stepno302"/>
          <p:cNvSpPr txBox="1"/>
          <p:nvPr/>
        </p:nvSpPr>
        <p:spPr>
          <a:xfrm>
            <a:off x="548640" y="3867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8-text303"/>
          <p:cNvSpPr txBox="1"/>
          <p:nvPr/>
        </p:nvSpPr>
        <p:spPr>
          <a:xfrm>
            <a:off x="1325880" y="3821684"/>
            <a:ext cx="4907493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항목과 백분율을 쓰고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그리기 전에 정해요</a:t>
            </a:r>
            <a:endParaRPr lang="ko-KR" sz="4000" dirty="0"/>
          </a:p>
        </p:txBody>
      </p:sp>
      <p:sp>
        <p:nvSpPr>
          <p:cNvPr id="3" name="S09-text3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40명이 좋아하는 간식이에요.</a:t>
            </a:r>
            <a:endParaRPr lang="ko-KR" sz="2800" dirty="0"/>
          </a:p>
        </p:txBody>
      </p:sp>
      <p:sp>
        <p:nvSpPr>
          <p:cNvPr id="4" name="S09-card3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3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 = 학생 수 ÷ 40 × 100</a:t>
            </a:r>
            <a:endParaRPr lang="ko-KR" sz="2800" dirty="0"/>
          </a:p>
        </p:txBody>
      </p:sp>
      <p:graphicFrame>
        <p:nvGraphicFramePr>
          <p:cNvPr id="10" name="S09-table3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121408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chip30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8" name="S09-text30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과일은 전체의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%일까요?</a:t>
            </a:r>
            <a:endParaRPr lang="ko-KR" sz="2800" dirty="0"/>
          </a:p>
        </p:txBody>
      </p:sp>
      <p:sp>
        <p:nvSpPr>
          <p:cNvPr id="9" name="S09-chip31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0" name="S09-text31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더하면 얼마일까요?</a:t>
            </a:r>
            <a:endParaRPr lang="ko-KR" sz="2800" dirty="0"/>
          </a:p>
        </p:txBody>
      </p:sp>
      <p:sp>
        <p:nvSpPr>
          <p:cNvPr id="11" name="S09-chip31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2" name="S09-text31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칸이 5 %인 띠에서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빵은 몇 칸일까요?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3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사람 400명을 조사했어요.</a:t>
            </a:r>
            <a:endParaRPr lang="ko-KR" sz="2800" dirty="0"/>
          </a:p>
        </p:txBody>
      </p:sp>
      <p:sp>
        <p:nvSpPr>
          <p:cNvPr id="4" name="S10-figure315" descr="원그래프 ‘주로 이용하는 교통수단’(400명): 버스 45 %, 지하철 25 %, 자동차 20 %, 자전거 10 %"/>
          <p:cNvSpPr/>
          <p:nvPr/>
        </p:nvSpPr>
        <p:spPr>
          <a:xfrm>
            <a:off x="8958834" y="3249386"/>
            <a:ext cx="1357513" cy="2648582"/>
          </a:xfrm>
          <a:custGeom>
            <a:avLst/>
            <a:gdLst/>
            <a:ahLst/>
            <a:cxnLst/>
            <a:rect l="l" t="t" r="r" b="b"/>
            <a:pathLst>
              <a:path w="1357513" h="2648582">
                <a:moveTo>
                  <a:pt x="0" y="1357513"/>
                </a:moveTo>
                <a:lnTo>
                  <a:pt x="0" y="0"/>
                </a:lnTo>
                <a:lnTo>
                  <a:pt x="71045" y="1860"/>
                </a:lnTo>
                <a:lnTo>
                  <a:pt x="141901" y="7439"/>
                </a:lnTo>
                <a:lnTo>
                  <a:pt x="212362" y="16711"/>
                </a:lnTo>
                <a:lnTo>
                  <a:pt x="282240" y="29662"/>
                </a:lnTo>
                <a:lnTo>
                  <a:pt x="351351" y="46257"/>
                </a:lnTo>
                <a:lnTo>
                  <a:pt x="419492" y="66443"/>
                </a:lnTo>
                <a:lnTo>
                  <a:pt x="486492" y="90166"/>
                </a:lnTo>
                <a:lnTo>
                  <a:pt x="552148" y="117364"/>
                </a:lnTo>
                <a:lnTo>
                  <a:pt x="616297" y="147962"/>
                </a:lnTo>
                <a:lnTo>
                  <a:pt x="678756" y="181873"/>
                </a:lnTo>
                <a:lnTo>
                  <a:pt x="739356" y="219008"/>
                </a:lnTo>
                <a:lnTo>
                  <a:pt x="797926" y="259265"/>
                </a:lnTo>
                <a:lnTo>
                  <a:pt x="854310" y="302528"/>
                </a:lnTo>
                <a:lnTo>
                  <a:pt x="908352" y="348684"/>
                </a:lnTo>
                <a:lnTo>
                  <a:pt x="959904" y="397609"/>
                </a:lnTo>
                <a:lnTo>
                  <a:pt x="1008829" y="449160"/>
                </a:lnTo>
                <a:lnTo>
                  <a:pt x="1054984" y="503203"/>
                </a:lnTo>
                <a:lnTo>
                  <a:pt x="1098248" y="559587"/>
                </a:lnTo>
                <a:lnTo>
                  <a:pt x="1138505" y="618157"/>
                </a:lnTo>
                <a:lnTo>
                  <a:pt x="1175640" y="678756"/>
                </a:lnTo>
                <a:lnTo>
                  <a:pt x="1209551" y="741215"/>
                </a:lnTo>
                <a:lnTo>
                  <a:pt x="1240149" y="805365"/>
                </a:lnTo>
                <a:lnTo>
                  <a:pt x="1267347" y="871021"/>
                </a:lnTo>
                <a:lnTo>
                  <a:pt x="1291069" y="938021"/>
                </a:lnTo>
                <a:lnTo>
                  <a:pt x="1311255" y="1006161"/>
                </a:lnTo>
                <a:lnTo>
                  <a:pt x="1327851" y="1075272"/>
                </a:lnTo>
                <a:lnTo>
                  <a:pt x="1340802" y="1145150"/>
                </a:lnTo>
                <a:lnTo>
                  <a:pt x="1350073" y="1215612"/>
                </a:lnTo>
                <a:lnTo>
                  <a:pt x="1355653" y="1286467"/>
                </a:lnTo>
                <a:lnTo>
                  <a:pt x="1357513" y="1357513"/>
                </a:lnTo>
                <a:lnTo>
                  <a:pt x="1355653" y="1428558"/>
                </a:lnTo>
                <a:lnTo>
                  <a:pt x="1350073" y="1499413"/>
                </a:lnTo>
                <a:lnTo>
                  <a:pt x="1340802" y="1569875"/>
                </a:lnTo>
                <a:lnTo>
                  <a:pt x="1327851" y="1639753"/>
                </a:lnTo>
                <a:lnTo>
                  <a:pt x="1311255" y="1708864"/>
                </a:lnTo>
                <a:lnTo>
                  <a:pt x="1291069" y="1777004"/>
                </a:lnTo>
                <a:lnTo>
                  <a:pt x="1267347" y="1844004"/>
                </a:lnTo>
                <a:lnTo>
                  <a:pt x="1240149" y="1909660"/>
                </a:lnTo>
                <a:lnTo>
                  <a:pt x="1209551" y="1973810"/>
                </a:lnTo>
                <a:lnTo>
                  <a:pt x="1175640" y="2036269"/>
                </a:lnTo>
                <a:lnTo>
                  <a:pt x="1138505" y="2096868"/>
                </a:lnTo>
                <a:lnTo>
                  <a:pt x="1098248" y="2155438"/>
                </a:lnTo>
                <a:lnTo>
                  <a:pt x="1054984" y="2211822"/>
                </a:lnTo>
                <a:lnTo>
                  <a:pt x="1008829" y="2265865"/>
                </a:lnTo>
                <a:lnTo>
                  <a:pt x="959904" y="2317417"/>
                </a:lnTo>
                <a:lnTo>
                  <a:pt x="908352" y="2366341"/>
                </a:lnTo>
                <a:lnTo>
                  <a:pt x="854310" y="2412497"/>
                </a:lnTo>
                <a:lnTo>
                  <a:pt x="797926" y="2455761"/>
                </a:lnTo>
                <a:lnTo>
                  <a:pt x="739356" y="2496018"/>
                </a:lnTo>
                <a:lnTo>
                  <a:pt x="678756" y="2533152"/>
                </a:lnTo>
                <a:lnTo>
                  <a:pt x="616297" y="2567063"/>
                </a:lnTo>
                <a:lnTo>
                  <a:pt x="552148" y="2597661"/>
                </a:lnTo>
                <a:lnTo>
                  <a:pt x="486492" y="2624859"/>
                </a:lnTo>
                <a:lnTo>
                  <a:pt x="419492" y="2648582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0-mark316"/>
          <p:cNvSpPr/>
          <p:nvPr/>
        </p:nvSpPr>
        <p:spPr>
          <a:xfrm>
            <a:off x="7667765" y="4606898"/>
            <a:ext cx="1710561" cy="1357513"/>
          </a:xfrm>
          <a:custGeom>
            <a:avLst/>
            <a:gdLst/>
            <a:ahLst/>
            <a:cxnLst/>
            <a:rect l="l" t="t" r="r" b="b"/>
            <a:pathLst>
              <a:path w="1710561" h="1357513">
                <a:moveTo>
                  <a:pt x="1291069" y="0"/>
                </a:moveTo>
                <a:lnTo>
                  <a:pt x="1710561" y="1291069"/>
                </a:lnTo>
                <a:lnTo>
                  <a:pt x="1642421" y="1311255"/>
                </a:lnTo>
                <a:lnTo>
                  <a:pt x="1573310" y="1327851"/>
                </a:lnTo>
                <a:lnTo>
                  <a:pt x="1503432" y="1340802"/>
                </a:lnTo>
                <a:lnTo>
                  <a:pt x="1432970" y="1350073"/>
                </a:lnTo>
                <a:lnTo>
                  <a:pt x="1362115" y="1355653"/>
                </a:lnTo>
                <a:lnTo>
                  <a:pt x="1291069" y="1357513"/>
                </a:lnTo>
                <a:lnTo>
                  <a:pt x="1220024" y="1355653"/>
                </a:lnTo>
                <a:lnTo>
                  <a:pt x="1149168" y="1350073"/>
                </a:lnTo>
                <a:lnTo>
                  <a:pt x="1078707" y="1340802"/>
                </a:lnTo>
                <a:lnTo>
                  <a:pt x="1008829" y="1327851"/>
                </a:lnTo>
                <a:lnTo>
                  <a:pt x="939718" y="1311255"/>
                </a:lnTo>
                <a:lnTo>
                  <a:pt x="871577" y="1291069"/>
                </a:lnTo>
                <a:lnTo>
                  <a:pt x="804577" y="1267347"/>
                </a:lnTo>
                <a:lnTo>
                  <a:pt x="738921" y="1240149"/>
                </a:lnTo>
                <a:lnTo>
                  <a:pt x="674772" y="1209551"/>
                </a:lnTo>
                <a:lnTo>
                  <a:pt x="612313" y="1175640"/>
                </a:lnTo>
                <a:lnTo>
                  <a:pt x="551713" y="1138505"/>
                </a:lnTo>
                <a:lnTo>
                  <a:pt x="493144" y="1098248"/>
                </a:lnTo>
                <a:lnTo>
                  <a:pt x="436759" y="1054984"/>
                </a:lnTo>
                <a:lnTo>
                  <a:pt x="382717" y="1008829"/>
                </a:lnTo>
                <a:lnTo>
                  <a:pt x="331165" y="959904"/>
                </a:lnTo>
                <a:lnTo>
                  <a:pt x="282240" y="908352"/>
                </a:lnTo>
                <a:lnTo>
                  <a:pt x="236085" y="854310"/>
                </a:lnTo>
                <a:lnTo>
                  <a:pt x="192821" y="797926"/>
                </a:lnTo>
                <a:lnTo>
                  <a:pt x="152564" y="739356"/>
                </a:lnTo>
                <a:lnTo>
                  <a:pt x="115429" y="678756"/>
                </a:lnTo>
                <a:lnTo>
                  <a:pt x="81519" y="616297"/>
                </a:lnTo>
                <a:lnTo>
                  <a:pt x="50920" y="552148"/>
                </a:lnTo>
                <a:lnTo>
                  <a:pt x="23723" y="486492"/>
                </a:lnTo>
                <a:lnTo>
                  <a:pt x="0" y="419492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0-mark317"/>
          <p:cNvSpPr/>
          <p:nvPr/>
        </p:nvSpPr>
        <p:spPr>
          <a:xfrm>
            <a:off x="7601321" y="3508650"/>
            <a:ext cx="1357513" cy="1517740"/>
          </a:xfrm>
          <a:custGeom>
            <a:avLst/>
            <a:gdLst/>
            <a:ahLst/>
            <a:cxnLst/>
            <a:rect l="l" t="t" r="r" b="b"/>
            <a:pathLst>
              <a:path w="1357513" h="1517740">
                <a:moveTo>
                  <a:pt x="1357513" y="1098248"/>
                </a:moveTo>
                <a:lnTo>
                  <a:pt x="66443" y="1517740"/>
                </a:lnTo>
                <a:lnTo>
                  <a:pt x="46257" y="1449599"/>
                </a:lnTo>
                <a:lnTo>
                  <a:pt x="29662" y="1380489"/>
                </a:lnTo>
                <a:lnTo>
                  <a:pt x="16711" y="1310611"/>
                </a:lnTo>
                <a:lnTo>
                  <a:pt x="7439" y="1240149"/>
                </a:lnTo>
                <a:lnTo>
                  <a:pt x="1860" y="1169293"/>
                </a:lnTo>
                <a:lnTo>
                  <a:pt x="0" y="1098248"/>
                </a:lnTo>
                <a:lnTo>
                  <a:pt x="1860" y="1027203"/>
                </a:lnTo>
                <a:lnTo>
                  <a:pt x="7439" y="956347"/>
                </a:lnTo>
                <a:lnTo>
                  <a:pt x="16711" y="885886"/>
                </a:lnTo>
                <a:lnTo>
                  <a:pt x="29662" y="816008"/>
                </a:lnTo>
                <a:lnTo>
                  <a:pt x="46257" y="746897"/>
                </a:lnTo>
                <a:lnTo>
                  <a:pt x="66443" y="678756"/>
                </a:lnTo>
                <a:lnTo>
                  <a:pt x="90166" y="611756"/>
                </a:lnTo>
                <a:lnTo>
                  <a:pt x="117364" y="546100"/>
                </a:lnTo>
                <a:lnTo>
                  <a:pt x="147962" y="481951"/>
                </a:lnTo>
                <a:lnTo>
                  <a:pt x="181873" y="419492"/>
                </a:lnTo>
                <a:lnTo>
                  <a:pt x="219008" y="358892"/>
                </a:lnTo>
                <a:lnTo>
                  <a:pt x="259265" y="300323"/>
                </a:lnTo>
                <a:lnTo>
                  <a:pt x="302528" y="243938"/>
                </a:lnTo>
                <a:lnTo>
                  <a:pt x="348684" y="189896"/>
                </a:lnTo>
                <a:lnTo>
                  <a:pt x="397609" y="138344"/>
                </a:lnTo>
                <a:lnTo>
                  <a:pt x="449160" y="89419"/>
                </a:lnTo>
                <a:lnTo>
                  <a:pt x="503203" y="43264"/>
                </a:lnTo>
                <a:lnTo>
                  <a:pt x="559587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mark318"/>
          <p:cNvSpPr/>
          <p:nvPr/>
        </p:nvSpPr>
        <p:spPr>
          <a:xfrm>
            <a:off x="8160908" y="3249386"/>
            <a:ext cx="797926" cy="1357513"/>
          </a:xfrm>
          <a:custGeom>
            <a:avLst/>
            <a:gdLst/>
            <a:ahLst/>
            <a:cxnLst/>
            <a:rect l="l" t="t" r="r" b="b"/>
            <a:pathLst>
              <a:path w="797926" h="1357513">
                <a:moveTo>
                  <a:pt x="797926" y="1357513"/>
                </a:moveTo>
                <a:lnTo>
                  <a:pt x="0" y="259265"/>
                </a:lnTo>
                <a:lnTo>
                  <a:pt x="58570" y="219008"/>
                </a:lnTo>
                <a:lnTo>
                  <a:pt x="119169" y="181873"/>
                </a:lnTo>
                <a:lnTo>
                  <a:pt x="181628" y="147962"/>
                </a:lnTo>
                <a:lnTo>
                  <a:pt x="245778" y="117364"/>
                </a:lnTo>
                <a:lnTo>
                  <a:pt x="311434" y="90166"/>
                </a:lnTo>
                <a:lnTo>
                  <a:pt x="378434" y="66443"/>
                </a:lnTo>
                <a:lnTo>
                  <a:pt x="446574" y="46257"/>
                </a:lnTo>
                <a:lnTo>
                  <a:pt x="515685" y="29662"/>
                </a:lnTo>
                <a:lnTo>
                  <a:pt x="585563" y="16711"/>
                </a:lnTo>
                <a:lnTo>
                  <a:pt x="656025" y="7439"/>
                </a:lnTo>
                <a:lnTo>
                  <a:pt x="726880" y="1860"/>
                </a:lnTo>
                <a:lnTo>
                  <a:pt x="797926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mark319"/>
          <p:cNvSpPr/>
          <p:nvPr/>
        </p:nvSpPr>
        <p:spPr>
          <a:xfrm flipV="1">
            <a:off x="8958834" y="3100059"/>
            <a:ext cx="0" cy="14932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10-mark320"/>
          <p:cNvSpPr/>
          <p:nvPr/>
        </p:nvSpPr>
        <p:spPr>
          <a:xfrm flipV="1">
            <a:off x="9378326" y="3238363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10-mark321"/>
          <p:cNvSpPr/>
          <p:nvPr/>
        </p:nvSpPr>
        <p:spPr>
          <a:xfrm flipV="1">
            <a:off x="9756760" y="3442750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10-mark322"/>
          <p:cNvSpPr/>
          <p:nvPr/>
        </p:nvSpPr>
        <p:spPr>
          <a:xfrm flipV="1">
            <a:off x="10057082" y="3761100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10-mark323"/>
          <p:cNvSpPr/>
          <p:nvPr/>
        </p:nvSpPr>
        <p:spPr>
          <a:xfrm flipV="1">
            <a:off x="10249903" y="4162231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10-mark324"/>
          <p:cNvSpPr/>
          <p:nvPr/>
        </p:nvSpPr>
        <p:spPr>
          <a:xfrm>
            <a:off x="10316347" y="4606898"/>
            <a:ext cx="14932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10-mark325"/>
          <p:cNvSpPr/>
          <p:nvPr/>
        </p:nvSpPr>
        <p:spPr>
          <a:xfrm>
            <a:off x="10249903" y="5026390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10-mark326"/>
          <p:cNvSpPr/>
          <p:nvPr/>
        </p:nvSpPr>
        <p:spPr>
          <a:xfrm>
            <a:off x="10057082" y="5404824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10-mark327"/>
          <p:cNvSpPr/>
          <p:nvPr/>
        </p:nvSpPr>
        <p:spPr>
          <a:xfrm>
            <a:off x="9756760" y="5705146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10-mark328"/>
          <p:cNvSpPr/>
          <p:nvPr/>
        </p:nvSpPr>
        <p:spPr>
          <a:xfrm>
            <a:off x="9378326" y="5897967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10-mark329"/>
          <p:cNvSpPr/>
          <p:nvPr/>
        </p:nvSpPr>
        <p:spPr>
          <a:xfrm>
            <a:off x="8958834" y="5964411"/>
            <a:ext cx="0" cy="14932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10-mark330"/>
          <p:cNvSpPr/>
          <p:nvPr/>
        </p:nvSpPr>
        <p:spPr>
          <a:xfrm flipH="1">
            <a:off x="8514167" y="5897967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10-mark331"/>
          <p:cNvSpPr/>
          <p:nvPr/>
        </p:nvSpPr>
        <p:spPr>
          <a:xfrm flipH="1">
            <a:off x="8113036" y="5705146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10-mark332"/>
          <p:cNvSpPr/>
          <p:nvPr/>
        </p:nvSpPr>
        <p:spPr>
          <a:xfrm flipH="1">
            <a:off x="7794685" y="5404824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10-mark333"/>
          <p:cNvSpPr/>
          <p:nvPr/>
        </p:nvSpPr>
        <p:spPr>
          <a:xfrm flipH="1">
            <a:off x="7590298" y="5026390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10-mark334"/>
          <p:cNvSpPr/>
          <p:nvPr/>
        </p:nvSpPr>
        <p:spPr>
          <a:xfrm flipH="1">
            <a:off x="7451995" y="4606898"/>
            <a:ext cx="14932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10-mark335"/>
          <p:cNvSpPr/>
          <p:nvPr/>
        </p:nvSpPr>
        <p:spPr>
          <a:xfrm flipH="1" flipV="1">
            <a:off x="7590298" y="4162231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10-mark336"/>
          <p:cNvSpPr/>
          <p:nvPr/>
        </p:nvSpPr>
        <p:spPr>
          <a:xfrm flipH="1" flipV="1">
            <a:off x="7794685" y="3761100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10-mark337"/>
          <p:cNvSpPr/>
          <p:nvPr/>
        </p:nvSpPr>
        <p:spPr>
          <a:xfrm flipH="1" flipV="1">
            <a:off x="8113036" y="3442750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10-mark338"/>
          <p:cNvSpPr/>
          <p:nvPr/>
        </p:nvSpPr>
        <p:spPr>
          <a:xfrm flipH="1" flipV="1">
            <a:off x="8514167" y="3238363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10-label340"/>
          <p:cNvSpPr txBox="1"/>
          <p:nvPr/>
        </p:nvSpPr>
        <p:spPr>
          <a:xfrm>
            <a:off x="9216691" y="412495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버스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45 %</a:t>
            </a:r>
            <a:endParaRPr lang="ko-KR" sz="2200" dirty="0"/>
          </a:p>
        </p:txBody>
      </p:sp>
      <p:sp>
        <p:nvSpPr>
          <p:cNvPr id="29" name="S10-label342"/>
          <p:cNvSpPr txBox="1"/>
          <p:nvPr/>
        </p:nvSpPr>
        <p:spPr>
          <a:xfrm>
            <a:off x="7856598" y="5013647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지하철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0" name="S10-label344"/>
          <p:cNvSpPr txBox="1"/>
          <p:nvPr/>
        </p:nvSpPr>
        <p:spPr>
          <a:xfrm>
            <a:off x="7434887" y="3995445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자동차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1" name="S10-label346"/>
          <p:cNvSpPr txBox="1"/>
          <p:nvPr/>
        </p:nvSpPr>
        <p:spPr>
          <a:xfrm>
            <a:off x="7644011" y="2417879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자전거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10 %</a:t>
            </a:r>
            <a:endParaRPr lang="ko-KR" sz="2200" dirty="0"/>
          </a:p>
        </p:txBody>
      </p:sp>
      <p:sp>
        <p:nvSpPr>
          <p:cNvPr id="32" name="S10-label348"/>
          <p:cNvSpPr txBox="1"/>
          <p:nvPr/>
        </p:nvSpPr>
        <p:spPr>
          <a:xfrm>
            <a:off x="7451090" y="1920875"/>
            <a:ext cx="30154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주로 이용하는 교통수단</a:t>
            </a:r>
            <a:endParaRPr lang="ko-KR" sz="2200" dirty="0"/>
          </a:p>
        </p:txBody>
      </p:sp>
      <p:sp>
        <p:nvSpPr>
          <p:cNvPr id="33" name="S10-chip34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0-text35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이용하는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것과 그 비율은?</a:t>
            </a:r>
            <a:endParaRPr lang="ko-KR" sz="2800" dirty="0"/>
          </a:p>
        </p:txBody>
      </p:sp>
      <p:sp>
        <p:nvSpPr>
          <p:cNvPr id="35" name="S10-chip35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0-text35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지하철은 자전거의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배일까요?</a:t>
            </a:r>
            <a:endParaRPr lang="ko-KR" sz="2800" dirty="0"/>
          </a:p>
        </p:txBody>
      </p:sp>
      <p:sp>
        <p:nvSpPr>
          <p:cNvPr id="37" name="S10-chip35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0-text35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자동차를 이용하는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몇 명일까요?</a:t>
            </a:r>
            <a:endParaRPr lang="ko-KR" sz="2800" dirty="0"/>
          </a:p>
        </p:txBody>
      </p:sp>
      <p:sp>
        <p:nvSpPr>
          <p:cNvPr id="39" name="S10-chip355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0" name="S10-text356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버스와 지하철을 합하면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몇 %일까요?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35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35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③이 틀렸다면 ‘400명의 20 %’를 소수로 바꾸어 곱하게 하세요(400 × 0.2).</a:t>
            </a:r>
            <a:endParaRPr lang="ko-KR" sz="2800" dirty="0"/>
          </a:p>
        </p:txBody>
      </p:sp>
      <p:sp>
        <p:nvSpPr>
          <p:cNvPr id="5" name="S11-chip35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360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버스, 45 %</a:t>
            </a:r>
            <a:endParaRPr lang="ko-KR" sz="2800" dirty="0"/>
          </a:p>
        </p:txBody>
      </p:sp>
      <p:sp>
        <p:nvSpPr>
          <p:cNvPr id="7" name="S11-text361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2.5배</a:t>
            </a:r>
            <a:endParaRPr lang="ko-KR" sz="2800" dirty="0"/>
          </a:p>
        </p:txBody>
      </p:sp>
      <p:sp>
        <p:nvSpPr>
          <p:cNvPr id="8" name="S11-text362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÷ 10</a:t>
            </a:r>
            <a:endParaRPr lang="ko-KR" sz="2200" dirty="0"/>
          </a:p>
        </p:txBody>
      </p:sp>
      <p:sp>
        <p:nvSpPr>
          <p:cNvPr id="9" name="S11-text363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80명</a:t>
            </a:r>
            <a:endParaRPr lang="ko-KR" sz="2800" dirty="0"/>
          </a:p>
        </p:txBody>
      </p:sp>
      <p:sp>
        <p:nvSpPr>
          <p:cNvPr id="10" name="S11-text364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× 0.2</a:t>
            </a:r>
            <a:endParaRPr lang="ko-KR" sz="2200" dirty="0"/>
          </a:p>
        </p:txBody>
      </p:sp>
      <p:sp>
        <p:nvSpPr>
          <p:cNvPr id="11" name="S11-text365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70 %</a:t>
            </a:r>
            <a:endParaRPr lang="ko-KR" sz="2800" dirty="0"/>
          </a:p>
        </p:txBody>
      </p:sp>
      <p:sp>
        <p:nvSpPr>
          <p:cNvPr id="12" name="S11-text366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+ 25</a:t>
            </a:r>
            <a:endParaRPr lang="ko-KR" sz="2200" dirty="0"/>
          </a:p>
        </p:txBody>
      </p:sp>
      <p:sp>
        <p:nvSpPr>
          <p:cNvPr id="13" name="S11-chip36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4" name="S11-text36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20명</a:t>
            </a:r>
            <a:endParaRPr lang="ko-KR" sz="2800" dirty="0"/>
          </a:p>
        </p:txBody>
      </p:sp>
      <p:sp>
        <p:nvSpPr>
          <p:cNvPr id="15" name="S11-text36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수로 씀</a:t>
            </a:r>
            <a:endParaRPr lang="ko-KR" sz="2200" dirty="0"/>
          </a:p>
        </p:txBody>
      </p:sp>
      <p:sp>
        <p:nvSpPr>
          <p:cNvPr id="16" name="S11-text37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15배</a:t>
            </a:r>
            <a:endParaRPr lang="ko-KR" sz="2800" dirty="0"/>
          </a:p>
        </p:txBody>
      </p:sp>
      <p:sp>
        <p:nvSpPr>
          <p:cNvPr id="17" name="S11-text37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25 − 10을 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맞는 띠그래프는?</a:t>
            </a:r>
            <a:endParaRPr lang="ko-KR" sz="4000" dirty="0"/>
          </a:p>
        </p:txBody>
      </p:sp>
      <p:sp>
        <p:nvSpPr>
          <p:cNvPr id="3" name="S12-text3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 8명, 미술 5명, 음악 4명, 기타 3명(모두 20명)</a:t>
            </a:r>
            <a:endParaRPr lang="ko-KR" sz="2800" dirty="0"/>
          </a:p>
        </p:txBody>
      </p:sp>
      <p:sp>
        <p:nvSpPr>
          <p:cNvPr id="4" name="S12-card3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3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띠그래프를 고르고, 다른 것의 잘못을 말해요.</a:t>
            </a:r>
            <a:endParaRPr lang="ko-KR" sz="2800" dirty="0"/>
          </a:p>
        </p:txBody>
      </p:sp>
      <p:sp>
        <p:nvSpPr>
          <p:cNvPr id="6" name="S12-figure375" descr="두 띠그래프. 가: 체육 40 %, 미술 20 %, 음악 25 %, 기타 15 %. 나: 체육 40 %, 미술 25 %, 음악 20 %, 기타 15 %. 각각 아래에 0~100 눈금"/>
          <p:cNvSpPr/>
          <p:nvPr/>
        </p:nvSpPr>
        <p:spPr>
          <a:xfrm>
            <a:off x="3150255" y="2095500"/>
            <a:ext cx="2320568" cy="928227"/>
          </a:xfrm>
          <a:custGeom>
            <a:avLst/>
            <a:gdLst/>
            <a:ahLst/>
            <a:cxnLst/>
            <a:rect l="l" t="t" r="r" b="b"/>
            <a:pathLst>
              <a:path w="2320568" h="928227">
                <a:moveTo>
                  <a:pt x="0" y="928227"/>
                </a:moveTo>
                <a:lnTo>
                  <a:pt x="2320568" y="928227"/>
                </a:lnTo>
                <a:lnTo>
                  <a:pt x="23205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2-mark376"/>
          <p:cNvSpPr/>
          <p:nvPr/>
        </p:nvSpPr>
        <p:spPr>
          <a:xfrm>
            <a:off x="5470823" y="2095500"/>
            <a:ext cx="1160284" cy="928227"/>
          </a:xfrm>
          <a:custGeom>
            <a:avLst/>
            <a:gdLst/>
            <a:ahLst/>
            <a:cxnLst/>
            <a:rect l="l" t="t" r="r" b="b"/>
            <a:pathLst>
              <a:path w="1160284" h="928227">
                <a:moveTo>
                  <a:pt x="0" y="928227"/>
                </a:moveTo>
                <a:lnTo>
                  <a:pt x="1160284" y="928227"/>
                </a:lnTo>
                <a:lnTo>
                  <a:pt x="1160284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mark377"/>
          <p:cNvSpPr/>
          <p:nvPr/>
        </p:nvSpPr>
        <p:spPr>
          <a:xfrm>
            <a:off x="6631107" y="2095500"/>
            <a:ext cx="1450355" cy="928227"/>
          </a:xfrm>
          <a:custGeom>
            <a:avLst/>
            <a:gdLst/>
            <a:ahLst/>
            <a:cxnLst/>
            <a:rect l="l" t="t" r="r" b="b"/>
            <a:pathLst>
              <a:path w="1450355" h="928227">
                <a:moveTo>
                  <a:pt x="0" y="928227"/>
                </a:moveTo>
                <a:lnTo>
                  <a:pt x="1450355" y="928227"/>
                </a:lnTo>
                <a:lnTo>
                  <a:pt x="1450355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mark378"/>
          <p:cNvSpPr/>
          <p:nvPr/>
        </p:nvSpPr>
        <p:spPr>
          <a:xfrm>
            <a:off x="8081462" y="2095500"/>
            <a:ext cx="870213" cy="928227"/>
          </a:xfrm>
          <a:custGeom>
            <a:avLst/>
            <a:gdLst/>
            <a:ahLst/>
            <a:cxnLst/>
            <a:rect l="l" t="t" r="r" b="b"/>
            <a:pathLst>
              <a:path w="870213" h="928227">
                <a:moveTo>
                  <a:pt x="0" y="928227"/>
                </a:moveTo>
                <a:lnTo>
                  <a:pt x="870213" y="928227"/>
                </a:lnTo>
                <a:lnTo>
                  <a:pt x="8702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2-mark379"/>
          <p:cNvSpPr/>
          <p:nvPr/>
        </p:nvSpPr>
        <p:spPr>
          <a:xfrm>
            <a:off x="3150255" y="3719898"/>
            <a:ext cx="2320568" cy="928227"/>
          </a:xfrm>
          <a:custGeom>
            <a:avLst/>
            <a:gdLst/>
            <a:ahLst/>
            <a:cxnLst/>
            <a:rect l="l" t="t" r="r" b="b"/>
            <a:pathLst>
              <a:path w="2320568" h="928227">
                <a:moveTo>
                  <a:pt x="0" y="928227"/>
                </a:moveTo>
                <a:lnTo>
                  <a:pt x="2320568" y="928227"/>
                </a:lnTo>
                <a:lnTo>
                  <a:pt x="23205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mark380"/>
          <p:cNvSpPr/>
          <p:nvPr/>
        </p:nvSpPr>
        <p:spPr>
          <a:xfrm>
            <a:off x="5470823" y="3719898"/>
            <a:ext cx="1450355" cy="928227"/>
          </a:xfrm>
          <a:custGeom>
            <a:avLst/>
            <a:gdLst/>
            <a:ahLst/>
            <a:cxnLst/>
            <a:rect l="l" t="t" r="r" b="b"/>
            <a:pathLst>
              <a:path w="1450355" h="928227">
                <a:moveTo>
                  <a:pt x="0" y="928227"/>
                </a:moveTo>
                <a:lnTo>
                  <a:pt x="1450355" y="928227"/>
                </a:lnTo>
                <a:lnTo>
                  <a:pt x="1450355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2-mark381"/>
          <p:cNvSpPr/>
          <p:nvPr/>
        </p:nvSpPr>
        <p:spPr>
          <a:xfrm>
            <a:off x="6921178" y="3719898"/>
            <a:ext cx="1160284" cy="928227"/>
          </a:xfrm>
          <a:custGeom>
            <a:avLst/>
            <a:gdLst/>
            <a:ahLst/>
            <a:cxnLst/>
            <a:rect l="l" t="t" r="r" b="b"/>
            <a:pathLst>
              <a:path w="1160284" h="928227">
                <a:moveTo>
                  <a:pt x="0" y="928227"/>
                </a:moveTo>
                <a:lnTo>
                  <a:pt x="1160284" y="928227"/>
                </a:lnTo>
                <a:lnTo>
                  <a:pt x="11602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mark382"/>
          <p:cNvSpPr/>
          <p:nvPr/>
        </p:nvSpPr>
        <p:spPr>
          <a:xfrm>
            <a:off x="8081462" y="3719898"/>
            <a:ext cx="870213" cy="928227"/>
          </a:xfrm>
          <a:custGeom>
            <a:avLst/>
            <a:gdLst/>
            <a:ahLst/>
            <a:cxnLst/>
            <a:rect l="l" t="t" r="r" b="b"/>
            <a:pathLst>
              <a:path w="870213" h="928227">
                <a:moveTo>
                  <a:pt x="0" y="928227"/>
                </a:moveTo>
                <a:lnTo>
                  <a:pt x="870213" y="928227"/>
                </a:lnTo>
                <a:lnTo>
                  <a:pt x="8702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2-mark383"/>
          <p:cNvSpPr/>
          <p:nvPr/>
        </p:nvSpPr>
        <p:spPr>
          <a:xfrm>
            <a:off x="3150255" y="3093344"/>
            <a:ext cx="580142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12-mark384"/>
          <p:cNvSpPr/>
          <p:nvPr/>
        </p:nvSpPr>
        <p:spPr>
          <a:xfrm>
            <a:off x="3150255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12-mark385"/>
          <p:cNvSpPr/>
          <p:nvPr/>
        </p:nvSpPr>
        <p:spPr>
          <a:xfrm>
            <a:off x="3440326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12-mark386"/>
          <p:cNvSpPr/>
          <p:nvPr/>
        </p:nvSpPr>
        <p:spPr>
          <a:xfrm>
            <a:off x="3730397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12-mark387"/>
          <p:cNvSpPr/>
          <p:nvPr/>
        </p:nvSpPr>
        <p:spPr>
          <a:xfrm>
            <a:off x="4020468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12-mark388"/>
          <p:cNvSpPr/>
          <p:nvPr/>
        </p:nvSpPr>
        <p:spPr>
          <a:xfrm>
            <a:off x="4310539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12-mark389"/>
          <p:cNvSpPr/>
          <p:nvPr/>
        </p:nvSpPr>
        <p:spPr>
          <a:xfrm>
            <a:off x="4600610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12-mark390"/>
          <p:cNvSpPr/>
          <p:nvPr/>
        </p:nvSpPr>
        <p:spPr>
          <a:xfrm>
            <a:off x="4890681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12-mark391"/>
          <p:cNvSpPr/>
          <p:nvPr/>
        </p:nvSpPr>
        <p:spPr>
          <a:xfrm>
            <a:off x="5180752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12-mark392"/>
          <p:cNvSpPr/>
          <p:nvPr/>
        </p:nvSpPr>
        <p:spPr>
          <a:xfrm>
            <a:off x="5470823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12-mark393"/>
          <p:cNvSpPr/>
          <p:nvPr/>
        </p:nvSpPr>
        <p:spPr>
          <a:xfrm>
            <a:off x="5760894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12-mark394"/>
          <p:cNvSpPr/>
          <p:nvPr/>
        </p:nvSpPr>
        <p:spPr>
          <a:xfrm>
            <a:off x="6050965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12-mark395"/>
          <p:cNvSpPr/>
          <p:nvPr/>
        </p:nvSpPr>
        <p:spPr>
          <a:xfrm>
            <a:off x="6341036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12-mark396"/>
          <p:cNvSpPr/>
          <p:nvPr/>
        </p:nvSpPr>
        <p:spPr>
          <a:xfrm>
            <a:off x="6631107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12-mark397"/>
          <p:cNvSpPr/>
          <p:nvPr/>
        </p:nvSpPr>
        <p:spPr>
          <a:xfrm>
            <a:off x="6921178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12-mark398"/>
          <p:cNvSpPr/>
          <p:nvPr/>
        </p:nvSpPr>
        <p:spPr>
          <a:xfrm>
            <a:off x="7211249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12-mark399"/>
          <p:cNvSpPr/>
          <p:nvPr/>
        </p:nvSpPr>
        <p:spPr>
          <a:xfrm>
            <a:off x="7501320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12-mark400"/>
          <p:cNvSpPr/>
          <p:nvPr/>
        </p:nvSpPr>
        <p:spPr>
          <a:xfrm>
            <a:off x="7791391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12-mark401"/>
          <p:cNvSpPr/>
          <p:nvPr/>
        </p:nvSpPr>
        <p:spPr>
          <a:xfrm>
            <a:off x="8081462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3" name="S12-mark402"/>
          <p:cNvSpPr/>
          <p:nvPr/>
        </p:nvSpPr>
        <p:spPr>
          <a:xfrm>
            <a:off x="8371533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4" name="S12-mark403"/>
          <p:cNvSpPr/>
          <p:nvPr/>
        </p:nvSpPr>
        <p:spPr>
          <a:xfrm>
            <a:off x="8661604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5" name="S12-mark404"/>
          <p:cNvSpPr/>
          <p:nvPr/>
        </p:nvSpPr>
        <p:spPr>
          <a:xfrm>
            <a:off x="8951675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6" name="S12-mark405"/>
          <p:cNvSpPr/>
          <p:nvPr/>
        </p:nvSpPr>
        <p:spPr>
          <a:xfrm>
            <a:off x="3150255" y="4717742"/>
            <a:ext cx="580142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7" name="S12-mark406"/>
          <p:cNvSpPr/>
          <p:nvPr/>
        </p:nvSpPr>
        <p:spPr>
          <a:xfrm>
            <a:off x="3150255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8" name="S12-mark407"/>
          <p:cNvSpPr/>
          <p:nvPr/>
        </p:nvSpPr>
        <p:spPr>
          <a:xfrm>
            <a:off x="3440326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9" name="S12-mark408"/>
          <p:cNvSpPr/>
          <p:nvPr/>
        </p:nvSpPr>
        <p:spPr>
          <a:xfrm>
            <a:off x="3730397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0" name="S12-mark409"/>
          <p:cNvSpPr/>
          <p:nvPr/>
        </p:nvSpPr>
        <p:spPr>
          <a:xfrm>
            <a:off x="4020468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1" name="S12-mark410"/>
          <p:cNvSpPr/>
          <p:nvPr/>
        </p:nvSpPr>
        <p:spPr>
          <a:xfrm>
            <a:off x="4310539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2" name="S12-mark411"/>
          <p:cNvSpPr/>
          <p:nvPr/>
        </p:nvSpPr>
        <p:spPr>
          <a:xfrm>
            <a:off x="4600610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3" name="S12-mark412"/>
          <p:cNvSpPr/>
          <p:nvPr/>
        </p:nvSpPr>
        <p:spPr>
          <a:xfrm>
            <a:off x="4890681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4" name="S12-mark413"/>
          <p:cNvSpPr/>
          <p:nvPr/>
        </p:nvSpPr>
        <p:spPr>
          <a:xfrm>
            <a:off x="5180752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5" name="S12-mark414"/>
          <p:cNvSpPr/>
          <p:nvPr/>
        </p:nvSpPr>
        <p:spPr>
          <a:xfrm>
            <a:off x="5470823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6" name="S12-mark415"/>
          <p:cNvSpPr/>
          <p:nvPr/>
        </p:nvSpPr>
        <p:spPr>
          <a:xfrm>
            <a:off x="5760894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7" name="S12-mark416"/>
          <p:cNvSpPr/>
          <p:nvPr/>
        </p:nvSpPr>
        <p:spPr>
          <a:xfrm>
            <a:off x="6050965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8" name="S12-mark417"/>
          <p:cNvSpPr/>
          <p:nvPr/>
        </p:nvSpPr>
        <p:spPr>
          <a:xfrm>
            <a:off x="6341036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9" name="S12-mark418"/>
          <p:cNvSpPr/>
          <p:nvPr/>
        </p:nvSpPr>
        <p:spPr>
          <a:xfrm>
            <a:off x="6631107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0" name="S12-mark419"/>
          <p:cNvSpPr/>
          <p:nvPr/>
        </p:nvSpPr>
        <p:spPr>
          <a:xfrm>
            <a:off x="6921178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1" name="S12-mark420"/>
          <p:cNvSpPr/>
          <p:nvPr/>
        </p:nvSpPr>
        <p:spPr>
          <a:xfrm>
            <a:off x="7211249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2" name="S12-mark421"/>
          <p:cNvSpPr/>
          <p:nvPr/>
        </p:nvSpPr>
        <p:spPr>
          <a:xfrm>
            <a:off x="7501320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3" name="S12-mark422"/>
          <p:cNvSpPr/>
          <p:nvPr/>
        </p:nvSpPr>
        <p:spPr>
          <a:xfrm>
            <a:off x="7791391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4" name="S12-mark423"/>
          <p:cNvSpPr/>
          <p:nvPr/>
        </p:nvSpPr>
        <p:spPr>
          <a:xfrm>
            <a:off x="8081462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5" name="S12-mark424"/>
          <p:cNvSpPr/>
          <p:nvPr/>
        </p:nvSpPr>
        <p:spPr>
          <a:xfrm>
            <a:off x="8371533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6" name="S12-mark425"/>
          <p:cNvSpPr/>
          <p:nvPr/>
        </p:nvSpPr>
        <p:spPr>
          <a:xfrm>
            <a:off x="8661604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7" name="S12-mark426"/>
          <p:cNvSpPr/>
          <p:nvPr/>
        </p:nvSpPr>
        <p:spPr>
          <a:xfrm>
            <a:off x="8951675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8" name="S12-label428"/>
          <p:cNvSpPr txBox="1"/>
          <p:nvPr/>
        </p:nvSpPr>
        <p:spPr>
          <a:xfrm>
            <a:off x="3730403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체육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59" name="S12-label430"/>
          <p:cNvSpPr txBox="1"/>
          <p:nvPr/>
        </p:nvSpPr>
        <p:spPr>
          <a:xfrm>
            <a:off x="5470829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미술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60" name="S12-label432"/>
          <p:cNvSpPr txBox="1"/>
          <p:nvPr/>
        </p:nvSpPr>
        <p:spPr>
          <a:xfrm>
            <a:off x="6776149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음악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61" name="S12-label434"/>
          <p:cNvSpPr txBox="1"/>
          <p:nvPr/>
        </p:nvSpPr>
        <p:spPr>
          <a:xfrm>
            <a:off x="7936433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62" name="S12-label436"/>
          <p:cNvSpPr txBox="1"/>
          <p:nvPr/>
        </p:nvSpPr>
        <p:spPr>
          <a:xfrm>
            <a:off x="3003189" y="323779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63" name="S12-label438"/>
          <p:cNvSpPr txBox="1"/>
          <p:nvPr/>
        </p:nvSpPr>
        <p:spPr>
          <a:xfrm>
            <a:off x="4071271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64" name="S12-label440"/>
          <p:cNvSpPr txBox="1"/>
          <p:nvPr/>
        </p:nvSpPr>
        <p:spPr>
          <a:xfrm>
            <a:off x="5231555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65" name="S12-label442"/>
          <p:cNvSpPr txBox="1"/>
          <p:nvPr/>
        </p:nvSpPr>
        <p:spPr>
          <a:xfrm>
            <a:off x="6391839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66" name="S12-label444"/>
          <p:cNvSpPr txBox="1"/>
          <p:nvPr/>
        </p:nvSpPr>
        <p:spPr>
          <a:xfrm>
            <a:off x="7552123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67" name="S12-label446"/>
          <p:cNvSpPr txBox="1"/>
          <p:nvPr/>
        </p:nvSpPr>
        <p:spPr>
          <a:xfrm>
            <a:off x="8620205" y="323779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68" name="S12-label448"/>
          <p:cNvSpPr txBox="1"/>
          <p:nvPr/>
        </p:nvSpPr>
        <p:spPr>
          <a:xfrm>
            <a:off x="9250639" y="3237797"/>
            <a:ext cx="5623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69" name="S12-label450"/>
          <p:cNvSpPr txBox="1"/>
          <p:nvPr/>
        </p:nvSpPr>
        <p:spPr>
          <a:xfrm>
            <a:off x="3730403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체육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70" name="S12-label452"/>
          <p:cNvSpPr txBox="1"/>
          <p:nvPr/>
        </p:nvSpPr>
        <p:spPr>
          <a:xfrm>
            <a:off x="5615865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미술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71" name="S12-label454"/>
          <p:cNvSpPr txBox="1"/>
          <p:nvPr/>
        </p:nvSpPr>
        <p:spPr>
          <a:xfrm>
            <a:off x="6921184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음악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72" name="S12-label456"/>
          <p:cNvSpPr txBox="1"/>
          <p:nvPr/>
        </p:nvSpPr>
        <p:spPr>
          <a:xfrm>
            <a:off x="7936433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73" name="S12-label458"/>
          <p:cNvSpPr txBox="1"/>
          <p:nvPr/>
        </p:nvSpPr>
        <p:spPr>
          <a:xfrm>
            <a:off x="3003189" y="486219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74" name="S12-label460"/>
          <p:cNvSpPr txBox="1"/>
          <p:nvPr/>
        </p:nvSpPr>
        <p:spPr>
          <a:xfrm>
            <a:off x="4071271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75" name="S12-label462"/>
          <p:cNvSpPr txBox="1"/>
          <p:nvPr/>
        </p:nvSpPr>
        <p:spPr>
          <a:xfrm>
            <a:off x="5231555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76" name="S12-label464"/>
          <p:cNvSpPr txBox="1"/>
          <p:nvPr/>
        </p:nvSpPr>
        <p:spPr>
          <a:xfrm>
            <a:off x="6391839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77" name="S12-label466"/>
          <p:cNvSpPr txBox="1"/>
          <p:nvPr/>
        </p:nvSpPr>
        <p:spPr>
          <a:xfrm>
            <a:off x="7552123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78" name="S12-label468"/>
          <p:cNvSpPr txBox="1"/>
          <p:nvPr/>
        </p:nvSpPr>
        <p:spPr>
          <a:xfrm>
            <a:off x="8620205" y="4862195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79" name="S12-label470"/>
          <p:cNvSpPr txBox="1"/>
          <p:nvPr/>
        </p:nvSpPr>
        <p:spPr>
          <a:xfrm>
            <a:off x="9250639" y="4862195"/>
            <a:ext cx="5623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80" name="S12-label472"/>
          <p:cNvSpPr txBox="1"/>
          <p:nvPr/>
        </p:nvSpPr>
        <p:spPr>
          <a:xfrm>
            <a:off x="2465365" y="23849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1" name="S12-label474"/>
          <p:cNvSpPr txBox="1"/>
          <p:nvPr/>
        </p:nvSpPr>
        <p:spPr>
          <a:xfrm>
            <a:off x="2465365" y="400938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47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47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띠그래프와 원그래프는 전체(100 %)에 대한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부분의 비율을 한눈에 보여 줘요.</a:t>
            </a:r>
            <a:endParaRPr lang="ko-KR" sz="2800" dirty="0"/>
          </a:p>
        </p:txBody>
      </p:sp>
      <p:sp>
        <p:nvSpPr>
          <p:cNvPr id="5" name="S13-chip47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백분율의 합계가 100 %인지 확인</a:t>
            </a:r>
            <a:endParaRPr lang="ko-KR" sz="2200" dirty="0"/>
          </a:p>
        </p:txBody>
      </p:sp>
      <p:sp>
        <p:nvSpPr>
          <p:cNvPr id="6" name="S13-chip47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끝 눈금을 그대로 비율로 읽기</a:t>
            </a:r>
            <a:endParaRPr lang="ko-KR" sz="2200" dirty="0"/>
          </a:p>
        </p:txBody>
      </p:sp>
      <p:sp>
        <p:nvSpPr>
          <p:cNvPr id="7" name="S13-text47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48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40명의 25 %는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명일까요?</a:t>
            </a:r>
            <a:endParaRPr lang="ko-KR" sz="2200" dirty="0"/>
          </a:p>
        </p:txBody>
      </p:sp>
      <p:sp>
        <p:nvSpPr>
          <p:cNvPr id="9" name="S13-text48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띠그래프에서 30부터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55까지는 몇 %?</a:t>
            </a:r>
            <a:endParaRPr lang="ko-KR" sz="2200" dirty="0"/>
          </a:p>
        </p:txBody>
      </p:sp>
      <p:sp>
        <p:nvSpPr>
          <p:cNvPr id="10" name="S13-text48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 칸이 5 %일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7칸은 몇 %?</a:t>
            </a:r>
            <a:endParaRPr lang="ko-KR" sz="2200" dirty="0"/>
          </a:p>
        </p:txBody>
      </p:sp>
      <p:sp>
        <p:nvSpPr>
          <p:cNvPr id="11" name="S13-text48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알맞은 그래프 고르기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20명 중 7명은 몇 %?</a:t>
            </a:r>
            <a:endParaRPr lang="ko-KR" sz="4000" dirty="0"/>
          </a:p>
        </p:txBody>
      </p:sp>
      <p:sp>
        <p:nvSpPr>
          <p:cNvPr id="3" name="S14-text4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20명을 20칸 띠로 나타냈어요.</a:t>
            </a:r>
            <a:endParaRPr lang="ko-KR" sz="2800" dirty="0"/>
          </a:p>
        </p:txBody>
      </p:sp>
      <p:sp>
        <p:nvSpPr>
          <p:cNvPr id="4" name="S14-card48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48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1명은 몇 %?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÷ 20 = 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1명은 5 %</a:t>
            </a:r>
            <a:endParaRPr lang="ko-KR" sz="2800" dirty="0"/>
          </a:p>
        </p:txBody>
      </p:sp>
      <p:sp>
        <p:nvSpPr>
          <p:cNvPr id="6" name="S14-card48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48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7명은 몇 %?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7 = 35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7명은 35 %</a:t>
            </a:r>
            <a:endParaRPr lang="ko-KR" sz="2800" dirty="0"/>
          </a:p>
        </p:txBody>
      </p:sp>
      <p:sp>
        <p:nvSpPr>
          <p:cNvPr id="8" name="S14-cell489"/>
          <p:cNvSpPr/>
          <p:nvPr/>
        </p:nvSpPr>
        <p:spPr>
          <a:xfrm>
            <a:off x="106527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cell490"/>
          <p:cNvSpPr/>
          <p:nvPr/>
        </p:nvSpPr>
        <p:spPr>
          <a:xfrm>
            <a:off x="156819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cell491"/>
          <p:cNvSpPr/>
          <p:nvPr/>
        </p:nvSpPr>
        <p:spPr>
          <a:xfrm>
            <a:off x="207111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492"/>
          <p:cNvSpPr/>
          <p:nvPr/>
        </p:nvSpPr>
        <p:spPr>
          <a:xfrm>
            <a:off x="257403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493"/>
          <p:cNvSpPr/>
          <p:nvPr/>
        </p:nvSpPr>
        <p:spPr>
          <a:xfrm>
            <a:off x="307695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494"/>
          <p:cNvSpPr/>
          <p:nvPr/>
        </p:nvSpPr>
        <p:spPr>
          <a:xfrm>
            <a:off x="357987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495"/>
          <p:cNvSpPr/>
          <p:nvPr/>
        </p:nvSpPr>
        <p:spPr>
          <a:xfrm>
            <a:off x="408279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496"/>
          <p:cNvSpPr/>
          <p:nvPr/>
        </p:nvSpPr>
        <p:spPr>
          <a:xfrm>
            <a:off x="458571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cell497"/>
          <p:cNvSpPr/>
          <p:nvPr/>
        </p:nvSpPr>
        <p:spPr>
          <a:xfrm>
            <a:off x="508863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cell498"/>
          <p:cNvSpPr/>
          <p:nvPr/>
        </p:nvSpPr>
        <p:spPr>
          <a:xfrm>
            <a:off x="559155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cell499"/>
          <p:cNvSpPr/>
          <p:nvPr/>
        </p:nvSpPr>
        <p:spPr>
          <a:xfrm>
            <a:off x="609447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cell500"/>
          <p:cNvSpPr/>
          <p:nvPr/>
        </p:nvSpPr>
        <p:spPr>
          <a:xfrm>
            <a:off x="659739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4-cell501"/>
          <p:cNvSpPr/>
          <p:nvPr/>
        </p:nvSpPr>
        <p:spPr>
          <a:xfrm>
            <a:off x="710031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4-cell502"/>
          <p:cNvSpPr/>
          <p:nvPr/>
        </p:nvSpPr>
        <p:spPr>
          <a:xfrm>
            <a:off x="760323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4-cell503"/>
          <p:cNvSpPr/>
          <p:nvPr/>
        </p:nvSpPr>
        <p:spPr>
          <a:xfrm>
            <a:off x="810615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4-cell504"/>
          <p:cNvSpPr/>
          <p:nvPr/>
        </p:nvSpPr>
        <p:spPr>
          <a:xfrm>
            <a:off x="860907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4-cell505"/>
          <p:cNvSpPr/>
          <p:nvPr/>
        </p:nvSpPr>
        <p:spPr>
          <a:xfrm>
            <a:off x="911199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4-cell506"/>
          <p:cNvSpPr/>
          <p:nvPr/>
        </p:nvSpPr>
        <p:spPr>
          <a:xfrm>
            <a:off x="961491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4-cell507"/>
          <p:cNvSpPr/>
          <p:nvPr/>
        </p:nvSpPr>
        <p:spPr>
          <a:xfrm>
            <a:off x="1011783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4-cell508"/>
          <p:cNvSpPr/>
          <p:nvPr/>
        </p:nvSpPr>
        <p:spPr>
          <a:xfrm>
            <a:off x="1062075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4-figure509" descr="똑같이 20칸으로 나눈 띠, 7칸 색칠"/>
          <p:cNvSpPr/>
          <p:nvPr/>
        </p:nvSpPr>
        <p:spPr>
          <a:xfrm>
            <a:off x="1065276" y="2828544"/>
            <a:ext cx="10058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띠그래프와 원그래프</dc:title>
  <dc:subject>KR22-G06-MAT-BANDPIE-L01</dc:subject>
  <dc:creator>education-ppt</dc:creator>
  <cp:lastModifiedBy>education-ppt</cp:lastModifiedBy>
  <cp:revision>1</cp:revision>
  <dcterms:created xsi:type="dcterms:W3CDTF">2026-10-26T09:30:53Z</dcterms:created>
  <dcterms:modified xsi:type="dcterms:W3CDTF">2026-10-26T09:30:53Z</dcterms:modified>
</cp:coreProperties>
</file>