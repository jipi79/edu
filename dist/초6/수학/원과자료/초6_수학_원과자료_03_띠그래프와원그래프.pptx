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a15eed1-2f00-030f-4c59-335b5b2dc4e2}">
          <p14:sldIdLst>
            <p14:sldId id="256"/>
            <p14:sldId id="257"/>
          </p14:sldIdLst>
        </p14:section>
        <p14:section name="개념" id="{dd524851-3b46-aa55-d5ce-a737326e6051}">
          <p14:sldIdLst>
            <p14:sldId id="258"/>
            <p14:sldId id="259"/>
            <p14:sldId id="262"/>
            <p14:sldId id="263"/>
          </p14:sldIdLst>
        </p14:section>
        <p14:section name="연습" id="{a72c2d42-834e-1496-b81d-3cf906ef638a}">
          <p14:sldIdLst>
            <p14:sldId id="260"/>
            <p14:sldId id="261"/>
            <p14:sldId id="264"/>
          </p14:sldIdLst>
        </p14:section>
        <p14:section name="개념" id="{727705f9-ea27-98a0-ace8-0378a19aff91}">
          <p14:sldIdLst/>
        </p14:section>
        <p14:section name="연습" id="{c719a617-16e4-56cc-5d2c-e4158cad0bce}">
          <p14:sldIdLst/>
        </p14:section>
        <p14:section name="확인" id="{efe1ef47-c641-084b-92f7-a2e636c85953}">
          <p14:sldIdLst>
            <p14:sldId id="265"/>
            <p14:sldId id="266"/>
            <p14:sldId id="267"/>
          </p14:sldIdLst>
        </p14:section>
        <p14:section name="정리" id="{0c0000e3-312f-8647-500f-7487892eec9e}">
          <p14:sldIdLst>
            <p14:sldId id="268"/>
          </p14:sldIdLst>
        </p14:section>
        <p14:section name="보충" id="{be5bafc5-e6cc-95c1-eb14-3c846af2b4d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전체에 대한 각 부분의 비율을 한눈에 보여 주는 그래프가 있다는 것을 보여 주고 오늘 할 일을 알려 줍니다.
시간: 약 2분
이렇게 말해 보세요
- “오른쪽 그림은 6학년 학생들이 좋아하는 계절을 나타낸 거야. 어느 계절을 좋아하는 학생이 가장 많아 보여?”
- “전체 중 얼마만큼인지를 한눈에 보여 주는 그래프를 오늘 배울 거야.”
예상 답
- “가을이요. 가장 넓어요.” 어떤 답이든 괜찮습니다.
막히면
- 답을 확인하지 않고 넘어갑니다. S03·S04에서 같은 자료를 자세히 봅니다.
주의
- 오른쪽 그림은 원그래프입니다(가을 35 %, 봄 30 %, 여름 25 %, 겨울 10 %). 지금은 이름을 알려 주지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확인(백분율)]
목적: 지난 차시 ‘백분율’에서 배운 백분율 구하기와 백분율만큼의 수 구하기를 확인합니다. 오늘 그래프를 읽고 그릴 때 그대로 씁니다.
시간: 약 3분
이렇게 말해 보세요
- “①의 기준량은 몇 명이야? 비율에 100을 곱하면?”
- “③은 15 %를 소수로 바꾸어 200에 곱해 볼까?”
정답
- ① 40 % (10 ÷ 25 × 100)
- ② 35 %
- ③ 30명 (200 × 0.15)
막히면
- ①②가 어려우면 S14(보충)를 먼저 합니다. 보충으로도 어려우면 앞 차시 ‘백분율’을 다시 합니다.
- ③은 200명의 1 %가 2명이라는 것부터 생각하게 합니다.
주의
- 원그래프의 원은 3학년 ‘원’과 앞 차시 ‘원의 넓이’에서 본 원의 중심과 반지름을 씁니다. 원의 중심을 모르면 S14 노트를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띠그래프의 뜻과 읽기]
목적: 전체에 대한 각 부분의 비율을 띠 모양에 나타낸 그래프를 띠그래프라 하고, 칸의 길이와 백분율로 비율을 읽는다는 것을 압니다.
시간: 약 3분
이렇게 말해 보세요
- “띠 전체가 6학년 40명 모두야. 몇 %일까?”
- “가장 긴 칸은 어느 계절이야? 몇 %라고 쓰여 있어?”
- “봄은 30 %야. 40명의 30 %면 몇 명일까?”
예상 답
- “100 %요.” “가을이요, 35 %예요.” “12명이에요.”
막히면
- 띠 아래 눈금에서 각 칸의 시작과 끝을 손가락으로 짚어 길이를 비교하게 합니다.
주의
- 자료의 학생 수: 봄 12명, 여름 10명, 가을 14명, 겨울 4명(모두 40명). 띠의 길이는 백분율에 정확히 비례하게 그렸습니다.
- 백분율을 모두 더하면 100 %입니다(30 + 25 + 35 + 10).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원그래프의 뜻과 읽기]
목적: 같은 자료를 원 모양에 나타낸 원그래프를 알고, 부채꼴의 크기와 둘레의 눈금으로 비율을 읽습니다.
시간: 약 3분
이렇게 말해 보세요
- “S03의 띠그래프와 같은 자료야. 띠를 둥글게 말아 원으로 만들었다고 생각해 봐.”
- “원 둘레의 눈금은 모두 20칸이야. 한 칸은 몇 %일까? 겨울은 몇 칸이야?”
- “가을과 겨울 중 어느 쪽이 넓어? 백분율과 같은 순서야?”
예상 답
- “한 칸은 5 %예요.” “겨울은 2칸이에요.” “가을이 넓어요.”
막히면
- 원 둘레의 눈금을 12시 방향부터 시계 방향으로 함께 세어 봅니다(봄 6칸, 여름 5칸, 가을 7칸, 겨울 2칸).
주의
- 원그래프는 보통 12시 방향에서 시작해 시계 방향으로 자료 순서대로 그립니다.
- 부모님 참고: 원 전체는 360°이므로 1 %는 3.6°입니다. 봄 30 %는 108°, 여름 90°, 가을 126°, 겨울 36°로 정확히 그렸습니다. 아이는 각도기 대신 둘레의 눈금으로 나눕니다.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연습(띠그래프 읽고 해석하기)]
목적: 도움을 받으며 띠그래프에서 백분율을 읽고, 두 항목을 몇 배로 비교하고, 전체 수에 대한 항목의 수를 구합니다.
시간: 약 4분
이렇게 말해 보세요
- “가장 긴 칸은 어디야? 몇 %야?”
- “과학관 40 %와 박물관 20 %를 비교하면 몇 배야?”
- “200명의 25 %는 몇 명일까? 25 %를 소수로 바꾸어 곱해 봐.”
정답
- ① 과학관, 40 %
- ② 2배 (40 ÷ 20)
- ③ 50명 (200 × 0.25)
막히면
- ③은 200명의 10 %가 20명이라는 것부터 생각하게 합니다(25 %는 20 + 20 + 10 = 50명).
주의
- ②는 띠의 길이로도 확인할 수 있습니다. 과학관 칸이 박물관 칸 길이의 2배입니다.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비교(끝 눈금을 비율로 읽기)]
목적: 눈금에서 항목이 끝나는 곳의 수를 그 항목의 백분율로 읽는 실수(M1)를 띠의 길이로 반박합니다.
시간: 약 3분
이렇게 말해 보세요
- “역사 칸은 눈금 몇에서 시작해서 몇에서 끝나? 칸의 길이는 몇 %만큼이야?”
- “역사책이 75 %라면 동화책(35 %)보다 칸이 길어야 하지 않을까?”
예상 답
- “곰이요. 역사 칸은 짧아요.” “60부터 75까지라서 15 %예요.”
정답
- 곰이 맞습니다. 역사책은 60부터 75까지이므로 75 − 60 = 15 %입니다.
- 75는 동화·과학·역사를 모두 더한 백분율입니다(35 + 25 + 15). 나머지 기타는 100 − 75 = 25 %입니다.
막히면
- 역사 칸의 시작(60)과 끝(75)에 손가락을 대고, 그 사이의 눈금을 5 %씩 세게 합니다.
주의
- 띠그래프 아래 눈금은 0부터 쌓아 올린 수입니다. 항목의 백분율은 (끝 눈금) − (시작 눈금)으로 읽습니다.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자료를 백분율로 나타내기]
목적: 그래프를 그리기 전에 각 항목의 수를 백분율로 나타내고, 백분율의 합계가 100 %인지 확인합니다.
시간: 약 3분
이렇게 말해 보세요
- “전체 학생은 몇 명이야? 축구 35 %는 어떻게 구했을까?”
- “피구, 줄넘기, 수영의 백분율도 구해 볼래? 다 구하면 모두 더해 봐.”
예상 답
- “7 ÷ 20 × 100이요.” “피구 30 %, 줄넘기 20 %, 수영 15 %예요.” “더하면 100이에요.”
정답
- 피구 30 % (6 ÷ 20 × 100), 줄넘기 20 %, 수영 15 %, 합계 35 + 30 + 20 + 15 = 100
막히면
- 20명이면 1명이 100 ÷ 20 = 5 %라는 것을 먼저 찾게 합니다(피구 6명 → 30 %).
주의
- 백분율의 합계가 100 %가 아니면 계산을 다시 확인합니다(M2). 학생 수를 그대로 %로 쓰면 합계가 20이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원그래프(띠그래프)로 나타내는 순서(시범)]
목적: 백분율 구하기 → 합계 확인 → 눈금을 보고 나누기 → 항목·백분율 쓰기 → 제목 붙이기 순서로 원그래프를 그리는 방법을 보여 줍니다.
시간: 약 4분
이렇게 말해 보세요
- “원 둘레 눈금 한 칸은 5 %야. 축구 35 %는 몇 칸이야?”
- “12시 방향의 반지름에서 시작해서 시계 방향으로 7칸을 세고, 원의 중심과 이어 선을 그어.”
- “피구 30 %는 이어서 몇 칸이야? 마지막 수영은 남은 칸이 몇 칸인지 세어 확인해.”
예상 답
- “7칸이요.” “6칸이요.” “남은 칸이 3칸이라 15 %가 맞아요.”
막히면
- 종이에 원을 그리고 둘레를 20칸으로 나눈 원(활동지 3)을 써서 함께 칸을 셉니다.
주의
- 칸 수: 축구 7칸, 피구 6칸, 줄넘기 4칸, 수영 3칸(모두 20칸). 마지막 항목이 남은 칸과 딱 맞으면 바르게 나눈 것입니다.
- 띠그래프는 띠 전체를 20칸(한 칸 5 %)으로 보고 같은 칸 수만큼 나눕니다. 실제로 그리는 것은 활동지 2·3에서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연습(백분율 구하고 칸 수 정하기)]
목적: 도움을 받으며 자료의 백분율을 구하고 합계를 확인한 뒤, 띠(원)를 나눌 칸 수를 정합니다.
시간: 약 3분
이렇게 말해 보세요
- “과일 14명은 40명의 몇 %일까? 14 ÷ 40 × 100을 해 볼래?”
- “빵, 떡, 기타의 백분율도 구해서 모두 더해 봐.”
- “한 칸이 5 %면 빵 30 %는 몇 칸이야?”
정답
- ① 35 % (14 ÷ 40 × 100)
- ② 100 % (35 + 30 + 25 + 10)
- ③ 6칸 (30 ÷ 5)
막히면
- 40명이면 1명이 2.5 %입니다. 어려우면 ‘40명의 10 %는 4명’에서 시작해 14명이 10 % 3번 반(35 %)인지 생각하게 합니다.
주의
- 빵 30 %, 떡 25 %, 기타 10 %입니다. 띠 20칸에서 과일 7칸, 빵 6칸, 떡 5칸, 기타 2칸입니다.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해결(원그래프 읽고 해석하기)]
목적: 도움 없이 원그래프에서 백분율을 읽고, 몇 배인지, 몇 명인지, 합하면 몇 %인지 해석하는지 확인합니다.
시간: 약 4분
이렇게 말해 보세요
- “이번에는 혼자 해 볼래? 답을 말할 때 어떻게 알았는지도 말해 줘.”
정답
- ① 버스, 45 %
- ② 2.5배 (25 ÷ 10)
- ③ 80명 (400 × 0.2)
- ④ 70 % (45 + 25)
막히면
- 바로 알려 주지 말고 “전체는 몇 명이야? 그 항목은 몇 %야?”라고만 묻습니다.
- 도움을 받아 해결했다면 기록표에 ‘도움’으로 표시합니다.
주의
- ③을 마치면 “다른 마을 200명도 자동차가 20 %라면 자동차를 이용하는 사람 수가 같을까?”라고 물어봅니다(40명, M3).
- 정답 확인은 다음 장(S11)에서 함께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백분율을 사람 수로 착각하는 실수를 바로잡습니다. 수업용에만 있는 장입니다.
시간: 약 2분
이렇게 말해 보세요
- “네 답과 같은지 볼까? 다르면 어디서 달라졌는지 찾아보자.”
정답
- ① 버스 45 % ② 2.5배 ③ 80명 ④ 70 %
막히면
- ③이 틀리면 S05 ③으로, 백분율을 잘못 읽었으면 S04의 눈금 세기로 돌아갑니다.
주의
- ②에서 ‘15배’는 빼기를 한 것입니다. 몇 배는 나눗셈으로 구합니다. 이 장은 학생용 파일에는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확인(자료에 맞는 띠그래프 고르기)]
목적: 처음 보는 자료의 백분율을 구해 자료에 맞게 나눈 띠그래프를 고르고, 잘못 나눈 곳을 설명하는지 확인합니다.
시간: 약 3분
이렇게 말해 보세요
- “먼저 과목마다 백분율을 구해 볼래? 20명이면 1명은 몇 %야?”
- “가와 나 중 어느 띠가 네가 구한 백분율과 같아? 다른 곳은 어디야?”
정답
- 나. 체육 40 %, 미술 25 %, 음악 20 %, 기타 15 %입니다.
- 가는 미술(5명)을 20 %, 음악(4명)을 25 %로 바꾸어 나누었습니다.
막히면
- 과목 하나씩 백분율을 구해 두 띠에 쓰인 수와 차례로 비교합니다.
주의
- 백분율을 바르게 구하고 잘못된 곳까지 말하면 목표 B 확인 완료입니다. 실제로 그리는 것은 활동지 2·3에서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1분
이렇게 말해 보세요
- “띠그래프와 원그래프는 무엇을 보여 주는 그래프야? 그릴 때 먼저 무엇을 구해?”
- “다음 수업을 시작할 때 이 세 문제를 먼저 풀 거야.”
예상 답
- “전체에 대한 비율이요.” “백분율을 먼저 구해요.”
정답
- ① 10명 (40 × 0.25) ② 25 % (55 − 30) ③ 35 % (5 × 7)
막히면
- S03, S04, S08을 다시 보여 줍니다.
주의
- S10·S12 결과를 기록표에 적어 두면 다음 차시 ‘알맞은 그래프 고르기’로 넘어갈지 판단할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보충(전체에 대한 백분율 구하기)]
목적: S02가 흔들리면 전체를 100 %로 보고 1명(한 칸)이 몇 %인지 구한 뒤 백분율을 구하는 방법을 다시 합니다.
시간: 약 5분
이렇게 말해 보세요
- “띠 전체가 20명이고 100 %야. 한 칸(1명)은 몇 %일까?”
- “색칠한 7칸은 몇 %야? 7 ÷ 20 × 100으로도 구해 볼까?”
- “이번에는 20명 중 3명은 몇 %인지 구해 볼래?”
정답
- 1명은 5 %, 7명은 35 % (7 ÷ 20 × 100 = 35)
- 20명 중 3명은 15 %
막히면
- 종이 띠를 20칸으로 나누어 접고 7칸을 색칠한 다음, 100 cm 줄자와 견주어 35 cm임을 봅니다.
주의
- 보충으로도 어려우면 앞 차시 ‘백분율’을 먼저 다시 합니다.
- 원그래프의 원이 낯설면 앞 차시 ‘원의 넓이’(3학년 ‘원’)에서 원의 중심과 반지름을 다시 봅니다. 원그래프의 선은 모두 원의 중심에서 둘레까지 그은 반지름입니다.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원과자료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계절이 전체의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%인지 한눈에 보려면?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원그래프: 봄 30 %, 여름 25 %, 가을 35 %, 겨울 10 %"/>
          <p:cNvSpPr/>
          <p:nvPr/>
        </p:nvSpPr>
        <p:spPr>
          <a:xfrm>
            <a:off x="9646920" y="877147"/>
            <a:ext cx="1225973" cy="1604817"/>
          </a:xfrm>
          <a:custGeom>
            <a:avLst/>
            <a:gdLst/>
            <a:ahLst/>
            <a:cxnLst/>
            <a:rect l="l" t="t" r="r" b="b"/>
            <a:pathLst>
              <a:path w="1225973" h="1604817">
                <a:moveTo>
                  <a:pt x="0" y="1225973"/>
                </a:moveTo>
                <a:lnTo>
                  <a:pt x="0" y="0"/>
                </a:lnTo>
                <a:lnTo>
                  <a:pt x="64161" y="1680"/>
                </a:lnTo>
                <a:lnTo>
                  <a:pt x="128151" y="6718"/>
                </a:lnTo>
                <a:lnTo>
                  <a:pt x="191785" y="15092"/>
                </a:lnTo>
                <a:lnTo>
                  <a:pt x="254892" y="26788"/>
                </a:lnTo>
                <a:lnTo>
                  <a:pt x="317306" y="41775"/>
                </a:lnTo>
                <a:lnTo>
                  <a:pt x="378844" y="60005"/>
                </a:lnTo>
                <a:lnTo>
                  <a:pt x="439352" y="81429"/>
                </a:lnTo>
                <a:lnTo>
                  <a:pt x="498646" y="105992"/>
                </a:lnTo>
                <a:lnTo>
                  <a:pt x="556580" y="133625"/>
                </a:lnTo>
                <a:lnTo>
                  <a:pt x="612987" y="164250"/>
                </a:lnTo>
                <a:lnTo>
                  <a:pt x="667714" y="197786"/>
                </a:lnTo>
                <a:lnTo>
                  <a:pt x="720609" y="234143"/>
                </a:lnTo>
                <a:lnTo>
                  <a:pt x="771530" y="273214"/>
                </a:lnTo>
                <a:lnTo>
                  <a:pt x="820336" y="314897"/>
                </a:lnTo>
                <a:lnTo>
                  <a:pt x="866892" y="359081"/>
                </a:lnTo>
                <a:lnTo>
                  <a:pt x="911076" y="405638"/>
                </a:lnTo>
                <a:lnTo>
                  <a:pt x="952759" y="454444"/>
                </a:lnTo>
                <a:lnTo>
                  <a:pt x="991831" y="505365"/>
                </a:lnTo>
                <a:lnTo>
                  <a:pt x="1028187" y="558259"/>
                </a:lnTo>
                <a:lnTo>
                  <a:pt x="1061724" y="612987"/>
                </a:lnTo>
                <a:lnTo>
                  <a:pt x="1092348" y="669394"/>
                </a:lnTo>
                <a:lnTo>
                  <a:pt x="1119982" y="727327"/>
                </a:lnTo>
                <a:lnTo>
                  <a:pt x="1144544" y="786621"/>
                </a:lnTo>
                <a:lnTo>
                  <a:pt x="1165968" y="847129"/>
                </a:lnTo>
                <a:lnTo>
                  <a:pt x="1184198" y="908667"/>
                </a:lnTo>
                <a:lnTo>
                  <a:pt x="1199186" y="971081"/>
                </a:lnTo>
                <a:lnTo>
                  <a:pt x="1210882" y="1034188"/>
                </a:lnTo>
                <a:lnTo>
                  <a:pt x="1219255" y="1097822"/>
                </a:lnTo>
                <a:lnTo>
                  <a:pt x="1224294" y="1161812"/>
                </a:lnTo>
                <a:lnTo>
                  <a:pt x="1225973" y="1225973"/>
                </a:lnTo>
                <a:lnTo>
                  <a:pt x="1224294" y="1290135"/>
                </a:lnTo>
                <a:lnTo>
                  <a:pt x="1219255" y="1354124"/>
                </a:lnTo>
                <a:lnTo>
                  <a:pt x="1210882" y="1417758"/>
                </a:lnTo>
                <a:lnTo>
                  <a:pt x="1199186" y="1480865"/>
                </a:lnTo>
                <a:lnTo>
                  <a:pt x="1184198" y="1543280"/>
                </a:lnTo>
                <a:lnTo>
                  <a:pt x="1165968" y="1604817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68076" y="2103120"/>
            <a:ext cx="1544812" cy="1225973"/>
          </a:xfrm>
          <a:custGeom>
            <a:avLst/>
            <a:gdLst/>
            <a:ahLst/>
            <a:cxnLst/>
            <a:rect l="l" t="t" r="r" b="b"/>
            <a:pathLst>
              <a:path w="1544812" h="1225973">
                <a:moveTo>
                  <a:pt x="378844" y="0"/>
                </a:moveTo>
                <a:lnTo>
                  <a:pt x="1544812" y="378844"/>
                </a:lnTo>
                <a:lnTo>
                  <a:pt x="1523388" y="439352"/>
                </a:lnTo>
                <a:lnTo>
                  <a:pt x="1498826" y="498646"/>
                </a:lnTo>
                <a:lnTo>
                  <a:pt x="1471193" y="556580"/>
                </a:lnTo>
                <a:lnTo>
                  <a:pt x="1440568" y="612987"/>
                </a:lnTo>
                <a:lnTo>
                  <a:pt x="1407031" y="667714"/>
                </a:lnTo>
                <a:lnTo>
                  <a:pt x="1370675" y="720609"/>
                </a:lnTo>
                <a:lnTo>
                  <a:pt x="1331603" y="771530"/>
                </a:lnTo>
                <a:lnTo>
                  <a:pt x="1289920" y="820336"/>
                </a:lnTo>
                <a:lnTo>
                  <a:pt x="1245736" y="866892"/>
                </a:lnTo>
                <a:lnTo>
                  <a:pt x="1199180" y="911076"/>
                </a:lnTo>
                <a:lnTo>
                  <a:pt x="1150374" y="952759"/>
                </a:lnTo>
                <a:lnTo>
                  <a:pt x="1099453" y="991831"/>
                </a:lnTo>
                <a:lnTo>
                  <a:pt x="1046558" y="1028187"/>
                </a:lnTo>
                <a:lnTo>
                  <a:pt x="991831" y="1061724"/>
                </a:lnTo>
                <a:lnTo>
                  <a:pt x="935424" y="1092348"/>
                </a:lnTo>
                <a:lnTo>
                  <a:pt x="877490" y="1119982"/>
                </a:lnTo>
                <a:lnTo>
                  <a:pt x="818196" y="1144544"/>
                </a:lnTo>
                <a:lnTo>
                  <a:pt x="757688" y="1165968"/>
                </a:lnTo>
                <a:lnTo>
                  <a:pt x="696151" y="1184198"/>
                </a:lnTo>
                <a:lnTo>
                  <a:pt x="633736" y="1199186"/>
                </a:lnTo>
                <a:lnTo>
                  <a:pt x="570629" y="1210882"/>
                </a:lnTo>
                <a:lnTo>
                  <a:pt x="506995" y="1219255"/>
                </a:lnTo>
                <a:lnTo>
                  <a:pt x="443005" y="1224294"/>
                </a:lnTo>
                <a:lnTo>
                  <a:pt x="378844" y="1225973"/>
                </a:lnTo>
                <a:lnTo>
                  <a:pt x="314683" y="1224294"/>
                </a:lnTo>
                <a:lnTo>
                  <a:pt x="250693" y="1219255"/>
                </a:lnTo>
                <a:lnTo>
                  <a:pt x="187059" y="1210882"/>
                </a:lnTo>
                <a:lnTo>
                  <a:pt x="123952" y="1199186"/>
                </a:lnTo>
                <a:lnTo>
                  <a:pt x="61538" y="1184198"/>
                </a:lnTo>
                <a:lnTo>
                  <a:pt x="0" y="1165968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420947" y="1111289"/>
            <a:ext cx="1225973" cy="2157799"/>
          </a:xfrm>
          <a:custGeom>
            <a:avLst/>
            <a:gdLst/>
            <a:ahLst/>
            <a:cxnLst/>
            <a:rect l="l" t="t" r="r" b="b"/>
            <a:pathLst>
              <a:path w="1225973" h="2157799">
                <a:moveTo>
                  <a:pt x="1225973" y="991831"/>
                </a:moveTo>
                <a:lnTo>
                  <a:pt x="847129" y="2157799"/>
                </a:lnTo>
                <a:lnTo>
                  <a:pt x="786621" y="2136375"/>
                </a:lnTo>
                <a:lnTo>
                  <a:pt x="727327" y="2111813"/>
                </a:lnTo>
                <a:lnTo>
                  <a:pt x="669394" y="2084179"/>
                </a:lnTo>
                <a:lnTo>
                  <a:pt x="612987" y="2053554"/>
                </a:lnTo>
                <a:lnTo>
                  <a:pt x="558259" y="2020018"/>
                </a:lnTo>
                <a:lnTo>
                  <a:pt x="505365" y="1983662"/>
                </a:lnTo>
                <a:lnTo>
                  <a:pt x="454444" y="1944590"/>
                </a:lnTo>
                <a:lnTo>
                  <a:pt x="405638" y="1902907"/>
                </a:lnTo>
                <a:lnTo>
                  <a:pt x="359081" y="1858723"/>
                </a:lnTo>
                <a:lnTo>
                  <a:pt x="314897" y="1812166"/>
                </a:lnTo>
                <a:lnTo>
                  <a:pt x="273214" y="1763360"/>
                </a:lnTo>
                <a:lnTo>
                  <a:pt x="234143" y="1712440"/>
                </a:lnTo>
                <a:lnTo>
                  <a:pt x="197786" y="1659545"/>
                </a:lnTo>
                <a:lnTo>
                  <a:pt x="164250" y="1604817"/>
                </a:lnTo>
                <a:lnTo>
                  <a:pt x="133625" y="1548410"/>
                </a:lnTo>
                <a:lnTo>
                  <a:pt x="105992" y="1490477"/>
                </a:lnTo>
                <a:lnTo>
                  <a:pt x="81429" y="1431183"/>
                </a:lnTo>
                <a:lnTo>
                  <a:pt x="60005" y="1370675"/>
                </a:lnTo>
                <a:lnTo>
                  <a:pt x="41775" y="1309137"/>
                </a:lnTo>
                <a:lnTo>
                  <a:pt x="26788" y="1246723"/>
                </a:lnTo>
                <a:lnTo>
                  <a:pt x="15092" y="1183616"/>
                </a:lnTo>
                <a:lnTo>
                  <a:pt x="6718" y="1119982"/>
                </a:lnTo>
                <a:lnTo>
                  <a:pt x="1680" y="1055992"/>
                </a:lnTo>
                <a:lnTo>
                  <a:pt x="0" y="991831"/>
                </a:lnTo>
                <a:lnTo>
                  <a:pt x="1680" y="927670"/>
                </a:lnTo>
                <a:lnTo>
                  <a:pt x="6718" y="863680"/>
                </a:lnTo>
                <a:lnTo>
                  <a:pt x="15092" y="800046"/>
                </a:lnTo>
                <a:lnTo>
                  <a:pt x="26788" y="736939"/>
                </a:lnTo>
                <a:lnTo>
                  <a:pt x="41775" y="674524"/>
                </a:lnTo>
                <a:lnTo>
                  <a:pt x="60005" y="612987"/>
                </a:lnTo>
                <a:lnTo>
                  <a:pt x="81429" y="552479"/>
                </a:lnTo>
                <a:lnTo>
                  <a:pt x="105992" y="493185"/>
                </a:lnTo>
                <a:lnTo>
                  <a:pt x="133625" y="435251"/>
                </a:lnTo>
                <a:lnTo>
                  <a:pt x="164250" y="378844"/>
                </a:lnTo>
                <a:lnTo>
                  <a:pt x="197786" y="324117"/>
                </a:lnTo>
                <a:lnTo>
                  <a:pt x="234143" y="271222"/>
                </a:lnTo>
                <a:lnTo>
                  <a:pt x="273214" y="220301"/>
                </a:lnTo>
                <a:lnTo>
                  <a:pt x="314897" y="171495"/>
                </a:lnTo>
                <a:lnTo>
                  <a:pt x="359081" y="124939"/>
                </a:lnTo>
                <a:lnTo>
                  <a:pt x="405638" y="80755"/>
                </a:lnTo>
                <a:lnTo>
                  <a:pt x="454444" y="39072"/>
                </a:lnTo>
                <a:lnTo>
                  <a:pt x="505365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926311" y="877147"/>
            <a:ext cx="720609" cy="1225973"/>
          </a:xfrm>
          <a:custGeom>
            <a:avLst/>
            <a:gdLst/>
            <a:ahLst/>
            <a:cxnLst/>
            <a:rect l="l" t="t" r="r" b="b"/>
            <a:pathLst>
              <a:path w="720609" h="1225973">
                <a:moveTo>
                  <a:pt x="720609" y="1225973"/>
                </a:moveTo>
                <a:lnTo>
                  <a:pt x="0" y="234143"/>
                </a:lnTo>
                <a:lnTo>
                  <a:pt x="52895" y="197786"/>
                </a:lnTo>
                <a:lnTo>
                  <a:pt x="107622" y="164250"/>
                </a:lnTo>
                <a:lnTo>
                  <a:pt x="164029" y="133625"/>
                </a:lnTo>
                <a:lnTo>
                  <a:pt x="221962" y="105992"/>
                </a:lnTo>
                <a:lnTo>
                  <a:pt x="281257" y="81429"/>
                </a:lnTo>
                <a:lnTo>
                  <a:pt x="341765" y="60005"/>
                </a:lnTo>
                <a:lnTo>
                  <a:pt x="403302" y="41775"/>
                </a:lnTo>
                <a:lnTo>
                  <a:pt x="465717" y="26788"/>
                </a:lnTo>
                <a:lnTo>
                  <a:pt x="528824" y="15092"/>
                </a:lnTo>
                <a:lnTo>
                  <a:pt x="592458" y="6718"/>
                </a:lnTo>
                <a:lnTo>
                  <a:pt x="656447" y="1680"/>
                </a:lnTo>
                <a:lnTo>
                  <a:pt x="720609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label7"/>
          <p:cNvSpPr txBox="1"/>
          <p:nvPr/>
        </p:nvSpPr>
        <p:spPr>
          <a:xfrm>
            <a:off x="10050237" y="149615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200" dirty="0"/>
          </a:p>
        </p:txBody>
      </p:sp>
      <p:sp>
        <p:nvSpPr>
          <p:cNvPr id="10" name="S01-label9"/>
          <p:cNvSpPr txBox="1"/>
          <p:nvPr/>
        </p:nvSpPr>
        <p:spPr>
          <a:xfrm>
            <a:off x="9652199" y="258390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200" dirty="0"/>
          </a:p>
        </p:txBody>
      </p:sp>
      <p:sp>
        <p:nvSpPr>
          <p:cNvPr id="11" name="S01-label11"/>
          <p:cNvSpPr txBox="1"/>
          <p:nvPr/>
        </p:nvSpPr>
        <p:spPr>
          <a:xfrm>
            <a:off x="8591732" y="204355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200" dirty="0"/>
          </a:p>
        </p:txBody>
      </p:sp>
      <p:sp>
        <p:nvSpPr>
          <p:cNvPr id="12" name="S01-label13"/>
          <p:cNvSpPr txBox="1"/>
          <p:nvPr/>
        </p:nvSpPr>
        <p:spPr>
          <a:xfrm>
            <a:off x="9090949" y="122889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200" dirty="0"/>
          </a:p>
        </p:txBody>
      </p:sp>
      <p:sp>
        <p:nvSpPr>
          <p:cNvPr id="13" name="S01-card1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띠그래프와 원그래프를 읽고 해석해요.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백분율을 구해 띠그래프와 원그래프로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25명 중 10명은 전체의 몇 %?</a:t>
            </a:r>
            <a:endParaRPr lang="ko-KR" sz="28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0.35를 백분율로 나타내면?</a:t>
            </a:r>
            <a:endParaRPr lang="ko-KR" sz="28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200명의 15 %는 몇 명?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계절이에요.</a:t>
            </a:r>
            <a:endParaRPr lang="ko-KR" sz="2800" dirty="0"/>
          </a:p>
        </p:txBody>
      </p:sp>
      <p:sp>
        <p:nvSpPr>
          <p:cNvPr id="4" name="S03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학생이 좋아하는 계절은 무엇이고, 몇 %일까요?</a:t>
            </a:r>
            <a:endParaRPr lang="ko-KR" sz="2800" dirty="0"/>
          </a:p>
        </p:txBody>
      </p:sp>
      <p:sp>
        <p:nvSpPr>
          <p:cNvPr id="6" name="S03-card25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6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띠 하나로 놓고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비율만큼 나눈 그래프</a:t>
            </a:r>
            <a:endParaRPr lang="ko-KR" sz="2800" dirty="0"/>
          </a:p>
        </p:txBody>
      </p:sp>
      <p:sp>
        <p:nvSpPr>
          <p:cNvPr id="8" name="S03-card27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8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 전체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100 %예요.</a:t>
            </a:r>
            <a:endParaRPr lang="ko-KR" sz="2800" dirty="0"/>
          </a:p>
        </p:txBody>
      </p:sp>
      <p:sp>
        <p:nvSpPr>
          <p:cNvPr id="10" name="S03-figure29" descr="띠그래프 ‘좋아하는 계절별 학생 수’: 봄 30 %, 여름 25 %, 가을 35 %, 겨울 10 %. 아래에 0부터 100까지 10 %마다 눈금"/>
          <p:cNvSpPr/>
          <p:nvPr/>
        </p:nvSpPr>
        <p:spPr>
          <a:xfrm>
            <a:off x="3601965" y="2373734"/>
            <a:ext cx="1391169" cy="602840"/>
          </a:xfrm>
          <a:custGeom>
            <a:avLst/>
            <a:gdLst/>
            <a:ahLst/>
            <a:cxnLst/>
            <a:rect l="l" t="t" r="r" b="b"/>
            <a:pathLst>
              <a:path w="1391169" h="602840">
                <a:moveTo>
                  <a:pt x="0" y="602840"/>
                </a:moveTo>
                <a:lnTo>
                  <a:pt x="1391169" y="602840"/>
                </a:lnTo>
                <a:lnTo>
                  <a:pt x="13911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>
            <a:off x="4993134" y="2373734"/>
            <a:ext cx="1159307" cy="602840"/>
          </a:xfrm>
          <a:custGeom>
            <a:avLst/>
            <a:gdLst/>
            <a:ahLst/>
            <a:cxnLst/>
            <a:rect l="l" t="t" r="r" b="b"/>
            <a:pathLst>
              <a:path w="1159307" h="602840">
                <a:moveTo>
                  <a:pt x="0" y="602840"/>
                </a:moveTo>
                <a:lnTo>
                  <a:pt x="1159307" y="602840"/>
                </a:lnTo>
                <a:lnTo>
                  <a:pt x="1159307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>
            <a:off x="6152441" y="2373734"/>
            <a:ext cx="1623030" cy="602840"/>
          </a:xfrm>
          <a:custGeom>
            <a:avLst/>
            <a:gdLst/>
            <a:ahLst/>
            <a:cxnLst/>
            <a:rect l="l" t="t" r="r" b="b"/>
            <a:pathLst>
              <a:path w="1623030" h="602840">
                <a:moveTo>
                  <a:pt x="0" y="602840"/>
                </a:moveTo>
                <a:lnTo>
                  <a:pt x="1623030" y="602840"/>
                </a:lnTo>
                <a:lnTo>
                  <a:pt x="1623030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>
            <a:off x="7775472" y="2373734"/>
            <a:ext cx="463723" cy="602840"/>
          </a:xfrm>
          <a:custGeom>
            <a:avLst/>
            <a:gdLst/>
            <a:ahLst/>
            <a:cxnLst/>
            <a:rect l="l" t="t" r="r" b="b"/>
            <a:pathLst>
              <a:path w="463723" h="602840">
                <a:moveTo>
                  <a:pt x="0" y="602840"/>
                </a:moveTo>
                <a:lnTo>
                  <a:pt x="463723" y="602840"/>
                </a:lnTo>
                <a:lnTo>
                  <a:pt x="463723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mark33"/>
          <p:cNvSpPr/>
          <p:nvPr/>
        </p:nvSpPr>
        <p:spPr>
          <a:xfrm>
            <a:off x="3601965" y="3032220"/>
            <a:ext cx="463723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3-mark34"/>
          <p:cNvSpPr/>
          <p:nvPr/>
        </p:nvSpPr>
        <p:spPr>
          <a:xfrm>
            <a:off x="3601965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3-mark35"/>
          <p:cNvSpPr/>
          <p:nvPr/>
        </p:nvSpPr>
        <p:spPr>
          <a:xfrm>
            <a:off x="3833827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3-mark36"/>
          <p:cNvSpPr/>
          <p:nvPr/>
        </p:nvSpPr>
        <p:spPr>
          <a:xfrm>
            <a:off x="4065688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3-mark37"/>
          <p:cNvSpPr/>
          <p:nvPr/>
        </p:nvSpPr>
        <p:spPr>
          <a:xfrm>
            <a:off x="4297550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3-mark38"/>
          <p:cNvSpPr/>
          <p:nvPr/>
        </p:nvSpPr>
        <p:spPr>
          <a:xfrm>
            <a:off x="4529411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3-mark39"/>
          <p:cNvSpPr/>
          <p:nvPr/>
        </p:nvSpPr>
        <p:spPr>
          <a:xfrm>
            <a:off x="4761272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3-mark40"/>
          <p:cNvSpPr/>
          <p:nvPr/>
        </p:nvSpPr>
        <p:spPr>
          <a:xfrm>
            <a:off x="4993134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3-mark41"/>
          <p:cNvSpPr/>
          <p:nvPr/>
        </p:nvSpPr>
        <p:spPr>
          <a:xfrm>
            <a:off x="5224995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3-mark42"/>
          <p:cNvSpPr/>
          <p:nvPr/>
        </p:nvSpPr>
        <p:spPr>
          <a:xfrm>
            <a:off x="5456857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3-mark43"/>
          <p:cNvSpPr/>
          <p:nvPr/>
        </p:nvSpPr>
        <p:spPr>
          <a:xfrm>
            <a:off x="5688718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3-mark44"/>
          <p:cNvSpPr/>
          <p:nvPr/>
        </p:nvSpPr>
        <p:spPr>
          <a:xfrm>
            <a:off x="5920580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3-mark45"/>
          <p:cNvSpPr/>
          <p:nvPr/>
        </p:nvSpPr>
        <p:spPr>
          <a:xfrm>
            <a:off x="6152441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3-mark46"/>
          <p:cNvSpPr/>
          <p:nvPr/>
        </p:nvSpPr>
        <p:spPr>
          <a:xfrm>
            <a:off x="6384303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3-mark47"/>
          <p:cNvSpPr/>
          <p:nvPr/>
        </p:nvSpPr>
        <p:spPr>
          <a:xfrm>
            <a:off x="6616164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3-mark48"/>
          <p:cNvSpPr/>
          <p:nvPr/>
        </p:nvSpPr>
        <p:spPr>
          <a:xfrm>
            <a:off x="6848026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3-mark49"/>
          <p:cNvSpPr/>
          <p:nvPr/>
        </p:nvSpPr>
        <p:spPr>
          <a:xfrm>
            <a:off x="7079887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3-mark50"/>
          <p:cNvSpPr/>
          <p:nvPr/>
        </p:nvSpPr>
        <p:spPr>
          <a:xfrm>
            <a:off x="7311749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3-mark51"/>
          <p:cNvSpPr/>
          <p:nvPr/>
        </p:nvSpPr>
        <p:spPr>
          <a:xfrm>
            <a:off x="7543610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3-mark52"/>
          <p:cNvSpPr/>
          <p:nvPr/>
        </p:nvSpPr>
        <p:spPr>
          <a:xfrm>
            <a:off x="7775472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3-mark53"/>
          <p:cNvSpPr/>
          <p:nvPr/>
        </p:nvSpPr>
        <p:spPr>
          <a:xfrm>
            <a:off x="8007333" y="3032220"/>
            <a:ext cx="0" cy="5564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3-mark54"/>
          <p:cNvSpPr/>
          <p:nvPr/>
        </p:nvSpPr>
        <p:spPr>
          <a:xfrm>
            <a:off x="8239195" y="3032220"/>
            <a:ext cx="0" cy="10201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6" name="S03-label56"/>
          <p:cNvSpPr txBox="1"/>
          <p:nvPr/>
        </p:nvSpPr>
        <p:spPr>
          <a:xfrm>
            <a:off x="3957698" y="232590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7" name="S03-label58"/>
          <p:cNvSpPr txBox="1"/>
          <p:nvPr/>
        </p:nvSpPr>
        <p:spPr>
          <a:xfrm>
            <a:off x="5232936" y="232590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8" name="S03-label60"/>
          <p:cNvSpPr txBox="1"/>
          <p:nvPr/>
        </p:nvSpPr>
        <p:spPr>
          <a:xfrm>
            <a:off x="6624105" y="232590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9" name="S03-label62"/>
          <p:cNvSpPr txBox="1"/>
          <p:nvPr/>
        </p:nvSpPr>
        <p:spPr>
          <a:xfrm>
            <a:off x="7667481" y="232590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40" name="S03-label64"/>
          <p:cNvSpPr txBox="1"/>
          <p:nvPr/>
        </p:nvSpPr>
        <p:spPr>
          <a:xfrm>
            <a:off x="3454899" y="311264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1" name="S03-label66"/>
          <p:cNvSpPr txBox="1"/>
          <p:nvPr/>
        </p:nvSpPr>
        <p:spPr>
          <a:xfrm>
            <a:off x="3826420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2" name="S03-label68"/>
          <p:cNvSpPr txBox="1"/>
          <p:nvPr/>
        </p:nvSpPr>
        <p:spPr>
          <a:xfrm>
            <a:off x="4290143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3" name="S03-label70"/>
          <p:cNvSpPr txBox="1"/>
          <p:nvPr/>
        </p:nvSpPr>
        <p:spPr>
          <a:xfrm>
            <a:off x="4753866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4" name="S03-label72"/>
          <p:cNvSpPr txBox="1"/>
          <p:nvPr/>
        </p:nvSpPr>
        <p:spPr>
          <a:xfrm>
            <a:off x="521758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5" name="S03-label74"/>
          <p:cNvSpPr txBox="1"/>
          <p:nvPr/>
        </p:nvSpPr>
        <p:spPr>
          <a:xfrm>
            <a:off x="5681312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6" name="S03-label76"/>
          <p:cNvSpPr txBox="1"/>
          <p:nvPr/>
        </p:nvSpPr>
        <p:spPr>
          <a:xfrm>
            <a:off x="6145035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7" name="S03-label78"/>
          <p:cNvSpPr txBox="1"/>
          <p:nvPr/>
        </p:nvSpPr>
        <p:spPr>
          <a:xfrm>
            <a:off x="6608758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8" name="S03-label80"/>
          <p:cNvSpPr txBox="1"/>
          <p:nvPr/>
        </p:nvSpPr>
        <p:spPr>
          <a:xfrm>
            <a:off x="7072481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9" name="S03-label82"/>
          <p:cNvSpPr txBox="1"/>
          <p:nvPr/>
        </p:nvSpPr>
        <p:spPr>
          <a:xfrm>
            <a:off x="7536204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50" name="S03-label84"/>
          <p:cNvSpPr txBox="1"/>
          <p:nvPr/>
        </p:nvSpPr>
        <p:spPr>
          <a:xfrm>
            <a:off x="7907725" y="3112643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1" name="S03-label86"/>
          <p:cNvSpPr txBox="1"/>
          <p:nvPr/>
        </p:nvSpPr>
        <p:spPr>
          <a:xfrm>
            <a:off x="8305809" y="3112643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2" name="S03-label88"/>
          <p:cNvSpPr txBox="1"/>
          <p:nvPr/>
        </p:nvSpPr>
        <p:spPr>
          <a:xfrm>
            <a:off x="4370926" y="19208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4000" dirty="0"/>
          </a:p>
        </p:txBody>
      </p:sp>
      <p:sp>
        <p:nvSpPr>
          <p:cNvPr id="3" name="S04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원그래프는 전체에 대한 부분의 비율을 보여 줘요.</a:t>
            </a:r>
            <a:endParaRPr lang="ko-KR" sz="2800" dirty="0"/>
          </a:p>
        </p:txBody>
      </p:sp>
      <p:sp>
        <p:nvSpPr>
          <p:cNvPr id="5" name="S04-figure91" descr="원그래프 ‘좋아하는 계절별 학생 수’: 위에서 시계 방향으로 봄 30 %, 여름 25 %, 가을 35 %, 겨울 10 %. 둘레에 5 %마다 눈금"/>
          <p:cNvSpPr/>
          <p:nvPr/>
        </p:nvSpPr>
        <p:spPr>
          <a:xfrm>
            <a:off x="3230118" y="1922626"/>
            <a:ext cx="1465503" cy="1918365"/>
          </a:xfrm>
          <a:custGeom>
            <a:avLst/>
            <a:gdLst/>
            <a:ahLst/>
            <a:cxnLst/>
            <a:rect l="l" t="t" r="r" b="b"/>
            <a:pathLst>
              <a:path w="1465503" h="1918365">
                <a:moveTo>
                  <a:pt x="0" y="1465503"/>
                </a:moveTo>
                <a:lnTo>
                  <a:pt x="0" y="0"/>
                </a:lnTo>
                <a:lnTo>
                  <a:pt x="76697" y="2008"/>
                </a:lnTo>
                <a:lnTo>
                  <a:pt x="153189" y="8031"/>
                </a:lnTo>
                <a:lnTo>
                  <a:pt x="229256" y="18040"/>
                </a:lnTo>
                <a:lnTo>
                  <a:pt x="304693" y="32021"/>
                </a:lnTo>
                <a:lnTo>
                  <a:pt x="379301" y="49937"/>
                </a:lnTo>
                <a:lnTo>
                  <a:pt x="452862" y="71729"/>
                </a:lnTo>
                <a:lnTo>
                  <a:pt x="525192" y="97339"/>
                </a:lnTo>
                <a:lnTo>
                  <a:pt x="596071" y="126700"/>
                </a:lnTo>
                <a:lnTo>
                  <a:pt x="665324" y="159733"/>
                </a:lnTo>
                <a:lnTo>
                  <a:pt x="732752" y="196341"/>
                </a:lnTo>
                <a:lnTo>
                  <a:pt x="798172" y="236430"/>
                </a:lnTo>
                <a:lnTo>
                  <a:pt x="861401" y="279889"/>
                </a:lnTo>
                <a:lnTo>
                  <a:pt x="922270" y="326595"/>
                </a:lnTo>
                <a:lnTo>
                  <a:pt x="980612" y="376422"/>
                </a:lnTo>
                <a:lnTo>
                  <a:pt x="1036265" y="429239"/>
                </a:lnTo>
                <a:lnTo>
                  <a:pt x="1089081" y="484891"/>
                </a:lnTo>
                <a:lnTo>
                  <a:pt x="1138908" y="543233"/>
                </a:lnTo>
                <a:lnTo>
                  <a:pt x="1185614" y="604102"/>
                </a:lnTo>
                <a:lnTo>
                  <a:pt x="1229073" y="667331"/>
                </a:lnTo>
                <a:lnTo>
                  <a:pt x="1269162" y="732752"/>
                </a:lnTo>
                <a:lnTo>
                  <a:pt x="1305771" y="800179"/>
                </a:lnTo>
                <a:lnTo>
                  <a:pt x="1338803" y="869432"/>
                </a:lnTo>
                <a:lnTo>
                  <a:pt x="1368164" y="940311"/>
                </a:lnTo>
                <a:lnTo>
                  <a:pt x="1393774" y="1012641"/>
                </a:lnTo>
                <a:lnTo>
                  <a:pt x="1415566" y="1086202"/>
                </a:lnTo>
                <a:lnTo>
                  <a:pt x="1433482" y="1160810"/>
                </a:lnTo>
                <a:lnTo>
                  <a:pt x="1447463" y="1236247"/>
                </a:lnTo>
                <a:lnTo>
                  <a:pt x="1457472" y="1312314"/>
                </a:lnTo>
                <a:lnTo>
                  <a:pt x="1463495" y="1388806"/>
                </a:lnTo>
                <a:lnTo>
                  <a:pt x="1465503" y="1465503"/>
                </a:lnTo>
                <a:lnTo>
                  <a:pt x="1463495" y="1542200"/>
                </a:lnTo>
                <a:lnTo>
                  <a:pt x="1457472" y="1618692"/>
                </a:lnTo>
                <a:lnTo>
                  <a:pt x="1447463" y="1694759"/>
                </a:lnTo>
                <a:lnTo>
                  <a:pt x="1433482" y="1770196"/>
                </a:lnTo>
                <a:lnTo>
                  <a:pt x="1415566" y="1844805"/>
                </a:lnTo>
                <a:lnTo>
                  <a:pt x="1393774" y="1918365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92"/>
          <p:cNvSpPr/>
          <p:nvPr/>
        </p:nvSpPr>
        <p:spPr>
          <a:xfrm>
            <a:off x="2777256" y="3388129"/>
            <a:ext cx="1846636" cy="1465503"/>
          </a:xfrm>
          <a:custGeom>
            <a:avLst/>
            <a:gdLst/>
            <a:ahLst/>
            <a:cxnLst/>
            <a:rect l="l" t="t" r="r" b="b"/>
            <a:pathLst>
              <a:path w="1846636" h="1465503">
                <a:moveTo>
                  <a:pt x="452862" y="0"/>
                </a:moveTo>
                <a:lnTo>
                  <a:pt x="1846636" y="452862"/>
                </a:lnTo>
                <a:lnTo>
                  <a:pt x="1821027" y="525192"/>
                </a:lnTo>
                <a:lnTo>
                  <a:pt x="1791665" y="596071"/>
                </a:lnTo>
                <a:lnTo>
                  <a:pt x="1758633" y="665324"/>
                </a:lnTo>
                <a:lnTo>
                  <a:pt x="1722025" y="732752"/>
                </a:lnTo>
                <a:lnTo>
                  <a:pt x="1681936" y="798172"/>
                </a:lnTo>
                <a:lnTo>
                  <a:pt x="1638476" y="861401"/>
                </a:lnTo>
                <a:lnTo>
                  <a:pt x="1591771" y="922270"/>
                </a:lnTo>
                <a:lnTo>
                  <a:pt x="1541944" y="980612"/>
                </a:lnTo>
                <a:lnTo>
                  <a:pt x="1489127" y="1036265"/>
                </a:lnTo>
                <a:lnTo>
                  <a:pt x="1433474" y="1089081"/>
                </a:lnTo>
                <a:lnTo>
                  <a:pt x="1375133" y="1138908"/>
                </a:lnTo>
                <a:lnTo>
                  <a:pt x="1314263" y="1185614"/>
                </a:lnTo>
                <a:lnTo>
                  <a:pt x="1251034" y="1229073"/>
                </a:lnTo>
                <a:lnTo>
                  <a:pt x="1185614" y="1269162"/>
                </a:lnTo>
                <a:lnTo>
                  <a:pt x="1118186" y="1305771"/>
                </a:lnTo>
                <a:lnTo>
                  <a:pt x="1048934" y="1338803"/>
                </a:lnTo>
                <a:lnTo>
                  <a:pt x="978055" y="1368164"/>
                </a:lnTo>
                <a:lnTo>
                  <a:pt x="905725" y="1393774"/>
                </a:lnTo>
                <a:lnTo>
                  <a:pt x="832164" y="1415566"/>
                </a:lnTo>
                <a:lnTo>
                  <a:pt x="757555" y="1433482"/>
                </a:lnTo>
                <a:lnTo>
                  <a:pt x="682118" y="1447463"/>
                </a:lnTo>
                <a:lnTo>
                  <a:pt x="606051" y="1457472"/>
                </a:lnTo>
                <a:lnTo>
                  <a:pt x="529560" y="1463495"/>
                </a:lnTo>
                <a:lnTo>
                  <a:pt x="452862" y="1465503"/>
                </a:lnTo>
                <a:lnTo>
                  <a:pt x="376165" y="1463495"/>
                </a:lnTo>
                <a:lnTo>
                  <a:pt x="299673" y="1457472"/>
                </a:lnTo>
                <a:lnTo>
                  <a:pt x="223606" y="1447463"/>
                </a:lnTo>
                <a:lnTo>
                  <a:pt x="148170" y="1433482"/>
                </a:lnTo>
                <a:lnTo>
                  <a:pt x="73561" y="1415566"/>
                </a:lnTo>
                <a:lnTo>
                  <a:pt x="0" y="1393774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93"/>
          <p:cNvSpPr/>
          <p:nvPr/>
        </p:nvSpPr>
        <p:spPr>
          <a:xfrm>
            <a:off x="1764615" y="2202515"/>
            <a:ext cx="1465503" cy="2579388"/>
          </a:xfrm>
          <a:custGeom>
            <a:avLst/>
            <a:gdLst/>
            <a:ahLst/>
            <a:cxnLst/>
            <a:rect l="l" t="t" r="r" b="b"/>
            <a:pathLst>
              <a:path w="1465503" h="2579388">
                <a:moveTo>
                  <a:pt x="1465503" y="1185614"/>
                </a:moveTo>
                <a:lnTo>
                  <a:pt x="1012641" y="2579388"/>
                </a:lnTo>
                <a:lnTo>
                  <a:pt x="940311" y="2553778"/>
                </a:lnTo>
                <a:lnTo>
                  <a:pt x="869432" y="2524417"/>
                </a:lnTo>
                <a:lnTo>
                  <a:pt x="800179" y="2491384"/>
                </a:lnTo>
                <a:lnTo>
                  <a:pt x="732752" y="2454776"/>
                </a:lnTo>
                <a:lnTo>
                  <a:pt x="667331" y="2414687"/>
                </a:lnTo>
                <a:lnTo>
                  <a:pt x="604102" y="2371228"/>
                </a:lnTo>
                <a:lnTo>
                  <a:pt x="543233" y="2324522"/>
                </a:lnTo>
                <a:lnTo>
                  <a:pt x="484891" y="2274695"/>
                </a:lnTo>
                <a:lnTo>
                  <a:pt x="429239" y="2221878"/>
                </a:lnTo>
                <a:lnTo>
                  <a:pt x="376422" y="2166226"/>
                </a:lnTo>
                <a:lnTo>
                  <a:pt x="326595" y="2107884"/>
                </a:lnTo>
                <a:lnTo>
                  <a:pt x="279889" y="2047015"/>
                </a:lnTo>
                <a:lnTo>
                  <a:pt x="236430" y="1983786"/>
                </a:lnTo>
                <a:lnTo>
                  <a:pt x="196341" y="1918365"/>
                </a:lnTo>
                <a:lnTo>
                  <a:pt x="159733" y="1850938"/>
                </a:lnTo>
                <a:lnTo>
                  <a:pt x="126700" y="1781685"/>
                </a:lnTo>
                <a:lnTo>
                  <a:pt x="97339" y="1710806"/>
                </a:lnTo>
                <a:lnTo>
                  <a:pt x="71729" y="1638476"/>
                </a:lnTo>
                <a:lnTo>
                  <a:pt x="49937" y="1564915"/>
                </a:lnTo>
                <a:lnTo>
                  <a:pt x="32021" y="1490307"/>
                </a:lnTo>
                <a:lnTo>
                  <a:pt x="18040" y="1414870"/>
                </a:lnTo>
                <a:lnTo>
                  <a:pt x="8031" y="1338803"/>
                </a:lnTo>
                <a:lnTo>
                  <a:pt x="2008" y="1262311"/>
                </a:lnTo>
                <a:lnTo>
                  <a:pt x="0" y="1185614"/>
                </a:lnTo>
                <a:lnTo>
                  <a:pt x="2008" y="1108917"/>
                </a:lnTo>
                <a:lnTo>
                  <a:pt x="8031" y="1032425"/>
                </a:lnTo>
                <a:lnTo>
                  <a:pt x="18040" y="956358"/>
                </a:lnTo>
                <a:lnTo>
                  <a:pt x="32021" y="880921"/>
                </a:lnTo>
                <a:lnTo>
                  <a:pt x="49937" y="806312"/>
                </a:lnTo>
                <a:lnTo>
                  <a:pt x="71729" y="732752"/>
                </a:lnTo>
                <a:lnTo>
                  <a:pt x="97339" y="660422"/>
                </a:lnTo>
                <a:lnTo>
                  <a:pt x="126700" y="589543"/>
                </a:lnTo>
                <a:lnTo>
                  <a:pt x="159733" y="520290"/>
                </a:lnTo>
                <a:lnTo>
                  <a:pt x="196341" y="452862"/>
                </a:lnTo>
                <a:lnTo>
                  <a:pt x="236430" y="387442"/>
                </a:lnTo>
                <a:lnTo>
                  <a:pt x="279889" y="324213"/>
                </a:lnTo>
                <a:lnTo>
                  <a:pt x="326595" y="263344"/>
                </a:lnTo>
                <a:lnTo>
                  <a:pt x="376422" y="205002"/>
                </a:lnTo>
                <a:lnTo>
                  <a:pt x="429239" y="149349"/>
                </a:lnTo>
                <a:lnTo>
                  <a:pt x="484891" y="96533"/>
                </a:lnTo>
                <a:lnTo>
                  <a:pt x="543233" y="46706"/>
                </a:lnTo>
                <a:lnTo>
                  <a:pt x="604102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94"/>
          <p:cNvSpPr/>
          <p:nvPr/>
        </p:nvSpPr>
        <p:spPr>
          <a:xfrm>
            <a:off x="2368717" y="1922626"/>
            <a:ext cx="861401" cy="1465503"/>
          </a:xfrm>
          <a:custGeom>
            <a:avLst/>
            <a:gdLst/>
            <a:ahLst/>
            <a:cxnLst/>
            <a:rect l="l" t="t" r="r" b="b"/>
            <a:pathLst>
              <a:path w="861401" h="1465503">
                <a:moveTo>
                  <a:pt x="861401" y="1465503"/>
                </a:moveTo>
                <a:lnTo>
                  <a:pt x="0" y="279889"/>
                </a:lnTo>
                <a:lnTo>
                  <a:pt x="63229" y="236430"/>
                </a:lnTo>
                <a:lnTo>
                  <a:pt x="128649" y="196341"/>
                </a:lnTo>
                <a:lnTo>
                  <a:pt x="196077" y="159733"/>
                </a:lnTo>
                <a:lnTo>
                  <a:pt x="265329" y="126700"/>
                </a:lnTo>
                <a:lnTo>
                  <a:pt x="336208" y="97339"/>
                </a:lnTo>
                <a:lnTo>
                  <a:pt x="408538" y="71729"/>
                </a:lnTo>
                <a:lnTo>
                  <a:pt x="482099" y="49937"/>
                </a:lnTo>
                <a:lnTo>
                  <a:pt x="556708" y="32021"/>
                </a:lnTo>
                <a:lnTo>
                  <a:pt x="632145" y="18040"/>
                </a:lnTo>
                <a:lnTo>
                  <a:pt x="708212" y="8031"/>
                </a:lnTo>
                <a:lnTo>
                  <a:pt x="784704" y="2008"/>
                </a:lnTo>
                <a:lnTo>
                  <a:pt x="861401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95"/>
          <p:cNvSpPr/>
          <p:nvPr/>
        </p:nvSpPr>
        <p:spPr>
          <a:xfrm flipV="1">
            <a:off x="3230118" y="1761421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96"/>
          <p:cNvSpPr/>
          <p:nvPr/>
        </p:nvSpPr>
        <p:spPr>
          <a:xfrm flipV="1">
            <a:off x="3682980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97"/>
          <p:cNvSpPr/>
          <p:nvPr/>
        </p:nvSpPr>
        <p:spPr>
          <a:xfrm flipV="1">
            <a:off x="4091519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98"/>
          <p:cNvSpPr/>
          <p:nvPr/>
        </p:nvSpPr>
        <p:spPr>
          <a:xfrm flipV="1">
            <a:off x="4415732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4-mark99"/>
          <p:cNvSpPr/>
          <p:nvPr/>
        </p:nvSpPr>
        <p:spPr>
          <a:xfrm flipV="1">
            <a:off x="4623892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100"/>
          <p:cNvSpPr/>
          <p:nvPr/>
        </p:nvSpPr>
        <p:spPr>
          <a:xfrm>
            <a:off x="4695621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101"/>
          <p:cNvSpPr/>
          <p:nvPr/>
        </p:nvSpPr>
        <p:spPr>
          <a:xfrm>
            <a:off x="4623892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102"/>
          <p:cNvSpPr/>
          <p:nvPr/>
        </p:nvSpPr>
        <p:spPr>
          <a:xfrm>
            <a:off x="4415732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103"/>
          <p:cNvSpPr/>
          <p:nvPr/>
        </p:nvSpPr>
        <p:spPr>
          <a:xfrm>
            <a:off x="4091519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4-mark104"/>
          <p:cNvSpPr/>
          <p:nvPr/>
        </p:nvSpPr>
        <p:spPr>
          <a:xfrm>
            <a:off x="3682980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105"/>
          <p:cNvSpPr/>
          <p:nvPr/>
        </p:nvSpPr>
        <p:spPr>
          <a:xfrm>
            <a:off x="3230118" y="4853632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106"/>
          <p:cNvSpPr/>
          <p:nvPr/>
        </p:nvSpPr>
        <p:spPr>
          <a:xfrm flipH="1">
            <a:off x="2750078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107"/>
          <p:cNvSpPr/>
          <p:nvPr/>
        </p:nvSpPr>
        <p:spPr>
          <a:xfrm flipH="1">
            <a:off x="2317036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108"/>
          <p:cNvSpPr/>
          <p:nvPr/>
        </p:nvSpPr>
        <p:spPr>
          <a:xfrm flipH="1">
            <a:off x="1973361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4-mark109"/>
          <p:cNvSpPr/>
          <p:nvPr/>
        </p:nvSpPr>
        <p:spPr>
          <a:xfrm flipH="1">
            <a:off x="1752715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110"/>
          <p:cNvSpPr/>
          <p:nvPr/>
        </p:nvSpPr>
        <p:spPr>
          <a:xfrm flipH="1">
            <a:off x="1603410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111"/>
          <p:cNvSpPr/>
          <p:nvPr/>
        </p:nvSpPr>
        <p:spPr>
          <a:xfrm flipH="1" flipV="1">
            <a:off x="1752715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112"/>
          <p:cNvSpPr/>
          <p:nvPr/>
        </p:nvSpPr>
        <p:spPr>
          <a:xfrm flipH="1" flipV="1">
            <a:off x="1973361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mark113"/>
          <p:cNvSpPr/>
          <p:nvPr/>
        </p:nvSpPr>
        <p:spPr>
          <a:xfrm flipH="1" flipV="1">
            <a:off x="2317036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4-mark114"/>
          <p:cNvSpPr/>
          <p:nvPr/>
        </p:nvSpPr>
        <p:spPr>
          <a:xfrm flipH="1" flipV="1">
            <a:off x="2750078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9" name="S04-label116"/>
          <p:cNvSpPr txBox="1"/>
          <p:nvPr/>
        </p:nvSpPr>
        <p:spPr>
          <a:xfrm>
            <a:off x="3631298" y="2500527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0" name="S04-label118"/>
          <p:cNvSpPr txBox="1"/>
          <p:nvPr/>
        </p:nvSpPr>
        <p:spPr>
          <a:xfrm>
            <a:off x="3306102" y="3855018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1" name="S04-label120"/>
          <p:cNvSpPr txBox="1"/>
          <p:nvPr/>
        </p:nvSpPr>
        <p:spPr>
          <a:xfrm>
            <a:off x="1985611" y="3182132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2" name="S04-label122"/>
          <p:cNvSpPr txBox="1"/>
          <p:nvPr/>
        </p:nvSpPr>
        <p:spPr>
          <a:xfrm>
            <a:off x="2607204" y="2167784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3" name="S04-label124"/>
          <p:cNvSpPr txBox="1"/>
          <p:nvPr/>
        </p:nvSpPr>
        <p:spPr>
          <a:xfrm>
            <a:off x="1680464" y="12350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200" dirty="0"/>
          </a:p>
        </p:txBody>
      </p:sp>
      <p:sp>
        <p:nvSpPr>
          <p:cNvPr id="34" name="S04-card125"/>
          <p:cNvSpPr/>
          <p:nvPr/>
        </p:nvSpPr>
        <p:spPr>
          <a:xfrm>
            <a:off x="6277356" y="175844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4-cardtext126"/>
          <p:cNvSpPr txBox="1"/>
          <p:nvPr/>
        </p:nvSpPr>
        <p:spPr>
          <a:xfrm>
            <a:off x="6551676" y="189560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전체(100 %)를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비율만큼 나눈 그래프</a:t>
            </a:r>
            <a:endParaRPr lang="ko-KR" sz="2800" dirty="0"/>
          </a:p>
        </p:txBody>
      </p:sp>
      <p:sp>
        <p:nvSpPr>
          <p:cNvPr id="36" name="S04-card127"/>
          <p:cNvSpPr/>
          <p:nvPr/>
        </p:nvSpPr>
        <p:spPr>
          <a:xfrm>
            <a:off x="6277356" y="350799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7" name="S04-cardtext128"/>
          <p:cNvSpPr txBox="1"/>
          <p:nvPr/>
        </p:nvSpPr>
        <p:spPr>
          <a:xfrm>
            <a:off x="6551676" y="364515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눈금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5 %예요.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띠그래프를 읽어요</a:t>
            </a:r>
            <a:endParaRPr lang="ko-KR" sz="4000" dirty="0"/>
          </a:p>
        </p:txBody>
      </p:sp>
      <p:sp>
        <p:nvSpPr>
          <p:cNvPr id="3" name="S05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200명이 가고 싶은 곳을 조사했어요.</a:t>
            </a:r>
            <a:endParaRPr lang="ko-KR" sz="2800" dirty="0"/>
          </a:p>
        </p:txBody>
      </p:sp>
      <p:sp>
        <p:nvSpPr>
          <p:cNvPr id="4" name="S05-card130"/>
          <p:cNvSpPr/>
          <p:nvPr/>
        </p:nvSpPr>
        <p:spPr>
          <a:xfrm>
            <a:off x="548640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131"/>
          <p:cNvSpPr txBox="1"/>
          <p:nvPr/>
        </p:nvSpPr>
        <p:spPr>
          <a:xfrm>
            <a:off x="822960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가장 많이 가고 싶은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곳과 그 비율은?</a:t>
            </a:r>
            <a:endParaRPr lang="ko-KR" sz="2800" dirty="0"/>
          </a:p>
        </p:txBody>
      </p:sp>
      <p:sp>
        <p:nvSpPr>
          <p:cNvPr id="6" name="S05-card132"/>
          <p:cNvSpPr/>
          <p:nvPr/>
        </p:nvSpPr>
        <p:spPr>
          <a:xfrm>
            <a:off x="4322064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133"/>
          <p:cNvSpPr txBox="1"/>
          <p:nvPr/>
        </p:nvSpPr>
        <p:spPr>
          <a:xfrm>
            <a:off x="4596384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과학관은 박물관의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배일까요?</a:t>
            </a:r>
            <a:endParaRPr lang="ko-KR" sz="2800" dirty="0"/>
          </a:p>
        </p:txBody>
      </p:sp>
      <p:sp>
        <p:nvSpPr>
          <p:cNvPr id="8" name="S05-card134"/>
          <p:cNvSpPr/>
          <p:nvPr/>
        </p:nvSpPr>
        <p:spPr>
          <a:xfrm>
            <a:off x="8095488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135"/>
          <p:cNvSpPr txBox="1"/>
          <p:nvPr/>
        </p:nvSpPr>
        <p:spPr>
          <a:xfrm>
            <a:off x="8369808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놀이공원에 가고 싶은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학생은 몇 명?</a:t>
            </a:r>
            <a:endParaRPr lang="ko-KR" sz="2800" dirty="0"/>
          </a:p>
        </p:txBody>
      </p:sp>
      <p:sp>
        <p:nvSpPr>
          <p:cNvPr id="10" name="S05-figure136" descr="띠그래프 ‘가고 싶은 체험 학습 장소’(200명): 과학관 40 %, 놀이공원 25 %, 박물관 20 %, 기타 15 %"/>
          <p:cNvSpPr/>
          <p:nvPr/>
        </p:nvSpPr>
        <p:spPr>
          <a:xfrm>
            <a:off x="1536560" y="2604291"/>
            <a:ext cx="3391938" cy="1102380"/>
          </a:xfrm>
          <a:custGeom>
            <a:avLst/>
            <a:gdLst/>
            <a:ahLst/>
            <a:cxnLst/>
            <a:rect l="l" t="t" r="r" b="b"/>
            <a:pathLst>
              <a:path w="3391938" h="1102380">
                <a:moveTo>
                  <a:pt x="0" y="1102380"/>
                </a:moveTo>
                <a:lnTo>
                  <a:pt x="3391938" y="1102380"/>
                </a:lnTo>
                <a:lnTo>
                  <a:pt x="3391938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mark137"/>
          <p:cNvSpPr/>
          <p:nvPr/>
        </p:nvSpPr>
        <p:spPr>
          <a:xfrm>
            <a:off x="4928497" y="2604291"/>
            <a:ext cx="2119961" cy="1102380"/>
          </a:xfrm>
          <a:custGeom>
            <a:avLst/>
            <a:gdLst/>
            <a:ahLst/>
            <a:cxnLst/>
            <a:rect l="l" t="t" r="r" b="b"/>
            <a:pathLst>
              <a:path w="2119961" h="1102380">
                <a:moveTo>
                  <a:pt x="0" y="1102380"/>
                </a:moveTo>
                <a:lnTo>
                  <a:pt x="2119961" y="1102380"/>
                </a:lnTo>
                <a:lnTo>
                  <a:pt x="2119961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mark138"/>
          <p:cNvSpPr/>
          <p:nvPr/>
        </p:nvSpPr>
        <p:spPr>
          <a:xfrm>
            <a:off x="7048458" y="2604291"/>
            <a:ext cx="1695969" cy="1102380"/>
          </a:xfrm>
          <a:custGeom>
            <a:avLst/>
            <a:gdLst/>
            <a:ahLst/>
            <a:cxnLst/>
            <a:rect l="l" t="t" r="r" b="b"/>
            <a:pathLst>
              <a:path w="1695969" h="1102380">
                <a:moveTo>
                  <a:pt x="0" y="1102380"/>
                </a:moveTo>
                <a:lnTo>
                  <a:pt x="1695969" y="1102380"/>
                </a:lnTo>
                <a:lnTo>
                  <a:pt x="16959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mark139"/>
          <p:cNvSpPr/>
          <p:nvPr/>
        </p:nvSpPr>
        <p:spPr>
          <a:xfrm>
            <a:off x="8744427" y="2604291"/>
            <a:ext cx="1271977" cy="1102380"/>
          </a:xfrm>
          <a:custGeom>
            <a:avLst/>
            <a:gdLst/>
            <a:ahLst/>
            <a:cxnLst/>
            <a:rect l="l" t="t" r="r" b="b"/>
            <a:pathLst>
              <a:path w="1271977" h="1102380">
                <a:moveTo>
                  <a:pt x="0" y="1102380"/>
                </a:moveTo>
                <a:lnTo>
                  <a:pt x="1271977" y="1102380"/>
                </a:lnTo>
                <a:lnTo>
                  <a:pt x="1271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mark140"/>
          <p:cNvSpPr/>
          <p:nvPr/>
        </p:nvSpPr>
        <p:spPr>
          <a:xfrm>
            <a:off x="1536560" y="3808429"/>
            <a:ext cx="8479844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5-mark141"/>
          <p:cNvSpPr/>
          <p:nvPr/>
        </p:nvSpPr>
        <p:spPr>
          <a:xfrm>
            <a:off x="1536560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5-mark142"/>
          <p:cNvSpPr/>
          <p:nvPr/>
        </p:nvSpPr>
        <p:spPr>
          <a:xfrm>
            <a:off x="1960552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5-mark143"/>
          <p:cNvSpPr/>
          <p:nvPr/>
        </p:nvSpPr>
        <p:spPr>
          <a:xfrm>
            <a:off x="2384544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5-mark144"/>
          <p:cNvSpPr/>
          <p:nvPr/>
        </p:nvSpPr>
        <p:spPr>
          <a:xfrm>
            <a:off x="2808536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5-mark145"/>
          <p:cNvSpPr/>
          <p:nvPr/>
        </p:nvSpPr>
        <p:spPr>
          <a:xfrm>
            <a:off x="3232529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5-mark146"/>
          <p:cNvSpPr/>
          <p:nvPr/>
        </p:nvSpPr>
        <p:spPr>
          <a:xfrm>
            <a:off x="3656521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5-mark147"/>
          <p:cNvSpPr/>
          <p:nvPr/>
        </p:nvSpPr>
        <p:spPr>
          <a:xfrm>
            <a:off x="4080513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5-mark148"/>
          <p:cNvSpPr/>
          <p:nvPr/>
        </p:nvSpPr>
        <p:spPr>
          <a:xfrm>
            <a:off x="4504505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5-mark149"/>
          <p:cNvSpPr/>
          <p:nvPr/>
        </p:nvSpPr>
        <p:spPr>
          <a:xfrm>
            <a:off x="4928497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5-mark150"/>
          <p:cNvSpPr/>
          <p:nvPr/>
        </p:nvSpPr>
        <p:spPr>
          <a:xfrm>
            <a:off x="5352490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5-mark151"/>
          <p:cNvSpPr/>
          <p:nvPr/>
        </p:nvSpPr>
        <p:spPr>
          <a:xfrm>
            <a:off x="5776482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5-mark152"/>
          <p:cNvSpPr/>
          <p:nvPr/>
        </p:nvSpPr>
        <p:spPr>
          <a:xfrm>
            <a:off x="6200474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5-mark153"/>
          <p:cNvSpPr/>
          <p:nvPr/>
        </p:nvSpPr>
        <p:spPr>
          <a:xfrm>
            <a:off x="6624466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5-mark154"/>
          <p:cNvSpPr/>
          <p:nvPr/>
        </p:nvSpPr>
        <p:spPr>
          <a:xfrm>
            <a:off x="7048458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5-mark155"/>
          <p:cNvSpPr/>
          <p:nvPr/>
        </p:nvSpPr>
        <p:spPr>
          <a:xfrm>
            <a:off x="7472451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5-mark156"/>
          <p:cNvSpPr/>
          <p:nvPr/>
        </p:nvSpPr>
        <p:spPr>
          <a:xfrm>
            <a:off x="7896443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5-mark157"/>
          <p:cNvSpPr/>
          <p:nvPr/>
        </p:nvSpPr>
        <p:spPr>
          <a:xfrm>
            <a:off x="8320435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5-mark158"/>
          <p:cNvSpPr/>
          <p:nvPr/>
        </p:nvSpPr>
        <p:spPr>
          <a:xfrm>
            <a:off x="8744427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5-mark159"/>
          <p:cNvSpPr/>
          <p:nvPr/>
        </p:nvSpPr>
        <p:spPr>
          <a:xfrm>
            <a:off x="9168420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5-mark160"/>
          <p:cNvSpPr/>
          <p:nvPr/>
        </p:nvSpPr>
        <p:spPr>
          <a:xfrm>
            <a:off x="9592412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5-mark161"/>
          <p:cNvSpPr/>
          <p:nvPr/>
        </p:nvSpPr>
        <p:spPr>
          <a:xfrm>
            <a:off x="10016404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6" name="S05-label163"/>
          <p:cNvSpPr txBox="1"/>
          <p:nvPr/>
        </p:nvSpPr>
        <p:spPr>
          <a:xfrm>
            <a:off x="2766947" y="2806231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37" name="S05-label165"/>
          <p:cNvSpPr txBox="1"/>
          <p:nvPr/>
        </p:nvSpPr>
        <p:spPr>
          <a:xfrm>
            <a:off x="5385990" y="2806231"/>
            <a:ext cx="120497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8" name="S05-label167"/>
          <p:cNvSpPr txBox="1"/>
          <p:nvPr/>
        </p:nvSpPr>
        <p:spPr>
          <a:xfrm>
            <a:off x="7430861" y="2806231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박물관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9" name="S05-label169"/>
          <p:cNvSpPr txBox="1"/>
          <p:nvPr/>
        </p:nvSpPr>
        <p:spPr>
          <a:xfrm>
            <a:off x="9040564" y="280623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40" name="S05-label171"/>
          <p:cNvSpPr txBox="1"/>
          <p:nvPr/>
        </p:nvSpPr>
        <p:spPr>
          <a:xfrm>
            <a:off x="1389494" y="410019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1" name="S05-label173"/>
          <p:cNvSpPr txBox="1"/>
          <p:nvPr/>
        </p:nvSpPr>
        <p:spPr>
          <a:xfrm>
            <a:off x="2145276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2" name="S05-label175"/>
          <p:cNvSpPr txBox="1"/>
          <p:nvPr/>
        </p:nvSpPr>
        <p:spPr>
          <a:xfrm>
            <a:off x="2993261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3" name="S05-label177"/>
          <p:cNvSpPr txBox="1"/>
          <p:nvPr/>
        </p:nvSpPr>
        <p:spPr>
          <a:xfrm>
            <a:off x="3841245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4" name="S05-label179"/>
          <p:cNvSpPr txBox="1"/>
          <p:nvPr/>
        </p:nvSpPr>
        <p:spPr>
          <a:xfrm>
            <a:off x="4689229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5" name="S05-label181"/>
          <p:cNvSpPr txBox="1"/>
          <p:nvPr/>
        </p:nvSpPr>
        <p:spPr>
          <a:xfrm>
            <a:off x="5537214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6" name="S05-label183"/>
          <p:cNvSpPr txBox="1"/>
          <p:nvPr/>
        </p:nvSpPr>
        <p:spPr>
          <a:xfrm>
            <a:off x="6385198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7" name="S05-label185"/>
          <p:cNvSpPr txBox="1"/>
          <p:nvPr/>
        </p:nvSpPr>
        <p:spPr>
          <a:xfrm>
            <a:off x="7233183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8" name="S05-label187"/>
          <p:cNvSpPr txBox="1"/>
          <p:nvPr/>
        </p:nvSpPr>
        <p:spPr>
          <a:xfrm>
            <a:off x="8081167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9" name="S05-label189"/>
          <p:cNvSpPr txBox="1"/>
          <p:nvPr/>
        </p:nvSpPr>
        <p:spPr>
          <a:xfrm>
            <a:off x="8929152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50" name="S05-label191"/>
          <p:cNvSpPr txBox="1"/>
          <p:nvPr/>
        </p:nvSpPr>
        <p:spPr>
          <a:xfrm>
            <a:off x="9684934" y="4100195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1" name="S05-label193"/>
          <p:cNvSpPr txBox="1"/>
          <p:nvPr/>
        </p:nvSpPr>
        <p:spPr>
          <a:xfrm>
            <a:off x="10371214" y="4100195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2" name="S05-label195"/>
          <p:cNvSpPr txBox="1"/>
          <p:nvPr/>
        </p:nvSpPr>
        <p:spPr>
          <a:xfrm>
            <a:off x="4184918" y="1920875"/>
            <a:ext cx="318312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가고 싶은 체험 학습 장소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몇 %일까요?</a:t>
            </a:r>
            <a:endParaRPr lang="ko-KR" sz="4000" dirty="0"/>
          </a:p>
        </p:txBody>
      </p:sp>
      <p:sp>
        <p:nvSpPr>
          <p:cNvPr id="3" name="S06-card1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띠에서 역사 칸의 길이를 봐요.</a:t>
            </a:r>
            <a:endParaRPr lang="ko-KR" sz="2800" dirty="0"/>
          </a:p>
        </p:txBody>
      </p:sp>
      <p:sp>
        <p:nvSpPr>
          <p:cNvPr id="5" name="S06-card198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99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75 %예요.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눈금에서 끝나요.</a:t>
            </a:r>
            <a:endParaRPr lang="ko-KR" sz="2800" dirty="0"/>
          </a:p>
        </p:txBody>
      </p:sp>
      <p:sp>
        <p:nvSpPr>
          <p:cNvPr id="7" name="S06-card200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201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15 %예요.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75 − 60 = 15</a:t>
            </a:r>
            <a:endParaRPr lang="ko-KR" sz="2800" dirty="0"/>
          </a:p>
        </p:txBody>
      </p:sp>
      <p:sp>
        <p:nvSpPr>
          <p:cNvPr id="9" name="S06-figure202" descr="띠그래프 ‘학급 문고 책의 종류’(백분율 없이 이름만): 동화 0~35, 과학 35~60, 역사 60~75, 기타 75~100. 아래에 10 %마다 눈금"/>
          <p:cNvSpPr/>
          <p:nvPr/>
        </p:nvSpPr>
        <p:spPr>
          <a:xfrm>
            <a:off x="2167656" y="1848043"/>
            <a:ext cx="2556999" cy="949743"/>
          </a:xfrm>
          <a:custGeom>
            <a:avLst/>
            <a:gdLst/>
            <a:ahLst/>
            <a:cxnLst/>
            <a:rect l="l" t="t" r="r" b="b"/>
            <a:pathLst>
              <a:path w="2556999" h="949743">
                <a:moveTo>
                  <a:pt x="0" y="949743"/>
                </a:moveTo>
                <a:lnTo>
                  <a:pt x="2556999" y="949743"/>
                </a:lnTo>
                <a:lnTo>
                  <a:pt x="25569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mark203"/>
          <p:cNvSpPr/>
          <p:nvPr/>
        </p:nvSpPr>
        <p:spPr>
          <a:xfrm>
            <a:off x="4724655" y="1848043"/>
            <a:ext cx="1826428" cy="949743"/>
          </a:xfrm>
          <a:custGeom>
            <a:avLst/>
            <a:gdLst/>
            <a:ahLst/>
            <a:cxnLst/>
            <a:rect l="l" t="t" r="r" b="b"/>
            <a:pathLst>
              <a:path w="1826428" h="949743">
                <a:moveTo>
                  <a:pt x="0" y="949743"/>
                </a:moveTo>
                <a:lnTo>
                  <a:pt x="1826428" y="949743"/>
                </a:lnTo>
                <a:lnTo>
                  <a:pt x="1826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204"/>
          <p:cNvSpPr/>
          <p:nvPr/>
        </p:nvSpPr>
        <p:spPr>
          <a:xfrm>
            <a:off x="6551083" y="1848043"/>
            <a:ext cx="1095857" cy="949743"/>
          </a:xfrm>
          <a:custGeom>
            <a:avLst/>
            <a:gdLst/>
            <a:ahLst/>
            <a:cxnLst/>
            <a:rect l="l" t="t" r="r" b="b"/>
            <a:pathLst>
              <a:path w="1095857" h="949743">
                <a:moveTo>
                  <a:pt x="0" y="949743"/>
                </a:moveTo>
                <a:lnTo>
                  <a:pt x="1095857" y="949743"/>
                </a:lnTo>
                <a:lnTo>
                  <a:pt x="1095857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205"/>
          <p:cNvSpPr/>
          <p:nvPr/>
        </p:nvSpPr>
        <p:spPr>
          <a:xfrm>
            <a:off x="7646940" y="1848043"/>
            <a:ext cx="1826428" cy="949743"/>
          </a:xfrm>
          <a:custGeom>
            <a:avLst/>
            <a:gdLst/>
            <a:ahLst/>
            <a:cxnLst/>
            <a:rect l="l" t="t" r="r" b="b"/>
            <a:pathLst>
              <a:path w="1826428" h="949743">
                <a:moveTo>
                  <a:pt x="0" y="949743"/>
                </a:moveTo>
                <a:lnTo>
                  <a:pt x="1826428" y="949743"/>
                </a:lnTo>
                <a:lnTo>
                  <a:pt x="1826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206"/>
          <p:cNvSpPr/>
          <p:nvPr/>
        </p:nvSpPr>
        <p:spPr>
          <a:xfrm>
            <a:off x="2167656" y="2885454"/>
            <a:ext cx="7305712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6-mark207"/>
          <p:cNvSpPr/>
          <p:nvPr/>
        </p:nvSpPr>
        <p:spPr>
          <a:xfrm>
            <a:off x="2167656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6-mark208"/>
          <p:cNvSpPr/>
          <p:nvPr/>
        </p:nvSpPr>
        <p:spPr>
          <a:xfrm>
            <a:off x="2532941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6-mark209"/>
          <p:cNvSpPr/>
          <p:nvPr/>
        </p:nvSpPr>
        <p:spPr>
          <a:xfrm>
            <a:off x="2898227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6-mark210"/>
          <p:cNvSpPr/>
          <p:nvPr/>
        </p:nvSpPr>
        <p:spPr>
          <a:xfrm>
            <a:off x="3263513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6-mark211"/>
          <p:cNvSpPr/>
          <p:nvPr/>
        </p:nvSpPr>
        <p:spPr>
          <a:xfrm>
            <a:off x="3628798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6-mark212"/>
          <p:cNvSpPr/>
          <p:nvPr/>
        </p:nvSpPr>
        <p:spPr>
          <a:xfrm>
            <a:off x="3994084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6-mark213"/>
          <p:cNvSpPr/>
          <p:nvPr/>
        </p:nvSpPr>
        <p:spPr>
          <a:xfrm>
            <a:off x="4359369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6-mark214"/>
          <p:cNvSpPr/>
          <p:nvPr/>
        </p:nvSpPr>
        <p:spPr>
          <a:xfrm>
            <a:off x="4724655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6-mark215"/>
          <p:cNvSpPr/>
          <p:nvPr/>
        </p:nvSpPr>
        <p:spPr>
          <a:xfrm>
            <a:off x="5089941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6-mark216"/>
          <p:cNvSpPr/>
          <p:nvPr/>
        </p:nvSpPr>
        <p:spPr>
          <a:xfrm>
            <a:off x="5455226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6-mark217"/>
          <p:cNvSpPr/>
          <p:nvPr/>
        </p:nvSpPr>
        <p:spPr>
          <a:xfrm>
            <a:off x="5820512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6-mark218"/>
          <p:cNvSpPr/>
          <p:nvPr/>
        </p:nvSpPr>
        <p:spPr>
          <a:xfrm>
            <a:off x="6185797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6-mark219"/>
          <p:cNvSpPr/>
          <p:nvPr/>
        </p:nvSpPr>
        <p:spPr>
          <a:xfrm>
            <a:off x="6551083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6-mark220"/>
          <p:cNvSpPr/>
          <p:nvPr/>
        </p:nvSpPr>
        <p:spPr>
          <a:xfrm>
            <a:off x="6916369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6-mark221"/>
          <p:cNvSpPr/>
          <p:nvPr/>
        </p:nvSpPr>
        <p:spPr>
          <a:xfrm>
            <a:off x="7281654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6-mark222"/>
          <p:cNvSpPr/>
          <p:nvPr/>
        </p:nvSpPr>
        <p:spPr>
          <a:xfrm>
            <a:off x="7646940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6-mark223"/>
          <p:cNvSpPr/>
          <p:nvPr/>
        </p:nvSpPr>
        <p:spPr>
          <a:xfrm>
            <a:off x="8012225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6-mark224"/>
          <p:cNvSpPr/>
          <p:nvPr/>
        </p:nvSpPr>
        <p:spPr>
          <a:xfrm>
            <a:off x="8377511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6-mark225"/>
          <p:cNvSpPr/>
          <p:nvPr/>
        </p:nvSpPr>
        <p:spPr>
          <a:xfrm>
            <a:off x="8742797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6-mark226"/>
          <p:cNvSpPr/>
          <p:nvPr/>
        </p:nvSpPr>
        <p:spPr>
          <a:xfrm>
            <a:off x="9108082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6-mark227"/>
          <p:cNvSpPr/>
          <p:nvPr/>
        </p:nvSpPr>
        <p:spPr>
          <a:xfrm>
            <a:off x="9473368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6-label229"/>
          <p:cNvSpPr txBox="1"/>
          <p:nvPr/>
        </p:nvSpPr>
        <p:spPr>
          <a:xfrm>
            <a:off x="3117479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동화</a:t>
            </a:r>
            <a:endParaRPr lang="ko-KR" sz="2200" dirty="0"/>
          </a:p>
        </p:txBody>
      </p:sp>
      <p:sp>
        <p:nvSpPr>
          <p:cNvPr id="36" name="S06-label231"/>
          <p:cNvSpPr txBox="1"/>
          <p:nvPr/>
        </p:nvSpPr>
        <p:spPr>
          <a:xfrm>
            <a:off x="5309193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</a:t>
            </a:r>
            <a:endParaRPr lang="ko-KR" sz="2200" dirty="0"/>
          </a:p>
        </p:txBody>
      </p:sp>
      <p:sp>
        <p:nvSpPr>
          <p:cNvPr id="37" name="S06-label233"/>
          <p:cNvSpPr txBox="1"/>
          <p:nvPr/>
        </p:nvSpPr>
        <p:spPr>
          <a:xfrm>
            <a:off x="6770335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</a:t>
            </a:r>
            <a:endParaRPr lang="ko-KR" sz="2200" dirty="0"/>
          </a:p>
        </p:txBody>
      </p:sp>
      <p:sp>
        <p:nvSpPr>
          <p:cNvPr id="38" name="S06-label235"/>
          <p:cNvSpPr txBox="1"/>
          <p:nvPr/>
        </p:nvSpPr>
        <p:spPr>
          <a:xfrm>
            <a:off x="8231478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</p:txBody>
      </p:sp>
      <p:sp>
        <p:nvSpPr>
          <p:cNvPr id="39" name="S06-label237"/>
          <p:cNvSpPr txBox="1"/>
          <p:nvPr/>
        </p:nvSpPr>
        <p:spPr>
          <a:xfrm>
            <a:off x="2020590" y="311264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0" name="S06-label239"/>
          <p:cNvSpPr txBox="1"/>
          <p:nvPr/>
        </p:nvSpPr>
        <p:spPr>
          <a:xfrm>
            <a:off x="265895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1" name="S06-label241"/>
          <p:cNvSpPr txBox="1"/>
          <p:nvPr/>
        </p:nvSpPr>
        <p:spPr>
          <a:xfrm>
            <a:off x="3389530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2" name="S06-label243"/>
          <p:cNvSpPr txBox="1"/>
          <p:nvPr/>
        </p:nvSpPr>
        <p:spPr>
          <a:xfrm>
            <a:off x="4120101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3" name="S06-label245"/>
          <p:cNvSpPr txBox="1"/>
          <p:nvPr/>
        </p:nvSpPr>
        <p:spPr>
          <a:xfrm>
            <a:off x="4850673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4" name="S06-label247"/>
          <p:cNvSpPr txBox="1"/>
          <p:nvPr/>
        </p:nvSpPr>
        <p:spPr>
          <a:xfrm>
            <a:off x="5581244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5" name="S06-label249"/>
          <p:cNvSpPr txBox="1"/>
          <p:nvPr/>
        </p:nvSpPr>
        <p:spPr>
          <a:xfrm>
            <a:off x="6311815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6" name="S06-label251"/>
          <p:cNvSpPr txBox="1"/>
          <p:nvPr/>
        </p:nvSpPr>
        <p:spPr>
          <a:xfrm>
            <a:off x="7042386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7" name="S06-label253"/>
          <p:cNvSpPr txBox="1"/>
          <p:nvPr/>
        </p:nvSpPr>
        <p:spPr>
          <a:xfrm>
            <a:off x="7772957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8" name="S06-label255"/>
          <p:cNvSpPr txBox="1"/>
          <p:nvPr/>
        </p:nvSpPr>
        <p:spPr>
          <a:xfrm>
            <a:off x="850352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49" name="S06-label257"/>
          <p:cNvSpPr txBox="1"/>
          <p:nvPr/>
        </p:nvSpPr>
        <p:spPr>
          <a:xfrm>
            <a:off x="9141898" y="3112643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0" name="S06-label259"/>
          <p:cNvSpPr txBox="1"/>
          <p:nvPr/>
        </p:nvSpPr>
        <p:spPr>
          <a:xfrm>
            <a:off x="9740118" y="3112643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1" name="S06-label261"/>
          <p:cNvSpPr txBox="1"/>
          <p:nvPr/>
        </p:nvSpPr>
        <p:spPr>
          <a:xfrm>
            <a:off x="4544670" y="1235075"/>
            <a:ext cx="25516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 책의 종류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백분율을 구해요</a:t>
            </a:r>
            <a:endParaRPr lang="ko-KR" sz="4000" dirty="0"/>
          </a:p>
        </p:txBody>
      </p:sp>
      <p:sp>
        <p:nvSpPr>
          <p:cNvPr id="3" name="S07-text2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 20명이 좋아하는 운동이에요.</a:t>
            </a:r>
            <a:endParaRPr lang="ko-KR" sz="2800" dirty="0"/>
          </a:p>
        </p:txBody>
      </p:sp>
      <p:sp>
        <p:nvSpPr>
          <p:cNvPr id="4" name="S07-card263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64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학생 수 ÷ 전체 학생 수 × 100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축구: 7 ÷ 20 × 100 = 35 (%)</a:t>
            </a:r>
            <a:endParaRPr lang="ko-KR" sz="2800" dirty="0"/>
          </a:p>
        </p:txBody>
      </p:sp>
      <p:graphicFrame>
        <p:nvGraphicFramePr>
          <p:cNvPr id="8" name="S07-table2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83688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1591056"/>
                <a:gridCol w="1591056"/>
                <a:gridCol w="1697126"/>
                <a:gridCol w="1591056"/>
                <a:gridCol w="1591056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피구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백분율(%)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원그래프로 나타내요</a:t>
            </a:r>
            <a:endParaRPr lang="ko-KR" sz="4000" dirty="0"/>
          </a:p>
        </p:txBody>
      </p:sp>
      <p:sp>
        <p:nvSpPr>
          <p:cNvPr id="3" name="S08-card2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띠그래프도 같은 순서로 그려요.</a:t>
            </a:r>
            <a:endParaRPr lang="ko-KR" sz="2800" dirty="0"/>
          </a:p>
        </p:txBody>
      </p:sp>
      <p:sp>
        <p:nvSpPr>
          <p:cNvPr id="5" name="S08-figure268" descr="원그래프 ‘좋아하는 운동별 학생 수’: 위에서 시계 방향으로 축구 35 %, 피구 30 %, 줄넘기 20 %, 수영 15 %. 둘레에 5 %마다 눈금"/>
          <p:cNvSpPr/>
          <p:nvPr/>
        </p:nvSpPr>
        <p:spPr>
          <a:xfrm>
            <a:off x="9119723" y="1922626"/>
            <a:ext cx="1465503" cy="2326904"/>
          </a:xfrm>
          <a:custGeom>
            <a:avLst/>
            <a:gdLst/>
            <a:ahLst/>
            <a:cxnLst/>
            <a:rect l="l" t="t" r="r" b="b"/>
            <a:pathLst>
              <a:path w="1465503" h="2326904">
                <a:moveTo>
                  <a:pt x="0" y="1465503"/>
                </a:moveTo>
                <a:lnTo>
                  <a:pt x="0" y="0"/>
                </a:lnTo>
                <a:lnTo>
                  <a:pt x="76697" y="2008"/>
                </a:lnTo>
                <a:lnTo>
                  <a:pt x="153189" y="8031"/>
                </a:lnTo>
                <a:lnTo>
                  <a:pt x="229256" y="18040"/>
                </a:lnTo>
                <a:lnTo>
                  <a:pt x="304693" y="32021"/>
                </a:lnTo>
                <a:lnTo>
                  <a:pt x="379301" y="49937"/>
                </a:lnTo>
                <a:lnTo>
                  <a:pt x="452862" y="71729"/>
                </a:lnTo>
                <a:lnTo>
                  <a:pt x="525192" y="97339"/>
                </a:lnTo>
                <a:lnTo>
                  <a:pt x="596071" y="126700"/>
                </a:lnTo>
                <a:lnTo>
                  <a:pt x="665324" y="159733"/>
                </a:lnTo>
                <a:lnTo>
                  <a:pt x="732752" y="196341"/>
                </a:lnTo>
                <a:lnTo>
                  <a:pt x="798172" y="236430"/>
                </a:lnTo>
                <a:lnTo>
                  <a:pt x="861401" y="279889"/>
                </a:lnTo>
                <a:lnTo>
                  <a:pt x="922270" y="326595"/>
                </a:lnTo>
                <a:lnTo>
                  <a:pt x="980612" y="376422"/>
                </a:lnTo>
                <a:lnTo>
                  <a:pt x="1036265" y="429239"/>
                </a:lnTo>
                <a:lnTo>
                  <a:pt x="1089081" y="484891"/>
                </a:lnTo>
                <a:lnTo>
                  <a:pt x="1138908" y="543233"/>
                </a:lnTo>
                <a:lnTo>
                  <a:pt x="1185614" y="604102"/>
                </a:lnTo>
                <a:lnTo>
                  <a:pt x="1229073" y="667331"/>
                </a:lnTo>
                <a:lnTo>
                  <a:pt x="1269162" y="732752"/>
                </a:lnTo>
                <a:lnTo>
                  <a:pt x="1305771" y="800179"/>
                </a:lnTo>
                <a:lnTo>
                  <a:pt x="1338803" y="869432"/>
                </a:lnTo>
                <a:lnTo>
                  <a:pt x="1368164" y="940311"/>
                </a:lnTo>
                <a:lnTo>
                  <a:pt x="1393774" y="1012641"/>
                </a:lnTo>
                <a:lnTo>
                  <a:pt x="1415566" y="1086202"/>
                </a:lnTo>
                <a:lnTo>
                  <a:pt x="1433482" y="1160810"/>
                </a:lnTo>
                <a:lnTo>
                  <a:pt x="1447463" y="1236247"/>
                </a:lnTo>
                <a:lnTo>
                  <a:pt x="1457472" y="1312314"/>
                </a:lnTo>
                <a:lnTo>
                  <a:pt x="1463495" y="1388806"/>
                </a:lnTo>
                <a:lnTo>
                  <a:pt x="1465503" y="1465503"/>
                </a:lnTo>
                <a:lnTo>
                  <a:pt x="1463495" y="1542200"/>
                </a:lnTo>
                <a:lnTo>
                  <a:pt x="1457472" y="1618692"/>
                </a:lnTo>
                <a:lnTo>
                  <a:pt x="1447463" y="1694759"/>
                </a:lnTo>
                <a:lnTo>
                  <a:pt x="1433482" y="1770196"/>
                </a:lnTo>
                <a:lnTo>
                  <a:pt x="1415566" y="1844805"/>
                </a:lnTo>
                <a:lnTo>
                  <a:pt x="1393774" y="1918365"/>
                </a:lnTo>
                <a:lnTo>
                  <a:pt x="1368164" y="1990695"/>
                </a:lnTo>
                <a:lnTo>
                  <a:pt x="1338803" y="2061574"/>
                </a:lnTo>
                <a:lnTo>
                  <a:pt x="1305771" y="2130827"/>
                </a:lnTo>
                <a:lnTo>
                  <a:pt x="1269162" y="2198255"/>
                </a:lnTo>
                <a:lnTo>
                  <a:pt x="1229073" y="2263675"/>
                </a:lnTo>
                <a:lnTo>
                  <a:pt x="1185614" y="2326904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mark269"/>
          <p:cNvSpPr/>
          <p:nvPr/>
        </p:nvSpPr>
        <p:spPr>
          <a:xfrm>
            <a:off x="7934109" y="3388129"/>
            <a:ext cx="2371228" cy="1465503"/>
          </a:xfrm>
          <a:custGeom>
            <a:avLst/>
            <a:gdLst/>
            <a:ahLst/>
            <a:cxnLst/>
            <a:rect l="l" t="t" r="r" b="b"/>
            <a:pathLst>
              <a:path w="2371228" h="1465503">
                <a:moveTo>
                  <a:pt x="1185614" y="0"/>
                </a:moveTo>
                <a:lnTo>
                  <a:pt x="2371228" y="861401"/>
                </a:lnTo>
                <a:lnTo>
                  <a:pt x="2324522" y="922270"/>
                </a:lnTo>
                <a:lnTo>
                  <a:pt x="2274695" y="980612"/>
                </a:lnTo>
                <a:lnTo>
                  <a:pt x="2221878" y="1036265"/>
                </a:lnTo>
                <a:lnTo>
                  <a:pt x="2166226" y="1089081"/>
                </a:lnTo>
                <a:lnTo>
                  <a:pt x="2107884" y="1138908"/>
                </a:lnTo>
                <a:lnTo>
                  <a:pt x="2047015" y="1185614"/>
                </a:lnTo>
                <a:lnTo>
                  <a:pt x="1983786" y="1229073"/>
                </a:lnTo>
                <a:lnTo>
                  <a:pt x="1918365" y="1269162"/>
                </a:lnTo>
                <a:lnTo>
                  <a:pt x="1850938" y="1305771"/>
                </a:lnTo>
                <a:lnTo>
                  <a:pt x="1781685" y="1338803"/>
                </a:lnTo>
                <a:lnTo>
                  <a:pt x="1710806" y="1368164"/>
                </a:lnTo>
                <a:lnTo>
                  <a:pt x="1638476" y="1393774"/>
                </a:lnTo>
                <a:lnTo>
                  <a:pt x="1564915" y="1415566"/>
                </a:lnTo>
                <a:lnTo>
                  <a:pt x="1490307" y="1433482"/>
                </a:lnTo>
                <a:lnTo>
                  <a:pt x="1414870" y="1447463"/>
                </a:lnTo>
                <a:lnTo>
                  <a:pt x="1338803" y="1457472"/>
                </a:lnTo>
                <a:lnTo>
                  <a:pt x="1262311" y="1463495"/>
                </a:lnTo>
                <a:lnTo>
                  <a:pt x="1185614" y="1465503"/>
                </a:lnTo>
                <a:lnTo>
                  <a:pt x="1108917" y="1463495"/>
                </a:lnTo>
                <a:lnTo>
                  <a:pt x="1032425" y="1457472"/>
                </a:lnTo>
                <a:lnTo>
                  <a:pt x="956358" y="1447463"/>
                </a:lnTo>
                <a:lnTo>
                  <a:pt x="880921" y="1433482"/>
                </a:lnTo>
                <a:lnTo>
                  <a:pt x="806312" y="1415566"/>
                </a:lnTo>
                <a:lnTo>
                  <a:pt x="732752" y="1393774"/>
                </a:lnTo>
                <a:lnTo>
                  <a:pt x="660422" y="1368164"/>
                </a:lnTo>
                <a:lnTo>
                  <a:pt x="589543" y="1338803"/>
                </a:lnTo>
                <a:lnTo>
                  <a:pt x="520290" y="1305771"/>
                </a:lnTo>
                <a:lnTo>
                  <a:pt x="452862" y="1269162"/>
                </a:lnTo>
                <a:lnTo>
                  <a:pt x="387442" y="1229073"/>
                </a:lnTo>
                <a:lnTo>
                  <a:pt x="324213" y="1185614"/>
                </a:lnTo>
                <a:lnTo>
                  <a:pt x="263344" y="1138908"/>
                </a:lnTo>
                <a:lnTo>
                  <a:pt x="205002" y="1089081"/>
                </a:lnTo>
                <a:lnTo>
                  <a:pt x="149349" y="1036265"/>
                </a:lnTo>
                <a:lnTo>
                  <a:pt x="96533" y="980612"/>
                </a:lnTo>
                <a:lnTo>
                  <a:pt x="46706" y="922270"/>
                </a:lnTo>
                <a:lnTo>
                  <a:pt x="0" y="861401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270"/>
          <p:cNvSpPr/>
          <p:nvPr/>
        </p:nvSpPr>
        <p:spPr>
          <a:xfrm>
            <a:off x="7654220" y="2526728"/>
            <a:ext cx="1465503" cy="1722801"/>
          </a:xfrm>
          <a:custGeom>
            <a:avLst/>
            <a:gdLst/>
            <a:ahLst/>
            <a:cxnLst/>
            <a:rect l="l" t="t" r="r" b="b"/>
            <a:pathLst>
              <a:path w="1465503" h="1722801">
                <a:moveTo>
                  <a:pt x="1465503" y="861401"/>
                </a:moveTo>
                <a:lnTo>
                  <a:pt x="279889" y="1722801"/>
                </a:lnTo>
                <a:lnTo>
                  <a:pt x="236430" y="1659572"/>
                </a:lnTo>
                <a:lnTo>
                  <a:pt x="196341" y="1594152"/>
                </a:lnTo>
                <a:lnTo>
                  <a:pt x="159733" y="1526724"/>
                </a:lnTo>
                <a:lnTo>
                  <a:pt x="126700" y="1457472"/>
                </a:lnTo>
                <a:lnTo>
                  <a:pt x="97339" y="1386593"/>
                </a:lnTo>
                <a:lnTo>
                  <a:pt x="71729" y="1314263"/>
                </a:lnTo>
                <a:lnTo>
                  <a:pt x="49937" y="1240702"/>
                </a:lnTo>
                <a:lnTo>
                  <a:pt x="32021" y="1166093"/>
                </a:lnTo>
                <a:lnTo>
                  <a:pt x="18040" y="1090657"/>
                </a:lnTo>
                <a:lnTo>
                  <a:pt x="8031" y="1014590"/>
                </a:lnTo>
                <a:lnTo>
                  <a:pt x="2008" y="938098"/>
                </a:lnTo>
                <a:lnTo>
                  <a:pt x="0" y="861401"/>
                </a:lnTo>
                <a:lnTo>
                  <a:pt x="2008" y="784704"/>
                </a:lnTo>
                <a:lnTo>
                  <a:pt x="8031" y="708212"/>
                </a:lnTo>
                <a:lnTo>
                  <a:pt x="18040" y="632145"/>
                </a:lnTo>
                <a:lnTo>
                  <a:pt x="32021" y="556708"/>
                </a:lnTo>
                <a:lnTo>
                  <a:pt x="49937" y="482099"/>
                </a:lnTo>
                <a:lnTo>
                  <a:pt x="71729" y="408538"/>
                </a:lnTo>
                <a:lnTo>
                  <a:pt x="97339" y="336208"/>
                </a:lnTo>
                <a:lnTo>
                  <a:pt x="126700" y="265329"/>
                </a:lnTo>
                <a:lnTo>
                  <a:pt x="159733" y="196077"/>
                </a:lnTo>
                <a:lnTo>
                  <a:pt x="196341" y="128649"/>
                </a:lnTo>
                <a:lnTo>
                  <a:pt x="236430" y="63229"/>
                </a:lnTo>
                <a:lnTo>
                  <a:pt x="279889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71"/>
          <p:cNvSpPr/>
          <p:nvPr/>
        </p:nvSpPr>
        <p:spPr>
          <a:xfrm>
            <a:off x="7934109" y="1922626"/>
            <a:ext cx="1185614" cy="1465503"/>
          </a:xfrm>
          <a:custGeom>
            <a:avLst/>
            <a:gdLst/>
            <a:ahLst/>
            <a:cxnLst/>
            <a:rect l="l" t="t" r="r" b="b"/>
            <a:pathLst>
              <a:path w="1185614" h="1465503">
                <a:moveTo>
                  <a:pt x="1185614" y="1465503"/>
                </a:moveTo>
                <a:lnTo>
                  <a:pt x="0" y="604102"/>
                </a:lnTo>
                <a:lnTo>
                  <a:pt x="46706" y="543233"/>
                </a:lnTo>
                <a:lnTo>
                  <a:pt x="96533" y="484891"/>
                </a:lnTo>
                <a:lnTo>
                  <a:pt x="149349" y="429239"/>
                </a:lnTo>
                <a:lnTo>
                  <a:pt x="205002" y="376422"/>
                </a:lnTo>
                <a:lnTo>
                  <a:pt x="263344" y="326595"/>
                </a:lnTo>
                <a:lnTo>
                  <a:pt x="324213" y="279889"/>
                </a:lnTo>
                <a:lnTo>
                  <a:pt x="387442" y="236430"/>
                </a:lnTo>
                <a:lnTo>
                  <a:pt x="452862" y="196341"/>
                </a:lnTo>
                <a:lnTo>
                  <a:pt x="520290" y="159733"/>
                </a:lnTo>
                <a:lnTo>
                  <a:pt x="589543" y="126700"/>
                </a:lnTo>
                <a:lnTo>
                  <a:pt x="660422" y="97339"/>
                </a:lnTo>
                <a:lnTo>
                  <a:pt x="732752" y="71729"/>
                </a:lnTo>
                <a:lnTo>
                  <a:pt x="806312" y="49937"/>
                </a:lnTo>
                <a:lnTo>
                  <a:pt x="880921" y="32021"/>
                </a:lnTo>
                <a:lnTo>
                  <a:pt x="956358" y="18040"/>
                </a:lnTo>
                <a:lnTo>
                  <a:pt x="1032425" y="8031"/>
                </a:lnTo>
                <a:lnTo>
                  <a:pt x="1108917" y="2008"/>
                </a:lnTo>
                <a:lnTo>
                  <a:pt x="1185614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272"/>
          <p:cNvSpPr/>
          <p:nvPr/>
        </p:nvSpPr>
        <p:spPr>
          <a:xfrm flipV="1">
            <a:off x="9119723" y="1761421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8-mark273"/>
          <p:cNvSpPr/>
          <p:nvPr/>
        </p:nvSpPr>
        <p:spPr>
          <a:xfrm flipV="1">
            <a:off x="9572585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8-mark274"/>
          <p:cNvSpPr/>
          <p:nvPr/>
        </p:nvSpPr>
        <p:spPr>
          <a:xfrm flipV="1">
            <a:off x="9981123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8-mark275"/>
          <p:cNvSpPr/>
          <p:nvPr/>
        </p:nvSpPr>
        <p:spPr>
          <a:xfrm flipV="1">
            <a:off x="10305337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8-mark276"/>
          <p:cNvSpPr/>
          <p:nvPr/>
        </p:nvSpPr>
        <p:spPr>
          <a:xfrm flipV="1">
            <a:off x="10513497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8-mark277"/>
          <p:cNvSpPr/>
          <p:nvPr/>
        </p:nvSpPr>
        <p:spPr>
          <a:xfrm>
            <a:off x="10585226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8-mark278"/>
          <p:cNvSpPr/>
          <p:nvPr/>
        </p:nvSpPr>
        <p:spPr>
          <a:xfrm>
            <a:off x="10513497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8-mark279"/>
          <p:cNvSpPr/>
          <p:nvPr/>
        </p:nvSpPr>
        <p:spPr>
          <a:xfrm>
            <a:off x="10305337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8-mark280"/>
          <p:cNvSpPr/>
          <p:nvPr/>
        </p:nvSpPr>
        <p:spPr>
          <a:xfrm>
            <a:off x="9981123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8-mark281"/>
          <p:cNvSpPr/>
          <p:nvPr/>
        </p:nvSpPr>
        <p:spPr>
          <a:xfrm>
            <a:off x="9572585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8-mark282"/>
          <p:cNvSpPr/>
          <p:nvPr/>
        </p:nvSpPr>
        <p:spPr>
          <a:xfrm>
            <a:off x="9119723" y="4853632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8-mark283"/>
          <p:cNvSpPr/>
          <p:nvPr/>
        </p:nvSpPr>
        <p:spPr>
          <a:xfrm flipH="1">
            <a:off x="8639683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8-mark284"/>
          <p:cNvSpPr/>
          <p:nvPr/>
        </p:nvSpPr>
        <p:spPr>
          <a:xfrm flipH="1">
            <a:off x="8206641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8-mark285"/>
          <p:cNvSpPr/>
          <p:nvPr/>
        </p:nvSpPr>
        <p:spPr>
          <a:xfrm flipH="1">
            <a:off x="7862966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8-mark286"/>
          <p:cNvSpPr/>
          <p:nvPr/>
        </p:nvSpPr>
        <p:spPr>
          <a:xfrm flipH="1">
            <a:off x="7642320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8-mark287"/>
          <p:cNvSpPr/>
          <p:nvPr/>
        </p:nvSpPr>
        <p:spPr>
          <a:xfrm flipH="1">
            <a:off x="7493014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8-mark288"/>
          <p:cNvSpPr/>
          <p:nvPr/>
        </p:nvSpPr>
        <p:spPr>
          <a:xfrm flipH="1" flipV="1">
            <a:off x="7642320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8-mark289"/>
          <p:cNvSpPr/>
          <p:nvPr/>
        </p:nvSpPr>
        <p:spPr>
          <a:xfrm flipH="1" flipV="1">
            <a:off x="7862966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8-mark290"/>
          <p:cNvSpPr/>
          <p:nvPr/>
        </p:nvSpPr>
        <p:spPr>
          <a:xfrm flipH="1" flipV="1">
            <a:off x="8206641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8-mark291"/>
          <p:cNvSpPr/>
          <p:nvPr/>
        </p:nvSpPr>
        <p:spPr>
          <a:xfrm flipH="1" flipV="1">
            <a:off x="8639683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9" name="S08-label293"/>
          <p:cNvSpPr txBox="1"/>
          <p:nvPr/>
        </p:nvSpPr>
        <p:spPr>
          <a:xfrm>
            <a:off x="9596009" y="2623043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0" name="S08-label295"/>
          <p:cNvSpPr txBox="1"/>
          <p:nvPr/>
        </p:nvSpPr>
        <p:spPr>
          <a:xfrm>
            <a:off x="8779871" y="3954818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피구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1" name="S08-label297"/>
          <p:cNvSpPr txBox="1"/>
          <p:nvPr/>
        </p:nvSpPr>
        <p:spPr>
          <a:xfrm>
            <a:off x="7738201" y="3038879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2" name="S08-label299"/>
          <p:cNvSpPr txBox="1"/>
          <p:nvPr/>
        </p:nvSpPr>
        <p:spPr>
          <a:xfrm>
            <a:off x="8364034" y="2222740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3" name="S08-label301"/>
          <p:cNvSpPr txBox="1"/>
          <p:nvPr/>
        </p:nvSpPr>
        <p:spPr>
          <a:xfrm>
            <a:off x="7570069" y="12350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운동별 학생 수</a:t>
            </a:r>
            <a:endParaRPr lang="ko-KR" sz="2200" dirty="0"/>
          </a:p>
        </p:txBody>
      </p:sp>
      <p:sp>
        <p:nvSpPr>
          <p:cNvPr id="34" name="S08-stepno302"/>
          <p:cNvSpPr txBox="1"/>
          <p:nvPr/>
        </p:nvSpPr>
        <p:spPr>
          <a:xfrm>
            <a:off x="548640" y="1802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8-text303"/>
          <p:cNvSpPr txBox="1"/>
          <p:nvPr/>
        </p:nvSpPr>
        <p:spPr>
          <a:xfrm>
            <a:off x="1325880" y="1757172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구하고 합계가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100 %인지 확인해요.</a:t>
            </a:r>
            <a:endParaRPr lang="ko-KR" sz="2800" dirty="0"/>
          </a:p>
        </p:txBody>
      </p:sp>
      <p:sp>
        <p:nvSpPr>
          <p:cNvPr id="36" name="S08-stepno304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7" name="S08-text305"/>
          <p:cNvSpPr txBox="1"/>
          <p:nvPr/>
        </p:nvSpPr>
        <p:spPr>
          <a:xfrm>
            <a:off x="1325880" y="2789428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눈금을 보고 백분율만큼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그어 나눠요.</a:t>
            </a:r>
            <a:endParaRPr lang="ko-KR" sz="2800" dirty="0"/>
          </a:p>
        </p:txBody>
      </p:sp>
      <p:sp>
        <p:nvSpPr>
          <p:cNvPr id="38" name="S08-stepno306"/>
          <p:cNvSpPr txBox="1"/>
          <p:nvPr/>
        </p:nvSpPr>
        <p:spPr>
          <a:xfrm>
            <a:off x="548640" y="3867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9" name="S08-text307"/>
          <p:cNvSpPr txBox="1"/>
          <p:nvPr/>
        </p:nvSpPr>
        <p:spPr>
          <a:xfrm>
            <a:off x="1325880" y="3821684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항목과 백분율을 쓰고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09-text3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간식이에요.</a:t>
            </a:r>
            <a:endParaRPr lang="ko-KR" sz="2800" dirty="0"/>
          </a:p>
        </p:txBody>
      </p:sp>
      <p:sp>
        <p:nvSpPr>
          <p:cNvPr id="4" name="S09-card3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3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학생 수 ÷ 40 × 100</a:t>
            </a:r>
            <a:endParaRPr lang="ko-KR" sz="2800" dirty="0"/>
          </a:p>
        </p:txBody>
      </p:sp>
      <p:graphicFrame>
        <p:nvGraphicFramePr>
          <p:cNvPr id="10" name="S09-table3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121408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chip31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8" name="S09-text31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과일은 전체의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%일까요?</a:t>
            </a:r>
            <a:endParaRPr lang="ko-KR" sz="2800" dirty="0"/>
          </a:p>
        </p:txBody>
      </p:sp>
      <p:sp>
        <p:nvSpPr>
          <p:cNvPr id="9" name="S09-chip3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0" name="S09-text31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더하면 얼마일까요?</a:t>
            </a:r>
            <a:endParaRPr lang="ko-KR" sz="2800" dirty="0"/>
          </a:p>
        </p:txBody>
      </p:sp>
      <p:sp>
        <p:nvSpPr>
          <p:cNvPr id="11" name="S09-chip31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2" name="S09-text31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5 %인 띠에서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빵은 몇 칸일까요?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3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사람 400명을 조사했어요.</a:t>
            </a:r>
            <a:endParaRPr lang="ko-KR" sz="2800" dirty="0"/>
          </a:p>
        </p:txBody>
      </p:sp>
      <p:sp>
        <p:nvSpPr>
          <p:cNvPr id="4" name="S10-figure319" descr="원그래프 ‘주로 이용하는 교통수단’(400명): 버스 45 %, 지하철 25 %, 자동차 20 %, 자전거 10 %"/>
          <p:cNvSpPr/>
          <p:nvPr/>
        </p:nvSpPr>
        <p:spPr>
          <a:xfrm>
            <a:off x="8958834" y="2666615"/>
            <a:ext cx="1631758" cy="3183649"/>
          </a:xfrm>
          <a:custGeom>
            <a:avLst/>
            <a:gdLst/>
            <a:ahLst/>
            <a:cxnLst/>
            <a:rect l="l" t="t" r="r" b="b"/>
            <a:pathLst>
              <a:path w="1631758" h="3183649">
                <a:moveTo>
                  <a:pt x="0" y="1631758"/>
                </a:moveTo>
                <a:lnTo>
                  <a:pt x="0" y="0"/>
                </a:lnTo>
                <a:lnTo>
                  <a:pt x="85398" y="2236"/>
                </a:lnTo>
                <a:lnTo>
                  <a:pt x="170568" y="8942"/>
                </a:lnTo>
                <a:lnTo>
                  <a:pt x="255264" y="20087"/>
                </a:lnTo>
                <a:lnTo>
                  <a:pt x="339259" y="35654"/>
                </a:lnTo>
                <a:lnTo>
                  <a:pt x="422331" y="55602"/>
                </a:lnTo>
                <a:lnTo>
                  <a:pt x="504238" y="79866"/>
                </a:lnTo>
                <a:lnTo>
                  <a:pt x="584773" y="108381"/>
                </a:lnTo>
                <a:lnTo>
                  <a:pt x="663693" y="141074"/>
                </a:lnTo>
                <a:lnTo>
                  <a:pt x="740802" y="177853"/>
                </a:lnTo>
                <a:lnTo>
                  <a:pt x="815879" y="218615"/>
                </a:lnTo>
                <a:lnTo>
                  <a:pt x="888720" y="263251"/>
                </a:lnTo>
                <a:lnTo>
                  <a:pt x="959123" y="311641"/>
                </a:lnTo>
                <a:lnTo>
                  <a:pt x="1026898" y="363645"/>
                </a:lnTo>
                <a:lnTo>
                  <a:pt x="1091858" y="419125"/>
                </a:lnTo>
                <a:lnTo>
                  <a:pt x="1153824" y="477934"/>
                </a:lnTo>
                <a:lnTo>
                  <a:pt x="1212632" y="539900"/>
                </a:lnTo>
                <a:lnTo>
                  <a:pt x="1268112" y="604860"/>
                </a:lnTo>
                <a:lnTo>
                  <a:pt x="1320116" y="672635"/>
                </a:lnTo>
                <a:lnTo>
                  <a:pt x="1368506" y="743037"/>
                </a:lnTo>
                <a:lnTo>
                  <a:pt x="1413143" y="815879"/>
                </a:lnTo>
                <a:lnTo>
                  <a:pt x="1453904" y="890956"/>
                </a:lnTo>
                <a:lnTo>
                  <a:pt x="1490684" y="968065"/>
                </a:lnTo>
                <a:lnTo>
                  <a:pt x="1523376" y="1046985"/>
                </a:lnTo>
                <a:lnTo>
                  <a:pt x="1551891" y="1127520"/>
                </a:lnTo>
                <a:lnTo>
                  <a:pt x="1576155" y="1209426"/>
                </a:lnTo>
                <a:lnTo>
                  <a:pt x="1596104" y="1292499"/>
                </a:lnTo>
                <a:lnTo>
                  <a:pt x="1611671" y="1376494"/>
                </a:lnTo>
                <a:lnTo>
                  <a:pt x="1622816" y="1461190"/>
                </a:lnTo>
                <a:lnTo>
                  <a:pt x="1629522" y="1546360"/>
                </a:lnTo>
                <a:lnTo>
                  <a:pt x="1631758" y="1631758"/>
                </a:lnTo>
                <a:lnTo>
                  <a:pt x="1629522" y="1717156"/>
                </a:lnTo>
                <a:lnTo>
                  <a:pt x="1622816" y="1802325"/>
                </a:lnTo>
                <a:lnTo>
                  <a:pt x="1611671" y="1887022"/>
                </a:lnTo>
                <a:lnTo>
                  <a:pt x="1596104" y="1971016"/>
                </a:lnTo>
                <a:lnTo>
                  <a:pt x="1576155" y="2054089"/>
                </a:lnTo>
                <a:lnTo>
                  <a:pt x="1551891" y="2135995"/>
                </a:lnTo>
                <a:lnTo>
                  <a:pt x="1523376" y="2216531"/>
                </a:lnTo>
                <a:lnTo>
                  <a:pt x="1490684" y="2295450"/>
                </a:lnTo>
                <a:lnTo>
                  <a:pt x="1453904" y="2372559"/>
                </a:lnTo>
                <a:lnTo>
                  <a:pt x="1413143" y="2447636"/>
                </a:lnTo>
                <a:lnTo>
                  <a:pt x="1368506" y="2520478"/>
                </a:lnTo>
                <a:lnTo>
                  <a:pt x="1320116" y="2590880"/>
                </a:lnTo>
                <a:lnTo>
                  <a:pt x="1268112" y="2658655"/>
                </a:lnTo>
                <a:lnTo>
                  <a:pt x="1212632" y="2723616"/>
                </a:lnTo>
                <a:lnTo>
                  <a:pt x="1153824" y="2785582"/>
                </a:lnTo>
                <a:lnTo>
                  <a:pt x="1091858" y="2844390"/>
                </a:lnTo>
                <a:lnTo>
                  <a:pt x="1026898" y="2899870"/>
                </a:lnTo>
                <a:lnTo>
                  <a:pt x="959123" y="2951874"/>
                </a:lnTo>
                <a:lnTo>
                  <a:pt x="888720" y="3000264"/>
                </a:lnTo>
                <a:lnTo>
                  <a:pt x="815879" y="3044900"/>
                </a:lnTo>
                <a:lnTo>
                  <a:pt x="740802" y="3085662"/>
                </a:lnTo>
                <a:lnTo>
                  <a:pt x="663693" y="3122442"/>
                </a:lnTo>
                <a:lnTo>
                  <a:pt x="584773" y="3155134"/>
                </a:lnTo>
                <a:lnTo>
                  <a:pt x="504238" y="3183649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mark320"/>
          <p:cNvSpPr/>
          <p:nvPr/>
        </p:nvSpPr>
        <p:spPr>
          <a:xfrm>
            <a:off x="7406943" y="4298373"/>
            <a:ext cx="2056129" cy="1631758"/>
          </a:xfrm>
          <a:custGeom>
            <a:avLst/>
            <a:gdLst/>
            <a:ahLst/>
            <a:cxnLst/>
            <a:rect l="l" t="t" r="r" b="b"/>
            <a:pathLst>
              <a:path w="2056129" h="1631758">
                <a:moveTo>
                  <a:pt x="1551891" y="0"/>
                </a:moveTo>
                <a:lnTo>
                  <a:pt x="2056129" y="1551891"/>
                </a:lnTo>
                <a:lnTo>
                  <a:pt x="1974223" y="1576155"/>
                </a:lnTo>
                <a:lnTo>
                  <a:pt x="1891150" y="1596104"/>
                </a:lnTo>
                <a:lnTo>
                  <a:pt x="1807155" y="1611671"/>
                </a:lnTo>
                <a:lnTo>
                  <a:pt x="1722459" y="1622816"/>
                </a:lnTo>
                <a:lnTo>
                  <a:pt x="1637289" y="1629522"/>
                </a:lnTo>
                <a:lnTo>
                  <a:pt x="1551891" y="1631758"/>
                </a:lnTo>
                <a:lnTo>
                  <a:pt x="1466493" y="1629522"/>
                </a:lnTo>
                <a:lnTo>
                  <a:pt x="1381324" y="1622816"/>
                </a:lnTo>
                <a:lnTo>
                  <a:pt x="1296627" y="1611671"/>
                </a:lnTo>
                <a:lnTo>
                  <a:pt x="1212632" y="1596104"/>
                </a:lnTo>
                <a:lnTo>
                  <a:pt x="1129560" y="1576155"/>
                </a:lnTo>
                <a:lnTo>
                  <a:pt x="1047654" y="1551891"/>
                </a:lnTo>
                <a:lnTo>
                  <a:pt x="967118" y="1523376"/>
                </a:lnTo>
                <a:lnTo>
                  <a:pt x="888198" y="1490684"/>
                </a:lnTo>
                <a:lnTo>
                  <a:pt x="811090" y="1453904"/>
                </a:lnTo>
                <a:lnTo>
                  <a:pt x="736012" y="1413143"/>
                </a:lnTo>
                <a:lnTo>
                  <a:pt x="663171" y="1368506"/>
                </a:lnTo>
                <a:lnTo>
                  <a:pt x="592769" y="1320116"/>
                </a:lnTo>
                <a:lnTo>
                  <a:pt x="524994" y="1268112"/>
                </a:lnTo>
                <a:lnTo>
                  <a:pt x="460033" y="1212632"/>
                </a:lnTo>
                <a:lnTo>
                  <a:pt x="398067" y="1153824"/>
                </a:lnTo>
                <a:lnTo>
                  <a:pt x="339259" y="1091858"/>
                </a:lnTo>
                <a:lnTo>
                  <a:pt x="283779" y="1026898"/>
                </a:lnTo>
                <a:lnTo>
                  <a:pt x="231775" y="959123"/>
                </a:lnTo>
                <a:lnTo>
                  <a:pt x="183385" y="888720"/>
                </a:lnTo>
                <a:lnTo>
                  <a:pt x="138748" y="815879"/>
                </a:lnTo>
                <a:lnTo>
                  <a:pt x="97987" y="740802"/>
                </a:lnTo>
                <a:lnTo>
                  <a:pt x="61207" y="663693"/>
                </a:lnTo>
                <a:lnTo>
                  <a:pt x="28515" y="584773"/>
                </a:lnTo>
                <a:lnTo>
                  <a:pt x="0" y="504238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mark321"/>
          <p:cNvSpPr/>
          <p:nvPr/>
        </p:nvSpPr>
        <p:spPr>
          <a:xfrm>
            <a:off x="7327076" y="2978256"/>
            <a:ext cx="1631758" cy="1824354"/>
          </a:xfrm>
          <a:custGeom>
            <a:avLst/>
            <a:gdLst/>
            <a:ahLst/>
            <a:cxnLst/>
            <a:rect l="l" t="t" r="r" b="b"/>
            <a:pathLst>
              <a:path w="1631758" h="1824354">
                <a:moveTo>
                  <a:pt x="1631758" y="1320116"/>
                </a:moveTo>
                <a:lnTo>
                  <a:pt x="79866" y="1824354"/>
                </a:lnTo>
                <a:lnTo>
                  <a:pt x="55602" y="1742448"/>
                </a:lnTo>
                <a:lnTo>
                  <a:pt x="35654" y="1659375"/>
                </a:lnTo>
                <a:lnTo>
                  <a:pt x="20087" y="1575380"/>
                </a:lnTo>
                <a:lnTo>
                  <a:pt x="8942" y="1490684"/>
                </a:lnTo>
                <a:lnTo>
                  <a:pt x="2236" y="1405514"/>
                </a:lnTo>
                <a:lnTo>
                  <a:pt x="0" y="1320116"/>
                </a:lnTo>
                <a:lnTo>
                  <a:pt x="2236" y="1234718"/>
                </a:lnTo>
                <a:lnTo>
                  <a:pt x="8942" y="1149549"/>
                </a:lnTo>
                <a:lnTo>
                  <a:pt x="20087" y="1064852"/>
                </a:lnTo>
                <a:lnTo>
                  <a:pt x="35654" y="980858"/>
                </a:lnTo>
                <a:lnTo>
                  <a:pt x="55602" y="897785"/>
                </a:lnTo>
                <a:lnTo>
                  <a:pt x="79866" y="815879"/>
                </a:lnTo>
                <a:lnTo>
                  <a:pt x="108381" y="735343"/>
                </a:lnTo>
                <a:lnTo>
                  <a:pt x="141074" y="656423"/>
                </a:lnTo>
                <a:lnTo>
                  <a:pt x="177853" y="579315"/>
                </a:lnTo>
                <a:lnTo>
                  <a:pt x="218615" y="504238"/>
                </a:lnTo>
                <a:lnTo>
                  <a:pt x="263251" y="431396"/>
                </a:lnTo>
                <a:lnTo>
                  <a:pt x="311641" y="360994"/>
                </a:lnTo>
                <a:lnTo>
                  <a:pt x="363645" y="293219"/>
                </a:lnTo>
                <a:lnTo>
                  <a:pt x="419125" y="228258"/>
                </a:lnTo>
                <a:lnTo>
                  <a:pt x="477934" y="166292"/>
                </a:lnTo>
                <a:lnTo>
                  <a:pt x="539900" y="107484"/>
                </a:lnTo>
                <a:lnTo>
                  <a:pt x="604860" y="52004"/>
                </a:lnTo>
                <a:lnTo>
                  <a:pt x="672635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mark322"/>
          <p:cNvSpPr/>
          <p:nvPr/>
        </p:nvSpPr>
        <p:spPr>
          <a:xfrm>
            <a:off x="7999711" y="2666615"/>
            <a:ext cx="959123" cy="1631758"/>
          </a:xfrm>
          <a:custGeom>
            <a:avLst/>
            <a:gdLst/>
            <a:ahLst/>
            <a:cxnLst/>
            <a:rect l="l" t="t" r="r" b="b"/>
            <a:pathLst>
              <a:path w="959123" h="1631758">
                <a:moveTo>
                  <a:pt x="959123" y="1631758"/>
                </a:moveTo>
                <a:lnTo>
                  <a:pt x="0" y="311641"/>
                </a:lnTo>
                <a:lnTo>
                  <a:pt x="70402" y="263251"/>
                </a:lnTo>
                <a:lnTo>
                  <a:pt x="143244" y="218615"/>
                </a:lnTo>
                <a:lnTo>
                  <a:pt x="218321" y="177853"/>
                </a:lnTo>
                <a:lnTo>
                  <a:pt x="295430" y="141074"/>
                </a:lnTo>
                <a:lnTo>
                  <a:pt x="374350" y="108381"/>
                </a:lnTo>
                <a:lnTo>
                  <a:pt x="454885" y="79866"/>
                </a:lnTo>
                <a:lnTo>
                  <a:pt x="536791" y="55602"/>
                </a:lnTo>
                <a:lnTo>
                  <a:pt x="619864" y="35654"/>
                </a:lnTo>
                <a:lnTo>
                  <a:pt x="703859" y="20087"/>
                </a:lnTo>
                <a:lnTo>
                  <a:pt x="788555" y="8942"/>
                </a:lnTo>
                <a:lnTo>
                  <a:pt x="873725" y="2236"/>
                </a:lnTo>
                <a:lnTo>
                  <a:pt x="959123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mark323"/>
          <p:cNvSpPr/>
          <p:nvPr/>
        </p:nvSpPr>
        <p:spPr>
          <a:xfrm flipV="1">
            <a:off x="8958834" y="2487122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10-mark324"/>
          <p:cNvSpPr/>
          <p:nvPr/>
        </p:nvSpPr>
        <p:spPr>
          <a:xfrm flipV="1">
            <a:off x="9463072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10-mark325"/>
          <p:cNvSpPr/>
          <p:nvPr/>
        </p:nvSpPr>
        <p:spPr>
          <a:xfrm flipV="1">
            <a:off x="9917957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10-mark326"/>
          <p:cNvSpPr/>
          <p:nvPr/>
        </p:nvSpPr>
        <p:spPr>
          <a:xfrm flipV="1">
            <a:off x="10278950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10-mark327"/>
          <p:cNvSpPr/>
          <p:nvPr/>
        </p:nvSpPr>
        <p:spPr>
          <a:xfrm flipV="1">
            <a:off x="10510725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10-mark328"/>
          <p:cNvSpPr/>
          <p:nvPr/>
        </p:nvSpPr>
        <p:spPr>
          <a:xfrm>
            <a:off x="10590592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10-mark329"/>
          <p:cNvSpPr/>
          <p:nvPr/>
        </p:nvSpPr>
        <p:spPr>
          <a:xfrm>
            <a:off x="10510725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10-mark330"/>
          <p:cNvSpPr/>
          <p:nvPr/>
        </p:nvSpPr>
        <p:spPr>
          <a:xfrm>
            <a:off x="10278950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10-mark331"/>
          <p:cNvSpPr/>
          <p:nvPr/>
        </p:nvSpPr>
        <p:spPr>
          <a:xfrm>
            <a:off x="9917957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10-mark332"/>
          <p:cNvSpPr/>
          <p:nvPr/>
        </p:nvSpPr>
        <p:spPr>
          <a:xfrm>
            <a:off x="9463072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10-mark333"/>
          <p:cNvSpPr/>
          <p:nvPr/>
        </p:nvSpPr>
        <p:spPr>
          <a:xfrm>
            <a:off x="8958834" y="5930130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10-mark334"/>
          <p:cNvSpPr/>
          <p:nvPr/>
        </p:nvSpPr>
        <p:spPr>
          <a:xfrm flipH="1">
            <a:off x="8424335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10-mark335"/>
          <p:cNvSpPr/>
          <p:nvPr/>
        </p:nvSpPr>
        <p:spPr>
          <a:xfrm flipH="1">
            <a:off x="7942167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10-mark336"/>
          <p:cNvSpPr/>
          <p:nvPr/>
        </p:nvSpPr>
        <p:spPr>
          <a:xfrm flipH="1">
            <a:off x="7559504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10-mark337"/>
          <p:cNvSpPr/>
          <p:nvPr/>
        </p:nvSpPr>
        <p:spPr>
          <a:xfrm flipH="1">
            <a:off x="7313827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10-mark338"/>
          <p:cNvSpPr/>
          <p:nvPr/>
        </p:nvSpPr>
        <p:spPr>
          <a:xfrm flipH="1">
            <a:off x="7147583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10-mark339"/>
          <p:cNvSpPr/>
          <p:nvPr/>
        </p:nvSpPr>
        <p:spPr>
          <a:xfrm flipH="1" flipV="1">
            <a:off x="7313827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10-mark340"/>
          <p:cNvSpPr/>
          <p:nvPr/>
        </p:nvSpPr>
        <p:spPr>
          <a:xfrm flipH="1" flipV="1">
            <a:off x="7559504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10-mark341"/>
          <p:cNvSpPr/>
          <p:nvPr/>
        </p:nvSpPr>
        <p:spPr>
          <a:xfrm flipH="1" flipV="1">
            <a:off x="7942167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10-mark342"/>
          <p:cNvSpPr/>
          <p:nvPr/>
        </p:nvSpPr>
        <p:spPr>
          <a:xfrm flipH="1" flipV="1">
            <a:off x="8424335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10-label344"/>
          <p:cNvSpPr txBox="1"/>
          <p:nvPr/>
        </p:nvSpPr>
        <p:spPr>
          <a:xfrm>
            <a:off x="9626266" y="3789618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45 %</a:t>
            </a:r>
            <a:endParaRPr lang="ko-KR" sz="2200" dirty="0"/>
          </a:p>
        </p:txBody>
      </p:sp>
      <p:sp>
        <p:nvSpPr>
          <p:cNvPr id="29" name="S10-label346"/>
          <p:cNvSpPr txBox="1"/>
          <p:nvPr/>
        </p:nvSpPr>
        <p:spPr>
          <a:xfrm>
            <a:off x="8030241" y="4857849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0" name="S10-label348"/>
          <p:cNvSpPr txBox="1"/>
          <p:nvPr/>
        </p:nvSpPr>
        <p:spPr>
          <a:xfrm>
            <a:off x="7523335" y="3633949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1" name="S10-label350"/>
          <p:cNvSpPr txBox="1"/>
          <p:nvPr/>
        </p:nvSpPr>
        <p:spPr>
          <a:xfrm>
            <a:off x="8178078" y="2979206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2" name="S10-label352"/>
          <p:cNvSpPr txBox="1"/>
          <p:nvPr/>
        </p:nvSpPr>
        <p:spPr>
          <a:xfrm>
            <a:off x="7451090" y="1920875"/>
            <a:ext cx="30154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주로 이용하는 교통수단</a:t>
            </a:r>
            <a:endParaRPr lang="ko-KR" sz="2200" dirty="0"/>
          </a:p>
        </p:txBody>
      </p:sp>
      <p:sp>
        <p:nvSpPr>
          <p:cNvPr id="33" name="S10-chip35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0-text35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이용하는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것과 그 비율은?</a:t>
            </a:r>
            <a:endParaRPr lang="ko-KR" sz="2800" dirty="0"/>
          </a:p>
        </p:txBody>
      </p:sp>
      <p:sp>
        <p:nvSpPr>
          <p:cNvPr id="35" name="S10-chip35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0-text35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지하철은 자전거의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배일까요?</a:t>
            </a:r>
            <a:endParaRPr lang="ko-KR" sz="2800" dirty="0"/>
          </a:p>
        </p:txBody>
      </p:sp>
      <p:sp>
        <p:nvSpPr>
          <p:cNvPr id="37" name="S10-chip35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0-text35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자동차를 이용하는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몇 명일까요?</a:t>
            </a:r>
            <a:endParaRPr lang="ko-KR" sz="2800" dirty="0"/>
          </a:p>
        </p:txBody>
      </p:sp>
      <p:sp>
        <p:nvSpPr>
          <p:cNvPr id="39" name="S10-chip35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0" name="S10-text36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버스와 지하철을 합하면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몇 %일까요?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36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36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틀렸다면 ‘400명의 20 %’를 소수로 바꾸어 곱하게 하세요(400 × 0.2).</a:t>
            </a:r>
            <a:endParaRPr lang="ko-KR" sz="2800" dirty="0"/>
          </a:p>
        </p:txBody>
      </p:sp>
      <p:sp>
        <p:nvSpPr>
          <p:cNvPr id="5" name="S11-chip36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364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버스, 45 %</a:t>
            </a:r>
            <a:endParaRPr lang="ko-KR" sz="2800" dirty="0"/>
          </a:p>
        </p:txBody>
      </p:sp>
      <p:sp>
        <p:nvSpPr>
          <p:cNvPr id="7" name="S11-text365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2.5배</a:t>
            </a:r>
            <a:endParaRPr lang="ko-KR" sz="2800" dirty="0"/>
          </a:p>
        </p:txBody>
      </p:sp>
      <p:sp>
        <p:nvSpPr>
          <p:cNvPr id="8" name="S11-text366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÷ 10</a:t>
            </a:r>
            <a:endParaRPr lang="ko-KR" sz="2200" dirty="0"/>
          </a:p>
        </p:txBody>
      </p:sp>
      <p:sp>
        <p:nvSpPr>
          <p:cNvPr id="9" name="S11-text367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80명</a:t>
            </a:r>
            <a:endParaRPr lang="ko-KR" sz="2800" dirty="0"/>
          </a:p>
        </p:txBody>
      </p:sp>
      <p:sp>
        <p:nvSpPr>
          <p:cNvPr id="10" name="S11-text368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× 0.2</a:t>
            </a:r>
            <a:endParaRPr lang="ko-KR" sz="2200" dirty="0"/>
          </a:p>
        </p:txBody>
      </p:sp>
      <p:sp>
        <p:nvSpPr>
          <p:cNvPr id="11" name="S11-text369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70 %</a:t>
            </a:r>
            <a:endParaRPr lang="ko-KR" sz="2800" dirty="0"/>
          </a:p>
        </p:txBody>
      </p:sp>
      <p:sp>
        <p:nvSpPr>
          <p:cNvPr id="12" name="S11-text370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+ 25</a:t>
            </a:r>
            <a:endParaRPr lang="ko-KR" sz="2200" dirty="0"/>
          </a:p>
        </p:txBody>
      </p:sp>
      <p:sp>
        <p:nvSpPr>
          <p:cNvPr id="13" name="S11-chip37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4" name="S11-text37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20명</a:t>
            </a:r>
            <a:endParaRPr lang="ko-KR" sz="2800" dirty="0"/>
          </a:p>
        </p:txBody>
      </p:sp>
      <p:sp>
        <p:nvSpPr>
          <p:cNvPr id="15" name="S11-text37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수로 씀</a:t>
            </a:r>
            <a:endParaRPr lang="ko-KR" sz="2200" dirty="0"/>
          </a:p>
        </p:txBody>
      </p:sp>
      <p:sp>
        <p:nvSpPr>
          <p:cNvPr id="16" name="S11-text37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15배</a:t>
            </a:r>
            <a:endParaRPr lang="ko-KR" sz="2800" dirty="0"/>
          </a:p>
        </p:txBody>
      </p:sp>
      <p:sp>
        <p:nvSpPr>
          <p:cNvPr id="17" name="S11-text37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25 − 10을 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자료에 맞는 띠그래프는?</a:t>
            </a:r>
            <a:endParaRPr lang="ko-KR" sz="4000" dirty="0"/>
          </a:p>
        </p:txBody>
      </p:sp>
      <p:sp>
        <p:nvSpPr>
          <p:cNvPr id="3" name="S12-card37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7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 8명, 미술 5명, 음악 4명, 기타 3명(모두 20명)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구해 맞는 띠그래프를 고르고, 다른 것의 잘못을 말해요.</a:t>
            </a:r>
            <a:endParaRPr lang="ko-KR" sz="2800" dirty="0"/>
          </a:p>
        </p:txBody>
      </p:sp>
      <p:sp>
        <p:nvSpPr>
          <p:cNvPr id="5" name="S12-chip378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2-figure379" descr="띠그래프: 체육 40 %, 미술 20 %, 음악 25 %, 기타 15 %"/>
          <p:cNvSpPr/>
          <p:nvPr/>
        </p:nvSpPr>
        <p:spPr>
          <a:xfrm>
            <a:off x="632460" y="2798581"/>
            <a:ext cx="1933141" cy="918242"/>
          </a:xfrm>
          <a:custGeom>
            <a:avLst/>
            <a:gdLst/>
            <a:ahLst/>
            <a:cxnLst/>
            <a:rect l="l" t="t" r="r" b="b"/>
            <a:pathLst>
              <a:path w="1933141" h="918242">
                <a:moveTo>
                  <a:pt x="0" y="918242"/>
                </a:moveTo>
                <a:lnTo>
                  <a:pt x="1933141" y="918242"/>
                </a:lnTo>
                <a:lnTo>
                  <a:pt x="19331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mark380"/>
          <p:cNvSpPr/>
          <p:nvPr/>
        </p:nvSpPr>
        <p:spPr>
          <a:xfrm>
            <a:off x="2565601" y="2798581"/>
            <a:ext cx="966570" cy="918242"/>
          </a:xfrm>
          <a:custGeom>
            <a:avLst/>
            <a:gdLst/>
            <a:ahLst/>
            <a:cxnLst/>
            <a:rect l="l" t="t" r="r" b="b"/>
            <a:pathLst>
              <a:path w="966570" h="918242">
                <a:moveTo>
                  <a:pt x="0" y="918242"/>
                </a:moveTo>
                <a:lnTo>
                  <a:pt x="966570" y="918242"/>
                </a:lnTo>
                <a:lnTo>
                  <a:pt x="966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mark381"/>
          <p:cNvSpPr/>
          <p:nvPr/>
        </p:nvSpPr>
        <p:spPr>
          <a:xfrm>
            <a:off x="3532171" y="2798581"/>
            <a:ext cx="1208213" cy="918242"/>
          </a:xfrm>
          <a:custGeom>
            <a:avLst/>
            <a:gdLst/>
            <a:ahLst/>
            <a:cxnLst/>
            <a:rect l="l" t="t" r="r" b="b"/>
            <a:pathLst>
              <a:path w="1208213" h="918242">
                <a:moveTo>
                  <a:pt x="0" y="918242"/>
                </a:moveTo>
                <a:lnTo>
                  <a:pt x="1208213" y="918242"/>
                </a:lnTo>
                <a:lnTo>
                  <a:pt x="1208213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mark382"/>
          <p:cNvSpPr/>
          <p:nvPr/>
        </p:nvSpPr>
        <p:spPr>
          <a:xfrm>
            <a:off x="4740384" y="2798581"/>
            <a:ext cx="724928" cy="918242"/>
          </a:xfrm>
          <a:custGeom>
            <a:avLst/>
            <a:gdLst/>
            <a:ahLst/>
            <a:cxnLst/>
            <a:rect l="l" t="t" r="r" b="b"/>
            <a:pathLst>
              <a:path w="724928" h="918242">
                <a:moveTo>
                  <a:pt x="0" y="918242"/>
                </a:moveTo>
                <a:lnTo>
                  <a:pt x="724928" y="918242"/>
                </a:lnTo>
                <a:lnTo>
                  <a:pt x="7249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mark383"/>
          <p:cNvSpPr/>
          <p:nvPr/>
        </p:nvSpPr>
        <p:spPr>
          <a:xfrm>
            <a:off x="632460" y="3774817"/>
            <a:ext cx="4832852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12-mark384"/>
          <p:cNvSpPr/>
          <p:nvPr/>
        </p:nvSpPr>
        <p:spPr>
          <a:xfrm>
            <a:off x="632460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12-mark385"/>
          <p:cNvSpPr/>
          <p:nvPr/>
        </p:nvSpPr>
        <p:spPr>
          <a:xfrm>
            <a:off x="874103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12-mark386"/>
          <p:cNvSpPr/>
          <p:nvPr/>
        </p:nvSpPr>
        <p:spPr>
          <a:xfrm>
            <a:off x="1115745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12-mark387"/>
          <p:cNvSpPr/>
          <p:nvPr/>
        </p:nvSpPr>
        <p:spPr>
          <a:xfrm>
            <a:off x="1357388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12-mark388"/>
          <p:cNvSpPr/>
          <p:nvPr/>
        </p:nvSpPr>
        <p:spPr>
          <a:xfrm>
            <a:off x="1599030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12-mark389"/>
          <p:cNvSpPr/>
          <p:nvPr/>
        </p:nvSpPr>
        <p:spPr>
          <a:xfrm>
            <a:off x="1840673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12-mark390"/>
          <p:cNvSpPr/>
          <p:nvPr/>
        </p:nvSpPr>
        <p:spPr>
          <a:xfrm>
            <a:off x="208231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12-mark391"/>
          <p:cNvSpPr/>
          <p:nvPr/>
        </p:nvSpPr>
        <p:spPr>
          <a:xfrm>
            <a:off x="2323958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12-mark392"/>
          <p:cNvSpPr/>
          <p:nvPr/>
        </p:nvSpPr>
        <p:spPr>
          <a:xfrm>
            <a:off x="2565601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12-mark393"/>
          <p:cNvSpPr/>
          <p:nvPr/>
        </p:nvSpPr>
        <p:spPr>
          <a:xfrm>
            <a:off x="2807243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12-mark394"/>
          <p:cNvSpPr/>
          <p:nvPr/>
        </p:nvSpPr>
        <p:spPr>
          <a:xfrm>
            <a:off x="304888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12-mark395"/>
          <p:cNvSpPr/>
          <p:nvPr/>
        </p:nvSpPr>
        <p:spPr>
          <a:xfrm>
            <a:off x="329052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12-mark396"/>
          <p:cNvSpPr/>
          <p:nvPr/>
        </p:nvSpPr>
        <p:spPr>
          <a:xfrm>
            <a:off x="3532171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12-mark397"/>
          <p:cNvSpPr/>
          <p:nvPr/>
        </p:nvSpPr>
        <p:spPr>
          <a:xfrm>
            <a:off x="3773814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12-mark398"/>
          <p:cNvSpPr/>
          <p:nvPr/>
        </p:nvSpPr>
        <p:spPr>
          <a:xfrm>
            <a:off x="401545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12-mark399"/>
          <p:cNvSpPr/>
          <p:nvPr/>
        </p:nvSpPr>
        <p:spPr>
          <a:xfrm>
            <a:off x="425709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12-mark400"/>
          <p:cNvSpPr/>
          <p:nvPr/>
        </p:nvSpPr>
        <p:spPr>
          <a:xfrm>
            <a:off x="449874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12-mark401"/>
          <p:cNvSpPr/>
          <p:nvPr/>
        </p:nvSpPr>
        <p:spPr>
          <a:xfrm>
            <a:off x="4740384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12-mark402"/>
          <p:cNvSpPr/>
          <p:nvPr/>
        </p:nvSpPr>
        <p:spPr>
          <a:xfrm>
            <a:off x="4982027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12-mark403"/>
          <p:cNvSpPr/>
          <p:nvPr/>
        </p:nvSpPr>
        <p:spPr>
          <a:xfrm>
            <a:off x="522366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12-mark404"/>
          <p:cNvSpPr/>
          <p:nvPr/>
        </p:nvSpPr>
        <p:spPr>
          <a:xfrm>
            <a:off x="546531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12-label406"/>
          <p:cNvSpPr txBox="1"/>
          <p:nvPr/>
        </p:nvSpPr>
        <p:spPr>
          <a:xfrm>
            <a:off x="1259178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33" name="S12-label408"/>
          <p:cNvSpPr txBox="1"/>
          <p:nvPr/>
        </p:nvSpPr>
        <p:spPr>
          <a:xfrm>
            <a:off x="2709034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4" name="S12-label410"/>
          <p:cNvSpPr txBox="1"/>
          <p:nvPr/>
        </p:nvSpPr>
        <p:spPr>
          <a:xfrm>
            <a:off x="3796426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5" name="S12-label412"/>
          <p:cNvSpPr txBox="1"/>
          <p:nvPr/>
        </p:nvSpPr>
        <p:spPr>
          <a:xfrm>
            <a:off x="4762996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6" name="S12-label414"/>
          <p:cNvSpPr txBox="1"/>
          <p:nvPr/>
        </p:nvSpPr>
        <p:spPr>
          <a:xfrm>
            <a:off x="485394" y="386599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7" name="S12-label416"/>
          <p:cNvSpPr txBox="1"/>
          <p:nvPr/>
        </p:nvSpPr>
        <p:spPr>
          <a:xfrm>
            <a:off x="2809618" y="3865998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38" name="S12-label418"/>
          <p:cNvSpPr txBox="1"/>
          <p:nvPr/>
        </p:nvSpPr>
        <p:spPr>
          <a:xfrm>
            <a:off x="5133842" y="386599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39" name="S12-label420"/>
          <p:cNvSpPr txBox="1"/>
          <p:nvPr/>
        </p:nvSpPr>
        <p:spPr>
          <a:xfrm>
            <a:off x="5546598" y="3865998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40" name="S12-chip421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41" name="S12-figure422" descr="띠그래프: 체육 40 %, 미술 25 %, 음악 20 %, 기타 15 %"/>
          <p:cNvSpPr/>
          <p:nvPr/>
        </p:nvSpPr>
        <p:spPr>
          <a:xfrm>
            <a:off x="6361176" y="2798581"/>
            <a:ext cx="1933141" cy="918242"/>
          </a:xfrm>
          <a:custGeom>
            <a:avLst/>
            <a:gdLst/>
            <a:ahLst/>
            <a:cxnLst/>
            <a:rect l="l" t="t" r="r" b="b"/>
            <a:pathLst>
              <a:path w="1933141" h="918242">
                <a:moveTo>
                  <a:pt x="0" y="918242"/>
                </a:moveTo>
                <a:lnTo>
                  <a:pt x="1933141" y="918242"/>
                </a:lnTo>
                <a:lnTo>
                  <a:pt x="19331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2-mark423"/>
          <p:cNvSpPr/>
          <p:nvPr/>
        </p:nvSpPr>
        <p:spPr>
          <a:xfrm>
            <a:off x="8294317" y="2798581"/>
            <a:ext cx="1208213" cy="918242"/>
          </a:xfrm>
          <a:custGeom>
            <a:avLst/>
            <a:gdLst/>
            <a:ahLst/>
            <a:cxnLst/>
            <a:rect l="l" t="t" r="r" b="b"/>
            <a:pathLst>
              <a:path w="1208213" h="918242">
                <a:moveTo>
                  <a:pt x="0" y="918242"/>
                </a:moveTo>
                <a:lnTo>
                  <a:pt x="1208213" y="918242"/>
                </a:lnTo>
                <a:lnTo>
                  <a:pt x="1208213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2-mark424"/>
          <p:cNvSpPr/>
          <p:nvPr/>
        </p:nvSpPr>
        <p:spPr>
          <a:xfrm>
            <a:off x="9502530" y="2798581"/>
            <a:ext cx="966570" cy="918242"/>
          </a:xfrm>
          <a:custGeom>
            <a:avLst/>
            <a:gdLst/>
            <a:ahLst/>
            <a:cxnLst/>
            <a:rect l="l" t="t" r="r" b="b"/>
            <a:pathLst>
              <a:path w="966570" h="918242">
                <a:moveTo>
                  <a:pt x="0" y="918242"/>
                </a:moveTo>
                <a:lnTo>
                  <a:pt x="966570" y="918242"/>
                </a:lnTo>
                <a:lnTo>
                  <a:pt x="966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2-mark425"/>
          <p:cNvSpPr/>
          <p:nvPr/>
        </p:nvSpPr>
        <p:spPr>
          <a:xfrm>
            <a:off x="10469100" y="2798581"/>
            <a:ext cx="724928" cy="918242"/>
          </a:xfrm>
          <a:custGeom>
            <a:avLst/>
            <a:gdLst/>
            <a:ahLst/>
            <a:cxnLst/>
            <a:rect l="l" t="t" r="r" b="b"/>
            <a:pathLst>
              <a:path w="724928" h="918242">
                <a:moveTo>
                  <a:pt x="0" y="918242"/>
                </a:moveTo>
                <a:lnTo>
                  <a:pt x="724928" y="918242"/>
                </a:lnTo>
                <a:lnTo>
                  <a:pt x="7249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2-mark426"/>
          <p:cNvSpPr/>
          <p:nvPr/>
        </p:nvSpPr>
        <p:spPr>
          <a:xfrm>
            <a:off x="6361176" y="3774817"/>
            <a:ext cx="4832852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6" name="S12-mark427"/>
          <p:cNvSpPr/>
          <p:nvPr/>
        </p:nvSpPr>
        <p:spPr>
          <a:xfrm>
            <a:off x="636117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7" name="S12-mark428"/>
          <p:cNvSpPr/>
          <p:nvPr/>
        </p:nvSpPr>
        <p:spPr>
          <a:xfrm>
            <a:off x="660281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8" name="S12-mark429"/>
          <p:cNvSpPr/>
          <p:nvPr/>
        </p:nvSpPr>
        <p:spPr>
          <a:xfrm>
            <a:off x="6844461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9" name="S12-mark430"/>
          <p:cNvSpPr/>
          <p:nvPr/>
        </p:nvSpPr>
        <p:spPr>
          <a:xfrm>
            <a:off x="7086104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0" name="S12-mark431"/>
          <p:cNvSpPr/>
          <p:nvPr/>
        </p:nvSpPr>
        <p:spPr>
          <a:xfrm>
            <a:off x="7327746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1" name="S12-mark432"/>
          <p:cNvSpPr/>
          <p:nvPr/>
        </p:nvSpPr>
        <p:spPr>
          <a:xfrm>
            <a:off x="756938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2" name="S12-mark433"/>
          <p:cNvSpPr/>
          <p:nvPr/>
        </p:nvSpPr>
        <p:spPr>
          <a:xfrm>
            <a:off x="781103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3" name="S12-mark434"/>
          <p:cNvSpPr/>
          <p:nvPr/>
        </p:nvSpPr>
        <p:spPr>
          <a:xfrm>
            <a:off x="8052674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4" name="S12-mark435"/>
          <p:cNvSpPr/>
          <p:nvPr/>
        </p:nvSpPr>
        <p:spPr>
          <a:xfrm>
            <a:off x="8294317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5" name="S12-mark436"/>
          <p:cNvSpPr/>
          <p:nvPr/>
        </p:nvSpPr>
        <p:spPr>
          <a:xfrm>
            <a:off x="8535959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6" name="S12-mark437"/>
          <p:cNvSpPr/>
          <p:nvPr/>
        </p:nvSpPr>
        <p:spPr>
          <a:xfrm>
            <a:off x="877760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7" name="S12-mark438"/>
          <p:cNvSpPr/>
          <p:nvPr/>
        </p:nvSpPr>
        <p:spPr>
          <a:xfrm>
            <a:off x="9019245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8" name="S12-mark439"/>
          <p:cNvSpPr/>
          <p:nvPr/>
        </p:nvSpPr>
        <p:spPr>
          <a:xfrm>
            <a:off x="9260887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9" name="S12-mark440"/>
          <p:cNvSpPr/>
          <p:nvPr/>
        </p:nvSpPr>
        <p:spPr>
          <a:xfrm>
            <a:off x="9502530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0" name="S12-mark441"/>
          <p:cNvSpPr/>
          <p:nvPr/>
        </p:nvSpPr>
        <p:spPr>
          <a:xfrm>
            <a:off x="9744172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1" name="S12-mark442"/>
          <p:cNvSpPr/>
          <p:nvPr/>
        </p:nvSpPr>
        <p:spPr>
          <a:xfrm>
            <a:off x="9985815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2" name="S12-mark443"/>
          <p:cNvSpPr/>
          <p:nvPr/>
        </p:nvSpPr>
        <p:spPr>
          <a:xfrm>
            <a:off x="10227458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3" name="S12-mark444"/>
          <p:cNvSpPr/>
          <p:nvPr/>
        </p:nvSpPr>
        <p:spPr>
          <a:xfrm>
            <a:off x="10469100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4" name="S12-mark445"/>
          <p:cNvSpPr/>
          <p:nvPr/>
        </p:nvSpPr>
        <p:spPr>
          <a:xfrm>
            <a:off x="10710743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5" name="S12-mark446"/>
          <p:cNvSpPr/>
          <p:nvPr/>
        </p:nvSpPr>
        <p:spPr>
          <a:xfrm>
            <a:off x="10952385" y="3774817"/>
            <a:ext cx="0" cy="57994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6" name="S12-mark447"/>
          <p:cNvSpPr/>
          <p:nvPr/>
        </p:nvSpPr>
        <p:spPr>
          <a:xfrm>
            <a:off x="11194028" y="3774817"/>
            <a:ext cx="0" cy="106323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67" name="S12-label449"/>
          <p:cNvSpPr txBox="1"/>
          <p:nvPr/>
        </p:nvSpPr>
        <p:spPr>
          <a:xfrm>
            <a:off x="6987894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68" name="S12-label451"/>
          <p:cNvSpPr txBox="1"/>
          <p:nvPr/>
        </p:nvSpPr>
        <p:spPr>
          <a:xfrm>
            <a:off x="8558571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69" name="S12-label453"/>
          <p:cNvSpPr txBox="1"/>
          <p:nvPr/>
        </p:nvSpPr>
        <p:spPr>
          <a:xfrm>
            <a:off x="9645963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음악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70" name="S12-label455"/>
          <p:cNvSpPr txBox="1"/>
          <p:nvPr/>
        </p:nvSpPr>
        <p:spPr>
          <a:xfrm>
            <a:off x="10491712" y="2908451"/>
            <a:ext cx="67970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71" name="S12-label457"/>
          <p:cNvSpPr txBox="1"/>
          <p:nvPr/>
        </p:nvSpPr>
        <p:spPr>
          <a:xfrm>
            <a:off x="6214110" y="386599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2" name="S12-label459"/>
          <p:cNvSpPr txBox="1"/>
          <p:nvPr/>
        </p:nvSpPr>
        <p:spPr>
          <a:xfrm>
            <a:off x="8538334" y="3865998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73" name="S12-label461"/>
          <p:cNvSpPr txBox="1"/>
          <p:nvPr/>
        </p:nvSpPr>
        <p:spPr>
          <a:xfrm>
            <a:off x="10862558" y="386599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74" name="S12-label463"/>
          <p:cNvSpPr txBox="1"/>
          <p:nvPr/>
        </p:nvSpPr>
        <p:spPr>
          <a:xfrm>
            <a:off x="11275314" y="3865998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46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46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원그래프는 전체(100 %)에 대한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부분의 비율을 한눈에 보여 줘요.</a:t>
            </a:r>
            <a:endParaRPr lang="ko-KR" sz="2800" dirty="0"/>
          </a:p>
        </p:txBody>
      </p:sp>
      <p:sp>
        <p:nvSpPr>
          <p:cNvPr id="5" name="S13-chip46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백분율의 합계가 100 %인지 확인</a:t>
            </a:r>
            <a:endParaRPr lang="ko-KR" sz="2200" dirty="0"/>
          </a:p>
        </p:txBody>
      </p:sp>
      <p:sp>
        <p:nvSpPr>
          <p:cNvPr id="6" name="S13-chip46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 눈금을 그대로 비율로 읽기</a:t>
            </a:r>
            <a:endParaRPr lang="ko-KR" sz="2200" dirty="0"/>
          </a:p>
        </p:txBody>
      </p:sp>
      <p:sp>
        <p:nvSpPr>
          <p:cNvPr id="7" name="S13-text46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46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40명의 25 %는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2200" dirty="0"/>
          </a:p>
        </p:txBody>
      </p:sp>
      <p:sp>
        <p:nvSpPr>
          <p:cNvPr id="9" name="S13-text47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띠그래프에서 30부터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55까지는 몇 %?</a:t>
            </a:r>
            <a:endParaRPr lang="ko-KR" sz="2200" dirty="0"/>
          </a:p>
        </p:txBody>
      </p:sp>
      <p:sp>
        <p:nvSpPr>
          <p:cNvPr id="10" name="S13-text47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한 칸이 5 %일 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7칸은 몇 %?</a:t>
            </a:r>
            <a:endParaRPr lang="ko-KR" sz="2200" dirty="0"/>
          </a:p>
        </p:txBody>
      </p:sp>
      <p:sp>
        <p:nvSpPr>
          <p:cNvPr id="11" name="S13-text4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알맞은 그래프 고르기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20명 중 7명은 몇 %?</a:t>
            </a:r>
            <a:endParaRPr lang="ko-KR" sz="4000" dirty="0"/>
          </a:p>
        </p:txBody>
      </p:sp>
      <p:sp>
        <p:nvSpPr>
          <p:cNvPr id="3" name="S14-text4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20명을 20칸 띠로 나타냈어요.</a:t>
            </a:r>
            <a:endParaRPr lang="ko-KR" sz="2800" dirty="0"/>
          </a:p>
        </p:txBody>
      </p:sp>
      <p:sp>
        <p:nvSpPr>
          <p:cNvPr id="4" name="S14-card474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475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1명은 몇 %?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÷ 20 = 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1명은 5 %</a:t>
            </a:r>
            <a:endParaRPr lang="ko-KR" sz="2800" dirty="0"/>
          </a:p>
        </p:txBody>
      </p:sp>
      <p:sp>
        <p:nvSpPr>
          <p:cNvPr id="6" name="S14-card476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477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7명은 몇 %?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 = 35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7명은 35 %</a:t>
            </a:r>
            <a:endParaRPr lang="ko-KR" sz="2800" dirty="0"/>
          </a:p>
        </p:txBody>
      </p:sp>
      <p:sp>
        <p:nvSpPr>
          <p:cNvPr id="8" name="S14-cell478"/>
          <p:cNvSpPr/>
          <p:nvPr/>
        </p:nvSpPr>
        <p:spPr>
          <a:xfrm>
            <a:off x="106527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479"/>
          <p:cNvSpPr/>
          <p:nvPr/>
        </p:nvSpPr>
        <p:spPr>
          <a:xfrm>
            <a:off x="156819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480"/>
          <p:cNvSpPr/>
          <p:nvPr/>
        </p:nvSpPr>
        <p:spPr>
          <a:xfrm>
            <a:off x="207111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481"/>
          <p:cNvSpPr/>
          <p:nvPr/>
        </p:nvSpPr>
        <p:spPr>
          <a:xfrm>
            <a:off x="257403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482"/>
          <p:cNvSpPr/>
          <p:nvPr/>
        </p:nvSpPr>
        <p:spPr>
          <a:xfrm>
            <a:off x="307695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483"/>
          <p:cNvSpPr/>
          <p:nvPr/>
        </p:nvSpPr>
        <p:spPr>
          <a:xfrm>
            <a:off x="357987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484"/>
          <p:cNvSpPr/>
          <p:nvPr/>
        </p:nvSpPr>
        <p:spPr>
          <a:xfrm>
            <a:off x="408279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485"/>
          <p:cNvSpPr/>
          <p:nvPr/>
        </p:nvSpPr>
        <p:spPr>
          <a:xfrm>
            <a:off x="45857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486"/>
          <p:cNvSpPr/>
          <p:nvPr/>
        </p:nvSpPr>
        <p:spPr>
          <a:xfrm>
            <a:off x="50886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487"/>
          <p:cNvSpPr/>
          <p:nvPr/>
        </p:nvSpPr>
        <p:spPr>
          <a:xfrm>
            <a:off x="55915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488"/>
          <p:cNvSpPr/>
          <p:nvPr/>
        </p:nvSpPr>
        <p:spPr>
          <a:xfrm>
            <a:off x="609447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cell489"/>
          <p:cNvSpPr/>
          <p:nvPr/>
        </p:nvSpPr>
        <p:spPr>
          <a:xfrm>
            <a:off x="659739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4-cell490"/>
          <p:cNvSpPr/>
          <p:nvPr/>
        </p:nvSpPr>
        <p:spPr>
          <a:xfrm>
            <a:off x="71003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cell491"/>
          <p:cNvSpPr/>
          <p:nvPr/>
        </p:nvSpPr>
        <p:spPr>
          <a:xfrm>
            <a:off x="76032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4-cell492"/>
          <p:cNvSpPr/>
          <p:nvPr/>
        </p:nvSpPr>
        <p:spPr>
          <a:xfrm>
            <a:off x="81061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493"/>
          <p:cNvSpPr/>
          <p:nvPr/>
        </p:nvSpPr>
        <p:spPr>
          <a:xfrm>
            <a:off x="860907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494"/>
          <p:cNvSpPr/>
          <p:nvPr/>
        </p:nvSpPr>
        <p:spPr>
          <a:xfrm>
            <a:off x="911199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495"/>
          <p:cNvSpPr/>
          <p:nvPr/>
        </p:nvSpPr>
        <p:spPr>
          <a:xfrm>
            <a:off x="96149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496"/>
          <p:cNvSpPr/>
          <p:nvPr/>
        </p:nvSpPr>
        <p:spPr>
          <a:xfrm>
            <a:off x="101178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497"/>
          <p:cNvSpPr/>
          <p:nvPr/>
        </p:nvSpPr>
        <p:spPr>
          <a:xfrm>
            <a:off x="106207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figure498" descr="똑같이 20칸으로 나눈 띠, 7칸 색칠"/>
          <p:cNvSpPr/>
          <p:nvPr/>
        </p:nvSpPr>
        <p:spPr>
          <a:xfrm>
            <a:off x="1065276" y="2828544"/>
            <a:ext cx="10058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띠그래프와 원그래프</dc:title>
  <dc:subject>KR22-G06-MAT-BANDPIE-L01</dc:subject>
  <dc:creator>education-ppt</dc:creator>
  <cp:lastModifiedBy>education-ppt</cp:lastModifiedBy>
  <cp:revision>1</cp:revision>
  <dcterms:created xsi:type="dcterms:W3CDTF">2026-10-26T09:27:21Z</dcterms:created>
  <dcterms:modified xsi:type="dcterms:W3CDTF">2026-10-26T09:27:21Z</dcterms:modified>
</cp:coreProperties>
</file>