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83d0ab6-de19-562a-7ed1-98c7061202ea}">
          <p14:sldIdLst>
            <p14:sldId id="256"/>
            <p14:sldId id="257"/>
          </p14:sldIdLst>
        </p14:section>
        <p14:section name="개념" id="{6f2a6657-b1f9-9119-8f6c-e710b256083f}">
          <p14:sldIdLst>
            <p14:sldId id="258"/>
            <p14:sldId id="259"/>
            <p14:sldId id="260"/>
            <p14:sldId id="263"/>
          </p14:sldIdLst>
        </p14:section>
        <p14:section name="연습" id="{8a380ab4-24bc-e876-18b9-a35d4f65fc0f}">
          <p14:sldIdLst>
            <p14:sldId id="261"/>
            <p14:sldId id="262"/>
            <p14:sldId id="264"/>
          </p14:sldIdLst>
        </p14:section>
        <p14:section name="개념" id="{c824709c-810c-3280-53ba-451afb605d68}">
          <p14:sldIdLst/>
        </p14:section>
        <p14:section name="연습" id="{e143f8c2-fd54-67d8-ba6e-3d092ebd6dc6}">
          <p14:sldIdLst/>
        </p14:section>
        <p14:section name="확인" id="{d2e12df0-7867-49c7-3df9-7da16ede04e1}">
          <p14:sldIdLst>
            <p14:sldId id="265"/>
            <p14:sldId id="266"/>
          </p14:sldIdLst>
        </p14:section>
        <p14:section name="정리" id="{62ad7986-5ed5-7402-a349-5d83e678e782}">
          <p14:sldIdLst>
            <p14:sldId id="267"/>
          </p14:sldIdLst>
        </p14:section>
        <p14:section name="보충" id="{93f0f7b9-566a-0471-7644-55c87443ff4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원의 넓이는 어떻게 구할까?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을 똑같이 16조각으로 자른 그림: 위쪽 반은 주황색, 아래쪽 반은 옅은 색"/>
          <p:cNvSpPr/>
          <p:nvPr/>
        </p:nvSpPr>
        <p:spPr>
          <a:xfrm>
            <a:off x="9646920" y="1578254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524866"/>
                </a:moveTo>
                <a:lnTo>
                  <a:pt x="1371600" y="524866"/>
                </a:lnTo>
                <a:lnTo>
                  <a:pt x="1368857" y="435254"/>
                </a:lnTo>
                <a:lnTo>
                  <a:pt x="1359713" y="345643"/>
                </a:lnTo>
                <a:lnTo>
                  <a:pt x="1345082" y="256946"/>
                </a:lnTo>
                <a:lnTo>
                  <a:pt x="1324966" y="170078"/>
                </a:lnTo>
                <a:lnTo>
                  <a:pt x="1298448" y="84125"/>
                </a:lnTo>
                <a:lnTo>
                  <a:pt x="126735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646920" y="1132942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970178"/>
                </a:moveTo>
                <a:lnTo>
                  <a:pt x="1267358" y="445313"/>
                </a:lnTo>
                <a:lnTo>
                  <a:pt x="1229868" y="363931"/>
                </a:lnTo>
                <a:lnTo>
                  <a:pt x="1187806" y="284378"/>
                </a:lnTo>
                <a:lnTo>
                  <a:pt x="1140257" y="208483"/>
                </a:lnTo>
                <a:lnTo>
                  <a:pt x="1088136" y="135331"/>
                </a:lnTo>
                <a:lnTo>
                  <a:pt x="1031443" y="65837"/>
                </a:lnTo>
                <a:lnTo>
                  <a:pt x="97017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835762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1267358"/>
                </a:moveTo>
                <a:lnTo>
                  <a:pt x="970178" y="297180"/>
                </a:lnTo>
                <a:lnTo>
                  <a:pt x="904342" y="235915"/>
                </a:lnTo>
                <a:lnTo>
                  <a:pt x="834847" y="179222"/>
                </a:lnTo>
                <a:lnTo>
                  <a:pt x="761695" y="127102"/>
                </a:lnTo>
                <a:lnTo>
                  <a:pt x="685800" y="79553"/>
                </a:lnTo>
                <a:lnTo>
                  <a:pt x="606247" y="37490"/>
                </a:lnTo>
                <a:lnTo>
                  <a:pt x="52486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646920" y="7315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1371600"/>
                </a:moveTo>
                <a:lnTo>
                  <a:pt x="524866" y="104242"/>
                </a:lnTo>
                <a:lnTo>
                  <a:pt x="440741" y="73152"/>
                </a:lnTo>
                <a:lnTo>
                  <a:pt x="354787" y="46634"/>
                </a:lnTo>
                <a:lnTo>
                  <a:pt x="267919" y="26518"/>
                </a:lnTo>
                <a:lnTo>
                  <a:pt x="179222" y="11887"/>
                </a:lnTo>
                <a:lnTo>
                  <a:pt x="89611" y="2743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122054" y="7315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1371600"/>
                </a:moveTo>
                <a:lnTo>
                  <a:pt x="524866" y="0"/>
                </a:lnTo>
                <a:lnTo>
                  <a:pt x="435254" y="2743"/>
                </a:lnTo>
                <a:lnTo>
                  <a:pt x="345643" y="11887"/>
                </a:lnTo>
                <a:lnTo>
                  <a:pt x="256946" y="26518"/>
                </a:lnTo>
                <a:lnTo>
                  <a:pt x="170078" y="46634"/>
                </a:lnTo>
                <a:lnTo>
                  <a:pt x="84125" y="73152"/>
                </a:lnTo>
                <a:lnTo>
                  <a:pt x="0" y="1042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676742" y="835762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1267358"/>
                </a:moveTo>
                <a:lnTo>
                  <a:pt x="445313" y="0"/>
                </a:lnTo>
                <a:lnTo>
                  <a:pt x="363931" y="37490"/>
                </a:lnTo>
                <a:lnTo>
                  <a:pt x="284378" y="79553"/>
                </a:lnTo>
                <a:lnTo>
                  <a:pt x="208483" y="127102"/>
                </a:lnTo>
                <a:lnTo>
                  <a:pt x="135331" y="179222"/>
                </a:lnTo>
                <a:lnTo>
                  <a:pt x="65837" y="235915"/>
                </a:lnTo>
                <a:lnTo>
                  <a:pt x="0" y="29718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379562" y="1132942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970178"/>
                </a:moveTo>
                <a:lnTo>
                  <a:pt x="297180" y="0"/>
                </a:lnTo>
                <a:lnTo>
                  <a:pt x="235915" y="65837"/>
                </a:lnTo>
                <a:lnTo>
                  <a:pt x="179222" y="135331"/>
                </a:lnTo>
                <a:lnTo>
                  <a:pt x="127102" y="208483"/>
                </a:lnTo>
                <a:lnTo>
                  <a:pt x="79553" y="284378"/>
                </a:lnTo>
                <a:lnTo>
                  <a:pt x="37490" y="363931"/>
                </a:lnTo>
                <a:lnTo>
                  <a:pt x="0" y="44531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75320" y="1578254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524866"/>
                </a:moveTo>
                <a:lnTo>
                  <a:pt x="104242" y="0"/>
                </a:lnTo>
                <a:lnTo>
                  <a:pt x="73152" y="84125"/>
                </a:lnTo>
                <a:lnTo>
                  <a:pt x="46634" y="170078"/>
                </a:lnTo>
                <a:lnTo>
                  <a:pt x="26518" y="256946"/>
                </a:lnTo>
                <a:lnTo>
                  <a:pt x="11887" y="345643"/>
                </a:lnTo>
                <a:lnTo>
                  <a:pt x="2743" y="435254"/>
                </a:lnTo>
                <a:lnTo>
                  <a:pt x="0" y="52486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75320" y="2103120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0"/>
                </a:moveTo>
                <a:lnTo>
                  <a:pt x="0" y="0"/>
                </a:lnTo>
                <a:lnTo>
                  <a:pt x="2743" y="89611"/>
                </a:lnTo>
                <a:lnTo>
                  <a:pt x="11887" y="179222"/>
                </a:lnTo>
                <a:lnTo>
                  <a:pt x="26518" y="267919"/>
                </a:lnTo>
                <a:lnTo>
                  <a:pt x="46634" y="354787"/>
                </a:lnTo>
                <a:lnTo>
                  <a:pt x="73152" y="440741"/>
                </a:lnTo>
                <a:lnTo>
                  <a:pt x="104242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379562" y="2103120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0"/>
                </a:moveTo>
                <a:lnTo>
                  <a:pt x="0" y="524866"/>
                </a:lnTo>
                <a:lnTo>
                  <a:pt x="37490" y="606247"/>
                </a:lnTo>
                <a:lnTo>
                  <a:pt x="79553" y="685800"/>
                </a:lnTo>
                <a:lnTo>
                  <a:pt x="127102" y="761695"/>
                </a:lnTo>
                <a:lnTo>
                  <a:pt x="179222" y="834847"/>
                </a:lnTo>
                <a:lnTo>
                  <a:pt x="235915" y="904342"/>
                </a:lnTo>
                <a:lnTo>
                  <a:pt x="297180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676742" y="2103120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0"/>
                </a:moveTo>
                <a:lnTo>
                  <a:pt x="0" y="970178"/>
                </a:lnTo>
                <a:lnTo>
                  <a:pt x="65837" y="1031443"/>
                </a:lnTo>
                <a:lnTo>
                  <a:pt x="135331" y="1088136"/>
                </a:lnTo>
                <a:lnTo>
                  <a:pt x="208483" y="1140257"/>
                </a:lnTo>
                <a:lnTo>
                  <a:pt x="284378" y="1187806"/>
                </a:lnTo>
                <a:lnTo>
                  <a:pt x="363931" y="1229868"/>
                </a:lnTo>
                <a:lnTo>
                  <a:pt x="445313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122054" y="21031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0"/>
                </a:moveTo>
                <a:lnTo>
                  <a:pt x="0" y="1267358"/>
                </a:lnTo>
                <a:lnTo>
                  <a:pt x="84125" y="1298448"/>
                </a:lnTo>
                <a:lnTo>
                  <a:pt x="170078" y="1324966"/>
                </a:lnTo>
                <a:lnTo>
                  <a:pt x="256946" y="1345082"/>
                </a:lnTo>
                <a:lnTo>
                  <a:pt x="345643" y="1359713"/>
                </a:lnTo>
                <a:lnTo>
                  <a:pt x="435254" y="1368857"/>
                </a:lnTo>
                <a:lnTo>
                  <a:pt x="524866" y="13716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646920" y="2103120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0"/>
                </a:moveTo>
                <a:lnTo>
                  <a:pt x="0" y="1371600"/>
                </a:lnTo>
                <a:lnTo>
                  <a:pt x="89611" y="1368857"/>
                </a:lnTo>
                <a:lnTo>
                  <a:pt x="179222" y="1359713"/>
                </a:lnTo>
                <a:lnTo>
                  <a:pt x="267919" y="1345082"/>
                </a:lnTo>
                <a:lnTo>
                  <a:pt x="354787" y="1324966"/>
                </a:lnTo>
                <a:lnTo>
                  <a:pt x="440741" y="1298448"/>
                </a:lnTo>
                <a:lnTo>
                  <a:pt x="524866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646920" y="2103120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0"/>
                </a:moveTo>
                <a:lnTo>
                  <a:pt x="524866" y="1267358"/>
                </a:lnTo>
                <a:lnTo>
                  <a:pt x="606247" y="1229868"/>
                </a:lnTo>
                <a:lnTo>
                  <a:pt x="685800" y="1187806"/>
                </a:lnTo>
                <a:lnTo>
                  <a:pt x="761695" y="1140257"/>
                </a:lnTo>
                <a:lnTo>
                  <a:pt x="834847" y="1088136"/>
                </a:lnTo>
                <a:lnTo>
                  <a:pt x="904342" y="1031443"/>
                </a:lnTo>
                <a:lnTo>
                  <a:pt x="970178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646920" y="2103120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0"/>
                </a:moveTo>
                <a:lnTo>
                  <a:pt x="970178" y="970178"/>
                </a:lnTo>
                <a:lnTo>
                  <a:pt x="1031443" y="904342"/>
                </a:lnTo>
                <a:lnTo>
                  <a:pt x="1088136" y="834847"/>
                </a:lnTo>
                <a:lnTo>
                  <a:pt x="1140257" y="761695"/>
                </a:lnTo>
                <a:lnTo>
                  <a:pt x="1187806" y="685800"/>
                </a:lnTo>
                <a:lnTo>
                  <a:pt x="1229868" y="606247"/>
                </a:lnTo>
                <a:lnTo>
                  <a:pt x="1267358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9646920" y="2103120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0"/>
                </a:moveTo>
                <a:lnTo>
                  <a:pt x="1267358" y="524866"/>
                </a:lnTo>
                <a:lnTo>
                  <a:pt x="1298448" y="440741"/>
                </a:lnTo>
                <a:lnTo>
                  <a:pt x="1324966" y="354787"/>
                </a:lnTo>
                <a:lnTo>
                  <a:pt x="1345082" y="267919"/>
                </a:lnTo>
                <a:lnTo>
                  <a:pt x="1359713" y="179222"/>
                </a:lnTo>
                <a:lnTo>
                  <a:pt x="1368857" y="89611"/>
                </a:lnTo>
                <a:lnTo>
                  <a:pt x="1371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원을 잘라 붙여 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반지름으로 원의 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cm인 원의 원주는?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 cm, 세로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넓이는?</a:t>
            </a:r>
            <a:endParaRPr lang="ko-KR" sz="28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× 3.14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어림하기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10 cm인 원이에요.</a:t>
            </a:r>
            <a:endParaRPr lang="ko-KR" sz="2800" dirty="0"/>
          </a:p>
        </p:txBody>
      </p:sp>
      <p:sp>
        <p:nvSpPr>
          <p:cNvPr id="4" name="S03-figure27" descr="반지름 10 cm인 원과, 원 안에 꼭 맞는 정사각형(주황색, 대각선이 지름), 원 밖에 꼭 맞는 정사각형(파란색, 한 변이 지름)"/>
          <p:cNvSpPr/>
          <p:nvPr/>
        </p:nvSpPr>
        <p:spPr>
          <a:xfrm>
            <a:off x="1429482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" name="S03-mark28"/>
          <p:cNvSpPr/>
          <p:nvPr/>
        </p:nvSpPr>
        <p:spPr>
          <a:xfrm>
            <a:off x="1429482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743200" y="1371600"/>
                </a:moveTo>
                <a:lnTo>
                  <a:pt x="1371600" y="0"/>
                </a:lnTo>
                <a:lnTo>
                  <a:pt x="0" y="1371600"/>
                </a:lnTo>
                <a:lnTo>
                  <a:pt x="1371600" y="2743200"/>
                </a:lnTo>
                <a:close/>
              </a:path>
            </a:pathLst>
          </a:custGeom>
          <a:solidFill>
            <a:srgbClr val="FDEBDD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29"/>
          <p:cNvSpPr/>
          <p:nvPr/>
        </p:nvSpPr>
        <p:spPr>
          <a:xfrm>
            <a:off x="1429482" y="27432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30"/>
          <p:cNvSpPr/>
          <p:nvPr/>
        </p:nvSpPr>
        <p:spPr>
          <a:xfrm>
            <a:off x="2801082" y="4114800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mark31"/>
          <p:cNvSpPr/>
          <p:nvPr/>
        </p:nvSpPr>
        <p:spPr>
          <a:xfrm>
            <a:off x="2741646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3"/>
          <p:cNvSpPr txBox="1"/>
          <p:nvPr/>
        </p:nvSpPr>
        <p:spPr>
          <a:xfrm>
            <a:off x="2875758" y="3711575"/>
            <a:ext cx="94792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200" dirty="0"/>
          </a:p>
        </p:txBody>
      </p:sp>
      <p:sp>
        <p:nvSpPr>
          <p:cNvPr id="10" name="S03-card34"/>
          <p:cNvSpPr/>
          <p:nvPr/>
        </p:nvSpPr>
        <p:spPr>
          <a:xfrm>
            <a:off x="5419283" y="210769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35"/>
          <p:cNvSpPr txBox="1"/>
          <p:nvPr/>
        </p:nvSpPr>
        <p:spPr>
          <a:xfrm>
            <a:off x="5693603" y="224485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20 ÷ 2 = 200 (cm²)</a:t>
            </a:r>
            <a:endParaRPr lang="ko-KR" sz="2800" dirty="0"/>
          </a:p>
        </p:txBody>
      </p:sp>
      <p:sp>
        <p:nvSpPr>
          <p:cNvPr id="12" name="S03-card36"/>
          <p:cNvSpPr/>
          <p:nvPr/>
        </p:nvSpPr>
        <p:spPr>
          <a:xfrm>
            <a:off x="5419283" y="3516376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S03-cardtext37"/>
          <p:cNvSpPr txBox="1"/>
          <p:nvPr/>
        </p:nvSpPr>
        <p:spPr>
          <a:xfrm>
            <a:off x="5693603" y="3653536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20 = 400 (cm²)</a:t>
            </a:r>
            <a:endParaRPr lang="ko-KR" sz="2800" dirty="0"/>
          </a:p>
        </p:txBody>
      </p:sp>
      <p:sp>
        <p:nvSpPr>
          <p:cNvPr id="14" name="S03-card38"/>
          <p:cNvSpPr/>
          <p:nvPr/>
        </p:nvSpPr>
        <p:spPr>
          <a:xfrm>
            <a:off x="5419283" y="4925060"/>
            <a:ext cx="6221029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3-cardtext39"/>
          <p:cNvSpPr txBox="1"/>
          <p:nvPr/>
        </p:nvSpPr>
        <p:spPr>
          <a:xfrm>
            <a:off x="5693603" y="5062220"/>
            <a:ext cx="5672389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넓이는 200 cm²보다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400 cm²보다 작아요.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잘라 붙이면</a:t>
            </a:r>
            <a:endParaRPr lang="ko-KR" sz="4000" dirty="0"/>
          </a:p>
        </p:txBody>
      </p:sp>
      <p:sp>
        <p:nvSpPr>
          <p:cNvPr id="3" name="S04-card40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41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잘게 자를수록 직사각형에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가까워져요.</a:t>
            </a:r>
            <a:endParaRPr lang="ko-KR" sz="2800" dirty="0"/>
          </a:p>
        </p:txBody>
      </p:sp>
      <p:sp>
        <p:nvSpPr>
          <p:cNvPr id="5" name="S04-card42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43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원의 넓이와 같아요.</a:t>
            </a:r>
            <a:endParaRPr lang="ko-KR" sz="2800" dirty="0"/>
          </a:p>
        </p:txBody>
      </p:sp>
      <p:sp>
        <p:nvSpPr>
          <p:cNvPr id="7" name="S04-figure44" descr="원을 똑같이 16조각으로 자름: 위쪽 반 주황색, 아래쪽 반 옅은 색"/>
          <p:cNvSpPr/>
          <p:nvPr/>
        </p:nvSpPr>
        <p:spPr>
          <a:xfrm>
            <a:off x="3241548" y="2309139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524866"/>
                </a:moveTo>
                <a:lnTo>
                  <a:pt x="1371600" y="524866"/>
                </a:lnTo>
                <a:lnTo>
                  <a:pt x="1368857" y="435254"/>
                </a:lnTo>
                <a:lnTo>
                  <a:pt x="1359713" y="345643"/>
                </a:lnTo>
                <a:lnTo>
                  <a:pt x="1345082" y="256946"/>
                </a:lnTo>
                <a:lnTo>
                  <a:pt x="1324966" y="170078"/>
                </a:lnTo>
                <a:lnTo>
                  <a:pt x="1298448" y="84125"/>
                </a:lnTo>
                <a:lnTo>
                  <a:pt x="126735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45"/>
          <p:cNvSpPr/>
          <p:nvPr/>
        </p:nvSpPr>
        <p:spPr>
          <a:xfrm>
            <a:off x="3241548" y="1863827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970178"/>
                </a:moveTo>
                <a:lnTo>
                  <a:pt x="1267358" y="445313"/>
                </a:lnTo>
                <a:lnTo>
                  <a:pt x="1229868" y="363931"/>
                </a:lnTo>
                <a:lnTo>
                  <a:pt x="1187806" y="284378"/>
                </a:lnTo>
                <a:lnTo>
                  <a:pt x="1140257" y="208483"/>
                </a:lnTo>
                <a:lnTo>
                  <a:pt x="1088136" y="135331"/>
                </a:lnTo>
                <a:lnTo>
                  <a:pt x="1031443" y="65837"/>
                </a:lnTo>
                <a:lnTo>
                  <a:pt x="970178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46"/>
          <p:cNvSpPr/>
          <p:nvPr/>
        </p:nvSpPr>
        <p:spPr>
          <a:xfrm>
            <a:off x="3241548" y="1566647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1267358"/>
                </a:moveTo>
                <a:lnTo>
                  <a:pt x="970178" y="297180"/>
                </a:lnTo>
                <a:lnTo>
                  <a:pt x="904342" y="235915"/>
                </a:lnTo>
                <a:lnTo>
                  <a:pt x="834847" y="179222"/>
                </a:lnTo>
                <a:lnTo>
                  <a:pt x="761695" y="127102"/>
                </a:lnTo>
                <a:lnTo>
                  <a:pt x="685800" y="79553"/>
                </a:lnTo>
                <a:lnTo>
                  <a:pt x="606247" y="37490"/>
                </a:lnTo>
                <a:lnTo>
                  <a:pt x="52486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47"/>
          <p:cNvSpPr/>
          <p:nvPr/>
        </p:nvSpPr>
        <p:spPr>
          <a:xfrm>
            <a:off x="3241548" y="14624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1371600"/>
                </a:moveTo>
                <a:lnTo>
                  <a:pt x="524866" y="104242"/>
                </a:lnTo>
                <a:lnTo>
                  <a:pt x="440741" y="73152"/>
                </a:lnTo>
                <a:lnTo>
                  <a:pt x="354787" y="46634"/>
                </a:lnTo>
                <a:lnTo>
                  <a:pt x="267919" y="26518"/>
                </a:lnTo>
                <a:lnTo>
                  <a:pt x="179222" y="11887"/>
                </a:lnTo>
                <a:lnTo>
                  <a:pt x="89611" y="2743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48"/>
          <p:cNvSpPr/>
          <p:nvPr/>
        </p:nvSpPr>
        <p:spPr>
          <a:xfrm>
            <a:off x="2716682" y="14624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1371600"/>
                </a:moveTo>
                <a:lnTo>
                  <a:pt x="524866" y="0"/>
                </a:lnTo>
                <a:lnTo>
                  <a:pt x="435254" y="2743"/>
                </a:lnTo>
                <a:lnTo>
                  <a:pt x="345643" y="11887"/>
                </a:lnTo>
                <a:lnTo>
                  <a:pt x="256946" y="26518"/>
                </a:lnTo>
                <a:lnTo>
                  <a:pt x="170078" y="46634"/>
                </a:lnTo>
                <a:lnTo>
                  <a:pt x="84125" y="73152"/>
                </a:lnTo>
                <a:lnTo>
                  <a:pt x="0" y="1042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49"/>
          <p:cNvSpPr/>
          <p:nvPr/>
        </p:nvSpPr>
        <p:spPr>
          <a:xfrm>
            <a:off x="2271370" y="1566647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1267358"/>
                </a:moveTo>
                <a:lnTo>
                  <a:pt x="445313" y="0"/>
                </a:lnTo>
                <a:lnTo>
                  <a:pt x="363931" y="37490"/>
                </a:lnTo>
                <a:lnTo>
                  <a:pt x="284378" y="79553"/>
                </a:lnTo>
                <a:lnTo>
                  <a:pt x="208483" y="127102"/>
                </a:lnTo>
                <a:lnTo>
                  <a:pt x="135331" y="179222"/>
                </a:lnTo>
                <a:lnTo>
                  <a:pt x="65837" y="235915"/>
                </a:lnTo>
                <a:lnTo>
                  <a:pt x="0" y="29718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50"/>
          <p:cNvSpPr/>
          <p:nvPr/>
        </p:nvSpPr>
        <p:spPr>
          <a:xfrm>
            <a:off x="1974190" y="1863827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970178"/>
                </a:moveTo>
                <a:lnTo>
                  <a:pt x="297180" y="0"/>
                </a:lnTo>
                <a:lnTo>
                  <a:pt x="235915" y="65837"/>
                </a:lnTo>
                <a:lnTo>
                  <a:pt x="179222" y="135331"/>
                </a:lnTo>
                <a:lnTo>
                  <a:pt x="127102" y="208483"/>
                </a:lnTo>
                <a:lnTo>
                  <a:pt x="79553" y="284378"/>
                </a:lnTo>
                <a:lnTo>
                  <a:pt x="37490" y="363931"/>
                </a:lnTo>
                <a:lnTo>
                  <a:pt x="0" y="44531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51"/>
          <p:cNvSpPr/>
          <p:nvPr/>
        </p:nvSpPr>
        <p:spPr>
          <a:xfrm>
            <a:off x="1869948" y="2309139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524866"/>
                </a:moveTo>
                <a:lnTo>
                  <a:pt x="104242" y="0"/>
                </a:lnTo>
                <a:lnTo>
                  <a:pt x="73152" y="84125"/>
                </a:lnTo>
                <a:lnTo>
                  <a:pt x="46634" y="170078"/>
                </a:lnTo>
                <a:lnTo>
                  <a:pt x="26518" y="256946"/>
                </a:lnTo>
                <a:lnTo>
                  <a:pt x="11887" y="345643"/>
                </a:lnTo>
                <a:lnTo>
                  <a:pt x="2743" y="435254"/>
                </a:lnTo>
                <a:lnTo>
                  <a:pt x="0" y="52486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52"/>
          <p:cNvSpPr/>
          <p:nvPr/>
        </p:nvSpPr>
        <p:spPr>
          <a:xfrm>
            <a:off x="1869948" y="2834005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1371600" y="0"/>
                </a:moveTo>
                <a:lnTo>
                  <a:pt x="0" y="0"/>
                </a:lnTo>
                <a:lnTo>
                  <a:pt x="2743" y="89611"/>
                </a:lnTo>
                <a:lnTo>
                  <a:pt x="11887" y="179222"/>
                </a:lnTo>
                <a:lnTo>
                  <a:pt x="26518" y="267919"/>
                </a:lnTo>
                <a:lnTo>
                  <a:pt x="46634" y="354787"/>
                </a:lnTo>
                <a:lnTo>
                  <a:pt x="73152" y="440741"/>
                </a:lnTo>
                <a:lnTo>
                  <a:pt x="104242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53"/>
          <p:cNvSpPr/>
          <p:nvPr/>
        </p:nvSpPr>
        <p:spPr>
          <a:xfrm>
            <a:off x="1974190" y="2834005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1267358" y="0"/>
                </a:moveTo>
                <a:lnTo>
                  <a:pt x="0" y="524866"/>
                </a:lnTo>
                <a:lnTo>
                  <a:pt x="37490" y="606247"/>
                </a:lnTo>
                <a:lnTo>
                  <a:pt x="79553" y="685800"/>
                </a:lnTo>
                <a:lnTo>
                  <a:pt x="127102" y="761695"/>
                </a:lnTo>
                <a:lnTo>
                  <a:pt x="179222" y="834847"/>
                </a:lnTo>
                <a:lnTo>
                  <a:pt x="235915" y="904342"/>
                </a:lnTo>
                <a:lnTo>
                  <a:pt x="297180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54"/>
          <p:cNvSpPr/>
          <p:nvPr/>
        </p:nvSpPr>
        <p:spPr>
          <a:xfrm>
            <a:off x="2271370" y="2834005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970178" y="0"/>
                </a:moveTo>
                <a:lnTo>
                  <a:pt x="0" y="970178"/>
                </a:lnTo>
                <a:lnTo>
                  <a:pt x="65837" y="1031443"/>
                </a:lnTo>
                <a:lnTo>
                  <a:pt x="135331" y="1088136"/>
                </a:lnTo>
                <a:lnTo>
                  <a:pt x="208483" y="1140257"/>
                </a:lnTo>
                <a:lnTo>
                  <a:pt x="284378" y="1187806"/>
                </a:lnTo>
                <a:lnTo>
                  <a:pt x="363931" y="1229868"/>
                </a:lnTo>
                <a:lnTo>
                  <a:pt x="445313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55"/>
          <p:cNvSpPr/>
          <p:nvPr/>
        </p:nvSpPr>
        <p:spPr>
          <a:xfrm>
            <a:off x="2716682" y="28340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524866" y="0"/>
                </a:moveTo>
                <a:lnTo>
                  <a:pt x="0" y="1267358"/>
                </a:lnTo>
                <a:lnTo>
                  <a:pt x="84125" y="1298448"/>
                </a:lnTo>
                <a:lnTo>
                  <a:pt x="170078" y="1324966"/>
                </a:lnTo>
                <a:lnTo>
                  <a:pt x="256946" y="1345082"/>
                </a:lnTo>
                <a:lnTo>
                  <a:pt x="345643" y="1359713"/>
                </a:lnTo>
                <a:lnTo>
                  <a:pt x="435254" y="1368857"/>
                </a:lnTo>
                <a:lnTo>
                  <a:pt x="524866" y="13716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mark56"/>
          <p:cNvSpPr/>
          <p:nvPr/>
        </p:nvSpPr>
        <p:spPr>
          <a:xfrm>
            <a:off x="3241548" y="2834005"/>
            <a:ext cx="524866" cy="1371600"/>
          </a:xfrm>
          <a:custGeom>
            <a:avLst/>
            <a:gdLst/>
            <a:ahLst/>
            <a:cxnLst/>
            <a:rect l="l" t="t" r="r" b="b"/>
            <a:pathLst>
              <a:path w="524866" h="1371600">
                <a:moveTo>
                  <a:pt x="0" y="0"/>
                </a:moveTo>
                <a:lnTo>
                  <a:pt x="0" y="1371600"/>
                </a:lnTo>
                <a:lnTo>
                  <a:pt x="89611" y="1368857"/>
                </a:lnTo>
                <a:lnTo>
                  <a:pt x="179222" y="1359713"/>
                </a:lnTo>
                <a:lnTo>
                  <a:pt x="267919" y="1345082"/>
                </a:lnTo>
                <a:lnTo>
                  <a:pt x="354787" y="1324966"/>
                </a:lnTo>
                <a:lnTo>
                  <a:pt x="440741" y="1298448"/>
                </a:lnTo>
                <a:lnTo>
                  <a:pt x="524866" y="126735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57"/>
          <p:cNvSpPr/>
          <p:nvPr/>
        </p:nvSpPr>
        <p:spPr>
          <a:xfrm>
            <a:off x="3241548" y="2834005"/>
            <a:ext cx="970178" cy="1267358"/>
          </a:xfrm>
          <a:custGeom>
            <a:avLst/>
            <a:gdLst/>
            <a:ahLst/>
            <a:cxnLst/>
            <a:rect l="l" t="t" r="r" b="b"/>
            <a:pathLst>
              <a:path w="970178" h="1267358">
                <a:moveTo>
                  <a:pt x="0" y="0"/>
                </a:moveTo>
                <a:lnTo>
                  <a:pt x="524866" y="1267358"/>
                </a:lnTo>
                <a:lnTo>
                  <a:pt x="606247" y="1229868"/>
                </a:lnTo>
                <a:lnTo>
                  <a:pt x="685800" y="1187806"/>
                </a:lnTo>
                <a:lnTo>
                  <a:pt x="761695" y="1140257"/>
                </a:lnTo>
                <a:lnTo>
                  <a:pt x="834847" y="1088136"/>
                </a:lnTo>
                <a:lnTo>
                  <a:pt x="904342" y="1031443"/>
                </a:lnTo>
                <a:lnTo>
                  <a:pt x="970178" y="97017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mark58"/>
          <p:cNvSpPr/>
          <p:nvPr/>
        </p:nvSpPr>
        <p:spPr>
          <a:xfrm>
            <a:off x="3241548" y="2834005"/>
            <a:ext cx="1267358" cy="970178"/>
          </a:xfrm>
          <a:custGeom>
            <a:avLst/>
            <a:gdLst/>
            <a:ahLst/>
            <a:cxnLst/>
            <a:rect l="l" t="t" r="r" b="b"/>
            <a:pathLst>
              <a:path w="1267358" h="970178">
                <a:moveTo>
                  <a:pt x="0" y="0"/>
                </a:moveTo>
                <a:lnTo>
                  <a:pt x="970178" y="970178"/>
                </a:lnTo>
                <a:lnTo>
                  <a:pt x="1031443" y="904342"/>
                </a:lnTo>
                <a:lnTo>
                  <a:pt x="1088136" y="834847"/>
                </a:lnTo>
                <a:lnTo>
                  <a:pt x="1140257" y="761695"/>
                </a:lnTo>
                <a:lnTo>
                  <a:pt x="1187806" y="685800"/>
                </a:lnTo>
                <a:lnTo>
                  <a:pt x="1229868" y="606247"/>
                </a:lnTo>
                <a:lnTo>
                  <a:pt x="1267358" y="52486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mark59"/>
          <p:cNvSpPr/>
          <p:nvPr/>
        </p:nvSpPr>
        <p:spPr>
          <a:xfrm>
            <a:off x="3241548" y="2834005"/>
            <a:ext cx="1371600" cy="524866"/>
          </a:xfrm>
          <a:custGeom>
            <a:avLst/>
            <a:gdLst/>
            <a:ahLst/>
            <a:cxnLst/>
            <a:rect l="l" t="t" r="r" b="b"/>
            <a:pathLst>
              <a:path w="1371600" h="524866">
                <a:moveTo>
                  <a:pt x="0" y="0"/>
                </a:moveTo>
                <a:lnTo>
                  <a:pt x="1267358" y="524866"/>
                </a:lnTo>
                <a:lnTo>
                  <a:pt x="1298448" y="440741"/>
                </a:lnTo>
                <a:lnTo>
                  <a:pt x="1324966" y="354787"/>
                </a:lnTo>
                <a:lnTo>
                  <a:pt x="1345082" y="267919"/>
                </a:lnTo>
                <a:lnTo>
                  <a:pt x="1359713" y="179222"/>
                </a:lnTo>
                <a:lnTo>
                  <a:pt x="1368857" y="89611"/>
                </a:lnTo>
                <a:lnTo>
                  <a:pt x="1371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label60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16조각으로 자르고</a:t>
            </a:r>
            <a:endParaRPr lang="ko-KR" sz="2200" dirty="0"/>
          </a:p>
        </p:txBody>
      </p:sp>
      <p:sp>
        <p:nvSpPr>
          <p:cNvPr id="24" name="S04-figure61" descr="16조각을 위아래로 엇갈려 붙인 모양: 평행사변형에 가까움"/>
          <p:cNvSpPr/>
          <p:nvPr/>
        </p:nvSpPr>
        <p:spPr>
          <a:xfrm>
            <a:off x="6672834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62"/>
          <p:cNvSpPr/>
          <p:nvPr/>
        </p:nvSpPr>
        <p:spPr>
          <a:xfrm>
            <a:off x="7207758" y="2161464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5838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63"/>
          <p:cNvSpPr/>
          <p:nvPr/>
        </p:nvSpPr>
        <p:spPr>
          <a:xfrm>
            <a:off x="7743596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7782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6616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4-mark64"/>
          <p:cNvSpPr/>
          <p:nvPr/>
        </p:nvSpPr>
        <p:spPr>
          <a:xfrm>
            <a:off x="8278520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4-mark65"/>
          <p:cNvSpPr/>
          <p:nvPr/>
        </p:nvSpPr>
        <p:spPr>
          <a:xfrm>
            <a:off x="8813444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66"/>
          <p:cNvSpPr/>
          <p:nvPr/>
        </p:nvSpPr>
        <p:spPr>
          <a:xfrm>
            <a:off x="9348368" y="2161464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8308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7142" y="1359713"/>
                </a:lnTo>
                <a:lnTo>
                  <a:pt x="535838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67"/>
          <p:cNvSpPr/>
          <p:nvPr/>
        </p:nvSpPr>
        <p:spPr>
          <a:xfrm>
            <a:off x="9884207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0"/>
                </a:moveTo>
                <a:lnTo>
                  <a:pt x="0" y="1345082"/>
                </a:lnTo>
                <a:lnTo>
                  <a:pt x="87782" y="1359713"/>
                </a:lnTo>
                <a:lnTo>
                  <a:pt x="177394" y="1368857"/>
                </a:lnTo>
                <a:lnTo>
                  <a:pt x="267005" y="1371600"/>
                </a:lnTo>
                <a:lnTo>
                  <a:pt x="356616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mark68"/>
          <p:cNvSpPr/>
          <p:nvPr/>
        </p:nvSpPr>
        <p:spPr>
          <a:xfrm>
            <a:off x="10419131" y="2161464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0"/>
                </a:moveTo>
                <a:lnTo>
                  <a:pt x="0" y="1345082"/>
                </a:lnTo>
                <a:lnTo>
                  <a:pt x="88697" y="1359713"/>
                </a:lnTo>
                <a:lnTo>
                  <a:pt x="177394" y="1368857"/>
                </a:lnTo>
                <a:lnTo>
                  <a:pt x="267919" y="1371600"/>
                </a:lnTo>
                <a:lnTo>
                  <a:pt x="357530" y="1368857"/>
                </a:lnTo>
                <a:lnTo>
                  <a:pt x="446227" y="1359713"/>
                </a:lnTo>
                <a:lnTo>
                  <a:pt x="534924" y="13450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mark69"/>
          <p:cNvSpPr/>
          <p:nvPr/>
        </p:nvSpPr>
        <p:spPr>
          <a:xfrm>
            <a:off x="6940753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7782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4-mark70"/>
          <p:cNvSpPr/>
          <p:nvPr/>
        </p:nvSpPr>
        <p:spPr>
          <a:xfrm>
            <a:off x="7475677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7394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4-mark71"/>
          <p:cNvSpPr/>
          <p:nvPr/>
        </p:nvSpPr>
        <p:spPr>
          <a:xfrm>
            <a:off x="8010601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4-mark72"/>
          <p:cNvSpPr/>
          <p:nvPr/>
        </p:nvSpPr>
        <p:spPr>
          <a:xfrm>
            <a:off x="8545525" y="2134946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1371600"/>
                </a:moveTo>
                <a:lnTo>
                  <a:pt x="535838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4-mark73"/>
          <p:cNvSpPr/>
          <p:nvPr/>
        </p:nvSpPr>
        <p:spPr>
          <a:xfrm>
            <a:off x="9081364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4-mark74"/>
          <p:cNvSpPr/>
          <p:nvPr/>
        </p:nvSpPr>
        <p:spPr>
          <a:xfrm>
            <a:off x="9616288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919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4-mark75"/>
          <p:cNvSpPr/>
          <p:nvPr/>
        </p:nvSpPr>
        <p:spPr>
          <a:xfrm>
            <a:off x="10151212" y="2134946"/>
            <a:ext cx="535838" cy="1371600"/>
          </a:xfrm>
          <a:custGeom>
            <a:avLst/>
            <a:gdLst/>
            <a:ahLst/>
            <a:cxnLst/>
            <a:rect l="l" t="t" r="r" b="b"/>
            <a:pathLst>
              <a:path w="535838" h="1371600">
                <a:moveTo>
                  <a:pt x="267919" y="1371600"/>
                </a:moveTo>
                <a:lnTo>
                  <a:pt x="535838" y="26518"/>
                </a:lnTo>
                <a:lnTo>
                  <a:pt x="447142" y="11887"/>
                </a:lnTo>
                <a:lnTo>
                  <a:pt x="357530" y="2743"/>
                </a:lnTo>
                <a:lnTo>
                  <a:pt x="267919" y="0"/>
                </a:lnTo>
                <a:lnTo>
                  <a:pt x="178308" y="2743"/>
                </a:lnTo>
                <a:lnTo>
                  <a:pt x="88697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4-mark76"/>
          <p:cNvSpPr/>
          <p:nvPr/>
        </p:nvSpPr>
        <p:spPr>
          <a:xfrm>
            <a:off x="10687050" y="2134946"/>
            <a:ext cx="534924" cy="1371600"/>
          </a:xfrm>
          <a:custGeom>
            <a:avLst/>
            <a:gdLst/>
            <a:ahLst/>
            <a:cxnLst/>
            <a:rect l="l" t="t" r="r" b="b"/>
            <a:pathLst>
              <a:path w="534924" h="1371600">
                <a:moveTo>
                  <a:pt x="267005" y="1371600"/>
                </a:moveTo>
                <a:lnTo>
                  <a:pt x="534924" y="26518"/>
                </a:lnTo>
                <a:lnTo>
                  <a:pt x="446227" y="11887"/>
                </a:lnTo>
                <a:lnTo>
                  <a:pt x="356616" y="2743"/>
                </a:lnTo>
                <a:lnTo>
                  <a:pt x="267005" y="0"/>
                </a:lnTo>
                <a:lnTo>
                  <a:pt x="177394" y="2743"/>
                </a:lnTo>
                <a:lnTo>
                  <a:pt x="87782" y="11887"/>
                </a:lnTo>
                <a:lnTo>
                  <a:pt x="0" y="2651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4-label77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엇갈려 붙이면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구하는 방법</a:t>
            </a:r>
            <a:endParaRPr lang="ko-KR" sz="4000" dirty="0"/>
          </a:p>
        </p:txBody>
      </p:sp>
      <p:sp>
        <p:nvSpPr>
          <p:cNvPr id="3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= 반지름 × 반지름 × 원주율</a:t>
            </a:r>
            <a:endParaRPr lang="ko-KR" sz="2800" dirty="0"/>
          </a:p>
        </p:txBody>
      </p:sp>
      <p:sp>
        <p:nvSpPr>
          <p:cNvPr id="5" name="S05-figure80" descr="원을 32조각으로 잘라 붙인 직사각형에 가까운 모양: 가로는 원주의 반, 세로는 반지름"/>
          <p:cNvSpPr/>
          <p:nvPr/>
        </p:nvSpPr>
        <p:spPr>
          <a:xfrm>
            <a:off x="657569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81"/>
          <p:cNvSpPr/>
          <p:nvPr/>
        </p:nvSpPr>
        <p:spPr>
          <a:xfrm>
            <a:off x="682159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2"/>
          <p:cNvSpPr/>
          <p:nvPr/>
        </p:nvSpPr>
        <p:spPr>
          <a:xfrm>
            <a:off x="706750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3"/>
          <p:cNvSpPr/>
          <p:nvPr/>
        </p:nvSpPr>
        <p:spPr>
          <a:xfrm>
            <a:off x="731340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4"/>
          <p:cNvSpPr/>
          <p:nvPr/>
        </p:nvSpPr>
        <p:spPr>
          <a:xfrm>
            <a:off x="755930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85"/>
          <p:cNvSpPr/>
          <p:nvPr/>
        </p:nvSpPr>
        <p:spPr>
          <a:xfrm>
            <a:off x="780521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86"/>
          <p:cNvSpPr/>
          <p:nvPr/>
        </p:nvSpPr>
        <p:spPr>
          <a:xfrm>
            <a:off x="805111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87"/>
          <p:cNvSpPr/>
          <p:nvPr/>
        </p:nvSpPr>
        <p:spPr>
          <a:xfrm>
            <a:off x="829701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8"/>
          <p:cNvSpPr/>
          <p:nvPr/>
        </p:nvSpPr>
        <p:spPr>
          <a:xfrm>
            <a:off x="854292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4772" y="1253773"/>
                </a:lnTo>
                <a:lnTo>
                  <a:pt x="205756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89"/>
          <p:cNvSpPr/>
          <p:nvPr/>
        </p:nvSpPr>
        <p:spPr>
          <a:xfrm>
            <a:off x="8788825" y="2204517"/>
            <a:ext cx="246740" cy="1254609"/>
          </a:xfrm>
          <a:custGeom>
            <a:avLst/>
            <a:gdLst/>
            <a:ahLst/>
            <a:cxnLst/>
            <a:rect l="l" t="t" r="r" b="b"/>
            <a:pathLst>
              <a:path w="246740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4772" y="1253773"/>
                </a:lnTo>
                <a:lnTo>
                  <a:pt x="205756" y="1252100"/>
                </a:lnTo>
                <a:lnTo>
                  <a:pt x="246740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90"/>
          <p:cNvSpPr/>
          <p:nvPr/>
        </p:nvSpPr>
        <p:spPr>
          <a:xfrm>
            <a:off x="903556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147" y="1252100"/>
                </a:lnTo>
                <a:lnTo>
                  <a:pt x="81131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mark91"/>
          <p:cNvSpPr/>
          <p:nvPr/>
        </p:nvSpPr>
        <p:spPr>
          <a:xfrm>
            <a:off x="928146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147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92"/>
          <p:cNvSpPr/>
          <p:nvPr/>
        </p:nvSpPr>
        <p:spPr>
          <a:xfrm>
            <a:off x="952737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mark93"/>
          <p:cNvSpPr/>
          <p:nvPr/>
        </p:nvSpPr>
        <p:spPr>
          <a:xfrm>
            <a:off x="9773274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94"/>
          <p:cNvSpPr/>
          <p:nvPr/>
        </p:nvSpPr>
        <p:spPr>
          <a:xfrm>
            <a:off x="10019178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5-mark95"/>
          <p:cNvSpPr/>
          <p:nvPr/>
        </p:nvSpPr>
        <p:spPr>
          <a:xfrm>
            <a:off x="10265081" y="2204517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0"/>
                </a:moveTo>
                <a:lnTo>
                  <a:pt x="0" y="1248754"/>
                </a:lnTo>
                <a:lnTo>
                  <a:pt x="40984" y="1252100"/>
                </a:lnTo>
                <a:lnTo>
                  <a:pt x="81968" y="1253773"/>
                </a:lnTo>
                <a:lnTo>
                  <a:pt x="122952" y="1254609"/>
                </a:lnTo>
                <a:lnTo>
                  <a:pt x="163936" y="1253773"/>
                </a:lnTo>
                <a:lnTo>
                  <a:pt x="204919" y="1252100"/>
                </a:lnTo>
                <a:lnTo>
                  <a:pt x="245903" y="124875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96"/>
          <p:cNvSpPr/>
          <p:nvPr/>
        </p:nvSpPr>
        <p:spPr>
          <a:xfrm>
            <a:off x="669864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mark97"/>
          <p:cNvSpPr/>
          <p:nvPr/>
        </p:nvSpPr>
        <p:spPr>
          <a:xfrm>
            <a:off x="694454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5-mark98"/>
          <p:cNvSpPr/>
          <p:nvPr/>
        </p:nvSpPr>
        <p:spPr>
          <a:xfrm>
            <a:off x="719045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99"/>
          <p:cNvSpPr/>
          <p:nvPr/>
        </p:nvSpPr>
        <p:spPr>
          <a:xfrm>
            <a:off x="743635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5-mark100"/>
          <p:cNvSpPr/>
          <p:nvPr/>
        </p:nvSpPr>
        <p:spPr>
          <a:xfrm>
            <a:off x="768225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5-mark101"/>
          <p:cNvSpPr/>
          <p:nvPr/>
        </p:nvSpPr>
        <p:spPr>
          <a:xfrm>
            <a:off x="792816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mark102"/>
          <p:cNvSpPr/>
          <p:nvPr/>
        </p:nvSpPr>
        <p:spPr>
          <a:xfrm>
            <a:off x="817406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5-mark103"/>
          <p:cNvSpPr/>
          <p:nvPr/>
        </p:nvSpPr>
        <p:spPr>
          <a:xfrm>
            <a:off x="841996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5756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5-mark104"/>
          <p:cNvSpPr/>
          <p:nvPr/>
        </p:nvSpPr>
        <p:spPr>
          <a:xfrm>
            <a:off x="866587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5756" y="2509"/>
                </a:lnTo>
                <a:lnTo>
                  <a:pt x="164772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5-mark105"/>
          <p:cNvSpPr/>
          <p:nvPr/>
        </p:nvSpPr>
        <p:spPr>
          <a:xfrm>
            <a:off x="8911776" y="2198663"/>
            <a:ext cx="246740" cy="1254609"/>
          </a:xfrm>
          <a:custGeom>
            <a:avLst/>
            <a:gdLst/>
            <a:ahLst/>
            <a:cxnLst/>
            <a:rect l="l" t="t" r="r" b="b"/>
            <a:pathLst>
              <a:path w="246740" h="1254609">
                <a:moveTo>
                  <a:pt x="123788" y="1254609"/>
                </a:moveTo>
                <a:lnTo>
                  <a:pt x="246740" y="5855"/>
                </a:lnTo>
                <a:lnTo>
                  <a:pt x="205756" y="2509"/>
                </a:lnTo>
                <a:lnTo>
                  <a:pt x="164772" y="836"/>
                </a:lnTo>
                <a:lnTo>
                  <a:pt x="123788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5-mark106"/>
          <p:cNvSpPr/>
          <p:nvPr/>
        </p:nvSpPr>
        <p:spPr>
          <a:xfrm>
            <a:off x="915851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131" y="836"/>
                </a:lnTo>
                <a:lnTo>
                  <a:pt x="40147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5-mark107"/>
          <p:cNvSpPr/>
          <p:nvPr/>
        </p:nvSpPr>
        <p:spPr>
          <a:xfrm>
            <a:off x="940441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5-mark108"/>
          <p:cNvSpPr/>
          <p:nvPr/>
        </p:nvSpPr>
        <p:spPr>
          <a:xfrm>
            <a:off x="9650323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5-mark109"/>
          <p:cNvSpPr/>
          <p:nvPr/>
        </p:nvSpPr>
        <p:spPr>
          <a:xfrm>
            <a:off x="9896226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5-mark110"/>
          <p:cNvSpPr/>
          <p:nvPr/>
        </p:nvSpPr>
        <p:spPr>
          <a:xfrm>
            <a:off x="10142129" y="2198663"/>
            <a:ext cx="245903" cy="1254609"/>
          </a:xfrm>
          <a:custGeom>
            <a:avLst/>
            <a:gdLst/>
            <a:ahLst/>
            <a:cxnLst/>
            <a:rect l="l" t="t" r="r" b="b"/>
            <a:pathLst>
              <a:path w="245903" h="1254609">
                <a:moveTo>
                  <a:pt x="122952" y="1254609"/>
                </a:moveTo>
                <a:lnTo>
                  <a:pt x="245903" y="5855"/>
                </a:lnTo>
                <a:lnTo>
                  <a:pt x="204919" y="2509"/>
                </a:lnTo>
                <a:lnTo>
                  <a:pt x="163936" y="836"/>
                </a:lnTo>
                <a:lnTo>
                  <a:pt x="122952" y="0"/>
                </a:lnTo>
                <a:lnTo>
                  <a:pt x="81968" y="836"/>
                </a:lnTo>
                <a:lnTo>
                  <a:pt x="40984" y="2509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111"/>
          <p:cNvSpPr/>
          <p:nvPr/>
        </p:nvSpPr>
        <p:spPr>
          <a:xfrm>
            <a:off x="10388033" y="2198663"/>
            <a:ext cx="122952" cy="1254609"/>
          </a:xfrm>
          <a:custGeom>
            <a:avLst/>
            <a:gdLst/>
            <a:ahLst/>
            <a:cxnLst/>
            <a:rect l="l" t="t" r="r" b="b"/>
            <a:pathLst>
              <a:path w="122952" h="1254609">
                <a:moveTo>
                  <a:pt x="122952" y="1254609"/>
                </a:moveTo>
                <a:lnTo>
                  <a:pt x="122952" y="0"/>
                </a:lnTo>
                <a:lnTo>
                  <a:pt x="102042" y="0"/>
                </a:lnTo>
                <a:lnTo>
                  <a:pt x="81968" y="836"/>
                </a:lnTo>
                <a:lnTo>
                  <a:pt x="61058" y="1673"/>
                </a:lnTo>
                <a:lnTo>
                  <a:pt x="40984" y="2509"/>
                </a:lnTo>
                <a:lnTo>
                  <a:pt x="20074" y="4182"/>
                </a:lnTo>
                <a:lnTo>
                  <a:pt x="0" y="58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5-mark112"/>
          <p:cNvSpPr/>
          <p:nvPr/>
        </p:nvSpPr>
        <p:spPr>
          <a:xfrm>
            <a:off x="6575694" y="2198663"/>
            <a:ext cx="122952" cy="1254609"/>
          </a:xfrm>
          <a:custGeom>
            <a:avLst/>
            <a:gdLst/>
            <a:ahLst/>
            <a:cxnLst/>
            <a:rect l="l" t="t" r="r" b="b"/>
            <a:pathLst>
              <a:path w="122952" h="1254609">
                <a:moveTo>
                  <a:pt x="0" y="1254609"/>
                </a:moveTo>
                <a:lnTo>
                  <a:pt x="122952" y="5855"/>
                </a:lnTo>
                <a:lnTo>
                  <a:pt x="102878" y="4182"/>
                </a:lnTo>
                <a:lnTo>
                  <a:pt x="81968" y="2509"/>
                </a:lnTo>
                <a:lnTo>
                  <a:pt x="61894" y="1673"/>
                </a:lnTo>
                <a:lnTo>
                  <a:pt x="40984" y="836"/>
                </a:lnTo>
                <a:lnTo>
                  <a:pt x="209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13"/>
          <p:cNvSpPr/>
          <p:nvPr/>
        </p:nvSpPr>
        <p:spPr>
          <a:xfrm>
            <a:off x="6575694" y="3829654"/>
            <a:ext cx="3935290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39" name="S05-mark114"/>
          <p:cNvSpPr/>
          <p:nvPr/>
        </p:nvSpPr>
        <p:spPr>
          <a:xfrm flipV="1">
            <a:off x="10845547" y="2198663"/>
            <a:ext cx="0" cy="125460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40" name="S05-label116"/>
          <p:cNvSpPr txBox="1"/>
          <p:nvPr/>
        </p:nvSpPr>
        <p:spPr>
          <a:xfrm>
            <a:off x="7898523" y="4073232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원주의 반</a:t>
            </a:r>
            <a:endParaRPr lang="ko-KR" sz="2200" dirty="0"/>
          </a:p>
        </p:txBody>
      </p:sp>
      <p:sp>
        <p:nvSpPr>
          <p:cNvPr id="41" name="S05-label118"/>
          <p:cNvSpPr txBox="1"/>
          <p:nvPr/>
        </p:nvSpPr>
        <p:spPr>
          <a:xfrm>
            <a:off x="11090910" y="2651342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42" name="S05-stepno119"/>
          <p:cNvSpPr txBox="1"/>
          <p:nvPr/>
        </p:nvSpPr>
        <p:spPr>
          <a:xfrm>
            <a:off x="548640" y="1962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3" name="S05-text120"/>
          <p:cNvSpPr txBox="1"/>
          <p:nvPr/>
        </p:nvSpPr>
        <p:spPr>
          <a:xfrm>
            <a:off x="1325880" y="191668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원주의 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반지름 × 원주율</a:t>
            </a:r>
            <a:endParaRPr lang="ko-KR" sz="2800" dirty="0"/>
          </a:p>
        </p:txBody>
      </p:sp>
      <p:sp>
        <p:nvSpPr>
          <p:cNvPr id="44" name="S05-stepno121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5-text122"/>
          <p:cNvSpPr txBox="1"/>
          <p:nvPr/>
        </p:nvSpPr>
        <p:spPr>
          <a:xfrm>
            <a:off x="1325880" y="2948940"/>
            <a:ext cx="4800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반지름</a:t>
            </a:r>
            <a:endParaRPr lang="ko-KR" sz="2800" dirty="0"/>
          </a:p>
        </p:txBody>
      </p:sp>
      <p:sp>
        <p:nvSpPr>
          <p:cNvPr id="46" name="S05-stepno123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5-text124"/>
          <p:cNvSpPr txBox="1"/>
          <p:nvPr/>
        </p:nvSpPr>
        <p:spPr>
          <a:xfrm>
            <a:off x="1325880" y="3662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= 가로 × 세로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반지름 × 원주율 × 반지름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 10 cm인 원의 넓이는? (원주율 3.14)</a:t>
            </a:r>
            <a:endParaRPr lang="ko-KR" sz="2800" dirty="0"/>
          </a:p>
        </p:txBody>
      </p:sp>
      <p:sp>
        <p:nvSpPr>
          <p:cNvPr id="5" name="S06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어림해서 확인해요.</a:t>
            </a:r>
            <a:endParaRPr lang="ko-KR" sz="2800" dirty="0"/>
          </a:p>
        </p:txBody>
      </p:sp>
      <p:sp>
        <p:nvSpPr>
          <p:cNvPr id="7" name="S06-chip1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314 cm²</a:t>
            </a:r>
            <a:endParaRPr lang="ko-KR" sz="2200" dirty="0"/>
          </a:p>
        </p:txBody>
      </p:sp>
      <p:sp>
        <p:nvSpPr>
          <p:cNvPr id="8" name="S06-text1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“10 × 10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314예요.”</a:t>
            </a:r>
            <a:endParaRPr lang="ko-KR" sz="2800" dirty="0"/>
          </a:p>
        </p:txBody>
      </p:sp>
      <p:sp>
        <p:nvSpPr>
          <p:cNvPr id="9" name="S06-chip1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78.5 cm²</a:t>
            </a:r>
            <a:endParaRPr lang="ko-KR" sz="2200" dirty="0"/>
          </a:p>
        </p:txBody>
      </p:sp>
      <p:sp>
        <p:nvSpPr>
          <p:cNvPr id="10" name="S06-text1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× 5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78.5예요.”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넓이를 구해요</a:t>
            </a:r>
            <a:endParaRPr lang="ko-KR" sz="4000" dirty="0"/>
          </a:p>
        </p:txBody>
      </p:sp>
      <p:sp>
        <p:nvSpPr>
          <p:cNvPr id="3" name="S07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넓이를 구해요.</a:t>
            </a:r>
            <a:endParaRPr lang="ko-KR" sz="2800" dirty="0"/>
          </a:p>
        </p:txBody>
      </p:sp>
      <p:sp>
        <p:nvSpPr>
          <p:cNvPr id="4" name="S07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× 반지름 × 원주율, 지름이면 먼저 ÷ 2</a:t>
            </a:r>
            <a:endParaRPr lang="ko-KR" sz="2800" dirty="0"/>
          </a:p>
        </p:txBody>
      </p:sp>
      <p:sp>
        <p:nvSpPr>
          <p:cNvPr id="6" name="S07-chip13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13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4 cm (원주율 3.14)</a:t>
            </a:r>
            <a:endParaRPr lang="ko-KR" sz="2800" dirty="0"/>
          </a:p>
        </p:txBody>
      </p:sp>
      <p:sp>
        <p:nvSpPr>
          <p:cNvPr id="8" name="S07-chip1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13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12 cm (원주율 3.1)</a:t>
            </a:r>
            <a:endParaRPr lang="ko-KR" sz="2800" dirty="0"/>
          </a:p>
        </p:txBody>
      </p:sp>
      <p:sp>
        <p:nvSpPr>
          <p:cNvPr id="10" name="S07-chip14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14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10 cm 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부분의 넓이</a:t>
            </a:r>
            <a:endParaRPr lang="ko-KR" sz="4000" dirty="0"/>
          </a:p>
        </p:txBody>
      </p:sp>
      <p:sp>
        <p:nvSpPr>
          <p:cNvPr id="3" name="S08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10 cm인 정사각형 안에 꼭 맞는 원이에요(원주율 3.14).</a:t>
            </a:r>
            <a:endParaRPr lang="ko-KR" sz="2800" dirty="0"/>
          </a:p>
        </p:txBody>
      </p:sp>
      <p:sp>
        <p:nvSpPr>
          <p:cNvPr id="4" name="S08-figure143" descr="한 변이 10 cm인 정사각형 안에 꼭 맞는 원. 정사각형에서 원을 뺀 네 귀퉁이를 주황색으로 칠함"/>
          <p:cNvSpPr/>
          <p:nvPr/>
        </p:nvSpPr>
        <p:spPr>
          <a:xfrm>
            <a:off x="972282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8-mark144"/>
          <p:cNvSpPr/>
          <p:nvPr/>
        </p:nvSpPr>
        <p:spPr>
          <a:xfrm>
            <a:off x="972282" y="2286000"/>
            <a:ext cx="3657600" cy="3657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45"/>
          <p:cNvSpPr/>
          <p:nvPr/>
        </p:nvSpPr>
        <p:spPr>
          <a:xfrm>
            <a:off x="2801082" y="4114800"/>
            <a:ext cx="18288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46"/>
          <p:cNvSpPr/>
          <p:nvPr/>
        </p:nvSpPr>
        <p:spPr>
          <a:xfrm>
            <a:off x="2741646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label148"/>
          <p:cNvSpPr txBox="1"/>
          <p:nvPr/>
        </p:nvSpPr>
        <p:spPr>
          <a:xfrm>
            <a:off x="3333720" y="36201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9" name="S08-card149"/>
          <p:cNvSpPr/>
          <p:nvPr/>
        </p:nvSpPr>
        <p:spPr>
          <a:xfrm>
            <a:off x="5419283" y="2116074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150"/>
          <p:cNvSpPr txBox="1"/>
          <p:nvPr/>
        </p:nvSpPr>
        <p:spPr>
          <a:xfrm>
            <a:off x="5693603" y="2253234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10 = 100 (cm²)</a:t>
            </a:r>
            <a:endParaRPr lang="ko-KR" sz="2800" dirty="0"/>
          </a:p>
        </p:txBody>
      </p:sp>
      <p:sp>
        <p:nvSpPr>
          <p:cNvPr id="11" name="S08-card151"/>
          <p:cNvSpPr/>
          <p:nvPr/>
        </p:nvSpPr>
        <p:spPr>
          <a:xfrm>
            <a:off x="5419283" y="3524758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152"/>
          <p:cNvSpPr txBox="1"/>
          <p:nvPr/>
        </p:nvSpPr>
        <p:spPr>
          <a:xfrm>
            <a:off x="5693603" y="3661918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× 3.14 = 78.5 (cm²)</a:t>
            </a:r>
            <a:endParaRPr lang="ko-KR" sz="2800" dirty="0"/>
          </a:p>
        </p:txBody>
      </p:sp>
      <p:sp>
        <p:nvSpPr>
          <p:cNvPr id="13" name="S08-card153"/>
          <p:cNvSpPr/>
          <p:nvPr/>
        </p:nvSpPr>
        <p:spPr>
          <a:xfrm>
            <a:off x="5419283" y="4933442"/>
            <a:ext cx="6221029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154"/>
          <p:cNvSpPr txBox="1"/>
          <p:nvPr/>
        </p:nvSpPr>
        <p:spPr>
          <a:xfrm>
            <a:off x="5693603" y="5070602"/>
            <a:ext cx="5672389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100 − 78.5 = 21.5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넓이</a:t>
            </a:r>
            <a:endParaRPr lang="ko-KR" sz="4000" dirty="0"/>
          </a:p>
        </p:txBody>
      </p:sp>
      <p:sp>
        <p:nvSpPr>
          <p:cNvPr id="3" name="S09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3.14로 넓이를 구해요.</a:t>
            </a:r>
            <a:endParaRPr lang="ko-KR" sz="2800" dirty="0"/>
          </a:p>
        </p:txBody>
      </p:sp>
      <p:sp>
        <p:nvSpPr>
          <p:cNvPr id="4" name="S09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반원은 ÷ 2, 원주를 알면 지름부터 구해요.</a:t>
            </a:r>
            <a:endParaRPr lang="ko-KR" sz="2800" dirty="0"/>
          </a:p>
        </p:txBody>
      </p:sp>
      <p:sp>
        <p:nvSpPr>
          <p:cNvPr id="6" name="S09-chip15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15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6 cm인 반원</a:t>
            </a:r>
            <a:endParaRPr lang="ko-KR" sz="2800" dirty="0"/>
          </a:p>
        </p:txBody>
      </p:sp>
      <p:sp>
        <p:nvSpPr>
          <p:cNvPr id="8" name="S09-chip16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16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 18.84 cm인 원</a:t>
            </a:r>
            <a:endParaRPr lang="ko-KR" sz="2800" dirty="0"/>
          </a:p>
        </p:txBody>
      </p:sp>
      <p:sp>
        <p:nvSpPr>
          <p:cNvPr id="10" name="S09-chip16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6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8 cm인 정사각형에서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맞는 원을 뺀 부분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구했는지 말해요.</a:t>
            </a:r>
            <a:endParaRPr lang="ko-KR" sz="2800" dirty="0"/>
          </a:p>
        </p:txBody>
      </p:sp>
      <p:sp>
        <p:nvSpPr>
          <p:cNvPr id="4" name="S10-chip1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1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7 cm인 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6" name="S10-chip1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1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16 cm인 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8" name="S10-chip1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1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넓이 구하는 식을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 붙인 모양으로 설명</a:t>
            </a:r>
            <a:endParaRPr lang="ko-KR" sz="2800" dirty="0"/>
          </a:p>
        </p:txBody>
      </p:sp>
      <p:sp>
        <p:nvSpPr>
          <p:cNvPr id="10" name="S10-chip1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1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cm인 반원의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가장 넓은 것은?</a:t>
            </a:r>
            <a:endParaRPr lang="ko-KR" sz="4000" dirty="0"/>
          </a:p>
        </p:txBody>
      </p:sp>
      <p:sp>
        <p:nvSpPr>
          <p:cNvPr id="3" name="S12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3.14예요.</a:t>
            </a:r>
            <a:endParaRPr lang="ko-KR" sz="2800" dirty="0"/>
          </a:p>
        </p:txBody>
      </p:sp>
      <p:sp>
        <p:nvSpPr>
          <p:cNvPr id="4" name="S12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가장 넓은 것을 고르고, 까닭을 말해요.</a:t>
            </a:r>
            <a:endParaRPr lang="ko-KR" sz="2800" dirty="0"/>
          </a:p>
        </p:txBody>
      </p:sp>
      <p:sp>
        <p:nvSpPr>
          <p:cNvPr id="6" name="S12-chip17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17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7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cm인 원</a:t>
            </a:r>
            <a:endParaRPr lang="ko-KR" sz="2800" dirty="0"/>
          </a:p>
        </p:txBody>
      </p:sp>
      <p:sp>
        <p:nvSpPr>
          <p:cNvPr id="9" name="S12-chip17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18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8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cm인 원</a:t>
            </a:r>
            <a:endParaRPr lang="ko-KR" sz="2800" dirty="0"/>
          </a:p>
        </p:txBody>
      </p:sp>
      <p:sp>
        <p:nvSpPr>
          <p:cNvPr id="12" name="S12-chip18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18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8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43.96 cm인 원</a:t>
            </a:r>
            <a:endParaRPr lang="ko-KR" sz="2800" dirty="0"/>
          </a:p>
        </p:txBody>
      </p:sp>
      <p:sp>
        <p:nvSpPr>
          <p:cNvPr id="15" name="S12-chip18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18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18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cm인 정사각형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8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8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잘라 붙이면 가로는 원주의 반, 세로는 반지름. 원의 넓이 = 반지름 × 반지름 × 원주율</a:t>
            </a:r>
            <a:endParaRPr lang="ko-KR" sz="2800" dirty="0"/>
          </a:p>
        </p:txBody>
      </p:sp>
      <p:sp>
        <p:nvSpPr>
          <p:cNvPr id="5" name="S13-chip19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지름이면 먼저 반지름 구하기</a:t>
            </a:r>
            <a:endParaRPr lang="ko-KR" sz="2200" dirty="0"/>
          </a:p>
        </p:txBody>
      </p:sp>
      <p:sp>
        <p:nvSpPr>
          <p:cNvPr id="6" name="S13-chip19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지름 × 지름 × 원주율</a:t>
            </a:r>
            <a:endParaRPr lang="ko-KR" sz="2200" dirty="0"/>
          </a:p>
        </p:txBody>
      </p:sp>
      <p:sp>
        <p:nvSpPr>
          <p:cNvPr id="7" name="S13-text19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9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반지름 2 cm인 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200" dirty="0"/>
          </a:p>
        </p:txBody>
      </p:sp>
      <p:sp>
        <p:nvSpPr>
          <p:cNvPr id="9" name="S13-text19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넓이를 구하는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식은?</a:t>
            </a:r>
            <a:endParaRPr lang="ko-KR" sz="2200" dirty="0"/>
          </a:p>
        </p:txBody>
      </p:sp>
      <p:sp>
        <p:nvSpPr>
          <p:cNvPr id="10" name="S13-text19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지름 6 cm인 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3)</a:t>
            </a:r>
            <a:endParaRPr lang="ko-KR" sz="2200" dirty="0"/>
          </a:p>
        </p:txBody>
      </p:sp>
      <p:sp>
        <p:nvSpPr>
          <p:cNvPr id="11" name="S13-text1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띠그래프와 원그래프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원주 구하기</a:t>
            </a:r>
            <a:endParaRPr lang="ko-KR" sz="4000" dirty="0"/>
          </a:p>
        </p:txBody>
      </p:sp>
      <p:sp>
        <p:nvSpPr>
          <p:cNvPr id="3" name="S14-figure197" descr="원의 중심, 반지름(주황색), 지름"/>
          <p:cNvSpPr/>
          <p:nvPr/>
        </p:nvSpPr>
        <p:spPr>
          <a:xfrm>
            <a:off x="1590370" y="24003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4-mark198"/>
          <p:cNvSpPr/>
          <p:nvPr/>
        </p:nvSpPr>
        <p:spPr>
          <a:xfrm>
            <a:off x="1590370" y="37719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4-mark199"/>
          <p:cNvSpPr/>
          <p:nvPr/>
        </p:nvSpPr>
        <p:spPr>
          <a:xfrm flipV="1">
            <a:off x="2961970" y="2584094"/>
            <a:ext cx="685800" cy="1187806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14-label201"/>
          <p:cNvSpPr txBox="1"/>
          <p:nvPr/>
        </p:nvSpPr>
        <p:spPr>
          <a:xfrm>
            <a:off x="2633294" y="38487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7" name="S14-label203"/>
          <p:cNvSpPr txBox="1"/>
          <p:nvPr/>
        </p:nvSpPr>
        <p:spPr>
          <a:xfrm>
            <a:off x="2386073" y="274170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8" name="S14-mark204"/>
          <p:cNvSpPr/>
          <p:nvPr/>
        </p:nvSpPr>
        <p:spPr>
          <a:xfrm>
            <a:off x="2902534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card205"/>
          <p:cNvSpPr/>
          <p:nvPr/>
        </p:nvSpPr>
        <p:spPr>
          <a:xfrm>
            <a:off x="5741060" y="2477516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06"/>
          <p:cNvSpPr txBox="1"/>
          <p:nvPr/>
        </p:nvSpPr>
        <p:spPr>
          <a:xfrm>
            <a:off x="6015380" y="2614676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원주율</a:t>
            </a:r>
            <a:endParaRPr lang="ko-KR" sz="2800" dirty="0"/>
          </a:p>
        </p:txBody>
      </p:sp>
      <p:sp>
        <p:nvSpPr>
          <p:cNvPr id="11" name="S14-card207"/>
          <p:cNvSpPr/>
          <p:nvPr/>
        </p:nvSpPr>
        <p:spPr>
          <a:xfrm>
            <a:off x="5741060" y="3886200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208"/>
          <p:cNvSpPr txBox="1"/>
          <p:nvPr/>
        </p:nvSpPr>
        <p:spPr>
          <a:xfrm>
            <a:off x="6015380" y="4023360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cm일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 × 3.14 = 31.4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원의 넓이</dc:title>
  <dc:subject>KR22-G06-MAT-CIRCLEAREA-L01</dc:subject>
  <dc:creator>education-ppt</dc:creator>
  <cp:lastModifiedBy>education-ppt</cp:lastModifiedBy>
  <cp:revision>1</cp:revision>
  <dcterms:created xsi:type="dcterms:W3CDTF">2026-10-26T09:28:01Z</dcterms:created>
  <dcterms:modified xsi:type="dcterms:W3CDTF">2026-10-26T09:28:01Z</dcterms:modified>
</cp:coreProperties>
</file>