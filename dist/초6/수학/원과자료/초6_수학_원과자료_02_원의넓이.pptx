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ddb0341-4ae0-59c4-d95a-7d733b8fefdb}">
          <p14:sldIdLst>
            <p14:sldId id="256"/>
            <p14:sldId id="257"/>
          </p14:sldIdLst>
        </p14:section>
        <p14:section name="개념" id="{edd40604-021f-025b-b65b-89ccc530be76}">
          <p14:sldIdLst>
            <p14:sldId id="258"/>
            <p14:sldId id="259"/>
            <p14:sldId id="260"/>
            <p14:sldId id="263"/>
          </p14:sldIdLst>
        </p14:section>
        <p14:section name="연습" id="{e975a3b2-5b67-2866-434d-e776e20811e4}">
          <p14:sldIdLst>
            <p14:sldId id="261"/>
            <p14:sldId id="262"/>
            <p14:sldId id="264"/>
          </p14:sldIdLst>
        </p14:section>
        <p14:section name="개념" id="{096cdced-2f14-268d-c0d4-4faebd104d2f}">
          <p14:sldIdLst/>
        </p14:section>
        <p14:section name="연습" id="{a9d3455e-1671-0c24-7daf-f4cdf6bf0fa0}">
          <p14:sldIdLst/>
        </p14:section>
        <p14:section name="확인" id="{ac0eceff-597f-73d2-4a36-a0db9b11874d}">
          <p14:sldIdLst>
            <p14:sldId id="265"/>
            <p14:sldId id="266"/>
            <p14:sldId id="267"/>
          </p14:sldIdLst>
        </p14:section>
        <p14:section name="정리" id="{961c10ea-04f2-3246-fd6f-4bbc16843eba}">
          <p14:sldIdLst>
            <p14:sldId id="268"/>
          </p14:sldIdLst>
        </p14:section>
        <p14:section name="보충" id="{36d349e7-f774-ca6d-fa8c-f7ef7c4bc63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직사각형처럼 칸을 세기 어려운 원의 넓이를 구하는 방법이 궁금하게 하고 오늘 할 일을 알려 줍니다.
시간: 약 2분
이렇게 말해 보세요
- “직사각형의 넓이는 가로 × 세로로 구했지? 원은 곧은 변이 없어. 어떻게 구할 수 있을까?”
- “그림처럼 원을 피자 조각처럼 자르면 뭔가 할 수 있지 않을까?”
예상 답
- “모눈을 세요.” “조각을 붙여 봐요.”
막히면
- 예상만 듣고 넘어갑니다. S04에서 직접 잘라 붙여 봅니다.
주의
- 준비물: 종이 원 2장(컴퍼스로 반지름 6 cm쯤, 또는 접시를 대고 그림), 가위, 풀, 색연필, 자. 원 하나는 반을 다른 색으로 칠해 둡니다.
- 가위는 부모가 함께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확인(원주, 직사각형의 넓이)]
목적: 지난 차시의 원주 구하기와, 오늘 쓰는 직사각형의 넓이, 소수의 곱셈을 확인합니다.
시간: 약 3분
이렇게 말해 보세요
- “①은 지난 시간에 배운 원주야. 반지름이 주어졌어.”
- “②는 직사각형의 넓이, ③은 계산이야.”
정답
- ① 5 × 2 × 3.14 = 31.4, 31.4 cm
- ② 6 × 4 = 24, 24 cm²
- ③ 78.5
막히면
- ①이 틀리면 S14(보충)를 먼저 합니다. 보충으로도 어려우면 ‘원주와 원주율’을 다시 봅니다.
- ③은 5 × 5 = 25를 먼저 하고 25 × 3.14 = 78.5를 계산합니다.
주의
- ③의 계산은 오늘 첫 예제(반지름 5 cm인 원의 넓이)의 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원의 넓이 어림하기]
목적: 원 안과 밖의 정사각형 넓이로 원의 넓이가 어느 범위에 있는지 어림합니다.
시간: 약 3분
이렇게 말해 보세요
- “원 밖의 정사각형은 한 변이 지름과 같아. 지름은 몇 cm야? 넓이는?”
- “원 안의 정사각형은 두 대각선이 모두 지름이야. 마름모의 넓이를 구하는 방법으로 구해 볼까?”
- “그러면 원의 넓이는 얼마쯤일까?”
예상 답
- “지름 20 cm라서 바깥은 400 cm², 안쪽은 20 × 20 ÷ 2 = 200 cm²예요.”
- “원은 그 사이, 300쯤이에요.”
막히면
- 안쪽 정사각형을 대각선으로 4조각 내면 직각삼각형 4개이고, 바깥 정사각형의 반이라는 것을 보여 줍니다.
주의
- 실제 원의 넓이는 10 × 10 × 3.14 = 314 cm²입니다. 수업 끝에 다시 확인합니다.
- 마름모의 넓이(두 대각선의 곱 ÷ 2)는 초5에서 배웠습니다. 어려우면 ‘바깥 정사각형의 반’으로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원을 잘라 붙이기]
목적: 원을 똑같이 잘게 잘라 엇갈려 붙이면 평행사변형(직사각형)에 가까운 모양이 되고, 넓이는 원과 같다는 것을 압니다.
시간: 약 5분
이렇게 말해 보세요
- “종이 원을 반으로 접고, 또 접고, 또 접어서 펴면 16조각이 생겨. 선을 따라 잘라 볼까?”
- “주황색 조각은 위를 향하게, 흰 조각은 아래를 향하게 번갈아 붙여 보자. 어떤 모양이야?”
- “모양은 바뀌었는데 넓이는? 원의 넓이와 같을까?”
예상 답
- “평행사변형(직사각형) 같아요.”
- “조각을 옮기기만 했으니 넓이는 같아요.”
막히면
- 접는 것이 어려우면 8조각(세 번 접기)으로 해도 됩니다. 조각을 다 자르지 않고 부모가 먼저 하나 붙여 보여 줍니다.
주의
- 잘라 붙이는 활동은 시간이 오래 걸리므로 원 하나만 합니다. 다른 원은 집에서 더 잘게(32조각) 해 볼 수 있습니다.
- 조각을 옮겨도 넓이가 그대로라는 것이 이 방법의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원의 넓이 = 반지름 × 반지름 × 원주율]
목적: 잘라 붙인 직사각형의 가로가 원주의 반(반지름 × 원주율), 세로가 반지름이므로 원의 넓이 = 반지름 × 반지름 × 원주율임을 설명합니다.
시간: 약 4분
이렇게 말해 보세요
- “더 잘게 32조각으로 자르면 거의 직사각형이 돼. 가로는 원의 어디였지? 주황 조각들의 둥근 부분을 모으면 원주의 얼마야?”
- “원주는 지름 × 원주율 = 반지름 × 2 × 원주율이었지? 그 반은?”
- “세로는 조각의 길이, 즉 반지름이야. 그러면 직사각형의 넓이는?”
예상 답
- “가로는 원주의 반이에요. 반지름 × 원주율이요.”
- “넓이는 반지름 × 원주율 × 반지름이에요.”
막히면
- S04에서 붙인 모양의 위쪽 둥근 선(주황)을 손가락으로 따라가며 “원의 둘레 중 위쪽 반”이라고 짚습니다.
주의
- 곱셈은 순서를 바꾸어도 되므로 반지름 × 원주율 × 반지름 = 반지름 × 반지름 × 원주율입니다.
- S03의 원(반지름 10 cm): 10 × 10 × 3.14 = 314 cm², 어림한 200과 400 사이가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비교(지름 × 지름 × 원주율)]
목적: 지름을 반지름처럼 곱하는 실수(M1)를 찾고, 바깥 정사각형의 넓이와 비교하는 어림으로 확인합니다.
시간: 약 2분
이렇게 말해 보세요
- “원의 넓이를 구하는 식에는 지름이 들어갔어, 반지름이 들어갔어?”
- “이 원 밖에 꼭 맞는 정사각형의 넓이는? 원의 넓이가 그보다 클 수 있을까?”
예상 답
- “곰이요. 반지름 5 cm로 해야 해요.” “바깥 정사각형이 10 × 10 = 100인데 토끼는 314라서 너무 커요.”
정답
- 곰이 맞습니다. 반지름이 10 ÷ 2 = 5 cm이므로 5 × 5 × 3.14 = 78.5 cm²입니다.
- 토끼의 314 cm²는 바깥 정사각형(100 cm²)보다 커서 말이 되지 않습니다.
막히면
- S03처럼 원과 바깥 정사각형을 그려 보게 합니다.
주의
- ‘반지름 × 2 × 원주율’(원주)과 헷갈리는 경우도 있습니다. 넓이는 반지름을 두 번 곱하고, 단위는 cm²입니다.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연습(원의 넓이)]
목적: 도움을 받으며 반지름이나 지름과 주어진 원주율로 원의 넓이를 구합니다.
시간: 약 3분
이렇게 말해 보세요
- “①은 반지름이 4 cm야. 식을 세워 볼래?”
- “②는 지름이야. 먼저 무엇을 구해야 할까?”
- “③은 원주율 3을 써.”
정답
- ① 4 × 4 × 3.14 = 50.24, 50.24 cm²
- ② 6 × 6 × 3.1 = 111.6, 111.6 cm²
- ③ 10 × 10 × 3 = 300, 300 cm²
막히면
- 원을 그리고 반지름을 표시한 뒤 식을 세웁니다. 계산은 반지름 × 반지름부터 합니다.
주의
- 답의 단위는 cm²입니다. cm로 쓰면 “길이야, 넓이야?”라고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색칠한 부분의 넓이]
목적: 색칠한 부분의 넓이를 전체(정사각형)에서 원의 넓이를 빼서 구하는 방법을 압니다.
시간: 약 3분
이렇게 말해 보세요
- “색칠한 부분은 어떤 모양이야? 한 번에 구하기 어렵지?”
- “정사각형 전체에서 원을 빼면 색칠한 부분만 남아. 원의 반지름은 얼마야?”
예상 답
- “원의 지름이 정사각형의 한 변과 같아서 10 cm, 반지름은 5 cm예요.” “100 − 78.5 = 21.5 cm²예요.”
막히면
- 종이 정사각형에 원을 그려 오려 내고 남은 네 귀퉁이를 보여 줍니다.
주의
- 반원의 넓이는 원의 넓이의 반(÷ 2)입니다. S09에서 연습합니다.
- 여기까지가 설명입니다. 지치면 쉬고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연습(원주로 넓이, 반원, 색칠한 부분)]
목적: 도움을 받으며 반원, 원주가 주어진 원, 정사각형에서 원을 뺀 부분의 넓이를 구합니다.
시간: 약 4분
이렇게 말해 보세요
- “①은 반원이야. 원의 넓이를 구한 다음 어떻게 할까?”
- “②는 원주만 알아. 지름은 원주 ÷ 원주율이었지?”
- “③은 S08과 같은 방법이야.”
정답
- ① 6 × 6 × 3.14 ÷ 2 = 56.52, 56.52 cm²
- ② 지름 18.84 ÷ 3.14 = 6, 반지름 3, 3 × 3 × 3.14 = 28.26, 28.26 cm²
- ③ 8 × 8 − 4 × 4 × 3.14 = 64 − 50.24 = 13.76, 13.76 cm²
막히면
- ②는 지난 차시에 배운 ‘원주로 지름 구하기(지름 = 원주 ÷ 원주율)’를 떠올리게 합니다.
- ③은 공책에 그림을 그리고 원의 반지름이 4 cm인 것을 먼저 찾습니다.
주의
- ②에서 지름을 반지름으로 착각해 6 × 6 × 3.14로 하면 넓이가 4배가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원의 넓이를 구하고(목표 ②) 넓이를 구하는 식의 까닭을 설명하는지(목표 ①) 봅니다.
시간: 약 5분
이렇게 말해 보세요
- “이번에는 혼자 해 볼래? 다 하면 어떻게 구했는지 말해 줘. ③은 S05의 그림을 떠올려 말로 설명해.”
정답
- ① 7 × 7 × 3.14 = 153.86, 153.86 cm²
- ② 8 × 8 × 3.1 = 198.4, 198.4 cm²
- ③ 기준: 원을 잘게 잘라 붙이면 가로가 원주의 반(반지름 × 원주율), 세로가 반지름인 직사각형이 되어 넓이가 반지름 × 반지름 × 원주율이라는 내용을 말하면 성공
- ④ 5 × 5 × 3.14 ÷ 2 = 39.25, 39.25 cm²
막히면
- 바로 알려 주지 말고 “지름이야, 반지름이야?”, “잘라 붙인 모양의 가로와 세로는?”이라고만 묻습니다.
- 도움을 받아 해결했다면 기록표에 ‘도움’으로 표시합니다.
주의
- ③에서 식만 외워 말하고 가로·세로의 뜻을 말하지 못하면 목표 ①은 아직입니다.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어느 수를 곱했는지 같이 보자.”
정답
- ① 153.86 cm² ② 198.4 cm² ③ 잘라 붙인 직사각형의 가로 = 원주의 반 = 반지름 × 원주율, 세로 = 반지름 ④ 39.25 cm²
막히면
- ①②가 틀렸으면 S06·S07, ③은 S05, ④는 S09 ①을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확인(넓이 비교)]
목적: 처음 보는 문제에서 반지름·지름·원주가 섞여 주어진 도형의 넓이를 구해 비교하는지 확인합니다.
시간: 약 3분
이렇게 말해 보세요
- “모두 넓이를 구해서 비교해 볼까? 다는 원주로 지름부터 구해야 해.”
정답
- 다. 가 6 × 6 × 3.14 = 113.04 cm², 나 5 × 5 × 3.14 = 78.5 cm², 다 지름 43.96 ÷ 3.14 = 14, 반지름 7, 7 × 7 × 3.14 = 153.86 cm², 라 12 × 12 = 144 cm²
막히면
- 넓이를 구하기 전에 반지름부터 모두 찾게 합니다(가 6, 나 5, 다 7).
주의
- 라를 고르면 다의 원주를 반지름이나 지름으로 바꾸지 못한 것입니다. 까닭까지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“원의 넓이는 어떻게 구하지? 왜 반지름을 두 번 곱하는지 잘라 붙인 모양으로 말해 볼래?”
예상 답
- “반지름 × 반지름 × 원주율이에요. 잘라 붙이면 가로가 반지름 × 원주율, 세로가 반지름이라서요.”
정답
- ① 2 × 2 × 3.14 = 12.56, 12.56 cm²
- ② 반지름 × 반지름 × 원주율
- ③ 3 × 3 × 3 = 27, 27 cm²
막히면
- S05를 다시 보여 줍니다.
주의
- 복습 세 문제는 다음 수업을 시작할 때 활동지 마지막 쪽과 함께 풉니다.
- 다음 차시는 ‘띠그래프와 원그래프’입니다. 백분율(초6 ‘백분율’)을 다시 봐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보충(원주 구하기)]
목적: S02에서 원주 구하기가 흔들리면, 오늘 내용 전에 원주 = 지름 × 원주율을 다시 익힙니다. 오늘의 ‘원주의 반’을 이해하려면 꼭 필요합니다.
시간: 약 5분
이렇게 말해 보세요
- “원주율은 원주가 지름의 몇 배인지 나타낸 수였어. 그래서 원주 = 지름 × 원주율이야.”
- “반지름이 5 cm면 지름은? 원주는?”
정답
- 지름 10 cm, 원주 31.4 cm(원주율 3.14)
막히면
- 컵의 지름과 원주를 다시 재어 원주가 지름의 3배보다 조금 길다는 것을 확인합니다.
주의
- 보충으로도 어려우면 ‘원주와 원주율’을 먼저 다시 합니다. 직사각형의 넓이가 흔들리면 초5 ‘직사각형의 넓이’를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원의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원의 넓이는 어떻게 구할까?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을 똑같이 16조각으로 자른 그림: 위쪽 반은 주황색, 아래쪽 반은 옅은 색"/>
          <p:cNvSpPr/>
          <p:nvPr/>
        </p:nvSpPr>
        <p:spPr>
          <a:xfrm>
            <a:off x="9646920" y="1578254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524866"/>
                </a:moveTo>
                <a:lnTo>
                  <a:pt x="1371600" y="524866"/>
                </a:lnTo>
                <a:lnTo>
                  <a:pt x="1368857" y="435254"/>
                </a:lnTo>
                <a:lnTo>
                  <a:pt x="1359713" y="345643"/>
                </a:lnTo>
                <a:lnTo>
                  <a:pt x="1345082" y="256946"/>
                </a:lnTo>
                <a:lnTo>
                  <a:pt x="1324966" y="170078"/>
                </a:lnTo>
                <a:lnTo>
                  <a:pt x="1298448" y="84125"/>
                </a:lnTo>
                <a:lnTo>
                  <a:pt x="126735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646920" y="1132942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970178"/>
                </a:moveTo>
                <a:lnTo>
                  <a:pt x="1267358" y="445313"/>
                </a:lnTo>
                <a:lnTo>
                  <a:pt x="1229868" y="363931"/>
                </a:lnTo>
                <a:lnTo>
                  <a:pt x="1187806" y="284378"/>
                </a:lnTo>
                <a:lnTo>
                  <a:pt x="1140257" y="208483"/>
                </a:lnTo>
                <a:lnTo>
                  <a:pt x="1088136" y="135331"/>
                </a:lnTo>
                <a:lnTo>
                  <a:pt x="1031443" y="65837"/>
                </a:lnTo>
                <a:lnTo>
                  <a:pt x="97017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835762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1267358"/>
                </a:moveTo>
                <a:lnTo>
                  <a:pt x="970178" y="297180"/>
                </a:lnTo>
                <a:lnTo>
                  <a:pt x="904342" y="235915"/>
                </a:lnTo>
                <a:lnTo>
                  <a:pt x="834847" y="179222"/>
                </a:lnTo>
                <a:lnTo>
                  <a:pt x="761695" y="127102"/>
                </a:lnTo>
                <a:lnTo>
                  <a:pt x="685800" y="79553"/>
                </a:lnTo>
                <a:lnTo>
                  <a:pt x="606247" y="37490"/>
                </a:lnTo>
                <a:lnTo>
                  <a:pt x="52486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646920" y="7315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1371600"/>
                </a:moveTo>
                <a:lnTo>
                  <a:pt x="524866" y="104242"/>
                </a:lnTo>
                <a:lnTo>
                  <a:pt x="440741" y="73152"/>
                </a:lnTo>
                <a:lnTo>
                  <a:pt x="354787" y="46634"/>
                </a:lnTo>
                <a:lnTo>
                  <a:pt x="267919" y="26518"/>
                </a:lnTo>
                <a:lnTo>
                  <a:pt x="179222" y="11887"/>
                </a:lnTo>
                <a:lnTo>
                  <a:pt x="89611" y="2743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122054" y="7315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1371600"/>
                </a:moveTo>
                <a:lnTo>
                  <a:pt x="524866" y="0"/>
                </a:lnTo>
                <a:lnTo>
                  <a:pt x="435254" y="2743"/>
                </a:lnTo>
                <a:lnTo>
                  <a:pt x="345643" y="11887"/>
                </a:lnTo>
                <a:lnTo>
                  <a:pt x="256946" y="26518"/>
                </a:lnTo>
                <a:lnTo>
                  <a:pt x="170078" y="46634"/>
                </a:lnTo>
                <a:lnTo>
                  <a:pt x="84125" y="73152"/>
                </a:lnTo>
                <a:lnTo>
                  <a:pt x="0" y="10424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676742" y="835762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1267358"/>
                </a:moveTo>
                <a:lnTo>
                  <a:pt x="445313" y="0"/>
                </a:lnTo>
                <a:lnTo>
                  <a:pt x="363931" y="37490"/>
                </a:lnTo>
                <a:lnTo>
                  <a:pt x="284378" y="79553"/>
                </a:lnTo>
                <a:lnTo>
                  <a:pt x="208483" y="127102"/>
                </a:lnTo>
                <a:lnTo>
                  <a:pt x="135331" y="179222"/>
                </a:lnTo>
                <a:lnTo>
                  <a:pt x="65837" y="235915"/>
                </a:lnTo>
                <a:lnTo>
                  <a:pt x="0" y="29718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379562" y="1132942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970178"/>
                </a:moveTo>
                <a:lnTo>
                  <a:pt x="297180" y="0"/>
                </a:lnTo>
                <a:lnTo>
                  <a:pt x="235915" y="65837"/>
                </a:lnTo>
                <a:lnTo>
                  <a:pt x="179222" y="135331"/>
                </a:lnTo>
                <a:lnTo>
                  <a:pt x="127102" y="208483"/>
                </a:lnTo>
                <a:lnTo>
                  <a:pt x="79553" y="284378"/>
                </a:lnTo>
                <a:lnTo>
                  <a:pt x="37490" y="363931"/>
                </a:lnTo>
                <a:lnTo>
                  <a:pt x="0" y="44531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275320" y="1578254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524866"/>
                </a:moveTo>
                <a:lnTo>
                  <a:pt x="104242" y="0"/>
                </a:lnTo>
                <a:lnTo>
                  <a:pt x="73152" y="84125"/>
                </a:lnTo>
                <a:lnTo>
                  <a:pt x="46634" y="170078"/>
                </a:lnTo>
                <a:lnTo>
                  <a:pt x="26518" y="256946"/>
                </a:lnTo>
                <a:lnTo>
                  <a:pt x="11887" y="345643"/>
                </a:lnTo>
                <a:lnTo>
                  <a:pt x="2743" y="435254"/>
                </a:lnTo>
                <a:lnTo>
                  <a:pt x="0" y="52486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275320" y="2103120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0"/>
                </a:moveTo>
                <a:lnTo>
                  <a:pt x="0" y="0"/>
                </a:lnTo>
                <a:lnTo>
                  <a:pt x="2743" y="89611"/>
                </a:lnTo>
                <a:lnTo>
                  <a:pt x="11887" y="179222"/>
                </a:lnTo>
                <a:lnTo>
                  <a:pt x="26518" y="267919"/>
                </a:lnTo>
                <a:lnTo>
                  <a:pt x="46634" y="354787"/>
                </a:lnTo>
                <a:lnTo>
                  <a:pt x="73152" y="440741"/>
                </a:lnTo>
                <a:lnTo>
                  <a:pt x="104242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379562" y="2103120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0"/>
                </a:moveTo>
                <a:lnTo>
                  <a:pt x="0" y="524866"/>
                </a:lnTo>
                <a:lnTo>
                  <a:pt x="37490" y="606247"/>
                </a:lnTo>
                <a:lnTo>
                  <a:pt x="79553" y="685800"/>
                </a:lnTo>
                <a:lnTo>
                  <a:pt x="127102" y="761695"/>
                </a:lnTo>
                <a:lnTo>
                  <a:pt x="179222" y="834847"/>
                </a:lnTo>
                <a:lnTo>
                  <a:pt x="235915" y="904342"/>
                </a:lnTo>
                <a:lnTo>
                  <a:pt x="297180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676742" y="2103120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0"/>
                </a:moveTo>
                <a:lnTo>
                  <a:pt x="0" y="970178"/>
                </a:lnTo>
                <a:lnTo>
                  <a:pt x="65837" y="1031443"/>
                </a:lnTo>
                <a:lnTo>
                  <a:pt x="135331" y="1088136"/>
                </a:lnTo>
                <a:lnTo>
                  <a:pt x="208483" y="1140257"/>
                </a:lnTo>
                <a:lnTo>
                  <a:pt x="284378" y="1187806"/>
                </a:lnTo>
                <a:lnTo>
                  <a:pt x="363931" y="1229868"/>
                </a:lnTo>
                <a:lnTo>
                  <a:pt x="445313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122054" y="21031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0"/>
                </a:moveTo>
                <a:lnTo>
                  <a:pt x="0" y="1267358"/>
                </a:lnTo>
                <a:lnTo>
                  <a:pt x="84125" y="1298448"/>
                </a:lnTo>
                <a:lnTo>
                  <a:pt x="170078" y="1324966"/>
                </a:lnTo>
                <a:lnTo>
                  <a:pt x="256946" y="1345082"/>
                </a:lnTo>
                <a:lnTo>
                  <a:pt x="345643" y="1359713"/>
                </a:lnTo>
                <a:lnTo>
                  <a:pt x="435254" y="1368857"/>
                </a:lnTo>
                <a:lnTo>
                  <a:pt x="524866" y="13716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646920" y="21031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0"/>
                </a:moveTo>
                <a:lnTo>
                  <a:pt x="0" y="1371600"/>
                </a:lnTo>
                <a:lnTo>
                  <a:pt x="89611" y="1368857"/>
                </a:lnTo>
                <a:lnTo>
                  <a:pt x="179222" y="1359713"/>
                </a:lnTo>
                <a:lnTo>
                  <a:pt x="267919" y="1345082"/>
                </a:lnTo>
                <a:lnTo>
                  <a:pt x="354787" y="1324966"/>
                </a:lnTo>
                <a:lnTo>
                  <a:pt x="440741" y="1298448"/>
                </a:lnTo>
                <a:lnTo>
                  <a:pt x="524866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646920" y="2103120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0"/>
                </a:moveTo>
                <a:lnTo>
                  <a:pt x="524866" y="1267358"/>
                </a:lnTo>
                <a:lnTo>
                  <a:pt x="606247" y="1229868"/>
                </a:lnTo>
                <a:lnTo>
                  <a:pt x="685800" y="1187806"/>
                </a:lnTo>
                <a:lnTo>
                  <a:pt x="761695" y="1140257"/>
                </a:lnTo>
                <a:lnTo>
                  <a:pt x="834847" y="1088136"/>
                </a:lnTo>
                <a:lnTo>
                  <a:pt x="904342" y="1031443"/>
                </a:lnTo>
                <a:lnTo>
                  <a:pt x="970178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646920" y="2103120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0"/>
                </a:moveTo>
                <a:lnTo>
                  <a:pt x="970178" y="970178"/>
                </a:lnTo>
                <a:lnTo>
                  <a:pt x="1031443" y="904342"/>
                </a:lnTo>
                <a:lnTo>
                  <a:pt x="1088136" y="834847"/>
                </a:lnTo>
                <a:lnTo>
                  <a:pt x="1140257" y="761695"/>
                </a:lnTo>
                <a:lnTo>
                  <a:pt x="1187806" y="685800"/>
                </a:lnTo>
                <a:lnTo>
                  <a:pt x="1229868" y="606247"/>
                </a:lnTo>
                <a:lnTo>
                  <a:pt x="1267358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9646920" y="2103120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0"/>
                </a:moveTo>
                <a:lnTo>
                  <a:pt x="1267358" y="524866"/>
                </a:lnTo>
                <a:lnTo>
                  <a:pt x="1298448" y="440741"/>
                </a:lnTo>
                <a:lnTo>
                  <a:pt x="1324966" y="354787"/>
                </a:lnTo>
                <a:lnTo>
                  <a:pt x="1345082" y="267919"/>
                </a:lnTo>
                <a:lnTo>
                  <a:pt x="1359713" y="179222"/>
                </a:lnTo>
                <a:lnTo>
                  <a:pt x="1368857" y="89611"/>
                </a:lnTo>
                <a:lnTo>
                  <a:pt x="1371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원을 잘라 붙여 넓이 구하는 방법을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반지름으로 원의 넓이를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5 cm인 원의 원주는?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 cm, 세로 4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넓이는?</a:t>
            </a:r>
            <a:endParaRPr lang="ko-KR" sz="2800" dirty="0"/>
          </a:p>
        </p:txBody>
      </p:sp>
      <p:sp>
        <p:nvSpPr>
          <p:cNvPr id="7" name="S02-chip2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2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5 × 3.14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어림하기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10 cm인 원이에요.</a:t>
            </a:r>
            <a:endParaRPr lang="ko-KR" sz="2800" dirty="0"/>
          </a:p>
        </p:txBody>
      </p:sp>
      <p:sp>
        <p:nvSpPr>
          <p:cNvPr id="4" name="S03-figure27" descr="반지름 10 cm인 원과, 원 안에 꼭 맞는 정사각형(주황색, 대각선이 지름), 원 밖에 꼭 맞는 정사각형(파란색, 한 변이 지름)"/>
          <p:cNvSpPr/>
          <p:nvPr/>
        </p:nvSpPr>
        <p:spPr>
          <a:xfrm>
            <a:off x="1429482" y="2743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27432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5" name="S03-mark28"/>
          <p:cNvSpPr/>
          <p:nvPr/>
        </p:nvSpPr>
        <p:spPr>
          <a:xfrm>
            <a:off x="1429482" y="2743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743200" y="1371600"/>
                </a:moveTo>
                <a:lnTo>
                  <a:pt x="1371600" y="0"/>
                </a:lnTo>
                <a:lnTo>
                  <a:pt x="0" y="1371600"/>
                </a:lnTo>
                <a:lnTo>
                  <a:pt x="1371600" y="2743200"/>
                </a:lnTo>
                <a:close/>
              </a:path>
            </a:pathLst>
          </a:custGeom>
          <a:solidFill>
            <a:srgbClr val="FDEBDD"/>
          </a:solidFill>
          <a:ln w="38100">
            <a:solidFill>
              <a:srgbClr val="E9762B"/>
            </a:solidFill>
            <a:prstDash val="solid"/>
          </a:ln>
        </p:spPr>
      </p:sp>
      <p:sp>
        <p:nvSpPr>
          <p:cNvPr id="6" name="S03-mark29"/>
          <p:cNvSpPr/>
          <p:nvPr/>
        </p:nvSpPr>
        <p:spPr>
          <a:xfrm>
            <a:off x="1429482" y="27432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30"/>
          <p:cNvSpPr/>
          <p:nvPr/>
        </p:nvSpPr>
        <p:spPr>
          <a:xfrm>
            <a:off x="2801082" y="4114800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3-mark31"/>
          <p:cNvSpPr/>
          <p:nvPr/>
        </p:nvSpPr>
        <p:spPr>
          <a:xfrm>
            <a:off x="2741646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label33"/>
          <p:cNvSpPr txBox="1"/>
          <p:nvPr/>
        </p:nvSpPr>
        <p:spPr>
          <a:xfrm>
            <a:off x="2875758" y="3711575"/>
            <a:ext cx="94792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</a:t>
            </a:r>
            <a:endParaRPr lang="ko-KR" sz="2200" dirty="0"/>
          </a:p>
        </p:txBody>
      </p:sp>
      <p:sp>
        <p:nvSpPr>
          <p:cNvPr id="10" name="S03-card34"/>
          <p:cNvSpPr/>
          <p:nvPr/>
        </p:nvSpPr>
        <p:spPr>
          <a:xfrm>
            <a:off x="5419283" y="2107692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35"/>
          <p:cNvSpPr txBox="1"/>
          <p:nvPr/>
        </p:nvSpPr>
        <p:spPr>
          <a:xfrm>
            <a:off x="5693603" y="2244852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20 ÷ 2 = 200 (cm²)</a:t>
            </a:r>
            <a:endParaRPr lang="ko-KR" sz="2800" dirty="0"/>
          </a:p>
        </p:txBody>
      </p:sp>
      <p:sp>
        <p:nvSpPr>
          <p:cNvPr id="12" name="S03-card36"/>
          <p:cNvSpPr/>
          <p:nvPr/>
        </p:nvSpPr>
        <p:spPr>
          <a:xfrm>
            <a:off x="5419283" y="3516376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S03-cardtext37"/>
          <p:cNvSpPr txBox="1"/>
          <p:nvPr/>
        </p:nvSpPr>
        <p:spPr>
          <a:xfrm>
            <a:off x="5693603" y="3653536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20 = 400 (cm²)</a:t>
            </a:r>
            <a:endParaRPr lang="ko-KR" sz="2800" dirty="0"/>
          </a:p>
        </p:txBody>
      </p:sp>
      <p:sp>
        <p:nvSpPr>
          <p:cNvPr id="14" name="S03-card38"/>
          <p:cNvSpPr/>
          <p:nvPr/>
        </p:nvSpPr>
        <p:spPr>
          <a:xfrm>
            <a:off x="5419283" y="4925060"/>
            <a:ext cx="6221029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3-cardtext39"/>
          <p:cNvSpPr txBox="1"/>
          <p:nvPr/>
        </p:nvSpPr>
        <p:spPr>
          <a:xfrm>
            <a:off x="5693603" y="5062220"/>
            <a:ext cx="5672389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넓이는 200 cm²보다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400 cm²보다 작아요.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잘라 붙이면</a:t>
            </a:r>
            <a:endParaRPr lang="ko-KR" sz="4000" dirty="0"/>
          </a:p>
        </p:txBody>
      </p:sp>
      <p:sp>
        <p:nvSpPr>
          <p:cNvPr id="3" name="S04-card40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41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잘게 자를수록 직사각형에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가까워져요.</a:t>
            </a:r>
            <a:endParaRPr lang="ko-KR" sz="2800" dirty="0"/>
          </a:p>
        </p:txBody>
      </p:sp>
      <p:sp>
        <p:nvSpPr>
          <p:cNvPr id="5" name="S04-card42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43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원의 넓이와 같아요.</a:t>
            </a:r>
            <a:endParaRPr lang="ko-KR" sz="2800" dirty="0"/>
          </a:p>
        </p:txBody>
      </p:sp>
      <p:sp>
        <p:nvSpPr>
          <p:cNvPr id="7" name="S04-figure44" descr="원을 똑같이 16조각으로 자름: 위쪽 반 주황색, 아래쪽 반 옅은 색"/>
          <p:cNvSpPr/>
          <p:nvPr/>
        </p:nvSpPr>
        <p:spPr>
          <a:xfrm>
            <a:off x="3241548" y="2309139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524866"/>
                </a:moveTo>
                <a:lnTo>
                  <a:pt x="1371600" y="524866"/>
                </a:lnTo>
                <a:lnTo>
                  <a:pt x="1368857" y="435254"/>
                </a:lnTo>
                <a:lnTo>
                  <a:pt x="1359713" y="345643"/>
                </a:lnTo>
                <a:lnTo>
                  <a:pt x="1345082" y="256946"/>
                </a:lnTo>
                <a:lnTo>
                  <a:pt x="1324966" y="170078"/>
                </a:lnTo>
                <a:lnTo>
                  <a:pt x="1298448" y="84125"/>
                </a:lnTo>
                <a:lnTo>
                  <a:pt x="126735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45"/>
          <p:cNvSpPr/>
          <p:nvPr/>
        </p:nvSpPr>
        <p:spPr>
          <a:xfrm>
            <a:off x="3241548" y="1863827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970178"/>
                </a:moveTo>
                <a:lnTo>
                  <a:pt x="1267358" y="445313"/>
                </a:lnTo>
                <a:lnTo>
                  <a:pt x="1229868" y="363931"/>
                </a:lnTo>
                <a:lnTo>
                  <a:pt x="1187806" y="284378"/>
                </a:lnTo>
                <a:lnTo>
                  <a:pt x="1140257" y="208483"/>
                </a:lnTo>
                <a:lnTo>
                  <a:pt x="1088136" y="135331"/>
                </a:lnTo>
                <a:lnTo>
                  <a:pt x="1031443" y="65837"/>
                </a:lnTo>
                <a:lnTo>
                  <a:pt x="97017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46"/>
          <p:cNvSpPr/>
          <p:nvPr/>
        </p:nvSpPr>
        <p:spPr>
          <a:xfrm>
            <a:off x="3241548" y="1566647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1267358"/>
                </a:moveTo>
                <a:lnTo>
                  <a:pt x="970178" y="297180"/>
                </a:lnTo>
                <a:lnTo>
                  <a:pt x="904342" y="235915"/>
                </a:lnTo>
                <a:lnTo>
                  <a:pt x="834847" y="179222"/>
                </a:lnTo>
                <a:lnTo>
                  <a:pt x="761695" y="127102"/>
                </a:lnTo>
                <a:lnTo>
                  <a:pt x="685800" y="79553"/>
                </a:lnTo>
                <a:lnTo>
                  <a:pt x="606247" y="37490"/>
                </a:lnTo>
                <a:lnTo>
                  <a:pt x="52486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47"/>
          <p:cNvSpPr/>
          <p:nvPr/>
        </p:nvSpPr>
        <p:spPr>
          <a:xfrm>
            <a:off x="3241548" y="14624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1371600"/>
                </a:moveTo>
                <a:lnTo>
                  <a:pt x="524866" y="104242"/>
                </a:lnTo>
                <a:lnTo>
                  <a:pt x="440741" y="73152"/>
                </a:lnTo>
                <a:lnTo>
                  <a:pt x="354787" y="46634"/>
                </a:lnTo>
                <a:lnTo>
                  <a:pt x="267919" y="26518"/>
                </a:lnTo>
                <a:lnTo>
                  <a:pt x="179222" y="11887"/>
                </a:lnTo>
                <a:lnTo>
                  <a:pt x="89611" y="2743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48"/>
          <p:cNvSpPr/>
          <p:nvPr/>
        </p:nvSpPr>
        <p:spPr>
          <a:xfrm>
            <a:off x="2716682" y="14624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1371600"/>
                </a:moveTo>
                <a:lnTo>
                  <a:pt x="524866" y="0"/>
                </a:lnTo>
                <a:lnTo>
                  <a:pt x="435254" y="2743"/>
                </a:lnTo>
                <a:lnTo>
                  <a:pt x="345643" y="11887"/>
                </a:lnTo>
                <a:lnTo>
                  <a:pt x="256946" y="26518"/>
                </a:lnTo>
                <a:lnTo>
                  <a:pt x="170078" y="46634"/>
                </a:lnTo>
                <a:lnTo>
                  <a:pt x="84125" y="73152"/>
                </a:lnTo>
                <a:lnTo>
                  <a:pt x="0" y="10424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49"/>
          <p:cNvSpPr/>
          <p:nvPr/>
        </p:nvSpPr>
        <p:spPr>
          <a:xfrm>
            <a:off x="2271370" y="1566647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1267358"/>
                </a:moveTo>
                <a:lnTo>
                  <a:pt x="445313" y="0"/>
                </a:lnTo>
                <a:lnTo>
                  <a:pt x="363931" y="37490"/>
                </a:lnTo>
                <a:lnTo>
                  <a:pt x="284378" y="79553"/>
                </a:lnTo>
                <a:lnTo>
                  <a:pt x="208483" y="127102"/>
                </a:lnTo>
                <a:lnTo>
                  <a:pt x="135331" y="179222"/>
                </a:lnTo>
                <a:lnTo>
                  <a:pt x="65837" y="235915"/>
                </a:lnTo>
                <a:lnTo>
                  <a:pt x="0" y="29718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50"/>
          <p:cNvSpPr/>
          <p:nvPr/>
        </p:nvSpPr>
        <p:spPr>
          <a:xfrm>
            <a:off x="1974190" y="1863827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970178"/>
                </a:moveTo>
                <a:lnTo>
                  <a:pt x="297180" y="0"/>
                </a:lnTo>
                <a:lnTo>
                  <a:pt x="235915" y="65837"/>
                </a:lnTo>
                <a:lnTo>
                  <a:pt x="179222" y="135331"/>
                </a:lnTo>
                <a:lnTo>
                  <a:pt x="127102" y="208483"/>
                </a:lnTo>
                <a:lnTo>
                  <a:pt x="79553" y="284378"/>
                </a:lnTo>
                <a:lnTo>
                  <a:pt x="37490" y="363931"/>
                </a:lnTo>
                <a:lnTo>
                  <a:pt x="0" y="44531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mark51"/>
          <p:cNvSpPr/>
          <p:nvPr/>
        </p:nvSpPr>
        <p:spPr>
          <a:xfrm>
            <a:off x="1869948" y="2309139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524866"/>
                </a:moveTo>
                <a:lnTo>
                  <a:pt x="104242" y="0"/>
                </a:lnTo>
                <a:lnTo>
                  <a:pt x="73152" y="84125"/>
                </a:lnTo>
                <a:lnTo>
                  <a:pt x="46634" y="170078"/>
                </a:lnTo>
                <a:lnTo>
                  <a:pt x="26518" y="256946"/>
                </a:lnTo>
                <a:lnTo>
                  <a:pt x="11887" y="345643"/>
                </a:lnTo>
                <a:lnTo>
                  <a:pt x="2743" y="435254"/>
                </a:lnTo>
                <a:lnTo>
                  <a:pt x="0" y="52486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mark52"/>
          <p:cNvSpPr/>
          <p:nvPr/>
        </p:nvSpPr>
        <p:spPr>
          <a:xfrm>
            <a:off x="1869948" y="2834005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0"/>
                </a:moveTo>
                <a:lnTo>
                  <a:pt x="0" y="0"/>
                </a:lnTo>
                <a:lnTo>
                  <a:pt x="2743" y="89611"/>
                </a:lnTo>
                <a:lnTo>
                  <a:pt x="11887" y="179222"/>
                </a:lnTo>
                <a:lnTo>
                  <a:pt x="26518" y="267919"/>
                </a:lnTo>
                <a:lnTo>
                  <a:pt x="46634" y="354787"/>
                </a:lnTo>
                <a:lnTo>
                  <a:pt x="73152" y="440741"/>
                </a:lnTo>
                <a:lnTo>
                  <a:pt x="104242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53"/>
          <p:cNvSpPr/>
          <p:nvPr/>
        </p:nvSpPr>
        <p:spPr>
          <a:xfrm>
            <a:off x="1974190" y="2834005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0"/>
                </a:moveTo>
                <a:lnTo>
                  <a:pt x="0" y="524866"/>
                </a:lnTo>
                <a:lnTo>
                  <a:pt x="37490" y="606247"/>
                </a:lnTo>
                <a:lnTo>
                  <a:pt x="79553" y="685800"/>
                </a:lnTo>
                <a:lnTo>
                  <a:pt x="127102" y="761695"/>
                </a:lnTo>
                <a:lnTo>
                  <a:pt x="179222" y="834847"/>
                </a:lnTo>
                <a:lnTo>
                  <a:pt x="235915" y="904342"/>
                </a:lnTo>
                <a:lnTo>
                  <a:pt x="297180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54"/>
          <p:cNvSpPr/>
          <p:nvPr/>
        </p:nvSpPr>
        <p:spPr>
          <a:xfrm>
            <a:off x="2271370" y="2834005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0"/>
                </a:moveTo>
                <a:lnTo>
                  <a:pt x="0" y="970178"/>
                </a:lnTo>
                <a:lnTo>
                  <a:pt x="65837" y="1031443"/>
                </a:lnTo>
                <a:lnTo>
                  <a:pt x="135331" y="1088136"/>
                </a:lnTo>
                <a:lnTo>
                  <a:pt x="208483" y="1140257"/>
                </a:lnTo>
                <a:lnTo>
                  <a:pt x="284378" y="1187806"/>
                </a:lnTo>
                <a:lnTo>
                  <a:pt x="363931" y="1229868"/>
                </a:lnTo>
                <a:lnTo>
                  <a:pt x="445313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55"/>
          <p:cNvSpPr/>
          <p:nvPr/>
        </p:nvSpPr>
        <p:spPr>
          <a:xfrm>
            <a:off x="2716682" y="28340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0"/>
                </a:moveTo>
                <a:lnTo>
                  <a:pt x="0" y="1267358"/>
                </a:lnTo>
                <a:lnTo>
                  <a:pt x="84125" y="1298448"/>
                </a:lnTo>
                <a:lnTo>
                  <a:pt x="170078" y="1324966"/>
                </a:lnTo>
                <a:lnTo>
                  <a:pt x="256946" y="1345082"/>
                </a:lnTo>
                <a:lnTo>
                  <a:pt x="345643" y="1359713"/>
                </a:lnTo>
                <a:lnTo>
                  <a:pt x="435254" y="1368857"/>
                </a:lnTo>
                <a:lnTo>
                  <a:pt x="524866" y="13716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mark56"/>
          <p:cNvSpPr/>
          <p:nvPr/>
        </p:nvSpPr>
        <p:spPr>
          <a:xfrm>
            <a:off x="3241548" y="28340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0"/>
                </a:moveTo>
                <a:lnTo>
                  <a:pt x="0" y="1371600"/>
                </a:lnTo>
                <a:lnTo>
                  <a:pt x="89611" y="1368857"/>
                </a:lnTo>
                <a:lnTo>
                  <a:pt x="179222" y="1359713"/>
                </a:lnTo>
                <a:lnTo>
                  <a:pt x="267919" y="1345082"/>
                </a:lnTo>
                <a:lnTo>
                  <a:pt x="354787" y="1324966"/>
                </a:lnTo>
                <a:lnTo>
                  <a:pt x="440741" y="1298448"/>
                </a:lnTo>
                <a:lnTo>
                  <a:pt x="524866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57"/>
          <p:cNvSpPr/>
          <p:nvPr/>
        </p:nvSpPr>
        <p:spPr>
          <a:xfrm>
            <a:off x="3241548" y="2834005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0"/>
                </a:moveTo>
                <a:lnTo>
                  <a:pt x="524866" y="1267358"/>
                </a:lnTo>
                <a:lnTo>
                  <a:pt x="606247" y="1229868"/>
                </a:lnTo>
                <a:lnTo>
                  <a:pt x="685800" y="1187806"/>
                </a:lnTo>
                <a:lnTo>
                  <a:pt x="761695" y="1140257"/>
                </a:lnTo>
                <a:lnTo>
                  <a:pt x="834847" y="1088136"/>
                </a:lnTo>
                <a:lnTo>
                  <a:pt x="904342" y="1031443"/>
                </a:lnTo>
                <a:lnTo>
                  <a:pt x="970178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mark58"/>
          <p:cNvSpPr/>
          <p:nvPr/>
        </p:nvSpPr>
        <p:spPr>
          <a:xfrm>
            <a:off x="3241548" y="2834005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0"/>
                </a:moveTo>
                <a:lnTo>
                  <a:pt x="970178" y="970178"/>
                </a:lnTo>
                <a:lnTo>
                  <a:pt x="1031443" y="904342"/>
                </a:lnTo>
                <a:lnTo>
                  <a:pt x="1088136" y="834847"/>
                </a:lnTo>
                <a:lnTo>
                  <a:pt x="1140257" y="761695"/>
                </a:lnTo>
                <a:lnTo>
                  <a:pt x="1187806" y="685800"/>
                </a:lnTo>
                <a:lnTo>
                  <a:pt x="1229868" y="606247"/>
                </a:lnTo>
                <a:lnTo>
                  <a:pt x="1267358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4-mark59"/>
          <p:cNvSpPr/>
          <p:nvPr/>
        </p:nvSpPr>
        <p:spPr>
          <a:xfrm>
            <a:off x="3241548" y="2834005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0"/>
                </a:moveTo>
                <a:lnTo>
                  <a:pt x="1267358" y="524866"/>
                </a:lnTo>
                <a:lnTo>
                  <a:pt x="1298448" y="440741"/>
                </a:lnTo>
                <a:lnTo>
                  <a:pt x="1324966" y="354787"/>
                </a:lnTo>
                <a:lnTo>
                  <a:pt x="1345082" y="267919"/>
                </a:lnTo>
                <a:lnTo>
                  <a:pt x="1359713" y="179222"/>
                </a:lnTo>
                <a:lnTo>
                  <a:pt x="1368857" y="89611"/>
                </a:lnTo>
                <a:lnTo>
                  <a:pt x="1371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4-label60"/>
          <p:cNvSpPr txBox="1"/>
          <p:nvPr/>
        </p:nvSpPr>
        <p:spPr>
          <a:xfrm>
            <a:off x="548640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16조각으로 자르고</a:t>
            </a:r>
            <a:endParaRPr lang="ko-KR" sz="2200" dirty="0"/>
          </a:p>
        </p:txBody>
      </p:sp>
      <p:sp>
        <p:nvSpPr>
          <p:cNvPr id="24" name="S04-figure61" descr="16조각을 위아래로 엇갈려 붙인 모양: 평행사변형에 가까움"/>
          <p:cNvSpPr/>
          <p:nvPr/>
        </p:nvSpPr>
        <p:spPr>
          <a:xfrm>
            <a:off x="6672834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62"/>
          <p:cNvSpPr/>
          <p:nvPr/>
        </p:nvSpPr>
        <p:spPr>
          <a:xfrm>
            <a:off x="7207758" y="2161464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7142" y="1359713"/>
                </a:lnTo>
                <a:lnTo>
                  <a:pt x="535838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63"/>
          <p:cNvSpPr/>
          <p:nvPr/>
        </p:nvSpPr>
        <p:spPr>
          <a:xfrm>
            <a:off x="7743596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0"/>
                </a:moveTo>
                <a:lnTo>
                  <a:pt x="0" y="1345082"/>
                </a:lnTo>
                <a:lnTo>
                  <a:pt x="87782" y="1359713"/>
                </a:lnTo>
                <a:lnTo>
                  <a:pt x="177394" y="1368857"/>
                </a:lnTo>
                <a:lnTo>
                  <a:pt x="267005" y="1371600"/>
                </a:lnTo>
                <a:lnTo>
                  <a:pt x="356616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4-mark64"/>
          <p:cNvSpPr/>
          <p:nvPr/>
        </p:nvSpPr>
        <p:spPr>
          <a:xfrm>
            <a:off x="8278520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7394" y="1368857"/>
                </a:lnTo>
                <a:lnTo>
                  <a:pt x="267005" y="1371600"/>
                </a:lnTo>
                <a:lnTo>
                  <a:pt x="357530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4-mark65"/>
          <p:cNvSpPr/>
          <p:nvPr/>
        </p:nvSpPr>
        <p:spPr>
          <a:xfrm>
            <a:off x="8813444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7142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4-mark66"/>
          <p:cNvSpPr/>
          <p:nvPr/>
        </p:nvSpPr>
        <p:spPr>
          <a:xfrm>
            <a:off x="9348368" y="2161464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7142" y="1359713"/>
                </a:lnTo>
                <a:lnTo>
                  <a:pt x="535838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mark67"/>
          <p:cNvSpPr/>
          <p:nvPr/>
        </p:nvSpPr>
        <p:spPr>
          <a:xfrm>
            <a:off x="9884207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0"/>
                </a:moveTo>
                <a:lnTo>
                  <a:pt x="0" y="1345082"/>
                </a:lnTo>
                <a:lnTo>
                  <a:pt x="87782" y="1359713"/>
                </a:lnTo>
                <a:lnTo>
                  <a:pt x="177394" y="1368857"/>
                </a:lnTo>
                <a:lnTo>
                  <a:pt x="267005" y="1371600"/>
                </a:lnTo>
                <a:lnTo>
                  <a:pt x="356616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4-mark68"/>
          <p:cNvSpPr/>
          <p:nvPr/>
        </p:nvSpPr>
        <p:spPr>
          <a:xfrm>
            <a:off x="10419131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7394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4-mark69"/>
          <p:cNvSpPr/>
          <p:nvPr/>
        </p:nvSpPr>
        <p:spPr>
          <a:xfrm>
            <a:off x="6940753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6616" y="2743"/>
                </a:lnTo>
                <a:lnTo>
                  <a:pt x="267005" y="0"/>
                </a:lnTo>
                <a:lnTo>
                  <a:pt x="177394" y="2743"/>
                </a:lnTo>
                <a:lnTo>
                  <a:pt x="87782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4-mark70"/>
          <p:cNvSpPr/>
          <p:nvPr/>
        </p:nvSpPr>
        <p:spPr>
          <a:xfrm>
            <a:off x="7475677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7394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4-mark71"/>
          <p:cNvSpPr/>
          <p:nvPr/>
        </p:nvSpPr>
        <p:spPr>
          <a:xfrm>
            <a:off x="8010601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1371600"/>
                </a:moveTo>
                <a:lnTo>
                  <a:pt x="534924" y="26518"/>
                </a:lnTo>
                <a:lnTo>
                  <a:pt x="447142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4-mark72"/>
          <p:cNvSpPr/>
          <p:nvPr/>
        </p:nvSpPr>
        <p:spPr>
          <a:xfrm>
            <a:off x="8545525" y="2134946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1371600"/>
                </a:moveTo>
                <a:lnTo>
                  <a:pt x="535838" y="26518"/>
                </a:lnTo>
                <a:lnTo>
                  <a:pt x="447142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4-mark73"/>
          <p:cNvSpPr/>
          <p:nvPr/>
        </p:nvSpPr>
        <p:spPr>
          <a:xfrm>
            <a:off x="9081364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6616" y="2743"/>
                </a:lnTo>
                <a:lnTo>
                  <a:pt x="267005" y="0"/>
                </a:lnTo>
                <a:lnTo>
                  <a:pt x="177394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4-mark74"/>
          <p:cNvSpPr/>
          <p:nvPr/>
        </p:nvSpPr>
        <p:spPr>
          <a:xfrm>
            <a:off x="9616288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4-mark75"/>
          <p:cNvSpPr/>
          <p:nvPr/>
        </p:nvSpPr>
        <p:spPr>
          <a:xfrm>
            <a:off x="10151212" y="2134946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1371600"/>
                </a:moveTo>
                <a:lnTo>
                  <a:pt x="535838" y="26518"/>
                </a:lnTo>
                <a:lnTo>
                  <a:pt x="447142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04-mark76"/>
          <p:cNvSpPr/>
          <p:nvPr/>
        </p:nvSpPr>
        <p:spPr>
          <a:xfrm>
            <a:off x="10687050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6616" y="2743"/>
                </a:lnTo>
                <a:lnTo>
                  <a:pt x="267005" y="0"/>
                </a:lnTo>
                <a:lnTo>
                  <a:pt x="177394" y="2743"/>
                </a:lnTo>
                <a:lnTo>
                  <a:pt x="87782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4-label77"/>
          <p:cNvSpPr txBox="1"/>
          <p:nvPr/>
        </p:nvSpPr>
        <p:spPr>
          <a:xfrm>
            <a:off x="6254496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엇갈려 붙이면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구하는 방법</a:t>
            </a:r>
            <a:endParaRPr lang="ko-KR" sz="4000" dirty="0"/>
          </a:p>
        </p:txBody>
      </p:sp>
      <p:sp>
        <p:nvSpPr>
          <p:cNvPr id="3" name="S05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= 반지름 × 반지름 × 원주율</a:t>
            </a:r>
            <a:endParaRPr lang="ko-KR" sz="2800" dirty="0"/>
          </a:p>
        </p:txBody>
      </p:sp>
      <p:sp>
        <p:nvSpPr>
          <p:cNvPr id="5" name="S05-figure80" descr="원을 32조각으로 잘라 붙인 직사각형에 가까운 모양: 가로는 원주의 반, 세로는 반지름"/>
          <p:cNvSpPr/>
          <p:nvPr/>
        </p:nvSpPr>
        <p:spPr>
          <a:xfrm>
            <a:off x="657569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81"/>
          <p:cNvSpPr/>
          <p:nvPr/>
        </p:nvSpPr>
        <p:spPr>
          <a:xfrm>
            <a:off x="682159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82"/>
          <p:cNvSpPr/>
          <p:nvPr/>
        </p:nvSpPr>
        <p:spPr>
          <a:xfrm>
            <a:off x="706750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83"/>
          <p:cNvSpPr/>
          <p:nvPr/>
        </p:nvSpPr>
        <p:spPr>
          <a:xfrm>
            <a:off x="731340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84"/>
          <p:cNvSpPr/>
          <p:nvPr/>
        </p:nvSpPr>
        <p:spPr>
          <a:xfrm>
            <a:off x="755930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85"/>
          <p:cNvSpPr/>
          <p:nvPr/>
        </p:nvSpPr>
        <p:spPr>
          <a:xfrm>
            <a:off x="780521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mark86"/>
          <p:cNvSpPr/>
          <p:nvPr/>
        </p:nvSpPr>
        <p:spPr>
          <a:xfrm>
            <a:off x="805111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5-mark87"/>
          <p:cNvSpPr/>
          <p:nvPr/>
        </p:nvSpPr>
        <p:spPr>
          <a:xfrm>
            <a:off x="829701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88"/>
          <p:cNvSpPr/>
          <p:nvPr/>
        </p:nvSpPr>
        <p:spPr>
          <a:xfrm>
            <a:off x="854292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4772" y="1253773"/>
                </a:lnTo>
                <a:lnTo>
                  <a:pt x="205756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89"/>
          <p:cNvSpPr/>
          <p:nvPr/>
        </p:nvSpPr>
        <p:spPr>
          <a:xfrm>
            <a:off x="8788825" y="2204517"/>
            <a:ext cx="246740" cy="1254609"/>
          </a:xfrm>
          <a:custGeom>
            <a:avLst/>
            <a:gdLst/>
            <a:ahLst/>
            <a:cxnLst/>
            <a:rect l="l" t="t" r="r" b="b"/>
            <a:pathLst>
              <a:path w="246740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4772" y="1253773"/>
                </a:lnTo>
                <a:lnTo>
                  <a:pt x="205756" y="1252100"/>
                </a:lnTo>
                <a:lnTo>
                  <a:pt x="246740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mark90"/>
          <p:cNvSpPr/>
          <p:nvPr/>
        </p:nvSpPr>
        <p:spPr>
          <a:xfrm>
            <a:off x="903556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147" y="1252100"/>
                </a:lnTo>
                <a:lnTo>
                  <a:pt x="81131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5-mark91"/>
          <p:cNvSpPr/>
          <p:nvPr/>
        </p:nvSpPr>
        <p:spPr>
          <a:xfrm>
            <a:off x="928146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147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mark92"/>
          <p:cNvSpPr/>
          <p:nvPr/>
        </p:nvSpPr>
        <p:spPr>
          <a:xfrm>
            <a:off x="952737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5-mark93"/>
          <p:cNvSpPr/>
          <p:nvPr/>
        </p:nvSpPr>
        <p:spPr>
          <a:xfrm>
            <a:off x="977327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mark94"/>
          <p:cNvSpPr/>
          <p:nvPr/>
        </p:nvSpPr>
        <p:spPr>
          <a:xfrm>
            <a:off x="1001917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5-mark95"/>
          <p:cNvSpPr/>
          <p:nvPr/>
        </p:nvSpPr>
        <p:spPr>
          <a:xfrm>
            <a:off x="1026508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5-mark96"/>
          <p:cNvSpPr/>
          <p:nvPr/>
        </p:nvSpPr>
        <p:spPr>
          <a:xfrm>
            <a:off x="669864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5-mark97"/>
          <p:cNvSpPr/>
          <p:nvPr/>
        </p:nvSpPr>
        <p:spPr>
          <a:xfrm>
            <a:off x="694454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5-mark98"/>
          <p:cNvSpPr/>
          <p:nvPr/>
        </p:nvSpPr>
        <p:spPr>
          <a:xfrm>
            <a:off x="719045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mark99"/>
          <p:cNvSpPr/>
          <p:nvPr/>
        </p:nvSpPr>
        <p:spPr>
          <a:xfrm>
            <a:off x="743635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5-mark100"/>
          <p:cNvSpPr/>
          <p:nvPr/>
        </p:nvSpPr>
        <p:spPr>
          <a:xfrm>
            <a:off x="768225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5-mark101"/>
          <p:cNvSpPr/>
          <p:nvPr/>
        </p:nvSpPr>
        <p:spPr>
          <a:xfrm>
            <a:off x="792816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5-mark102"/>
          <p:cNvSpPr/>
          <p:nvPr/>
        </p:nvSpPr>
        <p:spPr>
          <a:xfrm>
            <a:off x="817406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5-mark103"/>
          <p:cNvSpPr/>
          <p:nvPr/>
        </p:nvSpPr>
        <p:spPr>
          <a:xfrm>
            <a:off x="841996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5756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5-mark104"/>
          <p:cNvSpPr/>
          <p:nvPr/>
        </p:nvSpPr>
        <p:spPr>
          <a:xfrm>
            <a:off x="866587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5756" y="2509"/>
                </a:lnTo>
                <a:lnTo>
                  <a:pt x="164772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5-mark105"/>
          <p:cNvSpPr/>
          <p:nvPr/>
        </p:nvSpPr>
        <p:spPr>
          <a:xfrm>
            <a:off x="8911776" y="2198663"/>
            <a:ext cx="246740" cy="1254609"/>
          </a:xfrm>
          <a:custGeom>
            <a:avLst/>
            <a:gdLst/>
            <a:ahLst/>
            <a:cxnLst/>
            <a:rect l="l" t="t" r="r" b="b"/>
            <a:pathLst>
              <a:path w="246740" h="1254609">
                <a:moveTo>
                  <a:pt x="123788" y="1254609"/>
                </a:moveTo>
                <a:lnTo>
                  <a:pt x="246740" y="5855"/>
                </a:lnTo>
                <a:lnTo>
                  <a:pt x="205756" y="2509"/>
                </a:lnTo>
                <a:lnTo>
                  <a:pt x="164772" y="836"/>
                </a:lnTo>
                <a:lnTo>
                  <a:pt x="123788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5-mark106"/>
          <p:cNvSpPr/>
          <p:nvPr/>
        </p:nvSpPr>
        <p:spPr>
          <a:xfrm>
            <a:off x="915851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131" y="836"/>
                </a:lnTo>
                <a:lnTo>
                  <a:pt x="40147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5-mark107"/>
          <p:cNvSpPr/>
          <p:nvPr/>
        </p:nvSpPr>
        <p:spPr>
          <a:xfrm>
            <a:off x="940441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5-mark108"/>
          <p:cNvSpPr/>
          <p:nvPr/>
        </p:nvSpPr>
        <p:spPr>
          <a:xfrm>
            <a:off x="965032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5-mark109"/>
          <p:cNvSpPr/>
          <p:nvPr/>
        </p:nvSpPr>
        <p:spPr>
          <a:xfrm>
            <a:off x="989622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5-mark110"/>
          <p:cNvSpPr/>
          <p:nvPr/>
        </p:nvSpPr>
        <p:spPr>
          <a:xfrm>
            <a:off x="1014212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5-mark111"/>
          <p:cNvSpPr/>
          <p:nvPr/>
        </p:nvSpPr>
        <p:spPr>
          <a:xfrm>
            <a:off x="10388033" y="2198663"/>
            <a:ext cx="122952" cy="1254609"/>
          </a:xfrm>
          <a:custGeom>
            <a:avLst/>
            <a:gdLst/>
            <a:ahLst/>
            <a:cxnLst/>
            <a:rect l="l" t="t" r="r" b="b"/>
            <a:pathLst>
              <a:path w="122952" h="1254609">
                <a:moveTo>
                  <a:pt x="122952" y="1254609"/>
                </a:moveTo>
                <a:lnTo>
                  <a:pt x="122952" y="0"/>
                </a:lnTo>
                <a:lnTo>
                  <a:pt x="102042" y="0"/>
                </a:lnTo>
                <a:lnTo>
                  <a:pt x="81968" y="836"/>
                </a:lnTo>
                <a:lnTo>
                  <a:pt x="61058" y="1673"/>
                </a:lnTo>
                <a:lnTo>
                  <a:pt x="40984" y="2509"/>
                </a:lnTo>
                <a:lnTo>
                  <a:pt x="20074" y="4182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5-mark112"/>
          <p:cNvSpPr/>
          <p:nvPr/>
        </p:nvSpPr>
        <p:spPr>
          <a:xfrm>
            <a:off x="6575694" y="2198663"/>
            <a:ext cx="122952" cy="1254609"/>
          </a:xfrm>
          <a:custGeom>
            <a:avLst/>
            <a:gdLst/>
            <a:ahLst/>
            <a:cxnLst/>
            <a:rect l="l" t="t" r="r" b="b"/>
            <a:pathLst>
              <a:path w="122952" h="1254609">
                <a:moveTo>
                  <a:pt x="0" y="1254609"/>
                </a:moveTo>
                <a:lnTo>
                  <a:pt x="122952" y="5855"/>
                </a:lnTo>
                <a:lnTo>
                  <a:pt x="102878" y="4182"/>
                </a:lnTo>
                <a:lnTo>
                  <a:pt x="81968" y="2509"/>
                </a:lnTo>
                <a:lnTo>
                  <a:pt x="61894" y="1673"/>
                </a:lnTo>
                <a:lnTo>
                  <a:pt x="40984" y="836"/>
                </a:lnTo>
                <a:lnTo>
                  <a:pt x="2091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13"/>
          <p:cNvSpPr/>
          <p:nvPr/>
        </p:nvSpPr>
        <p:spPr>
          <a:xfrm>
            <a:off x="6575694" y="3829654"/>
            <a:ext cx="3935290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39" name="S05-mark114"/>
          <p:cNvSpPr/>
          <p:nvPr/>
        </p:nvSpPr>
        <p:spPr>
          <a:xfrm flipV="1">
            <a:off x="10845547" y="2198663"/>
            <a:ext cx="0" cy="1254609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40" name="S05-label116"/>
          <p:cNvSpPr txBox="1"/>
          <p:nvPr/>
        </p:nvSpPr>
        <p:spPr>
          <a:xfrm>
            <a:off x="7898523" y="4073232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원주의 반</a:t>
            </a:r>
            <a:endParaRPr lang="ko-KR" sz="2200" dirty="0"/>
          </a:p>
        </p:txBody>
      </p:sp>
      <p:sp>
        <p:nvSpPr>
          <p:cNvPr id="41" name="S05-label118"/>
          <p:cNvSpPr txBox="1"/>
          <p:nvPr/>
        </p:nvSpPr>
        <p:spPr>
          <a:xfrm>
            <a:off x="11090910" y="2651342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2200" dirty="0"/>
          </a:p>
        </p:txBody>
      </p:sp>
      <p:sp>
        <p:nvSpPr>
          <p:cNvPr id="42" name="S05-stepno119"/>
          <p:cNvSpPr txBox="1"/>
          <p:nvPr/>
        </p:nvSpPr>
        <p:spPr>
          <a:xfrm>
            <a:off x="548640" y="1962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3" name="S05-text120"/>
          <p:cNvSpPr txBox="1"/>
          <p:nvPr/>
        </p:nvSpPr>
        <p:spPr>
          <a:xfrm>
            <a:off x="1325880" y="1916684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원주의 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반지름 × 원주율</a:t>
            </a:r>
            <a:endParaRPr lang="ko-KR" sz="2800" dirty="0"/>
          </a:p>
        </p:txBody>
      </p:sp>
      <p:sp>
        <p:nvSpPr>
          <p:cNvPr id="44" name="S05-stepno121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5" name="S05-text122"/>
          <p:cNvSpPr txBox="1"/>
          <p:nvPr/>
        </p:nvSpPr>
        <p:spPr>
          <a:xfrm>
            <a:off x="1325880" y="2948940"/>
            <a:ext cx="4800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반지름</a:t>
            </a:r>
            <a:endParaRPr lang="ko-KR" sz="2800" dirty="0"/>
          </a:p>
        </p:txBody>
      </p:sp>
      <p:sp>
        <p:nvSpPr>
          <p:cNvPr id="46" name="S05-stepno123"/>
          <p:cNvSpPr txBox="1"/>
          <p:nvPr/>
        </p:nvSpPr>
        <p:spPr>
          <a:xfrm>
            <a:off x="548640" y="3707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7" name="S05-text124"/>
          <p:cNvSpPr txBox="1"/>
          <p:nvPr/>
        </p:nvSpPr>
        <p:spPr>
          <a:xfrm>
            <a:off x="1325880" y="3662172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= 가로 × 세로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반지름 × 원주율 × 반지름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10 cm인 원의 넓이는? (원주율 3.14)</a:t>
            </a:r>
            <a:endParaRPr lang="ko-KR" sz="2800" dirty="0"/>
          </a:p>
        </p:txBody>
      </p:sp>
      <p:sp>
        <p:nvSpPr>
          <p:cNvPr id="5" name="S06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어림해서 확인해요.</a:t>
            </a:r>
            <a:endParaRPr lang="ko-KR" sz="2800" dirty="0"/>
          </a:p>
        </p:txBody>
      </p:sp>
      <p:sp>
        <p:nvSpPr>
          <p:cNvPr id="7" name="S06-chip1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314 cm²</a:t>
            </a:r>
            <a:endParaRPr lang="ko-KR" sz="2200" dirty="0"/>
          </a:p>
        </p:txBody>
      </p:sp>
      <p:sp>
        <p:nvSpPr>
          <p:cNvPr id="8" name="S06-text1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“10 × 10 × 3.14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314예요.”</a:t>
            </a:r>
            <a:endParaRPr lang="ko-KR" sz="2800" dirty="0"/>
          </a:p>
        </p:txBody>
      </p:sp>
      <p:sp>
        <p:nvSpPr>
          <p:cNvPr id="9" name="S06-chip1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78.5 cm²</a:t>
            </a:r>
            <a:endParaRPr lang="ko-KR" sz="2200" dirty="0"/>
          </a:p>
        </p:txBody>
      </p:sp>
      <p:sp>
        <p:nvSpPr>
          <p:cNvPr id="10" name="S06-text1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 × 5 × 3.14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78.5예요.”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넓이를 구해요</a:t>
            </a:r>
            <a:endParaRPr lang="ko-KR" sz="4000" dirty="0"/>
          </a:p>
        </p:txBody>
      </p:sp>
      <p:sp>
        <p:nvSpPr>
          <p:cNvPr id="3" name="S07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원주율로 넓이를 구해요.</a:t>
            </a:r>
            <a:endParaRPr lang="ko-KR" sz="2800" dirty="0"/>
          </a:p>
        </p:txBody>
      </p:sp>
      <p:sp>
        <p:nvSpPr>
          <p:cNvPr id="4" name="S07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× 반지름 × 원주율, 지름이면 먼저 ÷ 2</a:t>
            </a:r>
            <a:endParaRPr lang="ko-KR" sz="2800" dirty="0"/>
          </a:p>
        </p:txBody>
      </p:sp>
      <p:sp>
        <p:nvSpPr>
          <p:cNvPr id="6" name="S07-chip13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13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4 cm (원주율 3.14)</a:t>
            </a:r>
            <a:endParaRPr lang="ko-KR" sz="2800" dirty="0"/>
          </a:p>
        </p:txBody>
      </p:sp>
      <p:sp>
        <p:nvSpPr>
          <p:cNvPr id="8" name="S07-chip1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13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12 cm (원주율 3.1)</a:t>
            </a:r>
            <a:endParaRPr lang="ko-KR" sz="2800" dirty="0"/>
          </a:p>
        </p:txBody>
      </p:sp>
      <p:sp>
        <p:nvSpPr>
          <p:cNvPr id="10" name="S07-chip14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14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10 cm (원주율 3)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부분의 넓이</a:t>
            </a:r>
            <a:endParaRPr lang="ko-KR" sz="4000" dirty="0"/>
          </a:p>
        </p:txBody>
      </p:sp>
      <p:sp>
        <p:nvSpPr>
          <p:cNvPr id="3" name="S08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10 cm인 정사각형 안에 꼭 맞는 원이에요(원주율 3.14).</a:t>
            </a:r>
            <a:endParaRPr lang="ko-KR" sz="2800" dirty="0"/>
          </a:p>
        </p:txBody>
      </p:sp>
      <p:sp>
        <p:nvSpPr>
          <p:cNvPr id="4" name="S08-figure143" descr="한 변이 10 cm인 정사각형 안에 꼭 맞는 원. 정사각형에서 원을 뺀 네 귀퉁이를 주황색으로 칠함"/>
          <p:cNvSpPr/>
          <p:nvPr/>
        </p:nvSpPr>
        <p:spPr>
          <a:xfrm>
            <a:off x="972282" y="2286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8-mark144"/>
          <p:cNvSpPr/>
          <p:nvPr/>
        </p:nvSpPr>
        <p:spPr>
          <a:xfrm>
            <a:off x="972282" y="2286000"/>
            <a:ext cx="3657600" cy="3657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145"/>
          <p:cNvSpPr/>
          <p:nvPr/>
        </p:nvSpPr>
        <p:spPr>
          <a:xfrm>
            <a:off x="2801082" y="4114800"/>
            <a:ext cx="18288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8-mark146"/>
          <p:cNvSpPr/>
          <p:nvPr/>
        </p:nvSpPr>
        <p:spPr>
          <a:xfrm>
            <a:off x="2741646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label148"/>
          <p:cNvSpPr txBox="1"/>
          <p:nvPr/>
        </p:nvSpPr>
        <p:spPr>
          <a:xfrm>
            <a:off x="3333720" y="36201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9" name="S08-card149"/>
          <p:cNvSpPr/>
          <p:nvPr/>
        </p:nvSpPr>
        <p:spPr>
          <a:xfrm>
            <a:off x="5419283" y="2116074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150"/>
          <p:cNvSpPr txBox="1"/>
          <p:nvPr/>
        </p:nvSpPr>
        <p:spPr>
          <a:xfrm>
            <a:off x="5693603" y="2253234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× 10 = 100 (cm²)</a:t>
            </a:r>
            <a:endParaRPr lang="ko-KR" sz="2800" dirty="0"/>
          </a:p>
        </p:txBody>
      </p:sp>
      <p:sp>
        <p:nvSpPr>
          <p:cNvPr id="11" name="S08-card151"/>
          <p:cNvSpPr/>
          <p:nvPr/>
        </p:nvSpPr>
        <p:spPr>
          <a:xfrm>
            <a:off x="5419283" y="3524758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152"/>
          <p:cNvSpPr txBox="1"/>
          <p:nvPr/>
        </p:nvSpPr>
        <p:spPr>
          <a:xfrm>
            <a:off x="5693603" y="3661918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5 × 3.14 = 78.5 (cm²)</a:t>
            </a:r>
            <a:endParaRPr lang="ko-KR" sz="2800" dirty="0"/>
          </a:p>
        </p:txBody>
      </p:sp>
      <p:sp>
        <p:nvSpPr>
          <p:cNvPr id="13" name="S08-card153"/>
          <p:cNvSpPr/>
          <p:nvPr/>
        </p:nvSpPr>
        <p:spPr>
          <a:xfrm>
            <a:off x="5419283" y="4933442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154"/>
          <p:cNvSpPr txBox="1"/>
          <p:nvPr/>
        </p:nvSpPr>
        <p:spPr>
          <a:xfrm>
            <a:off x="5693603" y="5070602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100 − 78.5 = 21.5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넓이</a:t>
            </a:r>
            <a:endParaRPr lang="ko-KR" sz="4000" dirty="0"/>
          </a:p>
        </p:txBody>
      </p:sp>
      <p:sp>
        <p:nvSpPr>
          <p:cNvPr id="3" name="S09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 3.14로 넓이를 구해요.</a:t>
            </a:r>
            <a:endParaRPr lang="ko-KR" sz="2800" dirty="0"/>
          </a:p>
        </p:txBody>
      </p:sp>
      <p:sp>
        <p:nvSpPr>
          <p:cNvPr id="4" name="S09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반원은 ÷ 2, 원주를 알면 지름부터 구해요.</a:t>
            </a:r>
            <a:endParaRPr lang="ko-KR" sz="2800" dirty="0"/>
          </a:p>
        </p:txBody>
      </p:sp>
      <p:sp>
        <p:nvSpPr>
          <p:cNvPr id="6" name="S09-chip15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15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6 cm인 반원</a:t>
            </a:r>
            <a:endParaRPr lang="ko-KR" sz="2800" dirty="0"/>
          </a:p>
        </p:txBody>
      </p:sp>
      <p:sp>
        <p:nvSpPr>
          <p:cNvPr id="8" name="S09-chip16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16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원주가 18.84 cm인 원</a:t>
            </a:r>
            <a:endParaRPr lang="ko-KR" sz="2800" dirty="0"/>
          </a:p>
        </p:txBody>
      </p:sp>
      <p:sp>
        <p:nvSpPr>
          <p:cNvPr id="10" name="S09-chip16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16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8 cm인 정사각형에서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맞는 원을 뺀 부분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답하고, 어떻게 구했는지 말해요.</a:t>
            </a:r>
            <a:endParaRPr lang="ko-KR" sz="2800" dirty="0"/>
          </a:p>
        </p:txBody>
      </p:sp>
      <p:sp>
        <p:nvSpPr>
          <p:cNvPr id="4" name="S10-chip1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1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7 cm인 원의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6" name="S10-chip1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1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16 cm인 원의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800" dirty="0"/>
          </a:p>
        </p:txBody>
      </p:sp>
      <p:sp>
        <p:nvSpPr>
          <p:cNvPr id="8" name="S10-chip1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17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구하는 식을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 붙인 모양으로 설명</a:t>
            </a:r>
            <a:endParaRPr lang="ko-KR" sz="2800" dirty="0"/>
          </a:p>
        </p:txBody>
      </p:sp>
      <p:sp>
        <p:nvSpPr>
          <p:cNvPr id="10" name="S10-chip17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17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10 cm인 반원의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7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7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원을 그려 반지름을 표시하고, 반원인지 확인하게 하세요.</a:t>
            </a:r>
            <a:endParaRPr lang="ko-KR" sz="2800" dirty="0"/>
          </a:p>
        </p:txBody>
      </p:sp>
      <p:sp>
        <p:nvSpPr>
          <p:cNvPr id="5" name="S11-chip1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176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153.86 cm²</a:t>
            </a:r>
            <a:endParaRPr lang="ko-KR" sz="2800" dirty="0"/>
          </a:p>
        </p:txBody>
      </p:sp>
      <p:sp>
        <p:nvSpPr>
          <p:cNvPr id="7" name="S11-text177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198.4 cm²</a:t>
            </a:r>
            <a:endParaRPr lang="ko-KR" sz="2800" dirty="0"/>
          </a:p>
        </p:txBody>
      </p:sp>
      <p:sp>
        <p:nvSpPr>
          <p:cNvPr id="8" name="S11-text178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가로 = 원주의 반</a:t>
            </a:r>
            <a:endParaRPr lang="ko-KR" sz="2200" dirty="0"/>
          </a:p>
        </p:txBody>
      </p:sp>
      <p:sp>
        <p:nvSpPr>
          <p:cNvPr id="9" name="S11-text179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반지름</a:t>
            </a:r>
            <a:endParaRPr lang="ko-KR" sz="2200" dirty="0"/>
          </a:p>
        </p:txBody>
      </p:sp>
      <p:sp>
        <p:nvSpPr>
          <p:cNvPr id="10" name="S11-text180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39.25 cm²</a:t>
            </a:r>
            <a:endParaRPr lang="ko-KR" sz="2800" dirty="0"/>
          </a:p>
        </p:txBody>
      </p:sp>
      <p:sp>
        <p:nvSpPr>
          <p:cNvPr id="11" name="S11-chip1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2" name="S11-text1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793.6 cm²</a:t>
            </a:r>
            <a:endParaRPr lang="ko-KR" sz="2800" dirty="0"/>
          </a:p>
        </p:txBody>
      </p:sp>
      <p:sp>
        <p:nvSpPr>
          <p:cNvPr id="13" name="S11-text1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지름을 곱함</a:t>
            </a:r>
            <a:endParaRPr lang="ko-KR" sz="2200" dirty="0"/>
          </a:p>
        </p:txBody>
      </p:sp>
      <p:sp>
        <p:nvSpPr>
          <p:cNvPr id="14" name="S11-text1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78.5 cm²</a:t>
            </a:r>
            <a:endParaRPr lang="ko-KR" sz="2800" dirty="0"/>
          </a:p>
        </p:txBody>
      </p:sp>
      <p:sp>
        <p:nvSpPr>
          <p:cNvPr id="15" name="S11-text1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2를 빠뜨림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가장 넓은 것은?</a:t>
            </a:r>
            <a:endParaRPr lang="ko-KR" sz="4000" dirty="0"/>
          </a:p>
        </p:txBody>
      </p:sp>
      <p:sp>
        <p:nvSpPr>
          <p:cNvPr id="3" name="S12-text1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3.14예요.</a:t>
            </a:r>
            <a:endParaRPr lang="ko-KR" sz="2800" dirty="0"/>
          </a:p>
        </p:txBody>
      </p:sp>
      <p:sp>
        <p:nvSpPr>
          <p:cNvPr id="4" name="S12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가장 넓은 것을 고르고, 까닭을 말해요.</a:t>
            </a:r>
            <a:endParaRPr lang="ko-KR" sz="2800" dirty="0"/>
          </a:p>
        </p:txBody>
      </p:sp>
      <p:sp>
        <p:nvSpPr>
          <p:cNvPr id="6" name="S12-chip18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190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91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cm인 원</a:t>
            </a:r>
            <a:endParaRPr lang="ko-KR" sz="2800" dirty="0"/>
          </a:p>
        </p:txBody>
      </p:sp>
      <p:sp>
        <p:nvSpPr>
          <p:cNvPr id="9" name="S12-chip19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193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94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cm인 원</a:t>
            </a:r>
            <a:endParaRPr lang="ko-KR" sz="2800" dirty="0"/>
          </a:p>
        </p:txBody>
      </p:sp>
      <p:sp>
        <p:nvSpPr>
          <p:cNvPr id="12" name="S12-chip19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196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97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43.96 cm인 원</a:t>
            </a:r>
            <a:endParaRPr lang="ko-KR" sz="2800" dirty="0"/>
          </a:p>
        </p:txBody>
      </p:sp>
      <p:sp>
        <p:nvSpPr>
          <p:cNvPr id="15" name="S12-chip19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199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200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cm인 정사각형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0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0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잘라 붙이면 가로는 원주의 반, 세로는 반지름. 원의 넓이 = 반지름 × 반지름 × 원주율</a:t>
            </a:r>
            <a:endParaRPr lang="ko-KR" sz="2800" dirty="0"/>
          </a:p>
        </p:txBody>
      </p:sp>
      <p:sp>
        <p:nvSpPr>
          <p:cNvPr id="5" name="S13-chip20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지름이면 먼저 반지름 구하기</a:t>
            </a:r>
            <a:endParaRPr lang="ko-KR" sz="2200" dirty="0"/>
          </a:p>
        </p:txBody>
      </p:sp>
      <p:sp>
        <p:nvSpPr>
          <p:cNvPr id="6" name="S13-chip20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지름 × 지름 × 원주율</a:t>
            </a:r>
            <a:endParaRPr lang="ko-KR" sz="2200" dirty="0"/>
          </a:p>
        </p:txBody>
      </p:sp>
      <p:sp>
        <p:nvSpPr>
          <p:cNvPr id="7" name="S13-text20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20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반지름 2 cm인 원의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200" dirty="0"/>
          </a:p>
        </p:txBody>
      </p:sp>
      <p:sp>
        <p:nvSpPr>
          <p:cNvPr id="9" name="S13-text20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원의 넓이를 구하는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식은?</a:t>
            </a:r>
            <a:endParaRPr lang="ko-KR" sz="2200" dirty="0"/>
          </a:p>
        </p:txBody>
      </p:sp>
      <p:sp>
        <p:nvSpPr>
          <p:cNvPr id="10" name="S13-text20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지름 6 cm인 원의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3)</a:t>
            </a:r>
            <a:endParaRPr lang="ko-KR" sz="2200" dirty="0"/>
          </a:p>
        </p:txBody>
      </p:sp>
      <p:sp>
        <p:nvSpPr>
          <p:cNvPr id="11" name="S13-text2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띠그래프와 원그래프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원주 구하기</a:t>
            </a:r>
            <a:endParaRPr lang="ko-KR" sz="4000" dirty="0"/>
          </a:p>
        </p:txBody>
      </p:sp>
      <p:sp>
        <p:nvSpPr>
          <p:cNvPr id="3" name="S14-figure210" descr="원의 중심, 반지름(주황색), 지름"/>
          <p:cNvSpPr/>
          <p:nvPr/>
        </p:nvSpPr>
        <p:spPr>
          <a:xfrm>
            <a:off x="1590370" y="24003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14-mark211"/>
          <p:cNvSpPr/>
          <p:nvPr/>
        </p:nvSpPr>
        <p:spPr>
          <a:xfrm>
            <a:off x="1590370" y="37719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4-mark212"/>
          <p:cNvSpPr/>
          <p:nvPr/>
        </p:nvSpPr>
        <p:spPr>
          <a:xfrm flipV="1">
            <a:off x="2961970" y="2584094"/>
            <a:ext cx="685800" cy="1187806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14-label214"/>
          <p:cNvSpPr txBox="1"/>
          <p:nvPr/>
        </p:nvSpPr>
        <p:spPr>
          <a:xfrm>
            <a:off x="2633294" y="38487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7" name="S14-label216"/>
          <p:cNvSpPr txBox="1"/>
          <p:nvPr/>
        </p:nvSpPr>
        <p:spPr>
          <a:xfrm>
            <a:off x="2386073" y="2741701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2200" dirty="0"/>
          </a:p>
        </p:txBody>
      </p:sp>
      <p:sp>
        <p:nvSpPr>
          <p:cNvPr id="8" name="S14-mark217"/>
          <p:cNvSpPr/>
          <p:nvPr/>
        </p:nvSpPr>
        <p:spPr>
          <a:xfrm>
            <a:off x="2902534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card218"/>
          <p:cNvSpPr/>
          <p:nvPr/>
        </p:nvSpPr>
        <p:spPr>
          <a:xfrm>
            <a:off x="5741060" y="2477516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19"/>
          <p:cNvSpPr txBox="1"/>
          <p:nvPr/>
        </p:nvSpPr>
        <p:spPr>
          <a:xfrm>
            <a:off x="6015380" y="2614676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원주율</a:t>
            </a:r>
            <a:endParaRPr lang="ko-KR" sz="2800" dirty="0"/>
          </a:p>
        </p:txBody>
      </p:sp>
      <p:sp>
        <p:nvSpPr>
          <p:cNvPr id="11" name="S14-card220"/>
          <p:cNvSpPr/>
          <p:nvPr/>
        </p:nvSpPr>
        <p:spPr>
          <a:xfrm>
            <a:off x="5741060" y="3886200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4-cardtext221"/>
          <p:cNvSpPr txBox="1"/>
          <p:nvPr/>
        </p:nvSpPr>
        <p:spPr>
          <a:xfrm>
            <a:off x="6015380" y="4023360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5 cm일 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× 3.14 = 31.4 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원의 넓이</dc:title>
  <dc:subject>KR22-G06-MAT-CIRCLEAREA-L01</dc:subject>
  <dc:creator>education-ppt</dc:creator>
  <cp:lastModifiedBy>education-ppt</cp:lastModifiedBy>
  <cp:revision>1</cp:revision>
  <dcterms:created xsi:type="dcterms:W3CDTF">2026-10-26T09:28:01Z</dcterms:created>
  <dcterms:modified xsi:type="dcterms:W3CDTF">2026-10-26T09:28:01Z</dcterms:modified>
</cp:coreProperties>
</file>