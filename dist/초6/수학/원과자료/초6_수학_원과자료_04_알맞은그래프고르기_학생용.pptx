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d64b1cd-491e-8af0-1cbf-4bb74ec16d0e}">
          <p14:sldIdLst>
            <p14:sldId id="256"/>
            <p14:sldId id="257"/>
          </p14:sldIdLst>
        </p14:section>
        <p14:section name="개념" id="{26c86180-6844-abfa-7761-acedd0715ce8}">
          <p14:sldIdLst>
            <p14:sldId id="258"/>
            <p14:sldId id="259"/>
            <p14:sldId id="262"/>
          </p14:sldIdLst>
        </p14:section>
        <p14:section name="연습" id="{870b8005-718e-1353-2295-13cb717d0649}">
          <p14:sldIdLst>
            <p14:sldId id="260"/>
            <p14:sldId id="261"/>
            <p14:sldId id="263"/>
          </p14:sldIdLst>
        </p14:section>
        <p14:section name="개념" id="{decabb1b-db7d-eff4-ccfc-5605839fd28f}">
          <p14:sldIdLst/>
        </p14:section>
        <p14:section name="연습" id="{7bd79aa7-8a57-cc9d-355e-77a85ae9a899}">
          <p14:sldIdLst/>
        </p14:section>
        <p14:section name="확인" id="{3ece90ea-58a0-2de0-281a-ae72a65cdb37}">
          <p14:sldIdLst>
            <p14:sldId id="264"/>
            <p14:sldId id="265"/>
          </p14:sldIdLst>
        </p14:section>
        <p14:section name="정리" id="{9f6ce006-5ff4-33e1-c81a-c37c6279196a}">
          <p14:sldIdLst>
            <p14:sldId id="266"/>
          </p14:sldIdLst>
        </p14:section>
        <p14:section name="보충" id="{a630d4bb-49f6-de79-75e0-01f4bf97556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원과자료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알맞은 그래프 고르기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알맞은 그래프 고르기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알맞은 그래프 고르기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그래프 고르기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자료마다 어울리는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그래프가 따로 있을까?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자료와 알고 싶은 것에 맞는 그래프를 골라 까닭을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고른 그래프로 나타내고 해석해요.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6학년 40명이 좋아하는 꽃이에요.</a:t>
            </a:r>
            <a:endParaRPr lang="ko-KR" sz="2800" dirty="0"/>
          </a:p>
        </p:txBody>
      </p:sp>
      <p:sp>
        <p:nvSpPr>
          <p:cNvPr id="4" name="S02-figure4" descr="원그래프 ‘좋아하는 꽃’(40명): 장미 40 %, 튤립 25 %, 해바라기 20 %, 기타 15 %"/>
          <p:cNvSpPr/>
          <p:nvPr/>
        </p:nvSpPr>
        <p:spPr>
          <a:xfrm>
            <a:off x="8958834" y="2666615"/>
            <a:ext cx="1631758" cy="2951874"/>
          </a:xfrm>
          <a:custGeom>
            <a:avLst/>
            <a:gdLst/>
            <a:ahLst/>
            <a:cxnLst/>
            <a:rect l="l" t="t" r="r" b="b"/>
            <a:pathLst>
              <a:path w="1631758" h="2951874">
                <a:moveTo>
                  <a:pt x="0" y="1631758"/>
                </a:moveTo>
                <a:lnTo>
                  <a:pt x="0" y="0"/>
                </a:lnTo>
                <a:lnTo>
                  <a:pt x="85398" y="2236"/>
                </a:lnTo>
                <a:lnTo>
                  <a:pt x="170568" y="8942"/>
                </a:lnTo>
                <a:lnTo>
                  <a:pt x="255264" y="20087"/>
                </a:lnTo>
                <a:lnTo>
                  <a:pt x="339259" y="35654"/>
                </a:lnTo>
                <a:lnTo>
                  <a:pt x="422331" y="55602"/>
                </a:lnTo>
                <a:lnTo>
                  <a:pt x="504238" y="79866"/>
                </a:lnTo>
                <a:lnTo>
                  <a:pt x="584773" y="108381"/>
                </a:lnTo>
                <a:lnTo>
                  <a:pt x="663693" y="141074"/>
                </a:lnTo>
                <a:lnTo>
                  <a:pt x="740802" y="177853"/>
                </a:lnTo>
                <a:lnTo>
                  <a:pt x="815879" y="218615"/>
                </a:lnTo>
                <a:lnTo>
                  <a:pt x="888720" y="263251"/>
                </a:lnTo>
                <a:lnTo>
                  <a:pt x="959123" y="311641"/>
                </a:lnTo>
                <a:lnTo>
                  <a:pt x="1026898" y="363645"/>
                </a:lnTo>
                <a:lnTo>
                  <a:pt x="1091858" y="419125"/>
                </a:lnTo>
                <a:lnTo>
                  <a:pt x="1153824" y="477934"/>
                </a:lnTo>
                <a:lnTo>
                  <a:pt x="1212632" y="539900"/>
                </a:lnTo>
                <a:lnTo>
                  <a:pt x="1268112" y="604860"/>
                </a:lnTo>
                <a:lnTo>
                  <a:pt x="1320116" y="672635"/>
                </a:lnTo>
                <a:lnTo>
                  <a:pt x="1368506" y="743037"/>
                </a:lnTo>
                <a:lnTo>
                  <a:pt x="1413143" y="815879"/>
                </a:lnTo>
                <a:lnTo>
                  <a:pt x="1453904" y="890956"/>
                </a:lnTo>
                <a:lnTo>
                  <a:pt x="1490684" y="968065"/>
                </a:lnTo>
                <a:lnTo>
                  <a:pt x="1523376" y="1046985"/>
                </a:lnTo>
                <a:lnTo>
                  <a:pt x="1551891" y="1127520"/>
                </a:lnTo>
                <a:lnTo>
                  <a:pt x="1576155" y="1209426"/>
                </a:lnTo>
                <a:lnTo>
                  <a:pt x="1596104" y="1292499"/>
                </a:lnTo>
                <a:lnTo>
                  <a:pt x="1611671" y="1376494"/>
                </a:lnTo>
                <a:lnTo>
                  <a:pt x="1622816" y="1461190"/>
                </a:lnTo>
                <a:lnTo>
                  <a:pt x="1629522" y="1546360"/>
                </a:lnTo>
                <a:lnTo>
                  <a:pt x="1631758" y="1631758"/>
                </a:lnTo>
                <a:lnTo>
                  <a:pt x="1629522" y="1717156"/>
                </a:lnTo>
                <a:lnTo>
                  <a:pt x="1622816" y="1802325"/>
                </a:lnTo>
                <a:lnTo>
                  <a:pt x="1611671" y="1887022"/>
                </a:lnTo>
                <a:lnTo>
                  <a:pt x="1596104" y="1971016"/>
                </a:lnTo>
                <a:lnTo>
                  <a:pt x="1576155" y="2054089"/>
                </a:lnTo>
                <a:lnTo>
                  <a:pt x="1551891" y="2135995"/>
                </a:lnTo>
                <a:lnTo>
                  <a:pt x="1523376" y="2216531"/>
                </a:lnTo>
                <a:lnTo>
                  <a:pt x="1490684" y="2295450"/>
                </a:lnTo>
                <a:lnTo>
                  <a:pt x="1453904" y="2372559"/>
                </a:lnTo>
                <a:lnTo>
                  <a:pt x="1413143" y="2447636"/>
                </a:lnTo>
                <a:lnTo>
                  <a:pt x="1368506" y="2520478"/>
                </a:lnTo>
                <a:lnTo>
                  <a:pt x="1320116" y="2590880"/>
                </a:lnTo>
                <a:lnTo>
                  <a:pt x="1268112" y="2658655"/>
                </a:lnTo>
                <a:lnTo>
                  <a:pt x="1212632" y="2723616"/>
                </a:lnTo>
                <a:lnTo>
                  <a:pt x="1153824" y="2785582"/>
                </a:lnTo>
                <a:lnTo>
                  <a:pt x="1091858" y="2844390"/>
                </a:lnTo>
                <a:lnTo>
                  <a:pt x="1026898" y="2899870"/>
                </a:lnTo>
                <a:lnTo>
                  <a:pt x="959123" y="2951874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2-mark5"/>
          <p:cNvSpPr/>
          <p:nvPr/>
        </p:nvSpPr>
        <p:spPr>
          <a:xfrm>
            <a:off x="7638718" y="4298373"/>
            <a:ext cx="2279239" cy="1631758"/>
          </a:xfrm>
          <a:custGeom>
            <a:avLst/>
            <a:gdLst/>
            <a:ahLst/>
            <a:cxnLst/>
            <a:rect l="l" t="t" r="r" b="b"/>
            <a:pathLst>
              <a:path w="2279239" h="1631758">
                <a:moveTo>
                  <a:pt x="1320116" y="0"/>
                </a:moveTo>
                <a:lnTo>
                  <a:pt x="2279239" y="1320116"/>
                </a:lnTo>
                <a:lnTo>
                  <a:pt x="2208837" y="1368506"/>
                </a:lnTo>
                <a:lnTo>
                  <a:pt x="2135995" y="1413143"/>
                </a:lnTo>
                <a:lnTo>
                  <a:pt x="2060918" y="1453904"/>
                </a:lnTo>
                <a:lnTo>
                  <a:pt x="1983809" y="1490684"/>
                </a:lnTo>
                <a:lnTo>
                  <a:pt x="1904889" y="1523376"/>
                </a:lnTo>
                <a:lnTo>
                  <a:pt x="1824354" y="1551891"/>
                </a:lnTo>
                <a:lnTo>
                  <a:pt x="1742448" y="1576155"/>
                </a:lnTo>
                <a:lnTo>
                  <a:pt x="1659375" y="1596104"/>
                </a:lnTo>
                <a:lnTo>
                  <a:pt x="1575380" y="1611671"/>
                </a:lnTo>
                <a:lnTo>
                  <a:pt x="1490684" y="1622816"/>
                </a:lnTo>
                <a:lnTo>
                  <a:pt x="1405514" y="1629522"/>
                </a:lnTo>
                <a:lnTo>
                  <a:pt x="1320116" y="1631758"/>
                </a:lnTo>
                <a:lnTo>
                  <a:pt x="1234718" y="1629522"/>
                </a:lnTo>
                <a:lnTo>
                  <a:pt x="1149549" y="1622816"/>
                </a:lnTo>
                <a:lnTo>
                  <a:pt x="1064852" y="1611671"/>
                </a:lnTo>
                <a:lnTo>
                  <a:pt x="980858" y="1596104"/>
                </a:lnTo>
                <a:lnTo>
                  <a:pt x="897785" y="1576155"/>
                </a:lnTo>
                <a:lnTo>
                  <a:pt x="815879" y="1551891"/>
                </a:lnTo>
                <a:lnTo>
                  <a:pt x="735343" y="1523376"/>
                </a:lnTo>
                <a:lnTo>
                  <a:pt x="656423" y="1490684"/>
                </a:lnTo>
                <a:lnTo>
                  <a:pt x="579315" y="1453904"/>
                </a:lnTo>
                <a:lnTo>
                  <a:pt x="504238" y="1413143"/>
                </a:lnTo>
                <a:lnTo>
                  <a:pt x="431396" y="1368506"/>
                </a:lnTo>
                <a:lnTo>
                  <a:pt x="360994" y="1320116"/>
                </a:lnTo>
                <a:lnTo>
                  <a:pt x="293219" y="1268112"/>
                </a:lnTo>
                <a:lnTo>
                  <a:pt x="228258" y="1212632"/>
                </a:lnTo>
                <a:lnTo>
                  <a:pt x="166292" y="1153824"/>
                </a:lnTo>
                <a:lnTo>
                  <a:pt x="107484" y="1091858"/>
                </a:lnTo>
                <a:lnTo>
                  <a:pt x="52004" y="1026898"/>
                </a:lnTo>
                <a:lnTo>
                  <a:pt x="0" y="959123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mark6"/>
          <p:cNvSpPr/>
          <p:nvPr/>
        </p:nvSpPr>
        <p:spPr>
          <a:xfrm>
            <a:off x="7327076" y="3339250"/>
            <a:ext cx="1631758" cy="1918245"/>
          </a:xfrm>
          <a:custGeom>
            <a:avLst/>
            <a:gdLst/>
            <a:ahLst/>
            <a:cxnLst/>
            <a:rect l="l" t="t" r="r" b="b"/>
            <a:pathLst>
              <a:path w="1631758" h="1918245">
                <a:moveTo>
                  <a:pt x="1631758" y="959123"/>
                </a:moveTo>
                <a:lnTo>
                  <a:pt x="311641" y="1918245"/>
                </a:lnTo>
                <a:lnTo>
                  <a:pt x="263251" y="1847843"/>
                </a:lnTo>
                <a:lnTo>
                  <a:pt x="218615" y="1775001"/>
                </a:lnTo>
                <a:lnTo>
                  <a:pt x="177853" y="1699924"/>
                </a:lnTo>
                <a:lnTo>
                  <a:pt x="141074" y="1622816"/>
                </a:lnTo>
                <a:lnTo>
                  <a:pt x="108381" y="1543896"/>
                </a:lnTo>
                <a:lnTo>
                  <a:pt x="79866" y="1463360"/>
                </a:lnTo>
                <a:lnTo>
                  <a:pt x="55602" y="1381454"/>
                </a:lnTo>
                <a:lnTo>
                  <a:pt x="35654" y="1298381"/>
                </a:lnTo>
                <a:lnTo>
                  <a:pt x="20087" y="1214387"/>
                </a:lnTo>
                <a:lnTo>
                  <a:pt x="8942" y="1129690"/>
                </a:lnTo>
                <a:lnTo>
                  <a:pt x="2236" y="1044521"/>
                </a:lnTo>
                <a:lnTo>
                  <a:pt x="0" y="959123"/>
                </a:lnTo>
                <a:lnTo>
                  <a:pt x="2236" y="873725"/>
                </a:lnTo>
                <a:lnTo>
                  <a:pt x="8942" y="788555"/>
                </a:lnTo>
                <a:lnTo>
                  <a:pt x="20087" y="703859"/>
                </a:lnTo>
                <a:lnTo>
                  <a:pt x="35654" y="619864"/>
                </a:lnTo>
                <a:lnTo>
                  <a:pt x="55602" y="536791"/>
                </a:lnTo>
                <a:lnTo>
                  <a:pt x="79866" y="454885"/>
                </a:lnTo>
                <a:lnTo>
                  <a:pt x="108381" y="374350"/>
                </a:lnTo>
                <a:lnTo>
                  <a:pt x="141074" y="295430"/>
                </a:lnTo>
                <a:lnTo>
                  <a:pt x="177853" y="218321"/>
                </a:lnTo>
                <a:lnTo>
                  <a:pt x="218615" y="143244"/>
                </a:lnTo>
                <a:lnTo>
                  <a:pt x="263251" y="70402"/>
                </a:lnTo>
                <a:lnTo>
                  <a:pt x="311641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mark7"/>
          <p:cNvSpPr/>
          <p:nvPr/>
        </p:nvSpPr>
        <p:spPr>
          <a:xfrm>
            <a:off x="7638718" y="2666615"/>
            <a:ext cx="1320116" cy="1631758"/>
          </a:xfrm>
          <a:custGeom>
            <a:avLst/>
            <a:gdLst/>
            <a:ahLst/>
            <a:cxnLst/>
            <a:rect l="l" t="t" r="r" b="b"/>
            <a:pathLst>
              <a:path w="1320116" h="1631758">
                <a:moveTo>
                  <a:pt x="1320116" y="1631758"/>
                </a:moveTo>
                <a:lnTo>
                  <a:pt x="0" y="672635"/>
                </a:lnTo>
                <a:lnTo>
                  <a:pt x="52004" y="604860"/>
                </a:lnTo>
                <a:lnTo>
                  <a:pt x="107484" y="539900"/>
                </a:lnTo>
                <a:lnTo>
                  <a:pt x="166292" y="477934"/>
                </a:lnTo>
                <a:lnTo>
                  <a:pt x="228258" y="419125"/>
                </a:lnTo>
                <a:lnTo>
                  <a:pt x="293219" y="363645"/>
                </a:lnTo>
                <a:lnTo>
                  <a:pt x="360994" y="311641"/>
                </a:lnTo>
                <a:lnTo>
                  <a:pt x="431396" y="263251"/>
                </a:lnTo>
                <a:lnTo>
                  <a:pt x="504238" y="218615"/>
                </a:lnTo>
                <a:lnTo>
                  <a:pt x="579315" y="177853"/>
                </a:lnTo>
                <a:lnTo>
                  <a:pt x="656423" y="141074"/>
                </a:lnTo>
                <a:lnTo>
                  <a:pt x="735343" y="108381"/>
                </a:lnTo>
                <a:lnTo>
                  <a:pt x="815879" y="79866"/>
                </a:lnTo>
                <a:lnTo>
                  <a:pt x="897785" y="55602"/>
                </a:lnTo>
                <a:lnTo>
                  <a:pt x="980858" y="35654"/>
                </a:lnTo>
                <a:lnTo>
                  <a:pt x="1064852" y="20087"/>
                </a:lnTo>
                <a:lnTo>
                  <a:pt x="1149549" y="8942"/>
                </a:lnTo>
                <a:lnTo>
                  <a:pt x="1234718" y="2236"/>
                </a:lnTo>
                <a:lnTo>
                  <a:pt x="1320116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mark8"/>
          <p:cNvSpPr/>
          <p:nvPr/>
        </p:nvSpPr>
        <p:spPr>
          <a:xfrm flipV="1">
            <a:off x="8958834" y="2487122"/>
            <a:ext cx="0" cy="1794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2-mark9"/>
          <p:cNvSpPr/>
          <p:nvPr/>
        </p:nvSpPr>
        <p:spPr>
          <a:xfrm flipV="1">
            <a:off x="9463072" y="2653365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2-mark10"/>
          <p:cNvSpPr/>
          <p:nvPr/>
        </p:nvSpPr>
        <p:spPr>
          <a:xfrm flipV="1">
            <a:off x="9917957" y="2899043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2-mark11"/>
          <p:cNvSpPr/>
          <p:nvPr/>
        </p:nvSpPr>
        <p:spPr>
          <a:xfrm flipV="1">
            <a:off x="10278950" y="3281706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2-mark12"/>
          <p:cNvSpPr/>
          <p:nvPr/>
        </p:nvSpPr>
        <p:spPr>
          <a:xfrm flipV="1">
            <a:off x="10510725" y="3763874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2-mark13"/>
          <p:cNvSpPr/>
          <p:nvPr/>
        </p:nvSpPr>
        <p:spPr>
          <a:xfrm>
            <a:off x="10590592" y="4298373"/>
            <a:ext cx="179493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2-mark14"/>
          <p:cNvSpPr/>
          <p:nvPr/>
        </p:nvSpPr>
        <p:spPr>
          <a:xfrm>
            <a:off x="10510725" y="4802610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2-mark15"/>
          <p:cNvSpPr/>
          <p:nvPr/>
        </p:nvSpPr>
        <p:spPr>
          <a:xfrm>
            <a:off x="10278950" y="5257495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2-mark16"/>
          <p:cNvSpPr/>
          <p:nvPr/>
        </p:nvSpPr>
        <p:spPr>
          <a:xfrm>
            <a:off x="9917957" y="5618489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2-mark17"/>
          <p:cNvSpPr/>
          <p:nvPr/>
        </p:nvSpPr>
        <p:spPr>
          <a:xfrm>
            <a:off x="9463072" y="5850264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2-mark18"/>
          <p:cNvSpPr/>
          <p:nvPr/>
        </p:nvSpPr>
        <p:spPr>
          <a:xfrm>
            <a:off x="8958834" y="5930130"/>
            <a:ext cx="0" cy="1794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2-mark19"/>
          <p:cNvSpPr/>
          <p:nvPr/>
        </p:nvSpPr>
        <p:spPr>
          <a:xfrm flipH="1">
            <a:off x="8424335" y="5850264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2-mark20"/>
          <p:cNvSpPr/>
          <p:nvPr/>
        </p:nvSpPr>
        <p:spPr>
          <a:xfrm flipH="1">
            <a:off x="7942167" y="5618489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2-mark21"/>
          <p:cNvSpPr/>
          <p:nvPr/>
        </p:nvSpPr>
        <p:spPr>
          <a:xfrm flipH="1">
            <a:off x="7559504" y="5257495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2-mark22"/>
          <p:cNvSpPr/>
          <p:nvPr/>
        </p:nvSpPr>
        <p:spPr>
          <a:xfrm flipH="1">
            <a:off x="7313827" y="4802610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2-mark23"/>
          <p:cNvSpPr/>
          <p:nvPr/>
        </p:nvSpPr>
        <p:spPr>
          <a:xfrm flipH="1">
            <a:off x="7147583" y="4298373"/>
            <a:ext cx="179493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2-mark24"/>
          <p:cNvSpPr/>
          <p:nvPr/>
        </p:nvSpPr>
        <p:spPr>
          <a:xfrm flipH="1" flipV="1">
            <a:off x="7313827" y="3763874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2-mark25"/>
          <p:cNvSpPr/>
          <p:nvPr/>
        </p:nvSpPr>
        <p:spPr>
          <a:xfrm flipH="1" flipV="1">
            <a:off x="7559504" y="3281706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02-mark26"/>
          <p:cNvSpPr/>
          <p:nvPr/>
        </p:nvSpPr>
        <p:spPr>
          <a:xfrm flipH="1" flipV="1">
            <a:off x="7942167" y="2899043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S02-mark27"/>
          <p:cNvSpPr/>
          <p:nvPr/>
        </p:nvSpPr>
        <p:spPr>
          <a:xfrm flipH="1" flipV="1">
            <a:off x="8424335" y="2653365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S02-label29"/>
          <p:cNvSpPr txBox="1"/>
          <p:nvPr/>
        </p:nvSpPr>
        <p:spPr>
          <a:xfrm>
            <a:off x="9348615" y="3633949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장미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40 %</a:t>
            </a:r>
            <a:endParaRPr lang="ko-KR" sz="2200" dirty="0"/>
          </a:p>
        </p:txBody>
      </p:sp>
      <p:sp>
        <p:nvSpPr>
          <p:cNvPr id="29" name="S02-label31"/>
          <p:cNvSpPr txBox="1"/>
          <p:nvPr/>
        </p:nvSpPr>
        <p:spPr>
          <a:xfrm>
            <a:off x="8219194" y="4956407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튤립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30" name="S02-label33"/>
          <p:cNvSpPr txBox="1"/>
          <p:nvPr/>
        </p:nvSpPr>
        <p:spPr>
          <a:xfrm>
            <a:off x="7085038" y="3949123"/>
            <a:ext cx="170789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해바라기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31" name="S02-label35"/>
          <p:cNvSpPr txBox="1"/>
          <p:nvPr/>
        </p:nvSpPr>
        <p:spPr>
          <a:xfrm>
            <a:off x="7845358" y="2902350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기타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15 %</a:t>
            </a:r>
            <a:endParaRPr lang="ko-KR" sz="2200" dirty="0"/>
          </a:p>
        </p:txBody>
      </p:sp>
      <p:sp>
        <p:nvSpPr>
          <p:cNvPr id="32" name="S02-label37"/>
          <p:cNvSpPr txBox="1"/>
          <p:nvPr/>
        </p:nvSpPr>
        <p:spPr>
          <a:xfrm>
            <a:off x="8177530" y="1920875"/>
            <a:ext cx="15626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꽃</a:t>
            </a:r>
            <a:endParaRPr lang="ko-KR" sz="2200" dirty="0"/>
          </a:p>
        </p:txBody>
      </p:sp>
      <p:sp>
        <p:nvSpPr>
          <p:cNvPr id="33" name="S02-chip3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4" name="S02-text39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많은 꽃과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비율은?</a:t>
            </a:r>
            <a:endParaRPr lang="ko-KR" sz="2800" dirty="0"/>
          </a:p>
        </p:txBody>
      </p:sp>
      <p:sp>
        <p:nvSpPr>
          <p:cNvPr id="35" name="S02-chip4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6" name="S02-text41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튤립을 좋아하는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학생은 몇 명?</a:t>
            </a:r>
            <a:endParaRPr lang="ko-KR" sz="2800" dirty="0"/>
          </a:p>
        </p:txBody>
      </p:sp>
      <p:sp>
        <p:nvSpPr>
          <p:cNvPr id="37" name="S02-chip4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8" name="S02-text43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백분율을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더하면 얼마?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자료, 다른 그래프</a:t>
            </a:r>
            <a:endParaRPr lang="ko-KR" sz="4000" dirty="0"/>
          </a:p>
        </p:txBody>
      </p:sp>
      <p:sp>
        <p:nvSpPr>
          <p:cNvPr id="3" name="S03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 문고 책 20권의 종류예요.</a:t>
            </a:r>
            <a:endParaRPr lang="ko-KR" sz="2800" dirty="0"/>
          </a:p>
        </p:txBody>
      </p:sp>
      <p:sp>
        <p:nvSpPr>
          <p:cNvPr id="4" name="S03-card45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46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권인지, 어느 것이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많은지 비교해요.</a:t>
            </a:r>
            <a:endParaRPr lang="ko-KR" sz="2800" dirty="0"/>
          </a:p>
        </p:txBody>
      </p:sp>
      <p:sp>
        <p:nvSpPr>
          <p:cNvPr id="6" name="S03-card47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48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몇 %인지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보여요.</a:t>
            </a:r>
            <a:endParaRPr lang="ko-KR" sz="2800" dirty="0"/>
          </a:p>
        </p:txBody>
      </p:sp>
      <p:sp>
        <p:nvSpPr>
          <p:cNvPr id="8" name="S03-figure49" descr="막대그래프(세로 눈금 한 칸 1권): 동화 7권, 과학 6권, 역사 4권, 만화 3권"/>
          <p:cNvSpPr/>
          <p:nvPr/>
        </p:nvSpPr>
        <p:spPr>
          <a:xfrm>
            <a:off x="2726886" y="2517787"/>
            <a:ext cx="211143" cy="1231669"/>
          </a:xfrm>
          <a:custGeom>
            <a:avLst/>
            <a:gdLst/>
            <a:ahLst/>
            <a:cxnLst/>
            <a:rect l="l" t="t" r="r" b="b"/>
            <a:pathLst>
              <a:path w="211143" h="1231669">
                <a:moveTo>
                  <a:pt x="0" y="1231669"/>
                </a:moveTo>
                <a:lnTo>
                  <a:pt x="211143" y="1231669"/>
                </a:lnTo>
                <a:lnTo>
                  <a:pt x="21114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mark50"/>
          <p:cNvSpPr/>
          <p:nvPr/>
        </p:nvSpPr>
        <p:spPr>
          <a:xfrm>
            <a:off x="3078792" y="2693739"/>
            <a:ext cx="211143" cy="1055716"/>
          </a:xfrm>
          <a:custGeom>
            <a:avLst/>
            <a:gdLst/>
            <a:ahLst/>
            <a:cxnLst/>
            <a:rect l="l" t="t" r="r" b="b"/>
            <a:pathLst>
              <a:path w="211143" h="1055716">
                <a:moveTo>
                  <a:pt x="0" y="1055716"/>
                </a:moveTo>
                <a:lnTo>
                  <a:pt x="211143" y="1055716"/>
                </a:lnTo>
                <a:lnTo>
                  <a:pt x="21114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mark51"/>
          <p:cNvSpPr/>
          <p:nvPr/>
        </p:nvSpPr>
        <p:spPr>
          <a:xfrm>
            <a:off x="3430697" y="3045645"/>
            <a:ext cx="211143" cy="703811"/>
          </a:xfrm>
          <a:custGeom>
            <a:avLst/>
            <a:gdLst/>
            <a:ahLst/>
            <a:cxnLst/>
            <a:rect l="l" t="t" r="r" b="b"/>
            <a:pathLst>
              <a:path w="211143" h="703811">
                <a:moveTo>
                  <a:pt x="0" y="703811"/>
                </a:moveTo>
                <a:lnTo>
                  <a:pt x="211143" y="703811"/>
                </a:lnTo>
                <a:lnTo>
                  <a:pt x="21114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mark52"/>
          <p:cNvSpPr/>
          <p:nvPr/>
        </p:nvSpPr>
        <p:spPr>
          <a:xfrm>
            <a:off x="3782603" y="3221597"/>
            <a:ext cx="211143" cy="527858"/>
          </a:xfrm>
          <a:custGeom>
            <a:avLst/>
            <a:gdLst/>
            <a:ahLst/>
            <a:cxnLst/>
            <a:rect l="l" t="t" r="r" b="b"/>
            <a:pathLst>
              <a:path w="211143" h="527858">
                <a:moveTo>
                  <a:pt x="0" y="527858"/>
                </a:moveTo>
                <a:lnTo>
                  <a:pt x="211143" y="527858"/>
                </a:lnTo>
                <a:lnTo>
                  <a:pt x="21114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mark53"/>
          <p:cNvSpPr/>
          <p:nvPr/>
        </p:nvSpPr>
        <p:spPr>
          <a:xfrm>
            <a:off x="2603719" y="3573503"/>
            <a:ext cx="151319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54"/>
          <p:cNvSpPr/>
          <p:nvPr/>
        </p:nvSpPr>
        <p:spPr>
          <a:xfrm>
            <a:off x="2603719" y="3397550"/>
            <a:ext cx="151319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55"/>
          <p:cNvSpPr/>
          <p:nvPr/>
        </p:nvSpPr>
        <p:spPr>
          <a:xfrm>
            <a:off x="2603719" y="3221597"/>
            <a:ext cx="151319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56"/>
          <p:cNvSpPr/>
          <p:nvPr/>
        </p:nvSpPr>
        <p:spPr>
          <a:xfrm>
            <a:off x="2603719" y="3045645"/>
            <a:ext cx="151319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3-mark57"/>
          <p:cNvSpPr/>
          <p:nvPr/>
        </p:nvSpPr>
        <p:spPr>
          <a:xfrm>
            <a:off x="2603719" y="2869692"/>
            <a:ext cx="151319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3-mark58"/>
          <p:cNvSpPr/>
          <p:nvPr/>
        </p:nvSpPr>
        <p:spPr>
          <a:xfrm>
            <a:off x="2603719" y="2693739"/>
            <a:ext cx="151319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3-mark59"/>
          <p:cNvSpPr/>
          <p:nvPr/>
        </p:nvSpPr>
        <p:spPr>
          <a:xfrm>
            <a:off x="2603719" y="2517787"/>
            <a:ext cx="151319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3-mark60"/>
          <p:cNvSpPr/>
          <p:nvPr/>
        </p:nvSpPr>
        <p:spPr>
          <a:xfrm>
            <a:off x="2603719" y="2341834"/>
            <a:ext cx="151319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3-mark61"/>
          <p:cNvSpPr/>
          <p:nvPr/>
        </p:nvSpPr>
        <p:spPr>
          <a:xfrm>
            <a:off x="2603719" y="3749456"/>
            <a:ext cx="1513193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3-mark62"/>
          <p:cNvSpPr/>
          <p:nvPr/>
        </p:nvSpPr>
        <p:spPr>
          <a:xfrm flipV="1">
            <a:off x="2603719" y="2271453"/>
            <a:ext cx="0" cy="147800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3-label64"/>
          <p:cNvSpPr txBox="1"/>
          <p:nvPr/>
        </p:nvSpPr>
        <p:spPr>
          <a:xfrm>
            <a:off x="2307094" y="357483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23" name="S03-label66"/>
          <p:cNvSpPr txBox="1"/>
          <p:nvPr/>
        </p:nvSpPr>
        <p:spPr>
          <a:xfrm>
            <a:off x="2307094" y="322292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4" name="S03-label68"/>
          <p:cNvSpPr txBox="1"/>
          <p:nvPr/>
        </p:nvSpPr>
        <p:spPr>
          <a:xfrm>
            <a:off x="2307094" y="287102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5" name="S03-label70"/>
          <p:cNvSpPr txBox="1"/>
          <p:nvPr/>
        </p:nvSpPr>
        <p:spPr>
          <a:xfrm>
            <a:off x="2307094" y="2519114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26" name="S03-label72"/>
          <p:cNvSpPr txBox="1"/>
          <p:nvPr/>
        </p:nvSpPr>
        <p:spPr>
          <a:xfrm>
            <a:off x="2307094" y="2167209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7" name="S03-label74"/>
          <p:cNvSpPr txBox="1"/>
          <p:nvPr/>
        </p:nvSpPr>
        <p:spPr>
          <a:xfrm>
            <a:off x="2094750" y="1991256"/>
            <a:ext cx="7188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(권)</a:t>
            </a:r>
            <a:endParaRPr lang="ko-KR" sz="2200" dirty="0"/>
          </a:p>
        </p:txBody>
      </p:sp>
      <p:sp>
        <p:nvSpPr>
          <p:cNvPr id="28" name="S03-label76"/>
          <p:cNvSpPr txBox="1"/>
          <p:nvPr/>
        </p:nvSpPr>
        <p:spPr>
          <a:xfrm>
            <a:off x="2503782" y="368920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동화</a:t>
            </a:r>
            <a:endParaRPr lang="ko-KR" sz="2200" dirty="0"/>
          </a:p>
        </p:txBody>
      </p:sp>
      <p:sp>
        <p:nvSpPr>
          <p:cNvPr id="29" name="S03-label78"/>
          <p:cNvSpPr txBox="1"/>
          <p:nvPr/>
        </p:nvSpPr>
        <p:spPr>
          <a:xfrm>
            <a:off x="2855687" y="368920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</a:t>
            </a:r>
            <a:endParaRPr lang="ko-KR" sz="2200" dirty="0"/>
          </a:p>
        </p:txBody>
      </p:sp>
      <p:sp>
        <p:nvSpPr>
          <p:cNvPr id="30" name="S03-label80"/>
          <p:cNvSpPr txBox="1"/>
          <p:nvPr/>
        </p:nvSpPr>
        <p:spPr>
          <a:xfrm>
            <a:off x="3207593" y="368920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</a:t>
            </a:r>
            <a:endParaRPr lang="ko-KR" sz="2200" dirty="0"/>
          </a:p>
        </p:txBody>
      </p:sp>
      <p:sp>
        <p:nvSpPr>
          <p:cNvPr id="31" name="S03-label82"/>
          <p:cNvSpPr txBox="1"/>
          <p:nvPr/>
        </p:nvSpPr>
        <p:spPr>
          <a:xfrm>
            <a:off x="3559498" y="368920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만화</a:t>
            </a:r>
            <a:endParaRPr lang="ko-KR" sz="2200" dirty="0"/>
          </a:p>
        </p:txBody>
      </p:sp>
      <p:sp>
        <p:nvSpPr>
          <p:cNvPr id="32" name="S03-label83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</a:t>
            </a:r>
            <a:endParaRPr lang="ko-KR" sz="2200" dirty="0"/>
          </a:p>
        </p:txBody>
      </p:sp>
      <p:sp>
        <p:nvSpPr>
          <p:cNvPr id="33" name="S03-figure84" descr="같은 자료의 띠그래프: 동화 35 %, 과학 30 %, 역사 20 %, 만화 15 %"/>
          <p:cNvSpPr/>
          <p:nvPr/>
        </p:nvSpPr>
        <p:spPr>
          <a:xfrm>
            <a:off x="6338316" y="2452019"/>
            <a:ext cx="1595076" cy="820325"/>
          </a:xfrm>
          <a:custGeom>
            <a:avLst/>
            <a:gdLst/>
            <a:ahLst/>
            <a:cxnLst/>
            <a:rect l="l" t="t" r="r" b="b"/>
            <a:pathLst>
              <a:path w="1595076" h="820325">
                <a:moveTo>
                  <a:pt x="0" y="820325"/>
                </a:moveTo>
                <a:lnTo>
                  <a:pt x="1595076" y="820325"/>
                </a:lnTo>
                <a:lnTo>
                  <a:pt x="1595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mark85"/>
          <p:cNvSpPr/>
          <p:nvPr/>
        </p:nvSpPr>
        <p:spPr>
          <a:xfrm>
            <a:off x="7933392" y="2452019"/>
            <a:ext cx="1367208" cy="820325"/>
          </a:xfrm>
          <a:custGeom>
            <a:avLst/>
            <a:gdLst/>
            <a:ahLst/>
            <a:cxnLst/>
            <a:rect l="l" t="t" r="r" b="b"/>
            <a:pathLst>
              <a:path w="1367208" h="820325">
                <a:moveTo>
                  <a:pt x="0" y="820325"/>
                </a:moveTo>
                <a:lnTo>
                  <a:pt x="1367208" y="820325"/>
                </a:lnTo>
                <a:lnTo>
                  <a:pt x="1367208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mark86"/>
          <p:cNvSpPr/>
          <p:nvPr/>
        </p:nvSpPr>
        <p:spPr>
          <a:xfrm>
            <a:off x="9300599" y="2452019"/>
            <a:ext cx="911472" cy="820325"/>
          </a:xfrm>
          <a:custGeom>
            <a:avLst/>
            <a:gdLst/>
            <a:ahLst/>
            <a:cxnLst/>
            <a:rect l="l" t="t" r="r" b="b"/>
            <a:pathLst>
              <a:path w="911472" h="820325">
                <a:moveTo>
                  <a:pt x="0" y="820325"/>
                </a:moveTo>
                <a:lnTo>
                  <a:pt x="911472" y="820325"/>
                </a:lnTo>
                <a:lnTo>
                  <a:pt x="911472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mark87"/>
          <p:cNvSpPr/>
          <p:nvPr/>
        </p:nvSpPr>
        <p:spPr>
          <a:xfrm>
            <a:off x="10212071" y="2452019"/>
            <a:ext cx="683604" cy="820325"/>
          </a:xfrm>
          <a:custGeom>
            <a:avLst/>
            <a:gdLst/>
            <a:ahLst/>
            <a:cxnLst/>
            <a:rect l="l" t="t" r="r" b="b"/>
            <a:pathLst>
              <a:path w="683604" h="820325">
                <a:moveTo>
                  <a:pt x="0" y="820325"/>
                </a:moveTo>
                <a:lnTo>
                  <a:pt x="683604" y="820325"/>
                </a:lnTo>
                <a:lnTo>
                  <a:pt x="683604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mark88"/>
          <p:cNvSpPr/>
          <p:nvPr/>
        </p:nvSpPr>
        <p:spPr>
          <a:xfrm>
            <a:off x="6338316" y="3327032"/>
            <a:ext cx="455735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8" name="S03-mark89"/>
          <p:cNvSpPr/>
          <p:nvPr/>
        </p:nvSpPr>
        <p:spPr>
          <a:xfrm>
            <a:off x="6338316" y="3327032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9" name="S03-mark90"/>
          <p:cNvSpPr/>
          <p:nvPr/>
        </p:nvSpPr>
        <p:spPr>
          <a:xfrm>
            <a:off x="6566184" y="3327032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0" name="S03-mark91"/>
          <p:cNvSpPr/>
          <p:nvPr/>
        </p:nvSpPr>
        <p:spPr>
          <a:xfrm>
            <a:off x="6794052" y="3327032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1" name="S03-mark92"/>
          <p:cNvSpPr/>
          <p:nvPr/>
        </p:nvSpPr>
        <p:spPr>
          <a:xfrm>
            <a:off x="7021920" y="3327032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2" name="S03-mark93"/>
          <p:cNvSpPr/>
          <p:nvPr/>
        </p:nvSpPr>
        <p:spPr>
          <a:xfrm>
            <a:off x="7249788" y="3327032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3" name="S03-mark94"/>
          <p:cNvSpPr/>
          <p:nvPr/>
        </p:nvSpPr>
        <p:spPr>
          <a:xfrm>
            <a:off x="7477656" y="3327032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4" name="S03-mark95"/>
          <p:cNvSpPr/>
          <p:nvPr/>
        </p:nvSpPr>
        <p:spPr>
          <a:xfrm>
            <a:off x="7705524" y="3327032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5" name="S03-mark96"/>
          <p:cNvSpPr/>
          <p:nvPr/>
        </p:nvSpPr>
        <p:spPr>
          <a:xfrm>
            <a:off x="7933392" y="3327032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6" name="S03-mark97"/>
          <p:cNvSpPr/>
          <p:nvPr/>
        </p:nvSpPr>
        <p:spPr>
          <a:xfrm>
            <a:off x="8161260" y="3327032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7" name="S03-mark98"/>
          <p:cNvSpPr/>
          <p:nvPr/>
        </p:nvSpPr>
        <p:spPr>
          <a:xfrm>
            <a:off x="8389128" y="3327032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8" name="S03-mark99"/>
          <p:cNvSpPr/>
          <p:nvPr/>
        </p:nvSpPr>
        <p:spPr>
          <a:xfrm>
            <a:off x="8616995" y="3327032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9" name="S03-mark100"/>
          <p:cNvSpPr/>
          <p:nvPr/>
        </p:nvSpPr>
        <p:spPr>
          <a:xfrm>
            <a:off x="8844863" y="3327032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0" name="S03-mark101"/>
          <p:cNvSpPr/>
          <p:nvPr/>
        </p:nvSpPr>
        <p:spPr>
          <a:xfrm>
            <a:off x="9072731" y="3327032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1" name="S03-mark102"/>
          <p:cNvSpPr/>
          <p:nvPr/>
        </p:nvSpPr>
        <p:spPr>
          <a:xfrm>
            <a:off x="9300599" y="3327032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2" name="S03-mark103"/>
          <p:cNvSpPr/>
          <p:nvPr/>
        </p:nvSpPr>
        <p:spPr>
          <a:xfrm>
            <a:off x="9528467" y="3327032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3" name="S03-mark104"/>
          <p:cNvSpPr/>
          <p:nvPr/>
        </p:nvSpPr>
        <p:spPr>
          <a:xfrm>
            <a:off x="9756335" y="3327032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4" name="S03-mark105"/>
          <p:cNvSpPr/>
          <p:nvPr/>
        </p:nvSpPr>
        <p:spPr>
          <a:xfrm>
            <a:off x="9984203" y="3327032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5" name="S03-mark106"/>
          <p:cNvSpPr/>
          <p:nvPr/>
        </p:nvSpPr>
        <p:spPr>
          <a:xfrm>
            <a:off x="10212071" y="3327032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6" name="S03-mark107"/>
          <p:cNvSpPr/>
          <p:nvPr/>
        </p:nvSpPr>
        <p:spPr>
          <a:xfrm>
            <a:off x="10439939" y="3327032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7" name="S03-mark108"/>
          <p:cNvSpPr/>
          <p:nvPr/>
        </p:nvSpPr>
        <p:spPr>
          <a:xfrm>
            <a:off x="10667807" y="3327032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8" name="S03-mark109"/>
          <p:cNvSpPr/>
          <p:nvPr/>
        </p:nvSpPr>
        <p:spPr>
          <a:xfrm>
            <a:off x="10895675" y="3327032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9" name="S03-label111"/>
          <p:cNvSpPr txBox="1"/>
          <p:nvPr/>
        </p:nvSpPr>
        <p:spPr>
          <a:xfrm>
            <a:off x="6555718" y="251293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동화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35 %</a:t>
            </a:r>
            <a:endParaRPr lang="ko-KR" sz="2200" dirty="0"/>
          </a:p>
        </p:txBody>
      </p:sp>
      <p:sp>
        <p:nvSpPr>
          <p:cNvPr id="60" name="S03-label113"/>
          <p:cNvSpPr txBox="1"/>
          <p:nvPr/>
        </p:nvSpPr>
        <p:spPr>
          <a:xfrm>
            <a:off x="8036859" y="251293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과학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30 %</a:t>
            </a:r>
            <a:endParaRPr lang="ko-KR" sz="2200" dirty="0"/>
          </a:p>
        </p:txBody>
      </p:sp>
      <p:sp>
        <p:nvSpPr>
          <p:cNvPr id="61" name="S03-label115"/>
          <p:cNvSpPr txBox="1"/>
          <p:nvPr/>
        </p:nvSpPr>
        <p:spPr>
          <a:xfrm>
            <a:off x="9176199" y="251293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역사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62" name="S03-label117"/>
          <p:cNvSpPr txBox="1"/>
          <p:nvPr/>
        </p:nvSpPr>
        <p:spPr>
          <a:xfrm>
            <a:off x="9973737" y="251293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만화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15 %</a:t>
            </a:r>
            <a:endParaRPr lang="ko-KR" sz="2200" dirty="0"/>
          </a:p>
        </p:txBody>
      </p:sp>
      <p:sp>
        <p:nvSpPr>
          <p:cNvPr id="63" name="S03-label119"/>
          <p:cNvSpPr txBox="1"/>
          <p:nvPr/>
        </p:nvSpPr>
        <p:spPr>
          <a:xfrm>
            <a:off x="6191250" y="340306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64" name="S03-label121"/>
          <p:cNvSpPr txBox="1"/>
          <p:nvPr/>
        </p:nvSpPr>
        <p:spPr>
          <a:xfrm>
            <a:off x="7010520" y="3403062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65" name="S03-label123"/>
          <p:cNvSpPr txBox="1"/>
          <p:nvPr/>
        </p:nvSpPr>
        <p:spPr>
          <a:xfrm>
            <a:off x="7921992" y="3403062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66" name="S03-label125"/>
          <p:cNvSpPr txBox="1"/>
          <p:nvPr/>
        </p:nvSpPr>
        <p:spPr>
          <a:xfrm>
            <a:off x="8833463" y="3403062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67" name="S03-label127"/>
          <p:cNvSpPr txBox="1"/>
          <p:nvPr/>
        </p:nvSpPr>
        <p:spPr>
          <a:xfrm>
            <a:off x="9744935" y="3403062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200" dirty="0"/>
          </a:p>
        </p:txBody>
      </p:sp>
      <p:sp>
        <p:nvSpPr>
          <p:cNvPr id="68" name="S03-label129"/>
          <p:cNvSpPr txBox="1"/>
          <p:nvPr/>
        </p:nvSpPr>
        <p:spPr>
          <a:xfrm>
            <a:off x="10564205" y="3403062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200" dirty="0"/>
          </a:p>
        </p:txBody>
      </p:sp>
      <p:sp>
        <p:nvSpPr>
          <p:cNvPr id="69" name="S03-label131"/>
          <p:cNvSpPr txBox="1"/>
          <p:nvPr/>
        </p:nvSpPr>
        <p:spPr>
          <a:xfrm>
            <a:off x="11070233" y="3403062"/>
            <a:ext cx="56235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(%)</a:t>
            </a:r>
            <a:endParaRPr lang="ko-KR" sz="2200" dirty="0"/>
          </a:p>
        </p:txBody>
      </p:sp>
      <p:sp>
        <p:nvSpPr>
          <p:cNvPr id="70" name="S03-label132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그래프마다 잘 보여 주는 것</a:t>
            </a:r>
            <a:endParaRPr lang="ko-KR" sz="4000" dirty="0"/>
          </a:p>
        </p:txBody>
      </p:sp>
      <p:sp>
        <p:nvSpPr>
          <p:cNvPr id="3" name="S04-card133"/>
          <p:cNvSpPr/>
          <p:nvPr/>
        </p:nvSpPr>
        <p:spPr>
          <a:xfrm>
            <a:off x="548640" y="132588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34"/>
          <p:cNvSpPr txBox="1"/>
          <p:nvPr/>
        </p:nvSpPr>
        <p:spPr>
          <a:xfrm>
            <a:off x="822960" y="146304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장소별 많고 적음을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그림으로 한눈에</a:t>
            </a:r>
            <a:endParaRPr lang="ko-KR" sz="2800" dirty="0"/>
          </a:p>
        </p:txBody>
      </p:sp>
      <p:sp>
        <p:nvSpPr>
          <p:cNvPr id="5" name="S04-card135"/>
          <p:cNvSpPr/>
          <p:nvPr/>
        </p:nvSpPr>
        <p:spPr>
          <a:xfrm>
            <a:off x="4322064" y="132588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36"/>
          <p:cNvSpPr txBox="1"/>
          <p:nvPr/>
        </p:nvSpPr>
        <p:spPr>
          <a:xfrm>
            <a:off x="4596384" y="146304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항목끼리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 비교</a:t>
            </a:r>
            <a:endParaRPr lang="ko-KR" sz="2800" dirty="0"/>
          </a:p>
        </p:txBody>
      </p:sp>
      <p:sp>
        <p:nvSpPr>
          <p:cNvPr id="7" name="S04-card137"/>
          <p:cNvSpPr/>
          <p:nvPr/>
        </p:nvSpPr>
        <p:spPr>
          <a:xfrm>
            <a:off x="8095488" y="132588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138"/>
          <p:cNvSpPr txBox="1"/>
          <p:nvPr/>
        </p:nvSpPr>
        <p:spPr>
          <a:xfrm>
            <a:off x="8369808" y="146304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시간에 따른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</a:t>
            </a:r>
            <a:endParaRPr lang="ko-KR" sz="2800" dirty="0"/>
          </a:p>
        </p:txBody>
      </p:sp>
      <p:sp>
        <p:nvSpPr>
          <p:cNvPr id="9" name="S04-card139"/>
          <p:cNvSpPr/>
          <p:nvPr/>
        </p:nvSpPr>
        <p:spPr>
          <a:xfrm>
            <a:off x="548640" y="388620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140"/>
          <p:cNvSpPr txBox="1"/>
          <p:nvPr/>
        </p:nvSpPr>
        <p:spPr>
          <a:xfrm>
            <a:off x="822960" y="402336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전체에 대한 비율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띠를 견주기 좋아요.</a:t>
            </a:r>
            <a:endParaRPr lang="ko-KR" sz="2800" dirty="0"/>
          </a:p>
        </p:txBody>
      </p:sp>
      <p:sp>
        <p:nvSpPr>
          <p:cNvPr id="11" name="S04-card141"/>
          <p:cNvSpPr/>
          <p:nvPr/>
        </p:nvSpPr>
        <p:spPr>
          <a:xfrm>
            <a:off x="4322064" y="388620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142"/>
          <p:cNvSpPr txBox="1"/>
          <p:nvPr/>
        </p:nvSpPr>
        <p:spPr>
          <a:xfrm>
            <a:off x="4596384" y="402336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전체에 대한 비율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자료를 한눈에</a:t>
            </a:r>
            <a:endParaRPr lang="ko-KR" sz="2800" dirty="0"/>
          </a:p>
        </p:txBody>
      </p:sp>
      <p:sp>
        <p:nvSpPr>
          <p:cNvPr id="13" name="S04-card143"/>
          <p:cNvSpPr/>
          <p:nvPr/>
        </p:nvSpPr>
        <p:spPr>
          <a:xfrm>
            <a:off x="8095488" y="388620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4" name="S04-cardtext144"/>
          <p:cNvSpPr txBox="1"/>
          <p:nvPr/>
        </p:nvSpPr>
        <p:spPr>
          <a:xfrm>
            <a:off x="8369808" y="402336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고르는 기준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알고 싶나요?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· 변화 · 비율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그래프가 알맞을까요?</a:t>
            </a:r>
            <a:endParaRPr lang="ko-KR" sz="4000" dirty="0"/>
          </a:p>
        </p:txBody>
      </p:sp>
      <p:sp>
        <p:nvSpPr>
          <p:cNvPr id="3" name="S05-text1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그래프와 까닭을 말해요.</a:t>
            </a:r>
            <a:endParaRPr lang="ko-KR" sz="2800" dirty="0"/>
          </a:p>
        </p:txBody>
      </p:sp>
      <p:sp>
        <p:nvSpPr>
          <p:cNvPr id="4" name="S05-card1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1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변화? 비교? 비율? 장소? 알고 싶은 것을 먼저 찾아요.</a:t>
            </a:r>
            <a:endParaRPr lang="ko-KR" sz="2800" dirty="0"/>
          </a:p>
        </p:txBody>
      </p:sp>
      <p:sp>
        <p:nvSpPr>
          <p:cNvPr id="6" name="S05-chip14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14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 몸무게를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1월부터 6월까지 매달</a:t>
            </a:r>
            <a:endParaRPr lang="ko-KR" sz="2800" dirty="0"/>
          </a:p>
        </p:txBody>
      </p:sp>
      <p:sp>
        <p:nvSpPr>
          <p:cNvPr id="8" name="S05-chip15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15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과일별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 비교</a:t>
            </a:r>
            <a:endParaRPr lang="ko-KR" sz="2800" dirty="0"/>
          </a:p>
        </p:txBody>
      </p:sp>
      <p:sp>
        <p:nvSpPr>
          <p:cNvPr id="10" name="S05-chip152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text153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용돈을 쓴 곳별로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몇 %인지</a:t>
            </a:r>
            <a:endParaRPr lang="ko-KR" sz="2800" dirty="0"/>
          </a:p>
        </p:txBody>
      </p:sp>
      <p:sp>
        <p:nvSpPr>
          <p:cNvPr id="12" name="S05-chip154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text155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마을별 사과 생산량을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위에 그림으로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그래프가 알맞을까요?</a:t>
            </a:r>
            <a:endParaRPr lang="ko-KR" sz="4000" dirty="0"/>
          </a:p>
        </p:txBody>
      </p:sp>
      <p:sp>
        <p:nvSpPr>
          <p:cNvPr id="3" name="S06-card15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5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과일별 학생 수를 나타냈어요.</a:t>
            </a:r>
            <a:endParaRPr lang="ko-KR" sz="2800" dirty="0"/>
          </a:p>
        </p:txBody>
      </p:sp>
      <p:sp>
        <p:nvSpPr>
          <p:cNvPr id="5" name="S06-card1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사과와 배 사이의 선분은 무엇을 뜻할까요?</a:t>
            </a:r>
            <a:endParaRPr lang="ko-KR" sz="2800" dirty="0"/>
          </a:p>
        </p:txBody>
      </p:sp>
      <p:sp>
        <p:nvSpPr>
          <p:cNvPr id="7" name="S06-chip16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꺾은선그래프</a:t>
            </a:r>
            <a:endParaRPr lang="ko-KR" sz="2200" dirty="0"/>
          </a:p>
        </p:txBody>
      </p:sp>
      <p:sp>
        <p:nvSpPr>
          <p:cNvPr id="8" name="S06-figure161" descr="좋아하는 과일별 학생 수를 꺾은선으로 이은 그래프: 사과 6, 배 3, 귤 7, 포도 4"/>
          <p:cNvSpPr/>
          <p:nvPr/>
        </p:nvSpPr>
        <p:spPr>
          <a:xfrm>
            <a:off x="2830013" y="3651511"/>
            <a:ext cx="1032528" cy="688352"/>
          </a:xfrm>
          <a:custGeom>
            <a:avLst/>
            <a:gdLst/>
            <a:ahLst/>
            <a:cxnLst/>
            <a:rect l="l" t="t" r="r" b="b"/>
            <a:pathLst>
              <a:path w="1032528" h="688352">
                <a:moveTo>
                  <a:pt x="0" y="172088"/>
                </a:moveTo>
                <a:lnTo>
                  <a:pt x="344176" y="688352"/>
                </a:lnTo>
                <a:lnTo>
                  <a:pt x="688352" y="0"/>
                </a:lnTo>
                <a:lnTo>
                  <a:pt x="1032528" y="516264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9" name="S06-mark162"/>
          <p:cNvSpPr/>
          <p:nvPr/>
        </p:nvSpPr>
        <p:spPr>
          <a:xfrm flipV="1">
            <a:off x="2830013" y="3479423"/>
            <a:ext cx="0" cy="13767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163"/>
          <p:cNvSpPr/>
          <p:nvPr/>
        </p:nvSpPr>
        <p:spPr>
          <a:xfrm flipV="1">
            <a:off x="3174189" y="3479423"/>
            <a:ext cx="0" cy="13767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164"/>
          <p:cNvSpPr/>
          <p:nvPr/>
        </p:nvSpPr>
        <p:spPr>
          <a:xfrm flipV="1">
            <a:off x="3518365" y="3479423"/>
            <a:ext cx="0" cy="13767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165"/>
          <p:cNvSpPr/>
          <p:nvPr/>
        </p:nvSpPr>
        <p:spPr>
          <a:xfrm flipV="1">
            <a:off x="3862542" y="3479423"/>
            <a:ext cx="0" cy="13767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166"/>
          <p:cNvSpPr/>
          <p:nvPr/>
        </p:nvSpPr>
        <p:spPr>
          <a:xfrm>
            <a:off x="2606299" y="4684040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167"/>
          <p:cNvSpPr/>
          <p:nvPr/>
        </p:nvSpPr>
        <p:spPr>
          <a:xfrm>
            <a:off x="2606299" y="4511951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168"/>
          <p:cNvSpPr/>
          <p:nvPr/>
        </p:nvSpPr>
        <p:spPr>
          <a:xfrm>
            <a:off x="2606299" y="4339863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6-mark169"/>
          <p:cNvSpPr/>
          <p:nvPr/>
        </p:nvSpPr>
        <p:spPr>
          <a:xfrm>
            <a:off x="2606299" y="4167775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6-mark170"/>
          <p:cNvSpPr/>
          <p:nvPr/>
        </p:nvSpPr>
        <p:spPr>
          <a:xfrm>
            <a:off x="2606299" y="3995687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6-mark171"/>
          <p:cNvSpPr/>
          <p:nvPr/>
        </p:nvSpPr>
        <p:spPr>
          <a:xfrm>
            <a:off x="2606299" y="3823599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6-mark172"/>
          <p:cNvSpPr/>
          <p:nvPr/>
        </p:nvSpPr>
        <p:spPr>
          <a:xfrm>
            <a:off x="2606299" y="3651511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6-mark173"/>
          <p:cNvSpPr/>
          <p:nvPr/>
        </p:nvSpPr>
        <p:spPr>
          <a:xfrm>
            <a:off x="2606299" y="3479423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6-mark174"/>
          <p:cNvSpPr/>
          <p:nvPr/>
        </p:nvSpPr>
        <p:spPr>
          <a:xfrm>
            <a:off x="2606299" y="4856128"/>
            <a:ext cx="1479957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6-mark175"/>
          <p:cNvSpPr/>
          <p:nvPr/>
        </p:nvSpPr>
        <p:spPr>
          <a:xfrm flipV="1">
            <a:off x="2606299" y="3410588"/>
            <a:ext cx="0" cy="144554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06-mark176"/>
          <p:cNvSpPr/>
          <p:nvPr/>
        </p:nvSpPr>
        <p:spPr>
          <a:xfrm>
            <a:off x="2770577" y="376416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mark177"/>
          <p:cNvSpPr/>
          <p:nvPr/>
        </p:nvSpPr>
        <p:spPr>
          <a:xfrm>
            <a:off x="3114753" y="428042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mark178"/>
          <p:cNvSpPr/>
          <p:nvPr/>
        </p:nvSpPr>
        <p:spPr>
          <a:xfrm>
            <a:off x="3458929" y="3592075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mark179"/>
          <p:cNvSpPr/>
          <p:nvPr/>
        </p:nvSpPr>
        <p:spPr>
          <a:xfrm>
            <a:off x="3803106" y="410833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6-label181"/>
          <p:cNvSpPr txBox="1"/>
          <p:nvPr/>
        </p:nvSpPr>
        <p:spPr>
          <a:xfrm>
            <a:off x="2312958" y="468150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28" name="S06-label183"/>
          <p:cNvSpPr txBox="1"/>
          <p:nvPr/>
        </p:nvSpPr>
        <p:spPr>
          <a:xfrm>
            <a:off x="2312958" y="468150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29" name="S06-label185"/>
          <p:cNvSpPr txBox="1"/>
          <p:nvPr/>
        </p:nvSpPr>
        <p:spPr>
          <a:xfrm>
            <a:off x="2312958" y="4337326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0" name="S06-label187"/>
          <p:cNvSpPr txBox="1"/>
          <p:nvPr/>
        </p:nvSpPr>
        <p:spPr>
          <a:xfrm>
            <a:off x="2312958" y="399315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31" name="S06-label189"/>
          <p:cNvSpPr txBox="1"/>
          <p:nvPr/>
        </p:nvSpPr>
        <p:spPr>
          <a:xfrm>
            <a:off x="2312958" y="3648974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32" name="S06-label191"/>
          <p:cNvSpPr txBox="1"/>
          <p:nvPr/>
        </p:nvSpPr>
        <p:spPr>
          <a:xfrm>
            <a:off x="2312958" y="3304798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33" name="S06-label193"/>
          <p:cNvSpPr txBox="1"/>
          <p:nvPr/>
        </p:nvSpPr>
        <p:spPr>
          <a:xfrm>
            <a:off x="2100614" y="3132710"/>
            <a:ext cx="7188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200" dirty="0"/>
          </a:p>
        </p:txBody>
      </p:sp>
      <p:sp>
        <p:nvSpPr>
          <p:cNvPr id="34" name="S06-label195"/>
          <p:cNvSpPr txBox="1"/>
          <p:nvPr/>
        </p:nvSpPr>
        <p:spPr>
          <a:xfrm>
            <a:off x="2501337" y="479336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2200" dirty="0"/>
          </a:p>
        </p:txBody>
      </p:sp>
      <p:sp>
        <p:nvSpPr>
          <p:cNvPr id="35" name="S06-label197"/>
          <p:cNvSpPr txBox="1"/>
          <p:nvPr/>
        </p:nvSpPr>
        <p:spPr>
          <a:xfrm>
            <a:off x="2982419" y="479336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ko-KR" sz="2200" dirty="0"/>
          </a:p>
        </p:txBody>
      </p:sp>
      <p:sp>
        <p:nvSpPr>
          <p:cNvPr id="36" name="S06-label199"/>
          <p:cNvSpPr txBox="1"/>
          <p:nvPr/>
        </p:nvSpPr>
        <p:spPr>
          <a:xfrm>
            <a:off x="3326595" y="479336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2200" dirty="0"/>
          </a:p>
        </p:txBody>
      </p:sp>
      <p:sp>
        <p:nvSpPr>
          <p:cNvPr id="37" name="S06-label201"/>
          <p:cNvSpPr txBox="1"/>
          <p:nvPr/>
        </p:nvSpPr>
        <p:spPr>
          <a:xfrm>
            <a:off x="3533866" y="479336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2200" dirty="0"/>
          </a:p>
        </p:txBody>
      </p:sp>
      <p:sp>
        <p:nvSpPr>
          <p:cNvPr id="38" name="S06-chip20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막대그래프</a:t>
            </a:r>
            <a:endParaRPr lang="ko-KR" sz="2200" dirty="0"/>
          </a:p>
        </p:txBody>
      </p:sp>
      <p:sp>
        <p:nvSpPr>
          <p:cNvPr id="39" name="S06-figure203" descr="좋아하는 과일별 학생 수 막대그래프: 사과 6, 배 3, 귤 7, 포도 4"/>
          <p:cNvSpPr/>
          <p:nvPr/>
        </p:nvSpPr>
        <p:spPr>
          <a:xfrm>
            <a:off x="8455476" y="3823599"/>
            <a:ext cx="206506" cy="1032528"/>
          </a:xfrm>
          <a:custGeom>
            <a:avLst/>
            <a:gdLst/>
            <a:ahLst/>
            <a:cxnLst/>
            <a:rect l="l" t="t" r="r" b="b"/>
            <a:pathLst>
              <a:path w="206506" h="1032528">
                <a:moveTo>
                  <a:pt x="0" y="1032528"/>
                </a:moveTo>
                <a:lnTo>
                  <a:pt x="206506" y="1032528"/>
                </a:lnTo>
                <a:lnTo>
                  <a:pt x="20650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6-mark204"/>
          <p:cNvSpPr/>
          <p:nvPr/>
        </p:nvSpPr>
        <p:spPr>
          <a:xfrm>
            <a:off x="8799653" y="4339863"/>
            <a:ext cx="206506" cy="516264"/>
          </a:xfrm>
          <a:custGeom>
            <a:avLst/>
            <a:gdLst/>
            <a:ahLst/>
            <a:cxnLst/>
            <a:rect l="l" t="t" r="r" b="b"/>
            <a:pathLst>
              <a:path w="206506" h="516264">
                <a:moveTo>
                  <a:pt x="0" y="516264"/>
                </a:moveTo>
                <a:lnTo>
                  <a:pt x="206506" y="516264"/>
                </a:lnTo>
                <a:lnTo>
                  <a:pt x="20650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6-mark205"/>
          <p:cNvSpPr/>
          <p:nvPr/>
        </p:nvSpPr>
        <p:spPr>
          <a:xfrm>
            <a:off x="9143829" y="3651511"/>
            <a:ext cx="206506" cy="1204616"/>
          </a:xfrm>
          <a:custGeom>
            <a:avLst/>
            <a:gdLst/>
            <a:ahLst/>
            <a:cxnLst/>
            <a:rect l="l" t="t" r="r" b="b"/>
            <a:pathLst>
              <a:path w="206506" h="1204616">
                <a:moveTo>
                  <a:pt x="0" y="1204616"/>
                </a:moveTo>
                <a:lnTo>
                  <a:pt x="206506" y="1204616"/>
                </a:lnTo>
                <a:lnTo>
                  <a:pt x="20650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6-mark206"/>
          <p:cNvSpPr/>
          <p:nvPr/>
        </p:nvSpPr>
        <p:spPr>
          <a:xfrm>
            <a:off x="9488005" y="4167775"/>
            <a:ext cx="206506" cy="688352"/>
          </a:xfrm>
          <a:custGeom>
            <a:avLst/>
            <a:gdLst/>
            <a:ahLst/>
            <a:cxnLst/>
            <a:rect l="l" t="t" r="r" b="b"/>
            <a:pathLst>
              <a:path w="206506" h="688352">
                <a:moveTo>
                  <a:pt x="0" y="688352"/>
                </a:moveTo>
                <a:lnTo>
                  <a:pt x="206506" y="688352"/>
                </a:lnTo>
                <a:lnTo>
                  <a:pt x="20650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6-mark207"/>
          <p:cNvSpPr/>
          <p:nvPr/>
        </p:nvSpPr>
        <p:spPr>
          <a:xfrm>
            <a:off x="8335015" y="4684040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6-mark208"/>
          <p:cNvSpPr/>
          <p:nvPr/>
        </p:nvSpPr>
        <p:spPr>
          <a:xfrm>
            <a:off x="8335015" y="4511951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6-mark209"/>
          <p:cNvSpPr/>
          <p:nvPr/>
        </p:nvSpPr>
        <p:spPr>
          <a:xfrm>
            <a:off x="8335015" y="4339863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6-mark210"/>
          <p:cNvSpPr/>
          <p:nvPr/>
        </p:nvSpPr>
        <p:spPr>
          <a:xfrm>
            <a:off x="8335015" y="4167775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6-mark211"/>
          <p:cNvSpPr/>
          <p:nvPr/>
        </p:nvSpPr>
        <p:spPr>
          <a:xfrm>
            <a:off x="8335015" y="3995687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6-mark212"/>
          <p:cNvSpPr/>
          <p:nvPr/>
        </p:nvSpPr>
        <p:spPr>
          <a:xfrm>
            <a:off x="8335015" y="3823599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06-mark213"/>
          <p:cNvSpPr/>
          <p:nvPr/>
        </p:nvSpPr>
        <p:spPr>
          <a:xfrm>
            <a:off x="8335015" y="3651511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06-mark214"/>
          <p:cNvSpPr/>
          <p:nvPr/>
        </p:nvSpPr>
        <p:spPr>
          <a:xfrm>
            <a:off x="8335015" y="3479423"/>
            <a:ext cx="147995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06-mark215"/>
          <p:cNvSpPr/>
          <p:nvPr/>
        </p:nvSpPr>
        <p:spPr>
          <a:xfrm>
            <a:off x="8335015" y="4856128"/>
            <a:ext cx="1479957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2" name="S06-mark216"/>
          <p:cNvSpPr/>
          <p:nvPr/>
        </p:nvSpPr>
        <p:spPr>
          <a:xfrm flipV="1">
            <a:off x="8335015" y="3410588"/>
            <a:ext cx="0" cy="144554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3" name="S06-label218"/>
          <p:cNvSpPr txBox="1"/>
          <p:nvPr/>
        </p:nvSpPr>
        <p:spPr>
          <a:xfrm>
            <a:off x="8041674" y="468150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54" name="S06-label220"/>
          <p:cNvSpPr txBox="1"/>
          <p:nvPr/>
        </p:nvSpPr>
        <p:spPr>
          <a:xfrm>
            <a:off x="8041674" y="4337326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55" name="S06-label222"/>
          <p:cNvSpPr txBox="1"/>
          <p:nvPr/>
        </p:nvSpPr>
        <p:spPr>
          <a:xfrm>
            <a:off x="8041674" y="399315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56" name="S06-label224"/>
          <p:cNvSpPr txBox="1"/>
          <p:nvPr/>
        </p:nvSpPr>
        <p:spPr>
          <a:xfrm>
            <a:off x="8041674" y="3648974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57" name="S06-label226"/>
          <p:cNvSpPr txBox="1"/>
          <p:nvPr/>
        </p:nvSpPr>
        <p:spPr>
          <a:xfrm>
            <a:off x="8041674" y="3304798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58" name="S06-label228"/>
          <p:cNvSpPr txBox="1"/>
          <p:nvPr/>
        </p:nvSpPr>
        <p:spPr>
          <a:xfrm>
            <a:off x="7829330" y="3132710"/>
            <a:ext cx="7188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200" dirty="0"/>
          </a:p>
        </p:txBody>
      </p:sp>
      <p:sp>
        <p:nvSpPr>
          <p:cNvPr id="59" name="S06-label230"/>
          <p:cNvSpPr txBox="1"/>
          <p:nvPr/>
        </p:nvSpPr>
        <p:spPr>
          <a:xfrm>
            <a:off x="8230053" y="479336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2200" dirty="0"/>
          </a:p>
        </p:txBody>
      </p:sp>
      <p:sp>
        <p:nvSpPr>
          <p:cNvPr id="60" name="S06-label232"/>
          <p:cNvSpPr txBox="1"/>
          <p:nvPr/>
        </p:nvSpPr>
        <p:spPr>
          <a:xfrm>
            <a:off x="8711135" y="479336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ko-KR" sz="2200" dirty="0"/>
          </a:p>
        </p:txBody>
      </p:sp>
      <p:sp>
        <p:nvSpPr>
          <p:cNvPr id="61" name="S06-label234"/>
          <p:cNvSpPr txBox="1"/>
          <p:nvPr/>
        </p:nvSpPr>
        <p:spPr>
          <a:xfrm>
            <a:off x="9055311" y="479336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2200" dirty="0"/>
          </a:p>
        </p:txBody>
      </p:sp>
      <p:sp>
        <p:nvSpPr>
          <p:cNvPr id="62" name="S06-label236"/>
          <p:cNvSpPr txBox="1"/>
          <p:nvPr/>
        </p:nvSpPr>
        <p:spPr>
          <a:xfrm>
            <a:off x="9262582" y="479336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골라서 나타내고 해석해요</a:t>
            </a:r>
            <a:endParaRPr lang="ko-KR" sz="4000" dirty="0"/>
          </a:p>
        </p:txBody>
      </p:sp>
      <p:sp>
        <p:nvSpPr>
          <p:cNvPr id="3" name="S07-text2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 책 400권의 종류별 비율이 궁금해요.</a:t>
            </a:r>
            <a:endParaRPr lang="ko-KR" sz="2800" dirty="0"/>
          </a:p>
        </p:txBody>
      </p:sp>
      <p:sp>
        <p:nvSpPr>
          <p:cNvPr id="4" name="S07-figure238" descr="원그래프 ‘도서관 책의 종류’(400권): 문학 40 %, 과학 25 %, 역사 20 %, 기타 15 %"/>
          <p:cNvSpPr/>
          <p:nvPr/>
        </p:nvSpPr>
        <p:spPr>
          <a:xfrm>
            <a:off x="9226982" y="2666615"/>
            <a:ext cx="1631758" cy="2951874"/>
          </a:xfrm>
          <a:custGeom>
            <a:avLst/>
            <a:gdLst/>
            <a:ahLst/>
            <a:cxnLst/>
            <a:rect l="l" t="t" r="r" b="b"/>
            <a:pathLst>
              <a:path w="1631758" h="2951874">
                <a:moveTo>
                  <a:pt x="0" y="1631758"/>
                </a:moveTo>
                <a:lnTo>
                  <a:pt x="0" y="0"/>
                </a:lnTo>
                <a:lnTo>
                  <a:pt x="85398" y="2236"/>
                </a:lnTo>
                <a:lnTo>
                  <a:pt x="170568" y="8942"/>
                </a:lnTo>
                <a:lnTo>
                  <a:pt x="255264" y="20087"/>
                </a:lnTo>
                <a:lnTo>
                  <a:pt x="339259" y="35654"/>
                </a:lnTo>
                <a:lnTo>
                  <a:pt x="422331" y="55602"/>
                </a:lnTo>
                <a:lnTo>
                  <a:pt x="504238" y="79866"/>
                </a:lnTo>
                <a:lnTo>
                  <a:pt x="584773" y="108381"/>
                </a:lnTo>
                <a:lnTo>
                  <a:pt x="663693" y="141074"/>
                </a:lnTo>
                <a:lnTo>
                  <a:pt x="740802" y="177853"/>
                </a:lnTo>
                <a:lnTo>
                  <a:pt x="815879" y="218615"/>
                </a:lnTo>
                <a:lnTo>
                  <a:pt x="888720" y="263251"/>
                </a:lnTo>
                <a:lnTo>
                  <a:pt x="959123" y="311641"/>
                </a:lnTo>
                <a:lnTo>
                  <a:pt x="1026898" y="363645"/>
                </a:lnTo>
                <a:lnTo>
                  <a:pt x="1091858" y="419125"/>
                </a:lnTo>
                <a:lnTo>
                  <a:pt x="1153824" y="477934"/>
                </a:lnTo>
                <a:lnTo>
                  <a:pt x="1212632" y="539900"/>
                </a:lnTo>
                <a:lnTo>
                  <a:pt x="1268112" y="604860"/>
                </a:lnTo>
                <a:lnTo>
                  <a:pt x="1320116" y="672635"/>
                </a:lnTo>
                <a:lnTo>
                  <a:pt x="1368506" y="743037"/>
                </a:lnTo>
                <a:lnTo>
                  <a:pt x="1413143" y="815879"/>
                </a:lnTo>
                <a:lnTo>
                  <a:pt x="1453904" y="890956"/>
                </a:lnTo>
                <a:lnTo>
                  <a:pt x="1490684" y="968065"/>
                </a:lnTo>
                <a:lnTo>
                  <a:pt x="1523376" y="1046985"/>
                </a:lnTo>
                <a:lnTo>
                  <a:pt x="1551891" y="1127520"/>
                </a:lnTo>
                <a:lnTo>
                  <a:pt x="1576155" y="1209426"/>
                </a:lnTo>
                <a:lnTo>
                  <a:pt x="1596104" y="1292499"/>
                </a:lnTo>
                <a:lnTo>
                  <a:pt x="1611671" y="1376494"/>
                </a:lnTo>
                <a:lnTo>
                  <a:pt x="1622816" y="1461190"/>
                </a:lnTo>
                <a:lnTo>
                  <a:pt x="1629522" y="1546360"/>
                </a:lnTo>
                <a:lnTo>
                  <a:pt x="1631758" y="1631758"/>
                </a:lnTo>
                <a:lnTo>
                  <a:pt x="1629522" y="1717156"/>
                </a:lnTo>
                <a:lnTo>
                  <a:pt x="1622816" y="1802325"/>
                </a:lnTo>
                <a:lnTo>
                  <a:pt x="1611671" y="1887022"/>
                </a:lnTo>
                <a:lnTo>
                  <a:pt x="1596104" y="1971016"/>
                </a:lnTo>
                <a:lnTo>
                  <a:pt x="1576155" y="2054089"/>
                </a:lnTo>
                <a:lnTo>
                  <a:pt x="1551891" y="2135995"/>
                </a:lnTo>
                <a:lnTo>
                  <a:pt x="1523376" y="2216531"/>
                </a:lnTo>
                <a:lnTo>
                  <a:pt x="1490684" y="2295450"/>
                </a:lnTo>
                <a:lnTo>
                  <a:pt x="1453904" y="2372559"/>
                </a:lnTo>
                <a:lnTo>
                  <a:pt x="1413143" y="2447636"/>
                </a:lnTo>
                <a:lnTo>
                  <a:pt x="1368506" y="2520478"/>
                </a:lnTo>
                <a:lnTo>
                  <a:pt x="1320116" y="2590880"/>
                </a:lnTo>
                <a:lnTo>
                  <a:pt x="1268112" y="2658655"/>
                </a:lnTo>
                <a:lnTo>
                  <a:pt x="1212632" y="2723616"/>
                </a:lnTo>
                <a:lnTo>
                  <a:pt x="1153824" y="2785582"/>
                </a:lnTo>
                <a:lnTo>
                  <a:pt x="1091858" y="2844390"/>
                </a:lnTo>
                <a:lnTo>
                  <a:pt x="1026898" y="2899870"/>
                </a:lnTo>
                <a:lnTo>
                  <a:pt x="959123" y="2951874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7-mark239"/>
          <p:cNvSpPr/>
          <p:nvPr/>
        </p:nvSpPr>
        <p:spPr>
          <a:xfrm>
            <a:off x="7906865" y="4298373"/>
            <a:ext cx="2279239" cy="1631758"/>
          </a:xfrm>
          <a:custGeom>
            <a:avLst/>
            <a:gdLst/>
            <a:ahLst/>
            <a:cxnLst/>
            <a:rect l="l" t="t" r="r" b="b"/>
            <a:pathLst>
              <a:path w="2279239" h="1631758">
                <a:moveTo>
                  <a:pt x="1320116" y="0"/>
                </a:moveTo>
                <a:lnTo>
                  <a:pt x="2279239" y="1320116"/>
                </a:lnTo>
                <a:lnTo>
                  <a:pt x="2208837" y="1368506"/>
                </a:lnTo>
                <a:lnTo>
                  <a:pt x="2135995" y="1413143"/>
                </a:lnTo>
                <a:lnTo>
                  <a:pt x="2060918" y="1453904"/>
                </a:lnTo>
                <a:lnTo>
                  <a:pt x="1983809" y="1490684"/>
                </a:lnTo>
                <a:lnTo>
                  <a:pt x="1904889" y="1523376"/>
                </a:lnTo>
                <a:lnTo>
                  <a:pt x="1824354" y="1551891"/>
                </a:lnTo>
                <a:lnTo>
                  <a:pt x="1742448" y="1576155"/>
                </a:lnTo>
                <a:lnTo>
                  <a:pt x="1659375" y="1596104"/>
                </a:lnTo>
                <a:lnTo>
                  <a:pt x="1575380" y="1611671"/>
                </a:lnTo>
                <a:lnTo>
                  <a:pt x="1490684" y="1622816"/>
                </a:lnTo>
                <a:lnTo>
                  <a:pt x="1405514" y="1629522"/>
                </a:lnTo>
                <a:lnTo>
                  <a:pt x="1320116" y="1631758"/>
                </a:lnTo>
                <a:lnTo>
                  <a:pt x="1234718" y="1629522"/>
                </a:lnTo>
                <a:lnTo>
                  <a:pt x="1149549" y="1622816"/>
                </a:lnTo>
                <a:lnTo>
                  <a:pt x="1064852" y="1611671"/>
                </a:lnTo>
                <a:lnTo>
                  <a:pt x="980858" y="1596104"/>
                </a:lnTo>
                <a:lnTo>
                  <a:pt x="897785" y="1576155"/>
                </a:lnTo>
                <a:lnTo>
                  <a:pt x="815879" y="1551891"/>
                </a:lnTo>
                <a:lnTo>
                  <a:pt x="735343" y="1523376"/>
                </a:lnTo>
                <a:lnTo>
                  <a:pt x="656423" y="1490684"/>
                </a:lnTo>
                <a:lnTo>
                  <a:pt x="579315" y="1453904"/>
                </a:lnTo>
                <a:lnTo>
                  <a:pt x="504238" y="1413143"/>
                </a:lnTo>
                <a:lnTo>
                  <a:pt x="431396" y="1368506"/>
                </a:lnTo>
                <a:lnTo>
                  <a:pt x="360994" y="1320116"/>
                </a:lnTo>
                <a:lnTo>
                  <a:pt x="293219" y="1268112"/>
                </a:lnTo>
                <a:lnTo>
                  <a:pt x="228258" y="1212632"/>
                </a:lnTo>
                <a:lnTo>
                  <a:pt x="166292" y="1153824"/>
                </a:lnTo>
                <a:lnTo>
                  <a:pt x="107484" y="1091858"/>
                </a:lnTo>
                <a:lnTo>
                  <a:pt x="52004" y="1026898"/>
                </a:lnTo>
                <a:lnTo>
                  <a:pt x="0" y="959123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7-mark240"/>
          <p:cNvSpPr/>
          <p:nvPr/>
        </p:nvSpPr>
        <p:spPr>
          <a:xfrm>
            <a:off x="7595224" y="3339250"/>
            <a:ext cx="1631758" cy="1918245"/>
          </a:xfrm>
          <a:custGeom>
            <a:avLst/>
            <a:gdLst/>
            <a:ahLst/>
            <a:cxnLst/>
            <a:rect l="l" t="t" r="r" b="b"/>
            <a:pathLst>
              <a:path w="1631758" h="1918245">
                <a:moveTo>
                  <a:pt x="1631758" y="959123"/>
                </a:moveTo>
                <a:lnTo>
                  <a:pt x="311641" y="1918245"/>
                </a:lnTo>
                <a:lnTo>
                  <a:pt x="263251" y="1847843"/>
                </a:lnTo>
                <a:lnTo>
                  <a:pt x="218615" y="1775001"/>
                </a:lnTo>
                <a:lnTo>
                  <a:pt x="177853" y="1699924"/>
                </a:lnTo>
                <a:lnTo>
                  <a:pt x="141074" y="1622816"/>
                </a:lnTo>
                <a:lnTo>
                  <a:pt x="108381" y="1543896"/>
                </a:lnTo>
                <a:lnTo>
                  <a:pt x="79866" y="1463360"/>
                </a:lnTo>
                <a:lnTo>
                  <a:pt x="55602" y="1381454"/>
                </a:lnTo>
                <a:lnTo>
                  <a:pt x="35654" y="1298381"/>
                </a:lnTo>
                <a:lnTo>
                  <a:pt x="20087" y="1214387"/>
                </a:lnTo>
                <a:lnTo>
                  <a:pt x="8942" y="1129690"/>
                </a:lnTo>
                <a:lnTo>
                  <a:pt x="2236" y="1044521"/>
                </a:lnTo>
                <a:lnTo>
                  <a:pt x="0" y="959123"/>
                </a:lnTo>
                <a:lnTo>
                  <a:pt x="2236" y="873725"/>
                </a:lnTo>
                <a:lnTo>
                  <a:pt x="8942" y="788555"/>
                </a:lnTo>
                <a:lnTo>
                  <a:pt x="20087" y="703859"/>
                </a:lnTo>
                <a:lnTo>
                  <a:pt x="35654" y="619864"/>
                </a:lnTo>
                <a:lnTo>
                  <a:pt x="55602" y="536791"/>
                </a:lnTo>
                <a:lnTo>
                  <a:pt x="79866" y="454885"/>
                </a:lnTo>
                <a:lnTo>
                  <a:pt x="108381" y="374350"/>
                </a:lnTo>
                <a:lnTo>
                  <a:pt x="141074" y="295430"/>
                </a:lnTo>
                <a:lnTo>
                  <a:pt x="177853" y="218321"/>
                </a:lnTo>
                <a:lnTo>
                  <a:pt x="218615" y="143244"/>
                </a:lnTo>
                <a:lnTo>
                  <a:pt x="263251" y="70402"/>
                </a:lnTo>
                <a:lnTo>
                  <a:pt x="311641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7-mark241"/>
          <p:cNvSpPr/>
          <p:nvPr/>
        </p:nvSpPr>
        <p:spPr>
          <a:xfrm>
            <a:off x="7906865" y="2666615"/>
            <a:ext cx="1320116" cy="1631758"/>
          </a:xfrm>
          <a:custGeom>
            <a:avLst/>
            <a:gdLst/>
            <a:ahLst/>
            <a:cxnLst/>
            <a:rect l="l" t="t" r="r" b="b"/>
            <a:pathLst>
              <a:path w="1320116" h="1631758">
                <a:moveTo>
                  <a:pt x="1320116" y="1631758"/>
                </a:moveTo>
                <a:lnTo>
                  <a:pt x="0" y="672635"/>
                </a:lnTo>
                <a:lnTo>
                  <a:pt x="52004" y="604860"/>
                </a:lnTo>
                <a:lnTo>
                  <a:pt x="107484" y="539900"/>
                </a:lnTo>
                <a:lnTo>
                  <a:pt x="166292" y="477934"/>
                </a:lnTo>
                <a:lnTo>
                  <a:pt x="228258" y="419125"/>
                </a:lnTo>
                <a:lnTo>
                  <a:pt x="293219" y="363645"/>
                </a:lnTo>
                <a:lnTo>
                  <a:pt x="360994" y="311641"/>
                </a:lnTo>
                <a:lnTo>
                  <a:pt x="431396" y="263251"/>
                </a:lnTo>
                <a:lnTo>
                  <a:pt x="504238" y="218615"/>
                </a:lnTo>
                <a:lnTo>
                  <a:pt x="579315" y="177853"/>
                </a:lnTo>
                <a:lnTo>
                  <a:pt x="656423" y="141074"/>
                </a:lnTo>
                <a:lnTo>
                  <a:pt x="735343" y="108381"/>
                </a:lnTo>
                <a:lnTo>
                  <a:pt x="815879" y="79866"/>
                </a:lnTo>
                <a:lnTo>
                  <a:pt x="897785" y="55602"/>
                </a:lnTo>
                <a:lnTo>
                  <a:pt x="980858" y="35654"/>
                </a:lnTo>
                <a:lnTo>
                  <a:pt x="1064852" y="20087"/>
                </a:lnTo>
                <a:lnTo>
                  <a:pt x="1149549" y="8942"/>
                </a:lnTo>
                <a:lnTo>
                  <a:pt x="1234718" y="2236"/>
                </a:lnTo>
                <a:lnTo>
                  <a:pt x="1320116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mark242"/>
          <p:cNvSpPr/>
          <p:nvPr/>
        </p:nvSpPr>
        <p:spPr>
          <a:xfrm flipV="1">
            <a:off x="9226982" y="2487122"/>
            <a:ext cx="0" cy="1794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7-mark243"/>
          <p:cNvSpPr/>
          <p:nvPr/>
        </p:nvSpPr>
        <p:spPr>
          <a:xfrm flipV="1">
            <a:off x="9731219" y="2653365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7-mark244"/>
          <p:cNvSpPr/>
          <p:nvPr/>
        </p:nvSpPr>
        <p:spPr>
          <a:xfrm flipV="1">
            <a:off x="10186104" y="2899043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7-mark245"/>
          <p:cNvSpPr/>
          <p:nvPr/>
        </p:nvSpPr>
        <p:spPr>
          <a:xfrm flipV="1">
            <a:off x="10547098" y="3281706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7-mark246"/>
          <p:cNvSpPr/>
          <p:nvPr/>
        </p:nvSpPr>
        <p:spPr>
          <a:xfrm flipV="1">
            <a:off x="10778873" y="3763874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7-mark247"/>
          <p:cNvSpPr/>
          <p:nvPr/>
        </p:nvSpPr>
        <p:spPr>
          <a:xfrm>
            <a:off x="10858739" y="4298373"/>
            <a:ext cx="179493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7-mark248"/>
          <p:cNvSpPr/>
          <p:nvPr/>
        </p:nvSpPr>
        <p:spPr>
          <a:xfrm>
            <a:off x="10778873" y="4802610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7-mark249"/>
          <p:cNvSpPr/>
          <p:nvPr/>
        </p:nvSpPr>
        <p:spPr>
          <a:xfrm>
            <a:off x="10547098" y="5257495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7-mark250"/>
          <p:cNvSpPr/>
          <p:nvPr/>
        </p:nvSpPr>
        <p:spPr>
          <a:xfrm>
            <a:off x="10186104" y="5618489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7-mark251"/>
          <p:cNvSpPr/>
          <p:nvPr/>
        </p:nvSpPr>
        <p:spPr>
          <a:xfrm>
            <a:off x="9731219" y="5850264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7-mark252"/>
          <p:cNvSpPr/>
          <p:nvPr/>
        </p:nvSpPr>
        <p:spPr>
          <a:xfrm>
            <a:off x="9226982" y="5930130"/>
            <a:ext cx="0" cy="1794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7-mark253"/>
          <p:cNvSpPr/>
          <p:nvPr/>
        </p:nvSpPr>
        <p:spPr>
          <a:xfrm flipH="1">
            <a:off x="8692483" y="5850264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7-mark254"/>
          <p:cNvSpPr/>
          <p:nvPr/>
        </p:nvSpPr>
        <p:spPr>
          <a:xfrm flipH="1">
            <a:off x="8210315" y="5618489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7-mark255"/>
          <p:cNvSpPr/>
          <p:nvPr/>
        </p:nvSpPr>
        <p:spPr>
          <a:xfrm flipH="1">
            <a:off x="7827652" y="5257495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7-mark256"/>
          <p:cNvSpPr/>
          <p:nvPr/>
        </p:nvSpPr>
        <p:spPr>
          <a:xfrm flipH="1">
            <a:off x="7581974" y="4802610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7-mark257"/>
          <p:cNvSpPr/>
          <p:nvPr/>
        </p:nvSpPr>
        <p:spPr>
          <a:xfrm flipH="1">
            <a:off x="7415731" y="4298373"/>
            <a:ext cx="179493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7-mark258"/>
          <p:cNvSpPr/>
          <p:nvPr/>
        </p:nvSpPr>
        <p:spPr>
          <a:xfrm flipH="1" flipV="1">
            <a:off x="7581974" y="3763874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7-mark259"/>
          <p:cNvSpPr/>
          <p:nvPr/>
        </p:nvSpPr>
        <p:spPr>
          <a:xfrm flipH="1" flipV="1">
            <a:off x="7827652" y="3281706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07-mark260"/>
          <p:cNvSpPr/>
          <p:nvPr/>
        </p:nvSpPr>
        <p:spPr>
          <a:xfrm flipH="1" flipV="1">
            <a:off x="8210315" y="2899043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S07-mark261"/>
          <p:cNvSpPr/>
          <p:nvPr/>
        </p:nvSpPr>
        <p:spPr>
          <a:xfrm flipH="1" flipV="1">
            <a:off x="8692483" y="2653365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S07-label263"/>
          <p:cNvSpPr txBox="1"/>
          <p:nvPr/>
        </p:nvSpPr>
        <p:spPr>
          <a:xfrm>
            <a:off x="9616763" y="3633949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문학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40 %</a:t>
            </a:r>
            <a:endParaRPr lang="ko-KR" sz="2200" dirty="0"/>
          </a:p>
        </p:txBody>
      </p:sp>
      <p:sp>
        <p:nvSpPr>
          <p:cNvPr id="29" name="S07-label265"/>
          <p:cNvSpPr txBox="1"/>
          <p:nvPr/>
        </p:nvSpPr>
        <p:spPr>
          <a:xfrm>
            <a:off x="8487341" y="4956407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과학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30" name="S07-label267"/>
          <p:cNvSpPr txBox="1"/>
          <p:nvPr/>
        </p:nvSpPr>
        <p:spPr>
          <a:xfrm>
            <a:off x="7626997" y="3949123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역사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31" name="S07-label269"/>
          <p:cNvSpPr txBox="1"/>
          <p:nvPr/>
        </p:nvSpPr>
        <p:spPr>
          <a:xfrm>
            <a:off x="8113506" y="2902350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기타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15 %</a:t>
            </a:r>
            <a:endParaRPr lang="ko-KR" sz="2200" dirty="0"/>
          </a:p>
        </p:txBody>
      </p:sp>
      <p:sp>
        <p:nvSpPr>
          <p:cNvPr id="32" name="S07-label271"/>
          <p:cNvSpPr txBox="1"/>
          <p:nvPr/>
        </p:nvSpPr>
        <p:spPr>
          <a:xfrm>
            <a:off x="8129956" y="1920875"/>
            <a:ext cx="21940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 책의 종류</a:t>
            </a:r>
            <a:endParaRPr lang="ko-KR" sz="2200" dirty="0"/>
          </a:p>
        </p:txBody>
      </p:sp>
      <p:sp>
        <p:nvSpPr>
          <p:cNvPr id="33" name="S07-stepno272"/>
          <p:cNvSpPr txBox="1"/>
          <p:nvPr/>
        </p:nvSpPr>
        <p:spPr>
          <a:xfrm>
            <a:off x="548640" y="2178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4" name="S07-text273"/>
          <p:cNvSpPr txBox="1"/>
          <p:nvPr/>
        </p:nvSpPr>
        <p:spPr>
          <a:xfrm>
            <a:off x="1325880" y="21325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싶은 것: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전체에 대한 비율</a:t>
            </a:r>
            <a:endParaRPr lang="ko-KR" sz="2800" dirty="0"/>
          </a:p>
        </p:txBody>
      </p:sp>
      <p:sp>
        <p:nvSpPr>
          <p:cNvPr id="35" name="S07-stepno274"/>
          <p:cNvSpPr txBox="1"/>
          <p:nvPr/>
        </p:nvSpPr>
        <p:spPr>
          <a:xfrm>
            <a:off x="548640" y="3210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6" name="S07-text275"/>
          <p:cNvSpPr txBox="1"/>
          <p:nvPr/>
        </p:nvSpPr>
        <p:spPr>
          <a:xfrm>
            <a:off x="1325880" y="31648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그래프: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원그래프</a:t>
            </a:r>
            <a:endParaRPr lang="ko-KR" sz="2800" dirty="0"/>
          </a:p>
        </p:txBody>
      </p:sp>
      <p:sp>
        <p:nvSpPr>
          <p:cNvPr id="37" name="S07-stepno276"/>
          <p:cNvSpPr txBox="1"/>
          <p:nvPr/>
        </p:nvSpPr>
        <p:spPr>
          <a:xfrm>
            <a:off x="548640" y="4242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8" name="S07-text277"/>
          <p:cNvSpPr txBox="1"/>
          <p:nvPr/>
        </p:nvSpPr>
        <p:spPr>
          <a:xfrm>
            <a:off x="1325880" y="41970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백분율을 구해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나타내요.</a:t>
            </a:r>
            <a:endParaRPr lang="ko-KR" sz="2800" dirty="0"/>
          </a:p>
        </p:txBody>
      </p:sp>
      <p:sp>
        <p:nvSpPr>
          <p:cNvPr id="39" name="S07-stepno278"/>
          <p:cNvSpPr txBox="1"/>
          <p:nvPr/>
        </p:nvSpPr>
        <p:spPr>
          <a:xfrm>
            <a:off x="548640" y="527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40" name="S07-text279"/>
          <p:cNvSpPr txBox="1"/>
          <p:nvPr/>
        </p:nvSpPr>
        <p:spPr>
          <a:xfrm>
            <a:off x="1325880" y="52293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해석: 문학책이 40 %로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해석해요</a:t>
            </a:r>
            <a:endParaRPr lang="ko-KR" sz="4000" dirty="0"/>
          </a:p>
        </p:txBody>
      </p:sp>
      <p:sp>
        <p:nvSpPr>
          <p:cNvPr id="3" name="S08-text2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 도서관 이용자 수예요.</a:t>
            </a:r>
            <a:endParaRPr lang="ko-KR" sz="2800" dirty="0"/>
          </a:p>
        </p:txBody>
      </p:sp>
      <p:sp>
        <p:nvSpPr>
          <p:cNvPr id="4" name="S08-figure281" descr="꺾은선그래프 ‘월별 도서관 이용자 수’(세로 눈금 한 칸 20명, 물결선 위 100부터): 3월 120, 4월 140, 5월 120, 6월 180, 7월 200"/>
          <p:cNvSpPr/>
          <p:nvPr/>
        </p:nvSpPr>
        <p:spPr>
          <a:xfrm>
            <a:off x="6783410" y="4913373"/>
            <a:ext cx="220296" cy="367160"/>
          </a:xfrm>
          <a:custGeom>
            <a:avLst/>
            <a:gdLst/>
            <a:ahLst/>
            <a:cxnLst/>
            <a:rect l="l" t="t" r="r" b="b"/>
            <a:pathLst>
              <a:path w="220296" h="367160">
                <a:moveTo>
                  <a:pt x="110148" y="367160"/>
                </a:moveTo>
                <a:lnTo>
                  <a:pt x="110148" y="312086"/>
                </a:lnTo>
                <a:lnTo>
                  <a:pt x="0" y="249669"/>
                </a:lnTo>
                <a:lnTo>
                  <a:pt x="220296" y="183580"/>
                </a:lnTo>
                <a:lnTo>
                  <a:pt x="0" y="117491"/>
                </a:lnTo>
                <a:lnTo>
                  <a:pt x="110148" y="55074"/>
                </a:lnTo>
                <a:lnTo>
                  <a:pt x="110148" y="0"/>
                </a:lnTo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8-mark282"/>
          <p:cNvSpPr/>
          <p:nvPr/>
        </p:nvSpPr>
        <p:spPr>
          <a:xfrm>
            <a:off x="7444298" y="3077573"/>
            <a:ext cx="3524737" cy="1468641"/>
          </a:xfrm>
          <a:custGeom>
            <a:avLst/>
            <a:gdLst/>
            <a:ahLst/>
            <a:cxnLst/>
            <a:rect l="l" t="t" r="r" b="b"/>
            <a:pathLst>
              <a:path w="3524737" h="1468641">
                <a:moveTo>
                  <a:pt x="0" y="1468641"/>
                </a:moveTo>
                <a:lnTo>
                  <a:pt x="881184" y="1101480"/>
                </a:lnTo>
                <a:lnTo>
                  <a:pt x="1762369" y="1468641"/>
                </a:lnTo>
                <a:lnTo>
                  <a:pt x="2643553" y="367160"/>
                </a:lnTo>
                <a:lnTo>
                  <a:pt x="3524737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08-mark283"/>
          <p:cNvSpPr/>
          <p:nvPr/>
        </p:nvSpPr>
        <p:spPr>
          <a:xfrm flipV="1">
            <a:off x="7444298" y="3077573"/>
            <a:ext cx="0" cy="220296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8-mark284"/>
          <p:cNvSpPr/>
          <p:nvPr/>
        </p:nvSpPr>
        <p:spPr>
          <a:xfrm flipV="1">
            <a:off x="8325483" y="3077573"/>
            <a:ext cx="0" cy="220296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8-mark285"/>
          <p:cNvSpPr/>
          <p:nvPr/>
        </p:nvSpPr>
        <p:spPr>
          <a:xfrm flipV="1">
            <a:off x="9206667" y="3077573"/>
            <a:ext cx="0" cy="220296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8-mark286"/>
          <p:cNvSpPr/>
          <p:nvPr/>
        </p:nvSpPr>
        <p:spPr>
          <a:xfrm flipV="1">
            <a:off x="10087851" y="3077573"/>
            <a:ext cx="0" cy="220296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287"/>
          <p:cNvSpPr/>
          <p:nvPr/>
        </p:nvSpPr>
        <p:spPr>
          <a:xfrm flipV="1">
            <a:off x="10969036" y="3077573"/>
            <a:ext cx="0" cy="220296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288"/>
          <p:cNvSpPr/>
          <p:nvPr/>
        </p:nvSpPr>
        <p:spPr>
          <a:xfrm>
            <a:off x="6893558" y="4913373"/>
            <a:ext cx="4626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289"/>
          <p:cNvSpPr/>
          <p:nvPr/>
        </p:nvSpPr>
        <p:spPr>
          <a:xfrm>
            <a:off x="6893558" y="4546213"/>
            <a:ext cx="4626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290"/>
          <p:cNvSpPr/>
          <p:nvPr/>
        </p:nvSpPr>
        <p:spPr>
          <a:xfrm>
            <a:off x="6893558" y="4179053"/>
            <a:ext cx="4626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291"/>
          <p:cNvSpPr/>
          <p:nvPr/>
        </p:nvSpPr>
        <p:spPr>
          <a:xfrm>
            <a:off x="6893558" y="3811893"/>
            <a:ext cx="4626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292"/>
          <p:cNvSpPr/>
          <p:nvPr/>
        </p:nvSpPr>
        <p:spPr>
          <a:xfrm>
            <a:off x="6893558" y="3444733"/>
            <a:ext cx="4626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8-mark293"/>
          <p:cNvSpPr/>
          <p:nvPr/>
        </p:nvSpPr>
        <p:spPr>
          <a:xfrm>
            <a:off x="6893558" y="3077573"/>
            <a:ext cx="4626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8-mark294"/>
          <p:cNvSpPr/>
          <p:nvPr/>
        </p:nvSpPr>
        <p:spPr>
          <a:xfrm>
            <a:off x="6893558" y="5280533"/>
            <a:ext cx="462621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8-mark295"/>
          <p:cNvSpPr/>
          <p:nvPr/>
        </p:nvSpPr>
        <p:spPr>
          <a:xfrm flipV="1">
            <a:off x="6893558" y="2930709"/>
            <a:ext cx="0" cy="198266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8-mark296"/>
          <p:cNvSpPr/>
          <p:nvPr/>
        </p:nvSpPr>
        <p:spPr>
          <a:xfrm>
            <a:off x="7384862" y="448677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8-mark297"/>
          <p:cNvSpPr/>
          <p:nvPr/>
        </p:nvSpPr>
        <p:spPr>
          <a:xfrm>
            <a:off x="8266047" y="411961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8-mark298"/>
          <p:cNvSpPr/>
          <p:nvPr/>
        </p:nvSpPr>
        <p:spPr>
          <a:xfrm>
            <a:off x="9147231" y="448677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8-mark299"/>
          <p:cNvSpPr/>
          <p:nvPr/>
        </p:nvSpPr>
        <p:spPr>
          <a:xfrm>
            <a:off x="10028415" y="338529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8-mark300"/>
          <p:cNvSpPr/>
          <p:nvPr/>
        </p:nvSpPr>
        <p:spPr>
          <a:xfrm>
            <a:off x="10909600" y="301813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8-label302"/>
          <p:cNvSpPr txBox="1"/>
          <p:nvPr/>
        </p:nvSpPr>
        <p:spPr>
          <a:xfrm>
            <a:off x="6434406" y="5105908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25" name="S08-label304"/>
          <p:cNvSpPr txBox="1"/>
          <p:nvPr/>
        </p:nvSpPr>
        <p:spPr>
          <a:xfrm>
            <a:off x="6250002" y="4738748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200" dirty="0"/>
          </a:p>
        </p:txBody>
      </p:sp>
      <p:sp>
        <p:nvSpPr>
          <p:cNvPr id="26" name="S08-label306"/>
          <p:cNvSpPr txBox="1"/>
          <p:nvPr/>
        </p:nvSpPr>
        <p:spPr>
          <a:xfrm>
            <a:off x="6250002" y="4371588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2200" dirty="0"/>
          </a:p>
        </p:txBody>
      </p:sp>
      <p:sp>
        <p:nvSpPr>
          <p:cNvPr id="27" name="S08-label308"/>
          <p:cNvSpPr txBox="1"/>
          <p:nvPr/>
        </p:nvSpPr>
        <p:spPr>
          <a:xfrm>
            <a:off x="6250002" y="4004428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2200" dirty="0"/>
          </a:p>
        </p:txBody>
      </p:sp>
      <p:sp>
        <p:nvSpPr>
          <p:cNvPr id="28" name="S08-label310"/>
          <p:cNvSpPr txBox="1"/>
          <p:nvPr/>
        </p:nvSpPr>
        <p:spPr>
          <a:xfrm>
            <a:off x="6250002" y="3637268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2200" dirty="0"/>
          </a:p>
        </p:txBody>
      </p:sp>
      <p:sp>
        <p:nvSpPr>
          <p:cNvPr id="29" name="S08-label312"/>
          <p:cNvSpPr txBox="1"/>
          <p:nvPr/>
        </p:nvSpPr>
        <p:spPr>
          <a:xfrm>
            <a:off x="6250002" y="3270108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2200" dirty="0"/>
          </a:p>
        </p:txBody>
      </p:sp>
      <p:sp>
        <p:nvSpPr>
          <p:cNvPr id="30" name="S08-label314"/>
          <p:cNvSpPr txBox="1"/>
          <p:nvPr/>
        </p:nvSpPr>
        <p:spPr>
          <a:xfrm>
            <a:off x="6250002" y="2902948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2200" dirty="0"/>
          </a:p>
        </p:txBody>
      </p:sp>
      <p:sp>
        <p:nvSpPr>
          <p:cNvPr id="31" name="S08-label316"/>
          <p:cNvSpPr txBox="1"/>
          <p:nvPr/>
        </p:nvSpPr>
        <p:spPr>
          <a:xfrm>
            <a:off x="6222062" y="2535787"/>
            <a:ext cx="7188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200" dirty="0"/>
          </a:p>
        </p:txBody>
      </p:sp>
      <p:sp>
        <p:nvSpPr>
          <p:cNvPr id="32" name="S08-label318"/>
          <p:cNvSpPr txBox="1"/>
          <p:nvPr/>
        </p:nvSpPr>
        <p:spPr>
          <a:xfrm>
            <a:off x="7160326" y="534456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</a:t>
            </a:r>
            <a:endParaRPr lang="ko-KR" sz="2200" dirty="0"/>
          </a:p>
        </p:txBody>
      </p:sp>
      <p:sp>
        <p:nvSpPr>
          <p:cNvPr id="33" name="S08-label320"/>
          <p:cNvSpPr txBox="1"/>
          <p:nvPr/>
        </p:nvSpPr>
        <p:spPr>
          <a:xfrm>
            <a:off x="8041511" y="534456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</a:t>
            </a:r>
            <a:endParaRPr lang="ko-KR" sz="2200" dirty="0"/>
          </a:p>
        </p:txBody>
      </p:sp>
      <p:sp>
        <p:nvSpPr>
          <p:cNvPr id="34" name="S08-label322"/>
          <p:cNvSpPr txBox="1"/>
          <p:nvPr/>
        </p:nvSpPr>
        <p:spPr>
          <a:xfrm>
            <a:off x="8922695" y="534456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</a:t>
            </a:r>
            <a:endParaRPr lang="ko-KR" sz="2200" dirty="0"/>
          </a:p>
        </p:txBody>
      </p:sp>
      <p:sp>
        <p:nvSpPr>
          <p:cNvPr id="35" name="S08-label324"/>
          <p:cNvSpPr txBox="1"/>
          <p:nvPr/>
        </p:nvSpPr>
        <p:spPr>
          <a:xfrm>
            <a:off x="9803879" y="534456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</a:t>
            </a:r>
            <a:endParaRPr lang="ko-KR" sz="2200" dirty="0"/>
          </a:p>
        </p:txBody>
      </p:sp>
      <p:sp>
        <p:nvSpPr>
          <p:cNvPr id="36" name="S08-label326"/>
          <p:cNvSpPr txBox="1"/>
          <p:nvPr/>
        </p:nvSpPr>
        <p:spPr>
          <a:xfrm>
            <a:off x="10685064" y="534456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</a:t>
            </a:r>
            <a:endParaRPr lang="ko-KR" sz="2200" dirty="0"/>
          </a:p>
        </p:txBody>
      </p:sp>
      <p:sp>
        <p:nvSpPr>
          <p:cNvPr id="37" name="S08-chip32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8" name="S08-text328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늘어난 때는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언제와 언제 사이?</a:t>
            </a:r>
            <a:endParaRPr lang="ko-KR" sz="2800" dirty="0"/>
          </a:p>
        </p:txBody>
      </p:sp>
      <p:sp>
        <p:nvSpPr>
          <p:cNvPr id="39" name="S08-chip32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40" name="S08-text330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7월은 3월보다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명 많을까요?</a:t>
            </a:r>
            <a:endParaRPr lang="ko-KR" sz="2800" dirty="0"/>
          </a:p>
        </p:txBody>
      </p:sp>
      <p:sp>
        <p:nvSpPr>
          <p:cNvPr id="41" name="S08-chip33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2" name="S08-text332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자료를 원그래프로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그리면 알맞을까요?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3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그래프와 까닭을 말해요.</a:t>
            </a:r>
            <a:endParaRPr lang="ko-KR" sz="2800" dirty="0"/>
          </a:p>
        </p:txBody>
      </p:sp>
      <p:sp>
        <p:nvSpPr>
          <p:cNvPr id="4" name="S09-chip33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9-text33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도시 인구를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10년 동안 해마다</a:t>
            </a:r>
            <a:endParaRPr lang="ko-KR" sz="2800" dirty="0"/>
          </a:p>
        </p:txBody>
      </p:sp>
      <p:sp>
        <p:nvSpPr>
          <p:cNvPr id="6" name="S09-chip33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9-text33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학년별 안경 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 비교</a:t>
            </a:r>
            <a:endParaRPr lang="ko-KR" sz="2800" dirty="0"/>
          </a:p>
        </p:txBody>
      </p:sp>
      <p:sp>
        <p:nvSpPr>
          <p:cNvPr id="8" name="S09-chip33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9-text33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텃밭 넓이를 채소별로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나눈 비율</a:t>
            </a:r>
            <a:endParaRPr lang="ko-KR" sz="2800" dirty="0"/>
          </a:p>
        </p:txBody>
      </p:sp>
      <p:sp>
        <p:nvSpPr>
          <p:cNvPr id="10" name="S09-chip34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09-text34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해의 장래 희망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견주기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골라서 해석해요</a:t>
            </a:r>
            <a:endParaRPr lang="ko-KR" sz="4000" dirty="0"/>
          </a:p>
        </p:txBody>
      </p:sp>
      <p:sp>
        <p:nvSpPr>
          <p:cNvPr id="3" name="S11-text3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 20명이 학교에 오는 방법이에요.</a:t>
            </a:r>
            <a:endParaRPr lang="ko-KR" sz="2800" dirty="0"/>
          </a:p>
        </p:txBody>
      </p:sp>
      <p:graphicFrame>
        <p:nvGraphicFramePr>
          <p:cNvPr id="11" name="S11-table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2670048"/>
          <a:ext cx="4023360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221284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걸어서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자전거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자동차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1-chip34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1-text345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방법별 비율을 보려면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그래프? 까닭은?</a:t>
            </a:r>
            <a:endParaRPr lang="ko-KR" sz="2800" dirty="0"/>
          </a:p>
        </p:txBody>
      </p:sp>
      <p:sp>
        <p:nvSpPr>
          <p:cNvPr id="7" name="S11-chip34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1-text347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걸어서 오는 학생은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몇 %?</a:t>
            </a:r>
            <a:endParaRPr lang="ko-KR" sz="2800" dirty="0"/>
          </a:p>
        </p:txBody>
      </p:sp>
      <p:sp>
        <p:nvSpPr>
          <p:cNvPr id="9" name="S11-chip34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11-text349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버스와 자동차를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합하면 몇 %?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35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35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싶은 것이 비교인지, 변화인지, 비율인지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생각하고 알맞은 그래프를 골라요.</a:t>
            </a:r>
            <a:endParaRPr lang="ko-KR" sz="2800" dirty="0"/>
          </a:p>
        </p:txBody>
      </p:sp>
      <p:sp>
        <p:nvSpPr>
          <p:cNvPr id="5" name="S12-chip35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까닭을 기준으로 말하기</a:t>
            </a:r>
            <a:endParaRPr lang="ko-KR" sz="2200" dirty="0"/>
          </a:p>
        </p:txBody>
      </p:sp>
      <p:sp>
        <p:nvSpPr>
          <p:cNvPr id="6" name="S12-chip35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항목끼리 꺾은선으로 잇기</a:t>
            </a:r>
            <a:endParaRPr lang="ko-KR" sz="2200" dirty="0"/>
          </a:p>
        </p:txBody>
      </p:sp>
      <p:sp>
        <p:nvSpPr>
          <p:cNvPr id="7" name="S12-text35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2-text355"/>
          <p:cNvSpPr txBox="1"/>
          <p:nvPr/>
        </p:nvSpPr>
        <p:spPr>
          <a:xfrm>
            <a:off x="548640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시간에 따른 변화에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그래프는?</a:t>
            </a:r>
            <a:endParaRPr lang="ko-KR" sz="2200" dirty="0"/>
          </a:p>
        </p:txBody>
      </p:sp>
      <p:sp>
        <p:nvSpPr>
          <p:cNvPr id="9" name="S12-text356"/>
          <p:cNvSpPr txBox="1"/>
          <p:nvPr/>
        </p:nvSpPr>
        <p:spPr>
          <a:xfrm>
            <a:off x="4322064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전체에 대한 비율에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그래프 두 가지는?</a:t>
            </a:r>
            <a:endParaRPr lang="ko-KR" sz="2200" dirty="0"/>
          </a:p>
        </p:txBody>
      </p:sp>
      <p:sp>
        <p:nvSpPr>
          <p:cNvPr id="10" name="S12-text357"/>
          <p:cNvSpPr txBox="1"/>
          <p:nvPr/>
        </p:nvSpPr>
        <p:spPr>
          <a:xfrm>
            <a:off x="8095488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항목끼리 크기를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비교할 때는?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막대와 꺾은선</a:t>
            </a:r>
            <a:endParaRPr lang="ko-KR" sz="4000" dirty="0"/>
          </a:p>
        </p:txBody>
      </p:sp>
      <p:sp>
        <p:nvSpPr>
          <p:cNvPr id="3" name="S13-card358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359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막대그래프는 항목끼리 비교, 꺾은선그래프는 시간에 따른 변화를 보여 줘요.</a:t>
            </a:r>
            <a:endParaRPr lang="ko-KR" sz="2800" dirty="0"/>
          </a:p>
        </p:txBody>
      </p:sp>
      <p:sp>
        <p:nvSpPr>
          <p:cNvPr id="5" name="S13-figure360" descr="막대그래프: 축구 5명, 야구 3명, 농구 4명"/>
          <p:cNvSpPr/>
          <p:nvPr/>
        </p:nvSpPr>
        <p:spPr>
          <a:xfrm>
            <a:off x="2525182" y="2218773"/>
            <a:ext cx="404536" cy="1685568"/>
          </a:xfrm>
          <a:custGeom>
            <a:avLst/>
            <a:gdLst/>
            <a:ahLst/>
            <a:cxnLst/>
            <a:rect l="l" t="t" r="r" b="b"/>
            <a:pathLst>
              <a:path w="404536" h="1685568">
                <a:moveTo>
                  <a:pt x="0" y="1685568"/>
                </a:moveTo>
                <a:lnTo>
                  <a:pt x="404536" y="1685568"/>
                </a:lnTo>
                <a:lnTo>
                  <a:pt x="40453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3-mark361"/>
          <p:cNvSpPr/>
          <p:nvPr/>
        </p:nvSpPr>
        <p:spPr>
          <a:xfrm>
            <a:off x="3266832" y="2893000"/>
            <a:ext cx="404536" cy="1011341"/>
          </a:xfrm>
          <a:custGeom>
            <a:avLst/>
            <a:gdLst/>
            <a:ahLst/>
            <a:cxnLst/>
            <a:rect l="l" t="t" r="r" b="b"/>
            <a:pathLst>
              <a:path w="404536" h="1011341">
                <a:moveTo>
                  <a:pt x="0" y="1011341"/>
                </a:moveTo>
                <a:lnTo>
                  <a:pt x="404536" y="1011341"/>
                </a:lnTo>
                <a:lnTo>
                  <a:pt x="40453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3-mark362"/>
          <p:cNvSpPr/>
          <p:nvPr/>
        </p:nvSpPr>
        <p:spPr>
          <a:xfrm>
            <a:off x="4008481" y="2555886"/>
            <a:ext cx="404536" cy="1348454"/>
          </a:xfrm>
          <a:custGeom>
            <a:avLst/>
            <a:gdLst/>
            <a:ahLst/>
            <a:cxnLst/>
            <a:rect l="l" t="t" r="r" b="b"/>
            <a:pathLst>
              <a:path w="404536" h="1348454">
                <a:moveTo>
                  <a:pt x="0" y="1348454"/>
                </a:moveTo>
                <a:lnTo>
                  <a:pt x="404536" y="1348454"/>
                </a:lnTo>
                <a:lnTo>
                  <a:pt x="40453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3-mark363"/>
          <p:cNvSpPr/>
          <p:nvPr/>
        </p:nvSpPr>
        <p:spPr>
          <a:xfrm>
            <a:off x="2255491" y="3567227"/>
            <a:ext cx="2427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3-mark364"/>
          <p:cNvSpPr/>
          <p:nvPr/>
        </p:nvSpPr>
        <p:spPr>
          <a:xfrm>
            <a:off x="2255491" y="3230113"/>
            <a:ext cx="2427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3-mark365"/>
          <p:cNvSpPr/>
          <p:nvPr/>
        </p:nvSpPr>
        <p:spPr>
          <a:xfrm>
            <a:off x="2255491" y="2893000"/>
            <a:ext cx="2427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3-mark366"/>
          <p:cNvSpPr/>
          <p:nvPr/>
        </p:nvSpPr>
        <p:spPr>
          <a:xfrm>
            <a:off x="2255491" y="2555886"/>
            <a:ext cx="2427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3-mark367"/>
          <p:cNvSpPr/>
          <p:nvPr/>
        </p:nvSpPr>
        <p:spPr>
          <a:xfrm>
            <a:off x="2255491" y="2218773"/>
            <a:ext cx="2427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3-mark368"/>
          <p:cNvSpPr/>
          <p:nvPr/>
        </p:nvSpPr>
        <p:spPr>
          <a:xfrm>
            <a:off x="2255491" y="1881659"/>
            <a:ext cx="2427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3-mark369"/>
          <p:cNvSpPr/>
          <p:nvPr/>
        </p:nvSpPr>
        <p:spPr>
          <a:xfrm>
            <a:off x="2255491" y="3904341"/>
            <a:ext cx="242721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13-mark370"/>
          <p:cNvSpPr/>
          <p:nvPr/>
        </p:nvSpPr>
        <p:spPr>
          <a:xfrm flipV="1">
            <a:off x="2255491" y="1746814"/>
            <a:ext cx="0" cy="215752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13-label372"/>
          <p:cNvSpPr txBox="1"/>
          <p:nvPr/>
        </p:nvSpPr>
        <p:spPr>
          <a:xfrm>
            <a:off x="1821878" y="3729716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7" name="S13-label374"/>
          <p:cNvSpPr txBox="1"/>
          <p:nvPr/>
        </p:nvSpPr>
        <p:spPr>
          <a:xfrm>
            <a:off x="1821878" y="339260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8" name="S13-label376"/>
          <p:cNvSpPr txBox="1"/>
          <p:nvPr/>
        </p:nvSpPr>
        <p:spPr>
          <a:xfrm>
            <a:off x="1821878" y="3055488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9" name="S13-label378"/>
          <p:cNvSpPr txBox="1"/>
          <p:nvPr/>
        </p:nvSpPr>
        <p:spPr>
          <a:xfrm>
            <a:off x="1821878" y="27183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0" name="S13-label380"/>
          <p:cNvSpPr txBox="1"/>
          <p:nvPr/>
        </p:nvSpPr>
        <p:spPr>
          <a:xfrm>
            <a:off x="1821878" y="238126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1" name="S13-label382"/>
          <p:cNvSpPr txBox="1"/>
          <p:nvPr/>
        </p:nvSpPr>
        <p:spPr>
          <a:xfrm>
            <a:off x="1821878" y="2044148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2" name="S13-label384"/>
          <p:cNvSpPr txBox="1"/>
          <p:nvPr/>
        </p:nvSpPr>
        <p:spPr>
          <a:xfrm>
            <a:off x="1821878" y="1707034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23" name="S13-label386"/>
          <p:cNvSpPr txBox="1"/>
          <p:nvPr/>
        </p:nvSpPr>
        <p:spPr>
          <a:xfrm>
            <a:off x="1609534" y="1369920"/>
            <a:ext cx="7188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200" dirty="0"/>
          </a:p>
        </p:txBody>
      </p:sp>
      <p:sp>
        <p:nvSpPr>
          <p:cNvPr id="24" name="S13-label388"/>
          <p:cNvSpPr txBox="1"/>
          <p:nvPr/>
        </p:nvSpPr>
        <p:spPr>
          <a:xfrm>
            <a:off x="2398774" y="394884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</a:t>
            </a:r>
            <a:endParaRPr lang="ko-KR" sz="2200" dirty="0"/>
          </a:p>
        </p:txBody>
      </p:sp>
      <p:sp>
        <p:nvSpPr>
          <p:cNvPr id="25" name="S13-label390"/>
          <p:cNvSpPr txBox="1"/>
          <p:nvPr/>
        </p:nvSpPr>
        <p:spPr>
          <a:xfrm>
            <a:off x="3140424" y="394884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</a:t>
            </a:r>
            <a:endParaRPr lang="ko-KR" sz="2200" dirty="0"/>
          </a:p>
        </p:txBody>
      </p:sp>
      <p:sp>
        <p:nvSpPr>
          <p:cNvPr id="26" name="S13-label392"/>
          <p:cNvSpPr txBox="1"/>
          <p:nvPr/>
        </p:nvSpPr>
        <p:spPr>
          <a:xfrm>
            <a:off x="3882074" y="394884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농구</a:t>
            </a:r>
            <a:endParaRPr lang="ko-KR" sz="2200" dirty="0"/>
          </a:p>
        </p:txBody>
      </p:sp>
      <p:sp>
        <p:nvSpPr>
          <p:cNvPr id="27" name="S13-label393"/>
          <p:cNvSpPr txBox="1"/>
          <p:nvPr/>
        </p:nvSpPr>
        <p:spPr>
          <a:xfrm>
            <a:off x="548640" y="441528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막대그래프: 비교</a:t>
            </a:r>
            <a:endParaRPr lang="ko-KR" sz="2200" dirty="0"/>
          </a:p>
        </p:txBody>
      </p:sp>
      <p:sp>
        <p:nvSpPr>
          <p:cNvPr id="28" name="S13-figure394" descr="꺾은선그래프: 1주 2 cm, 2주 3 cm, 3주 5 cm, 4주 6 cm"/>
          <p:cNvSpPr/>
          <p:nvPr/>
        </p:nvSpPr>
        <p:spPr>
          <a:xfrm>
            <a:off x="8062481" y="1881659"/>
            <a:ext cx="2224950" cy="1348454"/>
          </a:xfrm>
          <a:custGeom>
            <a:avLst/>
            <a:gdLst/>
            <a:ahLst/>
            <a:cxnLst/>
            <a:rect l="l" t="t" r="r" b="b"/>
            <a:pathLst>
              <a:path w="2224950" h="1348454">
                <a:moveTo>
                  <a:pt x="0" y="1348454"/>
                </a:moveTo>
                <a:lnTo>
                  <a:pt x="741650" y="1011341"/>
                </a:lnTo>
                <a:lnTo>
                  <a:pt x="1483300" y="337114"/>
                </a:lnTo>
                <a:lnTo>
                  <a:pt x="2224950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29" name="S13-mark395"/>
          <p:cNvSpPr/>
          <p:nvPr/>
        </p:nvSpPr>
        <p:spPr>
          <a:xfrm flipV="1">
            <a:off x="8062481" y="1881659"/>
            <a:ext cx="0" cy="202268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3-mark396"/>
          <p:cNvSpPr/>
          <p:nvPr/>
        </p:nvSpPr>
        <p:spPr>
          <a:xfrm flipV="1">
            <a:off x="8804131" y="1881659"/>
            <a:ext cx="0" cy="202268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3-mark397"/>
          <p:cNvSpPr/>
          <p:nvPr/>
        </p:nvSpPr>
        <p:spPr>
          <a:xfrm flipV="1">
            <a:off x="9545781" y="1881659"/>
            <a:ext cx="0" cy="202268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3-mark398"/>
          <p:cNvSpPr/>
          <p:nvPr/>
        </p:nvSpPr>
        <p:spPr>
          <a:xfrm flipV="1">
            <a:off x="10287431" y="1881659"/>
            <a:ext cx="0" cy="202268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3-mark399"/>
          <p:cNvSpPr/>
          <p:nvPr/>
        </p:nvSpPr>
        <p:spPr>
          <a:xfrm>
            <a:off x="7590522" y="3567227"/>
            <a:ext cx="31688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3-mark400"/>
          <p:cNvSpPr/>
          <p:nvPr/>
        </p:nvSpPr>
        <p:spPr>
          <a:xfrm>
            <a:off x="7590522" y="3230113"/>
            <a:ext cx="31688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3-mark401"/>
          <p:cNvSpPr/>
          <p:nvPr/>
        </p:nvSpPr>
        <p:spPr>
          <a:xfrm>
            <a:off x="7590522" y="2893000"/>
            <a:ext cx="31688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3-mark402"/>
          <p:cNvSpPr/>
          <p:nvPr/>
        </p:nvSpPr>
        <p:spPr>
          <a:xfrm>
            <a:off x="7590522" y="2555886"/>
            <a:ext cx="31688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3-mark403"/>
          <p:cNvSpPr/>
          <p:nvPr/>
        </p:nvSpPr>
        <p:spPr>
          <a:xfrm>
            <a:off x="7590522" y="2218773"/>
            <a:ext cx="31688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3-mark404"/>
          <p:cNvSpPr/>
          <p:nvPr/>
        </p:nvSpPr>
        <p:spPr>
          <a:xfrm>
            <a:off x="7590522" y="1881659"/>
            <a:ext cx="31688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3-mark405"/>
          <p:cNvSpPr/>
          <p:nvPr/>
        </p:nvSpPr>
        <p:spPr>
          <a:xfrm>
            <a:off x="7590522" y="3904341"/>
            <a:ext cx="316886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0" name="S13-mark406"/>
          <p:cNvSpPr/>
          <p:nvPr/>
        </p:nvSpPr>
        <p:spPr>
          <a:xfrm flipV="1">
            <a:off x="7590522" y="1746814"/>
            <a:ext cx="0" cy="215752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1" name="S13-mark407"/>
          <p:cNvSpPr/>
          <p:nvPr/>
        </p:nvSpPr>
        <p:spPr>
          <a:xfrm>
            <a:off x="8003045" y="317067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13-mark408"/>
          <p:cNvSpPr/>
          <p:nvPr/>
        </p:nvSpPr>
        <p:spPr>
          <a:xfrm>
            <a:off x="8744695" y="28335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13-mark409"/>
          <p:cNvSpPr/>
          <p:nvPr/>
        </p:nvSpPr>
        <p:spPr>
          <a:xfrm>
            <a:off x="9486345" y="215933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13-mark410"/>
          <p:cNvSpPr/>
          <p:nvPr/>
        </p:nvSpPr>
        <p:spPr>
          <a:xfrm>
            <a:off x="10227995" y="182222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13-label412"/>
          <p:cNvSpPr txBox="1"/>
          <p:nvPr/>
        </p:nvSpPr>
        <p:spPr>
          <a:xfrm>
            <a:off x="7156909" y="3729716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46" name="S13-label414"/>
          <p:cNvSpPr txBox="1"/>
          <p:nvPr/>
        </p:nvSpPr>
        <p:spPr>
          <a:xfrm>
            <a:off x="7156909" y="3729716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47" name="S13-label416"/>
          <p:cNvSpPr txBox="1"/>
          <p:nvPr/>
        </p:nvSpPr>
        <p:spPr>
          <a:xfrm>
            <a:off x="7156909" y="339260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8" name="S13-label418"/>
          <p:cNvSpPr txBox="1"/>
          <p:nvPr/>
        </p:nvSpPr>
        <p:spPr>
          <a:xfrm>
            <a:off x="7156909" y="3055488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9" name="S13-label420"/>
          <p:cNvSpPr txBox="1"/>
          <p:nvPr/>
        </p:nvSpPr>
        <p:spPr>
          <a:xfrm>
            <a:off x="7156909" y="27183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50" name="S13-label422"/>
          <p:cNvSpPr txBox="1"/>
          <p:nvPr/>
        </p:nvSpPr>
        <p:spPr>
          <a:xfrm>
            <a:off x="7156909" y="238126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51" name="S13-label424"/>
          <p:cNvSpPr txBox="1"/>
          <p:nvPr/>
        </p:nvSpPr>
        <p:spPr>
          <a:xfrm>
            <a:off x="7156909" y="2044148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52" name="S13-label426"/>
          <p:cNvSpPr txBox="1"/>
          <p:nvPr/>
        </p:nvSpPr>
        <p:spPr>
          <a:xfrm>
            <a:off x="7156909" y="1707034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53" name="S13-label428"/>
          <p:cNvSpPr txBox="1"/>
          <p:nvPr/>
        </p:nvSpPr>
        <p:spPr>
          <a:xfrm>
            <a:off x="6888685" y="1369920"/>
            <a:ext cx="8305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(cm)</a:t>
            </a:r>
            <a:endParaRPr lang="ko-KR" sz="2200" dirty="0"/>
          </a:p>
        </p:txBody>
      </p:sp>
      <p:sp>
        <p:nvSpPr>
          <p:cNvPr id="54" name="S13-label430"/>
          <p:cNvSpPr txBox="1"/>
          <p:nvPr/>
        </p:nvSpPr>
        <p:spPr>
          <a:xfrm>
            <a:off x="7778509" y="3948840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</a:t>
            </a:r>
            <a:endParaRPr lang="ko-KR" sz="2200" dirty="0"/>
          </a:p>
        </p:txBody>
      </p:sp>
      <p:sp>
        <p:nvSpPr>
          <p:cNvPr id="55" name="S13-label432"/>
          <p:cNvSpPr txBox="1"/>
          <p:nvPr/>
        </p:nvSpPr>
        <p:spPr>
          <a:xfrm>
            <a:off x="8520159" y="3948840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</a:t>
            </a:r>
            <a:endParaRPr lang="ko-KR" sz="2200" dirty="0"/>
          </a:p>
        </p:txBody>
      </p:sp>
      <p:sp>
        <p:nvSpPr>
          <p:cNvPr id="56" name="S13-label434"/>
          <p:cNvSpPr txBox="1"/>
          <p:nvPr/>
        </p:nvSpPr>
        <p:spPr>
          <a:xfrm>
            <a:off x="9261809" y="3948840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</a:t>
            </a:r>
            <a:endParaRPr lang="ko-KR" sz="2200" dirty="0"/>
          </a:p>
        </p:txBody>
      </p:sp>
      <p:sp>
        <p:nvSpPr>
          <p:cNvPr id="57" name="S13-label436"/>
          <p:cNvSpPr txBox="1"/>
          <p:nvPr/>
        </p:nvSpPr>
        <p:spPr>
          <a:xfrm>
            <a:off x="10003459" y="3948840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</a:t>
            </a:r>
            <a:endParaRPr lang="ko-KR" sz="2200" dirty="0"/>
          </a:p>
        </p:txBody>
      </p:sp>
      <p:sp>
        <p:nvSpPr>
          <p:cNvPr id="58" name="S13-label437"/>
          <p:cNvSpPr txBox="1"/>
          <p:nvPr/>
        </p:nvSpPr>
        <p:spPr>
          <a:xfrm>
            <a:off x="6254496" y="441528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꺾은선그래프: 변화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알맞은 그래프 고르기</dc:title>
  <dc:subject>KR22-G06-MAT-GRAPHS-L01</dc:subject>
  <dc:creator>education-ppt</dc:creator>
  <cp:lastModifiedBy>education-ppt</cp:lastModifiedBy>
  <cp:revision>1</cp:revision>
  <dcterms:created xsi:type="dcterms:W3CDTF">2026-10-26T09:34:20Z</dcterms:created>
  <dcterms:modified xsi:type="dcterms:W3CDTF">2026-10-26T09:34:20Z</dcterms:modified>
</cp:coreProperties>
</file>