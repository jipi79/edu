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b7f1e88-b46f-f1e5-5ffc-dff968f25539}">
          <p14:sldIdLst>
            <p14:sldId id="256"/>
            <p14:sldId id="257"/>
          </p14:sldIdLst>
        </p14:section>
        <p14:section name="개념" id="{e7243b6c-8842-ba22-a7f8-25d384ee5965}">
          <p14:sldIdLst>
            <p14:sldId id="258"/>
            <p14:sldId id="259"/>
            <p14:sldId id="262"/>
          </p14:sldIdLst>
        </p14:section>
        <p14:section name="연습" id="{f824e094-5385-17f5-3fc0-86a64895269b}">
          <p14:sldIdLst>
            <p14:sldId id="260"/>
            <p14:sldId id="261"/>
            <p14:sldId id="263"/>
          </p14:sldIdLst>
        </p14:section>
        <p14:section name="개념" id="{365c9fad-3da9-f89c-8c46-884719bc4d81}">
          <p14:sldIdLst/>
        </p14:section>
        <p14:section name="연습" id="{0692026d-37e3-917b-83d0-2e36163afcd6}">
          <p14:sldIdLst/>
        </p14:section>
        <p14:section name="확인" id="{eab592ed-0a2d-67ca-0d04-8d42efde5d24}">
          <p14:sldIdLst>
            <p14:sldId id="264"/>
            <p14:sldId id="265"/>
          </p14:sldIdLst>
        </p14:section>
        <p14:section name="정리" id="{ce306291-b761-881e-6e97-c6f7ee183ba4}">
          <p14:sldIdLst>
            <p14:sldId id="266"/>
          </p14:sldIdLst>
        </p14:section>
        <p14:section name="보충" id="{e27c022a-bad7-c561-2bd5-1eaed54a9ab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원과자료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알맞은 그래프 고르기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알맞은 그래프 고르기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알맞은 그래프 고르기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그래프 고르기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자료마다 어울리는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그래프가 따로 있을까?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자료와 알고 싶은 것에 맞는 그래프를 골라 까닭을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고른 그래프로 나타내고 해석해요.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40명이 좋아하는 꽃이에요.</a:t>
            </a:r>
            <a:endParaRPr lang="ko-KR" sz="2800" dirty="0"/>
          </a:p>
        </p:txBody>
      </p:sp>
      <p:sp>
        <p:nvSpPr>
          <p:cNvPr id="4" name="S02-figure4" descr="원그래프 ‘좋아하는 꽃’(40명): 장미 40 %, 튤립 25 %, 해바라기 20 %, 기타 15 %"/>
          <p:cNvSpPr/>
          <p:nvPr/>
        </p:nvSpPr>
        <p:spPr>
          <a:xfrm>
            <a:off x="8958834" y="2666615"/>
            <a:ext cx="1631758" cy="2951874"/>
          </a:xfrm>
          <a:custGeom>
            <a:avLst/>
            <a:gdLst/>
            <a:ahLst/>
            <a:cxnLst/>
            <a:rect l="l" t="t" r="r" b="b"/>
            <a:pathLst>
              <a:path w="1631758" h="2951874">
                <a:moveTo>
                  <a:pt x="0" y="1631758"/>
                </a:moveTo>
                <a:lnTo>
                  <a:pt x="0" y="0"/>
                </a:lnTo>
                <a:lnTo>
                  <a:pt x="85398" y="2236"/>
                </a:lnTo>
                <a:lnTo>
                  <a:pt x="170568" y="8942"/>
                </a:lnTo>
                <a:lnTo>
                  <a:pt x="255264" y="20087"/>
                </a:lnTo>
                <a:lnTo>
                  <a:pt x="339259" y="35654"/>
                </a:lnTo>
                <a:lnTo>
                  <a:pt x="422331" y="55602"/>
                </a:lnTo>
                <a:lnTo>
                  <a:pt x="504238" y="79866"/>
                </a:lnTo>
                <a:lnTo>
                  <a:pt x="584773" y="108381"/>
                </a:lnTo>
                <a:lnTo>
                  <a:pt x="663693" y="141074"/>
                </a:lnTo>
                <a:lnTo>
                  <a:pt x="740802" y="177853"/>
                </a:lnTo>
                <a:lnTo>
                  <a:pt x="815879" y="218615"/>
                </a:lnTo>
                <a:lnTo>
                  <a:pt x="888720" y="263251"/>
                </a:lnTo>
                <a:lnTo>
                  <a:pt x="959123" y="311641"/>
                </a:lnTo>
                <a:lnTo>
                  <a:pt x="1026898" y="363645"/>
                </a:lnTo>
                <a:lnTo>
                  <a:pt x="1091858" y="419125"/>
                </a:lnTo>
                <a:lnTo>
                  <a:pt x="1153824" y="477934"/>
                </a:lnTo>
                <a:lnTo>
                  <a:pt x="1212632" y="539900"/>
                </a:lnTo>
                <a:lnTo>
                  <a:pt x="1268112" y="604860"/>
                </a:lnTo>
                <a:lnTo>
                  <a:pt x="1320116" y="672635"/>
                </a:lnTo>
                <a:lnTo>
                  <a:pt x="1368506" y="743037"/>
                </a:lnTo>
                <a:lnTo>
                  <a:pt x="1413143" y="815879"/>
                </a:lnTo>
                <a:lnTo>
                  <a:pt x="1453904" y="890956"/>
                </a:lnTo>
                <a:lnTo>
                  <a:pt x="1490684" y="968065"/>
                </a:lnTo>
                <a:lnTo>
                  <a:pt x="1523376" y="1046985"/>
                </a:lnTo>
                <a:lnTo>
                  <a:pt x="1551891" y="1127520"/>
                </a:lnTo>
                <a:lnTo>
                  <a:pt x="1576155" y="1209426"/>
                </a:lnTo>
                <a:lnTo>
                  <a:pt x="1596104" y="1292499"/>
                </a:lnTo>
                <a:lnTo>
                  <a:pt x="1611671" y="1376494"/>
                </a:lnTo>
                <a:lnTo>
                  <a:pt x="1622816" y="1461190"/>
                </a:lnTo>
                <a:lnTo>
                  <a:pt x="1629522" y="1546360"/>
                </a:lnTo>
                <a:lnTo>
                  <a:pt x="1631758" y="1631758"/>
                </a:lnTo>
                <a:lnTo>
                  <a:pt x="1629522" y="1717156"/>
                </a:lnTo>
                <a:lnTo>
                  <a:pt x="1622816" y="1802325"/>
                </a:lnTo>
                <a:lnTo>
                  <a:pt x="1611671" y="1887022"/>
                </a:lnTo>
                <a:lnTo>
                  <a:pt x="1596104" y="1971016"/>
                </a:lnTo>
                <a:lnTo>
                  <a:pt x="1576155" y="2054089"/>
                </a:lnTo>
                <a:lnTo>
                  <a:pt x="1551891" y="2135995"/>
                </a:lnTo>
                <a:lnTo>
                  <a:pt x="1523376" y="2216531"/>
                </a:lnTo>
                <a:lnTo>
                  <a:pt x="1490684" y="2295450"/>
                </a:lnTo>
                <a:lnTo>
                  <a:pt x="1453904" y="2372559"/>
                </a:lnTo>
                <a:lnTo>
                  <a:pt x="1413143" y="2447636"/>
                </a:lnTo>
                <a:lnTo>
                  <a:pt x="1368506" y="2520478"/>
                </a:lnTo>
                <a:lnTo>
                  <a:pt x="1320116" y="2590880"/>
                </a:lnTo>
                <a:lnTo>
                  <a:pt x="1268112" y="2658655"/>
                </a:lnTo>
                <a:lnTo>
                  <a:pt x="1212632" y="2723616"/>
                </a:lnTo>
                <a:lnTo>
                  <a:pt x="1153824" y="2785582"/>
                </a:lnTo>
                <a:lnTo>
                  <a:pt x="1091858" y="2844390"/>
                </a:lnTo>
                <a:lnTo>
                  <a:pt x="1026898" y="2899870"/>
                </a:lnTo>
                <a:lnTo>
                  <a:pt x="959123" y="2951874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mark5"/>
          <p:cNvSpPr/>
          <p:nvPr/>
        </p:nvSpPr>
        <p:spPr>
          <a:xfrm>
            <a:off x="7638718" y="4298373"/>
            <a:ext cx="2279239" cy="1631758"/>
          </a:xfrm>
          <a:custGeom>
            <a:avLst/>
            <a:gdLst/>
            <a:ahLst/>
            <a:cxnLst/>
            <a:rect l="l" t="t" r="r" b="b"/>
            <a:pathLst>
              <a:path w="2279239" h="1631758">
                <a:moveTo>
                  <a:pt x="1320116" y="0"/>
                </a:moveTo>
                <a:lnTo>
                  <a:pt x="2279239" y="1320116"/>
                </a:lnTo>
                <a:lnTo>
                  <a:pt x="2208837" y="1368506"/>
                </a:lnTo>
                <a:lnTo>
                  <a:pt x="2135995" y="1413143"/>
                </a:lnTo>
                <a:lnTo>
                  <a:pt x="2060918" y="1453904"/>
                </a:lnTo>
                <a:lnTo>
                  <a:pt x="1983809" y="1490684"/>
                </a:lnTo>
                <a:lnTo>
                  <a:pt x="1904889" y="1523376"/>
                </a:lnTo>
                <a:lnTo>
                  <a:pt x="1824354" y="1551891"/>
                </a:lnTo>
                <a:lnTo>
                  <a:pt x="1742448" y="1576155"/>
                </a:lnTo>
                <a:lnTo>
                  <a:pt x="1659375" y="1596104"/>
                </a:lnTo>
                <a:lnTo>
                  <a:pt x="1575380" y="1611671"/>
                </a:lnTo>
                <a:lnTo>
                  <a:pt x="1490684" y="1622816"/>
                </a:lnTo>
                <a:lnTo>
                  <a:pt x="1405514" y="1629522"/>
                </a:lnTo>
                <a:lnTo>
                  <a:pt x="1320116" y="1631758"/>
                </a:lnTo>
                <a:lnTo>
                  <a:pt x="1234718" y="1629522"/>
                </a:lnTo>
                <a:lnTo>
                  <a:pt x="1149549" y="1622816"/>
                </a:lnTo>
                <a:lnTo>
                  <a:pt x="1064852" y="1611671"/>
                </a:lnTo>
                <a:lnTo>
                  <a:pt x="980858" y="1596104"/>
                </a:lnTo>
                <a:lnTo>
                  <a:pt x="897785" y="1576155"/>
                </a:lnTo>
                <a:lnTo>
                  <a:pt x="815879" y="1551891"/>
                </a:lnTo>
                <a:lnTo>
                  <a:pt x="735343" y="1523376"/>
                </a:lnTo>
                <a:lnTo>
                  <a:pt x="656423" y="1490684"/>
                </a:lnTo>
                <a:lnTo>
                  <a:pt x="579315" y="1453904"/>
                </a:lnTo>
                <a:lnTo>
                  <a:pt x="504238" y="1413143"/>
                </a:lnTo>
                <a:lnTo>
                  <a:pt x="431396" y="1368506"/>
                </a:lnTo>
                <a:lnTo>
                  <a:pt x="360994" y="1320116"/>
                </a:lnTo>
                <a:lnTo>
                  <a:pt x="293219" y="1268112"/>
                </a:lnTo>
                <a:lnTo>
                  <a:pt x="228258" y="1212632"/>
                </a:lnTo>
                <a:lnTo>
                  <a:pt x="166292" y="1153824"/>
                </a:lnTo>
                <a:lnTo>
                  <a:pt x="107484" y="1091858"/>
                </a:lnTo>
                <a:lnTo>
                  <a:pt x="52004" y="1026898"/>
                </a:lnTo>
                <a:lnTo>
                  <a:pt x="0" y="959123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mark6"/>
          <p:cNvSpPr/>
          <p:nvPr/>
        </p:nvSpPr>
        <p:spPr>
          <a:xfrm>
            <a:off x="7327076" y="3339250"/>
            <a:ext cx="1631758" cy="1918245"/>
          </a:xfrm>
          <a:custGeom>
            <a:avLst/>
            <a:gdLst/>
            <a:ahLst/>
            <a:cxnLst/>
            <a:rect l="l" t="t" r="r" b="b"/>
            <a:pathLst>
              <a:path w="1631758" h="1918245">
                <a:moveTo>
                  <a:pt x="1631758" y="959123"/>
                </a:moveTo>
                <a:lnTo>
                  <a:pt x="311641" y="1918245"/>
                </a:lnTo>
                <a:lnTo>
                  <a:pt x="263251" y="1847843"/>
                </a:lnTo>
                <a:lnTo>
                  <a:pt x="218615" y="1775001"/>
                </a:lnTo>
                <a:lnTo>
                  <a:pt x="177853" y="1699924"/>
                </a:lnTo>
                <a:lnTo>
                  <a:pt x="141074" y="1622816"/>
                </a:lnTo>
                <a:lnTo>
                  <a:pt x="108381" y="1543896"/>
                </a:lnTo>
                <a:lnTo>
                  <a:pt x="79866" y="1463360"/>
                </a:lnTo>
                <a:lnTo>
                  <a:pt x="55602" y="1381454"/>
                </a:lnTo>
                <a:lnTo>
                  <a:pt x="35654" y="1298381"/>
                </a:lnTo>
                <a:lnTo>
                  <a:pt x="20087" y="1214387"/>
                </a:lnTo>
                <a:lnTo>
                  <a:pt x="8942" y="1129690"/>
                </a:lnTo>
                <a:lnTo>
                  <a:pt x="2236" y="1044521"/>
                </a:lnTo>
                <a:lnTo>
                  <a:pt x="0" y="959123"/>
                </a:lnTo>
                <a:lnTo>
                  <a:pt x="2236" y="873725"/>
                </a:lnTo>
                <a:lnTo>
                  <a:pt x="8942" y="788555"/>
                </a:lnTo>
                <a:lnTo>
                  <a:pt x="20087" y="703859"/>
                </a:lnTo>
                <a:lnTo>
                  <a:pt x="35654" y="619864"/>
                </a:lnTo>
                <a:lnTo>
                  <a:pt x="55602" y="536791"/>
                </a:lnTo>
                <a:lnTo>
                  <a:pt x="79866" y="454885"/>
                </a:lnTo>
                <a:lnTo>
                  <a:pt x="108381" y="374350"/>
                </a:lnTo>
                <a:lnTo>
                  <a:pt x="141074" y="295430"/>
                </a:lnTo>
                <a:lnTo>
                  <a:pt x="177853" y="218321"/>
                </a:lnTo>
                <a:lnTo>
                  <a:pt x="218615" y="143244"/>
                </a:lnTo>
                <a:lnTo>
                  <a:pt x="263251" y="70402"/>
                </a:lnTo>
                <a:lnTo>
                  <a:pt x="311641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mark7"/>
          <p:cNvSpPr/>
          <p:nvPr/>
        </p:nvSpPr>
        <p:spPr>
          <a:xfrm>
            <a:off x="7638718" y="2666615"/>
            <a:ext cx="1320116" cy="1631758"/>
          </a:xfrm>
          <a:custGeom>
            <a:avLst/>
            <a:gdLst/>
            <a:ahLst/>
            <a:cxnLst/>
            <a:rect l="l" t="t" r="r" b="b"/>
            <a:pathLst>
              <a:path w="1320116" h="1631758">
                <a:moveTo>
                  <a:pt x="1320116" y="1631758"/>
                </a:moveTo>
                <a:lnTo>
                  <a:pt x="0" y="672635"/>
                </a:lnTo>
                <a:lnTo>
                  <a:pt x="52004" y="604860"/>
                </a:lnTo>
                <a:lnTo>
                  <a:pt x="107484" y="539900"/>
                </a:lnTo>
                <a:lnTo>
                  <a:pt x="166292" y="477934"/>
                </a:lnTo>
                <a:lnTo>
                  <a:pt x="228258" y="419125"/>
                </a:lnTo>
                <a:lnTo>
                  <a:pt x="293219" y="363645"/>
                </a:lnTo>
                <a:lnTo>
                  <a:pt x="360994" y="311641"/>
                </a:lnTo>
                <a:lnTo>
                  <a:pt x="431396" y="263251"/>
                </a:lnTo>
                <a:lnTo>
                  <a:pt x="504238" y="218615"/>
                </a:lnTo>
                <a:lnTo>
                  <a:pt x="579315" y="177853"/>
                </a:lnTo>
                <a:lnTo>
                  <a:pt x="656423" y="141074"/>
                </a:lnTo>
                <a:lnTo>
                  <a:pt x="735343" y="108381"/>
                </a:lnTo>
                <a:lnTo>
                  <a:pt x="815879" y="79866"/>
                </a:lnTo>
                <a:lnTo>
                  <a:pt x="897785" y="55602"/>
                </a:lnTo>
                <a:lnTo>
                  <a:pt x="980858" y="35654"/>
                </a:lnTo>
                <a:lnTo>
                  <a:pt x="1064852" y="20087"/>
                </a:lnTo>
                <a:lnTo>
                  <a:pt x="1149549" y="8942"/>
                </a:lnTo>
                <a:lnTo>
                  <a:pt x="1234718" y="2236"/>
                </a:lnTo>
                <a:lnTo>
                  <a:pt x="1320116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mark8"/>
          <p:cNvSpPr/>
          <p:nvPr/>
        </p:nvSpPr>
        <p:spPr>
          <a:xfrm flipV="1">
            <a:off x="8958834" y="2487122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2-mark9"/>
          <p:cNvSpPr/>
          <p:nvPr/>
        </p:nvSpPr>
        <p:spPr>
          <a:xfrm flipV="1">
            <a:off x="9463072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2-mark10"/>
          <p:cNvSpPr/>
          <p:nvPr/>
        </p:nvSpPr>
        <p:spPr>
          <a:xfrm flipV="1">
            <a:off x="9917957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2-mark11"/>
          <p:cNvSpPr/>
          <p:nvPr/>
        </p:nvSpPr>
        <p:spPr>
          <a:xfrm flipV="1">
            <a:off x="10278950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2-mark12"/>
          <p:cNvSpPr/>
          <p:nvPr/>
        </p:nvSpPr>
        <p:spPr>
          <a:xfrm flipV="1">
            <a:off x="10510725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2-mark13"/>
          <p:cNvSpPr/>
          <p:nvPr/>
        </p:nvSpPr>
        <p:spPr>
          <a:xfrm>
            <a:off x="10590592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2-mark14"/>
          <p:cNvSpPr/>
          <p:nvPr/>
        </p:nvSpPr>
        <p:spPr>
          <a:xfrm>
            <a:off x="10510725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2-mark15"/>
          <p:cNvSpPr/>
          <p:nvPr/>
        </p:nvSpPr>
        <p:spPr>
          <a:xfrm>
            <a:off x="10278950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2-mark16"/>
          <p:cNvSpPr/>
          <p:nvPr/>
        </p:nvSpPr>
        <p:spPr>
          <a:xfrm>
            <a:off x="9917957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2-mark17"/>
          <p:cNvSpPr/>
          <p:nvPr/>
        </p:nvSpPr>
        <p:spPr>
          <a:xfrm>
            <a:off x="9463072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2-mark18"/>
          <p:cNvSpPr/>
          <p:nvPr/>
        </p:nvSpPr>
        <p:spPr>
          <a:xfrm>
            <a:off x="8958834" y="5930130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2-mark19"/>
          <p:cNvSpPr/>
          <p:nvPr/>
        </p:nvSpPr>
        <p:spPr>
          <a:xfrm flipH="1">
            <a:off x="8424335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2-mark20"/>
          <p:cNvSpPr/>
          <p:nvPr/>
        </p:nvSpPr>
        <p:spPr>
          <a:xfrm flipH="1">
            <a:off x="7942167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2-mark21"/>
          <p:cNvSpPr/>
          <p:nvPr/>
        </p:nvSpPr>
        <p:spPr>
          <a:xfrm flipH="1">
            <a:off x="7559504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2-mark22"/>
          <p:cNvSpPr/>
          <p:nvPr/>
        </p:nvSpPr>
        <p:spPr>
          <a:xfrm flipH="1">
            <a:off x="7313827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2-mark23"/>
          <p:cNvSpPr/>
          <p:nvPr/>
        </p:nvSpPr>
        <p:spPr>
          <a:xfrm flipH="1">
            <a:off x="7147583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2-mark24"/>
          <p:cNvSpPr/>
          <p:nvPr/>
        </p:nvSpPr>
        <p:spPr>
          <a:xfrm flipH="1" flipV="1">
            <a:off x="7313827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2-mark25"/>
          <p:cNvSpPr/>
          <p:nvPr/>
        </p:nvSpPr>
        <p:spPr>
          <a:xfrm flipH="1" flipV="1">
            <a:off x="7559504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2-mark26"/>
          <p:cNvSpPr/>
          <p:nvPr/>
        </p:nvSpPr>
        <p:spPr>
          <a:xfrm flipH="1" flipV="1">
            <a:off x="7942167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2-mark27"/>
          <p:cNvSpPr/>
          <p:nvPr/>
        </p:nvSpPr>
        <p:spPr>
          <a:xfrm flipH="1" flipV="1">
            <a:off x="8424335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02-label29"/>
          <p:cNvSpPr txBox="1"/>
          <p:nvPr/>
        </p:nvSpPr>
        <p:spPr>
          <a:xfrm>
            <a:off x="9348615" y="3633949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장미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29" name="S02-label31"/>
          <p:cNvSpPr txBox="1"/>
          <p:nvPr/>
        </p:nvSpPr>
        <p:spPr>
          <a:xfrm>
            <a:off x="8219194" y="4956407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튤립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0" name="S02-label33"/>
          <p:cNvSpPr txBox="1"/>
          <p:nvPr/>
        </p:nvSpPr>
        <p:spPr>
          <a:xfrm>
            <a:off x="7085038" y="3949123"/>
            <a:ext cx="170789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해바라기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1" name="S02-label35"/>
          <p:cNvSpPr txBox="1"/>
          <p:nvPr/>
        </p:nvSpPr>
        <p:spPr>
          <a:xfrm>
            <a:off x="7845358" y="2902350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기타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32" name="S02-label37"/>
          <p:cNvSpPr txBox="1"/>
          <p:nvPr/>
        </p:nvSpPr>
        <p:spPr>
          <a:xfrm>
            <a:off x="8177530" y="1920875"/>
            <a:ext cx="15626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꽃</a:t>
            </a:r>
            <a:endParaRPr lang="ko-KR" sz="2200" dirty="0"/>
          </a:p>
        </p:txBody>
      </p:sp>
      <p:sp>
        <p:nvSpPr>
          <p:cNvPr id="33" name="S02-chip3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02-text39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꽃과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비율은?</a:t>
            </a:r>
            <a:endParaRPr lang="ko-KR" sz="2800" dirty="0"/>
          </a:p>
        </p:txBody>
      </p:sp>
      <p:sp>
        <p:nvSpPr>
          <p:cNvPr id="35" name="S02-chip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02-text41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튤립을 좋아하는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학생은 몇 명?</a:t>
            </a:r>
            <a:endParaRPr lang="ko-KR" sz="2800" dirty="0"/>
          </a:p>
        </p:txBody>
      </p:sp>
      <p:sp>
        <p:nvSpPr>
          <p:cNvPr id="37" name="S02-chip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02-text43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더하면 얼마?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자료, 다른 그래프</a:t>
            </a:r>
            <a:endParaRPr lang="ko-KR" sz="4000" dirty="0"/>
          </a:p>
        </p:txBody>
      </p:sp>
      <p:sp>
        <p:nvSpPr>
          <p:cNvPr id="3" name="S03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문고 책 20권의 종류예요.</a:t>
            </a:r>
            <a:endParaRPr lang="ko-KR" sz="2800" dirty="0"/>
          </a:p>
        </p:txBody>
      </p:sp>
      <p:sp>
        <p:nvSpPr>
          <p:cNvPr id="4" name="S03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싶은 것에 따라 알맞은 그래프가 달라요.</a:t>
            </a:r>
            <a:endParaRPr lang="ko-KR" sz="2800" dirty="0"/>
          </a:p>
        </p:txBody>
      </p:sp>
      <p:sp>
        <p:nvSpPr>
          <p:cNvPr id="6" name="S03-figure47" descr="막대그래프(세로 눈금 한 칸 1권): 동화 7권, 과학 5권, 역사 4권, 만화 4권"/>
          <p:cNvSpPr/>
          <p:nvPr/>
        </p:nvSpPr>
        <p:spPr>
          <a:xfrm>
            <a:off x="1711376" y="2925826"/>
            <a:ext cx="569366" cy="1162456"/>
          </a:xfrm>
          <a:custGeom>
            <a:avLst/>
            <a:gdLst/>
            <a:ahLst/>
            <a:cxnLst/>
            <a:rect l="l" t="t" r="r" b="b"/>
            <a:pathLst>
              <a:path w="569366" h="1162456">
                <a:moveTo>
                  <a:pt x="0" y="1162456"/>
                </a:moveTo>
                <a:lnTo>
                  <a:pt x="569366" y="1162456"/>
                </a:lnTo>
                <a:lnTo>
                  <a:pt x="56936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48"/>
          <p:cNvSpPr/>
          <p:nvPr/>
        </p:nvSpPr>
        <p:spPr>
          <a:xfrm>
            <a:off x="2755214" y="3257956"/>
            <a:ext cx="569366" cy="830326"/>
          </a:xfrm>
          <a:custGeom>
            <a:avLst/>
            <a:gdLst/>
            <a:ahLst/>
            <a:cxnLst/>
            <a:rect l="l" t="t" r="r" b="b"/>
            <a:pathLst>
              <a:path w="569366" h="830326">
                <a:moveTo>
                  <a:pt x="0" y="830326"/>
                </a:moveTo>
                <a:lnTo>
                  <a:pt x="569366" y="830326"/>
                </a:lnTo>
                <a:lnTo>
                  <a:pt x="56936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49"/>
          <p:cNvSpPr/>
          <p:nvPr/>
        </p:nvSpPr>
        <p:spPr>
          <a:xfrm>
            <a:off x="3799053" y="3424022"/>
            <a:ext cx="569366" cy="664261"/>
          </a:xfrm>
          <a:custGeom>
            <a:avLst/>
            <a:gdLst/>
            <a:ahLst/>
            <a:cxnLst/>
            <a:rect l="l" t="t" r="r" b="b"/>
            <a:pathLst>
              <a:path w="569366" h="664261">
                <a:moveTo>
                  <a:pt x="0" y="664261"/>
                </a:moveTo>
                <a:lnTo>
                  <a:pt x="569366" y="664261"/>
                </a:lnTo>
                <a:lnTo>
                  <a:pt x="56936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50"/>
          <p:cNvSpPr/>
          <p:nvPr/>
        </p:nvSpPr>
        <p:spPr>
          <a:xfrm>
            <a:off x="4842891" y="3424022"/>
            <a:ext cx="569366" cy="664261"/>
          </a:xfrm>
          <a:custGeom>
            <a:avLst/>
            <a:gdLst/>
            <a:ahLst/>
            <a:cxnLst/>
            <a:rect l="l" t="t" r="r" b="b"/>
            <a:pathLst>
              <a:path w="569366" h="664261">
                <a:moveTo>
                  <a:pt x="0" y="664261"/>
                </a:moveTo>
                <a:lnTo>
                  <a:pt x="569366" y="664261"/>
                </a:lnTo>
                <a:lnTo>
                  <a:pt x="569366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mark51"/>
          <p:cNvSpPr/>
          <p:nvPr/>
        </p:nvSpPr>
        <p:spPr>
          <a:xfrm>
            <a:off x="1331798" y="3922217"/>
            <a:ext cx="44600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52"/>
          <p:cNvSpPr/>
          <p:nvPr/>
        </p:nvSpPr>
        <p:spPr>
          <a:xfrm>
            <a:off x="1331798" y="3756152"/>
            <a:ext cx="44600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53"/>
          <p:cNvSpPr/>
          <p:nvPr/>
        </p:nvSpPr>
        <p:spPr>
          <a:xfrm>
            <a:off x="1331798" y="3590087"/>
            <a:ext cx="44600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54"/>
          <p:cNvSpPr/>
          <p:nvPr/>
        </p:nvSpPr>
        <p:spPr>
          <a:xfrm>
            <a:off x="1331798" y="3424022"/>
            <a:ext cx="44600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55"/>
          <p:cNvSpPr/>
          <p:nvPr/>
        </p:nvSpPr>
        <p:spPr>
          <a:xfrm>
            <a:off x="1331798" y="3257956"/>
            <a:ext cx="44600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56"/>
          <p:cNvSpPr/>
          <p:nvPr/>
        </p:nvSpPr>
        <p:spPr>
          <a:xfrm>
            <a:off x="1331798" y="3091891"/>
            <a:ext cx="44600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57"/>
          <p:cNvSpPr/>
          <p:nvPr/>
        </p:nvSpPr>
        <p:spPr>
          <a:xfrm>
            <a:off x="1331798" y="2925826"/>
            <a:ext cx="44600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58"/>
          <p:cNvSpPr/>
          <p:nvPr/>
        </p:nvSpPr>
        <p:spPr>
          <a:xfrm>
            <a:off x="1331798" y="2759761"/>
            <a:ext cx="44600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59"/>
          <p:cNvSpPr/>
          <p:nvPr/>
        </p:nvSpPr>
        <p:spPr>
          <a:xfrm>
            <a:off x="1331798" y="4088282"/>
            <a:ext cx="446003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3-mark60"/>
          <p:cNvSpPr/>
          <p:nvPr/>
        </p:nvSpPr>
        <p:spPr>
          <a:xfrm flipV="1">
            <a:off x="1331798" y="2569972"/>
            <a:ext cx="0" cy="151831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0" name="S03-label62"/>
          <p:cNvSpPr txBox="1"/>
          <p:nvPr/>
        </p:nvSpPr>
        <p:spPr>
          <a:xfrm>
            <a:off x="781431" y="391365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1" name="S03-label64"/>
          <p:cNvSpPr txBox="1"/>
          <p:nvPr/>
        </p:nvSpPr>
        <p:spPr>
          <a:xfrm>
            <a:off x="781431" y="358152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2" name="S03-label66"/>
          <p:cNvSpPr txBox="1"/>
          <p:nvPr/>
        </p:nvSpPr>
        <p:spPr>
          <a:xfrm>
            <a:off x="781431" y="324939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3" name="S03-label68"/>
          <p:cNvSpPr txBox="1"/>
          <p:nvPr/>
        </p:nvSpPr>
        <p:spPr>
          <a:xfrm>
            <a:off x="781431" y="2917266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4" name="S03-label70"/>
          <p:cNvSpPr txBox="1"/>
          <p:nvPr/>
        </p:nvSpPr>
        <p:spPr>
          <a:xfrm>
            <a:off x="781431" y="2585136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5" name="S03-label72"/>
          <p:cNvSpPr txBox="1"/>
          <p:nvPr/>
        </p:nvSpPr>
        <p:spPr>
          <a:xfrm>
            <a:off x="569087" y="2110664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(권)</a:t>
            </a:r>
            <a:endParaRPr lang="ko-KR" sz="2200" dirty="0"/>
          </a:p>
        </p:txBody>
      </p:sp>
      <p:sp>
        <p:nvSpPr>
          <p:cNvPr id="26" name="S03-label74"/>
          <p:cNvSpPr txBox="1"/>
          <p:nvPr/>
        </p:nvSpPr>
        <p:spPr>
          <a:xfrm>
            <a:off x="1667383" y="422206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동화</a:t>
            </a:r>
            <a:endParaRPr lang="ko-KR" sz="2200" dirty="0"/>
          </a:p>
        </p:txBody>
      </p:sp>
      <p:sp>
        <p:nvSpPr>
          <p:cNvPr id="27" name="S03-label76"/>
          <p:cNvSpPr txBox="1"/>
          <p:nvPr/>
        </p:nvSpPr>
        <p:spPr>
          <a:xfrm>
            <a:off x="2711221" y="422206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</a:t>
            </a:r>
            <a:endParaRPr lang="ko-KR" sz="2200" dirty="0"/>
          </a:p>
        </p:txBody>
      </p:sp>
      <p:sp>
        <p:nvSpPr>
          <p:cNvPr id="28" name="S03-label78"/>
          <p:cNvSpPr txBox="1"/>
          <p:nvPr/>
        </p:nvSpPr>
        <p:spPr>
          <a:xfrm>
            <a:off x="3755060" y="422206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</a:t>
            </a:r>
            <a:endParaRPr lang="ko-KR" sz="2200" dirty="0"/>
          </a:p>
        </p:txBody>
      </p:sp>
      <p:sp>
        <p:nvSpPr>
          <p:cNvPr id="29" name="S03-label80"/>
          <p:cNvSpPr txBox="1"/>
          <p:nvPr/>
        </p:nvSpPr>
        <p:spPr>
          <a:xfrm>
            <a:off x="4798898" y="422206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만화</a:t>
            </a:r>
            <a:endParaRPr lang="ko-KR" sz="2200" dirty="0"/>
          </a:p>
        </p:txBody>
      </p:sp>
      <p:sp>
        <p:nvSpPr>
          <p:cNvPr id="30" name="S03-label81"/>
          <p:cNvSpPr txBox="1"/>
          <p:nvPr/>
        </p:nvSpPr>
        <p:spPr>
          <a:xfrm>
            <a:off x="548640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막대그래프: 몇 권인지 비교</a:t>
            </a:r>
            <a:endParaRPr lang="ko-KR" sz="2200" dirty="0"/>
          </a:p>
        </p:txBody>
      </p:sp>
      <p:sp>
        <p:nvSpPr>
          <p:cNvPr id="31" name="S03-figure82" descr="같은 자료의 띠그래프: 동화 35 %, 과학 25 %, 역사 20 %, 만화 20 %"/>
          <p:cNvSpPr/>
          <p:nvPr/>
        </p:nvSpPr>
        <p:spPr>
          <a:xfrm>
            <a:off x="6338316" y="2778155"/>
            <a:ext cx="1595076" cy="820325"/>
          </a:xfrm>
          <a:custGeom>
            <a:avLst/>
            <a:gdLst/>
            <a:ahLst/>
            <a:cxnLst/>
            <a:rect l="l" t="t" r="r" b="b"/>
            <a:pathLst>
              <a:path w="1595076" h="820325">
                <a:moveTo>
                  <a:pt x="0" y="820325"/>
                </a:moveTo>
                <a:lnTo>
                  <a:pt x="1595076" y="820325"/>
                </a:lnTo>
                <a:lnTo>
                  <a:pt x="1595076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mark83"/>
          <p:cNvSpPr/>
          <p:nvPr/>
        </p:nvSpPr>
        <p:spPr>
          <a:xfrm>
            <a:off x="7933392" y="2778155"/>
            <a:ext cx="1139340" cy="820325"/>
          </a:xfrm>
          <a:custGeom>
            <a:avLst/>
            <a:gdLst/>
            <a:ahLst/>
            <a:cxnLst/>
            <a:rect l="l" t="t" r="r" b="b"/>
            <a:pathLst>
              <a:path w="1139340" h="820325">
                <a:moveTo>
                  <a:pt x="0" y="820325"/>
                </a:moveTo>
                <a:lnTo>
                  <a:pt x="1139340" y="820325"/>
                </a:lnTo>
                <a:lnTo>
                  <a:pt x="113934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mark84"/>
          <p:cNvSpPr/>
          <p:nvPr/>
        </p:nvSpPr>
        <p:spPr>
          <a:xfrm>
            <a:off x="9072731" y="2778155"/>
            <a:ext cx="911472" cy="820325"/>
          </a:xfrm>
          <a:custGeom>
            <a:avLst/>
            <a:gdLst/>
            <a:ahLst/>
            <a:cxnLst/>
            <a:rect l="l" t="t" r="r" b="b"/>
            <a:pathLst>
              <a:path w="911472" h="820325">
                <a:moveTo>
                  <a:pt x="0" y="820325"/>
                </a:moveTo>
                <a:lnTo>
                  <a:pt x="911472" y="820325"/>
                </a:lnTo>
                <a:lnTo>
                  <a:pt x="911472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mark85"/>
          <p:cNvSpPr/>
          <p:nvPr/>
        </p:nvSpPr>
        <p:spPr>
          <a:xfrm>
            <a:off x="9984203" y="2778155"/>
            <a:ext cx="911472" cy="820325"/>
          </a:xfrm>
          <a:custGeom>
            <a:avLst/>
            <a:gdLst/>
            <a:ahLst/>
            <a:cxnLst/>
            <a:rect l="l" t="t" r="r" b="b"/>
            <a:pathLst>
              <a:path w="911472" h="820325">
                <a:moveTo>
                  <a:pt x="0" y="820325"/>
                </a:moveTo>
                <a:lnTo>
                  <a:pt x="911472" y="820325"/>
                </a:lnTo>
                <a:lnTo>
                  <a:pt x="911472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mark86"/>
          <p:cNvSpPr/>
          <p:nvPr/>
        </p:nvSpPr>
        <p:spPr>
          <a:xfrm>
            <a:off x="6338316" y="3653168"/>
            <a:ext cx="4557359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6" name="S03-mark87"/>
          <p:cNvSpPr/>
          <p:nvPr/>
        </p:nvSpPr>
        <p:spPr>
          <a:xfrm>
            <a:off x="6338316" y="3653168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7" name="S03-mark88"/>
          <p:cNvSpPr/>
          <p:nvPr/>
        </p:nvSpPr>
        <p:spPr>
          <a:xfrm>
            <a:off x="6566184" y="3653168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8" name="S03-mark89"/>
          <p:cNvSpPr/>
          <p:nvPr/>
        </p:nvSpPr>
        <p:spPr>
          <a:xfrm>
            <a:off x="6794052" y="3653168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9" name="S03-mark90"/>
          <p:cNvSpPr/>
          <p:nvPr/>
        </p:nvSpPr>
        <p:spPr>
          <a:xfrm>
            <a:off x="7021920" y="3653168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0" name="S03-mark91"/>
          <p:cNvSpPr/>
          <p:nvPr/>
        </p:nvSpPr>
        <p:spPr>
          <a:xfrm>
            <a:off x="7249788" y="3653168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1" name="S03-mark92"/>
          <p:cNvSpPr/>
          <p:nvPr/>
        </p:nvSpPr>
        <p:spPr>
          <a:xfrm>
            <a:off x="7477656" y="3653168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2" name="S03-mark93"/>
          <p:cNvSpPr/>
          <p:nvPr/>
        </p:nvSpPr>
        <p:spPr>
          <a:xfrm>
            <a:off x="7705524" y="3653168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3" name="S03-mark94"/>
          <p:cNvSpPr/>
          <p:nvPr/>
        </p:nvSpPr>
        <p:spPr>
          <a:xfrm>
            <a:off x="7933392" y="3653168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4" name="S03-mark95"/>
          <p:cNvSpPr/>
          <p:nvPr/>
        </p:nvSpPr>
        <p:spPr>
          <a:xfrm>
            <a:off x="8161260" y="3653168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5" name="S03-mark96"/>
          <p:cNvSpPr/>
          <p:nvPr/>
        </p:nvSpPr>
        <p:spPr>
          <a:xfrm>
            <a:off x="8389128" y="3653168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6" name="S03-mark97"/>
          <p:cNvSpPr/>
          <p:nvPr/>
        </p:nvSpPr>
        <p:spPr>
          <a:xfrm>
            <a:off x="8616995" y="3653168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7" name="S03-mark98"/>
          <p:cNvSpPr/>
          <p:nvPr/>
        </p:nvSpPr>
        <p:spPr>
          <a:xfrm>
            <a:off x="8844863" y="3653168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8" name="S03-mark99"/>
          <p:cNvSpPr/>
          <p:nvPr/>
        </p:nvSpPr>
        <p:spPr>
          <a:xfrm>
            <a:off x="9072731" y="3653168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9" name="S03-mark100"/>
          <p:cNvSpPr/>
          <p:nvPr/>
        </p:nvSpPr>
        <p:spPr>
          <a:xfrm>
            <a:off x="9300599" y="3653168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0" name="S03-mark101"/>
          <p:cNvSpPr/>
          <p:nvPr/>
        </p:nvSpPr>
        <p:spPr>
          <a:xfrm>
            <a:off x="9528467" y="3653168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1" name="S03-mark102"/>
          <p:cNvSpPr/>
          <p:nvPr/>
        </p:nvSpPr>
        <p:spPr>
          <a:xfrm>
            <a:off x="9756335" y="3653168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2" name="S03-mark103"/>
          <p:cNvSpPr/>
          <p:nvPr/>
        </p:nvSpPr>
        <p:spPr>
          <a:xfrm>
            <a:off x="9984203" y="3653168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3" name="S03-mark104"/>
          <p:cNvSpPr/>
          <p:nvPr/>
        </p:nvSpPr>
        <p:spPr>
          <a:xfrm>
            <a:off x="10212071" y="3653168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4" name="S03-mark105"/>
          <p:cNvSpPr/>
          <p:nvPr/>
        </p:nvSpPr>
        <p:spPr>
          <a:xfrm>
            <a:off x="10439939" y="3653168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5" name="S03-mark106"/>
          <p:cNvSpPr/>
          <p:nvPr/>
        </p:nvSpPr>
        <p:spPr>
          <a:xfrm>
            <a:off x="10667807" y="3653168"/>
            <a:ext cx="0" cy="5468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6" name="S03-mark107"/>
          <p:cNvSpPr/>
          <p:nvPr/>
        </p:nvSpPr>
        <p:spPr>
          <a:xfrm>
            <a:off x="10895675" y="3653168"/>
            <a:ext cx="0" cy="100262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7" name="S03-label109"/>
          <p:cNvSpPr txBox="1"/>
          <p:nvPr/>
        </p:nvSpPr>
        <p:spPr>
          <a:xfrm>
            <a:off x="6555718" y="2839067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동화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58" name="S03-label111"/>
          <p:cNvSpPr txBox="1"/>
          <p:nvPr/>
        </p:nvSpPr>
        <p:spPr>
          <a:xfrm>
            <a:off x="7922926" y="2839067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과학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59" name="S03-label113"/>
          <p:cNvSpPr txBox="1"/>
          <p:nvPr/>
        </p:nvSpPr>
        <p:spPr>
          <a:xfrm>
            <a:off x="8948331" y="2839067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역사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60" name="S03-label115"/>
          <p:cNvSpPr txBox="1"/>
          <p:nvPr/>
        </p:nvSpPr>
        <p:spPr>
          <a:xfrm>
            <a:off x="9859803" y="2839067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만화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61" name="S03-label117"/>
          <p:cNvSpPr txBox="1"/>
          <p:nvPr/>
        </p:nvSpPr>
        <p:spPr>
          <a:xfrm>
            <a:off x="6191250" y="372919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62" name="S03-label119"/>
          <p:cNvSpPr txBox="1"/>
          <p:nvPr/>
        </p:nvSpPr>
        <p:spPr>
          <a:xfrm>
            <a:off x="7010520" y="3729198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63" name="S03-label121"/>
          <p:cNvSpPr txBox="1"/>
          <p:nvPr/>
        </p:nvSpPr>
        <p:spPr>
          <a:xfrm>
            <a:off x="7921992" y="3729198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64" name="S03-label123"/>
          <p:cNvSpPr txBox="1"/>
          <p:nvPr/>
        </p:nvSpPr>
        <p:spPr>
          <a:xfrm>
            <a:off x="8833463" y="3729198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65" name="S03-label125"/>
          <p:cNvSpPr txBox="1"/>
          <p:nvPr/>
        </p:nvSpPr>
        <p:spPr>
          <a:xfrm>
            <a:off x="9744935" y="3729198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66" name="S03-label127"/>
          <p:cNvSpPr txBox="1"/>
          <p:nvPr/>
        </p:nvSpPr>
        <p:spPr>
          <a:xfrm>
            <a:off x="10564205" y="372919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67" name="S03-label129"/>
          <p:cNvSpPr txBox="1"/>
          <p:nvPr/>
        </p:nvSpPr>
        <p:spPr>
          <a:xfrm>
            <a:off x="10975237" y="3729198"/>
            <a:ext cx="75234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68" name="S03-label130"/>
          <p:cNvSpPr txBox="1"/>
          <p:nvPr/>
        </p:nvSpPr>
        <p:spPr>
          <a:xfrm>
            <a:off x="6254496" y="4743450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띠그래프: 전체의 몇 %인지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그래프마다 잘 보여 주는 것</a:t>
            </a:r>
            <a:endParaRPr lang="ko-KR" sz="4000" dirty="0"/>
          </a:p>
        </p:txBody>
      </p:sp>
      <p:sp>
        <p:nvSpPr>
          <p:cNvPr id="3" name="S04-card131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32"/>
          <p:cNvSpPr txBox="1"/>
          <p:nvPr/>
        </p:nvSpPr>
        <p:spPr>
          <a:xfrm>
            <a:off x="822960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장소별 많고 적음을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그림으로 한눈에</a:t>
            </a:r>
            <a:endParaRPr lang="ko-KR" sz="2800" dirty="0"/>
          </a:p>
        </p:txBody>
      </p:sp>
      <p:sp>
        <p:nvSpPr>
          <p:cNvPr id="5" name="S04-card133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34"/>
          <p:cNvSpPr txBox="1"/>
          <p:nvPr/>
        </p:nvSpPr>
        <p:spPr>
          <a:xfrm>
            <a:off x="4596384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항목끼리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 비교</a:t>
            </a:r>
            <a:endParaRPr lang="ko-KR" sz="2800" dirty="0"/>
          </a:p>
        </p:txBody>
      </p:sp>
      <p:sp>
        <p:nvSpPr>
          <p:cNvPr id="7" name="S04-card135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136"/>
          <p:cNvSpPr txBox="1"/>
          <p:nvPr/>
        </p:nvSpPr>
        <p:spPr>
          <a:xfrm>
            <a:off x="8369808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시간에 따른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</a:t>
            </a:r>
            <a:endParaRPr lang="ko-KR" sz="2800" dirty="0"/>
          </a:p>
        </p:txBody>
      </p:sp>
      <p:sp>
        <p:nvSpPr>
          <p:cNvPr id="9" name="S04-card137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138"/>
          <p:cNvSpPr txBox="1"/>
          <p:nvPr/>
        </p:nvSpPr>
        <p:spPr>
          <a:xfrm>
            <a:off x="822960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전체에 대한 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띠를 견주기 좋아요.</a:t>
            </a:r>
            <a:endParaRPr lang="ko-KR" sz="2800" dirty="0"/>
          </a:p>
        </p:txBody>
      </p:sp>
      <p:sp>
        <p:nvSpPr>
          <p:cNvPr id="11" name="S04-card139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140"/>
          <p:cNvSpPr txBox="1"/>
          <p:nvPr/>
        </p:nvSpPr>
        <p:spPr>
          <a:xfrm>
            <a:off x="4596384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전체에 대한 비율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자료를 한눈에</a:t>
            </a:r>
            <a:endParaRPr lang="ko-KR" sz="2800" dirty="0"/>
          </a:p>
        </p:txBody>
      </p:sp>
      <p:sp>
        <p:nvSpPr>
          <p:cNvPr id="13" name="S04-card141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4" name="S04-cardtext142"/>
          <p:cNvSpPr txBox="1"/>
          <p:nvPr/>
        </p:nvSpPr>
        <p:spPr>
          <a:xfrm>
            <a:off x="8369808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기준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알고 싶나요?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 · 변화 · 비율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그래프가 알맞을까요?</a:t>
            </a:r>
            <a:endParaRPr lang="ko-KR" sz="4000" dirty="0"/>
          </a:p>
        </p:txBody>
      </p:sp>
      <p:sp>
        <p:nvSpPr>
          <p:cNvPr id="3" name="S05-text1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그래프와 까닭을 말해요.</a:t>
            </a:r>
            <a:endParaRPr lang="ko-KR" sz="2800" dirty="0"/>
          </a:p>
        </p:txBody>
      </p:sp>
      <p:sp>
        <p:nvSpPr>
          <p:cNvPr id="4" name="S05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변화? 비교? 비율? 장소? 알고 싶은 것을 먼저 찾아요.</a:t>
            </a:r>
            <a:endParaRPr lang="ko-KR" sz="2800" dirty="0"/>
          </a:p>
        </p:txBody>
      </p:sp>
      <p:sp>
        <p:nvSpPr>
          <p:cNvPr id="6" name="S05-chip14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text14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몸무게를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1월부터 6월까지 매달</a:t>
            </a:r>
            <a:endParaRPr lang="ko-KR" sz="2800" dirty="0"/>
          </a:p>
        </p:txBody>
      </p:sp>
      <p:sp>
        <p:nvSpPr>
          <p:cNvPr id="8" name="S05-chip14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text14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과일별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 비교</a:t>
            </a:r>
            <a:endParaRPr lang="ko-KR" sz="2800" dirty="0"/>
          </a:p>
        </p:txBody>
      </p:sp>
      <p:sp>
        <p:nvSpPr>
          <p:cNvPr id="10" name="S05-chip15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text15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용돈을 쓴 곳별로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몇 %인지</a:t>
            </a:r>
            <a:endParaRPr lang="ko-KR" sz="2800" dirty="0"/>
          </a:p>
        </p:txBody>
      </p:sp>
      <p:sp>
        <p:nvSpPr>
          <p:cNvPr id="12" name="S05-chip15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text15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마을별 사과 생산량을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위에 그림으로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그래프가 알맞을까요?</a:t>
            </a:r>
            <a:endParaRPr lang="ko-KR" sz="4000" dirty="0"/>
          </a:p>
        </p:txBody>
      </p:sp>
      <p:sp>
        <p:nvSpPr>
          <p:cNvPr id="3" name="S06-card15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5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과일별 학생 수를 나타냈어요.</a:t>
            </a:r>
            <a:endParaRPr lang="ko-KR" sz="2800" dirty="0"/>
          </a:p>
        </p:txBody>
      </p:sp>
      <p:sp>
        <p:nvSpPr>
          <p:cNvPr id="5" name="S06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사과와 배 사이의 선분은 무엇을 뜻할까요?</a:t>
            </a:r>
            <a:endParaRPr lang="ko-KR" sz="2800" dirty="0"/>
          </a:p>
        </p:txBody>
      </p:sp>
      <p:sp>
        <p:nvSpPr>
          <p:cNvPr id="7" name="S06-chip15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꺾은선그래프</a:t>
            </a:r>
            <a:endParaRPr lang="ko-KR" sz="2200" dirty="0"/>
          </a:p>
        </p:txBody>
      </p:sp>
      <p:sp>
        <p:nvSpPr>
          <p:cNvPr id="8" name="S06-figure159" descr="좋아하는 과일별 학생 수를 꺾은선으로 이은 그래프: 사과 6, 배 3, 귤 7, 포도 4"/>
          <p:cNvSpPr/>
          <p:nvPr/>
        </p:nvSpPr>
        <p:spPr>
          <a:xfrm>
            <a:off x="2394615" y="3811416"/>
            <a:ext cx="2100692" cy="509259"/>
          </a:xfrm>
          <a:custGeom>
            <a:avLst/>
            <a:gdLst/>
            <a:ahLst/>
            <a:cxnLst/>
            <a:rect l="l" t="t" r="r" b="b"/>
            <a:pathLst>
              <a:path w="2100692" h="509259">
                <a:moveTo>
                  <a:pt x="0" y="127315"/>
                </a:moveTo>
                <a:lnTo>
                  <a:pt x="700231" y="509259"/>
                </a:lnTo>
                <a:lnTo>
                  <a:pt x="1400462" y="0"/>
                </a:lnTo>
                <a:lnTo>
                  <a:pt x="2100692" y="381944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9" name="S06-mark160"/>
          <p:cNvSpPr/>
          <p:nvPr/>
        </p:nvSpPr>
        <p:spPr>
          <a:xfrm flipV="1">
            <a:off x="2394615" y="3684101"/>
            <a:ext cx="0" cy="101851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161"/>
          <p:cNvSpPr/>
          <p:nvPr/>
        </p:nvSpPr>
        <p:spPr>
          <a:xfrm flipV="1">
            <a:off x="3094846" y="3684101"/>
            <a:ext cx="0" cy="101851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162"/>
          <p:cNvSpPr/>
          <p:nvPr/>
        </p:nvSpPr>
        <p:spPr>
          <a:xfrm flipV="1">
            <a:off x="3795077" y="3684101"/>
            <a:ext cx="0" cy="101851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163"/>
          <p:cNvSpPr/>
          <p:nvPr/>
        </p:nvSpPr>
        <p:spPr>
          <a:xfrm flipV="1">
            <a:off x="4495308" y="3684101"/>
            <a:ext cx="0" cy="1018518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164"/>
          <p:cNvSpPr/>
          <p:nvPr/>
        </p:nvSpPr>
        <p:spPr>
          <a:xfrm>
            <a:off x="1949014" y="4575304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165"/>
          <p:cNvSpPr/>
          <p:nvPr/>
        </p:nvSpPr>
        <p:spPr>
          <a:xfrm>
            <a:off x="1949014" y="4447990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166"/>
          <p:cNvSpPr/>
          <p:nvPr/>
        </p:nvSpPr>
        <p:spPr>
          <a:xfrm>
            <a:off x="1949014" y="4320675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6-mark167"/>
          <p:cNvSpPr/>
          <p:nvPr/>
        </p:nvSpPr>
        <p:spPr>
          <a:xfrm>
            <a:off x="1949014" y="4193360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6-mark168"/>
          <p:cNvSpPr/>
          <p:nvPr/>
        </p:nvSpPr>
        <p:spPr>
          <a:xfrm>
            <a:off x="1949014" y="4066045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6-mark169"/>
          <p:cNvSpPr/>
          <p:nvPr/>
        </p:nvSpPr>
        <p:spPr>
          <a:xfrm>
            <a:off x="1949014" y="3938731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6-mark170"/>
          <p:cNvSpPr/>
          <p:nvPr/>
        </p:nvSpPr>
        <p:spPr>
          <a:xfrm>
            <a:off x="1949014" y="3811416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6-mark171"/>
          <p:cNvSpPr/>
          <p:nvPr/>
        </p:nvSpPr>
        <p:spPr>
          <a:xfrm>
            <a:off x="1949014" y="3684101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6-mark172"/>
          <p:cNvSpPr/>
          <p:nvPr/>
        </p:nvSpPr>
        <p:spPr>
          <a:xfrm>
            <a:off x="1949014" y="4702619"/>
            <a:ext cx="299189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2" name="S06-mark173"/>
          <p:cNvSpPr/>
          <p:nvPr/>
        </p:nvSpPr>
        <p:spPr>
          <a:xfrm flipV="1">
            <a:off x="1949014" y="3556787"/>
            <a:ext cx="0" cy="114583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6-mark174"/>
          <p:cNvSpPr/>
          <p:nvPr/>
        </p:nvSpPr>
        <p:spPr>
          <a:xfrm>
            <a:off x="2335179" y="3879295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mark175"/>
          <p:cNvSpPr/>
          <p:nvPr/>
        </p:nvSpPr>
        <p:spPr>
          <a:xfrm>
            <a:off x="3035410" y="426123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mark176"/>
          <p:cNvSpPr/>
          <p:nvPr/>
        </p:nvSpPr>
        <p:spPr>
          <a:xfrm>
            <a:off x="3735641" y="3751980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mark177"/>
          <p:cNvSpPr/>
          <p:nvPr/>
        </p:nvSpPr>
        <p:spPr>
          <a:xfrm>
            <a:off x="4435872" y="4133924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label179"/>
          <p:cNvSpPr txBox="1"/>
          <p:nvPr/>
        </p:nvSpPr>
        <p:spPr>
          <a:xfrm>
            <a:off x="1531404" y="452799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8" name="S06-label181"/>
          <p:cNvSpPr txBox="1"/>
          <p:nvPr/>
        </p:nvSpPr>
        <p:spPr>
          <a:xfrm>
            <a:off x="1531404" y="401873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9" name="S06-label183"/>
          <p:cNvSpPr txBox="1"/>
          <p:nvPr/>
        </p:nvSpPr>
        <p:spPr>
          <a:xfrm>
            <a:off x="1531404" y="3509476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30" name="S06-label185"/>
          <p:cNvSpPr txBox="1"/>
          <p:nvPr/>
        </p:nvSpPr>
        <p:spPr>
          <a:xfrm>
            <a:off x="1319060" y="3191190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200" dirty="0"/>
          </a:p>
        </p:txBody>
      </p:sp>
      <p:sp>
        <p:nvSpPr>
          <p:cNvPr id="31" name="S06-label187"/>
          <p:cNvSpPr txBox="1"/>
          <p:nvPr/>
        </p:nvSpPr>
        <p:spPr>
          <a:xfrm>
            <a:off x="2065939" y="473488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200" dirty="0"/>
          </a:p>
        </p:txBody>
      </p:sp>
      <p:sp>
        <p:nvSpPr>
          <p:cNvPr id="32" name="S06-label189"/>
          <p:cNvSpPr txBox="1"/>
          <p:nvPr/>
        </p:nvSpPr>
        <p:spPr>
          <a:xfrm>
            <a:off x="2903076" y="473488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2200" dirty="0"/>
          </a:p>
        </p:txBody>
      </p:sp>
      <p:sp>
        <p:nvSpPr>
          <p:cNvPr id="33" name="S06-label191"/>
          <p:cNvSpPr txBox="1"/>
          <p:nvPr/>
        </p:nvSpPr>
        <p:spPr>
          <a:xfrm>
            <a:off x="3603307" y="473488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200" dirty="0"/>
          </a:p>
        </p:txBody>
      </p:sp>
      <p:sp>
        <p:nvSpPr>
          <p:cNvPr id="34" name="S06-label193"/>
          <p:cNvSpPr txBox="1"/>
          <p:nvPr/>
        </p:nvSpPr>
        <p:spPr>
          <a:xfrm>
            <a:off x="4166632" y="473488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200" dirty="0"/>
          </a:p>
        </p:txBody>
      </p:sp>
      <p:sp>
        <p:nvSpPr>
          <p:cNvPr id="35" name="S06-chip19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막대그래프</a:t>
            </a:r>
            <a:endParaRPr lang="ko-KR" sz="2200" dirty="0"/>
          </a:p>
        </p:txBody>
      </p:sp>
      <p:sp>
        <p:nvSpPr>
          <p:cNvPr id="36" name="S06-figure195" descr="좋아하는 과일별 학생 수 막대그래프: 사과 6, 배 3, 귤 7, 포도 4"/>
          <p:cNvSpPr/>
          <p:nvPr/>
        </p:nvSpPr>
        <p:spPr>
          <a:xfrm>
            <a:off x="7932359" y="3938731"/>
            <a:ext cx="381944" cy="763888"/>
          </a:xfrm>
          <a:custGeom>
            <a:avLst/>
            <a:gdLst/>
            <a:ahLst/>
            <a:cxnLst/>
            <a:rect l="l" t="t" r="r" b="b"/>
            <a:pathLst>
              <a:path w="381944" h="763888">
                <a:moveTo>
                  <a:pt x="0" y="763888"/>
                </a:moveTo>
                <a:lnTo>
                  <a:pt x="381944" y="763888"/>
                </a:lnTo>
                <a:lnTo>
                  <a:pt x="38194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mark196"/>
          <p:cNvSpPr/>
          <p:nvPr/>
        </p:nvSpPr>
        <p:spPr>
          <a:xfrm>
            <a:off x="8632590" y="4320675"/>
            <a:ext cx="381944" cy="381944"/>
          </a:xfrm>
          <a:custGeom>
            <a:avLst/>
            <a:gdLst/>
            <a:ahLst/>
            <a:cxnLst/>
            <a:rect l="l" t="t" r="r" b="b"/>
            <a:pathLst>
              <a:path w="381944" h="381944">
                <a:moveTo>
                  <a:pt x="0" y="381944"/>
                </a:moveTo>
                <a:lnTo>
                  <a:pt x="381944" y="381944"/>
                </a:lnTo>
                <a:lnTo>
                  <a:pt x="38194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6-mark197"/>
          <p:cNvSpPr/>
          <p:nvPr/>
        </p:nvSpPr>
        <p:spPr>
          <a:xfrm>
            <a:off x="9332821" y="3811416"/>
            <a:ext cx="381944" cy="891203"/>
          </a:xfrm>
          <a:custGeom>
            <a:avLst/>
            <a:gdLst/>
            <a:ahLst/>
            <a:cxnLst/>
            <a:rect l="l" t="t" r="r" b="b"/>
            <a:pathLst>
              <a:path w="381944" h="891203">
                <a:moveTo>
                  <a:pt x="0" y="891203"/>
                </a:moveTo>
                <a:lnTo>
                  <a:pt x="381944" y="891203"/>
                </a:lnTo>
                <a:lnTo>
                  <a:pt x="38194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mark198"/>
          <p:cNvSpPr/>
          <p:nvPr/>
        </p:nvSpPr>
        <p:spPr>
          <a:xfrm>
            <a:off x="10033052" y="4193360"/>
            <a:ext cx="381944" cy="509259"/>
          </a:xfrm>
          <a:custGeom>
            <a:avLst/>
            <a:gdLst/>
            <a:ahLst/>
            <a:cxnLst/>
            <a:rect l="l" t="t" r="r" b="b"/>
            <a:pathLst>
              <a:path w="381944" h="509259">
                <a:moveTo>
                  <a:pt x="0" y="509259"/>
                </a:moveTo>
                <a:lnTo>
                  <a:pt x="381944" y="509259"/>
                </a:lnTo>
                <a:lnTo>
                  <a:pt x="38194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mark199"/>
          <p:cNvSpPr/>
          <p:nvPr/>
        </p:nvSpPr>
        <p:spPr>
          <a:xfrm>
            <a:off x="7677730" y="4575304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1" name="S06-mark200"/>
          <p:cNvSpPr/>
          <p:nvPr/>
        </p:nvSpPr>
        <p:spPr>
          <a:xfrm>
            <a:off x="7677730" y="4447990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2" name="S06-mark201"/>
          <p:cNvSpPr/>
          <p:nvPr/>
        </p:nvSpPr>
        <p:spPr>
          <a:xfrm>
            <a:off x="7677730" y="4320675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3" name="S06-mark202"/>
          <p:cNvSpPr/>
          <p:nvPr/>
        </p:nvSpPr>
        <p:spPr>
          <a:xfrm>
            <a:off x="7677730" y="4193360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4" name="S06-mark203"/>
          <p:cNvSpPr/>
          <p:nvPr/>
        </p:nvSpPr>
        <p:spPr>
          <a:xfrm>
            <a:off x="7677730" y="4066045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5" name="S06-mark204"/>
          <p:cNvSpPr/>
          <p:nvPr/>
        </p:nvSpPr>
        <p:spPr>
          <a:xfrm>
            <a:off x="7677730" y="3938731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6" name="S06-mark205"/>
          <p:cNvSpPr/>
          <p:nvPr/>
        </p:nvSpPr>
        <p:spPr>
          <a:xfrm>
            <a:off x="7677730" y="3811416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7" name="S06-mark206"/>
          <p:cNvSpPr/>
          <p:nvPr/>
        </p:nvSpPr>
        <p:spPr>
          <a:xfrm>
            <a:off x="7677730" y="3684101"/>
            <a:ext cx="2991895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48" name="S06-mark207"/>
          <p:cNvSpPr/>
          <p:nvPr/>
        </p:nvSpPr>
        <p:spPr>
          <a:xfrm>
            <a:off x="7677730" y="4702619"/>
            <a:ext cx="2991895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49" name="S06-mark208"/>
          <p:cNvSpPr/>
          <p:nvPr/>
        </p:nvSpPr>
        <p:spPr>
          <a:xfrm flipV="1">
            <a:off x="7677730" y="3556787"/>
            <a:ext cx="0" cy="1145832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50" name="S06-label210"/>
          <p:cNvSpPr txBox="1"/>
          <p:nvPr/>
        </p:nvSpPr>
        <p:spPr>
          <a:xfrm>
            <a:off x="7260120" y="452799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51" name="S06-label212"/>
          <p:cNvSpPr txBox="1"/>
          <p:nvPr/>
        </p:nvSpPr>
        <p:spPr>
          <a:xfrm>
            <a:off x="7260120" y="401873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52" name="S06-label214"/>
          <p:cNvSpPr txBox="1"/>
          <p:nvPr/>
        </p:nvSpPr>
        <p:spPr>
          <a:xfrm>
            <a:off x="7260120" y="3509476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53" name="S06-label216"/>
          <p:cNvSpPr txBox="1"/>
          <p:nvPr/>
        </p:nvSpPr>
        <p:spPr>
          <a:xfrm>
            <a:off x="7047776" y="3191190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200" dirty="0"/>
          </a:p>
        </p:txBody>
      </p:sp>
      <p:sp>
        <p:nvSpPr>
          <p:cNvPr id="54" name="S06-label218"/>
          <p:cNvSpPr txBox="1"/>
          <p:nvPr/>
        </p:nvSpPr>
        <p:spPr>
          <a:xfrm>
            <a:off x="7794655" y="473488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200" dirty="0"/>
          </a:p>
        </p:txBody>
      </p:sp>
      <p:sp>
        <p:nvSpPr>
          <p:cNvPr id="55" name="S06-label220"/>
          <p:cNvSpPr txBox="1"/>
          <p:nvPr/>
        </p:nvSpPr>
        <p:spPr>
          <a:xfrm>
            <a:off x="8631792" y="473488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</a:t>
            </a:r>
            <a:endParaRPr lang="ko-KR" sz="2200" dirty="0"/>
          </a:p>
        </p:txBody>
      </p:sp>
      <p:sp>
        <p:nvSpPr>
          <p:cNvPr id="56" name="S06-label222"/>
          <p:cNvSpPr txBox="1"/>
          <p:nvPr/>
        </p:nvSpPr>
        <p:spPr>
          <a:xfrm>
            <a:off x="9332023" y="4734880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200" dirty="0"/>
          </a:p>
        </p:txBody>
      </p:sp>
      <p:sp>
        <p:nvSpPr>
          <p:cNvPr id="57" name="S06-label224"/>
          <p:cNvSpPr txBox="1"/>
          <p:nvPr/>
        </p:nvSpPr>
        <p:spPr>
          <a:xfrm>
            <a:off x="9895348" y="473488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골라서 나타내고 해석해요</a:t>
            </a:r>
            <a:endParaRPr lang="ko-KR" sz="4000" dirty="0"/>
          </a:p>
        </p:txBody>
      </p:sp>
      <p:sp>
        <p:nvSpPr>
          <p:cNvPr id="3" name="S07-text2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 책 400권의 종류별 비율이 궁금해요.</a:t>
            </a:r>
            <a:endParaRPr lang="ko-KR" sz="2800" dirty="0"/>
          </a:p>
        </p:txBody>
      </p:sp>
      <p:sp>
        <p:nvSpPr>
          <p:cNvPr id="4" name="S07-figure226" descr="원그래프 ‘도서관 책의 종류’(400권): 문학 40 %, 과학 25 %, 역사 20 %, 기타 15 %"/>
          <p:cNvSpPr/>
          <p:nvPr/>
        </p:nvSpPr>
        <p:spPr>
          <a:xfrm>
            <a:off x="9226982" y="2666615"/>
            <a:ext cx="1631758" cy="2951874"/>
          </a:xfrm>
          <a:custGeom>
            <a:avLst/>
            <a:gdLst/>
            <a:ahLst/>
            <a:cxnLst/>
            <a:rect l="l" t="t" r="r" b="b"/>
            <a:pathLst>
              <a:path w="1631758" h="2951874">
                <a:moveTo>
                  <a:pt x="0" y="1631758"/>
                </a:moveTo>
                <a:lnTo>
                  <a:pt x="0" y="0"/>
                </a:lnTo>
                <a:lnTo>
                  <a:pt x="85398" y="2236"/>
                </a:lnTo>
                <a:lnTo>
                  <a:pt x="170568" y="8942"/>
                </a:lnTo>
                <a:lnTo>
                  <a:pt x="255264" y="20087"/>
                </a:lnTo>
                <a:lnTo>
                  <a:pt x="339259" y="35654"/>
                </a:lnTo>
                <a:lnTo>
                  <a:pt x="422331" y="55602"/>
                </a:lnTo>
                <a:lnTo>
                  <a:pt x="504238" y="79866"/>
                </a:lnTo>
                <a:lnTo>
                  <a:pt x="584773" y="108381"/>
                </a:lnTo>
                <a:lnTo>
                  <a:pt x="663693" y="141074"/>
                </a:lnTo>
                <a:lnTo>
                  <a:pt x="740802" y="177853"/>
                </a:lnTo>
                <a:lnTo>
                  <a:pt x="815879" y="218615"/>
                </a:lnTo>
                <a:lnTo>
                  <a:pt x="888720" y="263251"/>
                </a:lnTo>
                <a:lnTo>
                  <a:pt x="959123" y="311641"/>
                </a:lnTo>
                <a:lnTo>
                  <a:pt x="1026898" y="363645"/>
                </a:lnTo>
                <a:lnTo>
                  <a:pt x="1091858" y="419125"/>
                </a:lnTo>
                <a:lnTo>
                  <a:pt x="1153824" y="477934"/>
                </a:lnTo>
                <a:lnTo>
                  <a:pt x="1212632" y="539900"/>
                </a:lnTo>
                <a:lnTo>
                  <a:pt x="1268112" y="604860"/>
                </a:lnTo>
                <a:lnTo>
                  <a:pt x="1320116" y="672635"/>
                </a:lnTo>
                <a:lnTo>
                  <a:pt x="1368506" y="743037"/>
                </a:lnTo>
                <a:lnTo>
                  <a:pt x="1413143" y="815879"/>
                </a:lnTo>
                <a:lnTo>
                  <a:pt x="1453904" y="890956"/>
                </a:lnTo>
                <a:lnTo>
                  <a:pt x="1490684" y="968065"/>
                </a:lnTo>
                <a:lnTo>
                  <a:pt x="1523376" y="1046985"/>
                </a:lnTo>
                <a:lnTo>
                  <a:pt x="1551891" y="1127520"/>
                </a:lnTo>
                <a:lnTo>
                  <a:pt x="1576155" y="1209426"/>
                </a:lnTo>
                <a:lnTo>
                  <a:pt x="1596104" y="1292499"/>
                </a:lnTo>
                <a:lnTo>
                  <a:pt x="1611671" y="1376494"/>
                </a:lnTo>
                <a:lnTo>
                  <a:pt x="1622816" y="1461190"/>
                </a:lnTo>
                <a:lnTo>
                  <a:pt x="1629522" y="1546360"/>
                </a:lnTo>
                <a:lnTo>
                  <a:pt x="1631758" y="1631758"/>
                </a:lnTo>
                <a:lnTo>
                  <a:pt x="1629522" y="1717156"/>
                </a:lnTo>
                <a:lnTo>
                  <a:pt x="1622816" y="1802325"/>
                </a:lnTo>
                <a:lnTo>
                  <a:pt x="1611671" y="1887022"/>
                </a:lnTo>
                <a:lnTo>
                  <a:pt x="1596104" y="1971016"/>
                </a:lnTo>
                <a:lnTo>
                  <a:pt x="1576155" y="2054089"/>
                </a:lnTo>
                <a:lnTo>
                  <a:pt x="1551891" y="2135995"/>
                </a:lnTo>
                <a:lnTo>
                  <a:pt x="1523376" y="2216531"/>
                </a:lnTo>
                <a:lnTo>
                  <a:pt x="1490684" y="2295450"/>
                </a:lnTo>
                <a:lnTo>
                  <a:pt x="1453904" y="2372559"/>
                </a:lnTo>
                <a:lnTo>
                  <a:pt x="1413143" y="2447636"/>
                </a:lnTo>
                <a:lnTo>
                  <a:pt x="1368506" y="2520478"/>
                </a:lnTo>
                <a:lnTo>
                  <a:pt x="1320116" y="2590880"/>
                </a:lnTo>
                <a:lnTo>
                  <a:pt x="1268112" y="2658655"/>
                </a:lnTo>
                <a:lnTo>
                  <a:pt x="1212632" y="2723616"/>
                </a:lnTo>
                <a:lnTo>
                  <a:pt x="1153824" y="2785582"/>
                </a:lnTo>
                <a:lnTo>
                  <a:pt x="1091858" y="2844390"/>
                </a:lnTo>
                <a:lnTo>
                  <a:pt x="1026898" y="2899870"/>
                </a:lnTo>
                <a:lnTo>
                  <a:pt x="959123" y="2951874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7-mark227"/>
          <p:cNvSpPr/>
          <p:nvPr/>
        </p:nvSpPr>
        <p:spPr>
          <a:xfrm>
            <a:off x="7906865" y="4298373"/>
            <a:ext cx="2279239" cy="1631758"/>
          </a:xfrm>
          <a:custGeom>
            <a:avLst/>
            <a:gdLst/>
            <a:ahLst/>
            <a:cxnLst/>
            <a:rect l="l" t="t" r="r" b="b"/>
            <a:pathLst>
              <a:path w="2279239" h="1631758">
                <a:moveTo>
                  <a:pt x="1320116" y="0"/>
                </a:moveTo>
                <a:lnTo>
                  <a:pt x="2279239" y="1320116"/>
                </a:lnTo>
                <a:lnTo>
                  <a:pt x="2208837" y="1368506"/>
                </a:lnTo>
                <a:lnTo>
                  <a:pt x="2135995" y="1413143"/>
                </a:lnTo>
                <a:lnTo>
                  <a:pt x="2060918" y="1453904"/>
                </a:lnTo>
                <a:lnTo>
                  <a:pt x="1983809" y="1490684"/>
                </a:lnTo>
                <a:lnTo>
                  <a:pt x="1904889" y="1523376"/>
                </a:lnTo>
                <a:lnTo>
                  <a:pt x="1824354" y="1551891"/>
                </a:lnTo>
                <a:lnTo>
                  <a:pt x="1742448" y="1576155"/>
                </a:lnTo>
                <a:lnTo>
                  <a:pt x="1659375" y="1596104"/>
                </a:lnTo>
                <a:lnTo>
                  <a:pt x="1575380" y="1611671"/>
                </a:lnTo>
                <a:lnTo>
                  <a:pt x="1490684" y="1622816"/>
                </a:lnTo>
                <a:lnTo>
                  <a:pt x="1405514" y="1629522"/>
                </a:lnTo>
                <a:lnTo>
                  <a:pt x="1320116" y="1631758"/>
                </a:lnTo>
                <a:lnTo>
                  <a:pt x="1234718" y="1629522"/>
                </a:lnTo>
                <a:lnTo>
                  <a:pt x="1149549" y="1622816"/>
                </a:lnTo>
                <a:lnTo>
                  <a:pt x="1064852" y="1611671"/>
                </a:lnTo>
                <a:lnTo>
                  <a:pt x="980858" y="1596104"/>
                </a:lnTo>
                <a:lnTo>
                  <a:pt x="897785" y="1576155"/>
                </a:lnTo>
                <a:lnTo>
                  <a:pt x="815879" y="1551891"/>
                </a:lnTo>
                <a:lnTo>
                  <a:pt x="735343" y="1523376"/>
                </a:lnTo>
                <a:lnTo>
                  <a:pt x="656423" y="1490684"/>
                </a:lnTo>
                <a:lnTo>
                  <a:pt x="579315" y="1453904"/>
                </a:lnTo>
                <a:lnTo>
                  <a:pt x="504238" y="1413143"/>
                </a:lnTo>
                <a:lnTo>
                  <a:pt x="431396" y="1368506"/>
                </a:lnTo>
                <a:lnTo>
                  <a:pt x="360994" y="1320116"/>
                </a:lnTo>
                <a:lnTo>
                  <a:pt x="293219" y="1268112"/>
                </a:lnTo>
                <a:lnTo>
                  <a:pt x="228258" y="1212632"/>
                </a:lnTo>
                <a:lnTo>
                  <a:pt x="166292" y="1153824"/>
                </a:lnTo>
                <a:lnTo>
                  <a:pt x="107484" y="1091858"/>
                </a:lnTo>
                <a:lnTo>
                  <a:pt x="52004" y="1026898"/>
                </a:lnTo>
                <a:lnTo>
                  <a:pt x="0" y="959123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mark228"/>
          <p:cNvSpPr/>
          <p:nvPr/>
        </p:nvSpPr>
        <p:spPr>
          <a:xfrm>
            <a:off x="7595224" y="3339250"/>
            <a:ext cx="1631758" cy="1918245"/>
          </a:xfrm>
          <a:custGeom>
            <a:avLst/>
            <a:gdLst/>
            <a:ahLst/>
            <a:cxnLst/>
            <a:rect l="l" t="t" r="r" b="b"/>
            <a:pathLst>
              <a:path w="1631758" h="1918245">
                <a:moveTo>
                  <a:pt x="1631758" y="959123"/>
                </a:moveTo>
                <a:lnTo>
                  <a:pt x="311641" y="1918245"/>
                </a:lnTo>
                <a:lnTo>
                  <a:pt x="263251" y="1847843"/>
                </a:lnTo>
                <a:lnTo>
                  <a:pt x="218615" y="1775001"/>
                </a:lnTo>
                <a:lnTo>
                  <a:pt x="177853" y="1699924"/>
                </a:lnTo>
                <a:lnTo>
                  <a:pt x="141074" y="1622816"/>
                </a:lnTo>
                <a:lnTo>
                  <a:pt x="108381" y="1543896"/>
                </a:lnTo>
                <a:lnTo>
                  <a:pt x="79866" y="1463360"/>
                </a:lnTo>
                <a:lnTo>
                  <a:pt x="55602" y="1381454"/>
                </a:lnTo>
                <a:lnTo>
                  <a:pt x="35654" y="1298381"/>
                </a:lnTo>
                <a:lnTo>
                  <a:pt x="20087" y="1214387"/>
                </a:lnTo>
                <a:lnTo>
                  <a:pt x="8942" y="1129690"/>
                </a:lnTo>
                <a:lnTo>
                  <a:pt x="2236" y="1044521"/>
                </a:lnTo>
                <a:lnTo>
                  <a:pt x="0" y="959123"/>
                </a:lnTo>
                <a:lnTo>
                  <a:pt x="2236" y="873725"/>
                </a:lnTo>
                <a:lnTo>
                  <a:pt x="8942" y="788555"/>
                </a:lnTo>
                <a:lnTo>
                  <a:pt x="20087" y="703859"/>
                </a:lnTo>
                <a:lnTo>
                  <a:pt x="35654" y="619864"/>
                </a:lnTo>
                <a:lnTo>
                  <a:pt x="55602" y="536791"/>
                </a:lnTo>
                <a:lnTo>
                  <a:pt x="79866" y="454885"/>
                </a:lnTo>
                <a:lnTo>
                  <a:pt x="108381" y="374350"/>
                </a:lnTo>
                <a:lnTo>
                  <a:pt x="141074" y="295430"/>
                </a:lnTo>
                <a:lnTo>
                  <a:pt x="177853" y="218321"/>
                </a:lnTo>
                <a:lnTo>
                  <a:pt x="218615" y="143244"/>
                </a:lnTo>
                <a:lnTo>
                  <a:pt x="263251" y="70402"/>
                </a:lnTo>
                <a:lnTo>
                  <a:pt x="311641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mark229"/>
          <p:cNvSpPr/>
          <p:nvPr/>
        </p:nvSpPr>
        <p:spPr>
          <a:xfrm>
            <a:off x="7906865" y="2666615"/>
            <a:ext cx="1320116" cy="1631758"/>
          </a:xfrm>
          <a:custGeom>
            <a:avLst/>
            <a:gdLst/>
            <a:ahLst/>
            <a:cxnLst/>
            <a:rect l="l" t="t" r="r" b="b"/>
            <a:pathLst>
              <a:path w="1320116" h="1631758">
                <a:moveTo>
                  <a:pt x="1320116" y="1631758"/>
                </a:moveTo>
                <a:lnTo>
                  <a:pt x="0" y="672635"/>
                </a:lnTo>
                <a:lnTo>
                  <a:pt x="52004" y="604860"/>
                </a:lnTo>
                <a:lnTo>
                  <a:pt x="107484" y="539900"/>
                </a:lnTo>
                <a:lnTo>
                  <a:pt x="166292" y="477934"/>
                </a:lnTo>
                <a:lnTo>
                  <a:pt x="228258" y="419125"/>
                </a:lnTo>
                <a:lnTo>
                  <a:pt x="293219" y="363645"/>
                </a:lnTo>
                <a:lnTo>
                  <a:pt x="360994" y="311641"/>
                </a:lnTo>
                <a:lnTo>
                  <a:pt x="431396" y="263251"/>
                </a:lnTo>
                <a:lnTo>
                  <a:pt x="504238" y="218615"/>
                </a:lnTo>
                <a:lnTo>
                  <a:pt x="579315" y="177853"/>
                </a:lnTo>
                <a:lnTo>
                  <a:pt x="656423" y="141074"/>
                </a:lnTo>
                <a:lnTo>
                  <a:pt x="735343" y="108381"/>
                </a:lnTo>
                <a:lnTo>
                  <a:pt x="815879" y="79866"/>
                </a:lnTo>
                <a:lnTo>
                  <a:pt x="897785" y="55602"/>
                </a:lnTo>
                <a:lnTo>
                  <a:pt x="980858" y="35654"/>
                </a:lnTo>
                <a:lnTo>
                  <a:pt x="1064852" y="20087"/>
                </a:lnTo>
                <a:lnTo>
                  <a:pt x="1149549" y="8942"/>
                </a:lnTo>
                <a:lnTo>
                  <a:pt x="1234718" y="2236"/>
                </a:lnTo>
                <a:lnTo>
                  <a:pt x="1320116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mark230"/>
          <p:cNvSpPr/>
          <p:nvPr/>
        </p:nvSpPr>
        <p:spPr>
          <a:xfrm flipV="1">
            <a:off x="9226982" y="2487122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7-mark231"/>
          <p:cNvSpPr/>
          <p:nvPr/>
        </p:nvSpPr>
        <p:spPr>
          <a:xfrm flipV="1">
            <a:off x="9731219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7-mark232"/>
          <p:cNvSpPr/>
          <p:nvPr/>
        </p:nvSpPr>
        <p:spPr>
          <a:xfrm flipV="1">
            <a:off x="10186104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7-mark233"/>
          <p:cNvSpPr/>
          <p:nvPr/>
        </p:nvSpPr>
        <p:spPr>
          <a:xfrm flipV="1">
            <a:off x="10547098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7-mark234"/>
          <p:cNvSpPr/>
          <p:nvPr/>
        </p:nvSpPr>
        <p:spPr>
          <a:xfrm flipV="1">
            <a:off x="10778873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7-mark235"/>
          <p:cNvSpPr/>
          <p:nvPr/>
        </p:nvSpPr>
        <p:spPr>
          <a:xfrm>
            <a:off x="10858739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7-mark236"/>
          <p:cNvSpPr/>
          <p:nvPr/>
        </p:nvSpPr>
        <p:spPr>
          <a:xfrm>
            <a:off x="10778873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7-mark237"/>
          <p:cNvSpPr/>
          <p:nvPr/>
        </p:nvSpPr>
        <p:spPr>
          <a:xfrm>
            <a:off x="10547098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7-mark238"/>
          <p:cNvSpPr/>
          <p:nvPr/>
        </p:nvSpPr>
        <p:spPr>
          <a:xfrm>
            <a:off x="10186104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7-mark239"/>
          <p:cNvSpPr/>
          <p:nvPr/>
        </p:nvSpPr>
        <p:spPr>
          <a:xfrm>
            <a:off x="9731219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7-mark240"/>
          <p:cNvSpPr/>
          <p:nvPr/>
        </p:nvSpPr>
        <p:spPr>
          <a:xfrm>
            <a:off x="9226982" y="5930130"/>
            <a:ext cx="0" cy="17949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7-mark241"/>
          <p:cNvSpPr/>
          <p:nvPr/>
        </p:nvSpPr>
        <p:spPr>
          <a:xfrm flipH="1">
            <a:off x="8692483" y="5850264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7-mark242"/>
          <p:cNvSpPr/>
          <p:nvPr/>
        </p:nvSpPr>
        <p:spPr>
          <a:xfrm flipH="1">
            <a:off x="8210315" y="5618489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7-mark243"/>
          <p:cNvSpPr/>
          <p:nvPr/>
        </p:nvSpPr>
        <p:spPr>
          <a:xfrm flipH="1">
            <a:off x="7827652" y="5257495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7-mark244"/>
          <p:cNvSpPr/>
          <p:nvPr/>
        </p:nvSpPr>
        <p:spPr>
          <a:xfrm flipH="1">
            <a:off x="7581974" y="4802610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7-mark245"/>
          <p:cNvSpPr/>
          <p:nvPr/>
        </p:nvSpPr>
        <p:spPr>
          <a:xfrm flipH="1">
            <a:off x="7415731" y="4298373"/>
            <a:ext cx="179493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7-mark246"/>
          <p:cNvSpPr/>
          <p:nvPr/>
        </p:nvSpPr>
        <p:spPr>
          <a:xfrm flipH="1" flipV="1">
            <a:off x="7581974" y="3763874"/>
            <a:ext cx="93116" cy="3026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7-mark247"/>
          <p:cNvSpPr/>
          <p:nvPr/>
        </p:nvSpPr>
        <p:spPr>
          <a:xfrm flipH="1" flipV="1">
            <a:off x="7827652" y="3281706"/>
            <a:ext cx="79214" cy="5754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7-mark248"/>
          <p:cNvSpPr/>
          <p:nvPr/>
        </p:nvSpPr>
        <p:spPr>
          <a:xfrm flipH="1" flipV="1">
            <a:off x="8210315" y="2899043"/>
            <a:ext cx="57544" cy="7921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7-mark249"/>
          <p:cNvSpPr/>
          <p:nvPr/>
        </p:nvSpPr>
        <p:spPr>
          <a:xfrm flipH="1" flipV="1">
            <a:off x="8692483" y="2653365"/>
            <a:ext cx="30261" cy="9311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07-label251"/>
          <p:cNvSpPr txBox="1"/>
          <p:nvPr/>
        </p:nvSpPr>
        <p:spPr>
          <a:xfrm>
            <a:off x="9616763" y="3633949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문학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29" name="S07-label253"/>
          <p:cNvSpPr txBox="1"/>
          <p:nvPr/>
        </p:nvSpPr>
        <p:spPr>
          <a:xfrm>
            <a:off x="8487341" y="4956407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과학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0" name="S07-label255"/>
          <p:cNvSpPr txBox="1"/>
          <p:nvPr/>
        </p:nvSpPr>
        <p:spPr>
          <a:xfrm>
            <a:off x="7626997" y="3949123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역사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1" name="S07-label257"/>
          <p:cNvSpPr txBox="1"/>
          <p:nvPr/>
        </p:nvSpPr>
        <p:spPr>
          <a:xfrm>
            <a:off x="8113506" y="2902350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기타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32" name="S07-label259"/>
          <p:cNvSpPr txBox="1"/>
          <p:nvPr/>
        </p:nvSpPr>
        <p:spPr>
          <a:xfrm>
            <a:off x="8129956" y="1920875"/>
            <a:ext cx="21940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도서관 책의 종류</a:t>
            </a:r>
            <a:endParaRPr lang="ko-KR" sz="2200" dirty="0"/>
          </a:p>
        </p:txBody>
      </p:sp>
      <p:sp>
        <p:nvSpPr>
          <p:cNvPr id="33" name="S07-stepno260"/>
          <p:cNvSpPr txBox="1"/>
          <p:nvPr/>
        </p:nvSpPr>
        <p:spPr>
          <a:xfrm>
            <a:off x="548640" y="2178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4" name="S07-text261"/>
          <p:cNvSpPr txBox="1"/>
          <p:nvPr/>
        </p:nvSpPr>
        <p:spPr>
          <a:xfrm>
            <a:off x="1325880" y="21325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싶은 것: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전체에 대한 비율</a:t>
            </a:r>
            <a:endParaRPr lang="ko-KR" sz="2800" dirty="0"/>
          </a:p>
        </p:txBody>
      </p:sp>
      <p:sp>
        <p:nvSpPr>
          <p:cNvPr id="35" name="S07-stepno262"/>
          <p:cNvSpPr txBox="1"/>
          <p:nvPr/>
        </p:nvSpPr>
        <p:spPr>
          <a:xfrm>
            <a:off x="548640" y="3210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6" name="S07-text263"/>
          <p:cNvSpPr txBox="1"/>
          <p:nvPr/>
        </p:nvSpPr>
        <p:spPr>
          <a:xfrm>
            <a:off x="1325880" y="31648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그래프: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2800" dirty="0"/>
          </a:p>
        </p:txBody>
      </p:sp>
      <p:sp>
        <p:nvSpPr>
          <p:cNvPr id="37" name="S07-stepno264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8" name="S07-text265"/>
          <p:cNvSpPr txBox="1"/>
          <p:nvPr/>
        </p:nvSpPr>
        <p:spPr>
          <a:xfrm>
            <a:off x="1325880" y="41970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구해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나타내요.</a:t>
            </a:r>
            <a:endParaRPr lang="ko-KR" sz="2800" dirty="0"/>
          </a:p>
        </p:txBody>
      </p:sp>
      <p:sp>
        <p:nvSpPr>
          <p:cNvPr id="39" name="S07-stepno266"/>
          <p:cNvSpPr txBox="1"/>
          <p:nvPr/>
        </p:nvSpPr>
        <p:spPr>
          <a:xfrm>
            <a:off x="548640" y="527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40" name="S07-text267"/>
          <p:cNvSpPr txBox="1"/>
          <p:nvPr/>
        </p:nvSpPr>
        <p:spPr>
          <a:xfrm>
            <a:off x="1325880" y="52293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해석: 문학책이 40 %로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많아요.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해석해요</a:t>
            </a:r>
            <a:endParaRPr lang="ko-KR" sz="4000" dirty="0"/>
          </a:p>
        </p:txBody>
      </p:sp>
      <p:sp>
        <p:nvSpPr>
          <p:cNvPr id="3" name="S08-text2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 도서관 이용자 수예요.</a:t>
            </a:r>
            <a:endParaRPr lang="ko-KR" sz="2800" dirty="0"/>
          </a:p>
        </p:txBody>
      </p:sp>
      <p:sp>
        <p:nvSpPr>
          <p:cNvPr id="4" name="S08-figure269" descr="꺾은선그래프 ‘월별 도서관 이용자 수’(세로 눈금 한 칸 20명, 물결선 위 100부터): 3월 120, 4월 140, 5월 120, 6월 180, 7월 200"/>
          <p:cNvSpPr/>
          <p:nvPr/>
        </p:nvSpPr>
        <p:spPr>
          <a:xfrm>
            <a:off x="6783410" y="4913373"/>
            <a:ext cx="220296" cy="367160"/>
          </a:xfrm>
          <a:custGeom>
            <a:avLst/>
            <a:gdLst/>
            <a:ahLst/>
            <a:cxnLst/>
            <a:rect l="l" t="t" r="r" b="b"/>
            <a:pathLst>
              <a:path w="220296" h="367160">
                <a:moveTo>
                  <a:pt x="110148" y="367160"/>
                </a:moveTo>
                <a:lnTo>
                  <a:pt x="110148" y="312086"/>
                </a:lnTo>
                <a:lnTo>
                  <a:pt x="0" y="249669"/>
                </a:lnTo>
                <a:lnTo>
                  <a:pt x="220296" y="183580"/>
                </a:lnTo>
                <a:lnTo>
                  <a:pt x="0" y="117491"/>
                </a:lnTo>
                <a:lnTo>
                  <a:pt x="110148" y="55074"/>
                </a:lnTo>
                <a:lnTo>
                  <a:pt x="110148" y="0"/>
                </a:lnTo>
              </a:path>
            </a:pathLst>
          </a:cu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" name="S08-mark270"/>
          <p:cNvSpPr/>
          <p:nvPr/>
        </p:nvSpPr>
        <p:spPr>
          <a:xfrm>
            <a:off x="7444298" y="3077573"/>
            <a:ext cx="3524737" cy="1468641"/>
          </a:xfrm>
          <a:custGeom>
            <a:avLst/>
            <a:gdLst/>
            <a:ahLst/>
            <a:cxnLst/>
            <a:rect l="l" t="t" r="r" b="b"/>
            <a:pathLst>
              <a:path w="3524737" h="1468641">
                <a:moveTo>
                  <a:pt x="0" y="1468641"/>
                </a:moveTo>
                <a:lnTo>
                  <a:pt x="881184" y="1101480"/>
                </a:lnTo>
                <a:lnTo>
                  <a:pt x="1762369" y="1468641"/>
                </a:lnTo>
                <a:lnTo>
                  <a:pt x="2643553" y="367160"/>
                </a:lnTo>
                <a:lnTo>
                  <a:pt x="3524737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6" name="S08-mark271"/>
          <p:cNvSpPr/>
          <p:nvPr/>
        </p:nvSpPr>
        <p:spPr>
          <a:xfrm flipV="1">
            <a:off x="7444298" y="3077573"/>
            <a:ext cx="0" cy="220296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7" name="S08-mark272"/>
          <p:cNvSpPr/>
          <p:nvPr/>
        </p:nvSpPr>
        <p:spPr>
          <a:xfrm flipV="1">
            <a:off x="8325483" y="3077573"/>
            <a:ext cx="0" cy="220296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08-mark273"/>
          <p:cNvSpPr/>
          <p:nvPr/>
        </p:nvSpPr>
        <p:spPr>
          <a:xfrm flipV="1">
            <a:off x="9206667" y="3077573"/>
            <a:ext cx="0" cy="220296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274"/>
          <p:cNvSpPr/>
          <p:nvPr/>
        </p:nvSpPr>
        <p:spPr>
          <a:xfrm flipV="1">
            <a:off x="10087851" y="3077573"/>
            <a:ext cx="0" cy="220296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75"/>
          <p:cNvSpPr/>
          <p:nvPr/>
        </p:nvSpPr>
        <p:spPr>
          <a:xfrm flipV="1">
            <a:off x="10969036" y="3077573"/>
            <a:ext cx="0" cy="2202961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76"/>
          <p:cNvSpPr/>
          <p:nvPr/>
        </p:nvSpPr>
        <p:spPr>
          <a:xfrm>
            <a:off x="6893558" y="491337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77"/>
          <p:cNvSpPr/>
          <p:nvPr/>
        </p:nvSpPr>
        <p:spPr>
          <a:xfrm>
            <a:off x="6893558" y="454621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78"/>
          <p:cNvSpPr/>
          <p:nvPr/>
        </p:nvSpPr>
        <p:spPr>
          <a:xfrm>
            <a:off x="6893558" y="417905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79"/>
          <p:cNvSpPr/>
          <p:nvPr/>
        </p:nvSpPr>
        <p:spPr>
          <a:xfrm>
            <a:off x="6893558" y="381189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80"/>
          <p:cNvSpPr/>
          <p:nvPr/>
        </p:nvSpPr>
        <p:spPr>
          <a:xfrm>
            <a:off x="6893558" y="344473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81"/>
          <p:cNvSpPr/>
          <p:nvPr/>
        </p:nvSpPr>
        <p:spPr>
          <a:xfrm>
            <a:off x="6893558" y="3077573"/>
            <a:ext cx="462621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82"/>
          <p:cNvSpPr/>
          <p:nvPr/>
        </p:nvSpPr>
        <p:spPr>
          <a:xfrm>
            <a:off x="6893558" y="5280533"/>
            <a:ext cx="462621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8-mark283"/>
          <p:cNvSpPr/>
          <p:nvPr/>
        </p:nvSpPr>
        <p:spPr>
          <a:xfrm flipV="1">
            <a:off x="6893558" y="2930709"/>
            <a:ext cx="0" cy="1982665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9" name="S08-mark284"/>
          <p:cNvSpPr/>
          <p:nvPr/>
        </p:nvSpPr>
        <p:spPr>
          <a:xfrm>
            <a:off x="7384862" y="448677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mark285"/>
          <p:cNvSpPr/>
          <p:nvPr/>
        </p:nvSpPr>
        <p:spPr>
          <a:xfrm>
            <a:off x="8266047" y="411961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mark286"/>
          <p:cNvSpPr/>
          <p:nvPr/>
        </p:nvSpPr>
        <p:spPr>
          <a:xfrm>
            <a:off x="9147231" y="448677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8-mark287"/>
          <p:cNvSpPr/>
          <p:nvPr/>
        </p:nvSpPr>
        <p:spPr>
          <a:xfrm>
            <a:off x="10028415" y="338529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8-mark288"/>
          <p:cNvSpPr/>
          <p:nvPr/>
        </p:nvSpPr>
        <p:spPr>
          <a:xfrm>
            <a:off x="10909600" y="301813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label290"/>
          <p:cNvSpPr txBox="1"/>
          <p:nvPr/>
        </p:nvSpPr>
        <p:spPr>
          <a:xfrm>
            <a:off x="6434406" y="510590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5" name="S08-label292"/>
          <p:cNvSpPr txBox="1"/>
          <p:nvPr/>
        </p:nvSpPr>
        <p:spPr>
          <a:xfrm>
            <a:off x="6250002" y="473874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26" name="S08-label294"/>
          <p:cNvSpPr txBox="1"/>
          <p:nvPr/>
        </p:nvSpPr>
        <p:spPr>
          <a:xfrm>
            <a:off x="6250002" y="437158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ko-KR" sz="2200" dirty="0"/>
          </a:p>
        </p:txBody>
      </p:sp>
      <p:sp>
        <p:nvSpPr>
          <p:cNvPr id="27" name="S08-label296"/>
          <p:cNvSpPr txBox="1"/>
          <p:nvPr/>
        </p:nvSpPr>
        <p:spPr>
          <a:xfrm>
            <a:off x="6250002" y="400442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140</a:t>
            </a:r>
            <a:endParaRPr lang="ko-KR" sz="2200" dirty="0"/>
          </a:p>
        </p:txBody>
      </p:sp>
      <p:sp>
        <p:nvSpPr>
          <p:cNvPr id="28" name="S08-label298"/>
          <p:cNvSpPr txBox="1"/>
          <p:nvPr/>
        </p:nvSpPr>
        <p:spPr>
          <a:xfrm>
            <a:off x="6250002" y="363726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160</a:t>
            </a:r>
            <a:endParaRPr lang="ko-KR" sz="2200" dirty="0"/>
          </a:p>
        </p:txBody>
      </p:sp>
      <p:sp>
        <p:nvSpPr>
          <p:cNvPr id="29" name="S08-label300"/>
          <p:cNvSpPr txBox="1"/>
          <p:nvPr/>
        </p:nvSpPr>
        <p:spPr>
          <a:xfrm>
            <a:off x="6250002" y="327010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</a:t>
            </a:r>
            <a:endParaRPr lang="ko-KR" sz="2200" dirty="0"/>
          </a:p>
        </p:txBody>
      </p:sp>
      <p:sp>
        <p:nvSpPr>
          <p:cNvPr id="30" name="S08-label302"/>
          <p:cNvSpPr txBox="1"/>
          <p:nvPr/>
        </p:nvSpPr>
        <p:spPr>
          <a:xfrm>
            <a:off x="6250002" y="2902948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ko-KR" sz="2200" dirty="0"/>
          </a:p>
        </p:txBody>
      </p:sp>
      <p:sp>
        <p:nvSpPr>
          <p:cNvPr id="31" name="S08-label304"/>
          <p:cNvSpPr txBox="1"/>
          <p:nvPr/>
        </p:nvSpPr>
        <p:spPr>
          <a:xfrm>
            <a:off x="6222062" y="2535787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200" dirty="0"/>
          </a:p>
        </p:txBody>
      </p:sp>
      <p:sp>
        <p:nvSpPr>
          <p:cNvPr id="32" name="S08-label306"/>
          <p:cNvSpPr txBox="1"/>
          <p:nvPr/>
        </p:nvSpPr>
        <p:spPr>
          <a:xfrm>
            <a:off x="7160326" y="534456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3월</a:t>
            </a:r>
            <a:endParaRPr lang="ko-KR" sz="2200" dirty="0"/>
          </a:p>
        </p:txBody>
      </p:sp>
      <p:sp>
        <p:nvSpPr>
          <p:cNvPr id="33" name="S08-label308"/>
          <p:cNvSpPr txBox="1"/>
          <p:nvPr/>
        </p:nvSpPr>
        <p:spPr>
          <a:xfrm>
            <a:off x="8041511" y="534456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</a:t>
            </a:r>
            <a:endParaRPr lang="ko-KR" sz="2200" dirty="0"/>
          </a:p>
        </p:txBody>
      </p:sp>
      <p:sp>
        <p:nvSpPr>
          <p:cNvPr id="34" name="S08-label310"/>
          <p:cNvSpPr txBox="1"/>
          <p:nvPr/>
        </p:nvSpPr>
        <p:spPr>
          <a:xfrm>
            <a:off x="8922695" y="534456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5월</a:t>
            </a:r>
            <a:endParaRPr lang="ko-KR" sz="2200" dirty="0"/>
          </a:p>
        </p:txBody>
      </p:sp>
      <p:sp>
        <p:nvSpPr>
          <p:cNvPr id="35" name="S08-label312"/>
          <p:cNvSpPr txBox="1"/>
          <p:nvPr/>
        </p:nvSpPr>
        <p:spPr>
          <a:xfrm>
            <a:off x="9803879" y="534456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6월</a:t>
            </a:r>
            <a:endParaRPr lang="ko-KR" sz="2200" dirty="0"/>
          </a:p>
        </p:txBody>
      </p:sp>
      <p:sp>
        <p:nvSpPr>
          <p:cNvPr id="36" name="S08-label314"/>
          <p:cNvSpPr txBox="1"/>
          <p:nvPr/>
        </p:nvSpPr>
        <p:spPr>
          <a:xfrm>
            <a:off x="10685064" y="534456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ko-KR" sz="2200" dirty="0"/>
          </a:p>
        </p:txBody>
      </p:sp>
      <p:sp>
        <p:nvSpPr>
          <p:cNvPr id="37" name="S08-chip31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8" name="S08-text31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늘어난 때는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언제와 언제 사이?</a:t>
            </a:r>
            <a:endParaRPr lang="ko-KR" sz="2800" dirty="0"/>
          </a:p>
        </p:txBody>
      </p:sp>
      <p:sp>
        <p:nvSpPr>
          <p:cNvPr id="39" name="S08-chip31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0" name="S08-text31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7월은 3월보다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 많을까요?</a:t>
            </a:r>
            <a:endParaRPr lang="ko-KR" sz="2800" dirty="0"/>
          </a:p>
        </p:txBody>
      </p:sp>
      <p:sp>
        <p:nvSpPr>
          <p:cNvPr id="41" name="S08-chip31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2" name="S08-text32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자료를 원그래프로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그리면 알맞을까요?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32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그래프와 까닭을 말해요.</a:t>
            </a:r>
            <a:endParaRPr lang="ko-KR" sz="2800" dirty="0"/>
          </a:p>
        </p:txBody>
      </p:sp>
      <p:sp>
        <p:nvSpPr>
          <p:cNvPr id="4" name="S09-chip32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9-text32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도시 인구를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10년 동안 해마다</a:t>
            </a:r>
            <a:endParaRPr lang="ko-KR" sz="2800" dirty="0"/>
          </a:p>
        </p:txBody>
      </p:sp>
      <p:sp>
        <p:nvSpPr>
          <p:cNvPr id="6" name="S09-chip32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9-text32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학년별 안경 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 비교</a:t>
            </a:r>
            <a:endParaRPr lang="ko-KR" sz="2800" dirty="0"/>
          </a:p>
        </p:txBody>
      </p:sp>
      <p:sp>
        <p:nvSpPr>
          <p:cNvPr id="8" name="S09-chip32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9-text32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텃밭 넓이를 채소별로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나눈 비율</a:t>
            </a:r>
            <a:endParaRPr lang="ko-KR" sz="2800" dirty="0"/>
          </a:p>
        </p:txBody>
      </p:sp>
      <p:sp>
        <p:nvSpPr>
          <p:cNvPr id="10" name="S09-chip32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9-text32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해의 장래 희망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견주기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골라서 해석해요</a:t>
            </a:r>
            <a:endParaRPr lang="ko-KR" sz="4000" dirty="0"/>
          </a:p>
        </p:txBody>
      </p:sp>
      <p:sp>
        <p:nvSpPr>
          <p:cNvPr id="3" name="S11-text3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 20명이 학교에 오는 방법이에요.</a:t>
            </a:r>
            <a:endParaRPr lang="ko-KR" sz="2800" dirty="0"/>
          </a:p>
        </p:txBody>
      </p:sp>
      <p:graphicFrame>
        <p:nvGraphicFramePr>
          <p:cNvPr id="11" name="S11-table3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670048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걸어서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자전거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자동차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1-chip33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1-text333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방법별 비율을 보려면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그래프? 까닭은?</a:t>
            </a:r>
            <a:endParaRPr lang="ko-KR" sz="2800" dirty="0"/>
          </a:p>
        </p:txBody>
      </p:sp>
      <p:sp>
        <p:nvSpPr>
          <p:cNvPr id="7" name="S11-chip33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1-text335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걸어서 오는 학생은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몇 %?</a:t>
            </a:r>
            <a:endParaRPr lang="ko-KR" sz="2800" dirty="0"/>
          </a:p>
        </p:txBody>
      </p:sp>
      <p:sp>
        <p:nvSpPr>
          <p:cNvPr id="9" name="S11-chip33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1-text337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버스와 자동차를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합하면 몇 %?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338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39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알고 싶은 것이 비교인지, 변화인지, 비율인지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생각하고 알맞은 그래프를 골라요.</a:t>
            </a:r>
            <a:endParaRPr lang="ko-KR" sz="2800" dirty="0"/>
          </a:p>
        </p:txBody>
      </p:sp>
      <p:sp>
        <p:nvSpPr>
          <p:cNvPr id="5" name="S12-chip340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까닭을 기준으로 말하기</a:t>
            </a:r>
            <a:endParaRPr lang="ko-KR" sz="2200" dirty="0"/>
          </a:p>
        </p:txBody>
      </p:sp>
      <p:sp>
        <p:nvSpPr>
          <p:cNvPr id="6" name="S12-chip341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항목끼리 꺾은선으로 잇기</a:t>
            </a:r>
            <a:endParaRPr lang="ko-KR" sz="2200" dirty="0"/>
          </a:p>
        </p:txBody>
      </p:sp>
      <p:sp>
        <p:nvSpPr>
          <p:cNvPr id="7" name="S12-text342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2-text343"/>
          <p:cNvSpPr txBox="1"/>
          <p:nvPr/>
        </p:nvSpPr>
        <p:spPr>
          <a:xfrm>
            <a:off x="548640" y="4077208"/>
            <a:ext cx="3544824" cy="200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시간에 따른 변화에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그래프는?</a:t>
            </a:r>
            <a:endParaRPr lang="ko-KR" sz="2200" dirty="0"/>
          </a:p>
        </p:txBody>
      </p:sp>
      <p:sp>
        <p:nvSpPr>
          <p:cNvPr id="9" name="S12-text344"/>
          <p:cNvSpPr txBox="1"/>
          <p:nvPr/>
        </p:nvSpPr>
        <p:spPr>
          <a:xfrm>
            <a:off x="4322064" y="4077208"/>
            <a:ext cx="3544824" cy="200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전체에 대한 비율에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그래프 두 가지는?</a:t>
            </a:r>
            <a:endParaRPr lang="ko-KR" sz="2200" dirty="0"/>
          </a:p>
        </p:txBody>
      </p:sp>
      <p:sp>
        <p:nvSpPr>
          <p:cNvPr id="10" name="S12-text345"/>
          <p:cNvSpPr txBox="1"/>
          <p:nvPr/>
        </p:nvSpPr>
        <p:spPr>
          <a:xfrm>
            <a:off x="8095488" y="4077208"/>
            <a:ext cx="3544824" cy="200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항목끼리 크기를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비교할 때는?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막대와 꺾은선</a:t>
            </a:r>
            <a:endParaRPr lang="ko-KR" sz="4000" dirty="0"/>
          </a:p>
        </p:txBody>
      </p:sp>
      <p:sp>
        <p:nvSpPr>
          <p:cNvPr id="3" name="S13-card346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47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막대그래프는 항목끼리 비교,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꺾은선그래프는 시간에 따른 변화를 보여 줘요.</a:t>
            </a:r>
            <a:endParaRPr lang="ko-KR" sz="2800" dirty="0"/>
          </a:p>
        </p:txBody>
      </p:sp>
      <p:sp>
        <p:nvSpPr>
          <p:cNvPr id="5" name="S13-figure348" descr="막대그래프: 축구 5명, 야구 3명, 농구 4명"/>
          <p:cNvSpPr/>
          <p:nvPr/>
        </p:nvSpPr>
        <p:spPr>
          <a:xfrm>
            <a:off x="2146834" y="2351389"/>
            <a:ext cx="565014" cy="1412534"/>
          </a:xfrm>
          <a:custGeom>
            <a:avLst/>
            <a:gdLst/>
            <a:ahLst/>
            <a:cxnLst/>
            <a:rect l="l" t="t" r="r" b="b"/>
            <a:pathLst>
              <a:path w="565014" h="1412534">
                <a:moveTo>
                  <a:pt x="0" y="1412534"/>
                </a:moveTo>
                <a:lnTo>
                  <a:pt x="565014" y="1412534"/>
                </a:lnTo>
                <a:lnTo>
                  <a:pt x="56501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3-mark349"/>
          <p:cNvSpPr/>
          <p:nvPr/>
        </p:nvSpPr>
        <p:spPr>
          <a:xfrm>
            <a:off x="3276861" y="2916403"/>
            <a:ext cx="565014" cy="847520"/>
          </a:xfrm>
          <a:custGeom>
            <a:avLst/>
            <a:gdLst/>
            <a:ahLst/>
            <a:cxnLst/>
            <a:rect l="l" t="t" r="r" b="b"/>
            <a:pathLst>
              <a:path w="565014" h="847520">
                <a:moveTo>
                  <a:pt x="0" y="847520"/>
                </a:moveTo>
                <a:lnTo>
                  <a:pt x="565014" y="847520"/>
                </a:lnTo>
                <a:lnTo>
                  <a:pt x="56501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mark350"/>
          <p:cNvSpPr/>
          <p:nvPr/>
        </p:nvSpPr>
        <p:spPr>
          <a:xfrm>
            <a:off x="4406888" y="2633896"/>
            <a:ext cx="565014" cy="1130027"/>
          </a:xfrm>
          <a:custGeom>
            <a:avLst/>
            <a:gdLst/>
            <a:ahLst/>
            <a:cxnLst/>
            <a:rect l="l" t="t" r="r" b="b"/>
            <a:pathLst>
              <a:path w="565014" h="1130027">
                <a:moveTo>
                  <a:pt x="0" y="1130027"/>
                </a:moveTo>
                <a:lnTo>
                  <a:pt x="565014" y="1130027"/>
                </a:lnTo>
                <a:lnTo>
                  <a:pt x="56501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mark351"/>
          <p:cNvSpPr/>
          <p:nvPr/>
        </p:nvSpPr>
        <p:spPr>
          <a:xfrm>
            <a:off x="1723074" y="3481416"/>
            <a:ext cx="367258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3-mark352"/>
          <p:cNvSpPr/>
          <p:nvPr/>
        </p:nvSpPr>
        <p:spPr>
          <a:xfrm>
            <a:off x="1723074" y="3198910"/>
            <a:ext cx="367258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3-mark353"/>
          <p:cNvSpPr/>
          <p:nvPr/>
        </p:nvSpPr>
        <p:spPr>
          <a:xfrm>
            <a:off x="1723074" y="2916403"/>
            <a:ext cx="367258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3-mark354"/>
          <p:cNvSpPr/>
          <p:nvPr/>
        </p:nvSpPr>
        <p:spPr>
          <a:xfrm>
            <a:off x="1723074" y="2633896"/>
            <a:ext cx="367258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3-mark355"/>
          <p:cNvSpPr/>
          <p:nvPr/>
        </p:nvSpPr>
        <p:spPr>
          <a:xfrm>
            <a:off x="1723074" y="2351389"/>
            <a:ext cx="367258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3-mark356"/>
          <p:cNvSpPr/>
          <p:nvPr/>
        </p:nvSpPr>
        <p:spPr>
          <a:xfrm>
            <a:off x="1723074" y="2068882"/>
            <a:ext cx="367258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3-mark357"/>
          <p:cNvSpPr/>
          <p:nvPr/>
        </p:nvSpPr>
        <p:spPr>
          <a:xfrm>
            <a:off x="1723074" y="3763923"/>
            <a:ext cx="367258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3-mark358"/>
          <p:cNvSpPr/>
          <p:nvPr/>
        </p:nvSpPr>
        <p:spPr>
          <a:xfrm flipV="1">
            <a:off x="1723074" y="1880545"/>
            <a:ext cx="0" cy="188337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3-label360"/>
          <p:cNvSpPr txBox="1"/>
          <p:nvPr/>
        </p:nvSpPr>
        <p:spPr>
          <a:xfrm>
            <a:off x="1175790" y="358929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17" name="S13-label362"/>
          <p:cNvSpPr txBox="1"/>
          <p:nvPr/>
        </p:nvSpPr>
        <p:spPr>
          <a:xfrm>
            <a:off x="1175790" y="302428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8" name="S13-label364"/>
          <p:cNvSpPr txBox="1"/>
          <p:nvPr/>
        </p:nvSpPr>
        <p:spPr>
          <a:xfrm>
            <a:off x="1175790" y="245927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9" name="S13-label366"/>
          <p:cNvSpPr txBox="1"/>
          <p:nvPr/>
        </p:nvSpPr>
        <p:spPr>
          <a:xfrm>
            <a:off x="1175790" y="189425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20" name="S13-label368"/>
          <p:cNvSpPr txBox="1"/>
          <p:nvPr/>
        </p:nvSpPr>
        <p:spPr>
          <a:xfrm>
            <a:off x="963446" y="1423413"/>
            <a:ext cx="71882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200" dirty="0"/>
          </a:p>
        </p:txBody>
      </p:sp>
      <p:sp>
        <p:nvSpPr>
          <p:cNvPr id="21" name="S13-label370"/>
          <p:cNvSpPr txBox="1"/>
          <p:nvPr/>
        </p:nvSpPr>
        <p:spPr>
          <a:xfrm>
            <a:off x="2100665" y="389534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200" dirty="0"/>
          </a:p>
        </p:txBody>
      </p:sp>
      <p:sp>
        <p:nvSpPr>
          <p:cNvPr id="22" name="S13-label372"/>
          <p:cNvSpPr txBox="1"/>
          <p:nvPr/>
        </p:nvSpPr>
        <p:spPr>
          <a:xfrm>
            <a:off x="3230692" y="389534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200" dirty="0"/>
          </a:p>
        </p:txBody>
      </p:sp>
      <p:sp>
        <p:nvSpPr>
          <p:cNvPr id="23" name="S13-label374"/>
          <p:cNvSpPr txBox="1"/>
          <p:nvPr/>
        </p:nvSpPr>
        <p:spPr>
          <a:xfrm>
            <a:off x="4360719" y="3895347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</a:t>
            </a:r>
            <a:endParaRPr lang="ko-KR" sz="2200" dirty="0"/>
          </a:p>
        </p:txBody>
      </p:sp>
      <p:sp>
        <p:nvSpPr>
          <p:cNvPr id="24" name="S13-label375"/>
          <p:cNvSpPr txBox="1"/>
          <p:nvPr/>
        </p:nvSpPr>
        <p:spPr>
          <a:xfrm>
            <a:off x="548640" y="4415282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막대그래프: 비교</a:t>
            </a:r>
            <a:endParaRPr lang="ko-KR" sz="2200" dirty="0"/>
          </a:p>
        </p:txBody>
      </p:sp>
      <p:sp>
        <p:nvSpPr>
          <p:cNvPr id="25" name="S13-figure376" descr="꺾은선그래프: 1주 2 cm, 2주 3 cm, 3주 5 cm, 4주 6 cm"/>
          <p:cNvSpPr/>
          <p:nvPr/>
        </p:nvSpPr>
        <p:spPr>
          <a:xfrm>
            <a:off x="7648411" y="2112342"/>
            <a:ext cx="3197521" cy="1065840"/>
          </a:xfrm>
          <a:custGeom>
            <a:avLst/>
            <a:gdLst/>
            <a:ahLst/>
            <a:cxnLst/>
            <a:rect l="l" t="t" r="r" b="b"/>
            <a:pathLst>
              <a:path w="3197521" h="1065840">
                <a:moveTo>
                  <a:pt x="0" y="1065840"/>
                </a:moveTo>
                <a:lnTo>
                  <a:pt x="1065840" y="799380"/>
                </a:lnTo>
                <a:lnTo>
                  <a:pt x="2131680" y="266460"/>
                </a:lnTo>
                <a:lnTo>
                  <a:pt x="3197521" y="0"/>
                </a:lnTo>
              </a:path>
            </a:pathLst>
          </a:custGeom>
          <a:noFill/>
          <a:ln w="38100">
            <a:solidFill>
              <a:srgbClr val="E9762B"/>
            </a:solidFill>
            <a:prstDash val="solid"/>
          </a:ln>
        </p:spPr>
      </p:sp>
      <p:sp>
        <p:nvSpPr>
          <p:cNvPr id="26" name="S13-mark377"/>
          <p:cNvSpPr/>
          <p:nvPr/>
        </p:nvSpPr>
        <p:spPr>
          <a:xfrm flipV="1">
            <a:off x="7648411" y="2112342"/>
            <a:ext cx="0" cy="159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3-mark378"/>
          <p:cNvSpPr/>
          <p:nvPr/>
        </p:nvSpPr>
        <p:spPr>
          <a:xfrm flipV="1">
            <a:off x="8714251" y="2112342"/>
            <a:ext cx="0" cy="159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3-mark379"/>
          <p:cNvSpPr/>
          <p:nvPr/>
        </p:nvSpPr>
        <p:spPr>
          <a:xfrm flipV="1">
            <a:off x="9780092" y="2112342"/>
            <a:ext cx="0" cy="159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3-mark380"/>
          <p:cNvSpPr/>
          <p:nvPr/>
        </p:nvSpPr>
        <p:spPr>
          <a:xfrm flipV="1">
            <a:off x="10845932" y="2112342"/>
            <a:ext cx="0" cy="159876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3-mark381"/>
          <p:cNvSpPr/>
          <p:nvPr/>
        </p:nvSpPr>
        <p:spPr>
          <a:xfrm>
            <a:off x="6982261" y="3444643"/>
            <a:ext cx="452982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3-mark382"/>
          <p:cNvSpPr/>
          <p:nvPr/>
        </p:nvSpPr>
        <p:spPr>
          <a:xfrm>
            <a:off x="6982261" y="3178183"/>
            <a:ext cx="452982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3-mark383"/>
          <p:cNvSpPr/>
          <p:nvPr/>
        </p:nvSpPr>
        <p:spPr>
          <a:xfrm>
            <a:off x="6982261" y="2911723"/>
            <a:ext cx="452982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3-mark384"/>
          <p:cNvSpPr/>
          <p:nvPr/>
        </p:nvSpPr>
        <p:spPr>
          <a:xfrm>
            <a:off x="6982261" y="2645262"/>
            <a:ext cx="452982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3-mark385"/>
          <p:cNvSpPr/>
          <p:nvPr/>
        </p:nvSpPr>
        <p:spPr>
          <a:xfrm>
            <a:off x="6982261" y="2378802"/>
            <a:ext cx="452982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3-mark386"/>
          <p:cNvSpPr/>
          <p:nvPr/>
        </p:nvSpPr>
        <p:spPr>
          <a:xfrm>
            <a:off x="6982261" y="2112342"/>
            <a:ext cx="4529821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3-mark387"/>
          <p:cNvSpPr/>
          <p:nvPr/>
        </p:nvSpPr>
        <p:spPr>
          <a:xfrm>
            <a:off x="6982261" y="3711103"/>
            <a:ext cx="4529821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7" name="S13-mark388"/>
          <p:cNvSpPr/>
          <p:nvPr/>
        </p:nvSpPr>
        <p:spPr>
          <a:xfrm flipV="1">
            <a:off x="6982261" y="1934702"/>
            <a:ext cx="0" cy="177640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8" name="S13-mark389"/>
          <p:cNvSpPr/>
          <p:nvPr/>
        </p:nvSpPr>
        <p:spPr>
          <a:xfrm>
            <a:off x="7588975" y="311874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mark390"/>
          <p:cNvSpPr/>
          <p:nvPr/>
        </p:nvSpPr>
        <p:spPr>
          <a:xfrm>
            <a:off x="8654815" y="2852287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mark391"/>
          <p:cNvSpPr/>
          <p:nvPr/>
        </p:nvSpPr>
        <p:spPr>
          <a:xfrm>
            <a:off x="9720656" y="231936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mark392"/>
          <p:cNvSpPr/>
          <p:nvPr/>
        </p:nvSpPr>
        <p:spPr>
          <a:xfrm>
            <a:off x="10786496" y="2052906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3-label394"/>
          <p:cNvSpPr txBox="1"/>
          <p:nvPr/>
        </p:nvSpPr>
        <p:spPr>
          <a:xfrm>
            <a:off x="6457710" y="353647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3" name="S13-label396"/>
          <p:cNvSpPr txBox="1"/>
          <p:nvPr/>
        </p:nvSpPr>
        <p:spPr>
          <a:xfrm>
            <a:off x="6457710" y="3003558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44" name="S13-label398"/>
          <p:cNvSpPr txBox="1"/>
          <p:nvPr/>
        </p:nvSpPr>
        <p:spPr>
          <a:xfrm>
            <a:off x="6457710" y="247063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45" name="S13-label400"/>
          <p:cNvSpPr txBox="1"/>
          <p:nvPr/>
        </p:nvSpPr>
        <p:spPr>
          <a:xfrm>
            <a:off x="6457710" y="193771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46" name="S13-label402"/>
          <p:cNvSpPr txBox="1"/>
          <p:nvPr/>
        </p:nvSpPr>
        <p:spPr>
          <a:xfrm>
            <a:off x="6189486" y="1493617"/>
            <a:ext cx="8305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(cm)</a:t>
            </a:r>
            <a:endParaRPr lang="ko-KR" sz="2200" dirty="0"/>
          </a:p>
        </p:txBody>
      </p:sp>
      <p:sp>
        <p:nvSpPr>
          <p:cNvPr id="47" name="S13-label404"/>
          <p:cNvSpPr txBox="1"/>
          <p:nvPr/>
        </p:nvSpPr>
        <p:spPr>
          <a:xfrm>
            <a:off x="7364439" y="382514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</a:t>
            </a:r>
            <a:endParaRPr lang="ko-KR" sz="2200" dirty="0"/>
          </a:p>
        </p:txBody>
      </p:sp>
      <p:sp>
        <p:nvSpPr>
          <p:cNvPr id="48" name="S13-label406"/>
          <p:cNvSpPr txBox="1"/>
          <p:nvPr/>
        </p:nvSpPr>
        <p:spPr>
          <a:xfrm>
            <a:off x="8430279" y="382514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</a:t>
            </a:r>
            <a:endParaRPr lang="ko-KR" sz="2200" dirty="0"/>
          </a:p>
        </p:txBody>
      </p:sp>
      <p:sp>
        <p:nvSpPr>
          <p:cNvPr id="49" name="S13-label408"/>
          <p:cNvSpPr txBox="1"/>
          <p:nvPr/>
        </p:nvSpPr>
        <p:spPr>
          <a:xfrm>
            <a:off x="9496120" y="382514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</a:t>
            </a:r>
            <a:endParaRPr lang="ko-KR" sz="2200" dirty="0"/>
          </a:p>
        </p:txBody>
      </p:sp>
      <p:sp>
        <p:nvSpPr>
          <p:cNvPr id="50" name="S13-label410"/>
          <p:cNvSpPr txBox="1"/>
          <p:nvPr/>
        </p:nvSpPr>
        <p:spPr>
          <a:xfrm>
            <a:off x="10561960" y="3825143"/>
            <a:ext cx="56794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4주</a:t>
            </a:r>
            <a:endParaRPr lang="ko-KR" sz="2200" dirty="0"/>
          </a:p>
        </p:txBody>
      </p:sp>
      <p:sp>
        <p:nvSpPr>
          <p:cNvPr id="51" name="S13-label411"/>
          <p:cNvSpPr txBox="1"/>
          <p:nvPr/>
        </p:nvSpPr>
        <p:spPr>
          <a:xfrm>
            <a:off x="6254496" y="4415282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꺾은선그래프: 변화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알맞은 그래프 고르기</dc:title>
  <dc:subject>KR22-G06-MAT-GRAPHS-L01</dc:subject>
  <dc:creator>education-ppt</dc:creator>
  <cp:lastModifiedBy>education-ppt</cp:lastModifiedBy>
  <cp:revision>1</cp:revision>
  <dcterms:created xsi:type="dcterms:W3CDTF">2026-10-26T09:43:57Z</dcterms:created>
  <dcterms:modified xsi:type="dcterms:W3CDTF">2026-10-26T09:43:57Z</dcterms:modified>
</cp:coreProperties>
</file>