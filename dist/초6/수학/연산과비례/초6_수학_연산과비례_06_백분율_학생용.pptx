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c815f29-483a-cc13-3e72-7e5f2558bca6}">
          <p14:sldIdLst>
            <p14:sldId id="256"/>
            <p14:sldId id="257"/>
          </p14:sldIdLst>
        </p14:section>
        <p14:section name="개념" id="{2cb0d46a-4557-e2ed-3921-4632c08c1523}">
          <p14:sldIdLst>
            <p14:sldId id="258"/>
            <p14:sldId id="259"/>
            <p14:sldId id="262"/>
            <p14:sldId id="263"/>
          </p14:sldIdLst>
        </p14:section>
        <p14:section name="연습" id="{6be01892-93c0-2672-ea58-4d2d3d624591}">
          <p14:sldIdLst>
            <p14:sldId id="260"/>
            <p14:sldId id="261"/>
            <p14:sldId id="264"/>
            <p14:sldId id="265"/>
          </p14:sldIdLst>
        </p14:section>
        <p14:section name="개념" id="{8badf244-fa98-03a3-304a-84d1545e7d2d}">
          <p14:sldIdLst/>
        </p14:section>
        <p14:section name="연습" id="{bc2c8394-6bef-f257-3699-06cc68787048}">
          <p14:sldIdLst/>
        </p14:section>
        <p14:section name="확인" id="{b9e9817e-9d86-357d-a5db-5a5b9510c50e}">
          <p14:sldIdLst>
            <p14:sldId id="266"/>
            <p14:sldId id="267"/>
          </p14:sldIdLst>
        </p14:section>
        <p14:section name="정리" id="{1a63d84b-a1e8-71f3-016d-d7a7bd9bc486}">
          <p14:sldIdLst>
            <p14:sldId id="268"/>
          </p14:sldIdLst>
        </p14:section>
        <p14:section name="보충" id="{26c384a4-2801-f261-21d8-06438769f23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백분율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백분율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백분율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티셔츠를 20 % 할인해서 판대요.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싸질까?</a:t>
            </a:r>
            <a:endParaRPr lang="ko-KR" sz="2800" dirty="0"/>
          </a:p>
        </p:txBody>
      </p:sp>
      <p:sp>
        <p:nvSpPr>
          <p:cNvPr id="4" name="S01-cell1"/>
          <p:cNvSpPr/>
          <p:nvPr/>
        </p:nvSpPr>
        <p:spPr>
          <a:xfrm>
            <a:off x="8183880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476488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769096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9061704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354312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9646920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9939528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232136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524744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10817352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183880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476488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769096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cell14"/>
          <p:cNvSpPr/>
          <p:nvPr/>
        </p:nvSpPr>
        <p:spPr>
          <a:xfrm>
            <a:off x="9061704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354312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9646920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9939528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10232136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524744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10817352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cell21"/>
          <p:cNvSpPr/>
          <p:nvPr/>
        </p:nvSpPr>
        <p:spPr>
          <a:xfrm>
            <a:off x="8183880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8476488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8769096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9061704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9354312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9646920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9939528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0232136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cell29"/>
          <p:cNvSpPr/>
          <p:nvPr/>
        </p:nvSpPr>
        <p:spPr>
          <a:xfrm>
            <a:off x="10524744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1-cell30"/>
          <p:cNvSpPr/>
          <p:nvPr/>
        </p:nvSpPr>
        <p:spPr>
          <a:xfrm>
            <a:off x="10817352" y="122529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1-cell31"/>
          <p:cNvSpPr/>
          <p:nvPr/>
        </p:nvSpPr>
        <p:spPr>
          <a:xfrm>
            <a:off x="8183880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cell32"/>
          <p:cNvSpPr/>
          <p:nvPr/>
        </p:nvSpPr>
        <p:spPr>
          <a:xfrm>
            <a:off x="8476488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1-cell33"/>
          <p:cNvSpPr/>
          <p:nvPr/>
        </p:nvSpPr>
        <p:spPr>
          <a:xfrm>
            <a:off x="8769096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1-cell34"/>
          <p:cNvSpPr/>
          <p:nvPr/>
        </p:nvSpPr>
        <p:spPr>
          <a:xfrm>
            <a:off x="9061704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1-cell35"/>
          <p:cNvSpPr/>
          <p:nvPr/>
        </p:nvSpPr>
        <p:spPr>
          <a:xfrm>
            <a:off x="9354312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1-cell36"/>
          <p:cNvSpPr/>
          <p:nvPr/>
        </p:nvSpPr>
        <p:spPr>
          <a:xfrm>
            <a:off x="9646920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1-cell37"/>
          <p:cNvSpPr/>
          <p:nvPr/>
        </p:nvSpPr>
        <p:spPr>
          <a:xfrm>
            <a:off x="9939528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1-cell38"/>
          <p:cNvSpPr/>
          <p:nvPr/>
        </p:nvSpPr>
        <p:spPr>
          <a:xfrm>
            <a:off x="10232136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1-cell39"/>
          <p:cNvSpPr/>
          <p:nvPr/>
        </p:nvSpPr>
        <p:spPr>
          <a:xfrm>
            <a:off x="10524744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1-cell40"/>
          <p:cNvSpPr/>
          <p:nvPr/>
        </p:nvSpPr>
        <p:spPr>
          <a:xfrm>
            <a:off x="10817352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1-cell41"/>
          <p:cNvSpPr/>
          <p:nvPr/>
        </p:nvSpPr>
        <p:spPr>
          <a:xfrm>
            <a:off x="8183880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1-cell42"/>
          <p:cNvSpPr/>
          <p:nvPr/>
        </p:nvSpPr>
        <p:spPr>
          <a:xfrm>
            <a:off x="8476488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1-cell43"/>
          <p:cNvSpPr/>
          <p:nvPr/>
        </p:nvSpPr>
        <p:spPr>
          <a:xfrm>
            <a:off x="8769096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1-cell44"/>
          <p:cNvSpPr/>
          <p:nvPr/>
        </p:nvSpPr>
        <p:spPr>
          <a:xfrm>
            <a:off x="9061704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1-cell45"/>
          <p:cNvSpPr/>
          <p:nvPr/>
        </p:nvSpPr>
        <p:spPr>
          <a:xfrm>
            <a:off x="9354312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1-cell46"/>
          <p:cNvSpPr/>
          <p:nvPr/>
        </p:nvSpPr>
        <p:spPr>
          <a:xfrm>
            <a:off x="9646920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1-cell47"/>
          <p:cNvSpPr/>
          <p:nvPr/>
        </p:nvSpPr>
        <p:spPr>
          <a:xfrm>
            <a:off x="9939528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1-cell48"/>
          <p:cNvSpPr/>
          <p:nvPr/>
        </p:nvSpPr>
        <p:spPr>
          <a:xfrm>
            <a:off x="10232136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1-cell49"/>
          <p:cNvSpPr/>
          <p:nvPr/>
        </p:nvSpPr>
        <p:spPr>
          <a:xfrm>
            <a:off x="10524744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1-cell50"/>
          <p:cNvSpPr/>
          <p:nvPr/>
        </p:nvSpPr>
        <p:spPr>
          <a:xfrm>
            <a:off x="10817352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1-cell51"/>
          <p:cNvSpPr/>
          <p:nvPr/>
        </p:nvSpPr>
        <p:spPr>
          <a:xfrm>
            <a:off x="8183880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1-cell52"/>
          <p:cNvSpPr/>
          <p:nvPr/>
        </p:nvSpPr>
        <p:spPr>
          <a:xfrm>
            <a:off x="8476488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1-cell53"/>
          <p:cNvSpPr/>
          <p:nvPr/>
        </p:nvSpPr>
        <p:spPr>
          <a:xfrm>
            <a:off x="8769096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1-cell54"/>
          <p:cNvSpPr/>
          <p:nvPr/>
        </p:nvSpPr>
        <p:spPr>
          <a:xfrm>
            <a:off x="9061704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1-cell55"/>
          <p:cNvSpPr/>
          <p:nvPr/>
        </p:nvSpPr>
        <p:spPr>
          <a:xfrm>
            <a:off x="9354312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1-cell56"/>
          <p:cNvSpPr/>
          <p:nvPr/>
        </p:nvSpPr>
        <p:spPr>
          <a:xfrm>
            <a:off x="9646920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1-cell57"/>
          <p:cNvSpPr/>
          <p:nvPr/>
        </p:nvSpPr>
        <p:spPr>
          <a:xfrm>
            <a:off x="9939528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1-cell58"/>
          <p:cNvSpPr/>
          <p:nvPr/>
        </p:nvSpPr>
        <p:spPr>
          <a:xfrm>
            <a:off x="10232136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1-cell59"/>
          <p:cNvSpPr/>
          <p:nvPr/>
        </p:nvSpPr>
        <p:spPr>
          <a:xfrm>
            <a:off x="10524744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1-cell60"/>
          <p:cNvSpPr/>
          <p:nvPr/>
        </p:nvSpPr>
        <p:spPr>
          <a:xfrm>
            <a:off x="10817352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1-cell61"/>
          <p:cNvSpPr/>
          <p:nvPr/>
        </p:nvSpPr>
        <p:spPr>
          <a:xfrm>
            <a:off x="8183880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1-cell62"/>
          <p:cNvSpPr/>
          <p:nvPr/>
        </p:nvSpPr>
        <p:spPr>
          <a:xfrm>
            <a:off x="8476488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1-cell63"/>
          <p:cNvSpPr/>
          <p:nvPr/>
        </p:nvSpPr>
        <p:spPr>
          <a:xfrm>
            <a:off x="8769096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1-cell64"/>
          <p:cNvSpPr/>
          <p:nvPr/>
        </p:nvSpPr>
        <p:spPr>
          <a:xfrm>
            <a:off x="9061704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1-cell65"/>
          <p:cNvSpPr/>
          <p:nvPr/>
        </p:nvSpPr>
        <p:spPr>
          <a:xfrm>
            <a:off x="9354312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1-cell66"/>
          <p:cNvSpPr/>
          <p:nvPr/>
        </p:nvSpPr>
        <p:spPr>
          <a:xfrm>
            <a:off x="9646920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1-cell67"/>
          <p:cNvSpPr/>
          <p:nvPr/>
        </p:nvSpPr>
        <p:spPr>
          <a:xfrm>
            <a:off x="9939528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1-cell68"/>
          <p:cNvSpPr/>
          <p:nvPr/>
        </p:nvSpPr>
        <p:spPr>
          <a:xfrm>
            <a:off x="10232136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1-cell69"/>
          <p:cNvSpPr/>
          <p:nvPr/>
        </p:nvSpPr>
        <p:spPr>
          <a:xfrm>
            <a:off x="10524744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1-cell70"/>
          <p:cNvSpPr/>
          <p:nvPr/>
        </p:nvSpPr>
        <p:spPr>
          <a:xfrm>
            <a:off x="10817352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1-cell71"/>
          <p:cNvSpPr/>
          <p:nvPr/>
        </p:nvSpPr>
        <p:spPr>
          <a:xfrm>
            <a:off x="8183880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1-cell72"/>
          <p:cNvSpPr/>
          <p:nvPr/>
        </p:nvSpPr>
        <p:spPr>
          <a:xfrm>
            <a:off x="8476488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1-cell73"/>
          <p:cNvSpPr/>
          <p:nvPr/>
        </p:nvSpPr>
        <p:spPr>
          <a:xfrm>
            <a:off x="8769096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1-cell74"/>
          <p:cNvSpPr/>
          <p:nvPr/>
        </p:nvSpPr>
        <p:spPr>
          <a:xfrm>
            <a:off x="9061704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1-cell75"/>
          <p:cNvSpPr/>
          <p:nvPr/>
        </p:nvSpPr>
        <p:spPr>
          <a:xfrm>
            <a:off x="9354312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1-cell76"/>
          <p:cNvSpPr/>
          <p:nvPr/>
        </p:nvSpPr>
        <p:spPr>
          <a:xfrm>
            <a:off x="9646920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1-cell77"/>
          <p:cNvSpPr/>
          <p:nvPr/>
        </p:nvSpPr>
        <p:spPr>
          <a:xfrm>
            <a:off x="9939528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1-cell78"/>
          <p:cNvSpPr/>
          <p:nvPr/>
        </p:nvSpPr>
        <p:spPr>
          <a:xfrm>
            <a:off x="10232136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1-cell79"/>
          <p:cNvSpPr/>
          <p:nvPr/>
        </p:nvSpPr>
        <p:spPr>
          <a:xfrm>
            <a:off x="10524744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1-cell80"/>
          <p:cNvSpPr/>
          <p:nvPr/>
        </p:nvSpPr>
        <p:spPr>
          <a:xfrm>
            <a:off x="10817352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1-cell81"/>
          <p:cNvSpPr/>
          <p:nvPr/>
        </p:nvSpPr>
        <p:spPr>
          <a:xfrm>
            <a:off x="8183880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1-cell82"/>
          <p:cNvSpPr/>
          <p:nvPr/>
        </p:nvSpPr>
        <p:spPr>
          <a:xfrm>
            <a:off x="8476488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1-cell83"/>
          <p:cNvSpPr/>
          <p:nvPr/>
        </p:nvSpPr>
        <p:spPr>
          <a:xfrm>
            <a:off x="8769096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1-cell84"/>
          <p:cNvSpPr/>
          <p:nvPr/>
        </p:nvSpPr>
        <p:spPr>
          <a:xfrm>
            <a:off x="9061704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1-cell85"/>
          <p:cNvSpPr/>
          <p:nvPr/>
        </p:nvSpPr>
        <p:spPr>
          <a:xfrm>
            <a:off x="9354312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1-cell86"/>
          <p:cNvSpPr/>
          <p:nvPr/>
        </p:nvSpPr>
        <p:spPr>
          <a:xfrm>
            <a:off x="9646920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1-cell87"/>
          <p:cNvSpPr/>
          <p:nvPr/>
        </p:nvSpPr>
        <p:spPr>
          <a:xfrm>
            <a:off x="9939528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1-cell88"/>
          <p:cNvSpPr/>
          <p:nvPr/>
        </p:nvSpPr>
        <p:spPr>
          <a:xfrm>
            <a:off x="10232136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1-cell89"/>
          <p:cNvSpPr/>
          <p:nvPr/>
        </p:nvSpPr>
        <p:spPr>
          <a:xfrm>
            <a:off x="10524744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1-cell90"/>
          <p:cNvSpPr/>
          <p:nvPr/>
        </p:nvSpPr>
        <p:spPr>
          <a:xfrm>
            <a:off x="10817352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1-cell91"/>
          <p:cNvSpPr/>
          <p:nvPr/>
        </p:nvSpPr>
        <p:spPr>
          <a:xfrm>
            <a:off x="8183880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1-cell92"/>
          <p:cNvSpPr/>
          <p:nvPr/>
        </p:nvSpPr>
        <p:spPr>
          <a:xfrm>
            <a:off x="8476488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1-cell93"/>
          <p:cNvSpPr/>
          <p:nvPr/>
        </p:nvSpPr>
        <p:spPr>
          <a:xfrm>
            <a:off x="8769096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1-cell94"/>
          <p:cNvSpPr/>
          <p:nvPr/>
        </p:nvSpPr>
        <p:spPr>
          <a:xfrm>
            <a:off x="9061704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1-cell95"/>
          <p:cNvSpPr/>
          <p:nvPr/>
        </p:nvSpPr>
        <p:spPr>
          <a:xfrm>
            <a:off x="9354312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1-cell96"/>
          <p:cNvSpPr/>
          <p:nvPr/>
        </p:nvSpPr>
        <p:spPr>
          <a:xfrm>
            <a:off x="9646920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1-cell97"/>
          <p:cNvSpPr/>
          <p:nvPr/>
        </p:nvSpPr>
        <p:spPr>
          <a:xfrm>
            <a:off x="9939528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1-cell98"/>
          <p:cNvSpPr/>
          <p:nvPr/>
        </p:nvSpPr>
        <p:spPr>
          <a:xfrm>
            <a:off x="10232136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1-cell99"/>
          <p:cNvSpPr/>
          <p:nvPr/>
        </p:nvSpPr>
        <p:spPr>
          <a:xfrm>
            <a:off x="10524744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1-cell100"/>
          <p:cNvSpPr/>
          <p:nvPr/>
        </p:nvSpPr>
        <p:spPr>
          <a:xfrm>
            <a:off x="10817352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1-figure101" descr="100칸 중 20칸 색칠"/>
          <p:cNvSpPr/>
          <p:nvPr/>
        </p:nvSpPr>
        <p:spPr>
          <a:xfrm>
            <a:off x="8183880" y="640080"/>
            <a:ext cx="29260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5" name="S01-card10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6" name="S01-cardtext10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비율을 백분율로 나타내요.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할인율, 득표율을 구하고 해석해요.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0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0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20의 비율을 분수로</a:t>
            </a:r>
            <a:endParaRPr lang="ko-KR" sz="2800" dirty="0"/>
          </a:p>
        </p:txBody>
      </p:sp>
      <p:sp>
        <p:nvSpPr>
          <p:cNvPr id="5" name="S02-chip10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0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20의 비율을 소수로</a:t>
            </a:r>
            <a:endParaRPr lang="ko-KR" sz="2800" dirty="0"/>
          </a:p>
        </p:txBody>
      </p:sp>
      <p:sp>
        <p:nvSpPr>
          <p:cNvPr id="7" name="S02-chip10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0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4에 대한 1의 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</a:t>
            </a:r>
            <a:endParaRPr lang="ko-KR" sz="4000" dirty="0"/>
          </a:p>
        </p:txBody>
      </p:sp>
      <p:sp>
        <p:nvSpPr>
          <p:cNvPr id="3" name="S03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100칸 중 37칸을 색칠했어요.</a:t>
            </a:r>
            <a:endParaRPr lang="ko-KR" sz="2800" dirty="0"/>
          </a:p>
        </p:txBody>
      </p:sp>
      <p:sp>
        <p:nvSpPr>
          <p:cNvPr id="4" name="S03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기준량을 100으로 할 때의 비율을 백분율이라고 해요.</a:t>
            </a:r>
            <a:endParaRPr lang="ko-KR" sz="2800" dirty="0"/>
          </a:p>
        </p:txBody>
      </p:sp>
      <p:sp>
        <p:nvSpPr>
          <p:cNvPr id="6" name="S03-cell113"/>
          <p:cNvSpPr/>
          <p:nvPr/>
        </p:nvSpPr>
        <p:spPr>
          <a:xfrm>
            <a:off x="1246602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cell114"/>
          <p:cNvSpPr/>
          <p:nvPr/>
        </p:nvSpPr>
        <p:spPr>
          <a:xfrm>
            <a:off x="1557498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cell115"/>
          <p:cNvSpPr/>
          <p:nvPr/>
        </p:nvSpPr>
        <p:spPr>
          <a:xfrm>
            <a:off x="1868394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cell116"/>
          <p:cNvSpPr/>
          <p:nvPr/>
        </p:nvSpPr>
        <p:spPr>
          <a:xfrm>
            <a:off x="2179290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117"/>
          <p:cNvSpPr/>
          <p:nvPr/>
        </p:nvSpPr>
        <p:spPr>
          <a:xfrm>
            <a:off x="2490186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118"/>
          <p:cNvSpPr/>
          <p:nvPr/>
        </p:nvSpPr>
        <p:spPr>
          <a:xfrm>
            <a:off x="2801082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119"/>
          <p:cNvSpPr/>
          <p:nvPr/>
        </p:nvSpPr>
        <p:spPr>
          <a:xfrm>
            <a:off x="3111978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120"/>
          <p:cNvSpPr/>
          <p:nvPr/>
        </p:nvSpPr>
        <p:spPr>
          <a:xfrm>
            <a:off x="3422874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121"/>
          <p:cNvSpPr/>
          <p:nvPr/>
        </p:nvSpPr>
        <p:spPr>
          <a:xfrm>
            <a:off x="3733770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122"/>
          <p:cNvSpPr/>
          <p:nvPr/>
        </p:nvSpPr>
        <p:spPr>
          <a:xfrm>
            <a:off x="4044666" y="2011680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123"/>
          <p:cNvSpPr/>
          <p:nvPr/>
        </p:nvSpPr>
        <p:spPr>
          <a:xfrm>
            <a:off x="1246602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124"/>
          <p:cNvSpPr/>
          <p:nvPr/>
        </p:nvSpPr>
        <p:spPr>
          <a:xfrm>
            <a:off x="1557498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125"/>
          <p:cNvSpPr/>
          <p:nvPr/>
        </p:nvSpPr>
        <p:spPr>
          <a:xfrm>
            <a:off x="1868394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126"/>
          <p:cNvSpPr/>
          <p:nvPr/>
        </p:nvSpPr>
        <p:spPr>
          <a:xfrm>
            <a:off x="2179290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127"/>
          <p:cNvSpPr/>
          <p:nvPr/>
        </p:nvSpPr>
        <p:spPr>
          <a:xfrm>
            <a:off x="2490186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128"/>
          <p:cNvSpPr/>
          <p:nvPr/>
        </p:nvSpPr>
        <p:spPr>
          <a:xfrm>
            <a:off x="2801082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129"/>
          <p:cNvSpPr/>
          <p:nvPr/>
        </p:nvSpPr>
        <p:spPr>
          <a:xfrm>
            <a:off x="3111978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130"/>
          <p:cNvSpPr/>
          <p:nvPr/>
        </p:nvSpPr>
        <p:spPr>
          <a:xfrm>
            <a:off x="3422874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131"/>
          <p:cNvSpPr/>
          <p:nvPr/>
        </p:nvSpPr>
        <p:spPr>
          <a:xfrm>
            <a:off x="3733770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132"/>
          <p:cNvSpPr/>
          <p:nvPr/>
        </p:nvSpPr>
        <p:spPr>
          <a:xfrm>
            <a:off x="4044666" y="2322576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133"/>
          <p:cNvSpPr/>
          <p:nvPr/>
        </p:nvSpPr>
        <p:spPr>
          <a:xfrm>
            <a:off x="1246602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cell134"/>
          <p:cNvSpPr/>
          <p:nvPr/>
        </p:nvSpPr>
        <p:spPr>
          <a:xfrm>
            <a:off x="1557498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135"/>
          <p:cNvSpPr/>
          <p:nvPr/>
        </p:nvSpPr>
        <p:spPr>
          <a:xfrm>
            <a:off x="1868394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136"/>
          <p:cNvSpPr/>
          <p:nvPr/>
        </p:nvSpPr>
        <p:spPr>
          <a:xfrm>
            <a:off x="2179290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137"/>
          <p:cNvSpPr/>
          <p:nvPr/>
        </p:nvSpPr>
        <p:spPr>
          <a:xfrm>
            <a:off x="2490186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138"/>
          <p:cNvSpPr/>
          <p:nvPr/>
        </p:nvSpPr>
        <p:spPr>
          <a:xfrm>
            <a:off x="2801082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139"/>
          <p:cNvSpPr/>
          <p:nvPr/>
        </p:nvSpPr>
        <p:spPr>
          <a:xfrm>
            <a:off x="3111978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140"/>
          <p:cNvSpPr/>
          <p:nvPr/>
        </p:nvSpPr>
        <p:spPr>
          <a:xfrm>
            <a:off x="3422874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141"/>
          <p:cNvSpPr/>
          <p:nvPr/>
        </p:nvSpPr>
        <p:spPr>
          <a:xfrm>
            <a:off x="3733770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142"/>
          <p:cNvSpPr/>
          <p:nvPr/>
        </p:nvSpPr>
        <p:spPr>
          <a:xfrm>
            <a:off x="4044666" y="2633472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143"/>
          <p:cNvSpPr/>
          <p:nvPr/>
        </p:nvSpPr>
        <p:spPr>
          <a:xfrm>
            <a:off x="1246602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144"/>
          <p:cNvSpPr/>
          <p:nvPr/>
        </p:nvSpPr>
        <p:spPr>
          <a:xfrm>
            <a:off x="1557498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145"/>
          <p:cNvSpPr/>
          <p:nvPr/>
        </p:nvSpPr>
        <p:spPr>
          <a:xfrm>
            <a:off x="1868394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146"/>
          <p:cNvSpPr/>
          <p:nvPr/>
        </p:nvSpPr>
        <p:spPr>
          <a:xfrm>
            <a:off x="2179290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cell147"/>
          <p:cNvSpPr/>
          <p:nvPr/>
        </p:nvSpPr>
        <p:spPr>
          <a:xfrm>
            <a:off x="2490186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cell148"/>
          <p:cNvSpPr/>
          <p:nvPr/>
        </p:nvSpPr>
        <p:spPr>
          <a:xfrm>
            <a:off x="2801082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cell149"/>
          <p:cNvSpPr/>
          <p:nvPr/>
        </p:nvSpPr>
        <p:spPr>
          <a:xfrm>
            <a:off x="3111978" y="2944368"/>
            <a:ext cx="310896" cy="31089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cell150"/>
          <p:cNvSpPr/>
          <p:nvPr/>
        </p:nvSpPr>
        <p:spPr>
          <a:xfrm>
            <a:off x="3422874" y="294436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cell151"/>
          <p:cNvSpPr/>
          <p:nvPr/>
        </p:nvSpPr>
        <p:spPr>
          <a:xfrm>
            <a:off x="3733770" y="294436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cell152"/>
          <p:cNvSpPr/>
          <p:nvPr/>
        </p:nvSpPr>
        <p:spPr>
          <a:xfrm>
            <a:off x="4044666" y="294436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153"/>
          <p:cNvSpPr/>
          <p:nvPr/>
        </p:nvSpPr>
        <p:spPr>
          <a:xfrm>
            <a:off x="1246602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154"/>
          <p:cNvSpPr/>
          <p:nvPr/>
        </p:nvSpPr>
        <p:spPr>
          <a:xfrm>
            <a:off x="1557498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155"/>
          <p:cNvSpPr/>
          <p:nvPr/>
        </p:nvSpPr>
        <p:spPr>
          <a:xfrm>
            <a:off x="1868394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156"/>
          <p:cNvSpPr/>
          <p:nvPr/>
        </p:nvSpPr>
        <p:spPr>
          <a:xfrm>
            <a:off x="2179290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cell157"/>
          <p:cNvSpPr/>
          <p:nvPr/>
        </p:nvSpPr>
        <p:spPr>
          <a:xfrm>
            <a:off x="2490186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cell158"/>
          <p:cNvSpPr/>
          <p:nvPr/>
        </p:nvSpPr>
        <p:spPr>
          <a:xfrm>
            <a:off x="2801082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cell159"/>
          <p:cNvSpPr/>
          <p:nvPr/>
        </p:nvSpPr>
        <p:spPr>
          <a:xfrm>
            <a:off x="3111978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3-cell160"/>
          <p:cNvSpPr/>
          <p:nvPr/>
        </p:nvSpPr>
        <p:spPr>
          <a:xfrm>
            <a:off x="3422874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3-cell161"/>
          <p:cNvSpPr/>
          <p:nvPr/>
        </p:nvSpPr>
        <p:spPr>
          <a:xfrm>
            <a:off x="3733770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3-cell162"/>
          <p:cNvSpPr/>
          <p:nvPr/>
        </p:nvSpPr>
        <p:spPr>
          <a:xfrm>
            <a:off x="4044666" y="325526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cell163"/>
          <p:cNvSpPr/>
          <p:nvPr/>
        </p:nvSpPr>
        <p:spPr>
          <a:xfrm>
            <a:off x="1246602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cell164"/>
          <p:cNvSpPr/>
          <p:nvPr/>
        </p:nvSpPr>
        <p:spPr>
          <a:xfrm>
            <a:off x="1557498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3-cell165"/>
          <p:cNvSpPr/>
          <p:nvPr/>
        </p:nvSpPr>
        <p:spPr>
          <a:xfrm>
            <a:off x="1868394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3-cell166"/>
          <p:cNvSpPr/>
          <p:nvPr/>
        </p:nvSpPr>
        <p:spPr>
          <a:xfrm>
            <a:off x="2179290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3-cell167"/>
          <p:cNvSpPr/>
          <p:nvPr/>
        </p:nvSpPr>
        <p:spPr>
          <a:xfrm>
            <a:off x="2490186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cell168"/>
          <p:cNvSpPr/>
          <p:nvPr/>
        </p:nvSpPr>
        <p:spPr>
          <a:xfrm>
            <a:off x="2801082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cell169"/>
          <p:cNvSpPr/>
          <p:nvPr/>
        </p:nvSpPr>
        <p:spPr>
          <a:xfrm>
            <a:off x="3111978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3-cell170"/>
          <p:cNvSpPr/>
          <p:nvPr/>
        </p:nvSpPr>
        <p:spPr>
          <a:xfrm>
            <a:off x="3422874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3-cell171"/>
          <p:cNvSpPr/>
          <p:nvPr/>
        </p:nvSpPr>
        <p:spPr>
          <a:xfrm>
            <a:off x="3733770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3-cell172"/>
          <p:cNvSpPr/>
          <p:nvPr/>
        </p:nvSpPr>
        <p:spPr>
          <a:xfrm>
            <a:off x="4044666" y="3566160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3-cell173"/>
          <p:cNvSpPr/>
          <p:nvPr/>
        </p:nvSpPr>
        <p:spPr>
          <a:xfrm>
            <a:off x="1246602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3-cell174"/>
          <p:cNvSpPr/>
          <p:nvPr/>
        </p:nvSpPr>
        <p:spPr>
          <a:xfrm>
            <a:off x="1557498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3-cell175"/>
          <p:cNvSpPr/>
          <p:nvPr/>
        </p:nvSpPr>
        <p:spPr>
          <a:xfrm>
            <a:off x="1868394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3-cell176"/>
          <p:cNvSpPr/>
          <p:nvPr/>
        </p:nvSpPr>
        <p:spPr>
          <a:xfrm>
            <a:off x="2179290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3-cell177"/>
          <p:cNvSpPr/>
          <p:nvPr/>
        </p:nvSpPr>
        <p:spPr>
          <a:xfrm>
            <a:off x="2490186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3-cell178"/>
          <p:cNvSpPr/>
          <p:nvPr/>
        </p:nvSpPr>
        <p:spPr>
          <a:xfrm>
            <a:off x="2801082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3-cell179"/>
          <p:cNvSpPr/>
          <p:nvPr/>
        </p:nvSpPr>
        <p:spPr>
          <a:xfrm>
            <a:off x="3111978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3-cell180"/>
          <p:cNvSpPr/>
          <p:nvPr/>
        </p:nvSpPr>
        <p:spPr>
          <a:xfrm>
            <a:off x="3422874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3-cell181"/>
          <p:cNvSpPr/>
          <p:nvPr/>
        </p:nvSpPr>
        <p:spPr>
          <a:xfrm>
            <a:off x="3733770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3-cell182"/>
          <p:cNvSpPr/>
          <p:nvPr/>
        </p:nvSpPr>
        <p:spPr>
          <a:xfrm>
            <a:off x="4044666" y="3877056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3-cell183"/>
          <p:cNvSpPr/>
          <p:nvPr/>
        </p:nvSpPr>
        <p:spPr>
          <a:xfrm>
            <a:off x="1246602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3-cell184"/>
          <p:cNvSpPr/>
          <p:nvPr/>
        </p:nvSpPr>
        <p:spPr>
          <a:xfrm>
            <a:off x="1557498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3-cell185"/>
          <p:cNvSpPr/>
          <p:nvPr/>
        </p:nvSpPr>
        <p:spPr>
          <a:xfrm>
            <a:off x="1868394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3-cell186"/>
          <p:cNvSpPr/>
          <p:nvPr/>
        </p:nvSpPr>
        <p:spPr>
          <a:xfrm>
            <a:off x="2179290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3-cell187"/>
          <p:cNvSpPr/>
          <p:nvPr/>
        </p:nvSpPr>
        <p:spPr>
          <a:xfrm>
            <a:off x="2490186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3-cell188"/>
          <p:cNvSpPr/>
          <p:nvPr/>
        </p:nvSpPr>
        <p:spPr>
          <a:xfrm>
            <a:off x="2801082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3-cell189"/>
          <p:cNvSpPr/>
          <p:nvPr/>
        </p:nvSpPr>
        <p:spPr>
          <a:xfrm>
            <a:off x="3111978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3-cell190"/>
          <p:cNvSpPr/>
          <p:nvPr/>
        </p:nvSpPr>
        <p:spPr>
          <a:xfrm>
            <a:off x="3422874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3-cell191"/>
          <p:cNvSpPr/>
          <p:nvPr/>
        </p:nvSpPr>
        <p:spPr>
          <a:xfrm>
            <a:off x="3733770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3-cell192"/>
          <p:cNvSpPr/>
          <p:nvPr/>
        </p:nvSpPr>
        <p:spPr>
          <a:xfrm>
            <a:off x="4044666" y="4187952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cell193"/>
          <p:cNvSpPr/>
          <p:nvPr/>
        </p:nvSpPr>
        <p:spPr>
          <a:xfrm>
            <a:off x="1246602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3-cell194"/>
          <p:cNvSpPr/>
          <p:nvPr/>
        </p:nvSpPr>
        <p:spPr>
          <a:xfrm>
            <a:off x="1557498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3-cell195"/>
          <p:cNvSpPr/>
          <p:nvPr/>
        </p:nvSpPr>
        <p:spPr>
          <a:xfrm>
            <a:off x="1868394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3-cell196"/>
          <p:cNvSpPr/>
          <p:nvPr/>
        </p:nvSpPr>
        <p:spPr>
          <a:xfrm>
            <a:off x="2179290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3-cell197"/>
          <p:cNvSpPr/>
          <p:nvPr/>
        </p:nvSpPr>
        <p:spPr>
          <a:xfrm>
            <a:off x="2490186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3-cell198"/>
          <p:cNvSpPr/>
          <p:nvPr/>
        </p:nvSpPr>
        <p:spPr>
          <a:xfrm>
            <a:off x="2801082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3-cell199"/>
          <p:cNvSpPr/>
          <p:nvPr/>
        </p:nvSpPr>
        <p:spPr>
          <a:xfrm>
            <a:off x="3111978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3-cell200"/>
          <p:cNvSpPr/>
          <p:nvPr/>
        </p:nvSpPr>
        <p:spPr>
          <a:xfrm>
            <a:off x="3422874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3-cell201"/>
          <p:cNvSpPr/>
          <p:nvPr/>
        </p:nvSpPr>
        <p:spPr>
          <a:xfrm>
            <a:off x="3733770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3-cell202"/>
          <p:cNvSpPr/>
          <p:nvPr/>
        </p:nvSpPr>
        <p:spPr>
          <a:xfrm>
            <a:off x="4044666" y="4498848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3-cell203"/>
          <p:cNvSpPr/>
          <p:nvPr/>
        </p:nvSpPr>
        <p:spPr>
          <a:xfrm>
            <a:off x="1246602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3-cell204"/>
          <p:cNvSpPr/>
          <p:nvPr/>
        </p:nvSpPr>
        <p:spPr>
          <a:xfrm>
            <a:off x="1557498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3-cell205"/>
          <p:cNvSpPr/>
          <p:nvPr/>
        </p:nvSpPr>
        <p:spPr>
          <a:xfrm>
            <a:off x="1868394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3-cell206"/>
          <p:cNvSpPr/>
          <p:nvPr/>
        </p:nvSpPr>
        <p:spPr>
          <a:xfrm>
            <a:off x="2179290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3-cell207"/>
          <p:cNvSpPr/>
          <p:nvPr/>
        </p:nvSpPr>
        <p:spPr>
          <a:xfrm>
            <a:off x="2490186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3-cell208"/>
          <p:cNvSpPr/>
          <p:nvPr/>
        </p:nvSpPr>
        <p:spPr>
          <a:xfrm>
            <a:off x="2801082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3-cell209"/>
          <p:cNvSpPr/>
          <p:nvPr/>
        </p:nvSpPr>
        <p:spPr>
          <a:xfrm>
            <a:off x="3111978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3-cell210"/>
          <p:cNvSpPr/>
          <p:nvPr/>
        </p:nvSpPr>
        <p:spPr>
          <a:xfrm>
            <a:off x="3422874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3-cell211"/>
          <p:cNvSpPr/>
          <p:nvPr/>
        </p:nvSpPr>
        <p:spPr>
          <a:xfrm>
            <a:off x="3733770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3-cell212"/>
          <p:cNvSpPr/>
          <p:nvPr/>
        </p:nvSpPr>
        <p:spPr>
          <a:xfrm>
            <a:off x="4044666" y="480974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3-figure213" descr="100칸 격자에서 37칸 색칠"/>
          <p:cNvSpPr/>
          <p:nvPr/>
        </p:nvSpPr>
        <p:spPr>
          <a:xfrm>
            <a:off x="1246602" y="2011680"/>
            <a:ext cx="3108960" cy="3108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7" name="S03-card214"/>
          <p:cNvSpPr/>
          <p:nvPr/>
        </p:nvSpPr>
        <p:spPr>
          <a:xfrm>
            <a:off x="5419283" y="2101342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8" name="S03-cardtext215"/>
          <p:cNvSpPr txBox="1"/>
          <p:nvPr/>
        </p:nvSpPr>
        <p:spPr>
          <a:xfrm>
            <a:off x="5693603" y="2238502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100분의 37 = 0.37</a:t>
            </a:r>
            <a:endParaRPr lang="ko-KR" sz="2800" dirty="0"/>
          </a:p>
        </p:txBody>
      </p:sp>
      <p:sp>
        <p:nvSpPr>
          <p:cNvPr id="109" name="S03-card216"/>
          <p:cNvSpPr/>
          <p:nvPr/>
        </p:nvSpPr>
        <p:spPr>
          <a:xfrm>
            <a:off x="5419283" y="3510026"/>
            <a:ext cx="6221029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0" name="S03-cardtext217"/>
          <p:cNvSpPr txBox="1"/>
          <p:nvPr/>
        </p:nvSpPr>
        <p:spPr>
          <a:xfrm>
            <a:off x="5693603" y="3647186"/>
            <a:ext cx="5672389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37 %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읽기: 37 퍼센트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백분율로 바꿔요</a:t>
            </a:r>
            <a:endParaRPr lang="ko-KR" sz="4000" dirty="0"/>
          </a:p>
        </p:txBody>
      </p:sp>
      <p:sp>
        <p:nvSpPr>
          <p:cNvPr id="3" name="S04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3을 백분율로 나타내요.</a:t>
            </a:r>
            <a:endParaRPr lang="ko-KR" sz="2800" dirty="0"/>
          </a:p>
        </p:txBody>
      </p:sp>
      <p:sp>
        <p:nvSpPr>
          <p:cNvPr id="4" name="S04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 = 비율 × 100 (%)</a:t>
            </a:r>
            <a:endParaRPr lang="ko-KR" sz="2800" dirty="0"/>
          </a:p>
        </p:txBody>
      </p:sp>
      <p:sp>
        <p:nvSpPr>
          <p:cNvPr id="6" name="S04-stepno221"/>
          <p:cNvSpPr txBox="1"/>
          <p:nvPr/>
        </p:nvSpPr>
        <p:spPr>
          <a:xfrm>
            <a:off x="548640" y="2282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222"/>
          <p:cNvSpPr txBox="1"/>
          <p:nvPr/>
        </p:nvSpPr>
        <p:spPr>
          <a:xfrm>
            <a:off x="1325880" y="2237232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100으로</a:t>
            </a:r>
            <a:endParaRPr lang="ko-KR" sz="2800" dirty="0"/>
          </a:p>
        </p:txBody>
      </p:sp>
      <p:sp>
        <p:nvSpPr>
          <p:cNvPr id="8" name="S04-num223"/>
          <p:cNvSpPr txBox="1"/>
          <p:nvPr/>
        </p:nvSpPr>
        <p:spPr>
          <a:xfrm>
            <a:off x="6981810" y="223723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04-fracbar224"/>
          <p:cNvSpPr/>
          <p:nvPr/>
        </p:nvSpPr>
        <p:spPr>
          <a:xfrm>
            <a:off x="7018386" y="269341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num225"/>
          <p:cNvSpPr txBox="1"/>
          <p:nvPr/>
        </p:nvSpPr>
        <p:spPr>
          <a:xfrm>
            <a:off x="6981810" y="272999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04-op226"/>
          <p:cNvSpPr txBox="1"/>
          <p:nvPr/>
        </p:nvSpPr>
        <p:spPr>
          <a:xfrm>
            <a:off x="7574646" y="2237232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2" name="S04-num227"/>
          <p:cNvSpPr txBox="1"/>
          <p:nvPr/>
        </p:nvSpPr>
        <p:spPr>
          <a:xfrm>
            <a:off x="8089758" y="2237232"/>
            <a:ext cx="783336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</a:t>
            </a:r>
            <a:endParaRPr lang="ko-KR" sz="2800" dirty="0"/>
          </a:p>
        </p:txBody>
      </p:sp>
      <p:sp>
        <p:nvSpPr>
          <p:cNvPr id="13" name="S04-fracbar228"/>
          <p:cNvSpPr/>
          <p:nvPr/>
        </p:nvSpPr>
        <p:spPr>
          <a:xfrm>
            <a:off x="8126334" y="2693416"/>
            <a:ext cx="710184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num229"/>
          <p:cNvSpPr txBox="1"/>
          <p:nvPr/>
        </p:nvSpPr>
        <p:spPr>
          <a:xfrm>
            <a:off x="8089758" y="2729992"/>
            <a:ext cx="783336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800" dirty="0"/>
          </a:p>
        </p:txBody>
      </p:sp>
      <p:sp>
        <p:nvSpPr>
          <p:cNvPr id="15" name="S04-stepno230"/>
          <p:cNvSpPr txBox="1"/>
          <p:nvPr/>
        </p:nvSpPr>
        <p:spPr>
          <a:xfrm>
            <a:off x="548640" y="33599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04-text231"/>
          <p:cNvSpPr txBox="1"/>
          <p:nvPr/>
        </p:nvSpPr>
        <p:spPr>
          <a:xfrm>
            <a:off x="1325880" y="3314192"/>
            <a:ext cx="5655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소수에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100을 곱해요.</a:t>
            </a:r>
            <a:endParaRPr lang="ko-KR" sz="2800" dirty="0"/>
          </a:p>
        </p:txBody>
      </p:sp>
      <p:sp>
        <p:nvSpPr>
          <p:cNvPr id="17" name="S04-eqtext232"/>
          <p:cNvSpPr txBox="1"/>
          <p:nvPr/>
        </p:nvSpPr>
        <p:spPr>
          <a:xfrm>
            <a:off x="6981810" y="3314192"/>
            <a:ext cx="465850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 × 100 = 75</a:t>
            </a:r>
            <a:endParaRPr lang="ko-KR" sz="2800" dirty="0"/>
          </a:p>
        </p:txBody>
      </p:sp>
      <p:sp>
        <p:nvSpPr>
          <p:cNvPr id="18" name="S04-stepno233"/>
          <p:cNvSpPr txBox="1"/>
          <p:nvPr/>
        </p:nvSpPr>
        <p:spPr>
          <a:xfrm>
            <a:off x="548640" y="43464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4-text234"/>
          <p:cNvSpPr txBox="1"/>
          <p:nvPr/>
        </p:nvSpPr>
        <p:spPr>
          <a:xfrm>
            <a:off x="1325880" y="434644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 를 붙여요.</a:t>
            </a:r>
            <a:endParaRPr lang="ko-KR" sz="2800" dirty="0"/>
          </a:p>
        </p:txBody>
      </p:sp>
      <p:sp>
        <p:nvSpPr>
          <p:cNvPr id="20" name="S04-eqtext235"/>
          <p:cNvSpPr txBox="1"/>
          <p:nvPr/>
        </p:nvSpPr>
        <p:spPr>
          <a:xfrm>
            <a:off x="6981810" y="434644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75 %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백분율로, 소수로</a:t>
            </a:r>
            <a:endParaRPr lang="ko-KR" sz="4000" dirty="0"/>
          </a:p>
        </p:txBody>
      </p:sp>
      <p:sp>
        <p:nvSpPr>
          <p:cNvPr id="3" name="S05-text2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①~④는 백분율로, ⑤⑥은 소수로 나타내요.</a:t>
            </a:r>
            <a:endParaRPr lang="ko-KR" sz="2800" dirty="0"/>
          </a:p>
        </p:txBody>
      </p:sp>
      <p:sp>
        <p:nvSpPr>
          <p:cNvPr id="4" name="S05-card2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백분율로는 × 100, 소수로는 ÷ 100</a:t>
            </a:r>
            <a:endParaRPr lang="ko-KR" sz="2800" dirty="0"/>
          </a:p>
        </p:txBody>
      </p:sp>
      <p:sp>
        <p:nvSpPr>
          <p:cNvPr id="6" name="S05-chip23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eqtext24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0.42 → □ %</a:t>
            </a:r>
            <a:endParaRPr lang="ko-KR" sz="3200" dirty="0"/>
          </a:p>
        </p:txBody>
      </p:sp>
      <p:sp>
        <p:nvSpPr>
          <p:cNvPr id="8" name="S05-chip241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eqtext242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0.08 → □ %</a:t>
            </a:r>
            <a:endParaRPr lang="ko-KR" sz="3200" dirty="0"/>
          </a:p>
        </p:txBody>
      </p:sp>
      <p:sp>
        <p:nvSpPr>
          <p:cNvPr id="10" name="S05-chip24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num244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2" name="S05-fracbar245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246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05-op247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15" name="S05-blank248"/>
          <p:cNvSpPr/>
          <p:nvPr/>
        </p:nvSpPr>
        <p:spPr>
          <a:xfrm>
            <a:off x="2798257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op249"/>
          <p:cNvSpPr txBox="1"/>
          <p:nvPr/>
        </p:nvSpPr>
        <p:spPr>
          <a:xfrm>
            <a:off x="3365500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ko-KR" sz="2800" dirty="0"/>
          </a:p>
        </p:txBody>
      </p:sp>
      <p:sp>
        <p:nvSpPr>
          <p:cNvPr id="17" name="S05-chip250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8" name="S05-num251"/>
          <p:cNvSpPr txBox="1"/>
          <p:nvPr/>
        </p:nvSpPr>
        <p:spPr>
          <a:xfrm>
            <a:off x="7072884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800" dirty="0"/>
          </a:p>
        </p:txBody>
      </p:sp>
      <p:sp>
        <p:nvSpPr>
          <p:cNvPr id="19" name="S05-fracbar252"/>
          <p:cNvSpPr/>
          <p:nvPr/>
        </p:nvSpPr>
        <p:spPr>
          <a:xfrm>
            <a:off x="7109460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num253"/>
          <p:cNvSpPr txBox="1"/>
          <p:nvPr/>
        </p:nvSpPr>
        <p:spPr>
          <a:xfrm>
            <a:off x="7072884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800" dirty="0"/>
          </a:p>
        </p:txBody>
      </p:sp>
      <p:sp>
        <p:nvSpPr>
          <p:cNvPr id="21" name="S05-op254"/>
          <p:cNvSpPr txBox="1"/>
          <p:nvPr/>
        </p:nvSpPr>
        <p:spPr>
          <a:xfrm>
            <a:off x="7759700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22" name="S05-blank255"/>
          <p:cNvSpPr/>
          <p:nvPr/>
        </p:nvSpPr>
        <p:spPr>
          <a:xfrm>
            <a:off x="8620953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05-op256"/>
          <p:cNvSpPr txBox="1"/>
          <p:nvPr/>
        </p:nvSpPr>
        <p:spPr>
          <a:xfrm>
            <a:off x="9188196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ko-KR" sz="2800" dirty="0"/>
          </a:p>
        </p:txBody>
      </p:sp>
      <p:sp>
        <p:nvSpPr>
          <p:cNvPr id="24" name="S05-chip25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25" name="S05-eqtext25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65 % → □</a:t>
            </a:r>
            <a:endParaRPr lang="ko-KR" sz="3200" dirty="0"/>
          </a:p>
        </p:txBody>
      </p:sp>
      <p:sp>
        <p:nvSpPr>
          <p:cNvPr id="26" name="S05-chip259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27" name="S05-eqtext260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7 % →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6-card26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26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0.8을 백분율로 나타냈어요.</a:t>
            </a:r>
            <a:endParaRPr lang="ko-KR" sz="2800" dirty="0"/>
          </a:p>
        </p:txBody>
      </p:sp>
      <p:sp>
        <p:nvSpPr>
          <p:cNvPr id="5" name="S06-card2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2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0.8은 100칸 중 몇 칸일까요?</a:t>
            </a:r>
            <a:endParaRPr lang="ko-KR" sz="2800" dirty="0"/>
          </a:p>
        </p:txBody>
      </p:sp>
      <p:sp>
        <p:nvSpPr>
          <p:cNvPr id="7" name="S06-chip26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8 %</a:t>
            </a:r>
            <a:endParaRPr lang="ko-KR" sz="2200" dirty="0"/>
          </a:p>
        </p:txBody>
      </p:sp>
      <p:sp>
        <p:nvSpPr>
          <p:cNvPr id="8" name="S06-text26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뒤의 8을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썼어요.</a:t>
            </a:r>
            <a:endParaRPr lang="ko-KR" sz="2800" dirty="0"/>
          </a:p>
        </p:txBody>
      </p:sp>
      <p:sp>
        <p:nvSpPr>
          <p:cNvPr id="9" name="S06-chip26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80 %</a:t>
            </a:r>
            <a:endParaRPr lang="ko-KR" sz="2200" dirty="0"/>
          </a:p>
        </p:txBody>
      </p:sp>
      <p:sp>
        <p:nvSpPr>
          <p:cNvPr id="10" name="S06-text26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 × 100 = 80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80 %예요.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득표율을 구해요</a:t>
            </a:r>
            <a:endParaRPr lang="ko-KR" sz="4000" dirty="0"/>
          </a:p>
        </p:txBody>
      </p:sp>
      <p:sp>
        <p:nvSpPr>
          <p:cNvPr id="3" name="S07-text2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반장 선거에서 25명이 투표했어요.</a:t>
            </a:r>
            <a:endParaRPr lang="ko-KR" sz="2800" dirty="0"/>
          </a:p>
        </p:txBody>
      </p:sp>
      <p:sp>
        <p:nvSpPr>
          <p:cNvPr id="4" name="S07-card27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7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득표율 = 득표수 ÷ 투표수 × 100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1번: 12 ÷ 25 × 100 = 48 (%)</a:t>
            </a:r>
            <a:endParaRPr lang="ko-KR" sz="2800" dirty="0"/>
          </a:p>
        </p:txBody>
      </p:sp>
      <p:graphicFrame>
        <p:nvGraphicFramePr>
          <p:cNvPr id="8" name="S07-table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583688"/>
          <a:ext cx="9601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득표수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득표율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48 %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%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%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100 %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할인한 가격을 구해요</a:t>
            </a:r>
            <a:endParaRPr lang="ko-KR" sz="4000" dirty="0"/>
          </a:p>
        </p:txBody>
      </p:sp>
      <p:sp>
        <p:nvSpPr>
          <p:cNvPr id="3" name="S08-card2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가격 = 원래 가격 − 할인 금액</a:t>
            </a:r>
            <a:endParaRPr lang="ko-KR" sz="2800" dirty="0"/>
          </a:p>
        </p:txBody>
      </p:sp>
      <p:sp>
        <p:nvSpPr>
          <p:cNvPr id="5" name="S08-text27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15000원짜리 티셔츠를 20 % 할인해요.</a:t>
            </a:r>
            <a:endParaRPr lang="ko-KR" sz="2800" dirty="0"/>
          </a:p>
        </p:txBody>
      </p:sp>
      <p:sp>
        <p:nvSpPr>
          <p:cNvPr id="6" name="S08-cell276"/>
          <p:cNvSpPr/>
          <p:nvPr/>
        </p:nvSpPr>
        <p:spPr>
          <a:xfrm>
            <a:off x="6813652" y="3226689"/>
            <a:ext cx="4826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cell277"/>
          <p:cNvSpPr/>
          <p:nvPr/>
        </p:nvSpPr>
        <p:spPr>
          <a:xfrm>
            <a:off x="7296318" y="3226689"/>
            <a:ext cx="4826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cell278"/>
          <p:cNvSpPr/>
          <p:nvPr/>
        </p:nvSpPr>
        <p:spPr>
          <a:xfrm>
            <a:off x="7778984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279"/>
          <p:cNvSpPr/>
          <p:nvPr/>
        </p:nvSpPr>
        <p:spPr>
          <a:xfrm>
            <a:off x="8261650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280"/>
          <p:cNvSpPr/>
          <p:nvPr/>
        </p:nvSpPr>
        <p:spPr>
          <a:xfrm>
            <a:off x="8744316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281"/>
          <p:cNvSpPr/>
          <p:nvPr/>
        </p:nvSpPr>
        <p:spPr>
          <a:xfrm>
            <a:off x="9226982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282"/>
          <p:cNvSpPr/>
          <p:nvPr/>
        </p:nvSpPr>
        <p:spPr>
          <a:xfrm>
            <a:off x="9709648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283"/>
          <p:cNvSpPr/>
          <p:nvPr/>
        </p:nvSpPr>
        <p:spPr>
          <a:xfrm>
            <a:off x="10192314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284"/>
          <p:cNvSpPr/>
          <p:nvPr/>
        </p:nvSpPr>
        <p:spPr>
          <a:xfrm>
            <a:off x="10674980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285"/>
          <p:cNvSpPr/>
          <p:nvPr/>
        </p:nvSpPr>
        <p:spPr>
          <a:xfrm>
            <a:off x="11157646" y="3226689"/>
            <a:ext cx="4826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figure286" descr="똑같이 10칸으로 나눈 띠, 2칸 색칠"/>
          <p:cNvSpPr/>
          <p:nvPr/>
        </p:nvSpPr>
        <p:spPr>
          <a:xfrm>
            <a:off x="6813652" y="3226689"/>
            <a:ext cx="4826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8-label287"/>
          <p:cNvSpPr txBox="1"/>
          <p:nvPr/>
        </p:nvSpPr>
        <p:spPr>
          <a:xfrm>
            <a:off x="6813652" y="4743450"/>
            <a:ext cx="48266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 1500원 (10 %)</a:t>
            </a:r>
            <a:endParaRPr lang="ko-KR" sz="2200" dirty="0"/>
          </a:p>
        </p:txBody>
      </p:sp>
      <p:sp>
        <p:nvSpPr>
          <p:cNvPr id="18" name="S08-stepno288"/>
          <p:cNvSpPr txBox="1"/>
          <p:nvPr/>
        </p:nvSpPr>
        <p:spPr>
          <a:xfrm>
            <a:off x="548640" y="27421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9" name="S08-text289"/>
          <p:cNvSpPr txBox="1"/>
          <p:nvPr/>
        </p:nvSpPr>
        <p:spPr>
          <a:xfrm>
            <a:off x="1325880" y="269646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금액: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15000 × 0.2 = 3000(원)</a:t>
            </a:r>
            <a:endParaRPr lang="ko-KR" sz="2800" dirty="0"/>
          </a:p>
        </p:txBody>
      </p:sp>
      <p:sp>
        <p:nvSpPr>
          <p:cNvPr id="20" name="S08-stepno290"/>
          <p:cNvSpPr txBox="1"/>
          <p:nvPr/>
        </p:nvSpPr>
        <p:spPr>
          <a:xfrm>
            <a:off x="548640" y="37744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1" name="S08-text291"/>
          <p:cNvSpPr txBox="1"/>
          <p:nvPr/>
        </p:nvSpPr>
        <p:spPr>
          <a:xfrm>
            <a:off x="1325880" y="3728720"/>
            <a:ext cx="5122012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가격: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15000 − 3000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12000(원)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백분율</a:t>
            </a:r>
            <a:endParaRPr lang="ko-KR" sz="4000" dirty="0"/>
          </a:p>
        </p:txBody>
      </p:sp>
      <p:sp>
        <p:nvSpPr>
          <p:cNvPr id="3" name="S09-card2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할인율 = 할인 금액 ÷ 원래 가격 × 100</a:t>
            </a:r>
            <a:endParaRPr lang="ko-KR" sz="2800" dirty="0"/>
          </a:p>
        </p:txBody>
      </p:sp>
      <p:sp>
        <p:nvSpPr>
          <p:cNvPr id="5" name="S09-chip29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29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20000원짜리 가방을 30 % 할인하면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가격은 얼마인가요?</a:t>
            </a:r>
            <a:endParaRPr lang="ko-KR" sz="2800" dirty="0"/>
          </a:p>
        </p:txBody>
      </p:sp>
      <p:sp>
        <p:nvSpPr>
          <p:cNvPr id="7" name="S09-chip29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29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40명 중 18명이 찬성했어요.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찬성률은 몇 %인가요?</a:t>
            </a:r>
            <a:endParaRPr lang="ko-KR" sz="2800" dirty="0"/>
          </a:p>
        </p:txBody>
      </p:sp>
      <p:sp>
        <p:nvSpPr>
          <p:cNvPr id="9" name="S09-chip29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29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5000원짜리 공책을 4000원에 팔아요.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할인율은 몇 %인가요?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얼마를 내야 할까요?</a:t>
            </a:r>
            <a:endParaRPr lang="ko-KR" sz="4000" dirty="0"/>
          </a:p>
        </p:txBody>
      </p:sp>
      <p:sp>
        <p:nvSpPr>
          <p:cNvPr id="3" name="S10-card30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0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10000원짜리 필통을 30 % 할인해요.</a:t>
            </a:r>
            <a:endParaRPr lang="ko-KR" sz="2800" dirty="0"/>
          </a:p>
        </p:txBody>
      </p:sp>
      <p:sp>
        <p:nvSpPr>
          <p:cNvPr id="5" name="S10-card3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3000원은 무엇을 나타내는 돈일까요?</a:t>
            </a:r>
            <a:endParaRPr lang="ko-KR" sz="2800" dirty="0"/>
          </a:p>
        </p:txBody>
      </p:sp>
      <p:sp>
        <p:nvSpPr>
          <p:cNvPr id="7" name="S10-chip30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3000원</a:t>
            </a:r>
            <a:endParaRPr lang="ko-KR" sz="2200" dirty="0"/>
          </a:p>
        </p:txBody>
      </p:sp>
      <p:sp>
        <p:nvSpPr>
          <p:cNvPr id="8" name="S10-text30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 × 0.3 = 3000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3000원을 내요.</a:t>
            </a:r>
            <a:endParaRPr lang="ko-KR" sz="2800" dirty="0"/>
          </a:p>
        </p:txBody>
      </p:sp>
      <p:sp>
        <p:nvSpPr>
          <p:cNvPr id="9" name="S10-chip30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7000원</a:t>
            </a:r>
            <a:endParaRPr lang="ko-KR" sz="2200" dirty="0"/>
          </a:p>
        </p:txBody>
      </p:sp>
      <p:sp>
        <p:nvSpPr>
          <p:cNvPr id="10" name="S10-text30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10000 − 3000 = 7000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7000원을 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30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eqtext30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→ □ %</a:t>
            </a:r>
            <a:endParaRPr lang="ko-KR" sz="3200" dirty="0"/>
          </a:p>
        </p:txBody>
      </p:sp>
      <p:sp>
        <p:nvSpPr>
          <p:cNvPr id="5" name="S11-chip310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num311"/>
          <p:cNvSpPr txBox="1"/>
          <p:nvPr/>
        </p:nvSpPr>
        <p:spPr>
          <a:xfrm>
            <a:off x="7072884" y="15412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7" name="S11-fracbar312"/>
          <p:cNvSpPr/>
          <p:nvPr/>
        </p:nvSpPr>
        <p:spPr>
          <a:xfrm>
            <a:off x="7109460" y="20574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1-num313"/>
          <p:cNvSpPr txBox="1"/>
          <p:nvPr/>
        </p:nvSpPr>
        <p:spPr>
          <a:xfrm>
            <a:off x="7072884" y="20939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200" dirty="0"/>
          </a:p>
        </p:txBody>
      </p:sp>
      <p:sp>
        <p:nvSpPr>
          <p:cNvPr id="9" name="S11-op314"/>
          <p:cNvSpPr txBox="1"/>
          <p:nvPr/>
        </p:nvSpPr>
        <p:spPr>
          <a:xfrm>
            <a:off x="7818628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10" name="S11-blank315"/>
          <p:cNvSpPr/>
          <p:nvPr/>
        </p:nvSpPr>
        <p:spPr>
          <a:xfrm>
            <a:off x="8732378" y="18799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11-op316"/>
          <p:cNvSpPr txBox="1"/>
          <p:nvPr/>
        </p:nvSpPr>
        <p:spPr>
          <a:xfrm>
            <a:off x="9346692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ko-KR" sz="3200" dirty="0"/>
          </a:p>
        </p:txBody>
      </p:sp>
      <p:sp>
        <p:nvSpPr>
          <p:cNvPr id="12" name="S11-chip31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3" name="S11-eqtext318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 → 소수 □</a:t>
            </a:r>
            <a:endParaRPr lang="ko-KR" sz="3200" dirty="0"/>
          </a:p>
        </p:txBody>
      </p:sp>
      <p:sp>
        <p:nvSpPr>
          <p:cNvPr id="14" name="S11-chip319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5" name="S11-text320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12000원짜리 모자를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 할인한 판매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쪽일까요?</a:t>
            </a:r>
            <a:endParaRPr lang="ko-KR" sz="4000" dirty="0"/>
          </a:p>
        </p:txBody>
      </p:sp>
      <p:sp>
        <p:nvSpPr>
          <p:cNvPr id="3" name="S13-chip3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322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10000원짜리 같은 물건을 가 가게는 20 % 할인,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가게는 1500원 할인해요. 어느 가게가 더 싸요?</a:t>
            </a:r>
            <a:endParaRPr lang="ko-KR" sz="2800" dirty="0"/>
          </a:p>
        </p:txBody>
      </p:sp>
      <p:sp>
        <p:nvSpPr>
          <p:cNvPr id="5" name="S13-chip32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324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투표한 50명 중 31명이 찬성, 나머지는 반대했어요.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찬성률과 반대율은 각각 몇 %인가요?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2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2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기준량을 100으로 할 때의 비율이 백분율이에요. 비율에 100을 곱하고 %를 붙여요.</a:t>
            </a:r>
            <a:endParaRPr lang="ko-KR" sz="2800" dirty="0"/>
          </a:p>
        </p:txBody>
      </p:sp>
      <p:sp>
        <p:nvSpPr>
          <p:cNvPr id="5" name="S14-chip32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판매 가격 = 원래 가격 − 할인 금액</a:t>
            </a:r>
            <a:endParaRPr lang="ko-KR" sz="2200" dirty="0"/>
          </a:p>
        </p:txBody>
      </p:sp>
      <p:sp>
        <p:nvSpPr>
          <p:cNvPr id="6" name="S14-chip32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0.8을 8 %라고 하기</a:t>
            </a:r>
            <a:endParaRPr lang="ko-KR" sz="2200" dirty="0"/>
          </a:p>
        </p:txBody>
      </p:sp>
      <p:sp>
        <p:nvSpPr>
          <p:cNvPr id="7" name="S14-text32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3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0.27을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백분율로</a:t>
            </a:r>
            <a:endParaRPr lang="ko-KR" sz="2200" dirty="0"/>
          </a:p>
        </p:txBody>
      </p:sp>
      <p:sp>
        <p:nvSpPr>
          <p:cNvPr id="9" name="S14-text33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5분의 3을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백분율로</a:t>
            </a:r>
            <a:endParaRPr lang="ko-KR" sz="2200" dirty="0"/>
          </a:p>
        </p:txBody>
      </p:sp>
      <p:sp>
        <p:nvSpPr>
          <p:cNvPr id="10" name="S14-text33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8000원의 10 %는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얼마인가요?</a:t>
            </a:r>
            <a:endParaRPr lang="ko-KR" sz="2200" dirty="0"/>
          </a:p>
        </p:txBody>
      </p:sp>
      <p:sp>
        <p:nvSpPr>
          <p:cNvPr id="11" name="S14-text33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비례식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비율을 다시 구해요</a:t>
            </a:r>
            <a:endParaRPr lang="ko-KR" sz="4000" dirty="0"/>
          </a:p>
        </p:txBody>
      </p:sp>
      <p:sp>
        <p:nvSpPr>
          <p:cNvPr id="3" name="S15-text3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1 : 4의 비율을 구해요.</a:t>
            </a:r>
            <a:endParaRPr lang="ko-KR" sz="2800" dirty="0"/>
          </a:p>
        </p:txBody>
      </p:sp>
      <p:sp>
        <p:nvSpPr>
          <p:cNvPr id="4" name="S15-card33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33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양 ÷ 기준량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÷ 4</a:t>
            </a:r>
            <a:endParaRPr lang="ko-KR" sz="2800" dirty="0"/>
          </a:p>
        </p:txBody>
      </p:sp>
      <p:sp>
        <p:nvSpPr>
          <p:cNvPr id="6" name="S15-card33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3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100으로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 = 100분의 25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0.25</a:t>
            </a:r>
            <a:endParaRPr lang="ko-KR" sz="2800" dirty="0"/>
          </a:p>
        </p:txBody>
      </p:sp>
      <p:sp>
        <p:nvSpPr>
          <p:cNvPr id="8" name="S15-num339"/>
          <p:cNvSpPr txBox="1"/>
          <p:nvPr/>
        </p:nvSpPr>
        <p:spPr>
          <a:xfrm>
            <a:off x="764286" y="27838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15-fracbar340"/>
          <p:cNvSpPr/>
          <p:nvPr/>
        </p:nvSpPr>
        <p:spPr>
          <a:xfrm>
            <a:off x="800862" y="324002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num341"/>
          <p:cNvSpPr txBox="1"/>
          <p:nvPr/>
        </p:nvSpPr>
        <p:spPr>
          <a:xfrm>
            <a:off x="764286" y="327660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15-cell342"/>
          <p:cNvSpPr/>
          <p:nvPr/>
        </p:nvSpPr>
        <p:spPr>
          <a:xfrm>
            <a:off x="1600200" y="2828544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343"/>
          <p:cNvSpPr/>
          <p:nvPr/>
        </p:nvSpPr>
        <p:spPr>
          <a:xfrm>
            <a:off x="2683764" y="2828544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344"/>
          <p:cNvSpPr/>
          <p:nvPr/>
        </p:nvSpPr>
        <p:spPr>
          <a:xfrm>
            <a:off x="3767328" y="2828544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345"/>
          <p:cNvSpPr/>
          <p:nvPr/>
        </p:nvSpPr>
        <p:spPr>
          <a:xfrm>
            <a:off x="4850892" y="2828544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figure346" descr="똑같이 4칸으로 나눈 띠, 1칸 색칠"/>
          <p:cNvSpPr/>
          <p:nvPr/>
        </p:nvSpPr>
        <p:spPr>
          <a:xfrm>
            <a:off x="1600200" y="2828544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5-num347"/>
          <p:cNvSpPr txBox="1"/>
          <p:nvPr/>
        </p:nvSpPr>
        <p:spPr>
          <a:xfrm>
            <a:off x="6787134" y="266395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7" name="S15-fracbar348"/>
          <p:cNvSpPr/>
          <p:nvPr/>
        </p:nvSpPr>
        <p:spPr>
          <a:xfrm>
            <a:off x="6823710" y="324002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15-num349"/>
          <p:cNvSpPr txBox="1"/>
          <p:nvPr/>
        </p:nvSpPr>
        <p:spPr>
          <a:xfrm>
            <a:off x="6787134" y="327660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600" dirty="0"/>
          </a:p>
        </p:txBody>
      </p:sp>
      <p:sp>
        <p:nvSpPr>
          <p:cNvPr id="19" name="S15-op350"/>
          <p:cNvSpPr txBox="1"/>
          <p:nvPr/>
        </p:nvSpPr>
        <p:spPr>
          <a:xfrm>
            <a:off x="7486650" y="2663952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600" dirty="0"/>
          </a:p>
        </p:txBody>
      </p:sp>
      <p:sp>
        <p:nvSpPr>
          <p:cNvPr id="20" name="S15-num351"/>
          <p:cNvSpPr txBox="1"/>
          <p:nvPr/>
        </p:nvSpPr>
        <p:spPr>
          <a:xfrm>
            <a:off x="8044434" y="2663952"/>
            <a:ext cx="960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600" dirty="0"/>
          </a:p>
        </p:txBody>
      </p:sp>
      <p:sp>
        <p:nvSpPr>
          <p:cNvPr id="21" name="S15-fracbar352"/>
          <p:cNvSpPr/>
          <p:nvPr/>
        </p:nvSpPr>
        <p:spPr>
          <a:xfrm>
            <a:off x="8081010" y="3240024"/>
            <a:ext cx="88696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15-num353"/>
          <p:cNvSpPr txBox="1"/>
          <p:nvPr/>
        </p:nvSpPr>
        <p:spPr>
          <a:xfrm>
            <a:off x="8044434" y="3276600"/>
            <a:ext cx="960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600" dirty="0"/>
          </a:p>
        </p:txBody>
      </p:sp>
      <p:sp>
        <p:nvSpPr>
          <p:cNvPr id="23" name="S15-op354"/>
          <p:cNvSpPr txBox="1"/>
          <p:nvPr/>
        </p:nvSpPr>
        <p:spPr>
          <a:xfrm>
            <a:off x="9114282" y="2663952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600" dirty="0"/>
          </a:p>
        </p:txBody>
      </p:sp>
      <p:sp>
        <p:nvSpPr>
          <p:cNvPr id="24" name="S15-op355"/>
          <p:cNvSpPr txBox="1"/>
          <p:nvPr/>
        </p:nvSpPr>
        <p:spPr>
          <a:xfrm>
            <a:off x="9672066" y="2663952"/>
            <a:ext cx="1435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0.25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백분율</dc:title>
  <dc:subject>KR22-G06-MAT-PERCENT-L01</dc:subject>
  <dc:creator>education-ppt</dc:creator>
  <cp:lastModifiedBy>education-ppt</cp:lastModifiedBy>
  <cp:revision>1</cp:revision>
  <dcterms:created xsi:type="dcterms:W3CDTF">2026-10-26T09:05:42Z</dcterms:created>
  <dcterms:modified xsi:type="dcterms:W3CDTF">2026-10-26T09:05:42Z</dcterms:modified>
</cp:coreProperties>
</file>