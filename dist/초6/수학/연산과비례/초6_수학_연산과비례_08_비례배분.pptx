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e8e8c19-ea80-e1e8-e5ae-00ea210066f9}">
          <p14:sldIdLst>
            <p14:sldId id="256"/>
            <p14:sldId id="257"/>
          </p14:sldIdLst>
        </p14:section>
        <p14:section name="개념" id="{54bcf8b9-2d7e-af8d-07ee-0329a0d64fdb}">
          <p14:sldIdLst>
            <p14:sldId id="258"/>
            <p14:sldId id="259"/>
            <p14:sldId id="262"/>
          </p14:sldIdLst>
        </p14:section>
        <p14:section name="연습" id="{fc2bfaf8-d896-69d8-d728-4e0d367a9aea}">
          <p14:sldIdLst>
            <p14:sldId id="260"/>
            <p14:sldId id="261"/>
            <p14:sldId id="263"/>
            <p14:sldId id="264"/>
          </p14:sldIdLst>
        </p14:section>
        <p14:section name="개념" id="{fcee4958-98f7-0690-af4e-ff037ef4538d}">
          <p14:sldIdLst/>
        </p14:section>
        <p14:section name="연습" id="{6f66f73b-ffda-f2f3-84ce-9055af7ac21c}">
          <p14:sldIdLst/>
        </p14:section>
        <p14:section name="확인" id="{b1e04eff-9cf5-52c5-10bb-5a0cf66af2d9}">
          <p14:sldIdLst>
            <p14:sldId id="265"/>
            <p14:sldId id="266"/>
            <p14:sldId id="267"/>
          </p14:sldIdLst>
        </p14:section>
        <p14:section name="정리" id="{ef3db0ff-ccf1-dd2a-54b9-3a9b973ee103}">
          <p14:sldIdLst>
            <p14:sldId id="268"/>
          </p14:sldIdLst>
        </p14:section>
        <p14:section name="보충" id="{74d0c2c6-e91a-7be8-a4dc-cb1ddcff53e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전체를 주어진 비로 나누는 상황을 보여 주고 오늘 할 일을 알려 줍니다.
시간: 약 2분
이렇게 말해 보세요
- “사탕 35개를 형이 3, 동생이 4의 비율로 나누려고 해. 누가 더 많이 가질까? 몇 개씩일까?”
예상 답
- “동생이 더 많아요.” “15개, 20개요.” “모르겠어요.” 어떤 답이든 괜찮습니다.
막히면
- 답을 확인하지 않고 넘어갑니다. S03에서 띠 그림으로 나눕니다.
주의
- 답은 형 15개, 동생 20개입니다.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확인(비례식, 분수만큼, 간단한 비)]
목적: 지난 시간의 비례식과 간단한 자연수의 비, 5학년의 (자연수)×(분수)를 할 수 있는지 확인합니다. 오늘 모두 씁니다.
시간: 약 3분
이렇게 말해 보세요
- “①은 외항의 곱과 내항의 곱을 써 볼래?”
- “②는 20의 4분의 3이야. 20을 4묶음으로 나누면 한 묶음은?”
정답
- ① 20 (3 × □ = 5 × 12 = 60)
- ② 15
- ③ 3 : 2 (÷ 6)
막히면
- ②가 어려우면 S14(보충)를 먼저 합니다. ①③이 어려우면 앞 차시 ‘비례식’을 다시 합니다.
주의
- ②의 ‘전체의 몇 분의 몇 구하기’가 오늘 비례배분의 핵심 계산입니다.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띠 그림으로 비례배분]
목적: 전체를 (전항 + 후항)칸으로 나눈 띠 그림으로 비례배분의 뜻을 이해합니다.
시간: 약 4분
이렇게 말해 보세요
- “형이 3칸, 동생이 4칸을 가지면 띠는 모두 몇 칸이야?”
- “35개를 7칸에 똑같이 나누면 한 칸에 몇 개야? 형은 3칸이니까 몇 개?”
- “형 15개, 동생 20개를 비로 나타내면? 간단히 하면 3 : 4가 돼?”
예상 답
- “7칸이요.” “한 칸에 5개, 형은 15개, 동생은 20개요.” “15 : 20을 5로 나누면 3 : 4예요.”
막히면
- 바둑돌 35개를 7묶음(5개씩)으로 나눈 뒤 형에게 3묶음, 동생에게 4묶음을 줍니다.
주의
- 전체를 2로 나누거나(형과 동생이 두 명이라서) 3칸·4칸만 생각하지 않도록, 전체 칸 수가 3 + 4임을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식으로 비례배분하기(시범)]
목적: 비례배분을 전체 × (전항 ÷ (전항 + 후항)), 전체 × (후항 ÷ (전항 + 후항))의 식으로 나타내고 계산합니다.
시간: 약 3분
이렇게 말해 보세요
- “띠 7칸 중 형은 3칸이니까 전체의 몇 분의 몇이야?”
- “35 × 7분의 3은? 동생은?”
- “두 사람 것을 더하면 35가 돼?”
예상 답
- “7분의 3이요.” “15요. 동생은 7분의 4니까 20이요.” “네, 35예요.”
막히면
- 35 × 7분의 3은 35를 7로 나누고(5) 3을 곱하는 것이라고 S03의 띠와 연결해 줍니다.
주의
- 확인 두 가지: ① 두 양의 합이 전체인가(15 + 20 = 35), ② 두 양의 비가 주어진 비인가(15 : 20 = 3 :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연습(비례배분)]
목적: 도움을 받으며 수를 주어진 비로 비례배분합니다.
시간: 약 3분
이렇게 말해 보세요
- “전항과 후항을 더하면 몇이야? 그게 분모야.”
- “나눈 두 수를 더해서 전체가 되는지 확인해 볼래?”
정답
- ① 6과 18 (24 × 4분의 1, 24 × 4분의 3)
- ② 15와 25 (40 × 8분의 3, 40 × 8분의 5)
- ③ 24와 30 (54 × 9분의 4, 54 × 9분의 5)
막히면
- 띠를 (전항 + 후항)칸으로 그려 한 칸의 크기부터 구하게 합니다(① 24 ÷ 4 = 6).
주의
- ①의 1 : 3은 띠 4칸 중 1칸과 3칸입니다. 24 ÷ 3 = 8로 하면 M1입니다.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비교(분모를 후항으로)]
목적: 후항(또는 전항)을 분모로 쓰는 실수(M1)를 결과의 비로 확인해 반박합니다.
시간: 약 3분
이렇게 말해 보세요
- “토끼 말대로면 형 21개, 동생 7개야. 21 : 7을 간단히 하면 3 : 4야?”
- “곰은? 12 : 16을 간단히 하면?”
예상 답
- “21 : 7은 3 : 1이라서 아니에요.” “12 : 16은 4로 나누면 3 : 4예요. 곰이 맞아요.”
정답
- 곰이 맞습니다. 형 12개, 동생 16개(12 + 16 = 28, 12 : 16 = 3 : 4).
- 토끼는 분모를 전항과 후항의 합(7)이 아니라 후항(4)으로 썼습니다.
막히면
- S03처럼 띠를 7칸으로 그리고 한 칸이 4개임을 확인합니다.
주의
- 두 가지 확인(합, 비) 중 비로 확인하면 이 실수를 찾을 수 있습니다.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직사각형 둘레를 비례배분하기(시범)]
목적: 직사각형의 둘레가 주어졌을 때 가로와 세로의 합(둘레의 반)을 비례배분해야 함을 보여 줍니다.
시간: 약 4분
이렇게 말해 보세요
- “직사각형의 둘레는 가로, 세로, 가로, 세로를 더한 거야. 가로와 세로를 한 번씩만 더하면 몇 cm야?”
- “30 cm를 3 : 2로 나누면 가로와 세로는?”
- “둘레를 다시 구해서 60 cm인지 확인해 볼까?”
예상 답
- “30 cm요.” “가로 18 cm, 세로 12 cm요.” “(18 + 12) × 2 = 60이에요.”
막히면
- 끈 60 cm로 직사각형을 만들어 보면 가로와 세로가 두 번씩 들어간다는 것이 보입니다.
주의
- 둘레 60 cm를 바로 3 : 2로 나누면(36, 24) 둘레가 120 cm가 됩니다(M2, S08).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비교(둘레 전체를 비례배분)]
목적: 둘레 전체를 가로와 세로의 비로 나누는 실수(M2)를 둘레를 다시 구해 찾습니다.
시간: 약 3분
이렇게 말해 보세요
- “토끼의 직사각형은 가로 30 cm, 세로 10 cm야. 둘레는?”
- “곰의 직사각형은?”
예상 답
- “토끼는 (30 + 10) × 2 = 80 cm라서 틀려요.” “곰은 (15 + 5) × 2 = 40 cm라서 맞아요.”
정답
- 곰이 맞습니다. 가로 15 cm, 세로 5 cm.
- 토끼는 둘레 40 cm를 가로 하나, 세로 하나에 모두 나누어 둘레가 80 cm가 되었습니다.
막히면
- 모눈종이에 토끼와 곰의 직사각형을 그려 둘레를 세어 봅니다(1칸 = 1 cm).
주의
- 비례배분한 다음 ‘처음 조건에 맞는지’ 확인하는 습관이 목표 B의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연습(생활 속 비례배분)]
목적: 도움을 받으며 생활 문제에서 비례배분하고 확인합니다.
시간: 약 3분
이렇게 말해 보세요
- “②는 2 m를 cm로 바꾸면 몇 cm야?”
- “③은 무엇을 4 : 3으로 나누어야 할까?”
정답
- ① 언니 30개, 나 18개
- ② 120 cm와 80 cm (200 cm를 3 : 2로)
- ③ 가로 16 cm, 세로 12 cm (56 ÷ 2 = 28을 4 : 3으로)
막히면
- ③은 S07을 다시 보여 주고 ‘가로와 세로의 합’부터 구하게 합니다.
주의
- ②를 m로 계산하면 1.2 m와 0.8 m입니다. 이것도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비례배분하고(A), 생활 문제에서 무엇을 나눌지 판단하고 확인하는지(B) 봅니다.
시간: 약 4분
이렇게 말해 보세요
- “이번에는 혼자 해 볼래? 답을 구하면 합과 비로 확인해 봐.”
정답
- ① 20개와 25개
- ② 20과 50
- ③ 가 반 21권, 나 반 15권 (28 : 20 = 7 : 5)
- ④ 10 cm (36 ÷ 2 = 18을 5 : 4로, 세로 8 cm)
막히면
- 바로 알려 주지 말고 “분모는 몇이야?” 또는 “무엇을 나누어야 해?”라고만 묻습니다.
- 도움을 받아 해결했다면 기록표에 ‘도움’으로 표시합니다.
주의
- ③은 28 : 20을 간단히 하지 않고 48을 분모로 해도 같은 답입니다(36 × 48분의 28 = 21). 정답 확인은 다음 장(S11)에서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분모를 잘못 잡거나 둘레 전체를 나누는 실수를 바로잡습니다. 수업용에만 있는 장입니다.
시간: 약 2분
이렇게 말해 보세요
- “네 답과 같은지 볼까? ④는 가로 10 cm, 세로 8 cm로 둘레를 다시 구해 보자.”
정답
- ① 20개, 25개 ② 20, 50 ③ 21권, 15권 ④ 10 cm
막히면
- ①②가 틀리면 S06으로(M1), ④가 20 cm이면 S08로(M2) 돌아갑니다.
주의
- ①의 ‘36개, 9개’는 45 × 5분의 4 = 36으로 분모를 후항으로 쓴 경우입니다.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확인(비례배분 결과 고르기)]
목적: 처음 보는 문제에서 비례배분한 결과를 합과 비 두 가지로 판단하는지 확인합니다.
시간: 약 2분
이렇게 말해 보세요
- “세 개 모두 합은 36이야. 그러면 무엇으로 골라야 할까?”
정답
- 가(20과 16)입니다. 20 : 16 = 5 : 4.
- 나(16 : 20 = 4 : 5)는 순서가 바뀌었고, 다(18 : 18 = 1 : 1)는 똑같이 나눈 것입니다.
막히면
- 각 보기의 비를 간단히 해 보게 합니다(20 : 16 → ÷ 4 → 5 : 4).
주의
- 합만 보면 셋 다 맞아 보입니다. 비까지 확인해야 한다는 까닭을 말하면 목표 A·B 확인 완료입니다(M3).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“비례배분이 무엇인지, 어떻게 확인하는지 말해 볼래?”
- “다음 수업을 시작할 때 이 세 문제를 먼저 풀 거야.”
예상 답
- “전체를 주어진 비로 나누는 거예요.” “더해서 전체가 되는지, 비가 맞는지 확인해요.”
정답
- ① 12와 18 ② 21과 35 ③ 15 cm (50 ÷ 2 = 25를 3 : 2로, 세로 10 cm)
막히면
- S03의 띠 그림과 S07을 다시 보여 줍니다.
주의
- 다음 차시 ‘각기둥과 각뿔’은 도형 단원입니다. 복습 세 문제로 비와 비율 단원을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보충(전체의 몇 분의 몇)]
목적: S02 ②가 흔들리면 ‘전체의 몇 분의 몇’을 띠 그림과 곱셈으로 다시 구합니다. 비례배분의 핵심 계산입니다.
시간: 약 5분
이렇게 말해 보세요
- “20을 4칸에 똑같이 나누면 한 칸에 얼마야? 3칸은?”
- “이번에는 35의 7분의 3을 같은 방법으로 해 볼래?”
정답
- 20 × 4분의 3 = 15
- 35 × 7분의 3 = 15 (한 칸 5, 3칸)
막히면
- 바둑돌 20개를 4묶음으로 나눈 뒤 3묶음을 셉니다.
주의
- 보충으로도 어려우면 초5 ‘분수와 자연수의 곱셈’을 먼저 다시 합니다. 비례식이 흔들리면 앞 차시 ‘비례식’을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35개를 형과 동생이 3 : 4로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나누면 각각 몇 개일까?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→ 3 : 4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전체를 주어진 비로 나누어요.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나눈 양이 맞는지 두 가지로 확인해요.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 = 12 :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op7"/>
          <p:cNvSpPr txBox="1"/>
          <p:nvPr/>
        </p:nvSpPr>
        <p:spPr>
          <a:xfrm>
            <a:off x="1344168" y="3232912"/>
            <a:ext cx="79248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7" name="S02-op8"/>
          <p:cNvSpPr txBox="1"/>
          <p:nvPr/>
        </p:nvSpPr>
        <p:spPr>
          <a:xfrm>
            <a:off x="2246376" y="32329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8" name="S02-num9"/>
          <p:cNvSpPr txBox="1"/>
          <p:nvPr/>
        </p:nvSpPr>
        <p:spPr>
          <a:xfrm>
            <a:off x="3010408" y="32329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2-fracbar10"/>
          <p:cNvSpPr/>
          <p:nvPr/>
        </p:nvSpPr>
        <p:spPr>
          <a:xfrm>
            <a:off x="3046984" y="37490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2-num11"/>
          <p:cNvSpPr txBox="1"/>
          <p:nvPr/>
        </p:nvSpPr>
        <p:spPr>
          <a:xfrm>
            <a:off x="3010408" y="37856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02-op12"/>
          <p:cNvSpPr txBox="1"/>
          <p:nvPr/>
        </p:nvSpPr>
        <p:spPr>
          <a:xfrm>
            <a:off x="3656584" y="32329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2-blank13"/>
          <p:cNvSpPr/>
          <p:nvPr/>
        </p:nvSpPr>
        <p:spPr>
          <a:xfrm>
            <a:off x="4342750" y="35716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: 12를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그림으로 나눠요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35개를 형과 동생이 3 : 4로 나눠요.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주어진 비로 나누는 것을 비례배분이라고 해요.</a:t>
            </a:r>
            <a:endParaRPr lang="ko-KR" sz="2800" dirty="0"/>
          </a:p>
        </p:txBody>
      </p:sp>
      <p:sp>
        <p:nvSpPr>
          <p:cNvPr id="6" name="S03-card19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0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칸?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7(칸)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칸: 35 ÷ 7 = 5(개)</a:t>
            </a:r>
            <a:endParaRPr lang="ko-KR" sz="2800" dirty="0"/>
          </a:p>
        </p:txBody>
      </p:sp>
      <p:sp>
        <p:nvSpPr>
          <p:cNvPr id="8" name="S03-card21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2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 3칸, 동생 4칸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형: 5 × 3 = 15(개)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5 × 4 = 20(개)</a:t>
            </a:r>
            <a:endParaRPr lang="ko-KR" sz="2800" dirty="0"/>
          </a:p>
        </p:txBody>
      </p:sp>
      <p:sp>
        <p:nvSpPr>
          <p:cNvPr id="10" name="S03-label23"/>
          <p:cNvSpPr txBox="1"/>
          <p:nvPr/>
        </p:nvSpPr>
        <p:spPr>
          <a:xfrm>
            <a:off x="548640" y="2279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35개</a:t>
            </a:r>
            <a:endParaRPr lang="ko-KR" sz="2200" dirty="0"/>
          </a:p>
        </p:txBody>
      </p:sp>
      <p:sp>
        <p:nvSpPr>
          <p:cNvPr id="11" name="S03-cell24"/>
          <p:cNvSpPr/>
          <p:nvPr/>
        </p:nvSpPr>
        <p:spPr>
          <a:xfrm>
            <a:off x="1600200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25"/>
          <p:cNvSpPr/>
          <p:nvPr/>
        </p:nvSpPr>
        <p:spPr>
          <a:xfrm>
            <a:off x="3034502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26"/>
          <p:cNvSpPr/>
          <p:nvPr/>
        </p:nvSpPr>
        <p:spPr>
          <a:xfrm>
            <a:off x="4468803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27"/>
          <p:cNvSpPr/>
          <p:nvPr/>
        </p:nvSpPr>
        <p:spPr>
          <a:xfrm>
            <a:off x="5903105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28"/>
          <p:cNvSpPr/>
          <p:nvPr/>
        </p:nvSpPr>
        <p:spPr>
          <a:xfrm>
            <a:off x="7337407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29"/>
          <p:cNvSpPr/>
          <p:nvPr/>
        </p:nvSpPr>
        <p:spPr>
          <a:xfrm>
            <a:off x="8771709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30"/>
          <p:cNvSpPr/>
          <p:nvPr/>
        </p:nvSpPr>
        <p:spPr>
          <a:xfrm>
            <a:off x="10206010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figure31" descr="똑같이 7칸으로 나눈 띠, 3칸 색칠"/>
          <p:cNvSpPr/>
          <p:nvPr/>
        </p:nvSpPr>
        <p:spPr>
          <a:xfrm>
            <a:off x="1600200" y="2279904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나눠요</a:t>
            </a:r>
            <a:endParaRPr lang="ko-KR" sz="4000" dirty="0"/>
          </a:p>
        </p:txBody>
      </p:sp>
      <p:sp>
        <p:nvSpPr>
          <p:cNvPr id="3" name="S04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35를 3 : 4로 비례배분해요.</a:t>
            </a:r>
            <a:endParaRPr lang="ko-KR" sz="2800" dirty="0"/>
          </a:p>
        </p:txBody>
      </p:sp>
      <p:sp>
        <p:nvSpPr>
          <p:cNvPr id="4" name="S04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전항과 후항의 합(3 + 4 = 7)이에요.</a:t>
            </a:r>
            <a:endParaRPr lang="ko-KR" sz="2800" dirty="0"/>
          </a:p>
        </p:txBody>
      </p:sp>
      <p:sp>
        <p:nvSpPr>
          <p:cNvPr id="6" name="S04-stepno35"/>
          <p:cNvSpPr txBox="1"/>
          <p:nvPr/>
        </p:nvSpPr>
        <p:spPr>
          <a:xfrm>
            <a:off x="548640" y="2101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36"/>
          <p:cNvSpPr txBox="1"/>
          <p:nvPr/>
        </p:nvSpPr>
        <p:spPr>
          <a:xfrm>
            <a:off x="1325880" y="2055368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형: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3</a:t>
            </a:r>
            <a:endParaRPr lang="ko-KR" sz="2800" dirty="0"/>
          </a:p>
        </p:txBody>
      </p:sp>
      <p:sp>
        <p:nvSpPr>
          <p:cNvPr id="8" name="S04-op37"/>
          <p:cNvSpPr txBox="1"/>
          <p:nvPr/>
        </p:nvSpPr>
        <p:spPr>
          <a:xfrm>
            <a:off x="6981810" y="205536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800" dirty="0"/>
          </a:p>
        </p:txBody>
      </p:sp>
      <p:sp>
        <p:nvSpPr>
          <p:cNvPr id="9" name="S04-op38"/>
          <p:cNvSpPr txBox="1"/>
          <p:nvPr/>
        </p:nvSpPr>
        <p:spPr>
          <a:xfrm>
            <a:off x="7816962" y="205536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0" name="S04-num39"/>
          <p:cNvSpPr txBox="1"/>
          <p:nvPr/>
        </p:nvSpPr>
        <p:spPr>
          <a:xfrm>
            <a:off x="8531210" y="205536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1" name="S04-fracbar40"/>
          <p:cNvSpPr/>
          <p:nvPr/>
        </p:nvSpPr>
        <p:spPr>
          <a:xfrm>
            <a:off x="8567786" y="251155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num41"/>
          <p:cNvSpPr txBox="1"/>
          <p:nvPr/>
        </p:nvSpPr>
        <p:spPr>
          <a:xfrm>
            <a:off x="8531210" y="25481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3" name="S04-op42"/>
          <p:cNvSpPr txBox="1"/>
          <p:nvPr/>
        </p:nvSpPr>
        <p:spPr>
          <a:xfrm>
            <a:off x="9124046" y="205536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4" name="S04-op43"/>
          <p:cNvSpPr txBox="1"/>
          <p:nvPr/>
        </p:nvSpPr>
        <p:spPr>
          <a:xfrm>
            <a:off x="9639158" y="205536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5" name="S04-stepno44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45"/>
          <p:cNvSpPr txBox="1"/>
          <p:nvPr/>
        </p:nvSpPr>
        <p:spPr>
          <a:xfrm>
            <a:off x="1325880" y="3132328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4</a:t>
            </a:r>
            <a:endParaRPr lang="ko-KR" sz="2800" dirty="0"/>
          </a:p>
        </p:txBody>
      </p:sp>
      <p:sp>
        <p:nvSpPr>
          <p:cNvPr id="17" name="S04-op46"/>
          <p:cNvSpPr txBox="1"/>
          <p:nvPr/>
        </p:nvSpPr>
        <p:spPr>
          <a:xfrm>
            <a:off x="6981810" y="313232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800" dirty="0"/>
          </a:p>
        </p:txBody>
      </p:sp>
      <p:sp>
        <p:nvSpPr>
          <p:cNvPr id="18" name="S04-op47"/>
          <p:cNvSpPr txBox="1"/>
          <p:nvPr/>
        </p:nvSpPr>
        <p:spPr>
          <a:xfrm>
            <a:off x="7816962" y="313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9" name="S04-num48"/>
          <p:cNvSpPr txBox="1"/>
          <p:nvPr/>
        </p:nvSpPr>
        <p:spPr>
          <a:xfrm>
            <a:off x="8531210" y="313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0" name="S04-fracbar49"/>
          <p:cNvSpPr/>
          <p:nvPr/>
        </p:nvSpPr>
        <p:spPr>
          <a:xfrm>
            <a:off x="8567786" y="358851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num50"/>
          <p:cNvSpPr txBox="1"/>
          <p:nvPr/>
        </p:nvSpPr>
        <p:spPr>
          <a:xfrm>
            <a:off x="8531210" y="362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2" name="S04-op51"/>
          <p:cNvSpPr txBox="1"/>
          <p:nvPr/>
        </p:nvSpPr>
        <p:spPr>
          <a:xfrm>
            <a:off x="9124046" y="313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4-op52"/>
          <p:cNvSpPr txBox="1"/>
          <p:nvPr/>
        </p:nvSpPr>
        <p:spPr>
          <a:xfrm>
            <a:off x="9639158" y="313232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4" name="S04-stepno53"/>
          <p:cNvSpPr txBox="1"/>
          <p:nvPr/>
        </p:nvSpPr>
        <p:spPr>
          <a:xfrm>
            <a:off x="548640" y="4255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04-text54"/>
          <p:cNvSpPr txBox="1"/>
          <p:nvPr/>
        </p:nvSpPr>
        <p:spPr>
          <a:xfrm>
            <a:off x="1325880" y="4209288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합이 전체인지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2800" dirty="0"/>
          </a:p>
        </p:txBody>
      </p:sp>
      <p:sp>
        <p:nvSpPr>
          <p:cNvPr id="26" name="S04-eqtext55"/>
          <p:cNvSpPr txBox="1"/>
          <p:nvPr/>
        </p:nvSpPr>
        <p:spPr>
          <a:xfrm>
            <a:off x="6981810" y="4209288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+ 20 = 35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비례배분해 봐요</a:t>
            </a:r>
            <a:endParaRPr lang="ko-KR" sz="4000" dirty="0"/>
          </a:p>
        </p:txBody>
      </p:sp>
      <p:sp>
        <p:nvSpPr>
          <p:cNvPr id="3" name="S05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전항과 후항의 합이에요.</a:t>
            </a:r>
            <a:endParaRPr lang="ko-KR" sz="2800" dirty="0"/>
          </a:p>
        </p:txBody>
      </p:sp>
      <p:sp>
        <p:nvSpPr>
          <p:cNvPr id="5" name="S05-chip5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59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24를 1 : 3으로</a:t>
            </a:r>
            <a:endParaRPr lang="ko-KR" sz="2800" dirty="0"/>
          </a:p>
        </p:txBody>
      </p:sp>
      <p:sp>
        <p:nvSpPr>
          <p:cNvPr id="7" name="S05-chip6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61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40을 3 : 5로</a:t>
            </a:r>
            <a:endParaRPr lang="ko-KR" sz="2800" dirty="0"/>
          </a:p>
        </p:txBody>
      </p:sp>
      <p:sp>
        <p:nvSpPr>
          <p:cNvPr id="9" name="S05-chip6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63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54를 4 : 5로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28개를 형과 동생이 3 : 4로 나눴어요.</a:t>
            </a:r>
            <a:endParaRPr lang="ko-KR" sz="2800" dirty="0"/>
          </a:p>
        </p:txBody>
      </p:sp>
      <p:sp>
        <p:nvSpPr>
          <p:cNvPr id="5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사탕 수의 비가 3 : 4인지 확인해요.</a:t>
            </a:r>
            <a:endParaRPr lang="ko-KR" sz="2800" dirty="0"/>
          </a:p>
        </p:txBody>
      </p:sp>
      <p:sp>
        <p:nvSpPr>
          <p:cNvPr id="7" name="S06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형 21개</a:t>
            </a:r>
            <a:endParaRPr lang="ko-KR" sz="2200" dirty="0"/>
          </a:p>
        </p:txBody>
      </p:sp>
      <p:sp>
        <p:nvSpPr>
          <p:cNvPr id="8" name="S06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4분의 3 =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28 − 21 = 7</a:t>
            </a:r>
            <a:endParaRPr lang="ko-KR" sz="2800" dirty="0"/>
          </a:p>
        </p:txBody>
      </p:sp>
      <p:sp>
        <p:nvSpPr>
          <p:cNvPr id="9" name="S06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형 12개</a:t>
            </a:r>
            <a:endParaRPr lang="ko-KR" sz="2200" dirty="0"/>
          </a:p>
        </p:txBody>
      </p:sp>
      <p:sp>
        <p:nvSpPr>
          <p:cNvPr id="10" name="S06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7분의 3 =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28 × 7분의 4 = 16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가로와 세로</a:t>
            </a:r>
            <a:endParaRPr lang="ko-KR" sz="4000" dirty="0"/>
          </a:p>
        </p:txBody>
      </p:sp>
      <p:sp>
        <p:nvSpPr>
          <p:cNvPr id="3" name="S07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60 cm, 가로 : 세로 = 3 : 2예요.</a:t>
            </a:r>
            <a:endParaRPr lang="ko-KR" sz="2800" dirty="0"/>
          </a:p>
        </p:txBody>
      </p:sp>
      <p:sp>
        <p:nvSpPr>
          <p:cNvPr id="4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(18 + 12) × 2 = 60, 18 : 12 = 3 : 2</a:t>
            </a:r>
            <a:endParaRPr lang="ko-KR" sz="2800" dirty="0"/>
          </a:p>
        </p:txBody>
      </p:sp>
      <p:sp>
        <p:nvSpPr>
          <p:cNvPr id="6" name="S07-figure75" descr="가로와 세로의 비가 3 : 2인 직사각형"/>
          <p:cNvSpPr/>
          <p:nvPr/>
        </p:nvSpPr>
        <p:spPr>
          <a:xfrm>
            <a:off x="8338048" y="265176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label77"/>
          <p:cNvSpPr txBox="1"/>
          <p:nvPr/>
        </p:nvSpPr>
        <p:spPr>
          <a:xfrm>
            <a:off x="9380972" y="45573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</a:t>
            </a:r>
            <a:endParaRPr lang="ko-KR" sz="2200" dirty="0"/>
          </a:p>
        </p:txBody>
      </p:sp>
      <p:sp>
        <p:nvSpPr>
          <p:cNvPr id="8" name="S07-label79"/>
          <p:cNvSpPr txBox="1"/>
          <p:nvPr/>
        </p:nvSpPr>
        <p:spPr>
          <a:xfrm>
            <a:off x="11110204" y="33915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</a:t>
            </a:r>
            <a:endParaRPr lang="ko-KR" sz="2200" dirty="0"/>
          </a:p>
        </p:txBody>
      </p:sp>
      <p:sp>
        <p:nvSpPr>
          <p:cNvPr id="9" name="S07-stepno80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0" name="S07-text81"/>
          <p:cNvSpPr txBox="1"/>
          <p:nvPr/>
        </p:nvSpPr>
        <p:spPr>
          <a:xfrm>
            <a:off x="1325880" y="2100072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세로의 합: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÷ 2 = 30(cm)</a:t>
            </a:r>
            <a:endParaRPr lang="ko-KR" sz="2800" dirty="0"/>
          </a:p>
        </p:txBody>
      </p:sp>
      <p:sp>
        <p:nvSpPr>
          <p:cNvPr id="11" name="S07-stepno82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2" name="S07-text83"/>
          <p:cNvSpPr txBox="1"/>
          <p:nvPr/>
        </p:nvSpPr>
        <p:spPr>
          <a:xfrm>
            <a:off x="1325880" y="3132328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30 × 5분의 3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18(cm)</a:t>
            </a:r>
            <a:endParaRPr lang="ko-KR" sz="2800" dirty="0"/>
          </a:p>
        </p:txBody>
      </p:sp>
      <p:sp>
        <p:nvSpPr>
          <p:cNvPr id="13" name="S07-stepno84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" name="S07-text85"/>
          <p:cNvSpPr txBox="1"/>
          <p:nvPr/>
        </p:nvSpPr>
        <p:spPr>
          <a:xfrm>
            <a:off x="1325880" y="4164584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30 × 5분의 2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12(cm)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직사각형일까요?</a:t>
            </a:r>
            <a:endParaRPr lang="ko-KR" sz="4000" dirty="0"/>
          </a:p>
        </p:txBody>
      </p:sp>
      <p:sp>
        <p:nvSpPr>
          <p:cNvPr id="3" name="S08-card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40 cm, 가로 : 세로 = 3 : 1인 직사각형을 그려요.</a:t>
            </a:r>
            <a:endParaRPr lang="ko-KR" sz="2800" dirty="0"/>
          </a:p>
        </p:txBody>
      </p:sp>
      <p:sp>
        <p:nvSpPr>
          <p:cNvPr id="5" name="S08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토끼와 곰의 직사각형의 둘레를 구해 봐요.</a:t>
            </a:r>
            <a:endParaRPr lang="ko-KR" sz="2800" dirty="0"/>
          </a:p>
        </p:txBody>
      </p:sp>
      <p:sp>
        <p:nvSpPr>
          <p:cNvPr id="7" name="S08-chip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가로 30 cm</a:t>
            </a:r>
            <a:endParaRPr lang="ko-KR" sz="2200" dirty="0"/>
          </a:p>
        </p:txBody>
      </p:sp>
      <p:sp>
        <p:nvSpPr>
          <p:cNvPr id="8" name="S08-text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4분의 3 = 30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4분의 1 = 10</a:t>
            </a:r>
            <a:endParaRPr lang="ko-KR" sz="2800" dirty="0"/>
          </a:p>
        </p:txBody>
      </p:sp>
      <p:sp>
        <p:nvSpPr>
          <p:cNvPr id="9" name="S08-chip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가로 15 cm</a:t>
            </a:r>
            <a:endParaRPr lang="ko-KR" sz="2200" dirty="0"/>
          </a:p>
        </p:txBody>
      </p:sp>
      <p:sp>
        <p:nvSpPr>
          <p:cNvPr id="10" name="S08-text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+ 세로 = 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4분의 3 = 15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4분의 1 = 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비례배분</a:t>
            </a:r>
            <a:endParaRPr lang="ko-KR" sz="4000" dirty="0"/>
          </a:p>
        </p:txBody>
      </p:sp>
      <p:sp>
        <p:nvSpPr>
          <p:cNvPr id="3" name="S09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두 양의 합과 비로 확인해요.</a:t>
            </a:r>
            <a:endParaRPr lang="ko-KR" sz="2800" dirty="0"/>
          </a:p>
        </p:txBody>
      </p:sp>
      <p:sp>
        <p:nvSpPr>
          <p:cNvPr id="5" name="S09-chip9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97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48개를 언니와 나가 5 : 3으로 나누면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개인가요?</a:t>
            </a:r>
            <a:endParaRPr lang="ko-KR" sz="2800" dirty="0"/>
          </a:p>
        </p:txBody>
      </p:sp>
      <p:sp>
        <p:nvSpPr>
          <p:cNvPr id="7" name="S09-chip9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99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2 m를 3 : 2로 자르면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cm인가요?</a:t>
            </a:r>
            <a:endParaRPr lang="ko-KR" sz="2800" dirty="0"/>
          </a:p>
        </p:txBody>
      </p:sp>
      <p:sp>
        <p:nvSpPr>
          <p:cNvPr id="9" name="S09-chip10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01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56 cm, 가로 : 세로 = 4 : 3인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가로와 세로는?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10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10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45개를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5로 나누기</a:t>
            </a:r>
            <a:endParaRPr lang="ko-KR" sz="2800" dirty="0"/>
          </a:p>
        </p:txBody>
      </p:sp>
      <p:sp>
        <p:nvSpPr>
          <p:cNvPr id="5" name="S10-chip10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10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70을 2 : 5로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비례배분하기</a:t>
            </a:r>
            <a:endParaRPr lang="ko-KR" sz="2800" dirty="0"/>
          </a:p>
        </p:txBody>
      </p:sp>
      <p:sp>
        <p:nvSpPr>
          <p:cNvPr id="7" name="S10-chip10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10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36권을 가 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28명, 나 반 20명에게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수의 비로</a:t>
            </a:r>
            <a:endParaRPr lang="ko-KR" sz="2800" dirty="0"/>
          </a:p>
        </p:txBody>
      </p:sp>
      <p:sp>
        <p:nvSpPr>
          <p:cNvPr id="9" name="S10-chip10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10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 36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: 세로 = 5 : 4인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답의 합이 전체인지, 비가 주어진 비인지 확인하게 하세요.</a:t>
            </a:r>
            <a:endParaRPr lang="ko-KR" sz="2800" dirty="0"/>
          </a:p>
        </p:txBody>
      </p:sp>
      <p:sp>
        <p:nvSpPr>
          <p:cNvPr id="5" name="S11-chip11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113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20개, 25개</a:t>
            </a:r>
            <a:endParaRPr lang="ko-KR" sz="2800" dirty="0"/>
          </a:p>
        </p:txBody>
      </p:sp>
      <p:sp>
        <p:nvSpPr>
          <p:cNvPr id="7" name="S11-text114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9분의 4, 9분의 5</a:t>
            </a:r>
            <a:endParaRPr lang="ko-KR" sz="2200" dirty="0"/>
          </a:p>
        </p:txBody>
      </p:sp>
      <p:sp>
        <p:nvSpPr>
          <p:cNvPr id="8" name="S11-text115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20, 50</a:t>
            </a:r>
            <a:endParaRPr lang="ko-KR" sz="2800" dirty="0"/>
          </a:p>
        </p:txBody>
      </p:sp>
      <p:sp>
        <p:nvSpPr>
          <p:cNvPr id="9" name="S11-text116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2, 7분의 5</a:t>
            </a:r>
            <a:endParaRPr lang="ko-KR" sz="2200" dirty="0"/>
          </a:p>
        </p:txBody>
      </p:sp>
      <p:sp>
        <p:nvSpPr>
          <p:cNvPr id="10" name="S11-text117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21권, 15권</a:t>
            </a:r>
            <a:endParaRPr lang="ko-KR" sz="2800" dirty="0"/>
          </a:p>
        </p:txBody>
      </p:sp>
      <p:sp>
        <p:nvSpPr>
          <p:cNvPr id="11" name="S11-text118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5</a:t>
            </a:r>
            <a:endParaRPr lang="ko-KR" sz="2200" dirty="0"/>
          </a:p>
        </p:txBody>
      </p:sp>
      <p:sp>
        <p:nvSpPr>
          <p:cNvPr id="12" name="S11-text119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10 cm</a:t>
            </a:r>
            <a:endParaRPr lang="ko-KR" sz="2800" dirty="0"/>
          </a:p>
        </p:txBody>
      </p:sp>
      <p:sp>
        <p:nvSpPr>
          <p:cNvPr id="13" name="S11-text120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18을 5 : 4로</a:t>
            </a:r>
            <a:endParaRPr lang="ko-KR" sz="2200" dirty="0"/>
          </a:p>
        </p:txBody>
      </p:sp>
      <p:sp>
        <p:nvSpPr>
          <p:cNvPr id="14" name="S11-chip12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1-text12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36개, 9개</a:t>
            </a:r>
            <a:endParaRPr lang="ko-KR" sz="2800" dirty="0"/>
          </a:p>
        </p:txBody>
      </p:sp>
      <p:sp>
        <p:nvSpPr>
          <p:cNvPr id="16" name="S11-text12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5로</a:t>
            </a:r>
            <a:endParaRPr lang="ko-KR" sz="2200" dirty="0"/>
          </a:p>
        </p:txBody>
      </p:sp>
      <p:sp>
        <p:nvSpPr>
          <p:cNvPr id="17" name="S11-text12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20 cm</a:t>
            </a:r>
            <a:endParaRPr lang="ko-KR" sz="2800" dirty="0"/>
          </a:p>
        </p:txBody>
      </p:sp>
      <p:sp>
        <p:nvSpPr>
          <p:cNvPr id="18" name="S11-text12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36을 5 : 4로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36을 5 : 4로 나눈 것은?</a:t>
            </a:r>
            <a:endParaRPr lang="ko-KR" sz="4000" dirty="0"/>
          </a:p>
        </p:txBody>
      </p:sp>
      <p:sp>
        <p:nvSpPr>
          <p:cNvPr id="3" name="S12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합과 비로 확인해요.</a:t>
            </a:r>
            <a:endParaRPr lang="ko-KR" sz="2800" dirty="0"/>
          </a:p>
        </p:txBody>
      </p:sp>
      <p:sp>
        <p:nvSpPr>
          <p:cNvPr id="5" name="S12-chip12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129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130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20과 16</a:t>
            </a:r>
            <a:endParaRPr lang="ko-KR" sz="2800" dirty="0"/>
          </a:p>
        </p:txBody>
      </p:sp>
      <p:sp>
        <p:nvSpPr>
          <p:cNvPr id="8" name="S12-chip13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132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33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20</a:t>
            </a:r>
            <a:endParaRPr lang="ko-KR" sz="2800" dirty="0"/>
          </a:p>
        </p:txBody>
      </p:sp>
      <p:sp>
        <p:nvSpPr>
          <p:cNvPr id="11" name="S12-chip13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135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136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18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비례배분할 때 분모는 전항과 후항의 합이에요.</a:t>
            </a:r>
            <a:endParaRPr lang="ko-KR" sz="2800" dirty="0"/>
          </a:p>
        </p:txBody>
      </p:sp>
      <p:sp>
        <p:nvSpPr>
          <p:cNvPr id="5" name="S13-chip13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합과 비로 두 번 확인</a:t>
            </a:r>
            <a:endParaRPr lang="ko-KR" sz="2200" dirty="0"/>
          </a:p>
        </p:txBody>
      </p:sp>
      <p:sp>
        <p:nvSpPr>
          <p:cNvPr id="6" name="S13-chip14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둘레 전체를 그대로 나누기</a:t>
            </a:r>
            <a:endParaRPr lang="ko-KR" sz="2200" dirty="0"/>
          </a:p>
        </p:txBody>
      </p:sp>
      <p:sp>
        <p:nvSpPr>
          <p:cNvPr id="7" name="S13-text14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4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30을 2 : 3으로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2200" dirty="0"/>
          </a:p>
        </p:txBody>
      </p:sp>
      <p:sp>
        <p:nvSpPr>
          <p:cNvPr id="9" name="S13-text14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56을 3 : 5로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2200" dirty="0"/>
          </a:p>
        </p:txBody>
      </p:sp>
      <p:sp>
        <p:nvSpPr>
          <p:cNvPr id="10" name="S13-text14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둘레 50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: 세로 = 3 : 2인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</a:t>
            </a:r>
            <a:endParaRPr lang="ko-KR" sz="2200" dirty="0"/>
          </a:p>
        </p:txBody>
      </p:sp>
      <p:sp>
        <p:nvSpPr>
          <p:cNvPr id="11" name="S13-text14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각기둥과 각뿔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20의 4분의 3 구하기</a:t>
            </a:r>
            <a:endParaRPr lang="ko-KR" sz="4000" dirty="0"/>
          </a:p>
        </p:txBody>
      </p:sp>
      <p:sp>
        <p:nvSpPr>
          <p:cNvPr id="3" name="S14-card146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47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20을 4칸으로 나누면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5</a:t>
            </a:r>
            <a:endParaRPr lang="ko-KR" sz="2800" dirty="0"/>
          </a:p>
        </p:txBody>
      </p:sp>
      <p:sp>
        <p:nvSpPr>
          <p:cNvPr id="5" name="S14-card148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49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</a:t>
            </a:r>
            <a:endParaRPr lang="ko-KR" sz="2800" dirty="0"/>
          </a:p>
        </p:txBody>
      </p:sp>
      <p:sp>
        <p:nvSpPr>
          <p:cNvPr id="7" name="S14-num150"/>
          <p:cNvSpPr txBox="1"/>
          <p:nvPr/>
        </p:nvSpPr>
        <p:spPr>
          <a:xfrm>
            <a:off x="764286" y="24409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4-fracbar151"/>
          <p:cNvSpPr/>
          <p:nvPr/>
        </p:nvSpPr>
        <p:spPr>
          <a:xfrm>
            <a:off x="800862" y="28971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num152"/>
          <p:cNvSpPr txBox="1"/>
          <p:nvPr/>
        </p:nvSpPr>
        <p:spPr>
          <a:xfrm>
            <a:off x="764286" y="29337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4-cell153"/>
          <p:cNvSpPr/>
          <p:nvPr/>
        </p:nvSpPr>
        <p:spPr>
          <a:xfrm>
            <a:off x="1600200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154"/>
          <p:cNvSpPr/>
          <p:nvPr/>
        </p:nvSpPr>
        <p:spPr>
          <a:xfrm>
            <a:off x="2683764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155"/>
          <p:cNvSpPr/>
          <p:nvPr/>
        </p:nvSpPr>
        <p:spPr>
          <a:xfrm>
            <a:off x="3767328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156"/>
          <p:cNvSpPr/>
          <p:nvPr/>
        </p:nvSpPr>
        <p:spPr>
          <a:xfrm>
            <a:off x="4850892" y="24856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figure157" descr="똑같이 4칸으로 나눈 띠, 3칸 색칠"/>
          <p:cNvSpPr/>
          <p:nvPr/>
        </p:nvSpPr>
        <p:spPr>
          <a:xfrm>
            <a:off x="1600200" y="248564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4-op158"/>
          <p:cNvSpPr txBox="1"/>
          <p:nvPr/>
        </p:nvSpPr>
        <p:spPr>
          <a:xfrm>
            <a:off x="6997446" y="232105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600" dirty="0"/>
          </a:p>
        </p:txBody>
      </p:sp>
      <p:sp>
        <p:nvSpPr>
          <p:cNvPr id="16" name="S14-op159"/>
          <p:cNvSpPr txBox="1"/>
          <p:nvPr/>
        </p:nvSpPr>
        <p:spPr>
          <a:xfrm>
            <a:off x="7966710" y="232105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17" name="S14-num160"/>
          <p:cNvSpPr txBox="1"/>
          <p:nvPr/>
        </p:nvSpPr>
        <p:spPr>
          <a:xfrm>
            <a:off x="8780526" y="232105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8" name="S14-fracbar161"/>
          <p:cNvSpPr/>
          <p:nvPr/>
        </p:nvSpPr>
        <p:spPr>
          <a:xfrm>
            <a:off x="8817102" y="289712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14-num162"/>
          <p:cNvSpPr txBox="1"/>
          <p:nvPr/>
        </p:nvSpPr>
        <p:spPr>
          <a:xfrm>
            <a:off x="8780526" y="293370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20" name="S14-op163"/>
          <p:cNvSpPr txBox="1"/>
          <p:nvPr/>
        </p:nvSpPr>
        <p:spPr>
          <a:xfrm>
            <a:off x="9480042" y="23210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1" name="S14-op164"/>
          <p:cNvSpPr txBox="1"/>
          <p:nvPr/>
        </p:nvSpPr>
        <p:spPr>
          <a:xfrm>
            <a:off x="10037826" y="232105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비례배분</dc:title>
  <dc:subject>KR22-G06-MAT-SHARE-L01</dc:subject>
  <dc:creator>education-ppt</dc:creator>
  <cp:lastModifiedBy>education-ppt</cp:lastModifiedBy>
  <cp:revision>1</cp:revision>
  <dcterms:created xsi:type="dcterms:W3CDTF">2026-10-26T08:52:03Z</dcterms:created>
  <dcterms:modified xsi:type="dcterms:W3CDTF">2026-10-26T08:52:03Z</dcterms:modified>
</cp:coreProperties>
</file>