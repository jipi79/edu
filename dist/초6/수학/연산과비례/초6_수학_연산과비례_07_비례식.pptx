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25d8fca-8f22-dc95-b5ee-529419d9abb6}">
          <p14:sldIdLst>
            <p14:sldId id="256"/>
            <p14:sldId id="257"/>
          </p14:sldIdLst>
        </p14:section>
        <p14:section name="개념" id="{72838511-ca15-7f2b-e7f5-2d4556853bf2}">
          <p14:sldIdLst>
            <p14:sldId id="258"/>
            <p14:sldId id="259"/>
            <p14:sldId id="261"/>
            <p14:sldId id="262"/>
          </p14:sldIdLst>
        </p14:section>
        <p14:section name="연습" id="{1fa3bd73-c8fd-f3e4-9cfe-ef74109694d5}">
          <p14:sldIdLst>
            <p14:sldId id="260"/>
            <p14:sldId id="263"/>
            <p14:sldId id="264"/>
            <p14:sldId id="265"/>
          </p14:sldIdLst>
        </p14:section>
        <p14:section name="개념" id="{2f5be080-835e-76fa-8eb8-0189ac6eb0fb}">
          <p14:sldIdLst/>
        </p14:section>
        <p14:section name="연습" id="{4e679976-47b0-f77a-8376-050c9888e8f3}">
          <p14:sldIdLst/>
        </p14:section>
        <p14:section name="확인" id="{9593f80e-6a5f-be08-94b9-e4b6a08f1dab}">
          <p14:sldIdLst>
            <p14:sldId id="266"/>
            <p14:sldId id="267"/>
            <p14:sldId id="268"/>
          </p14:sldIdLst>
        </p14:section>
        <p14:section name="정리" id="{3d0ee1c2-4deb-234c-98d1-772592d684f1}">
          <p14:sldIdLst>
            <p14:sldId id="269"/>
          </p14:sldIdLst>
        </p14:section>
        <p14:section name="보충" id="{4fd8416b-5fad-dd77-03b6-a17fc2cbbb55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비율이 같은 두 비를 찾는 오늘의 질문을 보여 줍니다.
시간: 약 2분
이렇게 말해 보세요
- “3 : 4와 비율이 같으려면 6 : □에서 □는 얼마여야 할까?”
- “오늘은 이런 □를 쉽게 구하는 방법을 배울 거야.”
예상 답
- “8이요. 3을 두 배 하면 6이니까 4도 두 배요.” “7이요.” 어떤 답이든 괜찮습니다.
막히면
- 답을 확인하지 않고 넘어갑니다. S03에서 비의 성질을 봅니다.
주의
- 답은 8입니다. ‘7’(3에 3을 더했으니 4에도 3을 더함)이라고 하면 S09에서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확인(비율, 기약분수, 최대공약수)]
목적: 비율 구하기와 약분, 최대공약수를 할 수 있는지 확인합니다. 오늘 비율이 같은지 확인하고 비를 간단히 할 때 씁니다.
시간: 약 3분
이렇게 말해 보세요
- “비율은 비교하는 양을 기준량으로 나눈 거였지? 분수로 써 볼래?”
- “③은 18과 24를 함께 나누어떨어지게 하는 가장 큰 수야.”
정답
- ① 5분의 4
- ② 4분의 3 (8분의 6을 2로 약분)
- ③ 6
막히면
- ①②가 어려우면 S15(보충)를 먼저 합니다. 보충으로도 어려우면 앞 차시 ‘백분율’과 그 앞의 ‘비와 비율’을 다시 합니다.
- ③이 어려우면 18과 24를 공약수로 나누는 표(초5 ‘최대공약수와 최소공배수’)를 함께 그려 봅니다.
주의
- 백분율은 오늘 직접 쓰지 않지만, 비율이 같은 비는 백분율도 같습니다(4분의 3 = 75 %).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비의 성질 ①(곱하기), 전항과 후항]
목적: 비에서 기호 :의 앞을 전항, 뒤를 후항이라 하고, 전항과 후항에 0이 아닌 같은 수를 곱해도 비율이 같음을 압니다.
시간: 약 3분
이렇게 말해 보세요
- “2 : 3의 전항과 후항에 2를 곱하면 어떤 비가 돼? 두 비의 비율을 분수로 비교해 볼까?”
- “3을 곱하면? 비율이 어때?”
예상 답
- “4 : 6이요. 6분의 4를 약분하면 3분의 2라서 같아요.” “6 : 9, 이것도 3분의 2예요.”
막히면
- 바둑돌로 흰 돌 2개, 검은 돌 3개를 두 묶음 놓으면 흰 돌 4개, 검은 돌 6개가 되는 것을 봅니다.
주의
- 0을 곱하면 0 : 0이 되어 비가 되지 않으므로 ‘0이 아닌’ 수라는 조건이 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비의 성질 ②(나누기), 간단한 자연수의 비]
목적: 비의 성질(같은 수로 나누기, 곱하기)로 자연수의 비와 소수의 비를 간단한 자연수의 비로 나타냅니다.
시간: 약 3분
이렇게 말해 보세요
- “12와 18을 함께 나눌 수 있는 가장 큰 수는? 전항과 후항을 6으로 나누면?”
- “0.3 : 0.5는 소수야. 전항과 후항에 10을 곱하면?”
예상 답
- “6이요. 2 : 3이에요.” “3 : 5예요.”
막히면
- 12 : 18을 2로 나누어 6 : 9, 다시 3으로 나누어 2 : 3처럼 여러 번 나누어도 됩니다.
주의
- 전항과 후항에 꼭 같은 수를 곱하거나 나누어야 합니다. 한쪽만 나누면(12 : 18 → 2 : 18) 비율이 달라집니다(M1).
- 분수의 비(2분의 1 : 3분의 1)는 오늘 다루지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연습(간단한 자연수의 비)]
목적: 도움을 받으며 비의 성질로 간단한 자연수의 비를 만듭니다.
시간: 약 3분
이렇게 말해 보세요
- “전항과 후항에 무엇을 곱하거나 나눌지 먼저 말해 볼래?”
- “④는 10을 곱한 다음에 또 나눌 수 있을까?”
정답
- ① 2 : 3 (÷ 8)
- ② 4 : 7 (× 10)
- ③ 5 : 3 (÷ 5)
- ④ 3 : 2 (× 10 → 12 : 8 → ÷ 4)
막히면
- ①은 2로 계속 나누어도 됩니다(16 : 24 → 8 : 12 → 4 : 6 → 2 : 3).
주의
- ③을 3 : 5로 쓰면 순서를 바꾼 것입니다. 전항과 후항의 자리는 그대로입니다.
- ④를 12 : 8에서 멈추면 더 간단히 할 수 있는지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비례식과 외항·내항]
목적: 비율이 같은 두 비를 기호 =로 나타낸 식을 비례식이라 하고, 바깥쪽 두 수를 외항, 안쪽 두 수를 내항이라고 함을 압니다.
시간: 약 3분
이렇게 말해 보세요
- “2 : 3과 4 : 6은 비율이 같았지? 그래서 = 로 이어 쓸 수 있어. 이런 식을 비례식이라고 해.”
- “바깥쪽에 있는 두 수는? 안쪽에 있는 두 수는?”
예상 답
- “바깥쪽은 2와 6, 안쪽은 3과 4예요.”
막히면
- 공책에 비례식을 쓰고, 바깥쪽 두 수를 큰 곡선으로, 안쪽 두 수를 작은 곡선으로 이어 줍니다.
주의
- 외항은 ‘바깥 외(外)’, 내항은 ‘안 내(內)’라고 알려 주면 기억하기 쉽습니다.
- 지치면 S05 뒤에서 쉬고, 다음에 이 장부터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비례식의 성질로 □ 구하기(시범)]
목적: 비례식에서 외항의 곱과 내항의 곱이 같다는 성질을 알고, 이를 이용해 □를 구하는 방법을 보여 줍니다.
시간: 약 4분
이렇게 말해 보세요
- “2 : 3 = 4 : 6에서 외항끼리 곱하면? 내항끼리 곱하면? 어때?”
- “3 : 5 = □ : 20에서 외항은 무엇과 무엇이야? 곱하면 3 × 20 = 60이지.”
- “내항은 5와 □야. 5 × □ = 60이니까 □는?”
예상 답
- “둘 다 12예요.” “3과 20이요.” “12요.”
막히면
- 비의 성질로도 구해 봅니다: 5에 4를 곱해 20이 되었으니 3에도 4를 곱해 12.
주의
- 어떤 비례식이든 외항의 곱과 내항의 곱은 같습니다. 이 성질은 곱하는 수가 자연수가 아닐 때(예: 3 : 5 = 9 : □) 특히 편리합니다.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연습(비례식의 □)]
목적: 도움을 받으며 비례식의 성질로 □를 구합니다.
시간: 약 3분
이렇게 말해 보세요
- “□가 외항에 있어, 내항에 있어? □가 없는 쪽의 두 수를 먼저 곱해 봐.”
정답
- ① 21 (4 × □ = 7 × 12 = 84)
- ② 8 (6 × 24 = □ × 18, 144 ÷ 18)
- ③ 6 (□ × 15 = 9 × 10 = 90)
- ④ 12 (0.5 × □ = 3 × 2 = 6)
막히면
- ①은 비의 성질로도 구하게 합니다(4 × 3 = 12이므로 7 × 3 = 21).
주의
- 답을 넣어 외항의 곱과 내항의 곱이 같은지 확인하게 합니다(① 4 × 21 = 84 = 7 × 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비교(더해서 같은 비 만들기)]
목적: 전항과 후항에 같은 수를 더하면 비율이 같다고 생각하는 실수(M2)를 비례식의 성질로 반박합니다.
시간: 약 3분
이렇게 말해 보세요
- “토끼의 답을 넣으면 5 : 2 = 15 : 12야. 외항의 곱과 내항의 곱은?”
- “곰의 답을 넣으면?”
예상 답
- “토끼는 5 × 12 = 60, 2 × 15 = 30이라서 달라요.” “곰은 30과 30이라서 맞아요.”
정답
- 곰이 맞습니다. 5 × 6 = 30 = 2 × 15.
- 비의 성질은 같은 수를 곱하거나 나누는 것이지 더하는 것이 아닙니다.
막히면
- 바둑돌 흰 돌 5개, 검은 돌 2개 묶음을 3묶음 놓아 15개와 6개가 되는 것을 봅니다.
주의
- 더하기로 생각하는 실수는 6학년에게도 흔합니다. 비례식의 성질로 확인하는 습관이 가장 좋은 처방입니다.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생활 속 비례식]
목적: 생활 문제를 비례식으로 나타내고 비례식의 성질로 해결합니다.
시간: 약 3분
이렇게 말해 보세요
- “①은 원액 : 물 = 원액 : 물로 써 볼까? 2 : 5 = 60 : □”
- “②는 쿠키 수 : 버터 = 쿠키 수 : 버터야.”
정답
- ① 150 mL (2 : 5 = 60 : □, 2 × □ = 300)
- ② 135 g (4 : 30 = 18 : □, 4 × □ = 540)
막히면
- ①은 2에 30을 곱해 60이 되었으니 5에도 30을 곱하는 방법으로도 구하게 합니다.
주의
- 2 : 5 = □ : 60처럼 자리를 섞으면 답이 달라집니다(M4). 같은 자리에 같은 종류의 양이 오는지 확인합니다.
- ②는 곱하는 수(18 ÷ 4 = 4.5)가 자연수가 아니어서 비례식의 성질이 편리합니다.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간단한 자연수의 비를 만들고(A), 비례식의 □를 구하는지(B) 확인합니다.
시간: 약 4분
이렇게 말해 보세요
- “이번에는 혼자 해 볼래? ③④는 답을 넣어 외항의 곱과 내항의 곱으로 확인해 봐.”
정답
- ① 4 : 3 (÷ 9)
- ② 2 : 5 (× 10 → 6 : 15 → ÷ 3)
- ③ 56 (7 × 32 = 4 × □)
- ④ 9 (□ × 20 = 12 × 15 = 180)
막히면
- 바로 알려 주지 말고 “무엇으로 나눌까?” 또는 “외항은 무엇과 무엇이야?”라고만 묻습니다.
- 도움을 받아 해결했다면 기록표에 ‘도움’으로 표시합니다.
주의
- ②를 6 : 15에서 멈추면 더 간단히 할 수 있는지 묻습니다. 정답 확인은 다음 장(S12)에서 함께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더하기로 구하거나 끝까지 간단히 하지 않은 실수를 바로잡습니다. 수업용에만 있는 장입니다.
시간: 약 2분
이렇게 말해 보세요
- “네 답과 같은지 볼까? ③에 56을 넣으면 7 × 32와 4 × 56은 같아?”
정답
- ① 4 : 3 ② 2 : 5 ③ 56 ④ 9
막히면
- ①②가 틀리면 S04로, ③이 35(4에 28을 더해 32이므로 7에도 28을 더함)이면 S09로(M2) 돌아갑니다.
주의
- 이 장은 학생용 파일에는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확인(생활 문제)]
목적: 처음 보는 생활 문제를 비례식으로 세우고 해결하는지 확인합니다.
시간: 약 2분
이렇게 말해 보세요
- “비례식을 먼저 세워 볼래? 같은 자리에 같은 종류의 양이 오게 써.”
정답
- ① 30 cm (3 : 2 = 45 : □, 3 × □ = 90)
- ② 2 km (3 : 0.6 = 10 : □, 3 × □ = 6)
막히면
- ①은 비의 성질(3 × 15 = 45이므로 2 × 15)로 풀어도 됩니다.
주의
- 비례식을 바르게 세우고 확인까지 하면 목표 A·B 확인 완료입니다. ②는 3 : 0.6을 5 : 1로 간단히 한 뒤 풀어도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1분
이렇게 말해 보세요
- “비의 성질과 비례식의 성질을 한 문장씩 말해 볼래?”
- “다음 수업을 시작할 때 이 세 문제를 먼저 풀 거야.”
예상 답
- “전항과 후항에 같은 수를 곱하거나 나누어도 비율은 같아요.” “외항의 곱과 내항의 곱은 같아요.”
정답
- ① 4 : 7 ② 24 ③ 5
막히면
- S04와 S07을 다시 보여 줍니다.
주의
- 다음 차시 ‘비례배분’에서는 전체를 주어진 비로 나눕니다. 비례식으로 확인하는 방법이 그대로 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보충(비율이 같은지 기약분수로 확인)]
목적: S02가 흔들리면 비율을 분수로 구하고 약분해 두 비의 비율이 같은지 확인하는 방법을 다시 합니다.
시간: 약 5분
이렇게 말해 보세요
- “4 : 6의 비율을 분수로 쓰면? 약분하면?”
- “6 : 9도 해 볼래? 두 비의 비율이 같아?”
- “이번에는 3 : 4와 9 : 12의 비율을 비교해 볼래?”
정답
- 4 : 6과 6 : 9의 비율은 모두 3분의 2
- 3 : 4와 9 : 12의 비율은 모두 4분의 3
막히면
- 약분이 어려우면 분모와 분자를 2, 3, 5 같은 작은 수로 차례로 나누어 봅니다.
주의
- 보충으로도 어려우면 앞 차시 ‘백분율’과 그 앞의 ‘비와 비율’, 초5 ‘약분과 기약분수’를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연산과비례 · 7차시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비례식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비례식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비례식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비례식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: 4와 비율이 같은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: □에서 □는 얼마일까?</a:t>
            </a:r>
            <a:endParaRPr lang="ko-KR" sz="28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: 4 = 6 : □</a:t>
            </a:r>
            <a:endParaRPr lang="ko-KR" sz="4000" dirty="0"/>
          </a:p>
        </p:txBody>
      </p:sp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비의 성질로 비율이 같은 비를 만들어요.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비례식의 성질로 □를 구해요.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학습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: 5의 비율을 분수로</a:t>
            </a:r>
            <a:endParaRPr lang="ko-KR" sz="28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: 8의 비율을 기약분수로</a:t>
            </a:r>
            <a:endParaRPr lang="ko-KR" sz="28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18과 24의 최대공약수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비의 성질 ① 곱하기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전항과 후항에 0이 아닌 같은 수를 곱해도 비율은 같아요.</a:t>
            </a:r>
            <a:endParaRPr lang="ko-KR" sz="2800" dirty="0"/>
          </a:p>
        </p:txBody>
      </p:sp>
      <p:sp>
        <p:nvSpPr>
          <p:cNvPr id="5" name="S03-card12"/>
          <p:cNvSpPr/>
          <p:nvPr/>
        </p:nvSpPr>
        <p:spPr>
          <a:xfrm>
            <a:off x="548640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전항과 후항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: 3에서 2는 전항,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3은 후항이에요.</a:t>
            </a:r>
            <a:endParaRPr lang="ko-KR" sz="2800" dirty="0"/>
          </a:p>
        </p:txBody>
      </p:sp>
      <p:sp>
        <p:nvSpPr>
          <p:cNvPr id="7" name="S03-card14"/>
          <p:cNvSpPr/>
          <p:nvPr/>
        </p:nvSpPr>
        <p:spPr>
          <a:xfrm>
            <a:off x="6208776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6483096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전항과 후항에 × 2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: 6이 되어도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비율은 같아요.</a:t>
            </a:r>
            <a:endParaRPr lang="ko-KR" sz="2800" dirty="0"/>
          </a:p>
        </p:txBody>
      </p:sp>
      <p:sp>
        <p:nvSpPr>
          <p:cNvPr id="9" name="S03-op16"/>
          <p:cNvSpPr txBox="1"/>
          <p:nvPr/>
        </p:nvSpPr>
        <p:spPr>
          <a:xfrm>
            <a:off x="4149471" y="1336040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0" name="S03-op17"/>
          <p:cNvSpPr txBox="1"/>
          <p:nvPr/>
        </p:nvSpPr>
        <p:spPr>
          <a:xfrm>
            <a:off x="4733163" y="1336040"/>
            <a:ext cx="454152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</a:t>
            </a:r>
            <a:endParaRPr lang="ko-KR" sz="2600" dirty="0"/>
          </a:p>
        </p:txBody>
      </p:sp>
      <p:sp>
        <p:nvSpPr>
          <p:cNvPr id="11" name="S03-op18"/>
          <p:cNvSpPr txBox="1"/>
          <p:nvPr/>
        </p:nvSpPr>
        <p:spPr>
          <a:xfrm>
            <a:off x="5297043" y="1336040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2" name="S03-op19"/>
          <p:cNvSpPr txBox="1"/>
          <p:nvPr/>
        </p:nvSpPr>
        <p:spPr>
          <a:xfrm>
            <a:off x="5880735" y="1336040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2600" dirty="0"/>
          </a:p>
        </p:txBody>
      </p:sp>
      <p:sp>
        <p:nvSpPr>
          <p:cNvPr id="13" name="S03-op20"/>
          <p:cNvSpPr txBox="1"/>
          <p:nvPr/>
        </p:nvSpPr>
        <p:spPr>
          <a:xfrm>
            <a:off x="6570091" y="1336040"/>
            <a:ext cx="90322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</a:t>
            </a:r>
            <a:endParaRPr lang="ko-KR" sz="2600" dirty="0"/>
          </a:p>
        </p:txBody>
      </p:sp>
      <p:sp>
        <p:nvSpPr>
          <p:cNvPr id="14" name="S03-num21"/>
          <p:cNvSpPr txBox="1"/>
          <p:nvPr/>
        </p:nvSpPr>
        <p:spPr>
          <a:xfrm>
            <a:off x="7583043" y="133604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5" name="S03-fracbar22"/>
          <p:cNvSpPr/>
          <p:nvPr/>
        </p:nvSpPr>
        <p:spPr>
          <a:xfrm>
            <a:off x="7619619" y="1762252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16" name="S03-num23"/>
          <p:cNvSpPr txBox="1"/>
          <p:nvPr/>
        </p:nvSpPr>
        <p:spPr>
          <a:xfrm>
            <a:off x="7583043" y="17988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7" name="S03-op24"/>
          <p:cNvSpPr txBox="1"/>
          <p:nvPr/>
        </p:nvSpPr>
        <p:spPr>
          <a:xfrm>
            <a:off x="3614166" y="2508504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8" name="S03-op25"/>
          <p:cNvSpPr txBox="1"/>
          <p:nvPr/>
        </p:nvSpPr>
        <p:spPr>
          <a:xfrm>
            <a:off x="4197858" y="2508504"/>
            <a:ext cx="454152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</a:t>
            </a:r>
            <a:endParaRPr lang="ko-KR" sz="2600" dirty="0"/>
          </a:p>
        </p:txBody>
      </p:sp>
      <p:sp>
        <p:nvSpPr>
          <p:cNvPr id="19" name="S03-op26"/>
          <p:cNvSpPr txBox="1"/>
          <p:nvPr/>
        </p:nvSpPr>
        <p:spPr>
          <a:xfrm>
            <a:off x="4761738" y="2508504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0" name="S03-op27"/>
          <p:cNvSpPr txBox="1"/>
          <p:nvPr/>
        </p:nvSpPr>
        <p:spPr>
          <a:xfrm>
            <a:off x="5345430" y="2508504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2600" dirty="0"/>
          </a:p>
        </p:txBody>
      </p:sp>
      <p:sp>
        <p:nvSpPr>
          <p:cNvPr id="21" name="S03-op28"/>
          <p:cNvSpPr txBox="1"/>
          <p:nvPr/>
        </p:nvSpPr>
        <p:spPr>
          <a:xfrm>
            <a:off x="6034786" y="2508504"/>
            <a:ext cx="90322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</a:t>
            </a:r>
            <a:endParaRPr lang="ko-KR" sz="2600" dirty="0"/>
          </a:p>
        </p:txBody>
      </p:sp>
      <p:sp>
        <p:nvSpPr>
          <p:cNvPr id="22" name="S03-num29"/>
          <p:cNvSpPr txBox="1"/>
          <p:nvPr/>
        </p:nvSpPr>
        <p:spPr>
          <a:xfrm>
            <a:off x="7047738" y="2508504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3" name="S03-fracbar30"/>
          <p:cNvSpPr/>
          <p:nvPr/>
        </p:nvSpPr>
        <p:spPr>
          <a:xfrm>
            <a:off x="7084314" y="2934716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24" name="S03-num31"/>
          <p:cNvSpPr txBox="1"/>
          <p:nvPr/>
        </p:nvSpPr>
        <p:spPr>
          <a:xfrm>
            <a:off x="7047738" y="2971292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5" name="S03-op32"/>
          <p:cNvSpPr txBox="1"/>
          <p:nvPr/>
        </p:nvSpPr>
        <p:spPr>
          <a:xfrm>
            <a:off x="7613904" y="2508504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600" dirty="0"/>
          </a:p>
        </p:txBody>
      </p:sp>
      <p:sp>
        <p:nvSpPr>
          <p:cNvPr id="26" name="S03-num33"/>
          <p:cNvSpPr txBox="1"/>
          <p:nvPr/>
        </p:nvSpPr>
        <p:spPr>
          <a:xfrm>
            <a:off x="8118348" y="2508504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7" name="S03-fracbar34"/>
          <p:cNvSpPr/>
          <p:nvPr/>
        </p:nvSpPr>
        <p:spPr>
          <a:xfrm>
            <a:off x="8154924" y="2934716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28" name="S03-num35"/>
          <p:cNvSpPr txBox="1"/>
          <p:nvPr/>
        </p:nvSpPr>
        <p:spPr>
          <a:xfrm>
            <a:off x="8118348" y="2971292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간단한 자연수의 비로</a:t>
            </a:r>
            <a:endParaRPr lang="ko-KR" sz="4000" dirty="0"/>
          </a:p>
        </p:txBody>
      </p:sp>
      <p:sp>
        <p:nvSpPr>
          <p:cNvPr id="3" name="S04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비의 성질로 비를 간단하게 나타내요.</a:t>
            </a:r>
            <a:endParaRPr lang="ko-KR" sz="2800" dirty="0"/>
          </a:p>
        </p:txBody>
      </p:sp>
      <p:sp>
        <p:nvSpPr>
          <p:cNvPr id="4" name="S04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전항과 후항을 0이 아닌 같은 수로 나누어도 비율은 같아요.</a:t>
            </a:r>
            <a:endParaRPr lang="ko-KR" sz="2800" dirty="0"/>
          </a:p>
        </p:txBody>
      </p:sp>
      <p:sp>
        <p:nvSpPr>
          <p:cNvPr id="6" name="S04-stepno39"/>
          <p:cNvSpPr txBox="1"/>
          <p:nvPr/>
        </p:nvSpPr>
        <p:spPr>
          <a:xfrm>
            <a:off x="548640" y="26619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4-text40"/>
          <p:cNvSpPr txBox="1"/>
          <p:nvPr/>
        </p:nvSpPr>
        <p:spPr>
          <a:xfrm>
            <a:off x="1325880" y="2616200"/>
            <a:ext cx="5655930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자연수의 비는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최대공약수로 나눠요.</a:t>
            </a:r>
            <a:endParaRPr lang="ko-KR" sz="2800" dirty="0"/>
          </a:p>
        </p:txBody>
      </p:sp>
      <p:sp>
        <p:nvSpPr>
          <p:cNvPr id="8" name="S04-eqtext41"/>
          <p:cNvSpPr txBox="1"/>
          <p:nvPr/>
        </p:nvSpPr>
        <p:spPr>
          <a:xfrm>
            <a:off x="6981810" y="2616200"/>
            <a:ext cx="465850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: 18 → 2 : 3</a:t>
            </a:r>
            <a:endParaRPr lang="ko-KR" sz="2800" dirty="0"/>
          </a:p>
        </p:txBody>
      </p:sp>
      <p:sp>
        <p:nvSpPr>
          <p:cNvPr id="9" name="S04-stepno42"/>
          <p:cNvSpPr txBox="1"/>
          <p:nvPr/>
        </p:nvSpPr>
        <p:spPr>
          <a:xfrm>
            <a:off x="548640" y="36941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4-text43"/>
          <p:cNvSpPr txBox="1"/>
          <p:nvPr/>
        </p:nvSpPr>
        <p:spPr>
          <a:xfrm>
            <a:off x="1325880" y="3648456"/>
            <a:ext cx="5655930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소수의 비는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10을 곱해요.</a:t>
            </a:r>
            <a:endParaRPr lang="ko-KR" sz="2800" dirty="0"/>
          </a:p>
        </p:txBody>
      </p:sp>
      <p:sp>
        <p:nvSpPr>
          <p:cNvPr id="11" name="S04-eqtext44"/>
          <p:cNvSpPr txBox="1"/>
          <p:nvPr/>
        </p:nvSpPr>
        <p:spPr>
          <a:xfrm>
            <a:off x="6981810" y="3648456"/>
            <a:ext cx="465850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 : 0.5 → 3 : 5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간단한 자연수의 비로 나타내기</a:t>
            </a:r>
            <a:endParaRPr lang="ko-KR" sz="4000" dirty="0"/>
          </a:p>
        </p:txBody>
      </p:sp>
      <p:sp>
        <p:nvSpPr>
          <p:cNvPr id="3" name="S05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자연수는 최대공약수로 나누고, 소수는 10을 곱해요.</a:t>
            </a:r>
            <a:endParaRPr lang="ko-KR" sz="2800" dirty="0"/>
          </a:p>
        </p:txBody>
      </p:sp>
      <p:sp>
        <p:nvSpPr>
          <p:cNvPr id="5" name="S05-chip4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5-eqtext48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: 24</a:t>
            </a:r>
            <a:endParaRPr lang="ko-KR" sz="3200" dirty="0"/>
          </a:p>
        </p:txBody>
      </p:sp>
      <p:sp>
        <p:nvSpPr>
          <p:cNvPr id="7" name="S05-chip49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5-eqtext50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 : 0.7</a:t>
            </a:r>
            <a:endParaRPr lang="ko-KR" sz="3200" dirty="0"/>
          </a:p>
        </p:txBody>
      </p:sp>
      <p:sp>
        <p:nvSpPr>
          <p:cNvPr id="9" name="S05-chip51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5-eqtext52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: 15</a:t>
            </a:r>
            <a:endParaRPr lang="ko-KR" sz="3200" dirty="0"/>
          </a:p>
        </p:txBody>
      </p:sp>
      <p:sp>
        <p:nvSpPr>
          <p:cNvPr id="11" name="S05-chip53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2" name="S05-eqtext54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 : 0.8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비례식</a:t>
            </a:r>
            <a:endParaRPr lang="ko-KR" sz="4000" dirty="0"/>
          </a:p>
        </p:txBody>
      </p:sp>
      <p:sp>
        <p:nvSpPr>
          <p:cNvPr id="3" name="S06-card55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56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비례식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비율이 같은 두 비를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기호 = 로 나타낸 식</a:t>
            </a:r>
            <a:endParaRPr lang="ko-KR" sz="2800" dirty="0"/>
          </a:p>
        </p:txBody>
      </p:sp>
      <p:sp>
        <p:nvSpPr>
          <p:cNvPr id="5" name="S06-card57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58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외항과 내항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바깥쪽 2와 6은 외항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안쪽 3과 4는 내항</a:t>
            </a:r>
            <a:endParaRPr lang="ko-KR" sz="2800" dirty="0"/>
          </a:p>
        </p:txBody>
      </p:sp>
      <p:sp>
        <p:nvSpPr>
          <p:cNvPr id="7" name="S06-eqtext59"/>
          <p:cNvSpPr txBox="1"/>
          <p:nvPr/>
        </p:nvSpPr>
        <p:spPr>
          <a:xfrm>
            <a:off x="548640" y="1325880"/>
            <a:ext cx="11091672" cy="314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: 3 = 4 : 6</a:t>
            </a:r>
            <a:endParaRPr lang="ko-KR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외항의 곱 = 내항의 곱</a:t>
            </a:r>
            <a:endParaRPr lang="ko-KR" sz="4000" dirty="0"/>
          </a:p>
        </p:txBody>
      </p:sp>
      <p:sp>
        <p:nvSpPr>
          <p:cNvPr id="3" name="S07-text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6 = 12, 3 × 4 = 12로 같아요.</a:t>
            </a:r>
            <a:endParaRPr lang="ko-KR" sz="2800" dirty="0"/>
          </a:p>
        </p:txBody>
      </p:sp>
      <p:sp>
        <p:nvSpPr>
          <p:cNvPr id="4" name="S07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3 : 5와 12 : 20의 비율이 같아요.</a:t>
            </a:r>
            <a:endParaRPr lang="ko-KR" sz="2800" dirty="0"/>
          </a:p>
        </p:txBody>
      </p:sp>
      <p:sp>
        <p:nvSpPr>
          <p:cNvPr id="6" name="S07-stepno63"/>
          <p:cNvSpPr txBox="1"/>
          <p:nvPr/>
        </p:nvSpPr>
        <p:spPr>
          <a:xfrm>
            <a:off x="548640" y="22479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7-text64"/>
          <p:cNvSpPr txBox="1"/>
          <p:nvPr/>
        </p:nvSpPr>
        <p:spPr>
          <a:xfrm>
            <a:off x="1325880" y="2202180"/>
            <a:ext cx="5655930" cy="1301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: 5 = □ : 20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외항끼리, 내항끼리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곱해요.</a:t>
            </a:r>
            <a:endParaRPr lang="ko-KR" sz="2800" dirty="0"/>
          </a:p>
        </p:txBody>
      </p:sp>
      <p:sp>
        <p:nvSpPr>
          <p:cNvPr id="8" name="S07-eqtext65"/>
          <p:cNvSpPr txBox="1"/>
          <p:nvPr/>
        </p:nvSpPr>
        <p:spPr>
          <a:xfrm>
            <a:off x="6981810" y="2202180"/>
            <a:ext cx="4658502" cy="1301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20 = 5 × □</a:t>
            </a:r>
            <a:endParaRPr lang="ko-KR" sz="2800" dirty="0"/>
          </a:p>
        </p:txBody>
      </p:sp>
      <p:sp>
        <p:nvSpPr>
          <p:cNvPr id="9" name="S07-stepno66"/>
          <p:cNvSpPr txBox="1"/>
          <p:nvPr/>
        </p:nvSpPr>
        <p:spPr>
          <a:xfrm>
            <a:off x="548640" y="36682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7-text67"/>
          <p:cNvSpPr txBox="1"/>
          <p:nvPr/>
        </p:nvSpPr>
        <p:spPr>
          <a:xfrm>
            <a:off x="1325880" y="3668268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 = 5 × □</a:t>
            </a:r>
            <a:endParaRPr lang="ko-KR" sz="2800" dirty="0"/>
          </a:p>
        </p:txBody>
      </p:sp>
      <p:sp>
        <p:nvSpPr>
          <p:cNvPr id="11" name="S07-eqtext68"/>
          <p:cNvSpPr txBox="1"/>
          <p:nvPr/>
        </p:nvSpPr>
        <p:spPr>
          <a:xfrm>
            <a:off x="6981810" y="3668268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= 60 ÷ 5</a:t>
            </a:r>
            <a:endParaRPr lang="ko-KR" sz="2800" dirty="0"/>
          </a:p>
        </p:txBody>
      </p:sp>
      <p:sp>
        <p:nvSpPr>
          <p:cNvPr id="12" name="S07-stepno69"/>
          <p:cNvSpPr txBox="1"/>
          <p:nvPr/>
        </p:nvSpPr>
        <p:spPr>
          <a:xfrm>
            <a:off x="548640" y="43815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3" name="S07-text70"/>
          <p:cNvSpPr txBox="1"/>
          <p:nvPr/>
        </p:nvSpPr>
        <p:spPr>
          <a:xfrm>
            <a:off x="1325880" y="4381500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□를 구해요.</a:t>
            </a:r>
            <a:endParaRPr lang="ko-KR" sz="2800" dirty="0"/>
          </a:p>
        </p:txBody>
      </p:sp>
      <p:sp>
        <p:nvSpPr>
          <p:cNvPr id="14" name="S07-eqtext71"/>
          <p:cNvSpPr txBox="1"/>
          <p:nvPr/>
        </p:nvSpPr>
        <p:spPr>
          <a:xfrm>
            <a:off x="6981810" y="4381500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= 12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□를 구해 봐요</a:t>
            </a:r>
            <a:endParaRPr lang="ko-KR" sz="4000" dirty="0"/>
          </a:p>
        </p:txBody>
      </p:sp>
      <p:sp>
        <p:nvSpPr>
          <p:cNvPr id="3" name="S08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외항의 곱 = 내항의 곱으로 식을 세워요.</a:t>
            </a:r>
            <a:endParaRPr lang="ko-KR" sz="2800" dirty="0"/>
          </a:p>
        </p:txBody>
      </p:sp>
      <p:sp>
        <p:nvSpPr>
          <p:cNvPr id="5" name="S08-chip7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8-eqtext75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: 7 = 12 : □</a:t>
            </a:r>
            <a:endParaRPr lang="ko-KR" sz="3200" dirty="0"/>
          </a:p>
        </p:txBody>
      </p:sp>
      <p:sp>
        <p:nvSpPr>
          <p:cNvPr id="7" name="S08-chip76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8-eqtext77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: □ = 18 : 24</a:t>
            </a:r>
            <a:endParaRPr lang="ko-KR" sz="3200" dirty="0"/>
          </a:p>
        </p:txBody>
      </p:sp>
      <p:sp>
        <p:nvSpPr>
          <p:cNvPr id="9" name="S08-chip78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8-eqtext79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: 9 = 10 : 15</a:t>
            </a:r>
            <a:endParaRPr lang="ko-KR" sz="3200" dirty="0"/>
          </a:p>
        </p:txBody>
      </p:sp>
      <p:sp>
        <p:nvSpPr>
          <p:cNvPr id="11" name="S08-chip80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2" name="S08-eqtext81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 : 3 = 2 :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9-card8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8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: 2 = 15 : □에서 □를 구했어요.</a:t>
            </a:r>
            <a:endParaRPr lang="ko-KR" sz="2800" dirty="0"/>
          </a:p>
        </p:txBody>
      </p:sp>
      <p:sp>
        <p:nvSpPr>
          <p:cNvPr id="5" name="S09-card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외항의 곱과 내항의 곱으로 확인해 봐요.</a:t>
            </a:r>
            <a:endParaRPr lang="ko-KR" sz="2800" dirty="0"/>
          </a:p>
        </p:txBody>
      </p:sp>
      <p:sp>
        <p:nvSpPr>
          <p:cNvPr id="7" name="S09-chip8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12</a:t>
            </a:r>
            <a:endParaRPr lang="ko-KR" sz="2200" dirty="0"/>
          </a:p>
        </p:txBody>
      </p:sp>
      <p:sp>
        <p:nvSpPr>
          <p:cNvPr id="8" name="S09-text8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5에 10을 더하면 15니까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2에도 10을 더해요.</a:t>
            </a:r>
            <a:endParaRPr lang="ko-KR" sz="2800" dirty="0"/>
          </a:p>
        </p:txBody>
      </p:sp>
      <p:sp>
        <p:nvSpPr>
          <p:cNvPr id="9" name="S09-chip8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6</a:t>
            </a:r>
            <a:endParaRPr lang="ko-KR" sz="2200" dirty="0"/>
          </a:p>
        </p:txBody>
      </p:sp>
      <p:sp>
        <p:nvSpPr>
          <p:cNvPr id="10" name="S09-text8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5에 3을 곱하면 15니까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2에도 3을 곱해요.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비례식으로 해결해요</a:t>
            </a:r>
            <a:endParaRPr lang="ko-KR" sz="4000" dirty="0"/>
          </a:p>
        </p:txBody>
      </p:sp>
      <p:sp>
        <p:nvSpPr>
          <p:cNvPr id="3" name="S10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비에서 같은 자리에 같은 종류의 양을 써요.</a:t>
            </a:r>
            <a:endParaRPr lang="ko-KR" sz="2800" dirty="0"/>
          </a:p>
        </p:txBody>
      </p:sp>
      <p:sp>
        <p:nvSpPr>
          <p:cNvPr id="5" name="S10-chip9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10-text93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매실 원액과 물을 2 : 5로 섞어요.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원액이 60 mL이면 물은 몇 mL인가요?</a:t>
            </a:r>
            <a:endParaRPr lang="ko-KR" sz="2800" dirty="0"/>
          </a:p>
        </p:txBody>
      </p:sp>
      <p:sp>
        <p:nvSpPr>
          <p:cNvPr id="7" name="S10-chip94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10-text95"/>
          <p:cNvSpPr txBox="1"/>
          <p:nvPr/>
        </p:nvSpPr>
        <p:spPr>
          <a:xfrm>
            <a:off x="1344168" y="33147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쿠키 4개에 버터가 30 g 들어요.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쿠키 18개에는 버터가 몇 g 들까요?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9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1-text97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 : 27을 간단한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자연수의 비로</a:t>
            </a:r>
            <a:endParaRPr lang="ko-KR" sz="2800" dirty="0"/>
          </a:p>
        </p:txBody>
      </p:sp>
      <p:sp>
        <p:nvSpPr>
          <p:cNvPr id="5" name="S11-chip98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1-text99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 : 1.5를 간단한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자연수의 비로</a:t>
            </a:r>
            <a:endParaRPr lang="ko-KR" sz="2800" dirty="0"/>
          </a:p>
        </p:txBody>
      </p:sp>
      <p:sp>
        <p:nvSpPr>
          <p:cNvPr id="7" name="S11-chip100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1-eqtext101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: 4 = □ : 32</a:t>
            </a:r>
            <a:endParaRPr lang="ko-KR" sz="3200" dirty="0"/>
          </a:p>
        </p:txBody>
      </p:sp>
      <p:sp>
        <p:nvSpPr>
          <p:cNvPr id="9" name="S11-chip102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1-eqtext103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: 12 = 15 : 20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104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05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③④가 틀렸다면 답을 넣어 외항의 곱과 내항의 곱을 비교하게 하세요.</a:t>
            </a:r>
            <a:endParaRPr lang="ko-KR" sz="2800" dirty="0"/>
          </a:p>
        </p:txBody>
      </p:sp>
      <p:sp>
        <p:nvSpPr>
          <p:cNvPr id="5" name="S12-chip10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107"/>
          <p:cNvSpPr txBox="1"/>
          <p:nvPr/>
        </p:nvSpPr>
        <p:spPr>
          <a:xfrm>
            <a:off x="548640" y="2057400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 : 3</a:t>
            </a:r>
            <a:endParaRPr lang="ko-KR" sz="2800" dirty="0"/>
          </a:p>
        </p:txBody>
      </p:sp>
      <p:sp>
        <p:nvSpPr>
          <p:cNvPr id="7" name="S12-text108"/>
          <p:cNvSpPr txBox="1"/>
          <p:nvPr/>
        </p:nvSpPr>
        <p:spPr>
          <a:xfrm>
            <a:off x="3367278" y="2057400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 9</a:t>
            </a:r>
            <a:endParaRPr lang="ko-KR" sz="2200" dirty="0"/>
          </a:p>
        </p:txBody>
      </p:sp>
      <p:sp>
        <p:nvSpPr>
          <p:cNvPr id="8" name="S12-text109"/>
          <p:cNvSpPr txBox="1"/>
          <p:nvPr/>
        </p:nvSpPr>
        <p:spPr>
          <a:xfrm>
            <a:off x="548640" y="2775458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 : 5</a:t>
            </a:r>
            <a:endParaRPr lang="ko-KR" sz="2800" dirty="0"/>
          </a:p>
        </p:txBody>
      </p:sp>
      <p:sp>
        <p:nvSpPr>
          <p:cNvPr id="9" name="S12-text110"/>
          <p:cNvSpPr txBox="1"/>
          <p:nvPr/>
        </p:nvSpPr>
        <p:spPr>
          <a:xfrm>
            <a:off x="3367278" y="2775458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10, ÷ 3</a:t>
            </a:r>
            <a:endParaRPr lang="ko-KR" sz="2200" dirty="0"/>
          </a:p>
        </p:txBody>
      </p:sp>
      <p:sp>
        <p:nvSpPr>
          <p:cNvPr id="10" name="S12-text111"/>
          <p:cNvSpPr txBox="1"/>
          <p:nvPr/>
        </p:nvSpPr>
        <p:spPr>
          <a:xfrm>
            <a:off x="548640" y="3493516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56</a:t>
            </a:r>
            <a:endParaRPr lang="ko-KR" sz="2800" dirty="0"/>
          </a:p>
        </p:txBody>
      </p:sp>
      <p:sp>
        <p:nvSpPr>
          <p:cNvPr id="11" name="S12-text112"/>
          <p:cNvSpPr txBox="1"/>
          <p:nvPr/>
        </p:nvSpPr>
        <p:spPr>
          <a:xfrm>
            <a:off x="3367278" y="3493516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32 = 224</a:t>
            </a:r>
            <a:endParaRPr lang="ko-KR" sz="2200" dirty="0"/>
          </a:p>
        </p:txBody>
      </p:sp>
      <p:sp>
        <p:nvSpPr>
          <p:cNvPr id="12" name="S12-text113"/>
          <p:cNvSpPr txBox="1"/>
          <p:nvPr/>
        </p:nvSpPr>
        <p:spPr>
          <a:xfrm>
            <a:off x="548640" y="4211574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9</a:t>
            </a:r>
            <a:endParaRPr lang="ko-KR" sz="2800" dirty="0"/>
          </a:p>
        </p:txBody>
      </p:sp>
      <p:sp>
        <p:nvSpPr>
          <p:cNvPr id="13" name="S12-text114"/>
          <p:cNvSpPr txBox="1"/>
          <p:nvPr/>
        </p:nvSpPr>
        <p:spPr>
          <a:xfrm>
            <a:off x="3367278" y="4211574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× 15 = 180</a:t>
            </a:r>
            <a:endParaRPr lang="ko-KR" sz="2200" dirty="0"/>
          </a:p>
        </p:txBody>
      </p:sp>
      <p:sp>
        <p:nvSpPr>
          <p:cNvPr id="14" name="S12-chip115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5" name="S12-text116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35</a:t>
            </a:r>
            <a:endParaRPr lang="ko-KR" sz="2800" dirty="0"/>
          </a:p>
        </p:txBody>
      </p:sp>
      <p:sp>
        <p:nvSpPr>
          <p:cNvPr id="16" name="S12-text117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더하기로 구함</a:t>
            </a:r>
            <a:endParaRPr lang="ko-KR" sz="2200" dirty="0"/>
          </a:p>
        </p:txBody>
      </p:sp>
      <p:sp>
        <p:nvSpPr>
          <p:cNvPr id="17" name="S12-text118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 : 15</a:t>
            </a:r>
            <a:endParaRPr lang="ko-KR" sz="2800" dirty="0"/>
          </a:p>
        </p:txBody>
      </p:sp>
      <p:sp>
        <p:nvSpPr>
          <p:cNvPr id="18" name="S12-text119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덜 간단함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문제</a:t>
            </a:r>
            <a:endParaRPr lang="ko-KR" sz="4000" dirty="0"/>
          </a:p>
        </p:txBody>
      </p:sp>
      <p:sp>
        <p:nvSpPr>
          <p:cNvPr id="3" name="S13-chip12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3-text121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사진의 가로와 세로의 비가 3 : 2예요.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가로가 45 cm이면 세로는 몇 cm인가요?</a:t>
            </a:r>
            <a:endParaRPr lang="ko-KR" sz="2800" dirty="0"/>
          </a:p>
        </p:txBody>
      </p:sp>
      <p:sp>
        <p:nvSpPr>
          <p:cNvPr id="5" name="S13-chip122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3-text123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 동안 0.6 km를 걷는 빠르기로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 동안 걸으면 몇 km를 갈까요?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2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2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비례식에서 외항의 곱과 내항의 곱은 같아요.</a:t>
            </a:r>
            <a:endParaRPr lang="ko-KR" sz="2800" dirty="0"/>
          </a:p>
        </p:txBody>
      </p:sp>
      <p:sp>
        <p:nvSpPr>
          <p:cNvPr id="5" name="S14-chip12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답을 넣어 두 곱이 같은지 확인</a:t>
            </a:r>
            <a:endParaRPr lang="ko-KR" sz="2200" dirty="0"/>
          </a:p>
        </p:txBody>
      </p:sp>
      <p:sp>
        <p:nvSpPr>
          <p:cNvPr id="6" name="S14-chip12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더해서 같은 비 만들기</a:t>
            </a:r>
            <a:endParaRPr lang="ko-KR" sz="2200" dirty="0"/>
          </a:p>
        </p:txBody>
      </p:sp>
      <p:sp>
        <p:nvSpPr>
          <p:cNvPr id="7" name="S14-text12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29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20 : 35를 간단한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자연수의 비로</a:t>
            </a:r>
            <a:endParaRPr lang="ko-KR" sz="2200" dirty="0"/>
          </a:p>
        </p:txBody>
      </p:sp>
      <p:sp>
        <p:nvSpPr>
          <p:cNvPr id="9" name="S14-eqtext130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 : 8 = 15 : □</a:t>
            </a:r>
            <a:endParaRPr lang="ko-KR" sz="2600" dirty="0"/>
          </a:p>
        </p:txBody>
      </p:sp>
      <p:sp>
        <p:nvSpPr>
          <p:cNvPr id="10" name="S14-eqtext131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 : □ = 12 : 20</a:t>
            </a:r>
            <a:endParaRPr lang="ko-KR" sz="2600" dirty="0"/>
          </a:p>
        </p:txBody>
      </p:sp>
      <p:sp>
        <p:nvSpPr>
          <p:cNvPr id="11" name="S14-text13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비례배분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비율이 같은지 확인해요</a:t>
            </a:r>
            <a:endParaRPr lang="ko-KR" sz="4000" dirty="0"/>
          </a:p>
        </p:txBody>
      </p:sp>
      <p:sp>
        <p:nvSpPr>
          <p:cNvPr id="3" name="S15-card133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134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비교하는 양 ÷ 기준량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(후항이 기준량)</a:t>
            </a:r>
            <a:endParaRPr lang="ko-KR" sz="2800" dirty="0"/>
          </a:p>
        </p:txBody>
      </p:sp>
      <p:sp>
        <p:nvSpPr>
          <p:cNvPr id="5" name="S15-card135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5-cardtext136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기약분수로 바꾸면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같은지 바로 보여요.</a:t>
            </a:r>
            <a:endParaRPr lang="ko-KR" sz="2800" dirty="0"/>
          </a:p>
        </p:txBody>
      </p:sp>
      <p:sp>
        <p:nvSpPr>
          <p:cNvPr id="7" name="S15-op137"/>
          <p:cNvSpPr txBox="1"/>
          <p:nvPr/>
        </p:nvSpPr>
        <p:spPr>
          <a:xfrm>
            <a:off x="3914140" y="1704848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8" name="S15-op138"/>
          <p:cNvSpPr txBox="1"/>
          <p:nvPr/>
        </p:nvSpPr>
        <p:spPr>
          <a:xfrm>
            <a:off x="4548124" y="1704848"/>
            <a:ext cx="499872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</a:t>
            </a:r>
            <a:endParaRPr lang="ko-KR" sz="3200" dirty="0"/>
          </a:p>
        </p:txBody>
      </p:sp>
      <p:sp>
        <p:nvSpPr>
          <p:cNvPr id="9" name="S15-op139"/>
          <p:cNvSpPr txBox="1"/>
          <p:nvPr/>
        </p:nvSpPr>
        <p:spPr>
          <a:xfrm>
            <a:off x="5157724" y="1704848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0" name="S15-op140"/>
          <p:cNvSpPr txBox="1"/>
          <p:nvPr/>
        </p:nvSpPr>
        <p:spPr>
          <a:xfrm>
            <a:off x="5791708" y="1704848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3200" dirty="0"/>
          </a:p>
        </p:txBody>
      </p:sp>
      <p:sp>
        <p:nvSpPr>
          <p:cNvPr id="11" name="S15-num141"/>
          <p:cNvSpPr txBox="1"/>
          <p:nvPr/>
        </p:nvSpPr>
        <p:spPr>
          <a:xfrm>
            <a:off x="6555740" y="170484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2" name="S15-fracbar142"/>
          <p:cNvSpPr/>
          <p:nvPr/>
        </p:nvSpPr>
        <p:spPr>
          <a:xfrm>
            <a:off x="6592316" y="2220976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15-num143"/>
          <p:cNvSpPr txBox="1"/>
          <p:nvPr/>
        </p:nvSpPr>
        <p:spPr>
          <a:xfrm>
            <a:off x="6555740" y="22575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4" name="S15-op144"/>
          <p:cNvSpPr txBox="1"/>
          <p:nvPr/>
        </p:nvSpPr>
        <p:spPr>
          <a:xfrm>
            <a:off x="7201916" y="170484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5" name="S15-num145"/>
          <p:cNvSpPr txBox="1"/>
          <p:nvPr/>
        </p:nvSpPr>
        <p:spPr>
          <a:xfrm>
            <a:off x="7738364" y="170484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6" name="S15-fracbar146"/>
          <p:cNvSpPr/>
          <p:nvPr/>
        </p:nvSpPr>
        <p:spPr>
          <a:xfrm>
            <a:off x="7774940" y="2220976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15-num147"/>
          <p:cNvSpPr txBox="1"/>
          <p:nvPr/>
        </p:nvSpPr>
        <p:spPr>
          <a:xfrm>
            <a:off x="7738364" y="22575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8" name="S15-op148"/>
          <p:cNvSpPr txBox="1"/>
          <p:nvPr/>
        </p:nvSpPr>
        <p:spPr>
          <a:xfrm>
            <a:off x="3914140" y="3057144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9" name="S15-op149"/>
          <p:cNvSpPr txBox="1"/>
          <p:nvPr/>
        </p:nvSpPr>
        <p:spPr>
          <a:xfrm>
            <a:off x="4548124" y="3057144"/>
            <a:ext cx="499872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</a:t>
            </a:r>
            <a:endParaRPr lang="ko-KR" sz="3200" dirty="0"/>
          </a:p>
        </p:txBody>
      </p:sp>
      <p:sp>
        <p:nvSpPr>
          <p:cNvPr id="20" name="S15-op150"/>
          <p:cNvSpPr txBox="1"/>
          <p:nvPr/>
        </p:nvSpPr>
        <p:spPr>
          <a:xfrm>
            <a:off x="5157724" y="3057144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21" name="S15-op151"/>
          <p:cNvSpPr txBox="1"/>
          <p:nvPr/>
        </p:nvSpPr>
        <p:spPr>
          <a:xfrm>
            <a:off x="5791708" y="3057144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3200" dirty="0"/>
          </a:p>
        </p:txBody>
      </p:sp>
      <p:sp>
        <p:nvSpPr>
          <p:cNvPr id="22" name="S15-num152"/>
          <p:cNvSpPr txBox="1"/>
          <p:nvPr/>
        </p:nvSpPr>
        <p:spPr>
          <a:xfrm>
            <a:off x="6555740" y="305714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23" name="S15-fracbar153"/>
          <p:cNvSpPr/>
          <p:nvPr/>
        </p:nvSpPr>
        <p:spPr>
          <a:xfrm>
            <a:off x="6592316" y="3573272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" name="S15-num154"/>
          <p:cNvSpPr txBox="1"/>
          <p:nvPr/>
        </p:nvSpPr>
        <p:spPr>
          <a:xfrm>
            <a:off x="6555740" y="360984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25" name="S15-op155"/>
          <p:cNvSpPr txBox="1"/>
          <p:nvPr/>
        </p:nvSpPr>
        <p:spPr>
          <a:xfrm>
            <a:off x="7201916" y="3057144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6" name="S15-num156"/>
          <p:cNvSpPr txBox="1"/>
          <p:nvPr/>
        </p:nvSpPr>
        <p:spPr>
          <a:xfrm>
            <a:off x="7738364" y="305714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7" name="S15-fracbar157"/>
          <p:cNvSpPr/>
          <p:nvPr/>
        </p:nvSpPr>
        <p:spPr>
          <a:xfrm>
            <a:off x="7774940" y="3573272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15-num158"/>
          <p:cNvSpPr txBox="1"/>
          <p:nvPr/>
        </p:nvSpPr>
        <p:spPr>
          <a:xfrm>
            <a:off x="7738364" y="360984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비례식</dc:title>
  <dc:subject>KR22-G06-MAT-PROPORTION-L01</dc:subject>
  <dc:creator>education-ppt</dc:creator>
  <cp:lastModifiedBy>education-ppt</cp:lastModifiedBy>
  <cp:revision>1</cp:revision>
  <dcterms:created xsi:type="dcterms:W3CDTF">2026-10-26T09:05:44Z</dcterms:created>
  <dcterms:modified xsi:type="dcterms:W3CDTF">2026-10-26T09:05:44Z</dcterms:modified>
</cp:coreProperties>
</file>