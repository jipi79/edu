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fe7298c-4eac-3a48-6792-90a27a930fdf}">
          <p14:sldIdLst>
            <p14:sldId id="256"/>
            <p14:sldId id="257"/>
          </p14:sldIdLst>
        </p14:section>
        <p14:section name="개념" id="{86b25077-6d96-2d69-aece-7d2adb68d4d1}">
          <p14:sldIdLst>
            <p14:sldId id="258"/>
            <p14:sldId id="259"/>
            <p14:sldId id="261"/>
            <p14:sldId id="262"/>
          </p14:sldIdLst>
        </p14:section>
        <p14:section name="연습" id="{73370d77-cf64-ec5c-8e1c-824d5e0946e2}">
          <p14:sldIdLst>
            <p14:sldId id="260"/>
            <p14:sldId id="263"/>
            <p14:sldId id="264"/>
            <p14:sldId id="265"/>
          </p14:sldIdLst>
        </p14:section>
        <p14:section name="개념" id="{cee1438b-5984-cc1f-118e-91f7ea0918b9}">
          <p14:sldIdLst/>
        </p14:section>
        <p14:section name="연습" id="{51face98-efc8-9317-e29c-ce4bdf7c3880}">
          <p14:sldIdLst/>
        </p14:section>
        <p14:section name="확인" id="{e1bad656-423d-df01-8947-53d7981b9b53}">
          <p14:sldIdLst>
            <p14:sldId id="266"/>
            <p14:sldId id="267"/>
          </p14:sldIdLst>
        </p14:section>
        <p14:section name="정리" id="{493cbc54-b33f-7eca-0edd-29d205d02496}">
          <p14:sldIdLst>
            <p14:sldId id="268"/>
          </p14:sldIdLst>
        </p14:section>
        <p14:section name="보충" id="{519fb496-91a9-d780-2713-f47f3f124f50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연산과비례 · 7차시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비례식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비례식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수학 · 비례식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비례식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: 4와 비율이 같은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: □에서 □는 얼마일까?</a:t>
            </a:r>
            <a:endParaRPr lang="ko-KR" sz="2800" dirty="0"/>
          </a:p>
        </p:txBody>
      </p:sp>
      <p:sp>
        <p:nvSpPr>
          <p:cNvPr id="4" name="S01-eqtext1"/>
          <p:cNvSpPr txBox="1"/>
          <p:nvPr/>
        </p:nvSpPr>
        <p:spPr>
          <a:xfrm>
            <a:off x="7680960" y="64008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: 4 = 6 : □</a:t>
            </a:r>
            <a:endParaRPr lang="ko-KR" sz="4000" dirty="0"/>
          </a:p>
        </p:txBody>
      </p:sp>
      <p:sp>
        <p:nvSpPr>
          <p:cNvPr id="5" name="S01-card2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비의 성질로 비율이 같은 비를 만들어요.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비례식의 성질로 □를 구해요.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학습 기억하기</a:t>
            </a:r>
            <a:endParaRPr lang="ko-KR" sz="4000" dirty="0"/>
          </a:p>
        </p:txBody>
      </p:sp>
      <p:sp>
        <p:nvSpPr>
          <p:cNvPr id="3" name="S02-chip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: 5의 비율을 분수로</a:t>
            </a:r>
            <a:endParaRPr lang="ko-KR" sz="2800" dirty="0"/>
          </a:p>
        </p:txBody>
      </p:sp>
      <p:sp>
        <p:nvSpPr>
          <p:cNvPr id="5" name="S02-chip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7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: 8의 비율을 기약분수로</a:t>
            </a:r>
            <a:endParaRPr lang="ko-KR" sz="2800" dirty="0"/>
          </a:p>
        </p:txBody>
      </p:sp>
      <p:sp>
        <p:nvSpPr>
          <p:cNvPr id="7" name="S02-chip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9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18과 24의 최대공약수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비의 성질 ① 곱하기</a:t>
            </a:r>
            <a:endParaRPr lang="ko-KR" sz="40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전항과 후항에 0이 아닌 같은 수를 곱해도 비율은 같아요.</a:t>
            </a:r>
            <a:endParaRPr lang="ko-KR" sz="2800" dirty="0"/>
          </a:p>
        </p:txBody>
      </p:sp>
      <p:sp>
        <p:nvSpPr>
          <p:cNvPr id="5" name="S03-card12"/>
          <p:cNvSpPr/>
          <p:nvPr/>
        </p:nvSpPr>
        <p:spPr>
          <a:xfrm>
            <a:off x="548640" y="359968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3"/>
          <p:cNvSpPr txBox="1"/>
          <p:nvPr/>
        </p:nvSpPr>
        <p:spPr>
          <a:xfrm>
            <a:off x="822960" y="373684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전항과 후항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: 3에서 2는 전항,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3은 후항이에요.</a:t>
            </a:r>
            <a:endParaRPr lang="ko-KR" sz="2800" dirty="0"/>
          </a:p>
        </p:txBody>
      </p:sp>
      <p:sp>
        <p:nvSpPr>
          <p:cNvPr id="7" name="S03-card14"/>
          <p:cNvSpPr/>
          <p:nvPr/>
        </p:nvSpPr>
        <p:spPr>
          <a:xfrm>
            <a:off x="6208776" y="359968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5"/>
          <p:cNvSpPr txBox="1"/>
          <p:nvPr/>
        </p:nvSpPr>
        <p:spPr>
          <a:xfrm>
            <a:off x="6483096" y="373684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전항과 후항에 × 2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: 6이 되어도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비율은 같아요.</a:t>
            </a:r>
            <a:endParaRPr lang="ko-KR" sz="2800" dirty="0"/>
          </a:p>
        </p:txBody>
      </p:sp>
      <p:sp>
        <p:nvSpPr>
          <p:cNvPr id="9" name="S03-op16"/>
          <p:cNvSpPr txBox="1"/>
          <p:nvPr/>
        </p:nvSpPr>
        <p:spPr>
          <a:xfrm>
            <a:off x="4149471" y="1336040"/>
            <a:ext cx="473964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0" name="S03-op17"/>
          <p:cNvSpPr txBox="1"/>
          <p:nvPr/>
        </p:nvSpPr>
        <p:spPr>
          <a:xfrm>
            <a:off x="4733163" y="1336040"/>
            <a:ext cx="454152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:</a:t>
            </a:r>
            <a:endParaRPr lang="ko-KR" sz="2600" dirty="0"/>
          </a:p>
        </p:txBody>
      </p:sp>
      <p:sp>
        <p:nvSpPr>
          <p:cNvPr id="11" name="S03-op18"/>
          <p:cNvSpPr txBox="1"/>
          <p:nvPr/>
        </p:nvSpPr>
        <p:spPr>
          <a:xfrm>
            <a:off x="5297043" y="1336040"/>
            <a:ext cx="473964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2" name="S03-op19"/>
          <p:cNvSpPr txBox="1"/>
          <p:nvPr/>
        </p:nvSpPr>
        <p:spPr>
          <a:xfrm>
            <a:off x="5880735" y="1336040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ko-KR" sz="2600" dirty="0"/>
          </a:p>
        </p:txBody>
      </p:sp>
      <p:sp>
        <p:nvSpPr>
          <p:cNvPr id="13" name="S03-op20"/>
          <p:cNvSpPr txBox="1"/>
          <p:nvPr/>
        </p:nvSpPr>
        <p:spPr>
          <a:xfrm>
            <a:off x="6570091" y="1336040"/>
            <a:ext cx="903224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</a:t>
            </a:r>
            <a:endParaRPr lang="ko-KR" sz="2600" dirty="0"/>
          </a:p>
        </p:txBody>
      </p:sp>
      <p:sp>
        <p:nvSpPr>
          <p:cNvPr id="14" name="S03-num21"/>
          <p:cNvSpPr txBox="1"/>
          <p:nvPr/>
        </p:nvSpPr>
        <p:spPr>
          <a:xfrm>
            <a:off x="7583043" y="1336040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5" name="S03-fracbar22"/>
          <p:cNvSpPr/>
          <p:nvPr/>
        </p:nvSpPr>
        <p:spPr>
          <a:xfrm>
            <a:off x="7619619" y="1762252"/>
            <a:ext cx="383286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16" name="S03-num23"/>
          <p:cNvSpPr txBox="1"/>
          <p:nvPr/>
        </p:nvSpPr>
        <p:spPr>
          <a:xfrm>
            <a:off x="7583043" y="17988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7" name="S03-op24"/>
          <p:cNvSpPr txBox="1"/>
          <p:nvPr/>
        </p:nvSpPr>
        <p:spPr>
          <a:xfrm>
            <a:off x="3614166" y="2508504"/>
            <a:ext cx="473964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8" name="S03-op25"/>
          <p:cNvSpPr txBox="1"/>
          <p:nvPr/>
        </p:nvSpPr>
        <p:spPr>
          <a:xfrm>
            <a:off x="4197858" y="2508504"/>
            <a:ext cx="454152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:</a:t>
            </a:r>
            <a:endParaRPr lang="ko-KR" sz="2600" dirty="0"/>
          </a:p>
        </p:txBody>
      </p:sp>
      <p:sp>
        <p:nvSpPr>
          <p:cNvPr id="19" name="S03-op26"/>
          <p:cNvSpPr txBox="1"/>
          <p:nvPr/>
        </p:nvSpPr>
        <p:spPr>
          <a:xfrm>
            <a:off x="4761738" y="2508504"/>
            <a:ext cx="473964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0" name="S03-op27"/>
          <p:cNvSpPr txBox="1"/>
          <p:nvPr/>
        </p:nvSpPr>
        <p:spPr>
          <a:xfrm>
            <a:off x="5345430" y="2508504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ko-KR" sz="2600" dirty="0"/>
          </a:p>
        </p:txBody>
      </p:sp>
      <p:sp>
        <p:nvSpPr>
          <p:cNvPr id="21" name="S03-op28"/>
          <p:cNvSpPr txBox="1"/>
          <p:nvPr/>
        </p:nvSpPr>
        <p:spPr>
          <a:xfrm>
            <a:off x="6034786" y="2508504"/>
            <a:ext cx="903224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</a:t>
            </a:r>
            <a:endParaRPr lang="ko-KR" sz="2600" dirty="0"/>
          </a:p>
        </p:txBody>
      </p:sp>
      <p:sp>
        <p:nvSpPr>
          <p:cNvPr id="22" name="S03-num29"/>
          <p:cNvSpPr txBox="1"/>
          <p:nvPr/>
        </p:nvSpPr>
        <p:spPr>
          <a:xfrm>
            <a:off x="7047738" y="2508504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3" name="S03-fracbar30"/>
          <p:cNvSpPr/>
          <p:nvPr/>
        </p:nvSpPr>
        <p:spPr>
          <a:xfrm>
            <a:off x="7084314" y="2934716"/>
            <a:ext cx="383286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24" name="S03-num31"/>
          <p:cNvSpPr txBox="1"/>
          <p:nvPr/>
        </p:nvSpPr>
        <p:spPr>
          <a:xfrm>
            <a:off x="7047738" y="2971292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5" name="S03-op32"/>
          <p:cNvSpPr txBox="1"/>
          <p:nvPr/>
        </p:nvSpPr>
        <p:spPr>
          <a:xfrm>
            <a:off x="7613904" y="2508504"/>
            <a:ext cx="39471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600" dirty="0"/>
          </a:p>
        </p:txBody>
      </p:sp>
      <p:sp>
        <p:nvSpPr>
          <p:cNvPr id="26" name="S03-num33"/>
          <p:cNvSpPr txBox="1"/>
          <p:nvPr/>
        </p:nvSpPr>
        <p:spPr>
          <a:xfrm>
            <a:off x="8118348" y="2508504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27" name="S03-fracbar34"/>
          <p:cNvSpPr/>
          <p:nvPr/>
        </p:nvSpPr>
        <p:spPr>
          <a:xfrm>
            <a:off x="8154924" y="2934716"/>
            <a:ext cx="383286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28" name="S03-num35"/>
          <p:cNvSpPr txBox="1"/>
          <p:nvPr/>
        </p:nvSpPr>
        <p:spPr>
          <a:xfrm>
            <a:off x="8118348" y="2971292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간단한 자연수의 비로</a:t>
            </a:r>
            <a:endParaRPr lang="ko-KR" sz="4000" dirty="0"/>
          </a:p>
        </p:txBody>
      </p:sp>
      <p:sp>
        <p:nvSpPr>
          <p:cNvPr id="3" name="S04-text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비의 성질로 비를 간단하게 나타내요.</a:t>
            </a:r>
            <a:endParaRPr lang="ko-KR" sz="2800" dirty="0"/>
          </a:p>
        </p:txBody>
      </p:sp>
      <p:sp>
        <p:nvSpPr>
          <p:cNvPr id="4" name="S04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전항과 후항을 0이 아닌 같은 수로 나누어도 비율은 같아요.</a:t>
            </a:r>
            <a:endParaRPr lang="ko-KR" sz="2800" dirty="0"/>
          </a:p>
        </p:txBody>
      </p:sp>
      <p:sp>
        <p:nvSpPr>
          <p:cNvPr id="6" name="S04-stepno39"/>
          <p:cNvSpPr txBox="1"/>
          <p:nvPr/>
        </p:nvSpPr>
        <p:spPr>
          <a:xfrm>
            <a:off x="548640" y="26619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7" name="S04-text40"/>
          <p:cNvSpPr txBox="1"/>
          <p:nvPr/>
        </p:nvSpPr>
        <p:spPr>
          <a:xfrm>
            <a:off x="1325880" y="2616200"/>
            <a:ext cx="5655930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자연수의 비는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최대공약수로 나눠요.</a:t>
            </a:r>
            <a:endParaRPr lang="ko-KR" sz="2800" dirty="0"/>
          </a:p>
        </p:txBody>
      </p:sp>
      <p:sp>
        <p:nvSpPr>
          <p:cNvPr id="8" name="S04-eqtext41"/>
          <p:cNvSpPr txBox="1"/>
          <p:nvPr/>
        </p:nvSpPr>
        <p:spPr>
          <a:xfrm>
            <a:off x="6981810" y="2616200"/>
            <a:ext cx="465850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: 18 → 2 : 3</a:t>
            </a:r>
            <a:endParaRPr lang="ko-KR" sz="2800" dirty="0"/>
          </a:p>
        </p:txBody>
      </p:sp>
      <p:sp>
        <p:nvSpPr>
          <p:cNvPr id="9" name="S04-stepno42"/>
          <p:cNvSpPr txBox="1"/>
          <p:nvPr/>
        </p:nvSpPr>
        <p:spPr>
          <a:xfrm>
            <a:off x="548640" y="36941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0" name="S04-text43"/>
          <p:cNvSpPr txBox="1"/>
          <p:nvPr/>
        </p:nvSpPr>
        <p:spPr>
          <a:xfrm>
            <a:off x="1325880" y="3648456"/>
            <a:ext cx="5655930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소수의 비는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곱해요.</a:t>
            </a:r>
            <a:endParaRPr lang="ko-KR" sz="2800" dirty="0"/>
          </a:p>
        </p:txBody>
      </p:sp>
      <p:sp>
        <p:nvSpPr>
          <p:cNvPr id="11" name="S04-eqtext44"/>
          <p:cNvSpPr txBox="1"/>
          <p:nvPr/>
        </p:nvSpPr>
        <p:spPr>
          <a:xfrm>
            <a:off x="6981810" y="3648456"/>
            <a:ext cx="465850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 : 0.5 → 3 : 5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간단한 자연수의 비로 나타내기</a:t>
            </a:r>
            <a:endParaRPr lang="ko-KR" sz="4000" dirty="0"/>
          </a:p>
        </p:txBody>
      </p:sp>
      <p:sp>
        <p:nvSpPr>
          <p:cNvPr id="3" name="S05-card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5-cardtext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자연수는 최대공약수로 나누고, 소수는 10을 곱해요.</a:t>
            </a:r>
            <a:endParaRPr lang="ko-KR" sz="2800" dirty="0"/>
          </a:p>
        </p:txBody>
      </p:sp>
      <p:sp>
        <p:nvSpPr>
          <p:cNvPr id="5" name="S05-chip4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5-eqtext48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 : 24</a:t>
            </a:r>
            <a:endParaRPr lang="ko-KR" sz="3200" dirty="0"/>
          </a:p>
        </p:txBody>
      </p:sp>
      <p:sp>
        <p:nvSpPr>
          <p:cNvPr id="7" name="S05-chip49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05-eqtext50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 : 0.7</a:t>
            </a:r>
            <a:endParaRPr lang="ko-KR" sz="3200" dirty="0"/>
          </a:p>
        </p:txBody>
      </p:sp>
      <p:sp>
        <p:nvSpPr>
          <p:cNvPr id="9" name="S05-chip51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05-eqtext52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 : 15</a:t>
            </a:r>
            <a:endParaRPr lang="ko-KR" sz="3200" dirty="0"/>
          </a:p>
        </p:txBody>
      </p:sp>
      <p:sp>
        <p:nvSpPr>
          <p:cNvPr id="11" name="S05-chip53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2" name="S05-eqtext54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 : 0.8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비례식</a:t>
            </a:r>
            <a:endParaRPr lang="ko-KR" sz="4000" dirty="0"/>
          </a:p>
        </p:txBody>
      </p:sp>
      <p:sp>
        <p:nvSpPr>
          <p:cNvPr id="3" name="S06-card55"/>
          <p:cNvSpPr/>
          <p:nvPr/>
        </p:nvSpPr>
        <p:spPr>
          <a:xfrm>
            <a:off x="548640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56"/>
          <p:cNvSpPr txBox="1"/>
          <p:nvPr/>
        </p:nvSpPr>
        <p:spPr>
          <a:xfrm>
            <a:off x="822960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비례식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비율이 같은 두 비를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기호 = 로 나타낸 식</a:t>
            </a:r>
            <a:endParaRPr lang="ko-KR" sz="2800" dirty="0"/>
          </a:p>
        </p:txBody>
      </p:sp>
      <p:sp>
        <p:nvSpPr>
          <p:cNvPr id="5" name="S06-card57"/>
          <p:cNvSpPr/>
          <p:nvPr/>
        </p:nvSpPr>
        <p:spPr>
          <a:xfrm>
            <a:off x="6208776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58"/>
          <p:cNvSpPr txBox="1"/>
          <p:nvPr/>
        </p:nvSpPr>
        <p:spPr>
          <a:xfrm>
            <a:off x="6483096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외항과 내항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바깥쪽 2와 6은 외항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안쪽 3과 4는 내항</a:t>
            </a:r>
            <a:endParaRPr lang="ko-KR" sz="2800" dirty="0"/>
          </a:p>
        </p:txBody>
      </p:sp>
      <p:sp>
        <p:nvSpPr>
          <p:cNvPr id="7" name="S06-eqtext59"/>
          <p:cNvSpPr txBox="1"/>
          <p:nvPr/>
        </p:nvSpPr>
        <p:spPr>
          <a:xfrm>
            <a:off x="548640" y="1325880"/>
            <a:ext cx="11091672" cy="3142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: 3 = 4 : 6</a:t>
            </a:r>
            <a:endParaRPr lang="ko-KR" sz="6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외항의 곱 = 내항의 곱</a:t>
            </a:r>
            <a:endParaRPr lang="ko-KR" sz="4000" dirty="0"/>
          </a:p>
        </p:txBody>
      </p:sp>
      <p:sp>
        <p:nvSpPr>
          <p:cNvPr id="3" name="S07-text6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6 = 12, 3 × 4 = 12로 같아요.</a:t>
            </a:r>
            <a:endParaRPr lang="ko-KR" sz="2800" dirty="0"/>
          </a:p>
        </p:txBody>
      </p:sp>
      <p:sp>
        <p:nvSpPr>
          <p:cNvPr id="4" name="S07-card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확인: 3 : 5와 12 : 20의 비율이 같아요.</a:t>
            </a:r>
            <a:endParaRPr lang="ko-KR" sz="2800" dirty="0"/>
          </a:p>
        </p:txBody>
      </p:sp>
      <p:sp>
        <p:nvSpPr>
          <p:cNvPr id="6" name="S07-stepno63"/>
          <p:cNvSpPr txBox="1"/>
          <p:nvPr/>
        </p:nvSpPr>
        <p:spPr>
          <a:xfrm>
            <a:off x="548640" y="224790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7" name="S07-text64"/>
          <p:cNvSpPr txBox="1"/>
          <p:nvPr/>
        </p:nvSpPr>
        <p:spPr>
          <a:xfrm>
            <a:off x="1325880" y="2202180"/>
            <a:ext cx="5655930" cy="1301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: 5 = □ : 20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외항끼리, 내항끼리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곱해요.</a:t>
            </a:r>
            <a:endParaRPr lang="ko-KR" sz="2800" dirty="0"/>
          </a:p>
        </p:txBody>
      </p:sp>
      <p:sp>
        <p:nvSpPr>
          <p:cNvPr id="8" name="S07-eqtext65"/>
          <p:cNvSpPr txBox="1"/>
          <p:nvPr/>
        </p:nvSpPr>
        <p:spPr>
          <a:xfrm>
            <a:off x="6981810" y="2202180"/>
            <a:ext cx="4658502" cy="1301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20 = 5 × □</a:t>
            </a:r>
            <a:endParaRPr lang="ko-KR" sz="2800" dirty="0"/>
          </a:p>
        </p:txBody>
      </p:sp>
      <p:sp>
        <p:nvSpPr>
          <p:cNvPr id="9" name="S07-stepno66"/>
          <p:cNvSpPr txBox="1"/>
          <p:nvPr/>
        </p:nvSpPr>
        <p:spPr>
          <a:xfrm>
            <a:off x="548640" y="36682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0" name="S07-text67"/>
          <p:cNvSpPr txBox="1"/>
          <p:nvPr/>
        </p:nvSpPr>
        <p:spPr>
          <a:xfrm>
            <a:off x="1325880" y="3668268"/>
            <a:ext cx="5655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 = 5 × □</a:t>
            </a:r>
            <a:endParaRPr lang="ko-KR" sz="2800" dirty="0"/>
          </a:p>
        </p:txBody>
      </p:sp>
      <p:sp>
        <p:nvSpPr>
          <p:cNvPr id="11" name="S07-eqtext68"/>
          <p:cNvSpPr txBox="1"/>
          <p:nvPr/>
        </p:nvSpPr>
        <p:spPr>
          <a:xfrm>
            <a:off x="6981810" y="3668268"/>
            <a:ext cx="46585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 = 60 ÷ 5</a:t>
            </a:r>
            <a:endParaRPr lang="ko-KR" sz="2800" dirty="0"/>
          </a:p>
        </p:txBody>
      </p:sp>
      <p:sp>
        <p:nvSpPr>
          <p:cNvPr id="12" name="S07-stepno69"/>
          <p:cNvSpPr txBox="1"/>
          <p:nvPr/>
        </p:nvSpPr>
        <p:spPr>
          <a:xfrm>
            <a:off x="548640" y="438150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3" name="S07-text70"/>
          <p:cNvSpPr txBox="1"/>
          <p:nvPr/>
        </p:nvSpPr>
        <p:spPr>
          <a:xfrm>
            <a:off x="1325880" y="4381500"/>
            <a:ext cx="5655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□를 구해요.</a:t>
            </a:r>
            <a:endParaRPr lang="ko-KR" sz="2800" dirty="0"/>
          </a:p>
        </p:txBody>
      </p:sp>
      <p:sp>
        <p:nvSpPr>
          <p:cNvPr id="14" name="S07-eqtext71"/>
          <p:cNvSpPr txBox="1"/>
          <p:nvPr/>
        </p:nvSpPr>
        <p:spPr>
          <a:xfrm>
            <a:off x="6981810" y="4381500"/>
            <a:ext cx="46585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 = 12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□를 구해 봐요</a:t>
            </a:r>
            <a:endParaRPr lang="ko-KR" sz="4000" dirty="0"/>
          </a:p>
        </p:txBody>
      </p:sp>
      <p:sp>
        <p:nvSpPr>
          <p:cNvPr id="3" name="S08-card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8-cardtext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외항의 곱 = 내항의 곱으로 식을 세워요.</a:t>
            </a:r>
            <a:endParaRPr lang="ko-KR" sz="2800" dirty="0"/>
          </a:p>
        </p:txBody>
      </p:sp>
      <p:sp>
        <p:nvSpPr>
          <p:cNvPr id="5" name="S08-chip7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8-eqtext75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: 7 = 12 : □</a:t>
            </a:r>
            <a:endParaRPr lang="ko-KR" sz="3200" dirty="0"/>
          </a:p>
        </p:txBody>
      </p:sp>
      <p:sp>
        <p:nvSpPr>
          <p:cNvPr id="7" name="S08-chip76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08-eqtext77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: □ = 18 : 24</a:t>
            </a:r>
            <a:endParaRPr lang="ko-KR" sz="3200" dirty="0"/>
          </a:p>
        </p:txBody>
      </p:sp>
      <p:sp>
        <p:nvSpPr>
          <p:cNvPr id="9" name="S08-chip78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08-eqtext79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 : 9 = 10 : 15</a:t>
            </a:r>
            <a:endParaRPr lang="ko-KR" sz="3200" dirty="0"/>
          </a:p>
        </p:txBody>
      </p:sp>
      <p:sp>
        <p:nvSpPr>
          <p:cNvPr id="11" name="S08-chip80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2" name="S08-eqtext81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 : 3 = 2 : □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09-card8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8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: 2 = 15 : □에서 □를 구했어요.</a:t>
            </a:r>
            <a:endParaRPr lang="ko-KR" sz="2800" dirty="0"/>
          </a:p>
        </p:txBody>
      </p:sp>
      <p:sp>
        <p:nvSpPr>
          <p:cNvPr id="5" name="S09-card8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8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외항의 곱과 내항의 곱으로 확인해 봐요.</a:t>
            </a:r>
            <a:endParaRPr lang="ko-KR" sz="2800" dirty="0"/>
          </a:p>
        </p:txBody>
      </p:sp>
      <p:sp>
        <p:nvSpPr>
          <p:cNvPr id="7" name="S09-chip86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12</a:t>
            </a:r>
            <a:endParaRPr lang="ko-KR" sz="2200" dirty="0"/>
          </a:p>
        </p:txBody>
      </p:sp>
      <p:sp>
        <p:nvSpPr>
          <p:cNvPr id="8" name="S09-text87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5에 10을 더하면 15니까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2에도 10을 더해요.</a:t>
            </a:r>
            <a:endParaRPr lang="ko-KR" sz="2800" dirty="0"/>
          </a:p>
        </p:txBody>
      </p:sp>
      <p:sp>
        <p:nvSpPr>
          <p:cNvPr id="9" name="S09-chip8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6</a:t>
            </a:r>
            <a:endParaRPr lang="ko-KR" sz="2200" dirty="0"/>
          </a:p>
        </p:txBody>
      </p:sp>
      <p:sp>
        <p:nvSpPr>
          <p:cNvPr id="10" name="S09-text89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5에 3을 곱하면 15니까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2에도 3을 곱해요.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비례식으로 해결해요</a:t>
            </a:r>
            <a:endParaRPr lang="ko-KR" sz="4000" dirty="0"/>
          </a:p>
        </p:txBody>
      </p:sp>
      <p:sp>
        <p:nvSpPr>
          <p:cNvPr id="3" name="S10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0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비에서 같은 자리에 같은 종류의 양을 써요.</a:t>
            </a:r>
            <a:endParaRPr lang="ko-KR" sz="2800" dirty="0"/>
          </a:p>
        </p:txBody>
      </p:sp>
      <p:sp>
        <p:nvSpPr>
          <p:cNvPr id="5" name="S10-chip9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10-text93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매실 원액과 물을 2 : 5로 섞어요.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원액이 60 mL이면 물은 몇 mL인가요?</a:t>
            </a:r>
            <a:endParaRPr lang="ko-KR" sz="2800" dirty="0"/>
          </a:p>
        </p:txBody>
      </p:sp>
      <p:sp>
        <p:nvSpPr>
          <p:cNvPr id="7" name="S10-chip94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10-text95"/>
          <p:cNvSpPr txBox="1"/>
          <p:nvPr/>
        </p:nvSpPr>
        <p:spPr>
          <a:xfrm>
            <a:off x="1344168" y="33147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쿠키 4개에 버터가 30 g 들어요.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쿠키 18개에는 버터가 몇 g 들까요?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hip96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1-text97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 : 27을 간단한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자연수의 비로</a:t>
            </a:r>
            <a:endParaRPr lang="ko-KR" sz="2800" dirty="0"/>
          </a:p>
        </p:txBody>
      </p:sp>
      <p:sp>
        <p:nvSpPr>
          <p:cNvPr id="5" name="S11-chip98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1-text99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 : 1.5를 간단한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자연수의 비로</a:t>
            </a:r>
            <a:endParaRPr lang="ko-KR" sz="2800" dirty="0"/>
          </a:p>
        </p:txBody>
      </p:sp>
      <p:sp>
        <p:nvSpPr>
          <p:cNvPr id="7" name="S11-chip100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1-eqtext101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: 4 = □ : 32</a:t>
            </a:r>
            <a:endParaRPr lang="ko-KR" sz="3200" dirty="0"/>
          </a:p>
        </p:txBody>
      </p:sp>
      <p:sp>
        <p:nvSpPr>
          <p:cNvPr id="9" name="S11-chip102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1-eqtext103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 : 12 = 15 : 20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속 문제</a:t>
            </a:r>
            <a:endParaRPr lang="ko-KR" sz="4000" dirty="0"/>
          </a:p>
        </p:txBody>
      </p:sp>
      <p:sp>
        <p:nvSpPr>
          <p:cNvPr id="3" name="S13-chip10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3-text10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사진의 가로와 세로의 비가 3 : 2예요.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가로가 45 cm이면 세로는 몇 cm인가요?</a:t>
            </a:r>
            <a:endParaRPr lang="ko-KR" sz="2800" dirty="0"/>
          </a:p>
        </p:txBody>
      </p:sp>
      <p:sp>
        <p:nvSpPr>
          <p:cNvPr id="5" name="S13-chip106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3-text107"/>
          <p:cNvSpPr txBox="1"/>
          <p:nvPr/>
        </p:nvSpPr>
        <p:spPr>
          <a:xfrm>
            <a:off x="1344168" y="38633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 동안 0.6 km를 걷는 빠르기로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10분 동안 걸으면 몇 km를 갈까요?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0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0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비례식에서 외항의 곱과 내항의 곱은 같아요.</a:t>
            </a:r>
            <a:endParaRPr lang="ko-KR" sz="2800" dirty="0"/>
          </a:p>
        </p:txBody>
      </p:sp>
      <p:sp>
        <p:nvSpPr>
          <p:cNvPr id="5" name="S14-chip110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답을 넣어 두 곱이 같은지 확인</a:t>
            </a:r>
            <a:endParaRPr lang="ko-KR" sz="2200" dirty="0"/>
          </a:p>
        </p:txBody>
      </p:sp>
      <p:sp>
        <p:nvSpPr>
          <p:cNvPr id="6" name="S14-chip111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더해서 같은 비 만들기</a:t>
            </a:r>
            <a:endParaRPr lang="ko-KR" sz="2200" dirty="0"/>
          </a:p>
        </p:txBody>
      </p:sp>
      <p:sp>
        <p:nvSpPr>
          <p:cNvPr id="7" name="S14-text112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113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20 : 35를 간단한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자연수의 비로</a:t>
            </a:r>
            <a:endParaRPr lang="ko-KR" sz="2200" dirty="0"/>
          </a:p>
        </p:txBody>
      </p:sp>
      <p:sp>
        <p:nvSpPr>
          <p:cNvPr id="9" name="S14-eqtext114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 : 8 = 15 : □</a:t>
            </a:r>
            <a:endParaRPr lang="ko-KR" sz="2600" dirty="0"/>
          </a:p>
        </p:txBody>
      </p:sp>
      <p:sp>
        <p:nvSpPr>
          <p:cNvPr id="10" name="S14-eqtext115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 : □ = 12 : 20</a:t>
            </a:r>
            <a:endParaRPr lang="ko-KR" sz="2600" dirty="0"/>
          </a:p>
        </p:txBody>
      </p:sp>
      <p:sp>
        <p:nvSpPr>
          <p:cNvPr id="11" name="S14-text11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비례배분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비율이 같은지 확인해요</a:t>
            </a:r>
            <a:endParaRPr lang="ko-KR" sz="4000" dirty="0"/>
          </a:p>
        </p:txBody>
      </p:sp>
      <p:sp>
        <p:nvSpPr>
          <p:cNvPr id="3" name="S15-card117"/>
          <p:cNvSpPr/>
          <p:nvPr/>
        </p:nvSpPr>
        <p:spPr>
          <a:xfrm>
            <a:off x="548640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5-cardtext118"/>
          <p:cNvSpPr txBox="1"/>
          <p:nvPr/>
        </p:nvSpPr>
        <p:spPr>
          <a:xfrm>
            <a:off x="822960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비교하는 양 ÷ 기준량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(후항이 기준량)</a:t>
            </a:r>
            <a:endParaRPr lang="ko-KR" sz="2800" dirty="0"/>
          </a:p>
        </p:txBody>
      </p:sp>
      <p:sp>
        <p:nvSpPr>
          <p:cNvPr id="5" name="S15-card119"/>
          <p:cNvSpPr/>
          <p:nvPr/>
        </p:nvSpPr>
        <p:spPr>
          <a:xfrm>
            <a:off x="6208776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5-cardtext120"/>
          <p:cNvSpPr txBox="1"/>
          <p:nvPr/>
        </p:nvSpPr>
        <p:spPr>
          <a:xfrm>
            <a:off x="6483096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기약분수로 바꾸면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같은지 바로 보여요.</a:t>
            </a:r>
            <a:endParaRPr lang="ko-KR" sz="2800" dirty="0"/>
          </a:p>
        </p:txBody>
      </p:sp>
      <p:sp>
        <p:nvSpPr>
          <p:cNvPr id="7" name="S15-op121"/>
          <p:cNvSpPr txBox="1"/>
          <p:nvPr/>
        </p:nvSpPr>
        <p:spPr>
          <a:xfrm>
            <a:off x="3914140" y="1704848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8" name="S15-op122"/>
          <p:cNvSpPr txBox="1"/>
          <p:nvPr/>
        </p:nvSpPr>
        <p:spPr>
          <a:xfrm>
            <a:off x="4548124" y="1704848"/>
            <a:ext cx="499872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:</a:t>
            </a:r>
            <a:endParaRPr lang="ko-KR" sz="3200" dirty="0"/>
          </a:p>
        </p:txBody>
      </p:sp>
      <p:sp>
        <p:nvSpPr>
          <p:cNvPr id="9" name="S15-op123"/>
          <p:cNvSpPr txBox="1"/>
          <p:nvPr/>
        </p:nvSpPr>
        <p:spPr>
          <a:xfrm>
            <a:off x="5157724" y="1704848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10" name="S15-op124"/>
          <p:cNvSpPr txBox="1"/>
          <p:nvPr/>
        </p:nvSpPr>
        <p:spPr>
          <a:xfrm>
            <a:off x="5791708" y="1704848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ko-KR" sz="3200" dirty="0"/>
          </a:p>
        </p:txBody>
      </p:sp>
      <p:sp>
        <p:nvSpPr>
          <p:cNvPr id="11" name="S15-num125"/>
          <p:cNvSpPr txBox="1"/>
          <p:nvPr/>
        </p:nvSpPr>
        <p:spPr>
          <a:xfrm>
            <a:off x="6555740" y="1704848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12" name="S15-fracbar126"/>
          <p:cNvSpPr/>
          <p:nvPr/>
        </p:nvSpPr>
        <p:spPr>
          <a:xfrm>
            <a:off x="6592316" y="2220976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15-num127"/>
          <p:cNvSpPr txBox="1"/>
          <p:nvPr/>
        </p:nvSpPr>
        <p:spPr>
          <a:xfrm>
            <a:off x="6555740" y="22575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14" name="S15-op128"/>
          <p:cNvSpPr txBox="1"/>
          <p:nvPr/>
        </p:nvSpPr>
        <p:spPr>
          <a:xfrm>
            <a:off x="7201916" y="1704848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5" name="S15-num129"/>
          <p:cNvSpPr txBox="1"/>
          <p:nvPr/>
        </p:nvSpPr>
        <p:spPr>
          <a:xfrm>
            <a:off x="7738364" y="1704848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6" name="S15-fracbar130"/>
          <p:cNvSpPr/>
          <p:nvPr/>
        </p:nvSpPr>
        <p:spPr>
          <a:xfrm>
            <a:off x="7774940" y="2220976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15-num131"/>
          <p:cNvSpPr txBox="1"/>
          <p:nvPr/>
        </p:nvSpPr>
        <p:spPr>
          <a:xfrm>
            <a:off x="7738364" y="22575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18" name="S15-op132"/>
          <p:cNvSpPr txBox="1"/>
          <p:nvPr/>
        </p:nvSpPr>
        <p:spPr>
          <a:xfrm>
            <a:off x="3914140" y="3057144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19" name="S15-op133"/>
          <p:cNvSpPr txBox="1"/>
          <p:nvPr/>
        </p:nvSpPr>
        <p:spPr>
          <a:xfrm>
            <a:off x="4548124" y="3057144"/>
            <a:ext cx="499872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:</a:t>
            </a:r>
            <a:endParaRPr lang="ko-KR" sz="3200" dirty="0"/>
          </a:p>
        </p:txBody>
      </p:sp>
      <p:sp>
        <p:nvSpPr>
          <p:cNvPr id="20" name="S15-op134"/>
          <p:cNvSpPr txBox="1"/>
          <p:nvPr/>
        </p:nvSpPr>
        <p:spPr>
          <a:xfrm>
            <a:off x="5157724" y="3057144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200" dirty="0"/>
          </a:p>
        </p:txBody>
      </p:sp>
      <p:sp>
        <p:nvSpPr>
          <p:cNvPr id="21" name="S15-op135"/>
          <p:cNvSpPr txBox="1"/>
          <p:nvPr/>
        </p:nvSpPr>
        <p:spPr>
          <a:xfrm>
            <a:off x="5791708" y="3057144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ko-KR" sz="3200" dirty="0"/>
          </a:p>
        </p:txBody>
      </p:sp>
      <p:sp>
        <p:nvSpPr>
          <p:cNvPr id="22" name="S15-num136"/>
          <p:cNvSpPr txBox="1"/>
          <p:nvPr/>
        </p:nvSpPr>
        <p:spPr>
          <a:xfrm>
            <a:off x="6555740" y="305714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23" name="S15-fracbar137"/>
          <p:cNvSpPr/>
          <p:nvPr/>
        </p:nvSpPr>
        <p:spPr>
          <a:xfrm>
            <a:off x="6592316" y="3573272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" name="S15-num138"/>
          <p:cNvSpPr txBox="1"/>
          <p:nvPr/>
        </p:nvSpPr>
        <p:spPr>
          <a:xfrm>
            <a:off x="6555740" y="3609848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200" dirty="0"/>
          </a:p>
        </p:txBody>
      </p:sp>
      <p:sp>
        <p:nvSpPr>
          <p:cNvPr id="25" name="S15-op139"/>
          <p:cNvSpPr txBox="1"/>
          <p:nvPr/>
        </p:nvSpPr>
        <p:spPr>
          <a:xfrm>
            <a:off x="7201916" y="3057144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6" name="S15-num140"/>
          <p:cNvSpPr txBox="1"/>
          <p:nvPr/>
        </p:nvSpPr>
        <p:spPr>
          <a:xfrm>
            <a:off x="7738364" y="305714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27" name="S15-fracbar141"/>
          <p:cNvSpPr/>
          <p:nvPr/>
        </p:nvSpPr>
        <p:spPr>
          <a:xfrm>
            <a:off x="7774940" y="3573272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15-num142"/>
          <p:cNvSpPr txBox="1"/>
          <p:nvPr/>
        </p:nvSpPr>
        <p:spPr>
          <a:xfrm>
            <a:off x="7738364" y="3609848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수학 비례식</dc:title>
  <dc:subject>KR22-G06-MAT-PROPORTION-L01</dc:subject>
  <dc:creator>education-ppt</dc:creator>
  <cp:lastModifiedBy>education-ppt</cp:lastModifiedBy>
  <cp:revision>1</cp:revision>
  <dcterms:created xsi:type="dcterms:W3CDTF">2026-10-26T08:48:57Z</dcterms:created>
  <dcterms:modified xsi:type="dcterms:W3CDTF">2026-10-26T08:48:57Z</dcterms:modified>
</cp:coreProperties>
</file>