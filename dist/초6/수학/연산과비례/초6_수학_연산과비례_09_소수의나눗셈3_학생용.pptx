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11d457a-bfba-67fd-80be-7f6c5ff0a317}">
          <p14:sldIdLst>
            <p14:sldId id="256"/>
            <p14:sldId id="257"/>
          </p14:sldIdLst>
        </p14:section>
        <p14:section name="개념" id="{044a24ad-9873-1683-d3b0-64f63c154c0a}">
          <p14:sldIdLst>
            <p14:sldId id="258"/>
            <p14:sldId id="259"/>
            <p14:sldId id="262"/>
            <p14:sldId id="263"/>
          </p14:sldIdLst>
        </p14:section>
        <p14:section name="연습" id="{21b28f17-c281-a340-e83c-c6c41e48aad5}">
          <p14:sldIdLst>
            <p14:sldId id="260"/>
            <p14:sldId id="261"/>
            <p14:sldId id="264"/>
            <p14:sldId id="265"/>
          </p14:sldIdLst>
        </p14:section>
        <p14:section name="개념" id="{9ae667ab-61a6-0faa-9b82-651ce8e95f6b}">
          <p14:sldIdLst/>
        </p14:section>
        <p14:section name="연습" id="{90e1ea4c-f093-6f66-bdea-c13522ef7014}">
          <p14:sldIdLst/>
        </p14:section>
        <p14:section name="확인" id="{53329b99-2945-83a1-bba5-76ca7df2c2b5}">
          <p14:sldIdLst>
            <p14:sldId id="266"/>
            <p14:sldId id="267"/>
          </p14:sldIdLst>
        </p14:section>
        <p14:section name="정리" id="{57dc193f-6855-4848-b0f9-a1fdd4df0ba6}">
          <p14:sldIdLst>
            <p14:sldId id="268"/>
          </p14:sldIdLst>
        </p14:section>
        <p14:section name="보충" id="{25628da6-d934-06e9-ffbd-3be20e68172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소수의 나눗셈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나눗셈 3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2.1과 12 ÷ 0.4는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계산할까?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자릿수가 다른 (소수)÷(소수)를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(자연수)÷(소수)를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 ÷ 0.6 =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 ÷ 0.16 = □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25.2 ÷ 6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자리까지 옮길까요?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2.1의 두 수에 똑같이 곱해 봐요.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수가 자연수가 되도록 두 수를 똑같이 옮겨요.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2.1은 소수 한 자리 → 두 수 모두 한 자리씩</a:t>
            </a:r>
            <a:endParaRPr lang="ko-KR" sz="28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308098"/>
          <a:ext cx="9601200" cy="914400"/>
        </p:xfrm>
        <a:graphic>
          <a:graphicData uri="http://schemas.openxmlformats.org/drawingml/2006/table">
            <a:tbl>
              <a:tblPr/>
              <a:tblGrid>
                <a:gridCol w="2688336"/>
                <a:gridCol w="2592324"/>
                <a:gridCol w="2208276"/>
                <a:gridCol w="2112264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나누어지는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나누는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6.72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수 × 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수 × 100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소수점 위에 찍어요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2.1을 세로로 계산해요.</a:t>
            </a:r>
            <a:endParaRPr lang="ko-KR" sz="28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 = 67.2 ÷ 21 = 3.2</a:t>
            </a:r>
            <a:endParaRPr lang="ko-KR" sz="28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028444"/>
          <a:ext cx="4206240" cy="914400"/>
        </p:xfrm>
        <a:graphic>
          <a:graphicData uri="http://schemas.openxmlformats.org/drawingml/2006/table">
            <a:tbl>
              <a:tblPr/>
              <a:tblGrid>
                <a:gridCol w="1430122"/>
                <a:gridCol w="925373"/>
                <a:gridCol w="925373"/>
                <a:gridCol w="925373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0883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042668"/>
            <a:ext cx="5443789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→ 21, 6.72 → 67.2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 모두 한 자리씩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28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3508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3508756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67.2 ÷ 21을 해요.</a:t>
            </a:r>
            <a:endParaRPr lang="ko-KR" sz="28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4267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4221988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소수점은 옮긴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위에 찍어요.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옮겨 나눠 봐요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수가 자연수가 되게 옮겨요.</a:t>
            </a:r>
            <a:endParaRPr lang="ko-KR" sz="28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수의 소수 자릿수만큼 두 수를 옮겨요.</a:t>
            </a:r>
            <a:endParaRPr lang="ko-KR" sz="28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2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5.04 ÷ 1.2 = □</a:t>
            </a:r>
            <a:endParaRPr lang="ko-KR" sz="3200" dirty="0"/>
          </a:p>
        </p:txBody>
      </p:sp>
      <p:sp>
        <p:nvSpPr>
          <p:cNvPr id="8" name="S05-chip2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3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8.64 ÷ 3.6 = □</a:t>
            </a:r>
            <a:endParaRPr lang="ko-KR" sz="3200" dirty="0"/>
          </a:p>
        </p:txBody>
      </p:sp>
      <p:sp>
        <p:nvSpPr>
          <p:cNvPr id="10" name="S05-chip3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eqtext3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1.95 ÷ 0.5 = □</a:t>
            </a:r>
            <a:endParaRPr lang="ko-KR" sz="3200" dirty="0"/>
          </a:p>
        </p:txBody>
      </p:sp>
      <p:sp>
        <p:nvSpPr>
          <p:cNvPr id="12" name="S05-chip3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eqtext3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7.56 ÷ 2.7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2.1을 계산했어요.</a:t>
            </a:r>
            <a:endParaRPr lang="ko-KR" sz="2800" dirty="0"/>
          </a:p>
        </p:txBody>
      </p:sp>
      <p:sp>
        <p:nvSpPr>
          <p:cNvPr id="5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6.72는 2.1의 몇 배쯤인지 어림해 봐요.</a:t>
            </a:r>
            <a:endParaRPr lang="ko-KR" sz="2800" dirty="0"/>
          </a:p>
        </p:txBody>
      </p:sp>
      <p:sp>
        <p:nvSpPr>
          <p:cNvPr id="7" name="S06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32</a:t>
            </a:r>
            <a:endParaRPr lang="ko-KR" sz="2200" dirty="0"/>
          </a:p>
        </p:txBody>
      </p:sp>
      <p:sp>
        <p:nvSpPr>
          <p:cNvPr id="8" name="S06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→ 672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→ 21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672 ÷ 21 = 32</a:t>
            </a:r>
            <a:endParaRPr lang="ko-KR" sz="2800" dirty="0"/>
          </a:p>
        </p:txBody>
      </p:sp>
      <p:sp>
        <p:nvSpPr>
          <p:cNvPr id="9" name="S06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3.2</a:t>
            </a:r>
            <a:endParaRPr lang="ko-KR" sz="2200" dirty="0"/>
          </a:p>
        </p:txBody>
      </p:sp>
      <p:sp>
        <p:nvSpPr>
          <p:cNvPr id="10" name="S06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→ 67.2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→ 21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67.2 ÷ 21 = 3.2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자연수를 소수로 나눠요</a:t>
            </a:r>
            <a:endParaRPr lang="ko-KR" sz="4000" dirty="0"/>
          </a:p>
        </p:txBody>
      </p:sp>
      <p:sp>
        <p:nvSpPr>
          <p:cNvPr id="3" name="S07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3 L를 0.5 L씩 담으면 몇 병일까요?</a:t>
            </a:r>
            <a:endParaRPr lang="ko-KR" sz="2800" dirty="0"/>
          </a:p>
        </p:txBody>
      </p:sp>
      <p:sp>
        <p:nvSpPr>
          <p:cNvPr id="4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30으로 옮길 때는 0을 붙여요.</a:t>
            </a:r>
            <a:endParaRPr lang="ko-KR" sz="2800" dirty="0"/>
          </a:p>
        </p:txBody>
      </p:sp>
      <p:sp>
        <p:nvSpPr>
          <p:cNvPr id="6" name="S07-card46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7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0.1이 30개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0.5는 0.1이 5개</a:t>
            </a:r>
            <a:endParaRPr lang="ko-KR" sz="2800" dirty="0"/>
          </a:p>
        </p:txBody>
      </p:sp>
      <p:sp>
        <p:nvSpPr>
          <p:cNvPr id="8" name="S07-card48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9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÷ 5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÷ 0.5 = 6</a:t>
            </a:r>
            <a:endParaRPr lang="ko-KR" sz="2800" dirty="0"/>
          </a:p>
        </p:txBody>
      </p:sp>
      <p:sp>
        <p:nvSpPr>
          <p:cNvPr id="10" name="S07-line50"/>
          <p:cNvSpPr/>
          <p:nvPr/>
        </p:nvSpPr>
        <p:spPr>
          <a:xfrm>
            <a:off x="685800" y="2741168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7-line51"/>
          <p:cNvSpPr/>
          <p:nvPr/>
        </p:nvSpPr>
        <p:spPr>
          <a:xfrm>
            <a:off x="96012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52"/>
          <p:cNvSpPr txBox="1"/>
          <p:nvPr/>
        </p:nvSpPr>
        <p:spPr>
          <a:xfrm>
            <a:off x="502920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3" name="S07-line53"/>
          <p:cNvSpPr/>
          <p:nvPr/>
        </p:nvSpPr>
        <p:spPr>
          <a:xfrm>
            <a:off x="130241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ine54"/>
          <p:cNvSpPr/>
          <p:nvPr/>
        </p:nvSpPr>
        <p:spPr>
          <a:xfrm>
            <a:off x="164470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7-line55"/>
          <p:cNvSpPr/>
          <p:nvPr/>
        </p:nvSpPr>
        <p:spPr>
          <a:xfrm>
            <a:off x="198699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ine56"/>
          <p:cNvSpPr/>
          <p:nvPr/>
        </p:nvSpPr>
        <p:spPr>
          <a:xfrm>
            <a:off x="232928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line57"/>
          <p:cNvSpPr/>
          <p:nvPr/>
        </p:nvSpPr>
        <p:spPr>
          <a:xfrm>
            <a:off x="267157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58"/>
          <p:cNvSpPr txBox="1"/>
          <p:nvPr/>
        </p:nvSpPr>
        <p:spPr>
          <a:xfrm>
            <a:off x="2214372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19" name="S07-line59"/>
          <p:cNvSpPr/>
          <p:nvPr/>
        </p:nvSpPr>
        <p:spPr>
          <a:xfrm>
            <a:off x="301386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ine60"/>
          <p:cNvSpPr/>
          <p:nvPr/>
        </p:nvSpPr>
        <p:spPr>
          <a:xfrm>
            <a:off x="3356153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line61"/>
          <p:cNvSpPr/>
          <p:nvPr/>
        </p:nvSpPr>
        <p:spPr>
          <a:xfrm>
            <a:off x="3698443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ine62"/>
          <p:cNvSpPr/>
          <p:nvPr/>
        </p:nvSpPr>
        <p:spPr>
          <a:xfrm>
            <a:off x="4040734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line63"/>
          <p:cNvSpPr/>
          <p:nvPr/>
        </p:nvSpPr>
        <p:spPr>
          <a:xfrm>
            <a:off x="4383024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64"/>
          <p:cNvSpPr txBox="1"/>
          <p:nvPr/>
        </p:nvSpPr>
        <p:spPr>
          <a:xfrm>
            <a:off x="3925824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5" name="S07-line65"/>
          <p:cNvSpPr/>
          <p:nvPr/>
        </p:nvSpPr>
        <p:spPr>
          <a:xfrm>
            <a:off x="4725314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ine66"/>
          <p:cNvSpPr/>
          <p:nvPr/>
        </p:nvSpPr>
        <p:spPr>
          <a:xfrm>
            <a:off x="5067605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line67"/>
          <p:cNvSpPr/>
          <p:nvPr/>
        </p:nvSpPr>
        <p:spPr>
          <a:xfrm>
            <a:off x="5409895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line68"/>
          <p:cNvSpPr/>
          <p:nvPr/>
        </p:nvSpPr>
        <p:spPr>
          <a:xfrm>
            <a:off x="5752186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ine69"/>
          <p:cNvSpPr/>
          <p:nvPr/>
        </p:nvSpPr>
        <p:spPr>
          <a:xfrm>
            <a:off x="6094476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7-label70"/>
          <p:cNvSpPr txBox="1"/>
          <p:nvPr/>
        </p:nvSpPr>
        <p:spPr>
          <a:xfrm>
            <a:off x="5637276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ko-KR" sz="1600" dirty="0"/>
          </a:p>
        </p:txBody>
      </p:sp>
      <p:sp>
        <p:nvSpPr>
          <p:cNvPr id="31" name="S07-line71"/>
          <p:cNvSpPr/>
          <p:nvPr/>
        </p:nvSpPr>
        <p:spPr>
          <a:xfrm>
            <a:off x="6436766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7-line72"/>
          <p:cNvSpPr/>
          <p:nvPr/>
        </p:nvSpPr>
        <p:spPr>
          <a:xfrm>
            <a:off x="6779057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line73"/>
          <p:cNvSpPr/>
          <p:nvPr/>
        </p:nvSpPr>
        <p:spPr>
          <a:xfrm>
            <a:off x="7121347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7-line74"/>
          <p:cNvSpPr/>
          <p:nvPr/>
        </p:nvSpPr>
        <p:spPr>
          <a:xfrm>
            <a:off x="7463638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7-line75"/>
          <p:cNvSpPr/>
          <p:nvPr/>
        </p:nvSpPr>
        <p:spPr>
          <a:xfrm>
            <a:off x="7805928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7-label76"/>
          <p:cNvSpPr txBox="1"/>
          <p:nvPr/>
        </p:nvSpPr>
        <p:spPr>
          <a:xfrm>
            <a:off x="7348728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37" name="S07-line77"/>
          <p:cNvSpPr/>
          <p:nvPr/>
        </p:nvSpPr>
        <p:spPr>
          <a:xfrm>
            <a:off x="8148218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7-line78"/>
          <p:cNvSpPr/>
          <p:nvPr/>
        </p:nvSpPr>
        <p:spPr>
          <a:xfrm>
            <a:off x="8490509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7-line79"/>
          <p:cNvSpPr/>
          <p:nvPr/>
        </p:nvSpPr>
        <p:spPr>
          <a:xfrm>
            <a:off x="8832799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7-line80"/>
          <p:cNvSpPr/>
          <p:nvPr/>
        </p:nvSpPr>
        <p:spPr>
          <a:xfrm>
            <a:off x="917509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7-line81"/>
          <p:cNvSpPr/>
          <p:nvPr/>
        </p:nvSpPr>
        <p:spPr>
          <a:xfrm>
            <a:off x="951738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7-label82"/>
          <p:cNvSpPr txBox="1"/>
          <p:nvPr/>
        </p:nvSpPr>
        <p:spPr>
          <a:xfrm>
            <a:off x="9060180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</a:t>
            </a:r>
            <a:endParaRPr lang="ko-KR" sz="1600" dirty="0"/>
          </a:p>
        </p:txBody>
      </p:sp>
      <p:sp>
        <p:nvSpPr>
          <p:cNvPr id="43" name="S07-line83"/>
          <p:cNvSpPr/>
          <p:nvPr/>
        </p:nvSpPr>
        <p:spPr>
          <a:xfrm>
            <a:off x="985967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7-line84"/>
          <p:cNvSpPr/>
          <p:nvPr/>
        </p:nvSpPr>
        <p:spPr>
          <a:xfrm>
            <a:off x="1020196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7-line85"/>
          <p:cNvSpPr/>
          <p:nvPr/>
        </p:nvSpPr>
        <p:spPr>
          <a:xfrm>
            <a:off x="1054425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7-line86"/>
          <p:cNvSpPr/>
          <p:nvPr/>
        </p:nvSpPr>
        <p:spPr>
          <a:xfrm>
            <a:off x="1088654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7-line87"/>
          <p:cNvSpPr/>
          <p:nvPr/>
        </p:nvSpPr>
        <p:spPr>
          <a:xfrm>
            <a:off x="1122883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7-label88"/>
          <p:cNvSpPr txBox="1"/>
          <p:nvPr/>
        </p:nvSpPr>
        <p:spPr>
          <a:xfrm>
            <a:off x="10771632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9" name="S07-line89"/>
          <p:cNvSpPr/>
          <p:nvPr/>
        </p:nvSpPr>
        <p:spPr>
          <a:xfrm flipV="1">
            <a:off x="960120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7-line90"/>
          <p:cNvSpPr/>
          <p:nvPr/>
        </p:nvSpPr>
        <p:spPr>
          <a:xfrm>
            <a:off x="960120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7-label91"/>
          <p:cNvSpPr txBox="1"/>
          <p:nvPr/>
        </p:nvSpPr>
        <p:spPr>
          <a:xfrm>
            <a:off x="960120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52" name="S07-line92"/>
          <p:cNvSpPr/>
          <p:nvPr/>
        </p:nvSpPr>
        <p:spPr>
          <a:xfrm flipV="1">
            <a:off x="2671572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7-line93"/>
          <p:cNvSpPr/>
          <p:nvPr/>
        </p:nvSpPr>
        <p:spPr>
          <a:xfrm>
            <a:off x="2671572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7-label94"/>
          <p:cNvSpPr txBox="1"/>
          <p:nvPr/>
        </p:nvSpPr>
        <p:spPr>
          <a:xfrm>
            <a:off x="2671572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55" name="S07-line95"/>
          <p:cNvSpPr/>
          <p:nvPr/>
        </p:nvSpPr>
        <p:spPr>
          <a:xfrm flipV="1">
            <a:off x="4383024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7-line96"/>
          <p:cNvSpPr/>
          <p:nvPr/>
        </p:nvSpPr>
        <p:spPr>
          <a:xfrm>
            <a:off x="4383024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7-label97"/>
          <p:cNvSpPr txBox="1"/>
          <p:nvPr/>
        </p:nvSpPr>
        <p:spPr>
          <a:xfrm>
            <a:off x="4383024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58" name="S07-line98"/>
          <p:cNvSpPr/>
          <p:nvPr/>
        </p:nvSpPr>
        <p:spPr>
          <a:xfrm flipV="1">
            <a:off x="6094476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7-line99"/>
          <p:cNvSpPr/>
          <p:nvPr/>
        </p:nvSpPr>
        <p:spPr>
          <a:xfrm>
            <a:off x="6094476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7-label100"/>
          <p:cNvSpPr txBox="1"/>
          <p:nvPr/>
        </p:nvSpPr>
        <p:spPr>
          <a:xfrm>
            <a:off x="6094476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61" name="S07-line101"/>
          <p:cNvSpPr/>
          <p:nvPr/>
        </p:nvSpPr>
        <p:spPr>
          <a:xfrm flipV="1">
            <a:off x="7805928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7-line102"/>
          <p:cNvSpPr/>
          <p:nvPr/>
        </p:nvSpPr>
        <p:spPr>
          <a:xfrm>
            <a:off x="7805928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7-label103"/>
          <p:cNvSpPr txBox="1"/>
          <p:nvPr/>
        </p:nvSpPr>
        <p:spPr>
          <a:xfrm>
            <a:off x="7805928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64" name="S07-line104"/>
          <p:cNvSpPr/>
          <p:nvPr/>
        </p:nvSpPr>
        <p:spPr>
          <a:xfrm flipV="1">
            <a:off x="9517380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7-line105"/>
          <p:cNvSpPr/>
          <p:nvPr/>
        </p:nvSpPr>
        <p:spPr>
          <a:xfrm>
            <a:off x="9517380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7-label106"/>
          <p:cNvSpPr txBox="1"/>
          <p:nvPr/>
        </p:nvSpPr>
        <p:spPr>
          <a:xfrm>
            <a:off x="9517380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67" name="S07-figure107" descr="0부터 3까지 0.1 눈금 수직선. 0에서 3까지 0.5씩 6번 뛰어 셈"/>
          <p:cNvSpPr/>
          <p:nvPr/>
        </p:nvSpPr>
        <p:spPr>
          <a:xfrm>
            <a:off x="685800" y="2558288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붙여 소수점을 옮겨요</a:t>
            </a:r>
            <a:endParaRPr lang="ko-KR" sz="4000" dirty="0"/>
          </a:p>
        </p:txBody>
      </p:sp>
      <p:sp>
        <p:nvSpPr>
          <p:cNvPr id="3" name="S08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0.75를 세로로 계산해요.</a:t>
            </a:r>
            <a:endParaRPr lang="ko-KR" sz="2800" dirty="0"/>
          </a:p>
        </p:txBody>
      </p:sp>
      <p:sp>
        <p:nvSpPr>
          <p:cNvPr id="4" name="S08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0.75 = 1200 ÷ 75 = 16</a:t>
            </a:r>
            <a:endParaRPr lang="ko-KR" sz="2800" dirty="0"/>
          </a:p>
        </p:txBody>
      </p:sp>
      <p:graphicFrame>
        <p:nvGraphicFramePr>
          <p:cNvPr id="9" name="S08-table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331" y="2028444"/>
          <a:ext cx="4480560" cy="914400"/>
        </p:xfrm>
        <a:graphic>
          <a:graphicData uri="http://schemas.openxmlformats.org/drawingml/2006/table">
            <a:tbl>
              <a:tblPr/>
              <a:tblGrid>
                <a:gridCol w="1523390"/>
                <a:gridCol w="739292"/>
                <a:gridCol w="739292"/>
                <a:gridCol w="739292"/>
                <a:gridCol w="7392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112"/>
          <p:cNvSpPr txBox="1"/>
          <p:nvPr/>
        </p:nvSpPr>
        <p:spPr>
          <a:xfrm>
            <a:off x="548640" y="230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ext113"/>
          <p:cNvSpPr txBox="1"/>
          <p:nvPr/>
        </p:nvSpPr>
        <p:spPr>
          <a:xfrm>
            <a:off x="1325880" y="2259584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 → 75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옮겨요.</a:t>
            </a:r>
            <a:endParaRPr lang="ko-KR" sz="2800" dirty="0"/>
          </a:p>
        </p:txBody>
      </p:sp>
      <p:sp>
        <p:nvSpPr>
          <p:cNvPr id="9" name="S08-stepno114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ext115"/>
          <p:cNvSpPr txBox="1"/>
          <p:nvPr/>
        </p:nvSpPr>
        <p:spPr>
          <a:xfrm>
            <a:off x="1325880" y="3291840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→ 1200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두 개 붙여요.</a:t>
            </a:r>
            <a:endParaRPr lang="ko-KR" sz="2800" dirty="0"/>
          </a:p>
        </p:txBody>
      </p:sp>
      <p:sp>
        <p:nvSpPr>
          <p:cNvPr id="11" name="S08-stepno116"/>
          <p:cNvSpPr txBox="1"/>
          <p:nvPr/>
        </p:nvSpPr>
        <p:spPr>
          <a:xfrm>
            <a:off x="548640" y="4324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ext117"/>
          <p:cNvSpPr txBox="1"/>
          <p:nvPr/>
        </p:nvSpPr>
        <p:spPr>
          <a:xfrm>
            <a:off x="1325880" y="43240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 ÷ 75를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붙여 계산해 봐요</a:t>
            </a:r>
            <a:endParaRPr lang="ko-KR" sz="4000" dirty="0"/>
          </a:p>
        </p:txBody>
      </p:sp>
      <p:sp>
        <p:nvSpPr>
          <p:cNvPr id="3" name="S09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수를 먼저 자연수로 만들어요.</a:t>
            </a:r>
            <a:endParaRPr lang="ko-KR" sz="2800" dirty="0"/>
          </a:p>
        </p:txBody>
      </p:sp>
      <p:sp>
        <p:nvSpPr>
          <p:cNvPr id="4" name="S09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옮길 자리가 없으면 0을 붙여요.</a:t>
            </a:r>
            <a:endParaRPr lang="ko-KR" sz="2800" dirty="0"/>
          </a:p>
        </p:txBody>
      </p:sp>
      <p:sp>
        <p:nvSpPr>
          <p:cNvPr id="6" name="S09-chip12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eqtext12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÷ 1.5 = □</a:t>
            </a:r>
            <a:endParaRPr lang="ko-KR" sz="3200" dirty="0"/>
          </a:p>
        </p:txBody>
      </p:sp>
      <p:sp>
        <p:nvSpPr>
          <p:cNvPr id="8" name="S09-chip12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eqtext12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0.4 = □</a:t>
            </a:r>
            <a:endParaRPr lang="ko-KR" sz="3200" dirty="0"/>
          </a:p>
        </p:txBody>
      </p:sp>
      <p:sp>
        <p:nvSpPr>
          <p:cNvPr id="10" name="S09-chip12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eqtext12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0.28 = □</a:t>
            </a:r>
            <a:endParaRPr lang="ko-KR" sz="3200" dirty="0"/>
          </a:p>
        </p:txBody>
      </p:sp>
      <p:sp>
        <p:nvSpPr>
          <p:cNvPr id="12" name="S09-chip12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eqtext12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÷ 0.16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3일까요, 30일까요?</a:t>
            </a:r>
            <a:endParaRPr lang="ko-KR" sz="4000" dirty="0"/>
          </a:p>
        </p:txBody>
      </p:sp>
      <p:sp>
        <p:nvSpPr>
          <p:cNvPr id="3" name="S10-card1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0.4를 계산했어요.</a:t>
            </a:r>
            <a:endParaRPr lang="ko-KR" sz="2800" dirty="0"/>
          </a:p>
        </p:txBody>
      </p:sp>
      <p:sp>
        <p:nvSpPr>
          <p:cNvPr id="5" name="S10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L 컵으로 12 L를 뜨면 12번보다 많을까요, 적을까요?</a:t>
            </a:r>
            <a:endParaRPr lang="ko-KR" sz="2800" dirty="0"/>
          </a:p>
        </p:txBody>
      </p:sp>
      <p:sp>
        <p:nvSpPr>
          <p:cNvPr id="7" name="S10-chip13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</a:t>
            </a:r>
            <a:endParaRPr lang="ko-KR" sz="2200" dirty="0"/>
          </a:p>
        </p:txBody>
      </p:sp>
      <p:sp>
        <p:nvSpPr>
          <p:cNvPr id="8" name="S10-text13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0.4만 4로 바꿨어요.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4 = 3</a:t>
            </a:r>
            <a:endParaRPr lang="ko-KR" sz="2800" dirty="0"/>
          </a:p>
        </p:txBody>
      </p:sp>
      <p:sp>
        <p:nvSpPr>
          <p:cNvPr id="9" name="S10-chip13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</a:t>
            </a:r>
            <a:endParaRPr lang="ko-KR" sz="2200" dirty="0"/>
          </a:p>
        </p:txBody>
      </p:sp>
      <p:sp>
        <p:nvSpPr>
          <p:cNvPr id="10" name="S10-text13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→ 120, 0.4 → 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÷ 4 = 30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eqtext13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3.75 ÷ 1.5 = □</a:t>
            </a:r>
            <a:endParaRPr lang="ko-KR" sz="3200" dirty="0"/>
          </a:p>
        </p:txBody>
      </p:sp>
      <p:sp>
        <p:nvSpPr>
          <p:cNvPr id="5" name="S11-chip13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eqtext14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4.76 ÷ 0.7 = □</a:t>
            </a:r>
            <a:endParaRPr lang="ko-KR" sz="3200" dirty="0"/>
          </a:p>
        </p:txBody>
      </p:sp>
      <p:sp>
        <p:nvSpPr>
          <p:cNvPr id="7" name="S11-chip14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eqtext14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0.6 = □</a:t>
            </a:r>
            <a:endParaRPr lang="ko-KR" sz="3200" dirty="0"/>
          </a:p>
        </p:txBody>
      </p:sp>
      <p:sp>
        <p:nvSpPr>
          <p:cNvPr id="9" name="S11-chip14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eqtext14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4.5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4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4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7.82 m²인 직사각형의 가로가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 m예요. 세로는 몇 m인가요?</a:t>
            </a:r>
            <a:endParaRPr lang="ko-KR" sz="2800" dirty="0"/>
          </a:p>
        </p:txBody>
      </p:sp>
      <p:sp>
        <p:nvSpPr>
          <p:cNvPr id="5" name="S13-chip14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48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6 L를 0.25 L 컵에 가득 담으면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컵이 되나요? 몫이 6보다 큰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4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수가 자연수가 되도록 두 수의 소수점을 똑같이 옮겨요.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옮길 자리가 없으면 0을 붙여요.</a:t>
            </a:r>
            <a:endParaRPr lang="ko-KR" sz="2800" dirty="0"/>
          </a:p>
        </p:txBody>
      </p:sp>
      <p:sp>
        <p:nvSpPr>
          <p:cNvPr id="5" name="S14-chip15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몫의 소수점은 옮긴 자리 위에</a:t>
            </a:r>
            <a:endParaRPr lang="ko-KR" sz="2200" dirty="0"/>
          </a:p>
        </p:txBody>
      </p:sp>
      <p:sp>
        <p:nvSpPr>
          <p:cNvPr id="6" name="S14-chip15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수만 소수점 옮기기</a:t>
            </a:r>
            <a:endParaRPr lang="ko-KR" sz="2200" dirty="0"/>
          </a:p>
        </p:txBody>
      </p:sp>
      <p:sp>
        <p:nvSpPr>
          <p:cNvPr id="7" name="S14-text15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15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4.32 ÷ 1.8</a:t>
            </a:r>
            <a:endParaRPr lang="ko-KR" sz="2600" dirty="0"/>
          </a:p>
        </p:txBody>
      </p:sp>
      <p:sp>
        <p:nvSpPr>
          <p:cNvPr id="9" name="S14-eqtext15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 ÷ 0.35</a:t>
            </a:r>
            <a:endParaRPr lang="ko-KR" sz="2600" dirty="0"/>
          </a:p>
        </p:txBody>
      </p:sp>
      <p:sp>
        <p:nvSpPr>
          <p:cNvPr id="10" name="S14-eqtext15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8.4 ÷ 0.24</a:t>
            </a:r>
            <a:endParaRPr lang="ko-KR" sz="2600" dirty="0"/>
          </a:p>
        </p:txBody>
      </p:sp>
      <p:sp>
        <p:nvSpPr>
          <p:cNvPr id="11" name="S14-text1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각기둥과 각뿔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소수점 옮기기</a:t>
            </a:r>
            <a:endParaRPr lang="ko-KR" sz="4000" dirty="0"/>
          </a:p>
        </p:txBody>
      </p:sp>
      <p:sp>
        <p:nvSpPr>
          <p:cNvPr id="3" name="S15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10배, 100배 하면 소수점이 오른쪽으로 옮겨 가요.</a:t>
            </a:r>
            <a:endParaRPr lang="ko-KR" sz="2800" dirty="0"/>
          </a:p>
        </p:txBody>
      </p:sp>
      <p:sp>
        <p:nvSpPr>
          <p:cNvPr id="4" name="S15-card159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60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소수점이 오른쪽으로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자리 옮겨 가요.</a:t>
            </a:r>
            <a:endParaRPr lang="ko-KR" sz="2800" dirty="0"/>
          </a:p>
        </p:txBody>
      </p:sp>
      <p:sp>
        <p:nvSpPr>
          <p:cNvPr id="6" name="S15-card161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62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자리가 없으면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→ 90 → 900</a:t>
            </a:r>
            <a:endParaRPr lang="ko-KR" sz="2800" dirty="0"/>
          </a:p>
        </p:txBody>
      </p:sp>
      <p:graphicFrame>
        <p:nvGraphicFramePr>
          <p:cNvPr id="15" name="S15-table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5476" y="2036064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100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소수의 나눗셈 3</dc:title>
  <dc:subject>KR22-G06-MAT-DECDIV3-L01</dc:subject>
  <dc:creator>education-ppt</dc:creator>
  <cp:lastModifiedBy>education-ppt</cp:lastModifiedBy>
  <cp:revision>1</cp:revision>
  <dcterms:created xsi:type="dcterms:W3CDTF">2026-10-26T09:23:52Z</dcterms:created>
  <dcterms:modified xsi:type="dcterms:W3CDTF">2026-10-26T09:23:52Z</dcterms:modified>
</cp:coreProperties>
</file>