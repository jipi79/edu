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921e0ccf-c757-1f95-6837-9be7beb06877}">
          <p14:sldIdLst>
            <p14:sldId id="256"/>
            <p14:sldId id="257"/>
          </p14:sldIdLst>
        </p14:section>
        <p14:section name="개념" id="{b756c6ef-4b84-fce6-6eee-b8078af9bfaa}">
          <p14:sldIdLst>
            <p14:sldId id="258"/>
            <p14:sldId id="259"/>
            <p14:sldId id="262"/>
            <p14:sldId id="263"/>
          </p14:sldIdLst>
        </p14:section>
        <p14:section name="연습" id="{7b48e280-5734-c34b-32db-dfb9d6580f53}">
          <p14:sldIdLst>
            <p14:sldId id="260"/>
            <p14:sldId id="261"/>
            <p14:sldId id="264"/>
            <p14:sldId id="265"/>
          </p14:sldIdLst>
        </p14:section>
        <p14:section name="개념" id="{d330051a-2b5f-fa94-a032-618f1b33b80a}">
          <p14:sldIdLst/>
        </p14:section>
        <p14:section name="연습" id="{ed055809-0227-8df9-d27a-1ba9bdd6e11f}">
          <p14:sldIdLst/>
        </p14:section>
        <p14:section name="확인" id="{dcc88123-2ce8-9f82-172f-98bad5325b44}">
          <p14:sldIdLst>
            <p14:sldId id="266"/>
            <p14:sldId id="267"/>
            <p14:sldId id="268"/>
          </p14:sldIdLst>
        </p14:section>
        <p14:section name="정리" id="{b7020514-b448-5e9d-25f7-91634e1fc574}">
          <p14:sldIdLst>
            <p14:sldId id="269"/>
          </p14:sldIdLst>
        </p14:section>
        <p14:section name="보충" id="{8438889d-ed50-b14b-761f-9f9b20b85d20}">
          <p14:sldIdLst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소수로 소수를 나누는 상황을 보여 주고 오늘 할 일을 알려 줍니다.
시간: 약 2분
이렇게 말해 보세요
- “1.8 m 끈을 0.3 m씩 자르면 몇 도막이 될까? 어림해 볼래?”
- “오늘은 소수를 소수로 나누는 방법을 알아볼 거야.”
예상 답
- “5도막쯤이요.” “6도막이요.” “모르겠어요.” 어떤 답이든 괜찮습니다.
막히면
- 답을 확인하지 않고 넘어갑니다. S03에서 수직선으로 셉니다.
주의
- 답은 6도막입니다(1.8 ÷ 0.3 = 6). 지금은 알려 주지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확인((소수)÷(자연수), 반올림)]
목적: 지난 시간의 (소수)÷(자연수)와 5학년의 반올림을 할 수 있는지 확인합니다. 오늘은 둘 다 그대로 씁니다.
시간: 약 3분
이렇게 말해 보세요
- “공책에 세로셈으로 풀어 볼래? 몫의 소수점은 어디에 찍었어?”
- “③은 소수 둘째 자리 숫자를 보고 올릴지 버릴지 정해.”
정답
- ① 2.4
- ② 0.7
- ③ 3.5 (둘째 자리 7은 5 이상이라 올림)
막히면
- ①②가 틀리면 S15(보충)를 먼저 합니다. 보충으로도 어려우면 앞 차시 ‘소수의 나눗셈 1’을 다시 합니다.
- ③이 틀리면 ‘구하려는 자리 바로 아래 숫자가 0~4이면 버리고, 5~9이면 올린다’를 말해 주고 3.42, 3.45로 한 번 더 해 봅니다(초5 ‘어림하기’).
주의
- ②의 몫은 1보다 작습니다. 일의 자리에 0을 쓰고 소수점을 찍었는지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0.1의 개수로 (소수)÷(소수)를 자연수의 나눗셈으로]
목적: 1.8과 0.3을 0.1이 몇 개인지로 바꾸면 18 ÷ 3이 되어, (소수)÷(소수)를 자연수의 나눗셈으로 계산할 수 있음을 압니다.
시간: 약 3분
이렇게 말해 보세요
- “수직선에서 0.3씩 몇 번 뛰면 1.8에 닿아?”
- “1.8은 0.1이 몇 개야? 0.3은 0.1이 몇 개야? 그러면 18개를 3개씩 묶으면 몇 묶음?”
- “1.8 ÷ 0.3과 18 ÷ 3의 몫이 같지? 두 수를 똑같이 10배 했어.”
예상 답
- “6번이요.” “18개, 3개요.” “6묶음이에요.”
막히면
- cm로 바꾸어 봅니다. 1.8 m = 180 cm, 0.3 m = 30 cm이므로 180 ÷ 30 = 6입니다. 종이 띠에 30 cm씩 표시해 보아도 됩니다.
주의
- ‘두 수에 같은 수를 곱해도 몫은 같다’가 오늘의 핵심입니다. 한 수에만 곱하면 몫이 달라집니다(S06).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소수점을 옮겨 세로셈하기(시범)]
목적: 나누는 수가 자연수가 되도록 두 수의 소수점을 같은 자리만큼 옮겨 세로셈으로 계산하는 방법을 보여 줍니다.
시간: 약 4분
이렇게 말해 보세요
- “0.16을 자연수로 만들려면 소수점을 오른쪽으로 몇 자리 옮겨야 해?”
- “나누는 수를 두 자리 옮겼으면 3.84도 똑같이 두 자리 옮겨. 몇이 돼?”
- “384 ÷ 16을 세로셈으로 해 보자. 38 안에 16이 몇 번 들어가?”
예상 답
- “두 자리요.” “384요.” “2번이요. 32를 빼면 6, 4를 내리면 64, 16 × 4 = 64라서 몫은 24예요.”
막히면
- 공책에 0.16 ) 3.84를 쓰고 두 수의 소수점을 화살표로 함께 옮겨 그립니다(교과서와 같은 방법).
주의
- 화면의 표는 공책의 세로셈을 옮긴 것입니다. 왼쪽 칸은 그 줄이 무엇인지 알려 주는 이름입니다.
- 확인: 0.16 × 24 = 3.84입니다.
- 두 수의 소수점 아래 자릿수가 다르면(예: 6.72 ÷ 2.1) 나누는 수가 자연수가 되도록 옮겨 67.2 ÷ 21로 계산합니다. 오늘은 자릿수가 같은 경우만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연습(소수점 옮겨 나누기)]
목적: 도움을 받으며 두 수의 소수점을 같은 자리만큼 옮겨 자연수의 나눗셈으로 계산합니다.
시간: 약 3분
이렇게 말해 보세요
- “먼저 나누는 수를 보고 소수점을 몇 자리 옮길지 정해. 그리고 나누어지는 수도 똑같이!”
- “바꾼 나눗셈식을 먼저 말해 볼래?”
정답
- ① 8 (48 ÷ 6)
- ② 7 (91 ÷ 13)
- ③ 3 (135 ÷ 45)
- ④ 27 (675 ÷ 25)
막히면
- ①은 0.1이 몇 개인지 묻습니다(4.8은 0.1이 48개, 0.6은 6개).
- ④가 어려우면 25 × 27 = 675로 확인하게 합니다.
주의
- 몫이 맞으면 ‘나누는 수 × 몫 = 나누어지는 수’로 확인하게 합니다(예: 0.25 × 27 = 6.75).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오개념 비교(나누는 수만 소수점 옮기기)]
목적: 나누는 수의 소수점만 옮기는 실수(M1)를 어림과 곱셈 확인으로 반박합니다.
시간: 약 3분
이렇게 말해 보세요
- “0.8 L 컵으로 7.2 L를 뜨면 몇 번쯤 뜰 수 있을까? 1번보다 많을까, 적을까?”
- “토끼의 답 0.9가 맞다면 0.8 × 0.9 = 7.2여야 해. 정말 그래?”
예상 답
- “9번쯤이요. 곰이 맞아요.” “0.8 × 0.9는 0.72라서 7.2가 아니에요.”
정답
- 곰이 맞습니다. 7.2 ÷ 0.8 = 72 ÷ 8 = 9, 확인 0.8 × 9 = 7.2.
- 토끼는 나누는 수만 10배 해서 몫이 10분의 1(0.9)이 되었습니다.
막히면
- S03으로 돌아가 ‘두 수에 똑같이 10을 곱한다’를 다시 봅니다(7.2는 0.1이 72개, 0.8은 0.1이 8개).
주의
- 나누는 수가 1보다 작으면 몫은 나누어지는 수보다 큽니다. 어림으로 답이 알맞은지 보는 습관을 들입니다.
- 지치면 여기서 쉬고, 다음에 S07부터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몫을 반올림하여 나타내기(시범)]
목적: 나누어떨어지지 않을 때 구하려는 자리보다 한 자리 아래까지 몫을 구해 반올림하는 방법을 보여 줍니다.
시간: 약 3분
이렇게 말해 보세요
- “25 ÷ 3은 나누어떨어질까? 0을 내려 계속 나누어도 3이 계속 나오지?”
- “소수 첫째 자리까지 나타내려면 어느 자리까지 구해야 할까? 바로 아래 자리인 둘째 자리까지!”
- “둘째 자리 숫자 3은 5보다 작으니까 올릴까, 버릴까?”
예상 답
- “계속 3이 나와요.” “둘째 자리까지요.” “버려요. 8.3이에요.”
막히면
- 8.33이 8.3과 8.4 중 어디에 더 가까운지 수직선을 그려 보여 줍니다.
주의
- 반올림한 몫은 ‘약 8.3’이라고 읽습니다. 2.5 ÷ 0.3 = 8.333…이므로 정확히 8.3은 아닙니다.
- 자연수까지 나타낼 때는 소수 첫째 자리까지 구해서 반올림합니다(8.3 →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나누어 주고 남는 양 구하기]
목적: 몫을 자연수까지만 구하고 남는 양을 구하는 상황을 띠 그림으로 이해합니다. 사람 수는 자연수여야 하기 때문입니다.
시간: 약 3분
이렇게 말해 보세요
- “2 L씩 주면 몇 명에게 줄 수 있어? 띠의 색칠한 칸을 세어 봐.”
- “3명에게 주고 남은 주스는 몇 L야? 남은 주스로 한 명 더 줄 수 있을까?”
- “공책에 2 ) 7.5를 쓰고 몫을 일의 자리까지만 구해 보자. 남는 양의 소수점은 7.5의 소수점 자리에 그대로 찍어.”
예상 답
- “3명이요.” “1.5 L요. 2 L가 안 돼서 더 못 줘요.”
막히면
- 컵 여러 개와 물로 직접 해 보거나, 7.5에서 2를 세 번 빼 봅니다(7.5 → 5.5 → 3.5 → 1.5).
주의
- 공책 세로셈: 2 ) 7.5 → 몫 3, 2 × 3 = 6, 7.5 − 6 = 1.5. 남는 양의 소수점은 나누어지는 수의 소수점과 같은 자리에 찍습니다.
- 남는 양은 늘 나누어 주는 양(2 L)보다 작아야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안내받는 연습(반올림, 남는 양)]
목적: 도움을 받으며 몫을 반올림하여 나타내고, 나누어 주고 남는 양을 구합니다.
시간: 약 3분
이렇게 말해 보세요
- “①은 소수 첫째 자리까지니까 몫을 어느 자리까지 구해야 해?”
- “②는 자연수까지야. 어느 자리 숫자를 보면 될까?”
- “③은 봉지 수가 자연수여야 해. 남는 쌀은 2 kg보다 적어야겠지?”
정답
- ① 약 5.7 (17 ÷ 3 = 5.66…, 둘째 자리 6은 올림)
- ② 약 8 (47 ÷ 6 = 7.8…, 첫째 자리 8은 올림)
- ③ 4봉지, 1.4 kg (2 × 4 + 1.4 = 9.4)
막히면
- ①에서 5.6이라고 하면 둘째 자리까지 구하게 합니다(M3).
- ③은 9.4에서 2를 몇 번 뺄 수 있는지 세어 봅니다.
주의
- ①을 5.6에서 멈추면 반올림이 아니라 버림이 됩니다. 둘째 자리까지 구한 5.66을 보고 5.7로 올려야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오개념 비교(남는 양의 소수점)]
목적: 소수점을 옮겨 나눈 나머지를 그대로 남는 양으로 쓰는 실수(M2)를 찾습니다.
시간: 약 3분
이렇게 말해 보세요
- “3 L가 남았다면 0.5 L 병을 더 채울 수 있지 않을까? 몇 병을 더 채울 수 있어?”
- “남는 양은 원래 6.3의 소수점 자리에 맞춰 써야 해. 63의 3은 사실 0.1이 3개야.”
예상 답
- “곰이 맞아요. 3 L면 6병을 더 채울 수 있으니까 이상해요.”
정답
- 곰이 맞습니다. 12병을 채우고 0.3 L가 남습니다. 확인: 0.5 × 12 + 0.3 = 6.3.
- 토끼는 63 ÷ 5의 나머지 3을 그대로 써서 소수점을 잊었습니다.
막히면
- 공책 세로셈에서 남는 양의 소수점을 6.3의 원래 소수점 자리(6과 3 사이)에 찍어 0.3으로 쓰게 합니다.
주의
- ‘나누는 수 × 몫 + 남는 양 = 나누어지는 수’로 확인하면 실수를 스스로 찾습니다(0.5 × 12 + 3 = 9이므로 6.3이 아님).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혼자 해결]
목적: 도움 없이 (소수)÷(소수)를 계산하고(A), 몫을 반올림하거나 남는 양을 구하는지(B) 확인합니다.
시간: 약 4분
이렇게 말해 보세요
- “이번에는 혼자 해 볼래? 공책에 세로셈으로 풀고, ④는 확인하는 식도 써 봐.”
정답
- ① 8 (56 ÷ 7)
- ② 36 (864 ÷ 24)
- ③ 약 4.4 (31 ÷ 7 = 4.42…)
- ④ 7도막, 0.1 m (85 ÷ 12 = 7 … 1, 확인 1.2 × 7 + 0.1 = 8.5)
막히면
- 바로 알려 주지 말고 “나누는 수를 자연수로 만들려면 몇 자리 옮겨?” 또는 “남는 양이 1.2 m보다 작아?”라고만 묻습니다.
- 도움을 받아 해결했다면 기록표에 ‘도움’으로 표시합니다.
주의
- 정답 확인은 다음 장(S12)에서 함께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정답과 피드백]
목적: 아이의 답을 함께 확인하고 소수점을 한쪽만 옮기거나 남는 양의 소수점을 잊는 실수를 바로잡습니다. 수업용에만 있는 장입니다.
시간: 약 2분
이렇게 말해 보세요
- “네 답과 같은지 볼까? ④는 1.2 × 7 + 0.1을 계산해 보자.”
정답
- ① 8 ② 36 ③ 약 4.4 ④ 7도막, 0.1 m
막히면
- ①·②가 틀리면 S06으로(M1), ③이 4.5나 4.4…를 그대로 쓰면 S07로(M3), ④가 1 m이면 S10으로(M2) 돌아갑니다.
주의
- ③을 4.42까지 구해 4.4로 나타냈는지 봅니다. 이 장은 학생용 파일에는 없습니다.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마무리 확인(생활 문제)]
목적: 처음 보는 생활 문제에서 남는 양을 구할지, 몫을 반올림할지 판단하고 해결하는지 확인합니다.
시간: 약 2분
이렇게 말해 보세요
- “①은 봉지 수가 자연수여야 해. 남는 고구마는 0.6 kg보다 적어야겠지?”
- “②는 그림자 길이를 키로 나누면 돼. 몇 배인지 소수 첫째 자리까지!”
정답
- ① 12봉지, 0.2 kg (74 ÷ 6 = 12 … 2, 확인 0.6 × 12 + 0.2 = 7.4)
- ② 약 1.5배 (2.2 ÷ 1.5 = 22 ÷ 15 = 1.46…)
막히면
- ①은 S08·S10을, ②는 S07을 다시 보여 줍니다.
주의
- 왜 나눗셈을 하는지, 왜 몫을 자연수까지만(①) 또는 반올림해서(②) 구하는지 까닭을 말하면 목표 A·B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정리와 다음 수업 복습]
목적: 핵심을 정리하고 다음 수업 첫 5분에 풀 복습 문제를 알려 줍니다.
시간: 약 1분
이렇게 말해 보세요
- “소수를 소수로 나눌 때 소수점을 어떻게 옮긴다고 했지? 남는 양의 소수점은?”
- “다음 수업을 시작할 때 이 세 문제를 먼저 풀 거야.”
예상 답
- “두 수 모두 같은 자리만큼 옮겨요.” “남는 양은 원래 소수점 자리에 찍어요.”
정답
- ① 8 ② 13 ③ 약 4.8 (29 ÷ 6 = 4.83…)
막히면
- S04의 세로셈을 다시 보여 줍니다.
주의
- 복습 세 문제는 다음 수업을 시작할 때 활동지 마지막 쪽과 함께 풉니다. 다음 차시 ‘비와 비율’에서는 나눗셈으로 두 양을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선수 학습 보충((소수)÷(자연수) 다시 보기)]
목적: S02에서 (소수)÷(자연수)가 흔들리면, 0.1의 개수와 세로셈으로 다시 계산하고 몫의 소수점 위치를 확인합니다.
시간: 약 5분
이렇게 말해 보세요
- “8.4는 0.1이 몇 개야? 84개를 4묶음으로 나누면 한 묶음은 몇 개?”
- “세로셈에서 몫의 소수점은 나누어지는 수의 소수점 바로 위에 찍어.”
- “이번에는 9.6 ÷ 4를 같은 방법으로 해 볼래?”
정답
- 8.4 ÷ 4 = 2.1
- 9.6 ÷ 4 = 2.4
막히면
- 10원짜리 동전 84개를 네 사람에게 나누는 것처럼 생각하게 합니다(한 사람에게 21개, 210원 = 2.1백 원).
주의
- 보충으로도 어려우면 앞 차시 ‘소수의 나눗셈 1’을 먼저 다시 합니다.
- 반올림이 흔들리면 3.42와 3.45를 소수 첫째 자리까지 반올림해 보게 합니다(3.4, 3.5).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연산과비례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초6 수학 · 소수의 나눗셈 2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소수의 나눗셈 2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 m 끈을 0.3 m씩 자르면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도막이 될까?</a:t>
            </a:r>
            <a:endParaRPr lang="ko-KR" sz="2800" dirty="0"/>
          </a:p>
        </p:txBody>
      </p:sp>
      <p:sp>
        <p:nvSpPr>
          <p:cNvPr id="4" name="S01-eqtext1"/>
          <p:cNvSpPr txBox="1"/>
          <p:nvPr/>
        </p:nvSpPr>
        <p:spPr>
          <a:xfrm>
            <a:off x="7680960" y="64008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 ÷ 0.3 = ?</a:t>
            </a:r>
            <a:endParaRPr lang="ko-KR" sz="4000" dirty="0"/>
          </a:p>
        </p:txBody>
      </p:sp>
      <p:sp>
        <p:nvSpPr>
          <p:cNvPr id="5" name="S01-card2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6" name="S01-cardtext3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소수점을 옮겨 (소수)÷(소수)를 계산해요.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몫을 반올림하고, 남는 양을 구해요.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4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eqtext5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9.6 ÷ 4 = □</a:t>
            </a:r>
            <a:endParaRPr lang="ko-KR" sz="3200" dirty="0"/>
          </a:p>
        </p:txBody>
      </p:sp>
      <p:sp>
        <p:nvSpPr>
          <p:cNvPr id="5" name="S02-chip6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eqtext7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4.2 ÷ 6 = □</a:t>
            </a:r>
            <a:endParaRPr lang="ko-KR" sz="3200" dirty="0"/>
          </a:p>
        </p:txBody>
      </p:sp>
      <p:sp>
        <p:nvSpPr>
          <p:cNvPr id="7" name="S02-chip8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02-text9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3.47을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개인지 세어요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1.8에서 0.3을 몇 번 덜어 낼 수 있을까요?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수에 똑같이 10을 곱해도 몫은 같아요.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1.8은 0.1이 18개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0.3은 0.1이 3개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자연수의 나눗셈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18 ÷ 3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 ÷ 0.3 = 6</a:t>
            </a:r>
            <a:endParaRPr lang="ko-KR" sz="2800" dirty="0"/>
          </a:p>
        </p:txBody>
      </p:sp>
      <p:sp>
        <p:nvSpPr>
          <p:cNvPr id="10" name="S03-line17"/>
          <p:cNvSpPr/>
          <p:nvPr/>
        </p:nvSpPr>
        <p:spPr>
          <a:xfrm>
            <a:off x="685800" y="2642108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11" name="S03-line18"/>
          <p:cNvSpPr/>
          <p:nvPr/>
        </p:nvSpPr>
        <p:spPr>
          <a:xfrm>
            <a:off x="96012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3-label19"/>
          <p:cNvSpPr txBox="1"/>
          <p:nvPr/>
        </p:nvSpPr>
        <p:spPr>
          <a:xfrm>
            <a:off x="502920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200" dirty="0"/>
          </a:p>
        </p:txBody>
      </p:sp>
      <p:sp>
        <p:nvSpPr>
          <p:cNvPr id="13" name="S03-line20"/>
          <p:cNvSpPr/>
          <p:nvPr/>
        </p:nvSpPr>
        <p:spPr>
          <a:xfrm>
            <a:off x="153060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3-line21"/>
          <p:cNvSpPr/>
          <p:nvPr/>
        </p:nvSpPr>
        <p:spPr>
          <a:xfrm>
            <a:off x="210108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3-line22"/>
          <p:cNvSpPr/>
          <p:nvPr/>
        </p:nvSpPr>
        <p:spPr>
          <a:xfrm>
            <a:off x="267157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3-label23"/>
          <p:cNvSpPr txBox="1"/>
          <p:nvPr/>
        </p:nvSpPr>
        <p:spPr>
          <a:xfrm>
            <a:off x="2214372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17" name="S03-line24"/>
          <p:cNvSpPr/>
          <p:nvPr/>
        </p:nvSpPr>
        <p:spPr>
          <a:xfrm>
            <a:off x="324205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3-line25"/>
          <p:cNvSpPr/>
          <p:nvPr/>
        </p:nvSpPr>
        <p:spPr>
          <a:xfrm>
            <a:off x="381254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3-line26"/>
          <p:cNvSpPr/>
          <p:nvPr/>
        </p:nvSpPr>
        <p:spPr>
          <a:xfrm>
            <a:off x="438302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3-label27"/>
          <p:cNvSpPr txBox="1"/>
          <p:nvPr/>
        </p:nvSpPr>
        <p:spPr>
          <a:xfrm>
            <a:off x="3925824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0.6</a:t>
            </a:r>
            <a:endParaRPr lang="ko-KR" sz="2200" dirty="0"/>
          </a:p>
        </p:txBody>
      </p:sp>
      <p:sp>
        <p:nvSpPr>
          <p:cNvPr id="21" name="S03-line28"/>
          <p:cNvSpPr/>
          <p:nvPr/>
        </p:nvSpPr>
        <p:spPr>
          <a:xfrm>
            <a:off x="495350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2" name="S03-line29"/>
          <p:cNvSpPr/>
          <p:nvPr/>
        </p:nvSpPr>
        <p:spPr>
          <a:xfrm>
            <a:off x="552399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3-line30"/>
          <p:cNvSpPr/>
          <p:nvPr/>
        </p:nvSpPr>
        <p:spPr>
          <a:xfrm>
            <a:off x="609447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3-label31"/>
          <p:cNvSpPr txBox="1"/>
          <p:nvPr/>
        </p:nvSpPr>
        <p:spPr>
          <a:xfrm>
            <a:off x="5637276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</a:t>
            </a:r>
            <a:endParaRPr lang="ko-KR" sz="2200" dirty="0"/>
          </a:p>
        </p:txBody>
      </p:sp>
      <p:sp>
        <p:nvSpPr>
          <p:cNvPr id="25" name="S03-line32"/>
          <p:cNvSpPr/>
          <p:nvPr/>
        </p:nvSpPr>
        <p:spPr>
          <a:xfrm>
            <a:off x="666496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3-line33"/>
          <p:cNvSpPr/>
          <p:nvPr/>
        </p:nvSpPr>
        <p:spPr>
          <a:xfrm>
            <a:off x="723544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3-line34"/>
          <p:cNvSpPr/>
          <p:nvPr/>
        </p:nvSpPr>
        <p:spPr>
          <a:xfrm>
            <a:off x="780592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3-label35"/>
          <p:cNvSpPr txBox="1"/>
          <p:nvPr/>
        </p:nvSpPr>
        <p:spPr>
          <a:xfrm>
            <a:off x="7348728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1.2</a:t>
            </a:r>
            <a:endParaRPr lang="ko-KR" sz="2200" dirty="0"/>
          </a:p>
        </p:txBody>
      </p:sp>
      <p:sp>
        <p:nvSpPr>
          <p:cNvPr id="29" name="S03-line36"/>
          <p:cNvSpPr/>
          <p:nvPr/>
        </p:nvSpPr>
        <p:spPr>
          <a:xfrm>
            <a:off x="837641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3-line37"/>
          <p:cNvSpPr/>
          <p:nvPr/>
        </p:nvSpPr>
        <p:spPr>
          <a:xfrm>
            <a:off x="8946896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3-line38"/>
          <p:cNvSpPr/>
          <p:nvPr/>
        </p:nvSpPr>
        <p:spPr>
          <a:xfrm>
            <a:off x="9517380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3-label39"/>
          <p:cNvSpPr txBox="1"/>
          <p:nvPr/>
        </p:nvSpPr>
        <p:spPr>
          <a:xfrm>
            <a:off x="9060180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</a:t>
            </a:r>
            <a:endParaRPr lang="ko-KR" sz="2200" dirty="0"/>
          </a:p>
        </p:txBody>
      </p:sp>
      <p:sp>
        <p:nvSpPr>
          <p:cNvPr id="33" name="S03-line40"/>
          <p:cNvSpPr/>
          <p:nvPr/>
        </p:nvSpPr>
        <p:spPr>
          <a:xfrm>
            <a:off x="10087864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3-line41"/>
          <p:cNvSpPr/>
          <p:nvPr/>
        </p:nvSpPr>
        <p:spPr>
          <a:xfrm>
            <a:off x="10658348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3-line42"/>
          <p:cNvSpPr/>
          <p:nvPr/>
        </p:nvSpPr>
        <p:spPr>
          <a:xfrm>
            <a:off x="11228832" y="2495804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3-label43"/>
          <p:cNvSpPr txBox="1"/>
          <p:nvPr/>
        </p:nvSpPr>
        <p:spPr>
          <a:xfrm>
            <a:off x="10771632" y="2824988"/>
            <a:ext cx="914400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1.8</a:t>
            </a:r>
            <a:endParaRPr lang="ko-KR" sz="2200" dirty="0"/>
          </a:p>
        </p:txBody>
      </p:sp>
      <p:sp>
        <p:nvSpPr>
          <p:cNvPr id="37" name="S03-line44"/>
          <p:cNvSpPr/>
          <p:nvPr/>
        </p:nvSpPr>
        <p:spPr>
          <a:xfrm flipV="1">
            <a:off x="960120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8" name="S03-line45"/>
          <p:cNvSpPr/>
          <p:nvPr/>
        </p:nvSpPr>
        <p:spPr>
          <a:xfrm>
            <a:off x="960120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9" name="S03-label46"/>
          <p:cNvSpPr txBox="1"/>
          <p:nvPr/>
        </p:nvSpPr>
        <p:spPr>
          <a:xfrm>
            <a:off x="960120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0" name="S03-line47"/>
          <p:cNvSpPr/>
          <p:nvPr/>
        </p:nvSpPr>
        <p:spPr>
          <a:xfrm flipV="1">
            <a:off x="2671572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1" name="S03-line48"/>
          <p:cNvSpPr/>
          <p:nvPr/>
        </p:nvSpPr>
        <p:spPr>
          <a:xfrm>
            <a:off x="2671572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2" name="S03-label49"/>
          <p:cNvSpPr txBox="1"/>
          <p:nvPr/>
        </p:nvSpPr>
        <p:spPr>
          <a:xfrm>
            <a:off x="2671572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3" name="S03-line50"/>
          <p:cNvSpPr/>
          <p:nvPr/>
        </p:nvSpPr>
        <p:spPr>
          <a:xfrm flipV="1">
            <a:off x="4383024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4" name="S03-line51"/>
          <p:cNvSpPr/>
          <p:nvPr/>
        </p:nvSpPr>
        <p:spPr>
          <a:xfrm>
            <a:off x="4383024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5" name="S03-label52"/>
          <p:cNvSpPr txBox="1"/>
          <p:nvPr/>
        </p:nvSpPr>
        <p:spPr>
          <a:xfrm>
            <a:off x="4383024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6" name="S03-line53"/>
          <p:cNvSpPr/>
          <p:nvPr/>
        </p:nvSpPr>
        <p:spPr>
          <a:xfrm flipV="1">
            <a:off x="6094476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3-line54"/>
          <p:cNvSpPr/>
          <p:nvPr/>
        </p:nvSpPr>
        <p:spPr>
          <a:xfrm>
            <a:off x="6094476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3-label55"/>
          <p:cNvSpPr txBox="1"/>
          <p:nvPr/>
        </p:nvSpPr>
        <p:spPr>
          <a:xfrm>
            <a:off x="6094476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49" name="S03-line56"/>
          <p:cNvSpPr/>
          <p:nvPr/>
        </p:nvSpPr>
        <p:spPr>
          <a:xfrm flipV="1">
            <a:off x="7805928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3-line57"/>
          <p:cNvSpPr/>
          <p:nvPr/>
        </p:nvSpPr>
        <p:spPr>
          <a:xfrm>
            <a:off x="7805928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3-label58"/>
          <p:cNvSpPr txBox="1"/>
          <p:nvPr/>
        </p:nvSpPr>
        <p:spPr>
          <a:xfrm>
            <a:off x="7805928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52" name="S03-line59"/>
          <p:cNvSpPr/>
          <p:nvPr/>
        </p:nvSpPr>
        <p:spPr>
          <a:xfrm flipV="1">
            <a:off x="9517380" y="2258060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3-line60"/>
          <p:cNvSpPr/>
          <p:nvPr/>
        </p:nvSpPr>
        <p:spPr>
          <a:xfrm>
            <a:off x="9517380" y="2258060"/>
            <a:ext cx="1711452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3-label61"/>
          <p:cNvSpPr txBox="1"/>
          <p:nvPr/>
        </p:nvSpPr>
        <p:spPr>
          <a:xfrm>
            <a:off x="9517380" y="1876552"/>
            <a:ext cx="171145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0.3</a:t>
            </a:r>
            <a:endParaRPr lang="ko-KR" sz="2200" dirty="0"/>
          </a:p>
        </p:txBody>
      </p:sp>
      <p:sp>
        <p:nvSpPr>
          <p:cNvPr id="55" name="S03-figure62" descr="0부터 1.8까지 0.1 눈금 수직선. 0에서 1.8까지 0.3씩 6번 뛰어 셈"/>
          <p:cNvSpPr/>
          <p:nvPr/>
        </p:nvSpPr>
        <p:spPr>
          <a:xfrm>
            <a:off x="685800" y="2459228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세로로 나눠요</a:t>
            </a:r>
            <a:endParaRPr lang="ko-KR" sz="4000" dirty="0"/>
          </a:p>
        </p:txBody>
      </p:sp>
      <p:sp>
        <p:nvSpPr>
          <p:cNvPr id="3" name="S04-text6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0.16을 계산해요.</a:t>
            </a:r>
            <a:endParaRPr lang="ko-KR" sz="2800" dirty="0"/>
          </a:p>
        </p:txBody>
      </p:sp>
      <p:sp>
        <p:nvSpPr>
          <p:cNvPr id="4" name="S04-card6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6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3.84 ÷ 0.16 = 384 ÷ 16 = 24</a:t>
            </a:r>
            <a:endParaRPr lang="ko-KR" sz="2800" dirty="0"/>
          </a:p>
        </p:txBody>
      </p:sp>
      <p:graphicFrame>
        <p:nvGraphicFramePr>
          <p:cNvPr id="5" name="S04-table6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76190" y="2030730"/>
          <a:ext cx="4023360" cy="914400"/>
        </p:xfrm>
        <a:graphic>
          <a:graphicData uri="http://schemas.openxmlformats.org/drawingml/2006/table">
            <a:tbl>
              <a:tblPr/>
              <a:tblGrid>
                <a:gridCol w="1609344"/>
                <a:gridCol w="804672"/>
                <a:gridCol w="804672"/>
                <a:gridCol w="804672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16 )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× 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 × 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4-stepno67"/>
          <p:cNvSpPr txBox="1"/>
          <p:nvPr/>
        </p:nvSpPr>
        <p:spPr>
          <a:xfrm>
            <a:off x="548640" y="208838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8" name="S04-text68"/>
          <p:cNvSpPr txBox="1"/>
          <p:nvPr/>
        </p:nvSpPr>
        <p:spPr>
          <a:xfrm>
            <a:off x="1325880" y="2042668"/>
            <a:ext cx="5443789" cy="1301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0.16 → 16, 3.84 → 384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 모두 오른쪽으로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자리 옮겨요.</a:t>
            </a:r>
            <a:endParaRPr lang="ko-KR" sz="2800" dirty="0"/>
          </a:p>
        </p:txBody>
      </p:sp>
      <p:sp>
        <p:nvSpPr>
          <p:cNvPr id="9" name="S04-stepno69"/>
          <p:cNvSpPr txBox="1"/>
          <p:nvPr/>
        </p:nvSpPr>
        <p:spPr>
          <a:xfrm>
            <a:off x="548640" y="35544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0" name="S04-text70"/>
          <p:cNvSpPr txBox="1"/>
          <p:nvPr/>
        </p:nvSpPr>
        <p:spPr>
          <a:xfrm>
            <a:off x="1325880" y="3508756"/>
            <a:ext cx="5443789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384 ÷ 16을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자연수처럼 나눠요.</a:t>
            </a:r>
            <a:endParaRPr lang="ko-KR" sz="2800" dirty="0"/>
          </a:p>
        </p:txBody>
      </p:sp>
      <p:sp>
        <p:nvSpPr>
          <p:cNvPr id="11" name="S04-stepno71"/>
          <p:cNvSpPr txBox="1"/>
          <p:nvPr/>
        </p:nvSpPr>
        <p:spPr>
          <a:xfrm>
            <a:off x="548640" y="45410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2" name="S04-text72"/>
          <p:cNvSpPr txBox="1"/>
          <p:nvPr/>
        </p:nvSpPr>
        <p:spPr>
          <a:xfrm>
            <a:off x="1325880" y="4541012"/>
            <a:ext cx="544378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몫은 24예요.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옮겨 나눠 봐요</a:t>
            </a:r>
            <a:endParaRPr lang="ko-KR" sz="4000" dirty="0"/>
          </a:p>
        </p:txBody>
      </p:sp>
      <p:sp>
        <p:nvSpPr>
          <p:cNvPr id="3" name="S05-text7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소수점을 같은 자리만큼 옮겨요.</a:t>
            </a:r>
            <a:endParaRPr lang="ko-KR" sz="2800" dirty="0"/>
          </a:p>
        </p:txBody>
      </p:sp>
      <p:sp>
        <p:nvSpPr>
          <p:cNvPr id="4" name="S05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한 자리면 한 자리씩, 두 자리면 두 자리씩 옮겨요.</a:t>
            </a:r>
            <a:endParaRPr lang="ko-KR" sz="2800" dirty="0"/>
          </a:p>
        </p:txBody>
      </p:sp>
      <p:sp>
        <p:nvSpPr>
          <p:cNvPr id="6" name="S05-chip7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5-eqtext7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4.8 ÷ 0.6 = □</a:t>
            </a:r>
            <a:endParaRPr lang="ko-KR" sz="3200" dirty="0"/>
          </a:p>
        </p:txBody>
      </p:sp>
      <p:sp>
        <p:nvSpPr>
          <p:cNvPr id="8" name="S05-chip7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5-eqtext7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9.1 ÷ 1.3 = □</a:t>
            </a:r>
            <a:endParaRPr lang="ko-KR" sz="3200" dirty="0"/>
          </a:p>
        </p:txBody>
      </p:sp>
      <p:sp>
        <p:nvSpPr>
          <p:cNvPr id="10" name="S05-chip80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5-eqtext81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1.35 ÷ 0.45 = □</a:t>
            </a:r>
            <a:endParaRPr lang="ko-KR" sz="3200" dirty="0"/>
          </a:p>
        </p:txBody>
      </p:sp>
      <p:sp>
        <p:nvSpPr>
          <p:cNvPr id="12" name="S05-chip82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5-eqtext83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6.75 ÷ 0.25 = □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6-card84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6-cardtext85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0.8을 계산했어요.</a:t>
            </a:r>
            <a:endParaRPr lang="ko-KR" sz="2800" dirty="0"/>
          </a:p>
        </p:txBody>
      </p:sp>
      <p:sp>
        <p:nvSpPr>
          <p:cNvPr id="5" name="S06-card8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6-cardtext8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0.8이 7.2 안에 몇 번 들어갈지 어림해 봐요.</a:t>
            </a:r>
            <a:endParaRPr lang="ko-KR" sz="2800" dirty="0"/>
          </a:p>
        </p:txBody>
      </p:sp>
      <p:sp>
        <p:nvSpPr>
          <p:cNvPr id="7" name="S06-chip88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0.9</a:t>
            </a:r>
            <a:endParaRPr lang="ko-KR" sz="2200" dirty="0"/>
          </a:p>
        </p:txBody>
      </p:sp>
      <p:sp>
        <p:nvSpPr>
          <p:cNvPr id="8" name="S06-text89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0.8만 8로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7.2 ÷ 8 = 0.9</a:t>
            </a:r>
            <a:endParaRPr lang="ko-KR" sz="2800" dirty="0"/>
          </a:p>
        </p:txBody>
      </p:sp>
      <p:sp>
        <p:nvSpPr>
          <p:cNvPr id="9" name="S06-chip90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9</a:t>
            </a:r>
            <a:endParaRPr lang="ko-KR" sz="2200" dirty="0"/>
          </a:p>
        </p:txBody>
      </p:sp>
      <p:sp>
        <p:nvSpPr>
          <p:cNvPr id="10" name="S06-text91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수를 함께 바꿨어요.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72 ÷ 8 = 9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몫을 반올림해요</a:t>
            </a:r>
            <a:endParaRPr lang="ko-KR" sz="4000" dirty="0"/>
          </a:p>
        </p:txBody>
      </p:sp>
      <p:sp>
        <p:nvSpPr>
          <p:cNvPr id="3" name="S07-text9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2.5 ÷ 0.3의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graphicFrame>
        <p:nvGraphicFramePr>
          <p:cNvPr id="8" name="S07-table9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23862" y="2564892"/>
          <a:ext cx="4206240" cy="914400"/>
        </p:xfrm>
        <a:graphic>
          <a:graphicData uri="http://schemas.openxmlformats.org/drawingml/2006/table">
            <a:tbl>
              <a:tblPr/>
              <a:tblGrid>
                <a:gridCol w="1345997"/>
                <a:gridCol w="715061"/>
                <a:gridCol w="715061"/>
                <a:gridCol w="715061"/>
                <a:gridCol w="715061"/>
              </a:tblGrid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3 )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8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 × 3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307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07-stepno94"/>
          <p:cNvSpPr txBox="1"/>
          <p:nvPr/>
        </p:nvSpPr>
        <p:spPr>
          <a:xfrm>
            <a:off x="548640" y="28768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6" name="S07-text95"/>
          <p:cNvSpPr txBox="1"/>
          <p:nvPr/>
        </p:nvSpPr>
        <p:spPr>
          <a:xfrm>
            <a:off x="1325880" y="283108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한 자리씩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옮겨 25 ÷ 3</a:t>
            </a:r>
            <a:endParaRPr lang="ko-KR" sz="2800" dirty="0"/>
          </a:p>
        </p:txBody>
      </p:sp>
      <p:sp>
        <p:nvSpPr>
          <p:cNvPr id="7" name="S07-stepno96"/>
          <p:cNvSpPr txBox="1"/>
          <p:nvPr/>
        </p:nvSpPr>
        <p:spPr>
          <a:xfrm>
            <a:off x="548640" y="3909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8" name="S07-text97"/>
          <p:cNvSpPr txBox="1"/>
          <p:nvPr/>
        </p:nvSpPr>
        <p:spPr>
          <a:xfrm>
            <a:off x="1325880" y="386334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둘째 자리까지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구해요: 8.33</a:t>
            </a:r>
            <a:endParaRPr lang="ko-KR" sz="2800" dirty="0"/>
          </a:p>
        </p:txBody>
      </p:sp>
      <p:sp>
        <p:nvSpPr>
          <p:cNvPr id="9" name="S07-stepno98"/>
          <p:cNvSpPr txBox="1"/>
          <p:nvPr/>
        </p:nvSpPr>
        <p:spPr>
          <a:xfrm>
            <a:off x="548640" y="49413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10" name="S07-text99"/>
          <p:cNvSpPr txBox="1"/>
          <p:nvPr/>
        </p:nvSpPr>
        <p:spPr>
          <a:xfrm>
            <a:off x="1325880" y="489559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둘째 자리 3은 버려요.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 8.3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나누어 주고 남는 양</a:t>
            </a:r>
            <a:endParaRPr lang="ko-KR" sz="4000" dirty="0"/>
          </a:p>
        </p:txBody>
      </p:sp>
      <p:sp>
        <p:nvSpPr>
          <p:cNvPr id="3" name="S08-text10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주스 7.5 L를 한 사람에게 2 L씩 나누어 줘요.</a:t>
            </a:r>
            <a:endParaRPr lang="ko-KR" sz="2800" dirty="0"/>
          </a:p>
        </p:txBody>
      </p:sp>
      <p:sp>
        <p:nvSpPr>
          <p:cNvPr id="4" name="S08-card10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8-cardtext10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확인: 2 × 3 + 1.5 = 7.5</a:t>
            </a:r>
            <a:endParaRPr lang="ko-KR" sz="2800" dirty="0"/>
          </a:p>
        </p:txBody>
      </p:sp>
      <p:sp>
        <p:nvSpPr>
          <p:cNvPr id="6" name="S08-card103"/>
          <p:cNvSpPr/>
          <p:nvPr/>
        </p:nvSpPr>
        <p:spPr>
          <a:xfrm>
            <a:off x="548640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104"/>
          <p:cNvSpPr txBox="1"/>
          <p:nvPr/>
        </p:nvSpPr>
        <p:spPr>
          <a:xfrm>
            <a:off x="822960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명에게?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× 3 = 6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3명에게 줘요.</a:t>
            </a:r>
            <a:endParaRPr lang="ko-KR" sz="2800" dirty="0"/>
          </a:p>
        </p:txBody>
      </p:sp>
      <p:sp>
        <p:nvSpPr>
          <p:cNvPr id="8" name="S08-card105"/>
          <p:cNvSpPr/>
          <p:nvPr/>
        </p:nvSpPr>
        <p:spPr>
          <a:xfrm>
            <a:off x="6208776" y="359968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8-cardtext106"/>
          <p:cNvSpPr txBox="1"/>
          <p:nvPr/>
        </p:nvSpPr>
        <p:spPr>
          <a:xfrm>
            <a:off x="6483096" y="373684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7.5 − 6 = 1.5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1.5 L가 남아요.</a:t>
            </a:r>
            <a:endParaRPr lang="ko-KR" sz="2800" dirty="0"/>
          </a:p>
        </p:txBody>
      </p:sp>
      <p:sp>
        <p:nvSpPr>
          <p:cNvPr id="10" name="S08-label107"/>
          <p:cNvSpPr txBox="1"/>
          <p:nvPr/>
        </p:nvSpPr>
        <p:spPr>
          <a:xfrm>
            <a:off x="548640" y="2279904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7.5 L</a:t>
            </a:r>
            <a:endParaRPr lang="ko-KR" sz="2200" dirty="0"/>
          </a:p>
        </p:txBody>
      </p:sp>
      <p:sp>
        <p:nvSpPr>
          <p:cNvPr id="11" name="S08-cell108"/>
          <p:cNvSpPr/>
          <p:nvPr/>
        </p:nvSpPr>
        <p:spPr>
          <a:xfrm>
            <a:off x="1600200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8-cell109"/>
          <p:cNvSpPr/>
          <p:nvPr/>
        </p:nvSpPr>
        <p:spPr>
          <a:xfrm>
            <a:off x="4277563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8-cell110"/>
          <p:cNvSpPr/>
          <p:nvPr/>
        </p:nvSpPr>
        <p:spPr>
          <a:xfrm>
            <a:off x="6954926" y="2279904"/>
            <a:ext cx="2677363" cy="822960"/>
          </a:xfrm>
          <a:prstGeom prst="rect">
            <a:avLst/>
          </a:pr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8-cell111"/>
          <p:cNvSpPr/>
          <p:nvPr/>
        </p:nvSpPr>
        <p:spPr>
          <a:xfrm>
            <a:off x="9632290" y="2279904"/>
            <a:ext cx="2008022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8-figure112" descr="크기가 다른 4칸으로 나눈 띠, 3칸 색칠"/>
          <p:cNvSpPr/>
          <p:nvPr/>
        </p:nvSpPr>
        <p:spPr>
          <a:xfrm>
            <a:off x="1600200" y="2279904"/>
            <a:ext cx="10040112" cy="82296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반올림하고, 남는 양 구하기</a:t>
            </a:r>
            <a:endParaRPr lang="ko-KR" sz="4000" dirty="0"/>
          </a:p>
        </p:txBody>
      </p:sp>
      <p:sp>
        <p:nvSpPr>
          <p:cNvPr id="3" name="S09-card1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09-cardtext1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반올림할 때는 구하려는 자리보다 한 자리 아래까지 구해요.</a:t>
            </a:r>
            <a:endParaRPr lang="ko-KR" sz="2800" dirty="0"/>
          </a:p>
        </p:txBody>
      </p:sp>
      <p:sp>
        <p:nvSpPr>
          <p:cNvPr id="5" name="S09-chip115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6" name="S09-text116"/>
          <p:cNvSpPr txBox="1"/>
          <p:nvPr/>
        </p:nvSpPr>
        <p:spPr>
          <a:xfrm>
            <a:off x="1344168" y="132588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1.7 ÷ 0.3의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</a:t>
            </a:r>
            <a:endParaRPr lang="ko-KR" sz="2800" dirty="0"/>
          </a:p>
        </p:txBody>
      </p:sp>
      <p:sp>
        <p:nvSpPr>
          <p:cNvPr id="7" name="S09-chip117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8" name="S09-text118"/>
          <p:cNvSpPr txBox="1"/>
          <p:nvPr/>
        </p:nvSpPr>
        <p:spPr>
          <a:xfrm>
            <a:off x="1344168" y="265176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4.7 ÷ 0.6의 몫을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자연수까지</a:t>
            </a:r>
            <a:endParaRPr lang="ko-KR" sz="2800" dirty="0"/>
          </a:p>
        </p:txBody>
      </p:sp>
      <p:sp>
        <p:nvSpPr>
          <p:cNvPr id="9" name="S09-chip119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0" name="S09-text120"/>
          <p:cNvSpPr txBox="1"/>
          <p:nvPr/>
        </p:nvSpPr>
        <p:spPr>
          <a:xfrm>
            <a:off x="1344168" y="3977640"/>
            <a:ext cx="1029614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 9.4 kg을 2 kg씩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봉지가 되고, 몇 kg이 남나요?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양은 얼마일까요?</a:t>
            </a:r>
            <a:endParaRPr lang="ko-KR" sz="4000" dirty="0"/>
          </a:p>
        </p:txBody>
      </p:sp>
      <p:sp>
        <p:nvSpPr>
          <p:cNvPr id="3" name="S10-card12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0-cardtext12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6.3 L를 0.5 L 병에 가득 담았어요.</a:t>
            </a:r>
            <a:endParaRPr lang="ko-KR" sz="2800" dirty="0"/>
          </a:p>
        </p:txBody>
      </p:sp>
      <p:sp>
        <p:nvSpPr>
          <p:cNvPr id="5" name="S10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0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물이 병 하나(0.5 L)보다 많을 수 있을까요?</a:t>
            </a:r>
            <a:endParaRPr lang="ko-KR" sz="2800" dirty="0"/>
          </a:p>
        </p:txBody>
      </p:sp>
      <p:sp>
        <p:nvSpPr>
          <p:cNvPr id="7" name="S10-chip12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12병, 3 L</a:t>
            </a:r>
            <a:endParaRPr lang="ko-KR" sz="2200" dirty="0"/>
          </a:p>
        </p:txBody>
      </p:sp>
      <p:sp>
        <p:nvSpPr>
          <p:cNvPr id="8" name="S10-text12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63 ÷ 5 = 12 … 3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남는 양은 3 L예요.</a:t>
            </a:r>
            <a:endParaRPr lang="ko-KR" sz="2800" dirty="0"/>
          </a:p>
        </p:txBody>
      </p:sp>
      <p:sp>
        <p:nvSpPr>
          <p:cNvPr id="9" name="S10-chip12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12병, 0.3 L</a:t>
            </a:r>
            <a:endParaRPr lang="ko-KR" sz="2200" dirty="0"/>
          </a:p>
        </p:txBody>
      </p:sp>
      <p:sp>
        <p:nvSpPr>
          <p:cNvPr id="10" name="S10-text12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0.5 × 12 = 6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6.3 − 6 = 0.3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1-chip129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1-eqtext130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5.6 ÷ 0.7 = □</a:t>
            </a:r>
            <a:endParaRPr lang="ko-KR" sz="3200" dirty="0"/>
          </a:p>
        </p:txBody>
      </p:sp>
      <p:sp>
        <p:nvSpPr>
          <p:cNvPr id="5" name="S11-chip131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1-eqtext132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8.64 ÷ 0.24 = □</a:t>
            </a:r>
            <a:endParaRPr lang="ko-KR" sz="3200" dirty="0"/>
          </a:p>
        </p:txBody>
      </p:sp>
      <p:sp>
        <p:nvSpPr>
          <p:cNvPr id="7" name="S11-chip133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1-text134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3.1 ÷ 0.7의 몫을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반올림하여 소수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자리까지</a:t>
            </a:r>
            <a:endParaRPr lang="ko-KR" sz="2800" dirty="0"/>
          </a:p>
        </p:txBody>
      </p:sp>
      <p:sp>
        <p:nvSpPr>
          <p:cNvPr id="9" name="S11-chip135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1-text136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끈 8.5 m를 1.2 m씩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자르면 몇 도막이 되고,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m가 남나요?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2-card1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1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④가 틀렸다면 1.2 × 7 + (남는 양) = 8.5인지 함께 확인하세요.</a:t>
            </a:r>
            <a:endParaRPr lang="ko-KR" sz="2800" dirty="0"/>
          </a:p>
        </p:txBody>
      </p:sp>
      <p:sp>
        <p:nvSpPr>
          <p:cNvPr id="5" name="S12-chip139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200" dirty="0"/>
          </a:p>
        </p:txBody>
      </p:sp>
      <p:sp>
        <p:nvSpPr>
          <p:cNvPr id="6" name="S12-text140"/>
          <p:cNvSpPr txBox="1"/>
          <p:nvPr/>
        </p:nvSpPr>
        <p:spPr>
          <a:xfrm>
            <a:off x="548640" y="20574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8</a:t>
            </a:r>
            <a:endParaRPr lang="ko-KR" sz="2800" dirty="0"/>
          </a:p>
        </p:txBody>
      </p:sp>
      <p:sp>
        <p:nvSpPr>
          <p:cNvPr id="7" name="S12-text141"/>
          <p:cNvSpPr txBox="1"/>
          <p:nvPr/>
        </p:nvSpPr>
        <p:spPr>
          <a:xfrm>
            <a:off x="3367278" y="20574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56 ÷ 7</a:t>
            </a:r>
            <a:endParaRPr lang="ko-KR" sz="2200" dirty="0"/>
          </a:p>
        </p:txBody>
      </p:sp>
      <p:sp>
        <p:nvSpPr>
          <p:cNvPr id="8" name="S12-text142"/>
          <p:cNvSpPr txBox="1"/>
          <p:nvPr/>
        </p:nvSpPr>
        <p:spPr>
          <a:xfrm>
            <a:off x="548640" y="28575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36</a:t>
            </a:r>
            <a:endParaRPr lang="ko-KR" sz="2800" dirty="0"/>
          </a:p>
        </p:txBody>
      </p:sp>
      <p:sp>
        <p:nvSpPr>
          <p:cNvPr id="9" name="S12-text143"/>
          <p:cNvSpPr txBox="1"/>
          <p:nvPr/>
        </p:nvSpPr>
        <p:spPr>
          <a:xfrm>
            <a:off x="3367278" y="28575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864 ÷ 24</a:t>
            </a:r>
            <a:endParaRPr lang="ko-KR" sz="2200" dirty="0"/>
          </a:p>
        </p:txBody>
      </p:sp>
      <p:sp>
        <p:nvSpPr>
          <p:cNvPr id="10" name="S12-text144"/>
          <p:cNvSpPr txBox="1"/>
          <p:nvPr/>
        </p:nvSpPr>
        <p:spPr>
          <a:xfrm>
            <a:off x="548640" y="36576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약 4.4</a:t>
            </a:r>
            <a:endParaRPr lang="ko-KR" sz="2800" dirty="0"/>
          </a:p>
        </p:txBody>
      </p:sp>
      <p:sp>
        <p:nvSpPr>
          <p:cNvPr id="11" name="S12-text145"/>
          <p:cNvSpPr txBox="1"/>
          <p:nvPr/>
        </p:nvSpPr>
        <p:spPr>
          <a:xfrm>
            <a:off x="3367278" y="36576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4.42…</a:t>
            </a:r>
            <a:endParaRPr lang="ko-KR" sz="2200" dirty="0"/>
          </a:p>
        </p:txBody>
      </p:sp>
      <p:sp>
        <p:nvSpPr>
          <p:cNvPr id="12" name="S12-text146"/>
          <p:cNvSpPr txBox="1"/>
          <p:nvPr/>
        </p:nvSpPr>
        <p:spPr>
          <a:xfrm>
            <a:off x="548640" y="4457700"/>
            <a:ext cx="268147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7도막, 0.1 m</a:t>
            </a:r>
            <a:endParaRPr lang="ko-KR" sz="2200" dirty="0"/>
          </a:p>
        </p:txBody>
      </p:sp>
      <p:sp>
        <p:nvSpPr>
          <p:cNvPr id="13" name="S12-text147"/>
          <p:cNvSpPr txBox="1"/>
          <p:nvPr/>
        </p:nvSpPr>
        <p:spPr>
          <a:xfrm>
            <a:off x="3367278" y="4457700"/>
            <a:ext cx="254431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85 ÷ 12 = 7 … 1</a:t>
            </a:r>
            <a:endParaRPr lang="ko-KR" sz="2200" dirty="0"/>
          </a:p>
        </p:txBody>
      </p:sp>
      <p:sp>
        <p:nvSpPr>
          <p:cNvPr id="14" name="S12-chip148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200" dirty="0"/>
          </a:p>
        </p:txBody>
      </p:sp>
      <p:sp>
        <p:nvSpPr>
          <p:cNvPr id="15" name="S12-text149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0.8</a:t>
            </a:r>
            <a:endParaRPr lang="ko-KR" sz="2800" dirty="0"/>
          </a:p>
        </p:txBody>
      </p:sp>
      <p:sp>
        <p:nvSpPr>
          <p:cNvPr id="16" name="S12-text150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0.7만 옮김</a:t>
            </a:r>
            <a:endParaRPr lang="ko-KR" sz="2200" dirty="0"/>
          </a:p>
        </p:txBody>
      </p:sp>
      <p:sp>
        <p:nvSpPr>
          <p:cNvPr id="17" name="S12-text151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남는 끈 1 m</a:t>
            </a:r>
            <a:endParaRPr lang="ko-KR" sz="2800" dirty="0"/>
          </a:p>
        </p:txBody>
      </p:sp>
      <p:sp>
        <p:nvSpPr>
          <p:cNvPr id="18" name="S12-text152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잊음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속 문제</a:t>
            </a:r>
            <a:endParaRPr lang="ko-KR" sz="4000" dirty="0"/>
          </a:p>
        </p:txBody>
      </p:sp>
      <p:sp>
        <p:nvSpPr>
          <p:cNvPr id="3" name="S13-chip15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3-text15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고구마 7.4 kg을 0.6 kg씩 봉지에 담으면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봉지가 되고, 몇 kg이 남나요?</a:t>
            </a:r>
            <a:endParaRPr lang="ko-KR" sz="2800" dirty="0"/>
          </a:p>
        </p:txBody>
      </p:sp>
      <p:sp>
        <p:nvSpPr>
          <p:cNvPr id="5" name="S13-chip155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3-text156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키가 1.5 m인 사람의 그림자가 2.2 m예요.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그림자는 키의 약 몇 배인지 반올림하여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 첫째 자리까지 나타내요.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15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15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수의 소수점을 같은 자리만큼 옮겨 자연수의 나눗셈으로 계산해요.</a:t>
            </a:r>
            <a:endParaRPr lang="ko-KR" sz="2800" dirty="0"/>
          </a:p>
        </p:txBody>
      </p:sp>
      <p:sp>
        <p:nvSpPr>
          <p:cNvPr id="5" name="S14-chip15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한 자리 아래까지 구해 반올림</a:t>
            </a:r>
            <a:endParaRPr lang="ko-KR" sz="2200" dirty="0"/>
          </a:p>
        </p:txBody>
      </p:sp>
      <p:sp>
        <p:nvSpPr>
          <p:cNvPr id="6" name="S14-chip16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나누는 수만 소수점 옮기기</a:t>
            </a:r>
            <a:endParaRPr lang="ko-KR" sz="2200" dirty="0"/>
          </a:p>
        </p:txBody>
      </p:sp>
      <p:sp>
        <p:nvSpPr>
          <p:cNvPr id="7" name="S14-text16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eqtext16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6.4 ÷ 0.8</a:t>
            </a:r>
            <a:endParaRPr lang="ko-KR" sz="2600" dirty="0"/>
          </a:p>
        </p:txBody>
      </p:sp>
      <p:sp>
        <p:nvSpPr>
          <p:cNvPr id="9" name="S14-eqtext16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1.56 ÷ 0.12</a:t>
            </a:r>
            <a:endParaRPr lang="ko-KR" sz="2600" dirty="0"/>
          </a:p>
        </p:txBody>
      </p:sp>
      <p:sp>
        <p:nvSpPr>
          <p:cNvPr id="10" name="S14-text16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2.9 ÷ 0.6의 몫을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반올림하여 소수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첫째 자리까지</a:t>
            </a:r>
            <a:endParaRPr lang="ko-KR" sz="2200" dirty="0"/>
          </a:p>
        </p:txBody>
      </p:sp>
      <p:sp>
        <p:nvSpPr>
          <p:cNvPr id="11" name="S14-text16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비와 비율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소수 ÷ 자연수</a:t>
            </a:r>
            <a:endParaRPr lang="ko-KR" sz="4000" dirty="0"/>
          </a:p>
        </p:txBody>
      </p:sp>
      <p:sp>
        <p:nvSpPr>
          <p:cNvPr id="3" name="S15-text1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 ÷ 4를 세로로 계산해요.</a:t>
            </a:r>
            <a:endParaRPr lang="ko-KR" sz="2800" dirty="0"/>
          </a:p>
        </p:txBody>
      </p:sp>
      <p:sp>
        <p:nvSpPr>
          <p:cNvPr id="4" name="S15-card167"/>
          <p:cNvSpPr/>
          <p:nvPr/>
        </p:nvSpPr>
        <p:spPr>
          <a:xfrm>
            <a:off x="548640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5-cardtext168"/>
          <p:cNvSpPr txBox="1"/>
          <p:nvPr/>
        </p:nvSpPr>
        <p:spPr>
          <a:xfrm>
            <a:off x="822960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몇 개?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8.4는 0.1이 84개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84 ÷ 4 = 21</a:t>
            </a:r>
            <a:endParaRPr lang="ko-KR" sz="2800" dirty="0"/>
          </a:p>
        </p:txBody>
      </p:sp>
      <p:sp>
        <p:nvSpPr>
          <p:cNvPr id="6" name="S15-card169"/>
          <p:cNvSpPr/>
          <p:nvPr/>
        </p:nvSpPr>
        <p:spPr>
          <a:xfrm>
            <a:off x="6208776" y="4696968"/>
            <a:ext cx="5431536" cy="1520952"/>
          </a:xfrm>
          <a:prstGeom prst="roundRect">
            <a:avLst>
              <a:gd name="adj" fmla="val 721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5-cardtext170"/>
          <p:cNvSpPr txBox="1"/>
          <p:nvPr/>
        </p:nvSpPr>
        <p:spPr>
          <a:xfrm>
            <a:off x="6483096" y="4834128"/>
            <a:ext cx="4882896" cy="1246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몫의 소수점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0.1이 21개 → 2.1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소수점을 그대로 올려 찍어요.</a:t>
            </a:r>
            <a:endParaRPr lang="ko-KR" sz="2800" dirty="0"/>
          </a:p>
        </p:txBody>
      </p:sp>
      <p:graphicFrame>
        <p:nvGraphicFramePr>
          <p:cNvPr id="16" name="S15-table17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48556" y="2058924"/>
          <a:ext cx="3291840" cy="914400"/>
        </p:xfrm>
        <a:graphic>
          <a:graphicData uri="http://schemas.openxmlformats.org/drawingml/2006/table">
            <a:tbl>
              <a:tblPr/>
              <a:tblGrid>
                <a:gridCol w="1316736"/>
                <a:gridCol w="987552"/>
                <a:gridCol w="987552"/>
              </a:tblGrid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몫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4 )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2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내리기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 × 1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나머지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2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초6 수학 소수의 나눗셈 2</dc:title>
  <dc:subject>KR22-G06-MAT-DECDIV2-L01</dc:subject>
  <dc:creator>education-ppt</dc:creator>
  <cp:lastModifiedBy>education-ppt</cp:lastModifiedBy>
  <cp:revision>1</cp:revision>
  <dcterms:created xsi:type="dcterms:W3CDTF">2026-10-26T08:39:25Z</dcterms:created>
  <dcterms:modified xsi:type="dcterms:W3CDTF">2026-10-26T08:39:25Z</dcterms:modified>
</cp:coreProperties>
</file>