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0c0d50a-5740-16a6-54d1-0127adc3b3b4}">
          <p14:sldIdLst>
            <p14:sldId id="256"/>
            <p14:sldId id="257"/>
          </p14:sldIdLst>
        </p14:section>
        <p14:section name="개념" id="{3580c138-5397-b919-7cab-138604f25690}">
          <p14:sldIdLst>
            <p14:sldId id="258"/>
            <p14:sldId id="259"/>
            <p14:sldId id="262"/>
            <p14:sldId id="263"/>
          </p14:sldIdLst>
        </p14:section>
        <p14:section name="연습" id="{1a9ea0d9-be3f-8b09-79e5-3609bbfb9dad}">
          <p14:sldIdLst>
            <p14:sldId id="260"/>
            <p14:sldId id="261"/>
            <p14:sldId id="264"/>
            <p14:sldId id="265"/>
          </p14:sldIdLst>
        </p14:section>
        <p14:section name="개념" id="{37966754-f330-f6fe-017e-edb189c6d044}">
          <p14:sldIdLst/>
        </p14:section>
        <p14:section name="연습" id="{39a570b5-1102-3688-1f9f-38b0a0a81efa}">
          <p14:sldIdLst/>
        </p14:section>
        <p14:section name="확인" id="{1b41032e-99e2-aeeb-1cad-524a67e28982}">
          <p14:sldIdLst>
            <p14:sldId id="266"/>
            <p14:sldId id="267"/>
            <p14:sldId id="268"/>
          </p14:sldIdLst>
        </p14:section>
        <p14:section name="정리" id="{974732b2-d348-0ed7-6aa3-4cdc9294f6dc}">
          <p14:sldIdLst>
            <p14:sldId id="269"/>
          </p14:sldIdLst>
        </p14:section>
        <p14:section name="보충" id="{291c558e-647d-ce69-fc08-d74199275661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소수점 아래 자릿수가 다른 두 수의 나눗셈을 궁금하게 합니다.
시간: 약 2분
이렇게 말해 보세요
- “지난 시간에는 3.84 ÷ 0.16처럼 소수점 아래 자릿수가 같은 나눗셈을 했지? 6.72와 2.1은 소수점 아래 자릿수가 어때?”
- “오늘은 자릿수가 다른 소수의 나눗셈과, 자연수를 소수로 나누는 방법을 알아볼 거야.”
예상 답
- “6.72는 두 자리, 2.1은 한 자리예요.” “몇 자리를 옮겨야 할지 모르겠어요.” 어떤 답이든 괜찮습니다.
막히면
- 답을 확인하지 않고 넘어갑니다. S03에서 함께 알아봅니다.
주의
- 답은 6.72 ÷ 2.1 = 3.2, 12 ÷ 0.4 = 30입니다. 지금은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확인((소수)÷(소수), (소수)÷(자연수))]
목적: 지난 차시 ‘소수의 나눗셈 2’의 (소수)÷(소수)와 ‘소수의 나눗셈 1’의 (소수)÷(자연수)를 할 수 있는지 확인합니다. 오늘은 소수점을 옮긴 뒤 ③과 같은 나눗셈이 자주 나옵니다.
시간: 약 3분
이렇게 말해 보세요
- “①②는 두 수의 소수점을 몇 자리씩 옮겼어? 바꾼 나눗셈식도 말해 볼래?”
- “③은 공책에 세로셈으로 해 봐. 몫의 소수점은 어디에 찍어?”
정답
- ① 8 (48 ÷ 6)
- ② 24 (384 ÷ 16)
- ③ 4.2 (몫의 소수점은 나누어지는 수의 소수점 바로 위)
막히면
- ①②가 틀리면 S15(보충)의 ‘10배, 100배 하면 소수점이 옮겨 가요’를 먼저 합니다. 보충으로도 어려우면 앞 차시 ‘소수의 나눗셈 2’를 다시 합니다.
- ③이 틀리면 S15의 마지막 발문으로 몫의 소수점 찍는 자리를 다시 봅니다. 그래도 어려우면 ‘소수의 나눗셈 1’을 먼저 합니다.
주의
- ③은 252 ÷ 6 = 42를 먼저 하고 소수점을 25.2의 소수점 바로 위에 찍어도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나누는 수가 자연수가 되게 두 수를 똑같이 옮기기]
목적: 두 수에 똑같이 10(100)을 곱해도 몫이 같음을 다시 확인하고, 나누는 수의 소수점 아래 자릿수만큼 두 수를 옮기면 나누는 수가 자연수가 된다는 것을 압니다.
시간: 약 4분
이렇게 말해 보세요
- “6.72와 2.1에 똑같이 10을 곱하면 몇과 몇이 돼? 나누는 수 21은 자연수가 됐지?”
- “67.2 ÷ 21은 지난번에 배운 (소수)÷(자연수)야. 몫은 얼마일까?”
- “100을 곱해서 672 ÷ 210으로 해도 몫은 같아. 어느 쪽이 더 간단해?”
예상 답
- “67.2와 21이요.” “3.2요.” “10을 곱한 쪽이 나누는 수가 작아서 더 간단해요.”
막히면
- 67.2 ÷ 21이 어려우면 672 ÷ 21 = 32를 먼저 구하고, 67.2는 672의 10분의 1이므로 몫도 10분의 1인 3.2라고 짚어 줍니다.
주의
- 옮기는 자릿수는 나누는 수를 보고 정합니다. 2.1은 소수 한 자리이므로 두 수 모두 한 자리씩 옮기면 됩니다.
- 확인: 2.1 × 3.2 = 6.72입니다.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옮긴 소수점에 맞춰 몫의 소수점 찍기(시범)]
목적: 나누는 수가 자연수가 되도록 두 수의 소수점을 옮겨 세로셈으로 계산하고, 몫의 소수점은 옮긴 소수점의 위치에 맞추어 찍는 방법을 보여 줍니다.
시간: 약 4분
이렇게 말해 보세요
- “공책에 2.1 ) 6.72를 쓰고, 2.1의 소수점을 오른쪽으로 한 자리 옮겨 보자. 6.72의 소수점도 똑같이 한 자리!”
- “67 안에 21이 몇 번 들어가? 21 × 3 = 63, 빼면 4, 2를 내리면 42야.”
- “몫의 소수점은 어디에 찍어야 할까? 처음 소수점 자리일까, 옮긴 소수점 자리일까?”
예상 답
- “3번이요.” “42 안에 21이 2번이라 몫은 3.2예요.” “옮긴 자리요.”
막히면
- 공책에서 두 수의 소수점을 옮긴 자리에 화살표를 그리고, 옮긴 소수점 바로 위에 몫의 소수점을 먼저 찍어 둔 뒤 나누게 합니다.
주의
- 몫의 소수점을 처음 자리(6과 7 사이) 위에 찍으면 0.32가 됩니다(M2). 2.1 × 0.32 = 0.672이므로 곱셈으로 틀린 것을 확인할 수 있습니다.
- 화면의 표는 공책의 세로셈을 옮긴 것입니다. 왼쪽 칸은 그 줄이 무엇인지 알려 주는 이름입니다.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연습(자릿수가 다른 소수의 나눗셈)]
목적: 도움을 받으며 나누는 수의 소수점 아래 자릿수만큼 두 수의 소수점을 옮겨 (소수)÷(자연수)로 계산합니다.
시간: 약 3분
이렇게 말해 보세요
- “먼저 나누는 수를 봐. 소수 몇 자리야? 그만큼 두 수를 똑같이 옮겨.”
- “바꾼 나눗셈식을 먼저 말해 볼래? 몫의 소수점은 옮긴 자리 위에!”
정답
- ① 4.2 (50.4 ÷ 12)
- ② 2.4 (86.4 ÷ 36)
- ③ 3.9 (19.5 ÷ 5)
- ④ 2.8 (75.6 ÷ 27)
막히면
- ①은 50.4 ÷ 12로 바꾸고, 50 안에 12가 몇 번 들어가는지부터 묻습니다.
- ③은 0.5가 소수 한 자리이므로 한 자리만 옮겨 19.5 ÷ 5가 됩니다.
주의
- 몫이 나오면 ‘나누는 수 × 몫 = 나누어지는 수’로 확인하게 합니다(예: 1.2 × 4.2 = 5.04).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비교(두 수를 다르게 옮기기)]
목적: 두 수의 소수점을 서로 다른 자리만큼 옮기는 실수(M1)를 어림과 곱셈으로 반박합니다.
시간: 약 3분
이렇게 말해 보세요
- “6.72는 약 6, 2.1은 약 2야. 6은 2의 몇 배야? 그러면 몫은 32에 가까울까, 3.2에 가까울까?”
- “토끼는 6.72를 몇 자리 옮겼고, 2.1은 몇 자리 옮겼어? 똑같이 옮겼어?”
예상 답
- “3배쯤이라 곰이 맞아요.” “토끼는 6.72만 두 자리 옮겼어요.”
정답
- 곰이 맞습니다. 6.72 ÷ 2.1 = 67.2 ÷ 21 = 3.2, 확인 2.1 × 3.2 = 6.72.
- 토끼는 6.72를 100배, 2.1을 10배 하여 나누어지는 수만 10배 더 커졌으므로 몫도 10배(32)가 되었습니다.
막히면
- S03의 표로 돌아가 두 수에 같은 수를 곱한 줄만 몫이 같다는 것을 봅니다. 2.1 × 32 = 67.2이므로 6.72가 아님을 확인합니다.
주의
- 몫의 소수점을 처음 자리 위에 찍어 0.32라고 하는 실수(M2)도 같은 방법(어림, 2.1 × 0.32 = 0.672)으로 바로잡습니다.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(자연수)÷(소수)를 0.1의 개수로]
목적: 자연수 3을 0.1이 30개로 보면 3 ÷ 0.5가 30 ÷ 5가 되어, 나누어지는 수 뒤에 0을 붙여 소수점을 옮기면 된다는 것을 압니다.
시간: 약 3분
이렇게 말해 보세요
- “수직선에서 0.5씩 몇 번 뛰면 3에 닿아?”
- “3은 0.1이 몇 개야? 0.5는? 30개를 5개씩 묶으면 몇 묶음이야?”
- “3에는 소수점 아래 숫자가 없지? 3은 3.0과 같아. 소수점을 한 자리 옮기면 30이 돼.”
예상 답
- “6번이요.” “30개, 5개요. 6묶음이에요.”
막히면
- 컵에 0.5 L씩 담는다고 생각하고 0.5, 1, 1.5 …로 3이 될 때까지 세게 합니다.
주의
- 0.5처럼 1보다 작은 수로 나누면 몫(6)이 나누어지는 수(3)보다 커집니다. 한 병에 1 L보다 적게 담으므로 병이 3개보다 많이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0을 붙여 소수점 옮기기(시범)]
목적: (자연수)÷(소수)에서 나누는 수가 자연수가 되도록 옮기고, 나누어지는 수에는 옮긴 자리만큼 0을 붙여 계산하는 방법을 보여 줍니다.
시간: 약 4분
이렇게 말해 보세요
- “0.75를 자연수로 만들려면 소수점을 몇 자리 옮겨야 해?”
- “12도 똑같이 두 자리 옮겨야 해. 12는 12.00과 같으니까 소수점을 두 자리 옮기면 몇이 돼?”
- “120 안에 75가 몇 번 들어가? 45가 남고 0을 내리면 450이야. 450 안에는 75가 몇 번?”
예상 답
- “두 자리요.” “1200이요.” “1번, 6번이라 몫은 16이에요.”
막히면
- 공책에 12를 12.00으로 고쳐 쓰고 소수점을 두 자리 옮기게 합니다.
주의
- 확인: 0.75 × 16 = 12입니다.
- 나누어지는 수의 소수 자릿수가 나누는 수보다 적은 (소수)÷(소수)도 같은 방법으로 0을 붙입니다(예: 2.4 ÷ 0.16 = 240 ÷ 16 = 15). S09 ④에서 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연습(0을 붙여 옮기기)]
목적: 도움을 받으며 나누어지는 수에 0을 붙여 소수점을 옮기고 자연수의 나눗셈으로 계산합니다.
시간: 약 3분
이렇게 말해 보세요
- “나누는 수를 자연수로 만들려면 몇 자리 옮겨? 나누어지는 수에는 0을 몇 개 붙여야 해?”
- “④는 2.4가 소수 한 자리, 0.16은 두 자리야. 어느 수를 보고 옮겨?”
정답
- ① 6 (90 ÷ 15)
- ② 30 (120 ÷ 4)
- ③ 25 (700 ÷ 28)
- ④ 15 (240 ÷ 16)
막히면
- ③은 7을 7.00으로 고쳐 쓰고 두 자리 옮기게 합니다(700 ÷ 28).
- ④는 나누는 수 0.16을 보고 두 자리 옮기므로 2.4 → 240이 됩니다.
주의
- 몫이 나오면 곱해서 확인하게 합니다(예: 0.28 × 25 =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비교(0을 붙이지 않고 나누는 수만 옮기기)]
목적: 나누는 수만 자연수로 바꾸고 나누어지는 수에 0을 붙이지 않는 실수(M3)를 어림과 곱셈으로 찾습니다.
시간: 약 3분
이렇게 말해 보세요
- “0.4 L 컵으로 12 L를 뜨면, 1 L 컵으로 뜰 때(12번)보다 많이 떠야 할까, 적게 떠야 할까?”
- “토끼의 답 3이 맞다면 0.4 × 3 = 12여야 해. 정말 그래?”
예상 답
- “컵이 작으니까 12번보다 많아요. 곰이 맞아요.” “0.4 × 3은 1.2예요.”
정답
- 곰이 맞습니다. 12 ÷ 0.4 = 120 ÷ 4 = 30, 확인 0.4 × 30 = 12.
- 토끼는 0.4만 10배 하고 12는 그대로 두어 몫이 10분의 1(3)이 되었습니다. 0.4 × 3 = 1.2입니다.
막히면
- S07의 수직선처럼 ‘12는 0.1이 120개, 0.4는 0.1이 4개’라고 짚어 줍니다.
주의
- 1보다 작은 수로 나누면 몫이 나누어지는 수보다 큽니다. 어림으로 답이 알맞은지 보는 습관을 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자릿수가 다른 (소수)÷(소수)(A)와 (자연수)÷(소수)(B)를 계산하는지 확인합니다.
시간: 약 4분
이렇게 말해 보세요
- “이번에는 혼자 해 볼래? 공책에 세로셈으로 풀고, 하나는 곱셈으로 확인도 해 봐.”
정답
- ① 2.5 (37.5 ÷ 15)
- ② 6.8 (47.6 ÷ 7)
- ③ 25 (150 ÷ 6)
- ④ 4 (180 ÷ 45)
막히면
- 바로 알려 주지 말고 “나누는 수는 소수 몇 자리야?” 또는 “옮길 자리가 없으면 어떻게 해?”라고만 묻습니다.
- 도움을 받아 해결했다면 기록표에 ‘도움’으로 표시합니다.
주의
- 정답 확인은 다음 장(S12)에서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두 수를 다르게 옮기거나 0을 붙이지 않는 실수를 바로잡습니다. 수업용에만 있는 장입니다.
시간: 약 2분
이렇게 말해 보세요
- “네 답과 같은지 볼까? ①은 1.5 × 2.5를 계산해서 3.75가 되는지 확인해 보자.”
정답
- ① 2.5 ② 6.8 ③ 25 ④ 4
막히면
- ①②가 틀리면 S06으로(M1·M2), ③④가 틀리면 S10으로(M3) 돌아갑니다.
주의
- ②를 0.68이나 68로 쓰면 몫의 소수점 자리를 다시 봅니다(47.6 ÷ 7 = 6.8). 이 장은 학생용 파일에는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확인(생활 문제)]
목적: 처음 보는 생활 문제에서 나눗셈식을 세우고, 소수점을 옮겨 계산하며, 몫의 크기를 어림으로 설명하는지 확인합니다.
시간: 약 3분
이렇게 말해 보세요
- “①은 직사각형의 넓이가 가로 × 세로였지? 세로를 구하려면 어떤 나눗셈을 해야 할까?”
- “②는 한 컵이 1 L보다 적어. 그러면 컵은 6개보다 많을까, 적을까?”
정답
- ① 3.4 m (7.82 ÷ 2.3 = 78.2 ÷ 23 = 3.4, 확인 2.3 × 3.4 = 7.82)
- ② 24컵 (6 ÷ 0.25 = 600 ÷ 25 = 24). 한 컵에 1 L보다 적은 0.25 L씩 담으므로 6컵보다 많이 필요합니다.
막히면
- ①은 S04, ②는 S08과 S10을 다시 보여 줍니다.
주의
- 식, 계산, 까닭(②)을 모두 말하면 목표 A·B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1분
이렇게 말해 보세요
- “자릿수가 다른 소수의 나눗셈에서는 어느 수를 보고 소수점을 옮겨? 자연수를 소수로 나눌 때는?”
- “다음 수업을 시작할 때 이 세 문제를 먼저 풀 거야.”
예상 답
- “나누는 수를 보고 옮겨요.” “0을 붙여서 옮겨요.”
정답
- ① 2.4 (43.2 ÷ 18) ② 40 (1400 ÷ 35) ③ 35 (840 ÷ 24)
막히면
- S04와 S08의 세로셈을 다시 보여 줍니다.
주의
- 복습 세 문제는 다음 수업을 시작할 때 활동지 마지막 쪽과 함께 풉니다.
- 이 차시로 소수의 나눗셈이 끝납니다. S11·S13 결과를 기록표에 적어 두고, 다음 차시 ‘각기둥과 각뿔’로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보충(10배·100배와 소수점, 몫의 소수점)]
목적: S02가 흔들리면 수에 10, 100을 곱할 때 소수점이 옮겨 가는 것과 0을 붙이는 것, 그리고 (소수)÷(자연수)에서 몫의 소수점을 찍는 자리를 다시 확인합니다.
시간: 약 5분
이렇게 말해 보세요
- “2.1에 10을 곱하면? 소수점이 어느 쪽으로 몇 자리 옮겨 갔어?”
- “9에 10을 곱하면 90이지? 9는 9.0이라서 소수점을 옮기면 0이 하나 생겨.”
- “이번에는 25.2 ÷ 6을 해 볼까? 252 ÷ 6 = 42를 하고, 몫의 소수점을 25.2의 소수점 바로 위에 찍어.”
정답
- 2.1 → 21, 210 / 6.72 → 67.2, 672 / 9 → 90, 900 / 0.4 → 4, 40
- 25.2 ÷ 6 = 4.2
막히면
- 종이에 일·소수 첫째·소수 둘째 자리 칸을 그리고, 10배 하면 숫자가 왼쪽으로 한 칸씩 옮겨 가는 것을 보여 줍니다.
주의
- 보충으로도 어려우면 앞 차시 ‘소수의 나눗셈 2’를 먼저 다시 합니다. 몫의 소수점이 흔들리면 ‘소수의 나눗셈 1’을 다시 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연산과비례 · 9차시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소수의 나눗셈 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소수의 나눗셈 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소수의 나눗셈 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나눗셈 3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6.72 ÷ 2.1과 12 ÷ 0.4는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계산할까?</a:t>
            </a:r>
            <a:endParaRPr lang="ko-KR" sz="28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6.72 ÷ 2.1 = ?</a:t>
            </a:r>
            <a:endParaRPr lang="ko-KR" sz="40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자릿수가 다른 (소수)÷(소수)를 계산해요.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(자연수)÷(소수)를 계산해요.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4.8 ÷ 0.6 = □</a:t>
            </a:r>
            <a:endParaRPr lang="ko-KR" sz="32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3.84 ÷ 0.16 = □</a:t>
            </a:r>
            <a:endParaRPr lang="ko-KR" sz="32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25.2 ÷ 6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자리까지 옮길까요?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6.72 ÷ 2.1의 두 수에 똑같이 곱해 봐요.</a:t>
            </a:r>
            <a:endParaRPr lang="ko-KR" sz="2800" dirty="0"/>
          </a:p>
        </p:txBody>
      </p:sp>
      <p:sp>
        <p:nvSpPr>
          <p:cNvPr id="4" name="S03-card11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수가 자연수가 되도록 두 수를 똑같이 옮겨요.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2.1은 소수 한 자리 → 두 수 모두 한 자리씩</a:t>
            </a:r>
            <a:endParaRPr lang="ko-KR" sz="2800" dirty="0"/>
          </a:p>
        </p:txBody>
      </p:sp>
      <p:graphicFrame>
        <p:nvGraphicFramePr>
          <p:cNvPr id="4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308098"/>
          <a:ext cx="9601200" cy="914400"/>
        </p:xfrm>
        <a:graphic>
          <a:graphicData uri="http://schemas.openxmlformats.org/drawingml/2006/table">
            <a:tbl>
              <a:tblPr/>
              <a:tblGrid>
                <a:gridCol w="2688336"/>
                <a:gridCol w="2592324"/>
                <a:gridCol w="2208276"/>
                <a:gridCol w="2112264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나누어지는 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나누는 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6.72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수 × 10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67.2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수 × 100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옮긴 소수점 위에 찍어요</a:t>
            </a:r>
            <a:endParaRPr lang="ko-KR" sz="40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6.72 ÷ 2.1을 세로로 계산해요.</a:t>
            </a:r>
            <a:endParaRPr lang="ko-KR" sz="2800" dirty="0"/>
          </a:p>
        </p:txBody>
      </p:sp>
      <p:sp>
        <p:nvSpPr>
          <p:cNvPr id="4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6.72 ÷ 2.1 = 67.2 ÷ 21 = 3.2</a:t>
            </a:r>
            <a:endParaRPr lang="ko-KR" sz="2800" dirty="0"/>
          </a:p>
        </p:txBody>
      </p:sp>
      <p:graphicFrame>
        <p:nvGraphicFramePr>
          <p:cNvPr id="5" name="S04-table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84750" y="2028444"/>
          <a:ext cx="4206240" cy="914400"/>
        </p:xfrm>
        <a:graphic>
          <a:graphicData uri="http://schemas.openxmlformats.org/drawingml/2006/table">
            <a:tbl>
              <a:tblPr/>
              <a:tblGrid>
                <a:gridCol w="1430122"/>
                <a:gridCol w="925373"/>
                <a:gridCol w="925373"/>
                <a:gridCol w="925373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21 )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 × 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내리기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 ×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4-stepno18"/>
          <p:cNvSpPr txBox="1"/>
          <p:nvPr/>
        </p:nvSpPr>
        <p:spPr>
          <a:xfrm>
            <a:off x="548640" y="20883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4-text19"/>
          <p:cNvSpPr txBox="1"/>
          <p:nvPr/>
        </p:nvSpPr>
        <p:spPr>
          <a:xfrm>
            <a:off x="1325880" y="2042668"/>
            <a:ext cx="5443789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 → 21, 6.72 → 67.2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 모두 한 자리씩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옮겨요.</a:t>
            </a:r>
            <a:endParaRPr lang="ko-KR" sz="2800" dirty="0"/>
          </a:p>
        </p:txBody>
      </p:sp>
      <p:sp>
        <p:nvSpPr>
          <p:cNvPr id="9" name="S04-stepno20"/>
          <p:cNvSpPr txBox="1"/>
          <p:nvPr/>
        </p:nvSpPr>
        <p:spPr>
          <a:xfrm>
            <a:off x="548640" y="35087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4-text21"/>
          <p:cNvSpPr txBox="1"/>
          <p:nvPr/>
        </p:nvSpPr>
        <p:spPr>
          <a:xfrm>
            <a:off x="1325880" y="3508756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67.2 ÷ 21을 해요.</a:t>
            </a:r>
            <a:endParaRPr lang="ko-KR" sz="2800" dirty="0"/>
          </a:p>
        </p:txBody>
      </p:sp>
      <p:sp>
        <p:nvSpPr>
          <p:cNvPr id="11" name="S04-stepno22"/>
          <p:cNvSpPr txBox="1"/>
          <p:nvPr/>
        </p:nvSpPr>
        <p:spPr>
          <a:xfrm>
            <a:off x="548640" y="4267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4-text23"/>
          <p:cNvSpPr txBox="1"/>
          <p:nvPr/>
        </p:nvSpPr>
        <p:spPr>
          <a:xfrm>
            <a:off x="1325880" y="4221988"/>
            <a:ext cx="5443789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소수점은 옮긴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 위에 찍어요.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옮겨 나눠 봐요</a:t>
            </a:r>
            <a:endParaRPr lang="ko-KR" sz="40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수가 자연수가 되게 옮겨요.</a:t>
            </a:r>
            <a:endParaRPr lang="ko-KR" sz="28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수의 소수 자릿수만큼 두 수를 옮겨요.</a:t>
            </a:r>
            <a:endParaRPr lang="ko-KR" sz="2800" dirty="0"/>
          </a:p>
        </p:txBody>
      </p:sp>
      <p:sp>
        <p:nvSpPr>
          <p:cNvPr id="6" name="S05-chip2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eqtext2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5.04 ÷ 1.2 = □</a:t>
            </a:r>
            <a:endParaRPr lang="ko-KR" sz="3200" dirty="0"/>
          </a:p>
        </p:txBody>
      </p:sp>
      <p:sp>
        <p:nvSpPr>
          <p:cNvPr id="8" name="S05-chip2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eqtext3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8.64 ÷ 3.6 = □</a:t>
            </a:r>
            <a:endParaRPr lang="ko-KR" sz="3200" dirty="0"/>
          </a:p>
        </p:txBody>
      </p:sp>
      <p:sp>
        <p:nvSpPr>
          <p:cNvPr id="10" name="S05-chip31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eqtext32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1.95 ÷ 0.5 = □</a:t>
            </a:r>
            <a:endParaRPr lang="ko-KR" sz="3200" dirty="0"/>
          </a:p>
        </p:txBody>
      </p:sp>
      <p:sp>
        <p:nvSpPr>
          <p:cNvPr id="12" name="S05-chip33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5-eqtext34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7.56 ÷ 2.7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6-card3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6.72 ÷ 2.1을 계산했어요.</a:t>
            </a:r>
            <a:endParaRPr lang="ko-KR" sz="2800" dirty="0"/>
          </a:p>
        </p:txBody>
      </p:sp>
      <p:sp>
        <p:nvSpPr>
          <p:cNvPr id="5" name="S06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6.72는 2.1의 몇 배쯤인지 어림해 봐요.</a:t>
            </a:r>
            <a:endParaRPr lang="ko-KR" sz="2800" dirty="0"/>
          </a:p>
        </p:txBody>
      </p:sp>
      <p:sp>
        <p:nvSpPr>
          <p:cNvPr id="7" name="S06-chip3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32</a:t>
            </a:r>
            <a:endParaRPr lang="ko-KR" sz="2200" dirty="0"/>
          </a:p>
        </p:txBody>
      </p:sp>
      <p:sp>
        <p:nvSpPr>
          <p:cNvPr id="8" name="S06-text4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6.72 → 672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 → 21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672 ÷ 21 = 32</a:t>
            </a:r>
            <a:endParaRPr lang="ko-KR" sz="2800" dirty="0"/>
          </a:p>
        </p:txBody>
      </p:sp>
      <p:sp>
        <p:nvSpPr>
          <p:cNvPr id="9" name="S06-chip4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3.2</a:t>
            </a:r>
            <a:endParaRPr lang="ko-KR" sz="2200" dirty="0"/>
          </a:p>
        </p:txBody>
      </p:sp>
      <p:sp>
        <p:nvSpPr>
          <p:cNvPr id="10" name="S06-text4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6.72 → 67.2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 → 21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67.2 ÷ 21 = 3.2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자연수를 소수로 나눠요</a:t>
            </a:r>
            <a:endParaRPr lang="ko-KR" sz="4000" dirty="0"/>
          </a:p>
        </p:txBody>
      </p:sp>
      <p:sp>
        <p:nvSpPr>
          <p:cNvPr id="3" name="S07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3 L를 0.5 L씩 담으면 몇 병일까요?</a:t>
            </a:r>
            <a:endParaRPr lang="ko-KR" sz="2800" dirty="0"/>
          </a:p>
        </p:txBody>
      </p:sp>
      <p:sp>
        <p:nvSpPr>
          <p:cNvPr id="4" name="S07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30으로 옮길 때는 0을 붙여요.</a:t>
            </a:r>
            <a:endParaRPr lang="ko-KR" sz="2800" dirty="0"/>
          </a:p>
        </p:txBody>
      </p:sp>
      <p:sp>
        <p:nvSpPr>
          <p:cNvPr id="6" name="S07-card46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47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몇 개?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3은 0.1이 30개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0.5는 0.1이 5개</a:t>
            </a:r>
            <a:endParaRPr lang="ko-KR" sz="2800" dirty="0"/>
          </a:p>
        </p:txBody>
      </p:sp>
      <p:sp>
        <p:nvSpPr>
          <p:cNvPr id="8" name="S07-card48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7-cardtext49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나눗셈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÷ 5 = 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÷ 0.5 = 6</a:t>
            </a:r>
            <a:endParaRPr lang="ko-KR" sz="2800" dirty="0"/>
          </a:p>
        </p:txBody>
      </p:sp>
      <p:sp>
        <p:nvSpPr>
          <p:cNvPr id="10" name="S07-line50"/>
          <p:cNvSpPr/>
          <p:nvPr/>
        </p:nvSpPr>
        <p:spPr>
          <a:xfrm>
            <a:off x="685800" y="2741168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1" name="S07-line51"/>
          <p:cNvSpPr/>
          <p:nvPr/>
        </p:nvSpPr>
        <p:spPr>
          <a:xfrm>
            <a:off x="960120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7-label52"/>
          <p:cNvSpPr txBox="1"/>
          <p:nvPr/>
        </p:nvSpPr>
        <p:spPr>
          <a:xfrm>
            <a:off x="502920" y="29240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13" name="S07-line53"/>
          <p:cNvSpPr/>
          <p:nvPr/>
        </p:nvSpPr>
        <p:spPr>
          <a:xfrm>
            <a:off x="1302410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ine54"/>
          <p:cNvSpPr/>
          <p:nvPr/>
        </p:nvSpPr>
        <p:spPr>
          <a:xfrm>
            <a:off x="1644701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7-line55"/>
          <p:cNvSpPr/>
          <p:nvPr/>
        </p:nvSpPr>
        <p:spPr>
          <a:xfrm>
            <a:off x="1986991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line56"/>
          <p:cNvSpPr/>
          <p:nvPr/>
        </p:nvSpPr>
        <p:spPr>
          <a:xfrm>
            <a:off x="2329282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7-line57"/>
          <p:cNvSpPr/>
          <p:nvPr/>
        </p:nvSpPr>
        <p:spPr>
          <a:xfrm>
            <a:off x="2671572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58"/>
          <p:cNvSpPr txBox="1"/>
          <p:nvPr/>
        </p:nvSpPr>
        <p:spPr>
          <a:xfrm>
            <a:off x="2214372" y="29240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1600" dirty="0"/>
          </a:p>
        </p:txBody>
      </p:sp>
      <p:sp>
        <p:nvSpPr>
          <p:cNvPr id="19" name="S07-line59"/>
          <p:cNvSpPr/>
          <p:nvPr/>
        </p:nvSpPr>
        <p:spPr>
          <a:xfrm>
            <a:off x="3013862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7-line60"/>
          <p:cNvSpPr/>
          <p:nvPr/>
        </p:nvSpPr>
        <p:spPr>
          <a:xfrm>
            <a:off x="3356153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7-line61"/>
          <p:cNvSpPr/>
          <p:nvPr/>
        </p:nvSpPr>
        <p:spPr>
          <a:xfrm>
            <a:off x="3698443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7-line62"/>
          <p:cNvSpPr/>
          <p:nvPr/>
        </p:nvSpPr>
        <p:spPr>
          <a:xfrm>
            <a:off x="4040734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7-line63"/>
          <p:cNvSpPr/>
          <p:nvPr/>
        </p:nvSpPr>
        <p:spPr>
          <a:xfrm>
            <a:off x="4383024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7-label64"/>
          <p:cNvSpPr txBox="1"/>
          <p:nvPr/>
        </p:nvSpPr>
        <p:spPr>
          <a:xfrm>
            <a:off x="3925824" y="29240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25" name="S07-line65"/>
          <p:cNvSpPr/>
          <p:nvPr/>
        </p:nvSpPr>
        <p:spPr>
          <a:xfrm>
            <a:off x="4725314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7-line66"/>
          <p:cNvSpPr/>
          <p:nvPr/>
        </p:nvSpPr>
        <p:spPr>
          <a:xfrm>
            <a:off x="5067605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7-line67"/>
          <p:cNvSpPr/>
          <p:nvPr/>
        </p:nvSpPr>
        <p:spPr>
          <a:xfrm>
            <a:off x="5409895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7-line68"/>
          <p:cNvSpPr/>
          <p:nvPr/>
        </p:nvSpPr>
        <p:spPr>
          <a:xfrm>
            <a:off x="5752186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7-line69"/>
          <p:cNvSpPr/>
          <p:nvPr/>
        </p:nvSpPr>
        <p:spPr>
          <a:xfrm>
            <a:off x="6094476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7-label70"/>
          <p:cNvSpPr txBox="1"/>
          <p:nvPr/>
        </p:nvSpPr>
        <p:spPr>
          <a:xfrm>
            <a:off x="5637276" y="29240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</a:t>
            </a:r>
            <a:endParaRPr lang="ko-KR" sz="1600" dirty="0"/>
          </a:p>
        </p:txBody>
      </p:sp>
      <p:sp>
        <p:nvSpPr>
          <p:cNvPr id="31" name="S07-line71"/>
          <p:cNvSpPr/>
          <p:nvPr/>
        </p:nvSpPr>
        <p:spPr>
          <a:xfrm>
            <a:off x="6436766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7-line72"/>
          <p:cNvSpPr/>
          <p:nvPr/>
        </p:nvSpPr>
        <p:spPr>
          <a:xfrm>
            <a:off x="6779057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7-line73"/>
          <p:cNvSpPr/>
          <p:nvPr/>
        </p:nvSpPr>
        <p:spPr>
          <a:xfrm>
            <a:off x="7121347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7-line74"/>
          <p:cNvSpPr/>
          <p:nvPr/>
        </p:nvSpPr>
        <p:spPr>
          <a:xfrm>
            <a:off x="7463638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7-line75"/>
          <p:cNvSpPr/>
          <p:nvPr/>
        </p:nvSpPr>
        <p:spPr>
          <a:xfrm>
            <a:off x="7805928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7-label76"/>
          <p:cNvSpPr txBox="1"/>
          <p:nvPr/>
        </p:nvSpPr>
        <p:spPr>
          <a:xfrm>
            <a:off x="7348728" y="29240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37" name="S07-line77"/>
          <p:cNvSpPr/>
          <p:nvPr/>
        </p:nvSpPr>
        <p:spPr>
          <a:xfrm>
            <a:off x="8148218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7-line78"/>
          <p:cNvSpPr/>
          <p:nvPr/>
        </p:nvSpPr>
        <p:spPr>
          <a:xfrm>
            <a:off x="8490509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07-line79"/>
          <p:cNvSpPr/>
          <p:nvPr/>
        </p:nvSpPr>
        <p:spPr>
          <a:xfrm>
            <a:off x="8832799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7-line80"/>
          <p:cNvSpPr/>
          <p:nvPr/>
        </p:nvSpPr>
        <p:spPr>
          <a:xfrm>
            <a:off x="9175090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7-line81"/>
          <p:cNvSpPr/>
          <p:nvPr/>
        </p:nvSpPr>
        <p:spPr>
          <a:xfrm>
            <a:off x="9517380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7-label82"/>
          <p:cNvSpPr txBox="1"/>
          <p:nvPr/>
        </p:nvSpPr>
        <p:spPr>
          <a:xfrm>
            <a:off x="9060180" y="29240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2.5</a:t>
            </a:r>
            <a:endParaRPr lang="ko-KR" sz="1600" dirty="0"/>
          </a:p>
        </p:txBody>
      </p:sp>
      <p:sp>
        <p:nvSpPr>
          <p:cNvPr id="43" name="S07-line83"/>
          <p:cNvSpPr/>
          <p:nvPr/>
        </p:nvSpPr>
        <p:spPr>
          <a:xfrm>
            <a:off x="9859670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7-line84"/>
          <p:cNvSpPr/>
          <p:nvPr/>
        </p:nvSpPr>
        <p:spPr>
          <a:xfrm>
            <a:off x="10201961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7-line85"/>
          <p:cNvSpPr/>
          <p:nvPr/>
        </p:nvSpPr>
        <p:spPr>
          <a:xfrm>
            <a:off x="10544251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07-line86"/>
          <p:cNvSpPr/>
          <p:nvPr/>
        </p:nvSpPr>
        <p:spPr>
          <a:xfrm>
            <a:off x="10886542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7" name="S07-line87"/>
          <p:cNvSpPr/>
          <p:nvPr/>
        </p:nvSpPr>
        <p:spPr>
          <a:xfrm>
            <a:off x="11228832" y="25948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07-label88"/>
          <p:cNvSpPr txBox="1"/>
          <p:nvPr/>
        </p:nvSpPr>
        <p:spPr>
          <a:xfrm>
            <a:off x="10771632" y="29240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49" name="S07-line89"/>
          <p:cNvSpPr/>
          <p:nvPr/>
        </p:nvSpPr>
        <p:spPr>
          <a:xfrm flipV="1">
            <a:off x="960120" y="23571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0" name="S07-line90"/>
          <p:cNvSpPr/>
          <p:nvPr/>
        </p:nvSpPr>
        <p:spPr>
          <a:xfrm>
            <a:off x="960120" y="235712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07-label91"/>
          <p:cNvSpPr txBox="1"/>
          <p:nvPr/>
        </p:nvSpPr>
        <p:spPr>
          <a:xfrm>
            <a:off x="960120" y="2074672"/>
            <a:ext cx="1711452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1600" dirty="0"/>
          </a:p>
        </p:txBody>
      </p:sp>
      <p:sp>
        <p:nvSpPr>
          <p:cNvPr id="52" name="S07-line92"/>
          <p:cNvSpPr/>
          <p:nvPr/>
        </p:nvSpPr>
        <p:spPr>
          <a:xfrm flipV="1">
            <a:off x="2671572" y="23571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3" name="S07-line93"/>
          <p:cNvSpPr/>
          <p:nvPr/>
        </p:nvSpPr>
        <p:spPr>
          <a:xfrm>
            <a:off x="2671572" y="235712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4" name="S07-label94"/>
          <p:cNvSpPr txBox="1"/>
          <p:nvPr/>
        </p:nvSpPr>
        <p:spPr>
          <a:xfrm>
            <a:off x="2671572" y="2074672"/>
            <a:ext cx="1711452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1600" dirty="0"/>
          </a:p>
        </p:txBody>
      </p:sp>
      <p:sp>
        <p:nvSpPr>
          <p:cNvPr id="55" name="S07-line95"/>
          <p:cNvSpPr/>
          <p:nvPr/>
        </p:nvSpPr>
        <p:spPr>
          <a:xfrm flipV="1">
            <a:off x="4383024" y="23571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6" name="S07-line96"/>
          <p:cNvSpPr/>
          <p:nvPr/>
        </p:nvSpPr>
        <p:spPr>
          <a:xfrm>
            <a:off x="4383024" y="235712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7" name="S07-label97"/>
          <p:cNvSpPr txBox="1"/>
          <p:nvPr/>
        </p:nvSpPr>
        <p:spPr>
          <a:xfrm>
            <a:off x="4383024" y="2074672"/>
            <a:ext cx="1711452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1600" dirty="0"/>
          </a:p>
        </p:txBody>
      </p:sp>
      <p:sp>
        <p:nvSpPr>
          <p:cNvPr id="58" name="S07-line98"/>
          <p:cNvSpPr/>
          <p:nvPr/>
        </p:nvSpPr>
        <p:spPr>
          <a:xfrm flipV="1">
            <a:off x="6094476" y="23571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9" name="S07-line99"/>
          <p:cNvSpPr/>
          <p:nvPr/>
        </p:nvSpPr>
        <p:spPr>
          <a:xfrm>
            <a:off x="6094476" y="235712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0" name="S07-label100"/>
          <p:cNvSpPr txBox="1"/>
          <p:nvPr/>
        </p:nvSpPr>
        <p:spPr>
          <a:xfrm>
            <a:off x="6094476" y="2074672"/>
            <a:ext cx="1711452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1600" dirty="0"/>
          </a:p>
        </p:txBody>
      </p:sp>
      <p:sp>
        <p:nvSpPr>
          <p:cNvPr id="61" name="S07-line101"/>
          <p:cNvSpPr/>
          <p:nvPr/>
        </p:nvSpPr>
        <p:spPr>
          <a:xfrm flipV="1">
            <a:off x="7805928" y="23571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2" name="S07-line102"/>
          <p:cNvSpPr/>
          <p:nvPr/>
        </p:nvSpPr>
        <p:spPr>
          <a:xfrm>
            <a:off x="7805928" y="235712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3" name="S07-label103"/>
          <p:cNvSpPr txBox="1"/>
          <p:nvPr/>
        </p:nvSpPr>
        <p:spPr>
          <a:xfrm>
            <a:off x="7805928" y="2074672"/>
            <a:ext cx="1711452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1600" dirty="0"/>
          </a:p>
        </p:txBody>
      </p:sp>
      <p:sp>
        <p:nvSpPr>
          <p:cNvPr id="64" name="S07-line104"/>
          <p:cNvSpPr/>
          <p:nvPr/>
        </p:nvSpPr>
        <p:spPr>
          <a:xfrm flipV="1">
            <a:off x="9517380" y="23571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5" name="S07-line105"/>
          <p:cNvSpPr/>
          <p:nvPr/>
        </p:nvSpPr>
        <p:spPr>
          <a:xfrm>
            <a:off x="9517380" y="235712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6" name="S07-label106"/>
          <p:cNvSpPr txBox="1"/>
          <p:nvPr/>
        </p:nvSpPr>
        <p:spPr>
          <a:xfrm>
            <a:off x="9517380" y="2074672"/>
            <a:ext cx="1711452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1600" dirty="0"/>
          </a:p>
        </p:txBody>
      </p:sp>
      <p:sp>
        <p:nvSpPr>
          <p:cNvPr id="67" name="S07-figure107" descr="0부터 3까지 0.1 눈금 수직선. 0에서 3까지 0.5씩 6번 뛰어 셈"/>
          <p:cNvSpPr/>
          <p:nvPr/>
        </p:nvSpPr>
        <p:spPr>
          <a:xfrm>
            <a:off x="685800" y="2558288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붙여 소수점을 옮겨요</a:t>
            </a:r>
            <a:endParaRPr lang="ko-KR" sz="4000" dirty="0"/>
          </a:p>
        </p:txBody>
      </p:sp>
      <p:sp>
        <p:nvSpPr>
          <p:cNvPr id="3" name="S08-text10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0.75를 세로로 계산해요.</a:t>
            </a:r>
            <a:endParaRPr lang="ko-KR" sz="2800" dirty="0"/>
          </a:p>
        </p:txBody>
      </p:sp>
      <p:sp>
        <p:nvSpPr>
          <p:cNvPr id="4" name="S08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0.75 = 1200 ÷ 75 = 16</a:t>
            </a:r>
            <a:endParaRPr lang="ko-KR" sz="2800" dirty="0"/>
          </a:p>
        </p:txBody>
      </p:sp>
      <p:graphicFrame>
        <p:nvGraphicFramePr>
          <p:cNvPr id="9" name="S08-table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331" y="2028444"/>
          <a:ext cx="4480560" cy="914400"/>
        </p:xfrm>
        <a:graphic>
          <a:graphicData uri="http://schemas.openxmlformats.org/drawingml/2006/table">
            <a:tbl>
              <a:tblPr/>
              <a:tblGrid>
                <a:gridCol w="1523390"/>
                <a:gridCol w="739292"/>
                <a:gridCol w="739292"/>
                <a:gridCol w="739292"/>
                <a:gridCol w="73929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75 )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 ×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내리기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 × 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stepno112"/>
          <p:cNvSpPr txBox="1"/>
          <p:nvPr/>
        </p:nvSpPr>
        <p:spPr>
          <a:xfrm>
            <a:off x="548640" y="2305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8-text113"/>
          <p:cNvSpPr txBox="1"/>
          <p:nvPr/>
        </p:nvSpPr>
        <p:spPr>
          <a:xfrm>
            <a:off x="1325880" y="2259584"/>
            <a:ext cx="5229271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0.75 → 75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자리 옮겨요.</a:t>
            </a:r>
            <a:endParaRPr lang="ko-KR" sz="2800" dirty="0"/>
          </a:p>
        </p:txBody>
      </p:sp>
      <p:sp>
        <p:nvSpPr>
          <p:cNvPr id="9" name="S08-stepno114"/>
          <p:cNvSpPr txBox="1"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8-text115"/>
          <p:cNvSpPr txBox="1"/>
          <p:nvPr/>
        </p:nvSpPr>
        <p:spPr>
          <a:xfrm>
            <a:off x="1325880" y="3291840"/>
            <a:ext cx="5229271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→ 1200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두 개 붙여요.</a:t>
            </a:r>
            <a:endParaRPr lang="ko-KR" sz="2800" dirty="0"/>
          </a:p>
        </p:txBody>
      </p:sp>
      <p:sp>
        <p:nvSpPr>
          <p:cNvPr id="11" name="S08-stepno116"/>
          <p:cNvSpPr txBox="1"/>
          <p:nvPr/>
        </p:nvSpPr>
        <p:spPr>
          <a:xfrm>
            <a:off x="548640" y="4324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8-text117"/>
          <p:cNvSpPr txBox="1"/>
          <p:nvPr/>
        </p:nvSpPr>
        <p:spPr>
          <a:xfrm>
            <a:off x="1325880" y="4324096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1200 ÷ 75를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붙여 계산해 봐요</a:t>
            </a:r>
            <a:endParaRPr lang="ko-KR" sz="4000" dirty="0"/>
          </a:p>
        </p:txBody>
      </p:sp>
      <p:sp>
        <p:nvSpPr>
          <p:cNvPr id="3" name="S09-text1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수를 먼저 자연수로 만들어요.</a:t>
            </a:r>
            <a:endParaRPr lang="ko-KR" sz="2800" dirty="0"/>
          </a:p>
        </p:txBody>
      </p:sp>
      <p:sp>
        <p:nvSpPr>
          <p:cNvPr id="4" name="S09-card1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1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옮길 자리가 없으면 0을 붙여요.</a:t>
            </a:r>
            <a:endParaRPr lang="ko-KR" sz="2800" dirty="0"/>
          </a:p>
        </p:txBody>
      </p:sp>
      <p:sp>
        <p:nvSpPr>
          <p:cNvPr id="6" name="S09-chip12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eqtext12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÷ 1.5 = □</a:t>
            </a:r>
            <a:endParaRPr lang="ko-KR" sz="3200" dirty="0"/>
          </a:p>
        </p:txBody>
      </p:sp>
      <p:sp>
        <p:nvSpPr>
          <p:cNvPr id="8" name="S09-chip12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eqtext12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0.4 = □</a:t>
            </a:r>
            <a:endParaRPr lang="ko-KR" sz="3200" dirty="0"/>
          </a:p>
        </p:txBody>
      </p:sp>
      <p:sp>
        <p:nvSpPr>
          <p:cNvPr id="10" name="S09-chip125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eqtext126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÷ 0.28 = □</a:t>
            </a:r>
            <a:endParaRPr lang="ko-KR" sz="3200" dirty="0"/>
          </a:p>
        </p:txBody>
      </p:sp>
      <p:sp>
        <p:nvSpPr>
          <p:cNvPr id="12" name="S09-chip127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9-eqtext128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 ÷ 0.16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3일까요, 30일까요?</a:t>
            </a:r>
            <a:endParaRPr lang="ko-KR" sz="4000" dirty="0"/>
          </a:p>
        </p:txBody>
      </p:sp>
      <p:sp>
        <p:nvSpPr>
          <p:cNvPr id="3" name="S10-card12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3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0.4를 계산했어요.</a:t>
            </a:r>
            <a:endParaRPr lang="ko-KR" sz="2800" dirty="0"/>
          </a:p>
        </p:txBody>
      </p:sp>
      <p:sp>
        <p:nvSpPr>
          <p:cNvPr id="5" name="S10-card1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1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 L 컵으로 12 L를 뜨면 12번보다 많을까요, 적을까요?</a:t>
            </a:r>
            <a:endParaRPr lang="ko-KR" sz="2800" dirty="0"/>
          </a:p>
        </p:txBody>
      </p:sp>
      <p:sp>
        <p:nvSpPr>
          <p:cNvPr id="7" name="S10-chip13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</a:t>
            </a:r>
            <a:endParaRPr lang="ko-KR" sz="2200" dirty="0"/>
          </a:p>
        </p:txBody>
      </p:sp>
      <p:sp>
        <p:nvSpPr>
          <p:cNvPr id="8" name="S10-text13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0.4만 4로 바꿨어요.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4 = 3</a:t>
            </a:r>
            <a:endParaRPr lang="ko-KR" sz="2800" dirty="0"/>
          </a:p>
        </p:txBody>
      </p:sp>
      <p:sp>
        <p:nvSpPr>
          <p:cNvPr id="9" name="S10-chip13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30</a:t>
            </a:r>
            <a:endParaRPr lang="ko-KR" sz="2200" dirty="0"/>
          </a:p>
        </p:txBody>
      </p:sp>
      <p:sp>
        <p:nvSpPr>
          <p:cNvPr id="10" name="S10-text13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→ 120, 0.4 → 4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 ÷ 4 = 30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13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eqtext13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3.75 ÷ 1.5 = □</a:t>
            </a:r>
            <a:endParaRPr lang="ko-KR" sz="3200" dirty="0"/>
          </a:p>
        </p:txBody>
      </p:sp>
      <p:sp>
        <p:nvSpPr>
          <p:cNvPr id="5" name="S11-chip13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eqtext140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4.76 ÷ 0.7 = □</a:t>
            </a:r>
            <a:endParaRPr lang="ko-KR" sz="3200" dirty="0"/>
          </a:p>
        </p:txBody>
      </p:sp>
      <p:sp>
        <p:nvSpPr>
          <p:cNvPr id="7" name="S11-chip141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eqtext142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÷ 0.6 = □</a:t>
            </a:r>
            <a:endParaRPr lang="ko-KR" sz="3200" dirty="0"/>
          </a:p>
        </p:txBody>
      </p:sp>
      <p:sp>
        <p:nvSpPr>
          <p:cNvPr id="9" name="S11-chip143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1-eqtext144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÷ 4.5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145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46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(나누는 수) × (몫)이 나누어지는 수가 되는지 곱해서 확인하세요.</a:t>
            </a:r>
            <a:endParaRPr lang="ko-KR" sz="2800" dirty="0"/>
          </a:p>
        </p:txBody>
      </p:sp>
      <p:sp>
        <p:nvSpPr>
          <p:cNvPr id="5" name="S12-chip14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148"/>
          <p:cNvSpPr txBox="1"/>
          <p:nvPr/>
        </p:nvSpPr>
        <p:spPr>
          <a:xfrm>
            <a:off x="548640" y="2057400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2.5</a:t>
            </a:r>
            <a:endParaRPr lang="ko-KR" sz="2800" dirty="0"/>
          </a:p>
        </p:txBody>
      </p:sp>
      <p:sp>
        <p:nvSpPr>
          <p:cNvPr id="7" name="S12-text149"/>
          <p:cNvSpPr txBox="1"/>
          <p:nvPr/>
        </p:nvSpPr>
        <p:spPr>
          <a:xfrm>
            <a:off x="3367278" y="2057400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37.5 ÷ 15</a:t>
            </a:r>
            <a:endParaRPr lang="ko-KR" sz="2200" dirty="0"/>
          </a:p>
        </p:txBody>
      </p:sp>
      <p:sp>
        <p:nvSpPr>
          <p:cNvPr id="8" name="S12-text150"/>
          <p:cNvSpPr txBox="1"/>
          <p:nvPr/>
        </p:nvSpPr>
        <p:spPr>
          <a:xfrm>
            <a:off x="548640" y="2775458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6.8</a:t>
            </a:r>
            <a:endParaRPr lang="ko-KR" sz="2800" dirty="0"/>
          </a:p>
        </p:txBody>
      </p:sp>
      <p:sp>
        <p:nvSpPr>
          <p:cNvPr id="9" name="S12-text151"/>
          <p:cNvSpPr txBox="1"/>
          <p:nvPr/>
        </p:nvSpPr>
        <p:spPr>
          <a:xfrm>
            <a:off x="3367278" y="2775458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47.6 ÷ 7</a:t>
            </a:r>
            <a:endParaRPr lang="ko-KR" sz="2200" dirty="0"/>
          </a:p>
        </p:txBody>
      </p:sp>
      <p:sp>
        <p:nvSpPr>
          <p:cNvPr id="10" name="S12-text152"/>
          <p:cNvSpPr txBox="1"/>
          <p:nvPr/>
        </p:nvSpPr>
        <p:spPr>
          <a:xfrm>
            <a:off x="548640" y="3493516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25</a:t>
            </a:r>
            <a:endParaRPr lang="ko-KR" sz="2800" dirty="0"/>
          </a:p>
        </p:txBody>
      </p:sp>
      <p:sp>
        <p:nvSpPr>
          <p:cNvPr id="11" name="S12-text153"/>
          <p:cNvSpPr txBox="1"/>
          <p:nvPr/>
        </p:nvSpPr>
        <p:spPr>
          <a:xfrm>
            <a:off x="3367278" y="3493516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 ÷ 6</a:t>
            </a:r>
            <a:endParaRPr lang="ko-KR" sz="2200" dirty="0"/>
          </a:p>
        </p:txBody>
      </p:sp>
      <p:sp>
        <p:nvSpPr>
          <p:cNvPr id="12" name="S12-text154"/>
          <p:cNvSpPr txBox="1"/>
          <p:nvPr/>
        </p:nvSpPr>
        <p:spPr>
          <a:xfrm>
            <a:off x="548640" y="4211574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4</a:t>
            </a:r>
            <a:endParaRPr lang="ko-KR" sz="2800" dirty="0"/>
          </a:p>
        </p:txBody>
      </p:sp>
      <p:sp>
        <p:nvSpPr>
          <p:cNvPr id="13" name="S12-text155"/>
          <p:cNvSpPr txBox="1"/>
          <p:nvPr/>
        </p:nvSpPr>
        <p:spPr>
          <a:xfrm>
            <a:off x="3367278" y="4211574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 ÷ 45</a:t>
            </a:r>
            <a:endParaRPr lang="ko-KR" sz="2200" dirty="0"/>
          </a:p>
        </p:txBody>
      </p:sp>
      <p:sp>
        <p:nvSpPr>
          <p:cNvPr id="14" name="S12-chip15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2-text15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25</a:t>
            </a:r>
            <a:endParaRPr lang="ko-KR" sz="2800" dirty="0"/>
          </a:p>
        </p:txBody>
      </p:sp>
      <p:sp>
        <p:nvSpPr>
          <p:cNvPr id="16" name="S12-text15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3.75만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자리 옮김</a:t>
            </a:r>
            <a:endParaRPr lang="ko-KR" sz="2200" dirty="0"/>
          </a:p>
        </p:txBody>
      </p:sp>
      <p:sp>
        <p:nvSpPr>
          <p:cNvPr id="17" name="S12-text15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2.5</a:t>
            </a:r>
            <a:endParaRPr lang="ko-KR" sz="2800" dirty="0"/>
          </a:p>
        </p:txBody>
      </p:sp>
      <p:sp>
        <p:nvSpPr>
          <p:cNvPr id="18" name="S12-text16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붙이지 않음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문제</a:t>
            </a:r>
            <a:endParaRPr lang="ko-KR" sz="4000" dirty="0"/>
          </a:p>
        </p:txBody>
      </p:sp>
      <p:sp>
        <p:nvSpPr>
          <p:cNvPr id="3" name="S13-chip16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3-text162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7.82 m²인 직사각형의 가로가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 m예요. 세로는 몇 m인가요?</a:t>
            </a:r>
            <a:endParaRPr lang="ko-KR" sz="2800" dirty="0"/>
          </a:p>
        </p:txBody>
      </p:sp>
      <p:sp>
        <p:nvSpPr>
          <p:cNvPr id="5" name="S13-chip163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3-text164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6 L를 0.25 L 컵에 가득 담으면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컵이 되나요? 몫이 6보다 큰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65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66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수가 자연수가 되도록 두 수의 소수점을 똑같이 옮겨요.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옮길 자리가 없으면 0을 붙여요.</a:t>
            </a:r>
            <a:endParaRPr lang="ko-KR" sz="2800" dirty="0"/>
          </a:p>
        </p:txBody>
      </p:sp>
      <p:sp>
        <p:nvSpPr>
          <p:cNvPr id="5" name="S14-chip167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몫의 소수점은 옮긴 자리 위에</a:t>
            </a:r>
            <a:endParaRPr lang="ko-KR" sz="2200" dirty="0"/>
          </a:p>
        </p:txBody>
      </p:sp>
      <p:sp>
        <p:nvSpPr>
          <p:cNvPr id="6" name="S14-chip168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나누는 수만 소수점 옮기기</a:t>
            </a:r>
            <a:endParaRPr lang="ko-KR" sz="2200" dirty="0"/>
          </a:p>
        </p:txBody>
      </p:sp>
      <p:sp>
        <p:nvSpPr>
          <p:cNvPr id="7" name="S14-text169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eqtext170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4.32 ÷ 1.8</a:t>
            </a:r>
            <a:endParaRPr lang="ko-KR" sz="2600" dirty="0"/>
          </a:p>
        </p:txBody>
      </p:sp>
      <p:sp>
        <p:nvSpPr>
          <p:cNvPr id="9" name="S14-eqtext171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14 ÷ 0.35</a:t>
            </a:r>
            <a:endParaRPr lang="ko-KR" sz="2600" dirty="0"/>
          </a:p>
        </p:txBody>
      </p:sp>
      <p:sp>
        <p:nvSpPr>
          <p:cNvPr id="10" name="S14-eqtext172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8.4 ÷ 0.24</a:t>
            </a:r>
            <a:endParaRPr lang="ko-KR" sz="2600" dirty="0"/>
          </a:p>
        </p:txBody>
      </p:sp>
      <p:sp>
        <p:nvSpPr>
          <p:cNvPr id="11" name="S14-text17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각기둥과 각뿔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소수점 옮기기</a:t>
            </a:r>
            <a:endParaRPr lang="ko-KR" sz="4000" dirty="0"/>
          </a:p>
        </p:txBody>
      </p:sp>
      <p:sp>
        <p:nvSpPr>
          <p:cNvPr id="3" name="S15-text17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10배, 100배 하면 소수점이 오른쪽으로 옮겨 가요.</a:t>
            </a:r>
            <a:endParaRPr lang="ko-KR" sz="2800" dirty="0"/>
          </a:p>
        </p:txBody>
      </p:sp>
      <p:sp>
        <p:nvSpPr>
          <p:cNvPr id="4" name="S15-card175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176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소수점이 오른쪽으로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자리 옮겨 가요.</a:t>
            </a:r>
            <a:endParaRPr lang="ko-KR" sz="2800" dirty="0"/>
          </a:p>
        </p:txBody>
      </p:sp>
      <p:sp>
        <p:nvSpPr>
          <p:cNvPr id="6" name="S15-card177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178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자리가 없으면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붙여요.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→ 90 → 900</a:t>
            </a:r>
            <a:endParaRPr lang="ko-KR" sz="2800" dirty="0"/>
          </a:p>
        </p:txBody>
      </p:sp>
      <p:graphicFrame>
        <p:nvGraphicFramePr>
          <p:cNvPr id="16" name="S15-table1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65476" y="2036064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100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6.72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67.2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소수의 나눗셈 3</dc:title>
  <dc:subject>KR22-G06-MAT-DECDIV3-L01</dc:subject>
  <dc:creator>education-ppt</dc:creator>
  <cp:lastModifiedBy>education-ppt</cp:lastModifiedBy>
  <cp:revision>1</cp:revision>
  <dcterms:created xsi:type="dcterms:W3CDTF">2026-10-26T09:23:52Z</dcterms:created>
  <dcterms:modified xsi:type="dcterms:W3CDTF">2026-10-26T09:23:52Z</dcterms:modified>
</cp:coreProperties>
</file>