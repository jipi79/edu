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08a0ae3d-e044-3355-4816-4de2853c5622}">
          <p14:sldIdLst>
            <p14:sldId id="256"/>
            <p14:sldId id="257"/>
          </p14:sldIdLst>
        </p14:section>
        <p14:section name="개념" id="{271c74bc-7732-6633-48d4-f81de95cf3f1}">
          <p14:sldIdLst>
            <p14:sldId id="258"/>
            <p14:sldId id="259"/>
            <p14:sldId id="262"/>
            <p14:sldId id="263"/>
          </p14:sldIdLst>
        </p14:section>
        <p14:section name="연습" id="{8a46887e-bcc2-229c-cdf4-f654f040281c}">
          <p14:sldIdLst>
            <p14:sldId id="260"/>
            <p14:sldId id="261"/>
            <p14:sldId id="264"/>
            <p14:sldId id="265"/>
          </p14:sldIdLst>
        </p14:section>
        <p14:section name="개념" id="{22ca0209-78c1-9f45-f895-8c54af138ce1}">
          <p14:sldIdLst/>
        </p14:section>
        <p14:section name="연습" id="{978db4b6-90e5-13d2-551e-daec46d9064b}">
          <p14:sldIdLst/>
        </p14:section>
        <p14:section name="확인" id="{8cddd1fe-7832-7d8c-d413-3ade2d6173a0}">
          <p14:sldIdLst>
            <p14:sldId id="266"/>
            <p14:sldId id="267"/>
          </p14:sldIdLst>
        </p14:section>
        <p14:section name="정리" id="{dbe8f522-1290-5e98-79bf-91dd32bf698f}">
          <p14:sldIdLst>
            <p14:sldId id="268"/>
          </p14:sldIdLst>
        </p14:section>
        <p14:section name="보충" id="{b3a94092-a282-12ec-4c5c-9da86f141e58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연산과비례 · 4차시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소수의 나눗셈 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소수의 나눗셈 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수학 · 소수의 나눗셈 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소수의 나눗셈 2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1.8 m 끈을 0.3 m씩 자르면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도막이 될까?</a:t>
            </a:r>
            <a:endParaRPr lang="ko-KR" sz="2800" dirty="0"/>
          </a:p>
        </p:txBody>
      </p:sp>
      <p:sp>
        <p:nvSpPr>
          <p:cNvPr id="4" name="S01-eqtext1"/>
          <p:cNvSpPr txBox="1"/>
          <p:nvPr/>
        </p:nvSpPr>
        <p:spPr>
          <a:xfrm>
            <a:off x="7680960" y="6400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1.8 ÷ 0.3 = ?</a:t>
            </a:r>
            <a:endParaRPr lang="ko-KR" sz="4000" dirty="0"/>
          </a:p>
        </p:txBody>
      </p:sp>
      <p:sp>
        <p:nvSpPr>
          <p:cNvPr id="5" name="S01-card2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소수점을 옮겨 (소수)÷(소수)를 계산해요.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몫을 반올림하고, 남는 양을 구해요.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eqtext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9.6 ÷ 4 = □</a:t>
            </a:r>
            <a:endParaRPr lang="ko-KR" sz="3200" dirty="0"/>
          </a:p>
        </p:txBody>
      </p:sp>
      <p:sp>
        <p:nvSpPr>
          <p:cNvPr id="5" name="S02-chip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eqtext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4.2 ÷ 6 = □</a:t>
            </a:r>
            <a:endParaRPr lang="ko-KR" sz="3200" dirty="0"/>
          </a:p>
        </p:txBody>
      </p:sp>
      <p:sp>
        <p:nvSpPr>
          <p:cNvPr id="7" name="S02-chip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3.47을 반올림하여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 첫째 자리까지 나타내요.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몇 개인지 세어요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1.8에서 0.3을 몇 번 덜어 낼 수 있을까요?</a:t>
            </a:r>
            <a:endParaRPr lang="ko-KR" sz="28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수에 똑같이 10을 곱해도 몫은 같아요.</a:t>
            </a:r>
            <a:endParaRPr lang="ko-KR" sz="2800" dirty="0"/>
          </a:p>
        </p:txBody>
      </p:sp>
      <p:sp>
        <p:nvSpPr>
          <p:cNvPr id="6" name="S03-card13"/>
          <p:cNvSpPr/>
          <p:nvPr/>
        </p:nvSpPr>
        <p:spPr>
          <a:xfrm>
            <a:off x="548640" y="359968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4"/>
          <p:cNvSpPr txBox="1"/>
          <p:nvPr/>
        </p:nvSpPr>
        <p:spPr>
          <a:xfrm>
            <a:off x="822960" y="373684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몇 개?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1.8은 0.1이 18개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0.3은 0.1이 3개</a:t>
            </a:r>
            <a:endParaRPr lang="ko-KR" sz="2800" dirty="0"/>
          </a:p>
        </p:txBody>
      </p:sp>
      <p:sp>
        <p:nvSpPr>
          <p:cNvPr id="8" name="S03-card15"/>
          <p:cNvSpPr/>
          <p:nvPr/>
        </p:nvSpPr>
        <p:spPr>
          <a:xfrm>
            <a:off x="6208776" y="359968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6"/>
          <p:cNvSpPr txBox="1"/>
          <p:nvPr/>
        </p:nvSpPr>
        <p:spPr>
          <a:xfrm>
            <a:off x="6483096" y="373684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자연수의 나눗셈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÷ 3 = 6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1.8 ÷ 0.3 = 6</a:t>
            </a:r>
            <a:endParaRPr lang="ko-KR" sz="2800" dirty="0"/>
          </a:p>
        </p:txBody>
      </p:sp>
      <p:sp>
        <p:nvSpPr>
          <p:cNvPr id="10" name="S03-line17"/>
          <p:cNvSpPr/>
          <p:nvPr/>
        </p:nvSpPr>
        <p:spPr>
          <a:xfrm>
            <a:off x="685800" y="2642108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11" name="S03-line18"/>
          <p:cNvSpPr/>
          <p:nvPr/>
        </p:nvSpPr>
        <p:spPr>
          <a:xfrm>
            <a:off x="960120" y="249580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3-label19"/>
          <p:cNvSpPr txBox="1"/>
          <p:nvPr/>
        </p:nvSpPr>
        <p:spPr>
          <a:xfrm>
            <a:off x="502920" y="2824988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13" name="S03-line20"/>
          <p:cNvSpPr/>
          <p:nvPr/>
        </p:nvSpPr>
        <p:spPr>
          <a:xfrm>
            <a:off x="1530604" y="249580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3-line21"/>
          <p:cNvSpPr/>
          <p:nvPr/>
        </p:nvSpPr>
        <p:spPr>
          <a:xfrm>
            <a:off x="2101088" y="249580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3-line22"/>
          <p:cNvSpPr/>
          <p:nvPr/>
        </p:nvSpPr>
        <p:spPr>
          <a:xfrm>
            <a:off x="2671572" y="249580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3-label23"/>
          <p:cNvSpPr txBox="1"/>
          <p:nvPr/>
        </p:nvSpPr>
        <p:spPr>
          <a:xfrm>
            <a:off x="2214372" y="2824988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</a:t>
            </a:r>
            <a:endParaRPr lang="ko-KR" sz="2200" dirty="0"/>
          </a:p>
        </p:txBody>
      </p:sp>
      <p:sp>
        <p:nvSpPr>
          <p:cNvPr id="17" name="S03-line24"/>
          <p:cNvSpPr/>
          <p:nvPr/>
        </p:nvSpPr>
        <p:spPr>
          <a:xfrm>
            <a:off x="3242056" y="249580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3-line25"/>
          <p:cNvSpPr/>
          <p:nvPr/>
        </p:nvSpPr>
        <p:spPr>
          <a:xfrm>
            <a:off x="3812540" y="249580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3-line26"/>
          <p:cNvSpPr/>
          <p:nvPr/>
        </p:nvSpPr>
        <p:spPr>
          <a:xfrm>
            <a:off x="4383024" y="249580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3-label27"/>
          <p:cNvSpPr txBox="1"/>
          <p:nvPr/>
        </p:nvSpPr>
        <p:spPr>
          <a:xfrm>
            <a:off x="3925824" y="2824988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</a:t>
            </a:r>
            <a:endParaRPr lang="ko-KR" sz="2200" dirty="0"/>
          </a:p>
        </p:txBody>
      </p:sp>
      <p:sp>
        <p:nvSpPr>
          <p:cNvPr id="21" name="S03-line28"/>
          <p:cNvSpPr/>
          <p:nvPr/>
        </p:nvSpPr>
        <p:spPr>
          <a:xfrm>
            <a:off x="4953508" y="249580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3-line29"/>
          <p:cNvSpPr/>
          <p:nvPr/>
        </p:nvSpPr>
        <p:spPr>
          <a:xfrm>
            <a:off x="5523992" y="249580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3-line30"/>
          <p:cNvSpPr/>
          <p:nvPr/>
        </p:nvSpPr>
        <p:spPr>
          <a:xfrm>
            <a:off x="6094476" y="249580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3-label31"/>
          <p:cNvSpPr txBox="1"/>
          <p:nvPr/>
        </p:nvSpPr>
        <p:spPr>
          <a:xfrm>
            <a:off x="5637276" y="2824988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</a:t>
            </a:r>
            <a:endParaRPr lang="ko-KR" sz="2200" dirty="0"/>
          </a:p>
        </p:txBody>
      </p:sp>
      <p:sp>
        <p:nvSpPr>
          <p:cNvPr id="25" name="S03-line32"/>
          <p:cNvSpPr/>
          <p:nvPr/>
        </p:nvSpPr>
        <p:spPr>
          <a:xfrm>
            <a:off x="6664960" y="249580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3-line33"/>
          <p:cNvSpPr/>
          <p:nvPr/>
        </p:nvSpPr>
        <p:spPr>
          <a:xfrm>
            <a:off x="7235444" y="249580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3-line34"/>
          <p:cNvSpPr/>
          <p:nvPr/>
        </p:nvSpPr>
        <p:spPr>
          <a:xfrm>
            <a:off x="7805928" y="249580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3-label35"/>
          <p:cNvSpPr txBox="1"/>
          <p:nvPr/>
        </p:nvSpPr>
        <p:spPr>
          <a:xfrm>
            <a:off x="7348728" y="2824988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</a:t>
            </a:r>
            <a:endParaRPr lang="ko-KR" sz="2200" dirty="0"/>
          </a:p>
        </p:txBody>
      </p:sp>
      <p:sp>
        <p:nvSpPr>
          <p:cNvPr id="29" name="S03-line36"/>
          <p:cNvSpPr/>
          <p:nvPr/>
        </p:nvSpPr>
        <p:spPr>
          <a:xfrm>
            <a:off x="8376412" y="249580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3-line37"/>
          <p:cNvSpPr/>
          <p:nvPr/>
        </p:nvSpPr>
        <p:spPr>
          <a:xfrm>
            <a:off x="8946896" y="249580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1" name="S03-line38"/>
          <p:cNvSpPr/>
          <p:nvPr/>
        </p:nvSpPr>
        <p:spPr>
          <a:xfrm>
            <a:off x="9517380" y="249580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3-label39"/>
          <p:cNvSpPr txBox="1"/>
          <p:nvPr/>
        </p:nvSpPr>
        <p:spPr>
          <a:xfrm>
            <a:off x="9060180" y="2824988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1.5</a:t>
            </a:r>
            <a:endParaRPr lang="ko-KR" sz="2200" dirty="0"/>
          </a:p>
        </p:txBody>
      </p:sp>
      <p:sp>
        <p:nvSpPr>
          <p:cNvPr id="33" name="S03-line40"/>
          <p:cNvSpPr/>
          <p:nvPr/>
        </p:nvSpPr>
        <p:spPr>
          <a:xfrm>
            <a:off x="10087864" y="249580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03-line41"/>
          <p:cNvSpPr/>
          <p:nvPr/>
        </p:nvSpPr>
        <p:spPr>
          <a:xfrm>
            <a:off x="10658348" y="249580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5" name="S03-line42"/>
          <p:cNvSpPr/>
          <p:nvPr/>
        </p:nvSpPr>
        <p:spPr>
          <a:xfrm>
            <a:off x="11228832" y="249580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6" name="S03-label43"/>
          <p:cNvSpPr txBox="1"/>
          <p:nvPr/>
        </p:nvSpPr>
        <p:spPr>
          <a:xfrm>
            <a:off x="10771632" y="2824988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1.8</a:t>
            </a:r>
            <a:endParaRPr lang="ko-KR" sz="2200" dirty="0"/>
          </a:p>
        </p:txBody>
      </p:sp>
      <p:sp>
        <p:nvSpPr>
          <p:cNvPr id="37" name="S03-line44"/>
          <p:cNvSpPr/>
          <p:nvPr/>
        </p:nvSpPr>
        <p:spPr>
          <a:xfrm flipV="1">
            <a:off x="960120" y="2258060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8" name="S03-line45"/>
          <p:cNvSpPr/>
          <p:nvPr/>
        </p:nvSpPr>
        <p:spPr>
          <a:xfrm>
            <a:off x="960120" y="2258060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9" name="S03-label46"/>
          <p:cNvSpPr txBox="1"/>
          <p:nvPr/>
        </p:nvSpPr>
        <p:spPr>
          <a:xfrm>
            <a:off x="960120" y="1876552"/>
            <a:ext cx="1711452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</a:t>
            </a:r>
            <a:endParaRPr lang="ko-KR" sz="2200" dirty="0"/>
          </a:p>
        </p:txBody>
      </p:sp>
      <p:sp>
        <p:nvSpPr>
          <p:cNvPr id="40" name="S03-line47"/>
          <p:cNvSpPr/>
          <p:nvPr/>
        </p:nvSpPr>
        <p:spPr>
          <a:xfrm flipV="1">
            <a:off x="2671572" y="2258060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1" name="S03-line48"/>
          <p:cNvSpPr/>
          <p:nvPr/>
        </p:nvSpPr>
        <p:spPr>
          <a:xfrm>
            <a:off x="2671572" y="2258060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2" name="S03-label49"/>
          <p:cNvSpPr txBox="1"/>
          <p:nvPr/>
        </p:nvSpPr>
        <p:spPr>
          <a:xfrm>
            <a:off x="2671572" y="1876552"/>
            <a:ext cx="1711452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</a:t>
            </a:r>
            <a:endParaRPr lang="ko-KR" sz="2200" dirty="0"/>
          </a:p>
        </p:txBody>
      </p:sp>
      <p:sp>
        <p:nvSpPr>
          <p:cNvPr id="43" name="S03-line50"/>
          <p:cNvSpPr/>
          <p:nvPr/>
        </p:nvSpPr>
        <p:spPr>
          <a:xfrm flipV="1">
            <a:off x="4383024" y="2258060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4" name="S03-line51"/>
          <p:cNvSpPr/>
          <p:nvPr/>
        </p:nvSpPr>
        <p:spPr>
          <a:xfrm>
            <a:off x="4383024" y="2258060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5" name="S03-label52"/>
          <p:cNvSpPr txBox="1"/>
          <p:nvPr/>
        </p:nvSpPr>
        <p:spPr>
          <a:xfrm>
            <a:off x="4383024" y="1876552"/>
            <a:ext cx="1711452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</a:t>
            </a:r>
            <a:endParaRPr lang="ko-KR" sz="2200" dirty="0"/>
          </a:p>
        </p:txBody>
      </p:sp>
      <p:sp>
        <p:nvSpPr>
          <p:cNvPr id="46" name="S03-line53"/>
          <p:cNvSpPr/>
          <p:nvPr/>
        </p:nvSpPr>
        <p:spPr>
          <a:xfrm flipV="1">
            <a:off x="6094476" y="2258060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7" name="S03-line54"/>
          <p:cNvSpPr/>
          <p:nvPr/>
        </p:nvSpPr>
        <p:spPr>
          <a:xfrm>
            <a:off x="6094476" y="2258060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8" name="S03-label55"/>
          <p:cNvSpPr txBox="1"/>
          <p:nvPr/>
        </p:nvSpPr>
        <p:spPr>
          <a:xfrm>
            <a:off x="6094476" y="1876552"/>
            <a:ext cx="1711452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</a:t>
            </a:r>
            <a:endParaRPr lang="ko-KR" sz="2200" dirty="0"/>
          </a:p>
        </p:txBody>
      </p:sp>
      <p:sp>
        <p:nvSpPr>
          <p:cNvPr id="49" name="S03-line56"/>
          <p:cNvSpPr/>
          <p:nvPr/>
        </p:nvSpPr>
        <p:spPr>
          <a:xfrm flipV="1">
            <a:off x="7805928" y="2258060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0" name="S03-line57"/>
          <p:cNvSpPr/>
          <p:nvPr/>
        </p:nvSpPr>
        <p:spPr>
          <a:xfrm>
            <a:off x="7805928" y="2258060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1" name="S03-label58"/>
          <p:cNvSpPr txBox="1"/>
          <p:nvPr/>
        </p:nvSpPr>
        <p:spPr>
          <a:xfrm>
            <a:off x="7805928" y="1876552"/>
            <a:ext cx="1711452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</a:t>
            </a:r>
            <a:endParaRPr lang="ko-KR" sz="2200" dirty="0"/>
          </a:p>
        </p:txBody>
      </p:sp>
      <p:sp>
        <p:nvSpPr>
          <p:cNvPr id="52" name="S03-line59"/>
          <p:cNvSpPr/>
          <p:nvPr/>
        </p:nvSpPr>
        <p:spPr>
          <a:xfrm flipV="1">
            <a:off x="9517380" y="2258060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3" name="S03-line60"/>
          <p:cNvSpPr/>
          <p:nvPr/>
        </p:nvSpPr>
        <p:spPr>
          <a:xfrm>
            <a:off x="9517380" y="2258060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4" name="S03-label61"/>
          <p:cNvSpPr txBox="1"/>
          <p:nvPr/>
        </p:nvSpPr>
        <p:spPr>
          <a:xfrm>
            <a:off x="9517380" y="1876552"/>
            <a:ext cx="1711452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</a:t>
            </a:r>
            <a:endParaRPr lang="ko-KR" sz="2200" dirty="0"/>
          </a:p>
        </p:txBody>
      </p:sp>
      <p:sp>
        <p:nvSpPr>
          <p:cNvPr id="55" name="S03-figure62" descr="0부터 1.8까지 0.1 눈금 수직선. 0에서 1.8까지 0.3씩 6번 뛰어 셈"/>
          <p:cNvSpPr/>
          <p:nvPr/>
        </p:nvSpPr>
        <p:spPr>
          <a:xfrm>
            <a:off x="685800" y="2459228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소수점을 옮겨 세로로 나눠요</a:t>
            </a:r>
            <a:endParaRPr lang="ko-KR" sz="4000" dirty="0"/>
          </a:p>
        </p:txBody>
      </p:sp>
      <p:sp>
        <p:nvSpPr>
          <p:cNvPr id="3" name="S04-text6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3.84 ÷ 0.16을 계산해요.</a:t>
            </a:r>
            <a:endParaRPr lang="ko-KR" sz="2800" dirty="0"/>
          </a:p>
        </p:txBody>
      </p:sp>
      <p:sp>
        <p:nvSpPr>
          <p:cNvPr id="4" name="S04-card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3.84 ÷ 0.16 = 384 ÷ 16 = 24</a:t>
            </a:r>
            <a:endParaRPr lang="ko-KR" sz="2800" dirty="0"/>
          </a:p>
        </p:txBody>
      </p:sp>
      <p:graphicFrame>
        <p:nvGraphicFramePr>
          <p:cNvPr id="5" name="S04-table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76190" y="2028444"/>
          <a:ext cx="4023360" cy="914400"/>
        </p:xfrm>
        <a:graphic>
          <a:graphicData uri="http://schemas.openxmlformats.org/drawingml/2006/table">
            <a:tbl>
              <a:tblPr/>
              <a:tblGrid>
                <a:gridCol w="1609344"/>
                <a:gridCol w="804672"/>
                <a:gridCol w="804672"/>
                <a:gridCol w="804672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몫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16 )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 × 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내리기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 × 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나머지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4-stepno67"/>
          <p:cNvSpPr txBox="1"/>
          <p:nvPr/>
        </p:nvSpPr>
        <p:spPr>
          <a:xfrm>
            <a:off x="548640" y="20883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8" name="S04-text68"/>
          <p:cNvSpPr txBox="1"/>
          <p:nvPr/>
        </p:nvSpPr>
        <p:spPr>
          <a:xfrm>
            <a:off x="1325880" y="2042668"/>
            <a:ext cx="5443789" cy="1301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0.16 → 16, 3.84 → 384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수 모두 오른쪽으로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자리 옮겨요.</a:t>
            </a:r>
            <a:endParaRPr lang="ko-KR" sz="2800" dirty="0"/>
          </a:p>
        </p:txBody>
      </p:sp>
      <p:sp>
        <p:nvSpPr>
          <p:cNvPr id="9" name="S04-stepno69"/>
          <p:cNvSpPr txBox="1"/>
          <p:nvPr/>
        </p:nvSpPr>
        <p:spPr>
          <a:xfrm>
            <a:off x="548640" y="35544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0" name="S04-text70"/>
          <p:cNvSpPr txBox="1"/>
          <p:nvPr/>
        </p:nvSpPr>
        <p:spPr>
          <a:xfrm>
            <a:off x="1325880" y="3508756"/>
            <a:ext cx="5443789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384 ÷ 16을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자연수처럼 나눠요.</a:t>
            </a:r>
            <a:endParaRPr lang="ko-KR" sz="2800" dirty="0"/>
          </a:p>
        </p:txBody>
      </p:sp>
      <p:sp>
        <p:nvSpPr>
          <p:cNvPr id="11" name="S04-stepno71"/>
          <p:cNvSpPr txBox="1"/>
          <p:nvPr/>
        </p:nvSpPr>
        <p:spPr>
          <a:xfrm>
            <a:off x="548640" y="45410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2" name="S04-text72"/>
          <p:cNvSpPr txBox="1"/>
          <p:nvPr/>
        </p:nvSpPr>
        <p:spPr>
          <a:xfrm>
            <a:off x="1325880" y="4541012"/>
            <a:ext cx="5443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몫은 24예요.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소수점을 옮겨 나눠 봐요</a:t>
            </a:r>
            <a:endParaRPr lang="ko-KR" sz="4000" dirty="0"/>
          </a:p>
        </p:txBody>
      </p:sp>
      <p:sp>
        <p:nvSpPr>
          <p:cNvPr id="3" name="S05-text7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수의 소수점을 같은 자리만큼 옮겨요.</a:t>
            </a:r>
            <a:endParaRPr lang="ko-KR" sz="2800" dirty="0"/>
          </a:p>
        </p:txBody>
      </p:sp>
      <p:sp>
        <p:nvSpPr>
          <p:cNvPr id="4" name="S05-card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 한 자리면 한 자리씩, 두 자리면 두 자리씩 옮겨요.</a:t>
            </a:r>
            <a:endParaRPr lang="ko-KR" sz="2800" dirty="0"/>
          </a:p>
        </p:txBody>
      </p:sp>
      <p:sp>
        <p:nvSpPr>
          <p:cNvPr id="6" name="S05-chip7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5-eqtext77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4.8 ÷ 0.6 = □</a:t>
            </a:r>
            <a:endParaRPr lang="ko-KR" sz="3200" dirty="0"/>
          </a:p>
        </p:txBody>
      </p:sp>
      <p:sp>
        <p:nvSpPr>
          <p:cNvPr id="8" name="S05-chip78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5-eqtext79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9.1 ÷ 1.3 = □</a:t>
            </a:r>
            <a:endParaRPr lang="ko-KR" sz="3200" dirty="0"/>
          </a:p>
        </p:txBody>
      </p:sp>
      <p:sp>
        <p:nvSpPr>
          <p:cNvPr id="10" name="S05-chip80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5-eqtext81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1.35 ÷ 0.45 = □</a:t>
            </a:r>
            <a:endParaRPr lang="ko-KR" sz="3200" dirty="0"/>
          </a:p>
        </p:txBody>
      </p:sp>
      <p:sp>
        <p:nvSpPr>
          <p:cNvPr id="12" name="S05-chip82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5-eqtext83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6.75 ÷ 0.25 = □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6-card8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8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7.2 ÷ 0.8을 계산했어요.</a:t>
            </a:r>
            <a:endParaRPr lang="ko-KR" sz="2800" dirty="0"/>
          </a:p>
        </p:txBody>
      </p:sp>
      <p:sp>
        <p:nvSpPr>
          <p:cNvPr id="5" name="S06-card8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8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0.8이 7.2 안에 몇 번 들어갈지 어림해 봐요.</a:t>
            </a:r>
            <a:endParaRPr lang="ko-KR" sz="2800" dirty="0"/>
          </a:p>
        </p:txBody>
      </p:sp>
      <p:sp>
        <p:nvSpPr>
          <p:cNvPr id="7" name="S06-chip8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0.9</a:t>
            </a:r>
            <a:endParaRPr lang="ko-KR" sz="2200" dirty="0"/>
          </a:p>
        </p:txBody>
      </p:sp>
      <p:sp>
        <p:nvSpPr>
          <p:cNvPr id="8" name="S06-text8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0.8만 8로 바꿨어요.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7.2 ÷ 8 = 0.9</a:t>
            </a:r>
            <a:endParaRPr lang="ko-KR" sz="2800" dirty="0"/>
          </a:p>
        </p:txBody>
      </p:sp>
      <p:sp>
        <p:nvSpPr>
          <p:cNvPr id="9" name="S06-chip9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9</a:t>
            </a:r>
            <a:endParaRPr lang="ko-KR" sz="2200" dirty="0"/>
          </a:p>
        </p:txBody>
      </p:sp>
      <p:sp>
        <p:nvSpPr>
          <p:cNvPr id="10" name="S06-text9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수를 함께 바꿨어요.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 ÷ 8 = 9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몫을 반올림해요</a:t>
            </a:r>
            <a:endParaRPr lang="ko-KR" sz="4000" dirty="0"/>
          </a:p>
        </p:txBody>
      </p:sp>
      <p:sp>
        <p:nvSpPr>
          <p:cNvPr id="3" name="S07-text92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2.5 ÷ 0.3의 몫을 반올림하여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 첫째 자리까지 나타내요.</a:t>
            </a:r>
            <a:endParaRPr lang="ko-KR" sz="2800" dirty="0"/>
          </a:p>
        </p:txBody>
      </p:sp>
      <p:graphicFrame>
        <p:nvGraphicFramePr>
          <p:cNvPr id="8" name="S07-table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23862" y="2494788"/>
          <a:ext cx="4206240" cy="914400"/>
        </p:xfrm>
        <a:graphic>
          <a:graphicData uri="http://schemas.openxmlformats.org/drawingml/2006/table">
            <a:tbl>
              <a:tblPr/>
              <a:tblGrid>
                <a:gridCol w="1345997"/>
                <a:gridCol w="715061"/>
                <a:gridCol w="715061"/>
                <a:gridCol w="715061"/>
                <a:gridCol w="715061"/>
              </a:tblGrid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몫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8.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3 )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× 8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내리기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× 3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내리기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× 3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나머지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7-stepno94"/>
          <p:cNvSpPr txBox="1"/>
          <p:nvPr/>
        </p:nvSpPr>
        <p:spPr>
          <a:xfrm>
            <a:off x="548640" y="28768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07-text95"/>
          <p:cNvSpPr txBox="1"/>
          <p:nvPr/>
        </p:nvSpPr>
        <p:spPr>
          <a:xfrm>
            <a:off x="1325880" y="2831084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소수점을 한 자리씩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옮겨 25 ÷ 3</a:t>
            </a:r>
            <a:endParaRPr lang="ko-KR" sz="2800" dirty="0"/>
          </a:p>
        </p:txBody>
      </p:sp>
      <p:sp>
        <p:nvSpPr>
          <p:cNvPr id="7" name="S07-stepno96"/>
          <p:cNvSpPr txBox="1"/>
          <p:nvPr/>
        </p:nvSpPr>
        <p:spPr>
          <a:xfrm>
            <a:off x="548640" y="39090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07-text97"/>
          <p:cNvSpPr txBox="1"/>
          <p:nvPr/>
        </p:nvSpPr>
        <p:spPr>
          <a:xfrm>
            <a:off x="1325880" y="3863340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 둘째 자리까지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구해요: 8.33</a:t>
            </a:r>
            <a:endParaRPr lang="ko-KR" sz="2800" dirty="0"/>
          </a:p>
        </p:txBody>
      </p:sp>
      <p:sp>
        <p:nvSpPr>
          <p:cNvPr id="9" name="S07-stepno98"/>
          <p:cNvSpPr txBox="1"/>
          <p:nvPr/>
        </p:nvSpPr>
        <p:spPr>
          <a:xfrm>
            <a:off x="548640" y="49413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07-text99"/>
          <p:cNvSpPr txBox="1"/>
          <p:nvPr/>
        </p:nvSpPr>
        <p:spPr>
          <a:xfrm>
            <a:off x="1325880" y="4895596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둘째 자리 3은 버려요.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8.3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나누어 주고 남는 양</a:t>
            </a:r>
            <a:endParaRPr lang="ko-KR" sz="4000" dirty="0"/>
          </a:p>
        </p:txBody>
      </p:sp>
      <p:sp>
        <p:nvSpPr>
          <p:cNvPr id="3" name="S08-text10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주스 7.5 L를 한 사람에게 2 L씩 나누어 줘요.</a:t>
            </a:r>
            <a:endParaRPr lang="ko-KR" sz="2800" dirty="0"/>
          </a:p>
        </p:txBody>
      </p:sp>
      <p:sp>
        <p:nvSpPr>
          <p:cNvPr id="4" name="S08-card10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10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확인: 2 × 3 + 1.5 = 7.5</a:t>
            </a:r>
            <a:endParaRPr lang="ko-KR" sz="2800" dirty="0"/>
          </a:p>
        </p:txBody>
      </p:sp>
      <p:sp>
        <p:nvSpPr>
          <p:cNvPr id="6" name="S08-card103"/>
          <p:cNvSpPr/>
          <p:nvPr/>
        </p:nvSpPr>
        <p:spPr>
          <a:xfrm>
            <a:off x="548640" y="359968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8-cardtext104"/>
          <p:cNvSpPr txBox="1"/>
          <p:nvPr/>
        </p:nvSpPr>
        <p:spPr>
          <a:xfrm>
            <a:off x="822960" y="373684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명에게?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3 = 6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3명에게 줘요.</a:t>
            </a:r>
            <a:endParaRPr lang="ko-KR" sz="2800" dirty="0"/>
          </a:p>
        </p:txBody>
      </p:sp>
      <p:sp>
        <p:nvSpPr>
          <p:cNvPr id="8" name="S08-card105"/>
          <p:cNvSpPr/>
          <p:nvPr/>
        </p:nvSpPr>
        <p:spPr>
          <a:xfrm>
            <a:off x="6208776" y="359968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8-cardtext106"/>
          <p:cNvSpPr txBox="1"/>
          <p:nvPr/>
        </p:nvSpPr>
        <p:spPr>
          <a:xfrm>
            <a:off x="6483096" y="373684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남는 양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7.5 − 6 = 1.5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1.5 L가 남아요.</a:t>
            </a:r>
            <a:endParaRPr lang="ko-KR" sz="2800" dirty="0"/>
          </a:p>
        </p:txBody>
      </p:sp>
      <p:sp>
        <p:nvSpPr>
          <p:cNvPr id="10" name="S08-label107"/>
          <p:cNvSpPr txBox="1"/>
          <p:nvPr/>
        </p:nvSpPr>
        <p:spPr>
          <a:xfrm>
            <a:off x="548640" y="2279904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7.5 L</a:t>
            </a:r>
            <a:endParaRPr lang="ko-KR" sz="2200" dirty="0"/>
          </a:p>
        </p:txBody>
      </p:sp>
      <p:sp>
        <p:nvSpPr>
          <p:cNvPr id="11" name="S08-cell108"/>
          <p:cNvSpPr/>
          <p:nvPr/>
        </p:nvSpPr>
        <p:spPr>
          <a:xfrm>
            <a:off x="1600200" y="2279904"/>
            <a:ext cx="267736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8-cell109"/>
          <p:cNvSpPr/>
          <p:nvPr/>
        </p:nvSpPr>
        <p:spPr>
          <a:xfrm>
            <a:off x="4277563" y="2279904"/>
            <a:ext cx="267736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8-cell110"/>
          <p:cNvSpPr/>
          <p:nvPr/>
        </p:nvSpPr>
        <p:spPr>
          <a:xfrm>
            <a:off x="6954926" y="2279904"/>
            <a:ext cx="267736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8-cell111"/>
          <p:cNvSpPr/>
          <p:nvPr/>
        </p:nvSpPr>
        <p:spPr>
          <a:xfrm>
            <a:off x="9632290" y="2279904"/>
            <a:ext cx="2008022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8-figure112" descr="크기가 다른 4칸으로 나눈 띠, 3칸 색칠"/>
          <p:cNvSpPr/>
          <p:nvPr/>
        </p:nvSpPr>
        <p:spPr>
          <a:xfrm>
            <a:off x="1600200" y="2279904"/>
            <a:ext cx="10040112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반올림하고, 남는 양 구하기</a:t>
            </a:r>
            <a:endParaRPr lang="ko-KR" sz="4000" dirty="0"/>
          </a:p>
        </p:txBody>
      </p:sp>
      <p:sp>
        <p:nvSpPr>
          <p:cNvPr id="3" name="S09-card11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9-cardtext11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반올림할 때는 구하려는 자리보다 한 자리 아래까지 구해요.</a:t>
            </a:r>
            <a:endParaRPr lang="ko-KR" sz="2800" dirty="0"/>
          </a:p>
        </p:txBody>
      </p:sp>
      <p:sp>
        <p:nvSpPr>
          <p:cNvPr id="5" name="S09-chip115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9-text116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1.7 ÷ 0.3의 몫을 반올림하여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 첫째 자리까지</a:t>
            </a:r>
            <a:endParaRPr lang="ko-KR" sz="2800" dirty="0"/>
          </a:p>
        </p:txBody>
      </p:sp>
      <p:sp>
        <p:nvSpPr>
          <p:cNvPr id="7" name="S09-chip117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9-text118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4.7 ÷ 0.6의 몫을 반올림하여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자연수까지</a:t>
            </a:r>
            <a:endParaRPr lang="ko-KR" sz="2800" dirty="0"/>
          </a:p>
        </p:txBody>
      </p:sp>
      <p:sp>
        <p:nvSpPr>
          <p:cNvPr id="9" name="S09-chip119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9-text120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쌀 9.4 kg을 2 kg씩 담으면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봉지가 되고, 몇 kg이 남나요?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남는 양은 얼마일까요?</a:t>
            </a:r>
            <a:endParaRPr lang="ko-KR" sz="4000" dirty="0"/>
          </a:p>
        </p:txBody>
      </p:sp>
      <p:sp>
        <p:nvSpPr>
          <p:cNvPr id="3" name="S10-card12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12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6.3 L를 0.5 L 병에 가득 담았어요.</a:t>
            </a:r>
            <a:endParaRPr lang="ko-KR" sz="2800" dirty="0"/>
          </a:p>
        </p:txBody>
      </p:sp>
      <p:sp>
        <p:nvSpPr>
          <p:cNvPr id="5" name="S10-card1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1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남는 물이 병 하나(0.5 L)보다 많을 수 있을까요?</a:t>
            </a:r>
            <a:endParaRPr lang="ko-KR" sz="2800" dirty="0"/>
          </a:p>
        </p:txBody>
      </p:sp>
      <p:sp>
        <p:nvSpPr>
          <p:cNvPr id="7" name="S10-chip12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12병, 3 L</a:t>
            </a:r>
            <a:endParaRPr lang="ko-KR" sz="2200" dirty="0"/>
          </a:p>
        </p:txBody>
      </p:sp>
      <p:sp>
        <p:nvSpPr>
          <p:cNvPr id="8" name="S10-text12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 ÷ 5 = 12 … 3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남는 양은 3 L예요.</a:t>
            </a:r>
            <a:endParaRPr lang="ko-KR" sz="2800" dirty="0"/>
          </a:p>
        </p:txBody>
      </p:sp>
      <p:sp>
        <p:nvSpPr>
          <p:cNvPr id="9" name="S10-chip12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12병, 0.3 L</a:t>
            </a:r>
            <a:endParaRPr lang="ko-KR" sz="2200" dirty="0"/>
          </a:p>
        </p:txBody>
      </p:sp>
      <p:sp>
        <p:nvSpPr>
          <p:cNvPr id="10" name="S10-text12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 × 12 = 6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6.3 − 6 = 0.3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hip12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1-eqtext130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5.6 ÷ 0.7 = □</a:t>
            </a:r>
            <a:endParaRPr lang="ko-KR" sz="3200" dirty="0"/>
          </a:p>
        </p:txBody>
      </p:sp>
      <p:sp>
        <p:nvSpPr>
          <p:cNvPr id="5" name="S11-chip131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1-eqtext132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8.64 ÷ 0.24 = □</a:t>
            </a:r>
            <a:endParaRPr lang="ko-KR" sz="3200" dirty="0"/>
          </a:p>
        </p:txBody>
      </p:sp>
      <p:sp>
        <p:nvSpPr>
          <p:cNvPr id="7" name="S11-chip133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1-text134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÷ 0.7의 몫을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반올림하여 소수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첫째 자리까지</a:t>
            </a:r>
            <a:endParaRPr lang="ko-KR" sz="2800" dirty="0"/>
          </a:p>
        </p:txBody>
      </p:sp>
      <p:sp>
        <p:nvSpPr>
          <p:cNvPr id="9" name="S11-chip135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1-text136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끈 8.5 m를 1.2 m씩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자르면 몇 도막이 되고,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m가 남나요?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속 문제</a:t>
            </a:r>
            <a:endParaRPr lang="ko-KR" sz="4000" dirty="0"/>
          </a:p>
        </p:txBody>
      </p:sp>
      <p:sp>
        <p:nvSpPr>
          <p:cNvPr id="3" name="S13-chip13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3-text138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고구마 7.4 kg을 0.6 kg씩 봉지에 담으면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봉지가 되고, 몇 kg이 남나요?</a:t>
            </a:r>
            <a:endParaRPr lang="ko-KR" sz="2800" dirty="0"/>
          </a:p>
        </p:txBody>
      </p:sp>
      <p:sp>
        <p:nvSpPr>
          <p:cNvPr id="5" name="S13-chip139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3-text140"/>
          <p:cNvSpPr txBox="1"/>
          <p:nvPr/>
        </p:nvSpPr>
        <p:spPr>
          <a:xfrm>
            <a:off x="1344168" y="38633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키가 1.5 m인 사람의 그림자가 2.2 m예요.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그림자는 키의 약 몇 배인지 반올림하여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 첫째 자리까지 나타내요.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141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42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수의 소수점을 같은 자리만큼 옮겨 자연수의 나눗셈으로 계산해요.</a:t>
            </a:r>
            <a:endParaRPr lang="ko-KR" sz="2800" dirty="0"/>
          </a:p>
        </p:txBody>
      </p:sp>
      <p:sp>
        <p:nvSpPr>
          <p:cNvPr id="5" name="S14-chip143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한 자리 아래까지 구해 반올림</a:t>
            </a:r>
            <a:endParaRPr lang="ko-KR" sz="2200" dirty="0"/>
          </a:p>
        </p:txBody>
      </p:sp>
      <p:sp>
        <p:nvSpPr>
          <p:cNvPr id="6" name="S14-chip144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나누는 수만 소수점 옮기기</a:t>
            </a:r>
            <a:endParaRPr lang="ko-KR" sz="2200" dirty="0"/>
          </a:p>
        </p:txBody>
      </p:sp>
      <p:sp>
        <p:nvSpPr>
          <p:cNvPr id="7" name="S14-text145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eqtext146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6.4 ÷ 0.8</a:t>
            </a:r>
            <a:endParaRPr lang="ko-KR" sz="2600" dirty="0"/>
          </a:p>
        </p:txBody>
      </p:sp>
      <p:sp>
        <p:nvSpPr>
          <p:cNvPr id="9" name="S14-eqtext147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1.56 ÷ 0.12</a:t>
            </a:r>
            <a:endParaRPr lang="ko-KR" sz="2600" dirty="0"/>
          </a:p>
        </p:txBody>
      </p:sp>
      <p:sp>
        <p:nvSpPr>
          <p:cNvPr id="10" name="S14-text148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2.9 ÷ 0.6의 몫을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반올림하여 소수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첫째 자리까지</a:t>
            </a:r>
            <a:endParaRPr lang="ko-KR" sz="2200" dirty="0"/>
          </a:p>
        </p:txBody>
      </p:sp>
      <p:sp>
        <p:nvSpPr>
          <p:cNvPr id="11" name="S14-text14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비와 비율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소수 ÷ 자연수</a:t>
            </a:r>
            <a:endParaRPr lang="ko-KR" sz="4000" dirty="0"/>
          </a:p>
        </p:txBody>
      </p:sp>
      <p:sp>
        <p:nvSpPr>
          <p:cNvPr id="3" name="S15-text15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8.4 ÷ 4를 세로로 계산해요.</a:t>
            </a:r>
            <a:endParaRPr lang="ko-KR" sz="2800" dirty="0"/>
          </a:p>
        </p:txBody>
      </p:sp>
      <p:sp>
        <p:nvSpPr>
          <p:cNvPr id="4" name="S15-card151"/>
          <p:cNvSpPr/>
          <p:nvPr/>
        </p:nvSpPr>
        <p:spPr>
          <a:xfrm>
            <a:off x="548640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5-cardtext152"/>
          <p:cNvSpPr txBox="1"/>
          <p:nvPr/>
        </p:nvSpPr>
        <p:spPr>
          <a:xfrm>
            <a:off x="822960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몇 개?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8.4는 0.1이 84개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84 ÷ 4 = 21</a:t>
            </a:r>
            <a:endParaRPr lang="ko-KR" sz="2800" dirty="0"/>
          </a:p>
        </p:txBody>
      </p:sp>
      <p:sp>
        <p:nvSpPr>
          <p:cNvPr id="6" name="S15-card153"/>
          <p:cNvSpPr/>
          <p:nvPr/>
        </p:nvSpPr>
        <p:spPr>
          <a:xfrm>
            <a:off x="6208776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5-cardtext154"/>
          <p:cNvSpPr txBox="1"/>
          <p:nvPr/>
        </p:nvSpPr>
        <p:spPr>
          <a:xfrm>
            <a:off x="6483096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몫의 소수점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21개 → 2.1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소수점을 그대로 올려 찍어요.</a:t>
            </a:r>
            <a:endParaRPr lang="ko-KR" sz="2800" dirty="0"/>
          </a:p>
        </p:txBody>
      </p:sp>
      <p:graphicFrame>
        <p:nvGraphicFramePr>
          <p:cNvPr id="15" name="S15-table1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48556" y="2074164"/>
          <a:ext cx="3291840" cy="914400"/>
        </p:xfrm>
        <a:graphic>
          <a:graphicData uri="http://schemas.openxmlformats.org/drawingml/2006/table">
            <a:tbl>
              <a:tblPr/>
              <a:tblGrid>
                <a:gridCol w="1316736"/>
                <a:gridCol w="987552"/>
                <a:gridCol w="987552"/>
              </a:tblGrid>
              <a:tr h="3886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몫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4 )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8.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 × 2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내리기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 × 1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나머지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수학 소수의 나눗셈 2</dc:title>
  <dc:subject>KR22-G06-MAT-DECDIV2-L01</dc:subject>
  <dc:creator>education-ppt</dc:creator>
  <cp:lastModifiedBy>education-ppt</cp:lastModifiedBy>
  <cp:revision>1</cp:revision>
  <dcterms:created xsi:type="dcterms:W3CDTF">2026-10-26T09:05:37Z</dcterms:created>
  <dcterms:modified xsi:type="dcterms:W3CDTF">2026-10-26T09:05:37Z</dcterms:modified>
</cp:coreProperties>
</file>