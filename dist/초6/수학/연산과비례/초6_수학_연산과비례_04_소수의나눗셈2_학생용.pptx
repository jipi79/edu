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c851415-17c8-ef56-2025-d7575ca36d42}">
          <p14:sldIdLst>
            <p14:sldId id="256"/>
            <p14:sldId id="257"/>
          </p14:sldIdLst>
        </p14:section>
        <p14:section name="개념" id="{a9965b77-c17c-2118-fe16-5fab5460b63a}">
          <p14:sldIdLst>
            <p14:sldId id="258"/>
            <p14:sldId id="259"/>
            <p14:sldId id="262"/>
            <p14:sldId id="263"/>
          </p14:sldIdLst>
        </p14:section>
        <p14:section name="연습" id="{3e8a231b-ce74-b29e-3f74-707c7b879994}">
          <p14:sldIdLst>
            <p14:sldId id="260"/>
            <p14:sldId id="261"/>
            <p14:sldId id="264"/>
            <p14:sldId id="265"/>
          </p14:sldIdLst>
        </p14:section>
        <p14:section name="개념" id="{eda8f28e-6bd2-0a9b-d31d-47fb106b2ccd}">
          <p14:sldIdLst/>
        </p14:section>
        <p14:section name="연습" id="{44742c54-cc50-8a06-45b4-840eb408854b}">
          <p14:sldIdLst/>
        </p14:section>
        <p14:section name="확인" id="{18d39a2e-5d4f-cdc6-2975-f782f5428750}">
          <p14:sldIdLst>
            <p14:sldId id="266"/>
            <p14:sldId id="267"/>
          </p14:sldIdLst>
        </p14:section>
        <p14:section name="정리" id="{abcf01c6-459e-dd44-7601-ef8835770608}">
          <p14:sldIdLst>
            <p14:sldId id="268"/>
          </p14:sldIdLst>
        </p14:section>
        <p14:section name="보충" id="{16e38cc1-6dc5-ce47-4c19-5cf4f717ead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소수의 나눗셈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소수의 나눗셈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소수의 나눗셈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나눗셈 2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 m 끈을 0.3 m씩 자르면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도막이 될까?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 ÷ 0.3 = ?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소수점을 옮겨 (소수)÷(소수)를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몫을 반올림하고, 남는 양을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÷ 4 = □</a:t>
            </a:r>
            <a:endParaRPr lang="ko-KR" sz="32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4.2 ÷ 6 = □</a:t>
            </a:r>
            <a:endParaRPr lang="ko-KR" sz="32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3.47을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자리까지 나타내요.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개인지 세어요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1.8에서 0.3을 몇 번 덜어 낼 수 있을까요?</a:t>
            </a:r>
            <a:endParaRPr lang="ko-KR" sz="28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수에 똑같이 10을 곱해도 몫은 같아요.</a:t>
            </a:r>
            <a:endParaRPr lang="ko-KR" sz="2800" dirty="0"/>
          </a:p>
        </p:txBody>
      </p:sp>
      <p:sp>
        <p:nvSpPr>
          <p:cNvPr id="6" name="S03-card13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1.8은 0.1이 18개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0.3은 0.1이 3개</a:t>
            </a:r>
            <a:endParaRPr lang="ko-KR" sz="2800" dirty="0"/>
          </a:p>
        </p:txBody>
      </p:sp>
      <p:sp>
        <p:nvSpPr>
          <p:cNvPr id="8" name="S03-card15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나눗셈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÷ 3 =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 ÷ 0.3 = 6</a:t>
            </a:r>
            <a:endParaRPr lang="ko-KR" sz="2800" dirty="0"/>
          </a:p>
        </p:txBody>
      </p:sp>
      <p:sp>
        <p:nvSpPr>
          <p:cNvPr id="10" name="S03-line17"/>
          <p:cNvSpPr/>
          <p:nvPr/>
        </p:nvSpPr>
        <p:spPr>
          <a:xfrm>
            <a:off x="685800" y="2642108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3-line18"/>
          <p:cNvSpPr/>
          <p:nvPr/>
        </p:nvSpPr>
        <p:spPr>
          <a:xfrm>
            <a:off x="960120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19"/>
          <p:cNvSpPr txBox="1"/>
          <p:nvPr/>
        </p:nvSpPr>
        <p:spPr>
          <a:xfrm>
            <a:off x="502920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3" name="S03-line20"/>
          <p:cNvSpPr/>
          <p:nvPr/>
        </p:nvSpPr>
        <p:spPr>
          <a:xfrm>
            <a:off x="1530604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2101088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2671572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23"/>
          <p:cNvSpPr txBox="1"/>
          <p:nvPr/>
        </p:nvSpPr>
        <p:spPr>
          <a:xfrm>
            <a:off x="2214372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17" name="S03-line24"/>
          <p:cNvSpPr/>
          <p:nvPr/>
        </p:nvSpPr>
        <p:spPr>
          <a:xfrm>
            <a:off x="3242056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3812540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4383024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27"/>
          <p:cNvSpPr txBox="1"/>
          <p:nvPr/>
        </p:nvSpPr>
        <p:spPr>
          <a:xfrm>
            <a:off x="3925824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</a:t>
            </a:r>
            <a:endParaRPr lang="ko-KR" sz="2200" dirty="0"/>
          </a:p>
        </p:txBody>
      </p:sp>
      <p:sp>
        <p:nvSpPr>
          <p:cNvPr id="21" name="S03-line28"/>
          <p:cNvSpPr/>
          <p:nvPr/>
        </p:nvSpPr>
        <p:spPr>
          <a:xfrm>
            <a:off x="4953508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5523992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6094476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1"/>
          <p:cNvSpPr txBox="1"/>
          <p:nvPr/>
        </p:nvSpPr>
        <p:spPr>
          <a:xfrm>
            <a:off x="5637276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</a:t>
            </a:r>
            <a:endParaRPr lang="ko-KR" sz="2200" dirty="0"/>
          </a:p>
        </p:txBody>
      </p:sp>
      <p:sp>
        <p:nvSpPr>
          <p:cNvPr id="25" name="S03-line32"/>
          <p:cNvSpPr/>
          <p:nvPr/>
        </p:nvSpPr>
        <p:spPr>
          <a:xfrm>
            <a:off x="6664960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7235444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7805928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35"/>
          <p:cNvSpPr txBox="1"/>
          <p:nvPr/>
        </p:nvSpPr>
        <p:spPr>
          <a:xfrm>
            <a:off x="7348728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2200" dirty="0"/>
          </a:p>
        </p:txBody>
      </p:sp>
      <p:sp>
        <p:nvSpPr>
          <p:cNvPr id="29" name="S03-line36"/>
          <p:cNvSpPr/>
          <p:nvPr/>
        </p:nvSpPr>
        <p:spPr>
          <a:xfrm>
            <a:off x="8376412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8946896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9517380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39"/>
          <p:cNvSpPr txBox="1"/>
          <p:nvPr/>
        </p:nvSpPr>
        <p:spPr>
          <a:xfrm>
            <a:off x="9060180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</a:t>
            </a:r>
            <a:endParaRPr lang="ko-KR" sz="2200" dirty="0"/>
          </a:p>
        </p:txBody>
      </p:sp>
      <p:sp>
        <p:nvSpPr>
          <p:cNvPr id="33" name="S03-line40"/>
          <p:cNvSpPr/>
          <p:nvPr/>
        </p:nvSpPr>
        <p:spPr>
          <a:xfrm>
            <a:off x="10087864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10658348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11228832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3-label43"/>
          <p:cNvSpPr txBox="1"/>
          <p:nvPr/>
        </p:nvSpPr>
        <p:spPr>
          <a:xfrm>
            <a:off x="10771632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</a:t>
            </a:r>
            <a:endParaRPr lang="ko-KR" sz="2200" dirty="0"/>
          </a:p>
        </p:txBody>
      </p:sp>
      <p:sp>
        <p:nvSpPr>
          <p:cNvPr id="37" name="S03-line44"/>
          <p:cNvSpPr/>
          <p:nvPr/>
        </p:nvSpPr>
        <p:spPr>
          <a:xfrm flipV="1">
            <a:off x="960120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960120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3-label46"/>
          <p:cNvSpPr txBox="1"/>
          <p:nvPr/>
        </p:nvSpPr>
        <p:spPr>
          <a:xfrm>
            <a:off x="960120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0" name="S03-line47"/>
          <p:cNvSpPr/>
          <p:nvPr/>
        </p:nvSpPr>
        <p:spPr>
          <a:xfrm flipV="1">
            <a:off x="2671572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2671572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3-label49"/>
          <p:cNvSpPr txBox="1"/>
          <p:nvPr/>
        </p:nvSpPr>
        <p:spPr>
          <a:xfrm>
            <a:off x="2671572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3" name="S03-line50"/>
          <p:cNvSpPr/>
          <p:nvPr/>
        </p:nvSpPr>
        <p:spPr>
          <a:xfrm flipV="1">
            <a:off x="4383024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4383024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3-label52"/>
          <p:cNvSpPr txBox="1"/>
          <p:nvPr/>
        </p:nvSpPr>
        <p:spPr>
          <a:xfrm>
            <a:off x="4383024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6" name="S03-line53"/>
          <p:cNvSpPr/>
          <p:nvPr/>
        </p:nvSpPr>
        <p:spPr>
          <a:xfrm flipV="1">
            <a:off x="6094476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6094476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3-label55"/>
          <p:cNvSpPr txBox="1"/>
          <p:nvPr/>
        </p:nvSpPr>
        <p:spPr>
          <a:xfrm>
            <a:off x="6094476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9" name="S03-line56"/>
          <p:cNvSpPr/>
          <p:nvPr/>
        </p:nvSpPr>
        <p:spPr>
          <a:xfrm flipV="1">
            <a:off x="7805928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3-line57"/>
          <p:cNvSpPr/>
          <p:nvPr/>
        </p:nvSpPr>
        <p:spPr>
          <a:xfrm>
            <a:off x="7805928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3-label58"/>
          <p:cNvSpPr txBox="1"/>
          <p:nvPr/>
        </p:nvSpPr>
        <p:spPr>
          <a:xfrm>
            <a:off x="7805928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52" name="S03-line59"/>
          <p:cNvSpPr/>
          <p:nvPr/>
        </p:nvSpPr>
        <p:spPr>
          <a:xfrm flipV="1">
            <a:off x="9517380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9517380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3-label61"/>
          <p:cNvSpPr txBox="1"/>
          <p:nvPr/>
        </p:nvSpPr>
        <p:spPr>
          <a:xfrm>
            <a:off x="9517380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55" name="S03-figure62" descr="0부터 1.8까지 0.1 눈금 수직선. 0에서 1.8까지 0.3씩 6번 뛰어 셈"/>
          <p:cNvSpPr/>
          <p:nvPr/>
        </p:nvSpPr>
        <p:spPr>
          <a:xfrm>
            <a:off x="685800" y="2459228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옮겨 세로로 나눠요</a:t>
            </a:r>
            <a:endParaRPr lang="ko-KR" sz="4000" dirty="0"/>
          </a:p>
        </p:txBody>
      </p:sp>
      <p:sp>
        <p:nvSpPr>
          <p:cNvPr id="3" name="S04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3.84 ÷ 0.16을 계산해요.</a:t>
            </a:r>
            <a:endParaRPr lang="ko-KR" sz="2800" dirty="0"/>
          </a:p>
        </p:txBody>
      </p:sp>
      <p:sp>
        <p:nvSpPr>
          <p:cNvPr id="4" name="S04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3.84 ÷ 0.16 = 384 ÷ 16 = 24</a:t>
            </a:r>
            <a:endParaRPr lang="ko-KR" sz="2800" dirty="0"/>
          </a:p>
        </p:txBody>
      </p:sp>
      <p:graphicFrame>
        <p:nvGraphicFramePr>
          <p:cNvPr id="5" name="S04-table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76190" y="2030730"/>
          <a:ext cx="4023360" cy="914400"/>
        </p:xfrm>
        <a:graphic>
          <a:graphicData uri="http://schemas.openxmlformats.org/drawingml/2006/table">
            <a:tbl>
              <a:tblPr/>
              <a:tblGrid>
                <a:gridCol w="1609344"/>
                <a:gridCol w="804672"/>
                <a:gridCol w="804672"/>
                <a:gridCol w="804672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67"/>
          <p:cNvSpPr txBox="1"/>
          <p:nvPr/>
        </p:nvSpPr>
        <p:spPr>
          <a:xfrm>
            <a:off x="548640" y="20883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4-text68"/>
          <p:cNvSpPr txBox="1"/>
          <p:nvPr/>
        </p:nvSpPr>
        <p:spPr>
          <a:xfrm>
            <a:off x="1325880" y="2042668"/>
            <a:ext cx="5443789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0.16 → 16, 3.84 → 384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 모두 오른쪽으로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옮겨요.</a:t>
            </a:r>
            <a:endParaRPr lang="ko-KR" sz="2800" dirty="0"/>
          </a:p>
        </p:txBody>
      </p:sp>
      <p:sp>
        <p:nvSpPr>
          <p:cNvPr id="9" name="S04-stepno69"/>
          <p:cNvSpPr txBox="1"/>
          <p:nvPr/>
        </p:nvSpPr>
        <p:spPr>
          <a:xfrm>
            <a:off x="548640" y="3554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4-text70"/>
          <p:cNvSpPr txBox="1"/>
          <p:nvPr/>
        </p:nvSpPr>
        <p:spPr>
          <a:xfrm>
            <a:off x="1325880" y="3508756"/>
            <a:ext cx="5443789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 ÷ 16을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나눠요.</a:t>
            </a:r>
            <a:endParaRPr lang="ko-KR" sz="2800" dirty="0"/>
          </a:p>
        </p:txBody>
      </p:sp>
      <p:sp>
        <p:nvSpPr>
          <p:cNvPr id="11" name="S04-stepno71"/>
          <p:cNvSpPr txBox="1"/>
          <p:nvPr/>
        </p:nvSpPr>
        <p:spPr>
          <a:xfrm>
            <a:off x="548640" y="45410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4-text72"/>
          <p:cNvSpPr txBox="1"/>
          <p:nvPr/>
        </p:nvSpPr>
        <p:spPr>
          <a:xfrm>
            <a:off x="1325880" y="4541012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24예요.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옮겨 나눠 봐요</a:t>
            </a:r>
            <a:endParaRPr lang="ko-KR" sz="4000" dirty="0"/>
          </a:p>
        </p:txBody>
      </p:sp>
      <p:sp>
        <p:nvSpPr>
          <p:cNvPr id="3" name="S05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소수점을 같은 자리만큼 옮겨요.</a:t>
            </a:r>
            <a:endParaRPr lang="ko-KR" sz="2800" dirty="0"/>
          </a:p>
        </p:txBody>
      </p:sp>
      <p:sp>
        <p:nvSpPr>
          <p:cNvPr id="4" name="S05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한 자리면 한 자리씩, 두 자리면 두 자리씩 옮겨요.</a:t>
            </a:r>
            <a:endParaRPr lang="ko-KR" sz="2800" dirty="0"/>
          </a:p>
        </p:txBody>
      </p:sp>
      <p:sp>
        <p:nvSpPr>
          <p:cNvPr id="6" name="S05-chip7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eqtext7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 ÷ 0.6 = □</a:t>
            </a:r>
            <a:endParaRPr lang="ko-KR" sz="3200" dirty="0"/>
          </a:p>
        </p:txBody>
      </p:sp>
      <p:sp>
        <p:nvSpPr>
          <p:cNvPr id="8" name="S05-chip7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eqtext7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 ÷ 1.3 = □</a:t>
            </a:r>
            <a:endParaRPr lang="ko-KR" sz="3200" dirty="0"/>
          </a:p>
        </p:txBody>
      </p:sp>
      <p:sp>
        <p:nvSpPr>
          <p:cNvPr id="10" name="S05-chip8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eqtext8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1.35 ÷ 0.45 = □</a:t>
            </a:r>
            <a:endParaRPr lang="ko-KR" sz="3200" dirty="0"/>
          </a:p>
        </p:txBody>
      </p:sp>
      <p:sp>
        <p:nvSpPr>
          <p:cNvPr id="12" name="S05-chip8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eqtext8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6.75 ÷ 0.25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6-card8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8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÷ 0.8을 계산했어요.</a:t>
            </a:r>
            <a:endParaRPr lang="ko-KR" sz="2800" dirty="0"/>
          </a:p>
        </p:txBody>
      </p:sp>
      <p:sp>
        <p:nvSpPr>
          <p:cNvPr id="5" name="S06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0.8이 7.2 안에 몇 번 들어갈지 어림해 봐요.</a:t>
            </a:r>
            <a:endParaRPr lang="ko-KR" sz="2800" dirty="0"/>
          </a:p>
        </p:txBody>
      </p:sp>
      <p:sp>
        <p:nvSpPr>
          <p:cNvPr id="7" name="S06-chip8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0.9</a:t>
            </a:r>
            <a:endParaRPr lang="ko-KR" sz="2200" dirty="0"/>
          </a:p>
        </p:txBody>
      </p:sp>
      <p:sp>
        <p:nvSpPr>
          <p:cNvPr id="8" name="S06-text8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0.8만 8로 바꿨어요.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÷ 8 = 0.9</a:t>
            </a:r>
            <a:endParaRPr lang="ko-KR" sz="2800" dirty="0"/>
          </a:p>
        </p:txBody>
      </p:sp>
      <p:sp>
        <p:nvSpPr>
          <p:cNvPr id="9" name="S06-chip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9</a:t>
            </a:r>
            <a:endParaRPr lang="ko-KR" sz="2200" dirty="0"/>
          </a:p>
        </p:txBody>
      </p:sp>
      <p:sp>
        <p:nvSpPr>
          <p:cNvPr id="10" name="S06-text9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함께 바꿨어요.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 ÷ 8 = 9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반올림해요</a:t>
            </a:r>
            <a:endParaRPr lang="ko-KR" sz="4000" dirty="0"/>
          </a:p>
        </p:txBody>
      </p:sp>
      <p:sp>
        <p:nvSpPr>
          <p:cNvPr id="3" name="S07-text92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÷ 0.3의 몫을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자리까지 나타내요.</a:t>
            </a:r>
            <a:endParaRPr lang="ko-KR" sz="2800" dirty="0"/>
          </a:p>
        </p:txBody>
      </p:sp>
      <p:graphicFrame>
        <p:nvGraphicFramePr>
          <p:cNvPr id="8" name="S07-table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23862" y="2564892"/>
          <a:ext cx="4206240" cy="914400"/>
        </p:xfrm>
        <a:graphic>
          <a:graphicData uri="http://schemas.openxmlformats.org/drawingml/2006/table">
            <a:tbl>
              <a:tblPr/>
              <a:tblGrid>
                <a:gridCol w="1345997"/>
                <a:gridCol w="715061"/>
                <a:gridCol w="715061"/>
                <a:gridCol w="715061"/>
                <a:gridCol w="715061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3 )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8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3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3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7-stepno94"/>
          <p:cNvSpPr txBox="1"/>
          <p:nvPr/>
        </p:nvSpPr>
        <p:spPr>
          <a:xfrm>
            <a:off x="548640" y="28768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7-text95"/>
          <p:cNvSpPr txBox="1"/>
          <p:nvPr/>
        </p:nvSpPr>
        <p:spPr>
          <a:xfrm>
            <a:off x="1325880" y="28310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한 자리씩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25 ÷ 3</a:t>
            </a:r>
            <a:endParaRPr lang="ko-KR" sz="2800" dirty="0"/>
          </a:p>
        </p:txBody>
      </p:sp>
      <p:sp>
        <p:nvSpPr>
          <p:cNvPr id="7" name="S07-stepno96"/>
          <p:cNvSpPr txBox="1"/>
          <p:nvPr/>
        </p:nvSpPr>
        <p:spPr>
          <a:xfrm>
            <a:off x="548640" y="3909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7-text97"/>
          <p:cNvSpPr txBox="1"/>
          <p:nvPr/>
        </p:nvSpPr>
        <p:spPr>
          <a:xfrm>
            <a:off x="1325880" y="38633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둘째 자리까지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구해요: 8.33</a:t>
            </a:r>
            <a:endParaRPr lang="ko-KR" sz="2800" dirty="0"/>
          </a:p>
        </p:txBody>
      </p:sp>
      <p:sp>
        <p:nvSpPr>
          <p:cNvPr id="9" name="S07-stepno98"/>
          <p:cNvSpPr txBox="1"/>
          <p:nvPr/>
        </p:nvSpPr>
        <p:spPr>
          <a:xfrm>
            <a:off x="548640" y="4941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7-text99"/>
          <p:cNvSpPr txBox="1"/>
          <p:nvPr/>
        </p:nvSpPr>
        <p:spPr>
          <a:xfrm>
            <a:off x="1325880" y="48955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자리 3은 버려요.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8.3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주고 남는 양</a:t>
            </a:r>
            <a:endParaRPr lang="ko-KR" sz="4000" dirty="0"/>
          </a:p>
        </p:txBody>
      </p:sp>
      <p:sp>
        <p:nvSpPr>
          <p:cNvPr id="3" name="S08-text10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주스 7.5 L를 한 사람에게 2 L씩 나누어 줘요.</a:t>
            </a:r>
            <a:endParaRPr lang="ko-KR" sz="2800" dirty="0"/>
          </a:p>
        </p:txBody>
      </p:sp>
      <p:sp>
        <p:nvSpPr>
          <p:cNvPr id="4" name="S08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2 × 3 + 1.5 = 7.5</a:t>
            </a:r>
            <a:endParaRPr lang="ko-KR" sz="2800" dirty="0"/>
          </a:p>
        </p:txBody>
      </p:sp>
      <p:sp>
        <p:nvSpPr>
          <p:cNvPr id="6" name="S08-card103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104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명에게?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 =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3명에게 줘요.</a:t>
            </a:r>
            <a:endParaRPr lang="ko-KR" sz="2800" dirty="0"/>
          </a:p>
        </p:txBody>
      </p:sp>
      <p:sp>
        <p:nvSpPr>
          <p:cNvPr id="8" name="S08-card105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106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7.5 − 6 = 1.5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 L가 남아요.</a:t>
            </a:r>
            <a:endParaRPr lang="ko-KR" sz="2800" dirty="0"/>
          </a:p>
        </p:txBody>
      </p:sp>
      <p:sp>
        <p:nvSpPr>
          <p:cNvPr id="10" name="S08-label107"/>
          <p:cNvSpPr txBox="1"/>
          <p:nvPr/>
        </p:nvSpPr>
        <p:spPr>
          <a:xfrm>
            <a:off x="548640" y="22799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L</a:t>
            </a:r>
            <a:endParaRPr lang="ko-KR" sz="2200" dirty="0"/>
          </a:p>
        </p:txBody>
      </p:sp>
      <p:sp>
        <p:nvSpPr>
          <p:cNvPr id="11" name="S08-cell108"/>
          <p:cNvSpPr/>
          <p:nvPr/>
        </p:nvSpPr>
        <p:spPr>
          <a:xfrm>
            <a:off x="1600200" y="2279904"/>
            <a:ext cx="267736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09"/>
          <p:cNvSpPr/>
          <p:nvPr/>
        </p:nvSpPr>
        <p:spPr>
          <a:xfrm>
            <a:off x="4277563" y="2279904"/>
            <a:ext cx="267736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10"/>
          <p:cNvSpPr/>
          <p:nvPr/>
        </p:nvSpPr>
        <p:spPr>
          <a:xfrm>
            <a:off x="6954926" y="2279904"/>
            <a:ext cx="267736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11"/>
          <p:cNvSpPr/>
          <p:nvPr/>
        </p:nvSpPr>
        <p:spPr>
          <a:xfrm>
            <a:off x="9632290" y="2279904"/>
            <a:ext cx="200802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figure112" descr="크기가 다른 4칸으로 나눈 띠, 3칸 색칠"/>
          <p:cNvSpPr/>
          <p:nvPr/>
        </p:nvSpPr>
        <p:spPr>
          <a:xfrm>
            <a:off x="1600200" y="2279904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반올림하고, 남는 양 구하기</a:t>
            </a:r>
            <a:endParaRPr lang="ko-KR" sz="4000" dirty="0"/>
          </a:p>
        </p:txBody>
      </p:sp>
      <p:sp>
        <p:nvSpPr>
          <p:cNvPr id="3" name="S09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반올림할 때는 구하려는 자리보다 한 자리 아래까지 구해요.</a:t>
            </a:r>
            <a:endParaRPr lang="ko-KR" sz="2800" dirty="0"/>
          </a:p>
        </p:txBody>
      </p:sp>
      <p:sp>
        <p:nvSpPr>
          <p:cNvPr id="5" name="S09-chip115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116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1.7 ÷ 0.3의 몫을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자리까지</a:t>
            </a:r>
            <a:endParaRPr lang="ko-KR" sz="2800" dirty="0"/>
          </a:p>
        </p:txBody>
      </p:sp>
      <p:sp>
        <p:nvSpPr>
          <p:cNvPr id="7" name="S09-chip117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118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4.7 ÷ 0.6의 몫을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자연수까지</a:t>
            </a:r>
            <a:endParaRPr lang="ko-KR" sz="2800" dirty="0"/>
          </a:p>
        </p:txBody>
      </p:sp>
      <p:sp>
        <p:nvSpPr>
          <p:cNvPr id="9" name="S09-chip119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120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 9.4 kg을 2 kg씩 담으면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봉지가 되고, 몇 kg이 남나요?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양은 얼마일까요?</a:t>
            </a:r>
            <a:endParaRPr lang="ko-KR" sz="4000" dirty="0"/>
          </a:p>
        </p:txBody>
      </p:sp>
      <p:sp>
        <p:nvSpPr>
          <p:cNvPr id="3" name="S10-card1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6.3 L를 0.5 L 병에 가득 담았어요.</a:t>
            </a:r>
            <a:endParaRPr lang="ko-KR" sz="2800" dirty="0"/>
          </a:p>
        </p:txBody>
      </p:sp>
      <p:sp>
        <p:nvSpPr>
          <p:cNvPr id="5" name="S10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물이 병 하나(0.5 L)보다 많을 수 있을까요?</a:t>
            </a:r>
            <a:endParaRPr lang="ko-KR" sz="2800" dirty="0"/>
          </a:p>
        </p:txBody>
      </p:sp>
      <p:sp>
        <p:nvSpPr>
          <p:cNvPr id="7" name="S10-chip12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12병, 3 L</a:t>
            </a:r>
            <a:endParaRPr lang="ko-KR" sz="2200" dirty="0"/>
          </a:p>
        </p:txBody>
      </p:sp>
      <p:sp>
        <p:nvSpPr>
          <p:cNvPr id="8" name="S10-text12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 ÷ 5 = 12 … 3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양은 3 L예요.</a:t>
            </a:r>
            <a:endParaRPr lang="ko-KR" sz="2800" dirty="0"/>
          </a:p>
        </p:txBody>
      </p:sp>
      <p:sp>
        <p:nvSpPr>
          <p:cNvPr id="9" name="S10-chip12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12병, 0.3 L</a:t>
            </a:r>
            <a:endParaRPr lang="ko-KR" sz="2200" dirty="0"/>
          </a:p>
        </p:txBody>
      </p:sp>
      <p:sp>
        <p:nvSpPr>
          <p:cNvPr id="10" name="S10-text12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 × 12 = 6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6.3 − 6 = 0.3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2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eqtext13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÷ 0.7 = □</a:t>
            </a:r>
            <a:endParaRPr lang="ko-KR" sz="3200" dirty="0"/>
          </a:p>
        </p:txBody>
      </p:sp>
      <p:sp>
        <p:nvSpPr>
          <p:cNvPr id="5" name="S11-chip13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eqtext13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8.64 ÷ 0.24 = □</a:t>
            </a:r>
            <a:endParaRPr lang="ko-KR" sz="3200" dirty="0"/>
          </a:p>
        </p:txBody>
      </p:sp>
      <p:sp>
        <p:nvSpPr>
          <p:cNvPr id="7" name="S11-chip13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3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÷ 0.7의 몫을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반올림하여 소수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자리까지</a:t>
            </a:r>
            <a:endParaRPr lang="ko-KR" sz="2800" dirty="0"/>
          </a:p>
        </p:txBody>
      </p:sp>
      <p:sp>
        <p:nvSpPr>
          <p:cNvPr id="9" name="S11-chip13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3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8.5 m를 1.2 m씩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자르면 몇 도막이 되고,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m가 남나요?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문제</a:t>
            </a:r>
            <a:endParaRPr lang="ko-KR" sz="4000" dirty="0"/>
          </a:p>
        </p:txBody>
      </p:sp>
      <p:sp>
        <p:nvSpPr>
          <p:cNvPr id="3" name="S13-chip1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1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고구마 7.4 kg을 0.6 kg씩 봉지에 담으면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봉지가 되고, 몇 kg이 남나요?</a:t>
            </a:r>
            <a:endParaRPr lang="ko-KR" sz="2800" dirty="0"/>
          </a:p>
        </p:txBody>
      </p:sp>
      <p:sp>
        <p:nvSpPr>
          <p:cNvPr id="5" name="S13-chip13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140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1.5 m인 사람의 그림자가 2.2 m예요.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그림자는 키의 약 몇 배인지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자리까지 나타내요.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4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4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소수점을 같은 자리만큼 옮겨 자연수의 나눗셈으로 계산해요.</a:t>
            </a:r>
            <a:endParaRPr lang="ko-KR" sz="2800" dirty="0"/>
          </a:p>
        </p:txBody>
      </p:sp>
      <p:sp>
        <p:nvSpPr>
          <p:cNvPr id="5" name="S14-chip14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자리 아래까지 구해 반올림</a:t>
            </a:r>
            <a:endParaRPr lang="ko-KR" sz="2200" dirty="0"/>
          </a:p>
        </p:txBody>
      </p:sp>
      <p:sp>
        <p:nvSpPr>
          <p:cNvPr id="6" name="S14-chip14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나누는 수만 소수점 옮기기</a:t>
            </a:r>
            <a:endParaRPr lang="ko-KR" sz="2200" dirty="0"/>
          </a:p>
        </p:txBody>
      </p:sp>
      <p:sp>
        <p:nvSpPr>
          <p:cNvPr id="7" name="S14-text14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eqtext14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6.4 ÷ 0.8</a:t>
            </a:r>
            <a:endParaRPr lang="ko-KR" sz="2600" dirty="0"/>
          </a:p>
        </p:txBody>
      </p:sp>
      <p:sp>
        <p:nvSpPr>
          <p:cNvPr id="9" name="S14-eqtext14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1.56 ÷ 0.12</a:t>
            </a:r>
            <a:endParaRPr lang="ko-KR" sz="2600" dirty="0"/>
          </a:p>
        </p:txBody>
      </p:sp>
      <p:sp>
        <p:nvSpPr>
          <p:cNvPr id="10" name="S14-text14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2.9 ÷ 0.6의 몫을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반올림하여 소수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자리까지</a:t>
            </a:r>
            <a:endParaRPr lang="ko-KR" sz="2200" dirty="0"/>
          </a:p>
        </p:txBody>
      </p:sp>
      <p:sp>
        <p:nvSpPr>
          <p:cNvPr id="11" name="S14-text14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비와 비율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소수 ÷ 자연수</a:t>
            </a:r>
            <a:endParaRPr lang="ko-KR" sz="4000" dirty="0"/>
          </a:p>
        </p:txBody>
      </p:sp>
      <p:sp>
        <p:nvSpPr>
          <p:cNvPr id="3" name="S15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÷ 4를 세로로 계산해요.</a:t>
            </a:r>
            <a:endParaRPr lang="ko-KR" sz="2800" dirty="0"/>
          </a:p>
        </p:txBody>
      </p:sp>
      <p:sp>
        <p:nvSpPr>
          <p:cNvPr id="4" name="S15-card151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52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8.4는 0.1이 84개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÷ 4 = 21</a:t>
            </a:r>
            <a:endParaRPr lang="ko-KR" sz="2800" dirty="0"/>
          </a:p>
        </p:txBody>
      </p:sp>
      <p:sp>
        <p:nvSpPr>
          <p:cNvPr id="6" name="S15-card153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54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소수점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21개 → 2.1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그대로 올려 찍어요.</a:t>
            </a:r>
            <a:endParaRPr lang="ko-KR" sz="2800" dirty="0"/>
          </a:p>
        </p:txBody>
      </p:sp>
      <p:graphicFrame>
        <p:nvGraphicFramePr>
          <p:cNvPr id="15" name="S15-table1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48556" y="2058924"/>
          <a:ext cx="3291840" cy="914400"/>
        </p:xfrm>
        <a:graphic>
          <a:graphicData uri="http://schemas.openxmlformats.org/drawingml/2006/table">
            <a:tbl>
              <a:tblPr/>
              <a:tblGrid>
                <a:gridCol w="1316736"/>
                <a:gridCol w="987552"/>
                <a:gridCol w="987552"/>
              </a:tblGrid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4 )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2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1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소수의 나눗셈 2</dc:title>
  <dc:subject>KR22-G06-MAT-DECDIV2-L01</dc:subject>
  <dc:creator>education-ppt</dc:creator>
  <cp:lastModifiedBy>education-ppt</cp:lastModifiedBy>
  <cp:revision>1</cp:revision>
  <dcterms:created xsi:type="dcterms:W3CDTF">2026-10-26T08:39:25Z</dcterms:created>
  <dcterms:modified xsi:type="dcterms:W3CDTF">2026-10-26T08:39:25Z</dcterms:modified>
</cp:coreProperties>
</file>