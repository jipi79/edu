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</p:sldIdLst>
  <p:notesMasterIdLst>
    <p:notesMasterId r:id="rId15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521415D9-36F7-43E2-AB2F-B90AF26B5E84}">
      <p14:sectionLst xmlns:p14="http://schemas.microsoft.com/office/powerpoint/2010/main">
        <p14:section name="도입" id="{cc4ec7e5-0e4c-ad12-d51b-213ec18a0b62}">
          <p14:sldIdLst>
            <p14:sldId id="256"/>
            <p14:sldId id="257"/>
          </p14:sldIdLst>
        </p14:section>
        <p14:section name="개념" id="{9ca5fc36-e8ac-4df0-a9f5-13614d555433}">
          <p14:sldIdLst>
            <p14:sldId id="258"/>
            <p14:sldId id="259"/>
            <p14:sldId id="262"/>
          </p14:sldIdLst>
        </p14:section>
        <p14:section name="연습" id="{81512f3d-9bd7-d47f-c564-b82569f57312}">
          <p14:sldIdLst>
            <p14:sldId id="260"/>
            <p14:sldId id="261"/>
            <p14:sldId id="263"/>
            <p14:sldId id="264"/>
          </p14:sldIdLst>
        </p14:section>
        <p14:section name="개념" id="{0cccb772-3243-7087-6597-a7c203eee4cb}">
          <p14:sldIdLst/>
        </p14:section>
        <p14:section name="연습" id="{8ea2286f-41a4-ffe9-7f98-4c83c17ef1d4}">
          <p14:sldIdLst/>
        </p14:section>
        <p14:section name="확인" id="{0535dcab-8f7f-3c35-7d83-58e345e713fc}">
          <p14:sldIdLst>
            <p14:sldId id="265"/>
            <p14:sldId id="266"/>
          </p14:sldIdLst>
        </p14:section>
        <p14:section name="정리" id="{24fa627c-f6eb-753a-3811-320babb9844e}">
          <p14:sldIdLst>
            <p14:sldId id="267"/>
          </p14:sldIdLst>
        </p14:section>
        <p14:section name="보충" id="{a6d1511e-2d61-1b71-4a12-9280f4f5a92b}">
          <p14:sldIdLst>
            <p14:sldId id="268"/>
          </p14:sldIdLst>
        </p14:section>
      </p14:sectionLst>
    </p:ex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notesMaster" Target="notesMasters/notesMaster1.xml"/><Relationship Id="rId16" Type="http://schemas.openxmlformats.org/officeDocument/2006/relationships/presProps" Target="presProps.xml"/><Relationship Id="rId17" Type="http://schemas.openxmlformats.org/officeDocument/2006/relationships/viewProps" Target="viewProps.xml"/><Relationship Id="rId18" Type="http://schemas.openxmlformats.org/officeDocument/2006/relationships/theme" Target="theme/theme1.xml"/><Relationship Id="rId19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COVER">
    <p:bg>
      <p:bgPr>
        <a:solidFill>
          <a:srgbClr val="26465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731520" y="640080"/>
            <a:ext cx="6675120" cy="118872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46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defRPr>
            </a:lvl1pPr>
          </a:lstStyle>
          <a:p>
            <a:pPr algn="l" indent="0" marL="0">
              <a:buNone/>
            </a:pPr>
            <a:endParaRPr lang="en-US" sz="4600" dirty="0"/>
          </a:p>
        </p:txBody>
      </p:sp>
      <p:sp>
        <p:nvSpPr>
          <p:cNvPr id="3" name="Text 0"/>
          <p:cNvSpPr/>
          <p:nvPr>
            <p:ph idx="101" type="body" hasCustomPrompt="1"/>
          </p:nvPr>
        </p:nvSpPr>
        <p:spPr>
          <a:xfrm>
            <a:off x="731520" y="1920240"/>
            <a:ext cx="6675120" cy="1645920"/>
          </a:xfrm>
          <a:prstGeom prst="rect">
            <a:avLst/>
          </a:prstGeom>
          <a:noFill/>
          <a:ln/>
        </p:spPr>
        <p:txBody>
          <a:bodyPr wrap="square" rtlCol="0"/>
          <a:lstStyle>
            <a:lvl1pPr indent="0" marL="0">
              <a:buNone/>
              <a:defRPr lang="en-US" sz="2800" dirty="0">
                <a:solidFill>
                  <a:srgbClr val="C9DCD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defRPr>
            </a:lvl1pPr>
          </a:lstStyle>
          <a:p>
            <a:pPr indent="0" marL="0">
              <a:buNone/>
            </a:pPr>
            <a:endParaRPr lang="en-US" sz="2800" dirty="0"/>
          </a:p>
        </p:txBody>
      </p:sp>
      <p:sp>
        <p:nvSpPr>
          <p:cNvPr id="4" name="Text 0"/>
          <p:cNvSpPr/>
          <p:nvPr/>
        </p:nvSpPr>
        <p:spPr>
          <a:xfrm>
            <a:off x="548640" y="6382512"/>
            <a:ext cx="86868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C9DCD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초6 수학 · 연산과비례 · 8차시</a:t>
            </a:r>
            <a:endParaRPr lang="en-US" sz="1200" dirty="0"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CONTENT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64240" cy="86868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40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defRPr>
            </a:lvl1pPr>
          </a:lstStyle>
          <a:p>
            <a:pPr algn="l" indent="0" marL="0">
              <a:buNone/>
            </a:pPr>
            <a:endParaRPr lang="en-US" sz="4000" dirty="0"/>
          </a:p>
        </p:txBody>
      </p:sp>
      <p:sp>
        <p:nvSpPr>
          <p:cNvPr id="3" name="Text 0"/>
          <p:cNvSpPr/>
          <p:nvPr/>
        </p:nvSpPr>
        <p:spPr>
          <a:xfrm>
            <a:off x="548640" y="6382512"/>
            <a:ext cx="86868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4B5563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초6 수학 · 비례배분</a:t>
            </a:r>
            <a:endParaRPr lang="en-US" sz="12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881360" y="6382512"/>
            <a:ext cx="731520" cy="32004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200">
                <a:solidFill>
                  <a:srgbClr val="4B5563"/>
                </a:solidFill>
                <a:latin typeface="맑은 고딕"/>
                <a:ea typeface="맑은 고딕"/>
                <a:cs typeface="맑은 고딕"/>
              </a:defRPr>
            </a:lvl1pPr>
          </a:lstStyle>
          <a:p>
            <a:pPr algn="r"/>
            <a:fld id="{F7021451-1387-4CA6-816F-3879F97B5CBC}" type="slidenum">
              <a:rPr b="0" lang="en-US"/>
              <a:t>1003</a:t>
            </a:fld>
            <a:endParaRPr lang="en-US"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CLOSING">
    <p:bg>
      <p:bgPr>
        <a:solidFill>
          <a:srgbClr val="26465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64240" cy="86868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40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defRPr>
            </a:lvl1pPr>
          </a:lstStyle>
          <a:p>
            <a:pPr algn="l" indent="0" marL="0">
              <a:buNone/>
            </a:pPr>
            <a:endParaRPr lang="en-US" sz="4000" dirty="0"/>
          </a:p>
        </p:txBody>
      </p:sp>
      <p:sp>
        <p:nvSpPr>
          <p:cNvPr id="3" name="Text 0"/>
          <p:cNvSpPr/>
          <p:nvPr/>
        </p:nvSpPr>
        <p:spPr>
          <a:xfrm>
            <a:off x="548640" y="6382512"/>
            <a:ext cx="86868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C9DCD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초6 수학 · 비례배분</a:t>
            </a:r>
            <a:endParaRPr lang="en-US" sz="12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881360" y="6382512"/>
            <a:ext cx="731520" cy="32004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200">
                <a:solidFill>
                  <a:srgbClr val="C9DCD8"/>
                </a:solidFill>
                <a:latin typeface="맑은 고딕"/>
                <a:ea typeface="맑은 고딕"/>
                <a:cs typeface="맑은 고딕"/>
              </a:defRPr>
            </a:lvl1pPr>
          </a:lstStyle>
          <a:p>
            <a:pPr algn="r"/>
            <a:fld id="{F7021451-1387-4CA6-816F-3879F97B5CBC}" type="slidenum">
              <a:rPr b="0" lang="en-US"/>
              <a:t>1004</a:t>
            </a:fld>
            <a:endParaRPr lang="en-US"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SUPPORT">
    <p:bg>
      <p:bgPr>
        <a:solidFill>
          <a:srgbClr val="F4F7F6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64240" cy="86868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40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defRPr>
            </a:lvl1pPr>
          </a:lstStyle>
          <a:p>
            <a:pPr algn="l" indent="0" marL="0">
              <a:buNone/>
            </a:pPr>
            <a:endParaRPr lang="en-US" sz="4000" dirty="0"/>
          </a:p>
        </p:txBody>
      </p:sp>
      <p:sp>
        <p:nvSpPr>
          <p:cNvPr id="3" name="Text 0"/>
          <p:cNvSpPr/>
          <p:nvPr/>
        </p:nvSpPr>
        <p:spPr>
          <a:xfrm>
            <a:off x="548640" y="6382512"/>
            <a:ext cx="86868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4B5563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보충 자료 · 초6 수학 · 비례배분</a:t>
            </a:r>
            <a:endParaRPr lang="en-US" sz="12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881360" y="6382512"/>
            <a:ext cx="731520" cy="32004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200">
                <a:solidFill>
                  <a:srgbClr val="4B5563"/>
                </a:solidFill>
                <a:latin typeface="맑은 고딕"/>
                <a:ea typeface="맑은 고딕"/>
                <a:cs typeface="맑은 고딕"/>
              </a:defRPr>
            </a:lvl1pPr>
          </a:lstStyle>
          <a:p>
            <a:pPr algn="r"/>
            <a:fld id="{F7021451-1387-4CA6-816F-3879F97B5CBC}" type="slidenum">
              <a:rPr b="0" lang="en-US"/>
              <a:t>1005</a:t>
            </a:fld>
            <a:endParaRPr lang="en-US"/>
          </a:p>
        </p:txBody>
      </p:sp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881360" y="6382512"/>
            <a:ext cx="731520" cy="32004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200">
                <a:solidFill>
                  <a:srgbClr val="4B5563"/>
                </a:solidFill>
                <a:latin typeface="맑은 고딕"/>
                <a:ea typeface="맑은 고딕"/>
                <a:cs typeface="맑은 고딕"/>
              </a:defRPr>
            </a:lvl1pPr>
          </a:lstStyle>
          <a:p>
            <a:pPr algn="r"/>
            <a:fld id="{F7021451-1387-4CA6-816F-3879F97B5CBC}" type="slidenum">
              <a:rPr b="0" lang="en-US"/>
              <a:t>null</a:t>
            </a:fld>
            <a:endParaRPr lang="en-US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13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731520" y="640080"/>
            <a:ext cx="667512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46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비례배분</a:t>
            </a:r>
            <a:endParaRPr lang="ko-KR" sz="4600" dirty="0"/>
          </a:p>
        </p:txBody>
      </p:sp>
      <p:sp>
        <p:nvSpPr>
          <p:cNvPr id="3" name="Text 0"/>
          <p:cNvSpPr/>
          <p:nvPr>
            <p:ph idx="101" type="body" hasCustomPrompt="1"/>
          </p:nvPr>
        </p:nvSpPr>
        <p:spPr>
          <a:xfrm>
            <a:off x="731520" y="1920240"/>
            <a:ext cx="6675120" cy="1645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eaLnBrk="0" indent="0" marL="0">
              <a:buNone/>
            </a:pPr>
            <a:r>
              <a:rPr lang="ko-KR" altLang="en-US" sz="2800" dirty="0">
                <a:solidFill>
                  <a:srgbClr val="C9DCD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사탕 35개를 형과 동생이 3 : 4로</a:t>
            </a:r>
            <a:endParaRPr lang="ko-KR" sz="2800" dirty="0"/>
          </a:p>
          <a:p>
            <a:pPr eaLnBrk="0" indent="0" marL="0">
              <a:buNone/>
            </a:pPr>
            <a:r>
              <a:rPr lang="ko-KR" altLang="en-US" sz="2800" dirty="0">
                <a:solidFill>
                  <a:srgbClr val="C9DCD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나누면 각각 몇 개일까?</a:t>
            </a:r>
            <a:endParaRPr lang="ko-KR" sz="2800" dirty="0"/>
          </a:p>
        </p:txBody>
      </p:sp>
      <p:sp>
        <p:nvSpPr>
          <p:cNvPr id="4" name="S01-eqtext1"/>
          <p:cNvSpPr txBox="1"/>
          <p:nvPr/>
        </p:nvSpPr>
        <p:spPr>
          <a:xfrm>
            <a:off x="7680960" y="640080"/>
            <a:ext cx="3931920" cy="2926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40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35 → 3 : 4</a:t>
            </a:r>
            <a:endParaRPr lang="ko-KR" sz="4000" dirty="0"/>
          </a:p>
        </p:txBody>
      </p:sp>
      <p:sp>
        <p:nvSpPr>
          <p:cNvPr id="5" name="S01-card2"/>
          <p:cNvSpPr/>
          <p:nvPr/>
        </p:nvSpPr>
        <p:spPr>
          <a:xfrm>
            <a:off x="731520" y="4529328"/>
            <a:ext cx="10725912" cy="1597152"/>
          </a:xfrm>
          <a:prstGeom prst="roundRect">
            <a:avLst>
              <a:gd name="adj" fmla="val 6870"/>
            </a:avLst>
          </a:prstGeom>
          <a:solidFill>
            <a:srgbClr val="32606F"/>
          </a:solidFill>
          <a:ln w="12700">
            <a:solidFill>
              <a:srgbClr val="32606F"/>
            </a:solidFill>
            <a:prstDash val="solid"/>
          </a:ln>
        </p:spPr>
      </p:sp>
      <p:sp>
        <p:nvSpPr>
          <p:cNvPr id="6" name="S01-cardtext3"/>
          <p:cNvSpPr txBox="1"/>
          <p:nvPr/>
        </p:nvSpPr>
        <p:spPr>
          <a:xfrm>
            <a:off x="1005840" y="4666488"/>
            <a:ext cx="10177272" cy="13228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indent="0" marL="0">
              <a:spcAft>
                <a:spcPts val="600"/>
              </a:spcAft>
              <a:buNone/>
            </a:pPr>
            <a:r>
              <a:rPr lang="ko-KR" altLang="en-US" sz="28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오늘 할 수 있게 될 것</a:t>
            </a:r>
            <a:endParaRPr lang="ko-KR" sz="2800" dirty="0"/>
          </a:p>
          <a:p>
            <a:pPr eaLnBrk="0" indent="0" marL="0">
              <a:spcAft>
                <a:spcPts val="600"/>
              </a:spcAft>
              <a:buNone/>
            </a:pPr>
            <a:r>
              <a:rPr lang="ko-KR" altLang="en-US" sz="2200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① 전체를 주어진 비로 나누어요.</a:t>
            </a:r>
            <a:endParaRPr lang="ko-KR" sz="2800" dirty="0"/>
          </a:p>
          <a:p>
            <a:pPr eaLnBrk="0" indent="0" marL="0">
              <a:spcAft>
                <a:spcPts val="600"/>
              </a:spcAft>
              <a:buNone/>
            </a:pPr>
            <a:r>
              <a:rPr lang="ko-KR" altLang="en-US" sz="2200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② 나눈 양이 맞는지 두 가지로 확인해요.</a:t>
            </a:r>
            <a:endParaRPr lang="ko-KR" sz="28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642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40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지난 시간 기억하기</a:t>
            </a:r>
            <a:endParaRPr lang="ko-KR" sz="4000" dirty="0"/>
          </a:p>
        </p:txBody>
      </p:sp>
      <p:sp>
        <p:nvSpPr>
          <p:cNvPr id="3" name="S02-chip4"/>
          <p:cNvSpPr txBox="1"/>
          <p:nvPr/>
        </p:nvSpPr>
        <p:spPr>
          <a:xfrm>
            <a:off x="548640" y="1773936"/>
            <a:ext cx="566928" cy="566928"/>
          </a:xfrm>
          <a:prstGeom prst="roundRect">
            <a:avLst>
              <a:gd name="adj" fmla="val 25806"/>
            </a:avLst>
          </a:prstGeom>
          <a:solidFill>
            <a:srgbClr val="264653"/>
          </a:solidFill>
          <a:ln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2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①</a:t>
            </a:r>
            <a:endParaRPr lang="ko-KR" sz="2200" dirty="0"/>
          </a:p>
        </p:txBody>
      </p:sp>
      <p:sp>
        <p:nvSpPr>
          <p:cNvPr id="4" name="S02-eqtext5"/>
          <p:cNvSpPr txBox="1"/>
          <p:nvPr/>
        </p:nvSpPr>
        <p:spPr>
          <a:xfrm>
            <a:off x="1344168" y="1325880"/>
            <a:ext cx="10296144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32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3 : 5 = 12 : □</a:t>
            </a:r>
            <a:endParaRPr lang="ko-KR" sz="3200" dirty="0"/>
          </a:p>
        </p:txBody>
      </p:sp>
      <p:sp>
        <p:nvSpPr>
          <p:cNvPr id="5" name="S02-chip6"/>
          <p:cNvSpPr txBox="1"/>
          <p:nvPr/>
        </p:nvSpPr>
        <p:spPr>
          <a:xfrm>
            <a:off x="548640" y="3465576"/>
            <a:ext cx="566928" cy="566928"/>
          </a:xfrm>
          <a:prstGeom prst="roundRect">
            <a:avLst>
              <a:gd name="adj" fmla="val 25806"/>
            </a:avLst>
          </a:prstGeom>
          <a:solidFill>
            <a:srgbClr val="264653"/>
          </a:solidFill>
          <a:ln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2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②</a:t>
            </a:r>
            <a:endParaRPr lang="ko-KR" sz="2200" dirty="0"/>
          </a:p>
        </p:txBody>
      </p:sp>
      <p:sp>
        <p:nvSpPr>
          <p:cNvPr id="6" name="S02-op7"/>
          <p:cNvSpPr txBox="1"/>
          <p:nvPr/>
        </p:nvSpPr>
        <p:spPr>
          <a:xfrm>
            <a:off x="1344168" y="3232912"/>
            <a:ext cx="792480" cy="10322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32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20</a:t>
            </a:r>
            <a:endParaRPr lang="ko-KR" sz="3200" dirty="0"/>
          </a:p>
        </p:txBody>
      </p:sp>
      <p:sp>
        <p:nvSpPr>
          <p:cNvPr id="7" name="S02-op8"/>
          <p:cNvSpPr txBox="1"/>
          <p:nvPr/>
        </p:nvSpPr>
        <p:spPr>
          <a:xfrm>
            <a:off x="2246376" y="3232912"/>
            <a:ext cx="654304" cy="10322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32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×</a:t>
            </a:r>
            <a:endParaRPr lang="ko-KR" sz="3200" dirty="0"/>
          </a:p>
        </p:txBody>
      </p:sp>
      <p:sp>
        <p:nvSpPr>
          <p:cNvPr id="8" name="S02-num9"/>
          <p:cNvSpPr txBox="1"/>
          <p:nvPr/>
        </p:nvSpPr>
        <p:spPr>
          <a:xfrm>
            <a:off x="3010408" y="3232912"/>
            <a:ext cx="536448" cy="4795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32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3</a:t>
            </a:r>
            <a:endParaRPr lang="ko-KR" sz="3200" dirty="0"/>
          </a:p>
        </p:txBody>
      </p:sp>
      <p:sp>
        <p:nvSpPr>
          <p:cNvPr id="9" name="S02-fracbar10"/>
          <p:cNvSpPr/>
          <p:nvPr/>
        </p:nvSpPr>
        <p:spPr>
          <a:xfrm>
            <a:off x="3046984" y="3749040"/>
            <a:ext cx="463296" cy="0"/>
          </a:xfrm>
          <a:prstGeom prst="line">
            <a:avLst/>
          </a:prstGeom>
          <a:noFill/>
          <a:ln w="25400">
            <a:solidFill>
              <a:srgbClr val="1F2937"/>
            </a:solidFill>
            <a:prstDash val="solid"/>
          </a:ln>
        </p:spPr>
      </p:sp>
      <p:sp>
        <p:nvSpPr>
          <p:cNvPr id="10" name="S02-num11"/>
          <p:cNvSpPr txBox="1"/>
          <p:nvPr/>
        </p:nvSpPr>
        <p:spPr>
          <a:xfrm>
            <a:off x="3010408" y="3785616"/>
            <a:ext cx="536448" cy="4795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32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4</a:t>
            </a:r>
            <a:endParaRPr lang="ko-KR" sz="3200" dirty="0"/>
          </a:p>
        </p:txBody>
      </p:sp>
      <p:sp>
        <p:nvSpPr>
          <p:cNvPr id="11" name="S02-op12"/>
          <p:cNvSpPr txBox="1"/>
          <p:nvPr/>
        </p:nvSpPr>
        <p:spPr>
          <a:xfrm>
            <a:off x="3656584" y="3232912"/>
            <a:ext cx="426720" cy="10322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32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=</a:t>
            </a:r>
            <a:endParaRPr lang="ko-KR" sz="3200" dirty="0"/>
          </a:p>
        </p:txBody>
      </p:sp>
      <p:sp>
        <p:nvSpPr>
          <p:cNvPr id="12" name="S02-blank13"/>
          <p:cNvSpPr/>
          <p:nvPr/>
        </p:nvSpPr>
        <p:spPr>
          <a:xfrm>
            <a:off x="4342750" y="3571606"/>
            <a:ext cx="354868" cy="354868"/>
          </a:xfrm>
          <a:prstGeom prst="rect">
            <a:avLst/>
          </a:prstGeom>
          <a:solidFill>
            <a:srgbClr val="FFFFFF"/>
          </a:solidFill>
          <a:ln w="22225">
            <a:solidFill>
              <a:srgbClr val="1F2937"/>
            </a:solidFill>
            <a:prstDash val="solid"/>
          </a:ln>
        </p:spPr>
      </p:sp>
      <p:sp>
        <p:nvSpPr>
          <p:cNvPr id="13" name="S02-chip14"/>
          <p:cNvSpPr txBox="1"/>
          <p:nvPr/>
        </p:nvSpPr>
        <p:spPr>
          <a:xfrm>
            <a:off x="548640" y="5157216"/>
            <a:ext cx="566928" cy="566928"/>
          </a:xfrm>
          <a:prstGeom prst="roundRect">
            <a:avLst>
              <a:gd name="adj" fmla="val 25806"/>
            </a:avLst>
          </a:prstGeom>
          <a:solidFill>
            <a:srgbClr val="264653"/>
          </a:solidFill>
          <a:ln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2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③</a:t>
            </a:r>
            <a:endParaRPr lang="ko-KR" sz="2200" dirty="0"/>
          </a:p>
        </p:txBody>
      </p:sp>
      <p:sp>
        <p:nvSpPr>
          <p:cNvPr id="14" name="S02-text15"/>
          <p:cNvSpPr txBox="1"/>
          <p:nvPr/>
        </p:nvSpPr>
        <p:spPr>
          <a:xfrm>
            <a:off x="1344168" y="4709160"/>
            <a:ext cx="10296144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28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18 : 12를 간단한</a:t>
            </a:r>
            <a:endParaRPr lang="ko-KR" sz="2800" dirty="0"/>
          </a:p>
          <a:p>
            <a:pPr eaLnBrk="0" algn="l" indent="0" marL="0">
              <a:buNone/>
            </a:pPr>
            <a:r>
              <a:rPr lang="ko-KR" altLang="en-US" sz="28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자연수의 비로</a:t>
            </a:r>
            <a:endParaRPr lang="ko-KR" sz="28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881360" y="6382512"/>
            <a:ext cx="731520" cy="32004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200">
                <a:solidFill>
                  <a:srgbClr val="4B5563"/>
                </a:solidFill>
                <a:latin typeface="맑은 고딕"/>
                <a:ea typeface="맑은 고딕"/>
                <a:cs typeface="맑은 고딕"/>
              </a:defRPr>
            </a:lvl1pPr>
          </a:lstStyle>
          <a:p>
            <a:pPr eaLnBrk="0" algn="r"/>
            <a:fld id="{F7021451-1387-4CA6-816F-3879F97B5CBC}" type="slidenum">
              <a:rPr b="0" lang="en-US"/>
              <a:t>2</a:t>
            </a:fld>
            <a:endParaRPr lang="en-US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642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40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띠 그림으로 나눠요</a:t>
            </a:r>
            <a:endParaRPr lang="ko-KR" sz="4000" dirty="0"/>
          </a:p>
        </p:txBody>
      </p:sp>
      <p:sp>
        <p:nvSpPr>
          <p:cNvPr id="3" name="S03-text16"/>
          <p:cNvSpPr txBox="1"/>
          <p:nvPr/>
        </p:nvSpPr>
        <p:spPr>
          <a:xfrm>
            <a:off x="548640" y="1325880"/>
            <a:ext cx="11091672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28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사탕 35개를 형과 동생이 3 : 4로 나눠요.</a:t>
            </a:r>
            <a:endParaRPr lang="ko-KR" sz="2800" dirty="0"/>
          </a:p>
        </p:txBody>
      </p:sp>
      <p:sp>
        <p:nvSpPr>
          <p:cNvPr id="4" name="S03-card17"/>
          <p:cNvSpPr/>
          <p:nvPr/>
        </p:nvSpPr>
        <p:spPr>
          <a:xfrm>
            <a:off x="548640" y="5349240"/>
            <a:ext cx="11091672" cy="868680"/>
          </a:xfrm>
          <a:prstGeom prst="roundRect">
            <a:avLst>
              <a:gd name="adj" fmla="val 12632"/>
            </a:avLst>
          </a:prstGeom>
          <a:solidFill>
            <a:srgbClr val="FDEBDD"/>
          </a:solidFill>
          <a:ln w="12700">
            <a:solidFill>
              <a:srgbClr val="FDEBDD"/>
            </a:solidFill>
            <a:prstDash val="solid"/>
          </a:ln>
        </p:spPr>
      </p:sp>
      <p:sp>
        <p:nvSpPr>
          <p:cNvPr id="5" name="S03-cardtext18"/>
          <p:cNvSpPr txBox="1"/>
          <p:nvPr/>
        </p:nvSpPr>
        <p:spPr>
          <a:xfrm>
            <a:off x="822960" y="5486400"/>
            <a:ext cx="10543032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indent="0" marL="0">
              <a:spcAft>
                <a:spcPts val="600"/>
              </a:spcAft>
              <a:buNone/>
            </a:pPr>
            <a:r>
              <a:rPr lang="ko-KR" altLang="en-US" sz="28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전체를 주어진 비로 나누는 것을 비례배분이라고 해요.</a:t>
            </a:r>
            <a:endParaRPr lang="ko-KR" sz="2800" dirty="0"/>
          </a:p>
        </p:txBody>
      </p:sp>
      <p:sp>
        <p:nvSpPr>
          <p:cNvPr id="6" name="S03-card19"/>
          <p:cNvSpPr/>
          <p:nvPr/>
        </p:nvSpPr>
        <p:spPr>
          <a:xfrm>
            <a:off x="548640" y="3599688"/>
            <a:ext cx="5431536" cy="1520952"/>
          </a:xfrm>
          <a:prstGeom prst="roundRect">
            <a:avLst>
              <a:gd name="adj" fmla="val 7214"/>
            </a:avLst>
          </a:prstGeom>
          <a:solidFill>
            <a:srgbClr val="EAF3F1"/>
          </a:solidFill>
          <a:ln w="12700">
            <a:solidFill>
              <a:srgbClr val="EAF3F1"/>
            </a:solidFill>
            <a:prstDash val="solid"/>
          </a:ln>
        </p:spPr>
      </p:sp>
      <p:sp>
        <p:nvSpPr>
          <p:cNvPr id="7" name="S03-cardtext20"/>
          <p:cNvSpPr txBox="1"/>
          <p:nvPr/>
        </p:nvSpPr>
        <p:spPr>
          <a:xfrm>
            <a:off x="822960" y="3736848"/>
            <a:ext cx="4882896" cy="12466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indent="0" marL="0">
              <a:spcAft>
                <a:spcPts val="600"/>
              </a:spcAft>
              <a:buNone/>
            </a:pPr>
            <a:r>
              <a:rPr lang="ko-KR" altLang="en-US" sz="28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모두 몇 칸?</a:t>
            </a:r>
            <a:endParaRPr lang="ko-KR" sz="2800" dirty="0"/>
          </a:p>
          <a:p>
            <a:pPr eaLnBrk="0" indent="0" marL="0">
              <a:spcAft>
                <a:spcPts val="600"/>
              </a:spcAft>
              <a:buNone/>
            </a:pPr>
            <a:r>
              <a:rPr lang="ko-KR" altLang="en-US" sz="22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3 + 4 = 7(칸)</a:t>
            </a:r>
            <a:endParaRPr lang="ko-KR" sz="2800" dirty="0"/>
          </a:p>
          <a:p>
            <a:pPr eaLnBrk="0" indent="0" marL="0">
              <a:spcAft>
                <a:spcPts val="600"/>
              </a:spcAft>
              <a:buNone/>
            </a:pPr>
            <a:r>
              <a:rPr lang="ko-KR" altLang="en-US" sz="22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한 칸: 35 ÷ 7 = 5(개)</a:t>
            </a:r>
            <a:endParaRPr lang="ko-KR" sz="2800" dirty="0"/>
          </a:p>
        </p:txBody>
      </p:sp>
      <p:sp>
        <p:nvSpPr>
          <p:cNvPr id="8" name="S03-card21"/>
          <p:cNvSpPr/>
          <p:nvPr/>
        </p:nvSpPr>
        <p:spPr>
          <a:xfrm>
            <a:off x="6208776" y="3599688"/>
            <a:ext cx="5431536" cy="1520952"/>
          </a:xfrm>
          <a:prstGeom prst="roundRect">
            <a:avLst>
              <a:gd name="adj" fmla="val 7214"/>
            </a:avLst>
          </a:prstGeom>
          <a:solidFill>
            <a:srgbClr val="EAF3F1"/>
          </a:solidFill>
          <a:ln w="12700">
            <a:solidFill>
              <a:srgbClr val="EAF3F1"/>
            </a:solidFill>
            <a:prstDash val="solid"/>
          </a:ln>
        </p:spPr>
      </p:sp>
      <p:sp>
        <p:nvSpPr>
          <p:cNvPr id="9" name="S03-cardtext22"/>
          <p:cNvSpPr txBox="1"/>
          <p:nvPr/>
        </p:nvSpPr>
        <p:spPr>
          <a:xfrm>
            <a:off x="6483096" y="3736848"/>
            <a:ext cx="4882896" cy="12466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indent="0" marL="0">
              <a:spcAft>
                <a:spcPts val="600"/>
              </a:spcAft>
              <a:buNone/>
            </a:pPr>
            <a:r>
              <a:rPr lang="ko-KR" altLang="en-US" sz="28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형 3칸, 동생 4칸</a:t>
            </a:r>
            <a:endParaRPr lang="ko-KR" sz="2800" dirty="0"/>
          </a:p>
          <a:p>
            <a:pPr eaLnBrk="0" indent="0" marL="0">
              <a:spcAft>
                <a:spcPts val="600"/>
              </a:spcAft>
              <a:buNone/>
            </a:pPr>
            <a:r>
              <a:rPr lang="ko-KR" altLang="en-US" sz="22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형: 5 × 3 = 15(개)</a:t>
            </a:r>
            <a:endParaRPr lang="ko-KR" sz="2800" dirty="0"/>
          </a:p>
          <a:p>
            <a:pPr eaLnBrk="0" indent="0" marL="0">
              <a:spcAft>
                <a:spcPts val="600"/>
              </a:spcAft>
              <a:buNone/>
            </a:pPr>
            <a:r>
              <a:rPr lang="ko-KR" altLang="en-US" sz="22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동생: 5 × 4 = 20(개)</a:t>
            </a:r>
            <a:endParaRPr lang="ko-KR" sz="2800" dirty="0"/>
          </a:p>
        </p:txBody>
      </p:sp>
      <p:sp>
        <p:nvSpPr>
          <p:cNvPr id="10" name="S03-label23"/>
          <p:cNvSpPr txBox="1"/>
          <p:nvPr/>
        </p:nvSpPr>
        <p:spPr>
          <a:xfrm>
            <a:off x="548640" y="2279904"/>
            <a:ext cx="91440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2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35개</a:t>
            </a:r>
            <a:endParaRPr lang="ko-KR" sz="2200" dirty="0"/>
          </a:p>
        </p:txBody>
      </p:sp>
      <p:sp>
        <p:nvSpPr>
          <p:cNvPr id="11" name="S03-cell24"/>
          <p:cNvSpPr/>
          <p:nvPr/>
        </p:nvSpPr>
        <p:spPr>
          <a:xfrm>
            <a:off x="1600200" y="2279904"/>
            <a:ext cx="1434302" cy="822960"/>
          </a:xfrm>
          <a:prstGeom prst="rect">
            <a:avLst/>
          </a:prstGeom>
          <a:solidFill>
            <a:srgbClr val="E9762B"/>
          </a:solidFill>
          <a:ln w="19050">
            <a:solidFill>
              <a:srgbClr val="1F2937"/>
            </a:solidFill>
            <a:prstDash val="solid"/>
          </a:ln>
        </p:spPr>
      </p:sp>
      <p:sp>
        <p:nvSpPr>
          <p:cNvPr id="12" name="S03-cell25"/>
          <p:cNvSpPr/>
          <p:nvPr/>
        </p:nvSpPr>
        <p:spPr>
          <a:xfrm>
            <a:off x="3034502" y="2279904"/>
            <a:ext cx="1434302" cy="822960"/>
          </a:xfrm>
          <a:prstGeom prst="rect">
            <a:avLst/>
          </a:prstGeom>
          <a:solidFill>
            <a:srgbClr val="E9762B"/>
          </a:solidFill>
          <a:ln w="19050">
            <a:solidFill>
              <a:srgbClr val="1F2937"/>
            </a:solidFill>
            <a:prstDash val="solid"/>
          </a:ln>
        </p:spPr>
      </p:sp>
      <p:sp>
        <p:nvSpPr>
          <p:cNvPr id="13" name="S03-cell26"/>
          <p:cNvSpPr/>
          <p:nvPr/>
        </p:nvSpPr>
        <p:spPr>
          <a:xfrm>
            <a:off x="4468803" y="2279904"/>
            <a:ext cx="1434302" cy="822960"/>
          </a:xfrm>
          <a:prstGeom prst="rect">
            <a:avLst/>
          </a:prstGeom>
          <a:solidFill>
            <a:srgbClr val="E9762B"/>
          </a:solidFill>
          <a:ln w="19050">
            <a:solidFill>
              <a:srgbClr val="1F2937"/>
            </a:solidFill>
            <a:prstDash val="solid"/>
          </a:ln>
        </p:spPr>
      </p:sp>
      <p:sp>
        <p:nvSpPr>
          <p:cNvPr id="14" name="S03-cell27"/>
          <p:cNvSpPr/>
          <p:nvPr/>
        </p:nvSpPr>
        <p:spPr>
          <a:xfrm>
            <a:off x="5903105" y="2279904"/>
            <a:ext cx="1434302" cy="822960"/>
          </a:xfrm>
          <a:prstGeom prst="rect">
            <a:avLst/>
          </a:prstGeom>
          <a:solidFill>
            <a:srgbClr val="FFFFFF"/>
          </a:solidFill>
          <a:ln w="19050">
            <a:solidFill>
              <a:srgbClr val="1F2937"/>
            </a:solidFill>
            <a:prstDash val="solid"/>
          </a:ln>
        </p:spPr>
      </p:sp>
      <p:sp>
        <p:nvSpPr>
          <p:cNvPr id="15" name="S03-cell28"/>
          <p:cNvSpPr/>
          <p:nvPr/>
        </p:nvSpPr>
        <p:spPr>
          <a:xfrm>
            <a:off x="7337407" y="2279904"/>
            <a:ext cx="1434302" cy="822960"/>
          </a:xfrm>
          <a:prstGeom prst="rect">
            <a:avLst/>
          </a:prstGeom>
          <a:solidFill>
            <a:srgbClr val="FFFFFF"/>
          </a:solidFill>
          <a:ln w="19050">
            <a:solidFill>
              <a:srgbClr val="1F2937"/>
            </a:solidFill>
            <a:prstDash val="solid"/>
          </a:ln>
        </p:spPr>
      </p:sp>
      <p:sp>
        <p:nvSpPr>
          <p:cNvPr id="16" name="S03-cell29"/>
          <p:cNvSpPr/>
          <p:nvPr/>
        </p:nvSpPr>
        <p:spPr>
          <a:xfrm>
            <a:off x="8771709" y="2279904"/>
            <a:ext cx="1434302" cy="822960"/>
          </a:xfrm>
          <a:prstGeom prst="rect">
            <a:avLst/>
          </a:prstGeom>
          <a:solidFill>
            <a:srgbClr val="FFFFFF"/>
          </a:solidFill>
          <a:ln w="19050">
            <a:solidFill>
              <a:srgbClr val="1F2937"/>
            </a:solidFill>
            <a:prstDash val="solid"/>
          </a:ln>
        </p:spPr>
      </p:sp>
      <p:sp>
        <p:nvSpPr>
          <p:cNvPr id="17" name="S03-cell30"/>
          <p:cNvSpPr/>
          <p:nvPr/>
        </p:nvSpPr>
        <p:spPr>
          <a:xfrm>
            <a:off x="10206010" y="2279904"/>
            <a:ext cx="1434302" cy="822960"/>
          </a:xfrm>
          <a:prstGeom prst="rect">
            <a:avLst/>
          </a:prstGeom>
          <a:solidFill>
            <a:srgbClr val="FFFFFF"/>
          </a:solidFill>
          <a:ln w="19050">
            <a:solidFill>
              <a:srgbClr val="1F2937"/>
            </a:solidFill>
            <a:prstDash val="solid"/>
          </a:ln>
        </p:spPr>
      </p:sp>
      <p:sp>
        <p:nvSpPr>
          <p:cNvPr id="18" name="S03-figure31" descr="똑같이 7칸으로 나눈 띠, 3칸 색칠"/>
          <p:cNvSpPr/>
          <p:nvPr/>
        </p:nvSpPr>
        <p:spPr>
          <a:xfrm>
            <a:off x="1600200" y="2279904"/>
            <a:ext cx="10040112" cy="822960"/>
          </a:xfrm>
          <a:prstGeom prst="rect">
            <a:avLst/>
          </a:prstGeom>
          <a:solidFill>
            <a:srgbClr val="FFFFFF">
              <a:alpha val="0"/>
            </a:srgbClr>
          </a:solidFill>
          <a:ln w="28575">
            <a:solidFill>
              <a:srgbClr val="1F2937"/>
            </a:solidFill>
            <a:prstDash val="solid"/>
          </a:ln>
        </p:spPr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881360" y="6382512"/>
            <a:ext cx="731520" cy="32004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200">
                <a:solidFill>
                  <a:srgbClr val="4B5563"/>
                </a:solidFill>
                <a:latin typeface="맑은 고딕"/>
                <a:ea typeface="맑은 고딕"/>
                <a:cs typeface="맑은 고딕"/>
              </a:defRPr>
            </a:lvl1pPr>
          </a:lstStyle>
          <a:p>
            <a:pPr eaLnBrk="0" algn="r"/>
            <a:fld id="{F7021451-1387-4CA6-816F-3879F97B5CBC}" type="slidenum">
              <a:rPr b="0" lang="en-US"/>
              <a:t>3</a:t>
            </a:fld>
            <a:endParaRPr lang="en-US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642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40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식으로 나눠요</a:t>
            </a:r>
            <a:endParaRPr lang="ko-KR" sz="4000" dirty="0"/>
          </a:p>
        </p:txBody>
      </p:sp>
      <p:sp>
        <p:nvSpPr>
          <p:cNvPr id="3" name="S04-text32"/>
          <p:cNvSpPr txBox="1"/>
          <p:nvPr/>
        </p:nvSpPr>
        <p:spPr>
          <a:xfrm>
            <a:off x="548640" y="1325880"/>
            <a:ext cx="11091672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28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35를 3 : 4로 비례배분해요.</a:t>
            </a:r>
            <a:endParaRPr lang="ko-KR" sz="2800" dirty="0"/>
          </a:p>
        </p:txBody>
      </p:sp>
      <p:sp>
        <p:nvSpPr>
          <p:cNvPr id="4" name="S04-card33"/>
          <p:cNvSpPr/>
          <p:nvPr/>
        </p:nvSpPr>
        <p:spPr>
          <a:xfrm>
            <a:off x="548640" y="5349240"/>
            <a:ext cx="11091672" cy="868680"/>
          </a:xfrm>
          <a:prstGeom prst="roundRect">
            <a:avLst>
              <a:gd name="adj" fmla="val 12632"/>
            </a:avLst>
          </a:prstGeom>
          <a:solidFill>
            <a:srgbClr val="FDEBDD"/>
          </a:solidFill>
          <a:ln w="12700">
            <a:solidFill>
              <a:srgbClr val="FDEBDD"/>
            </a:solidFill>
            <a:prstDash val="solid"/>
          </a:ln>
        </p:spPr>
      </p:sp>
      <p:sp>
        <p:nvSpPr>
          <p:cNvPr id="5" name="S04-cardtext34"/>
          <p:cNvSpPr txBox="1"/>
          <p:nvPr/>
        </p:nvSpPr>
        <p:spPr>
          <a:xfrm>
            <a:off x="822960" y="5486400"/>
            <a:ext cx="10543032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indent="0" marL="0">
              <a:spcAft>
                <a:spcPts val="600"/>
              </a:spcAft>
              <a:buNone/>
            </a:pPr>
            <a:r>
              <a:rPr lang="ko-KR" altLang="en-US" sz="28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분모는 전항과 후항의 합(3 + 4 = 7)이에요.</a:t>
            </a:r>
            <a:endParaRPr lang="ko-KR" sz="2800" dirty="0"/>
          </a:p>
        </p:txBody>
      </p:sp>
      <p:sp>
        <p:nvSpPr>
          <p:cNvPr id="6" name="S04-stepno35"/>
          <p:cNvSpPr txBox="1"/>
          <p:nvPr/>
        </p:nvSpPr>
        <p:spPr>
          <a:xfrm>
            <a:off x="548640" y="2101088"/>
            <a:ext cx="548640" cy="548640"/>
          </a:xfrm>
          <a:prstGeom prst="ellipse">
            <a:avLst/>
          </a:prstGeom>
          <a:solidFill>
            <a:srgbClr val="264653"/>
          </a:solidFill>
          <a:ln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2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1</a:t>
            </a:r>
            <a:endParaRPr lang="ko-KR" sz="2200" dirty="0"/>
          </a:p>
        </p:txBody>
      </p:sp>
      <p:sp>
        <p:nvSpPr>
          <p:cNvPr id="7" name="S04-text36"/>
          <p:cNvSpPr txBox="1"/>
          <p:nvPr/>
        </p:nvSpPr>
        <p:spPr>
          <a:xfrm>
            <a:off x="1325880" y="2055368"/>
            <a:ext cx="5655930" cy="912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28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형: 전체의</a:t>
            </a:r>
            <a:endParaRPr lang="ko-KR" sz="2800" dirty="0"/>
          </a:p>
          <a:p>
            <a:pPr eaLnBrk="0" algn="l" indent="0" marL="0">
              <a:buNone/>
            </a:pPr>
            <a:r>
              <a:rPr lang="ko-KR" altLang="en-US" sz="28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7분의 3</a:t>
            </a:r>
            <a:endParaRPr lang="ko-KR" sz="2800" dirty="0"/>
          </a:p>
        </p:txBody>
      </p:sp>
      <p:sp>
        <p:nvSpPr>
          <p:cNvPr id="8" name="S04-op37"/>
          <p:cNvSpPr txBox="1"/>
          <p:nvPr/>
        </p:nvSpPr>
        <p:spPr>
          <a:xfrm>
            <a:off x="6981810" y="2055368"/>
            <a:ext cx="725424" cy="912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8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35</a:t>
            </a:r>
            <a:endParaRPr lang="ko-KR" sz="2800" dirty="0"/>
          </a:p>
        </p:txBody>
      </p:sp>
      <p:sp>
        <p:nvSpPr>
          <p:cNvPr id="9" name="S04-op38"/>
          <p:cNvSpPr txBox="1"/>
          <p:nvPr/>
        </p:nvSpPr>
        <p:spPr>
          <a:xfrm>
            <a:off x="7816962" y="2055368"/>
            <a:ext cx="604520" cy="912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8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×</a:t>
            </a:r>
            <a:endParaRPr lang="ko-KR" sz="2800" dirty="0"/>
          </a:p>
        </p:txBody>
      </p:sp>
      <p:sp>
        <p:nvSpPr>
          <p:cNvPr id="10" name="S04-num39"/>
          <p:cNvSpPr txBox="1"/>
          <p:nvPr/>
        </p:nvSpPr>
        <p:spPr>
          <a:xfrm>
            <a:off x="8531210" y="2055368"/>
            <a:ext cx="483108" cy="419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8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3</a:t>
            </a:r>
            <a:endParaRPr lang="ko-KR" sz="2800" dirty="0"/>
          </a:p>
        </p:txBody>
      </p:sp>
      <p:sp>
        <p:nvSpPr>
          <p:cNvPr id="11" name="S04-fracbar40"/>
          <p:cNvSpPr/>
          <p:nvPr/>
        </p:nvSpPr>
        <p:spPr>
          <a:xfrm>
            <a:off x="8567786" y="2511552"/>
            <a:ext cx="409956" cy="0"/>
          </a:xfrm>
          <a:prstGeom prst="line">
            <a:avLst/>
          </a:prstGeom>
          <a:noFill/>
          <a:ln w="22225">
            <a:solidFill>
              <a:srgbClr val="1F2937"/>
            </a:solidFill>
            <a:prstDash val="solid"/>
          </a:ln>
        </p:spPr>
      </p:sp>
      <p:sp>
        <p:nvSpPr>
          <p:cNvPr id="12" name="S04-num41"/>
          <p:cNvSpPr txBox="1"/>
          <p:nvPr/>
        </p:nvSpPr>
        <p:spPr>
          <a:xfrm>
            <a:off x="8531210" y="2548128"/>
            <a:ext cx="483108" cy="419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8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7</a:t>
            </a:r>
            <a:endParaRPr lang="ko-KR" sz="2800" dirty="0"/>
          </a:p>
        </p:txBody>
      </p:sp>
      <p:sp>
        <p:nvSpPr>
          <p:cNvPr id="13" name="S04-op42"/>
          <p:cNvSpPr txBox="1"/>
          <p:nvPr/>
        </p:nvSpPr>
        <p:spPr>
          <a:xfrm>
            <a:off x="9124046" y="2055368"/>
            <a:ext cx="405384" cy="912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8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=</a:t>
            </a:r>
            <a:endParaRPr lang="ko-KR" sz="2800" dirty="0"/>
          </a:p>
        </p:txBody>
      </p:sp>
      <p:sp>
        <p:nvSpPr>
          <p:cNvPr id="14" name="S04-op43"/>
          <p:cNvSpPr txBox="1"/>
          <p:nvPr/>
        </p:nvSpPr>
        <p:spPr>
          <a:xfrm>
            <a:off x="9639158" y="2055368"/>
            <a:ext cx="725424" cy="912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8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15</a:t>
            </a:r>
            <a:endParaRPr lang="ko-KR" sz="2800" dirty="0"/>
          </a:p>
        </p:txBody>
      </p:sp>
      <p:sp>
        <p:nvSpPr>
          <p:cNvPr id="15" name="S04-stepno44"/>
          <p:cNvSpPr txBox="1"/>
          <p:nvPr/>
        </p:nvSpPr>
        <p:spPr>
          <a:xfrm>
            <a:off x="548640" y="3178048"/>
            <a:ext cx="548640" cy="548640"/>
          </a:xfrm>
          <a:prstGeom prst="ellipse">
            <a:avLst/>
          </a:prstGeom>
          <a:solidFill>
            <a:srgbClr val="264653"/>
          </a:solidFill>
          <a:ln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2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2</a:t>
            </a:r>
            <a:endParaRPr lang="ko-KR" sz="2200" dirty="0"/>
          </a:p>
        </p:txBody>
      </p:sp>
      <p:sp>
        <p:nvSpPr>
          <p:cNvPr id="16" name="S04-text45"/>
          <p:cNvSpPr txBox="1"/>
          <p:nvPr/>
        </p:nvSpPr>
        <p:spPr>
          <a:xfrm>
            <a:off x="1325880" y="3132328"/>
            <a:ext cx="5655930" cy="912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28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동생: 전체의</a:t>
            </a:r>
            <a:endParaRPr lang="ko-KR" sz="2800" dirty="0"/>
          </a:p>
          <a:p>
            <a:pPr eaLnBrk="0" algn="l" indent="0" marL="0">
              <a:buNone/>
            </a:pPr>
            <a:r>
              <a:rPr lang="ko-KR" altLang="en-US" sz="28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7분의 4</a:t>
            </a:r>
            <a:endParaRPr lang="ko-KR" sz="2800" dirty="0"/>
          </a:p>
        </p:txBody>
      </p:sp>
      <p:sp>
        <p:nvSpPr>
          <p:cNvPr id="17" name="S04-op46"/>
          <p:cNvSpPr txBox="1"/>
          <p:nvPr/>
        </p:nvSpPr>
        <p:spPr>
          <a:xfrm>
            <a:off x="6981810" y="3132328"/>
            <a:ext cx="725424" cy="912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8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35</a:t>
            </a:r>
            <a:endParaRPr lang="ko-KR" sz="2800" dirty="0"/>
          </a:p>
        </p:txBody>
      </p:sp>
      <p:sp>
        <p:nvSpPr>
          <p:cNvPr id="18" name="S04-op47"/>
          <p:cNvSpPr txBox="1"/>
          <p:nvPr/>
        </p:nvSpPr>
        <p:spPr>
          <a:xfrm>
            <a:off x="7816962" y="3132328"/>
            <a:ext cx="604520" cy="912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8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×</a:t>
            </a:r>
            <a:endParaRPr lang="ko-KR" sz="2800" dirty="0"/>
          </a:p>
        </p:txBody>
      </p:sp>
      <p:sp>
        <p:nvSpPr>
          <p:cNvPr id="19" name="S04-num48"/>
          <p:cNvSpPr txBox="1"/>
          <p:nvPr/>
        </p:nvSpPr>
        <p:spPr>
          <a:xfrm>
            <a:off x="8531210" y="3132328"/>
            <a:ext cx="483108" cy="419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8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4</a:t>
            </a:r>
            <a:endParaRPr lang="ko-KR" sz="2800" dirty="0"/>
          </a:p>
        </p:txBody>
      </p:sp>
      <p:sp>
        <p:nvSpPr>
          <p:cNvPr id="20" name="S04-fracbar49"/>
          <p:cNvSpPr/>
          <p:nvPr/>
        </p:nvSpPr>
        <p:spPr>
          <a:xfrm>
            <a:off x="8567786" y="3588512"/>
            <a:ext cx="409956" cy="0"/>
          </a:xfrm>
          <a:prstGeom prst="line">
            <a:avLst/>
          </a:prstGeom>
          <a:noFill/>
          <a:ln w="22225">
            <a:solidFill>
              <a:srgbClr val="1F2937"/>
            </a:solidFill>
            <a:prstDash val="solid"/>
          </a:ln>
        </p:spPr>
      </p:sp>
      <p:sp>
        <p:nvSpPr>
          <p:cNvPr id="21" name="S04-num50"/>
          <p:cNvSpPr txBox="1"/>
          <p:nvPr/>
        </p:nvSpPr>
        <p:spPr>
          <a:xfrm>
            <a:off x="8531210" y="3625088"/>
            <a:ext cx="483108" cy="419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8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7</a:t>
            </a:r>
            <a:endParaRPr lang="ko-KR" sz="2800" dirty="0"/>
          </a:p>
        </p:txBody>
      </p:sp>
      <p:sp>
        <p:nvSpPr>
          <p:cNvPr id="22" name="S04-op51"/>
          <p:cNvSpPr txBox="1"/>
          <p:nvPr/>
        </p:nvSpPr>
        <p:spPr>
          <a:xfrm>
            <a:off x="9124046" y="3132328"/>
            <a:ext cx="405384" cy="912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8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=</a:t>
            </a:r>
            <a:endParaRPr lang="ko-KR" sz="2800" dirty="0"/>
          </a:p>
        </p:txBody>
      </p:sp>
      <p:sp>
        <p:nvSpPr>
          <p:cNvPr id="23" name="S04-op52"/>
          <p:cNvSpPr txBox="1"/>
          <p:nvPr/>
        </p:nvSpPr>
        <p:spPr>
          <a:xfrm>
            <a:off x="9639158" y="3132328"/>
            <a:ext cx="725424" cy="912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8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20</a:t>
            </a:r>
            <a:endParaRPr lang="ko-KR" sz="2800" dirty="0"/>
          </a:p>
        </p:txBody>
      </p:sp>
      <p:sp>
        <p:nvSpPr>
          <p:cNvPr id="24" name="S04-stepno53"/>
          <p:cNvSpPr txBox="1"/>
          <p:nvPr/>
        </p:nvSpPr>
        <p:spPr>
          <a:xfrm>
            <a:off x="548640" y="4255008"/>
            <a:ext cx="548640" cy="548640"/>
          </a:xfrm>
          <a:prstGeom prst="ellipse">
            <a:avLst/>
          </a:prstGeom>
          <a:solidFill>
            <a:srgbClr val="264653"/>
          </a:solidFill>
          <a:ln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2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3</a:t>
            </a:r>
            <a:endParaRPr lang="ko-KR" sz="2200" dirty="0"/>
          </a:p>
        </p:txBody>
      </p:sp>
      <p:sp>
        <p:nvSpPr>
          <p:cNvPr id="25" name="S04-text54"/>
          <p:cNvSpPr txBox="1"/>
          <p:nvPr/>
        </p:nvSpPr>
        <p:spPr>
          <a:xfrm>
            <a:off x="1325880" y="4209288"/>
            <a:ext cx="5655930" cy="8676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28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합이 전체인지</a:t>
            </a:r>
            <a:endParaRPr lang="ko-KR" sz="2800" dirty="0"/>
          </a:p>
          <a:p>
            <a:pPr eaLnBrk="0" algn="l" indent="0" marL="0">
              <a:buNone/>
            </a:pPr>
            <a:r>
              <a:rPr lang="ko-KR" altLang="en-US" sz="28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확인해요.</a:t>
            </a:r>
            <a:endParaRPr lang="ko-KR" sz="2800" dirty="0"/>
          </a:p>
        </p:txBody>
      </p:sp>
      <p:sp>
        <p:nvSpPr>
          <p:cNvPr id="26" name="S04-eqtext55"/>
          <p:cNvSpPr txBox="1"/>
          <p:nvPr/>
        </p:nvSpPr>
        <p:spPr>
          <a:xfrm>
            <a:off x="6981810" y="4209288"/>
            <a:ext cx="4658502" cy="8676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28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15 + 20 = 35</a:t>
            </a:r>
            <a:endParaRPr lang="ko-KR" sz="28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881360" y="6382512"/>
            <a:ext cx="731520" cy="32004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200">
                <a:solidFill>
                  <a:srgbClr val="4B5563"/>
                </a:solidFill>
                <a:latin typeface="맑은 고딕"/>
                <a:ea typeface="맑은 고딕"/>
                <a:cs typeface="맑은 고딕"/>
              </a:defRPr>
            </a:lvl1pPr>
          </a:lstStyle>
          <a:p>
            <a:pPr eaLnBrk="0" algn="r"/>
            <a:fld id="{F7021451-1387-4CA6-816F-3879F97B5CBC}" type="slidenum">
              <a:rPr b="0" lang="en-US"/>
              <a:t>4</a:t>
            </a:fld>
            <a:endParaRPr lang="en-US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642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40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비례배분해 봐요</a:t>
            </a:r>
            <a:endParaRPr lang="ko-KR" sz="4000" dirty="0"/>
          </a:p>
        </p:txBody>
      </p:sp>
      <p:sp>
        <p:nvSpPr>
          <p:cNvPr id="3" name="S05-card56"/>
          <p:cNvSpPr/>
          <p:nvPr/>
        </p:nvSpPr>
        <p:spPr>
          <a:xfrm>
            <a:off x="548640" y="5349240"/>
            <a:ext cx="11091672" cy="868680"/>
          </a:xfrm>
          <a:prstGeom prst="roundRect">
            <a:avLst>
              <a:gd name="adj" fmla="val 12632"/>
            </a:avLst>
          </a:prstGeom>
          <a:solidFill>
            <a:srgbClr val="E6ECF4"/>
          </a:solidFill>
          <a:ln w="12700">
            <a:solidFill>
              <a:srgbClr val="E6ECF4"/>
            </a:solidFill>
            <a:prstDash val="solid"/>
          </a:ln>
        </p:spPr>
      </p:sp>
      <p:sp>
        <p:nvSpPr>
          <p:cNvPr id="4" name="S05-cardtext57"/>
          <p:cNvSpPr txBox="1"/>
          <p:nvPr/>
        </p:nvSpPr>
        <p:spPr>
          <a:xfrm>
            <a:off x="822960" y="5486400"/>
            <a:ext cx="10543032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indent="0" marL="0">
              <a:spcAft>
                <a:spcPts val="600"/>
              </a:spcAft>
              <a:buNone/>
            </a:pPr>
            <a:r>
              <a:rPr lang="ko-KR" altLang="en-US" sz="28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분모는 전항과 후항의 합이에요.</a:t>
            </a:r>
            <a:endParaRPr lang="ko-KR" sz="2800" dirty="0"/>
          </a:p>
        </p:txBody>
      </p:sp>
      <p:sp>
        <p:nvSpPr>
          <p:cNvPr id="5" name="S05-chip58"/>
          <p:cNvSpPr txBox="1"/>
          <p:nvPr/>
        </p:nvSpPr>
        <p:spPr>
          <a:xfrm>
            <a:off x="548640" y="1613916"/>
            <a:ext cx="566928" cy="566928"/>
          </a:xfrm>
          <a:prstGeom prst="roundRect">
            <a:avLst>
              <a:gd name="adj" fmla="val 25806"/>
            </a:avLst>
          </a:prstGeom>
          <a:solidFill>
            <a:srgbClr val="264653"/>
          </a:solidFill>
          <a:ln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2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①</a:t>
            </a:r>
            <a:endParaRPr lang="ko-KR" sz="2200" dirty="0"/>
          </a:p>
        </p:txBody>
      </p:sp>
      <p:sp>
        <p:nvSpPr>
          <p:cNvPr id="6" name="S05-text59"/>
          <p:cNvSpPr txBox="1"/>
          <p:nvPr/>
        </p:nvSpPr>
        <p:spPr>
          <a:xfrm>
            <a:off x="1344168" y="1325880"/>
            <a:ext cx="10296144" cy="1143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28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24를 1 : 3으로</a:t>
            </a:r>
            <a:endParaRPr lang="ko-KR" sz="2800" dirty="0"/>
          </a:p>
        </p:txBody>
      </p:sp>
      <p:sp>
        <p:nvSpPr>
          <p:cNvPr id="7" name="S05-chip60"/>
          <p:cNvSpPr txBox="1"/>
          <p:nvPr/>
        </p:nvSpPr>
        <p:spPr>
          <a:xfrm>
            <a:off x="548640" y="2939796"/>
            <a:ext cx="566928" cy="566928"/>
          </a:xfrm>
          <a:prstGeom prst="roundRect">
            <a:avLst>
              <a:gd name="adj" fmla="val 25806"/>
            </a:avLst>
          </a:prstGeom>
          <a:solidFill>
            <a:srgbClr val="264653"/>
          </a:solidFill>
          <a:ln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2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②</a:t>
            </a:r>
            <a:endParaRPr lang="ko-KR" sz="2200" dirty="0"/>
          </a:p>
        </p:txBody>
      </p:sp>
      <p:sp>
        <p:nvSpPr>
          <p:cNvPr id="8" name="S05-text61"/>
          <p:cNvSpPr txBox="1"/>
          <p:nvPr/>
        </p:nvSpPr>
        <p:spPr>
          <a:xfrm>
            <a:off x="1344168" y="2651760"/>
            <a:ext cx="10296144" cy="1143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28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40을 3 : 5로</a:t>
            </a:r>
            <a:endParaRPr lang="ko-KR" sz="2800" dirty="0"/>
          </a:p>
        </p:txBody>
      </p:sp>
      <p:sp>
        <p:nvSpPr>
          <p:cNvPr id="9" name="S05-chip62"/>
          <p:cNvSpPr txBox="1"/>
          <p:nvPr/>
        </p:nvSpPr>
        <p:spPr>
          <a:xfrm>
            <a:off x="548640" y="4265676"/>
            <a:ext cx="566928" cy="566928"/>
          </a:xfrm>
          <a:prstGeom prst="roundRect">
            <a:avLst>
              <a:gd name="adj" fmla="val 25806"/>
            </a:avLst>
          </a:prstGeom>
          <a:solidFill>
            <a:srgbClr val="264653"/>
          </a:solidFill>
          <a:ln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2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③</a:t>
            </a:r>
            <a:endParaRPr lang="ko-KR" sz="2200" dirty="0"/>
          </a:p>
        </p:txBody>
      </p:sp>
      <p:sp>
        <p:nvSpPr>
          <p:cNvPr id="10" name="S05-text63"/>
          <p:cNvSpPr txBox="1"/>
          <p:nvPr/>
        </p:nvSpPr>
        <p:spPr>
          <a:xfrm>
            <a:off x="1344168" y="3977640"/>
            <a:ext cx="10296144" cy="1143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28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54를 4 : 5로</a:t>
            </a:r>
            <a:endParaRPr lang="ko-KR" sz="28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881360" y="6382512"/>
            <a:ext cx="731520" cy="32004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200">
                <a:solidFill>
                  <a:srgbClr val="4B5563"/>
                </a:solidFill>
                <a:latin typeface="맑은 고딕"/>
                <a:ea typeface="맑은 고딕"/>
                <a:cs typeface="맑은 고딕"/>
              </a:defRPr>
            </a:lvl1pPr>
          </a:lstStyle>
          <a:p>
            <a:pPr eaLnBrk="0" algn="r"/>
            <a:fld id="{F7021451-1387-4CA6-816F-3879F97B5CBC}" type="slidenum">
              <a:rPr b="0" lang="en-US"/>
              <a:t>5</a:t>
            </a:fld>
            <a:endParaRPr lang="en-US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642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40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누구 말이 맞을까요?</a:t>
            </a:r>
            <a:endParaRPr lang="ko-KR" sz="4000" dirty="0"/>
          </a:p>
        </p:txBody>
      </p:sp>
      <p:sp>
        <p:nvSpPr>
          <p:cNvPr id="3" name="S06-card64"/>
          <p:cNvSpPr/>
          <p:nvPr/>
        </p:nvSpPr>
        <p:spPr>
          <a:xfrm>
            <a:off x="548640" y="1325880"/>
            <a:ext cx="11091672" cy="868680"/>
          </a:xfrm>
          <a:prstGeom prst="roundRect">
            <a:avLst>
              <a:gd name="adj" fmla="val 12632"/>
            </a:avLst>
          </a:prstGeom>
          <a:solidFill>
            <a:srgbClr val="EAF3F1"/>
          </a:solidFill>
          <a:ln w="12700">
            <a:solidFill>
              <a:srgbClr val="EAF3F1"/>
            </a:solidFill>
            <a:prstDash val="solid"/>
          </a:ln>
        </p:spPr>
      </p:sp>
      <p:sp>
        <p:nvSpPr>
          <p:cNvPr id="4" name="S06-cardtext65"/>
          <p:cNvSpPr txBox="1"/>
          <p:nvPr/>
        </p:nvSpPr>
        <p:spPr>
          <a:xfrm>
            <a:off x="822960" y="1463040"/>
            <a:ext cx="10543032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indent="0" marL="0">
              <a:spcAft>
                <a:spcPts val="600"/>
              </a:spcAft>
              <a:buNone/>
            </a:pPr>
            <a:r>
              <a:rPr lang="ko-KR" altLang="en-US" sz="28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사탕 28개를 형과 동생이 3 : 4로 나눴어요.</a:t>
            </a:r>
            <a:endParaRPr lang="ko-KR" sz="2800" dirty="0"/>
          </a:p>
        </p:txBody>
      </p:sp>
      <p:sp>
        <p:nvSpPr>
          <p:cNvPr id="5" name="S06-card66"/>
          <p:cNvSpPr/>
          <p:nvPr/>
        </p:nvSpPr>
        <p:spPr>
          <a:xfrm>
            <a:off x="548640" y="5349240"/>
            <a:ext cx="11091672" cy="868680"/>
          </a:xfrm>
          <a:prstGeom prst="roundRect">
            <a:avLst>
              <a:gd name="adj" fmla="val 12632"/>
            </a:avLst>
          </a:prstGeom>
          <a:solidFill>
            <a:srgbClr val="FDEBDD"/>
          </a:solidFill>
          <a:ln w="12700">
            <a:solidFill>
              <a:srgbClr val="FDEBDD"/>
            </a:solidFill>
            <a:prstDash val="solid"/>
          </a:ln>
        </p:spPr>
      </p:sp>
      <p:sp>
        <p:nvSpPr>
          <p:cNvPr id="6" name="S06-cardtext67"/>
          <p:cNvSpPr txBox="1"/>
          <p:nvPr/>
        </p:nvSpPr>
        <p:spPr>
          <a:xfrm>
            <a:off x="822960" y="5486400"/>
            <a:ext cx="10543032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indent="0" marL="0">
              <a:spcAft>
                <a:spcPts val="600"/>
              </a:spcAft>
              <a:buNone/>
            </a:pPr>
            <a:r>
              <a:rPr lang="ko-KR" altLang="en-US" sz="28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두 사람의 사탕 수의 비가 3 : 4인지 확인해요.</a:t>
            </a:r>
            <a:endParaRPr lang="ko-KR" sz="2800" dirty="0"/>
          </a:p>
        </p:txBody>
      </p:sp>
      <p:sp>
        <p:nvSpPr>
          <p:cNvPr id="7" name="S06-chip68"/>
          <p:cNvSpPr txBox="1"/>
          <p:nvPr/>
        </p:nvSpPr>
        <p:spPr>
          <a:xfrm>
            <a:off x="548640" y="2423160"/>
            <a:ext cx="5362956" cy="566928"/>
          </a:xfrm>
          <a:prstGeom prst="roundRect">
            <a:avLst>
              <a:gd name="adj" fmla="val 25806"/>
            </a:avLst>
          </a:prstGeom>
          <a:solidFill>
            <a:srgbClr val="E6ECF4"/>
          </a:solidFill>
          <a:ln>
            <a:solidFill>
              <a:srgbClr val="E6ECF4"/>
            </a:solidFill>
          </a:ln>
        </p:spPr>
        <p:txBody>
          <a:bodyPr wrap="square" lIns="177800" tIns="0" rIns="177800" bIns="0" rtlCol="0" anchor="ctr"/>
          <a:lstStyle/>
          <a:p>
            <a:pPr eaLnBrk="0" algn="l" indent="0" marL="0">
              <a:buNone/>
            </a:pPr>
            <a:r>
              <a:rPr lang="ko-KR" altLang="en-US" sz="22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토끼: 형 21개</a:t>
            </a:r>
            <a:endParaRPr lang="ko-KR" sz="2200" dirty="0"/>
          </a:p>
        </p:txBody>
      </p:sp>
      <p:sp>
        <p:nvSpPr>
          <p:cNvPr id="8" name="S06-text69"/>
          <p:cNvSpPr txBox="1"/>
          <p:nvPr/>
        </p:nvSpPr>
        <p:spPr>
          <a:xfrm>
            <a:off x="548640" y="3154680"/>
            <a:ext cx="5362956" cy="1965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eaLnBrk="0" algn="l" indent="0" marL="0">
              <a:buNone/>
            </a:pPr>
            <a:r>
              <a:rPr lang="ko-KR" altLang="en-US" sz="28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28 × 4분의 3 = 21</a:t>
            </a:r>
            <a:endParaRPr lang="ko-KR" sz="2800" dirty="0"/>
          </a:p>
          <a:p>
            <a:pPr eaLnBrk="0" algn="l" indent="0" marL="0">
              <a:buNone/>
            </a:pPr>
            <a:r>
              <a:rPr lang="ko-KR" altLang="en-US" sz="28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동생: 28 − 21 = 7</a:t>
            </a:r>
            <a:endParaRPr lang="ko-KR" sz="2800" dirty="0"/>
          </a:p>
        </p:txBody>
      </p:sp>
      <p:sp>
        <p:nvSpPr>
          <p:cNvPr id="9" name="S06-chip70"/>
          <p:cNvSpPr txBox="1"/>
          <p:nvPr/>
        </p:nvSpPr>
        <p:spPr>
          <a:xfrm>
            <a:off x="6277356" y="2423160"/>
            <a:ext cx="5362956" cy="566928"/>
          </a:xfrm>
          <a:prstGeom prst="roundRect">
            <a:avLst>
              <a:gd name="adj" fmla="val 25806"/>
            </a:avLst>
          </a:prstGeom>
          <a:solidFill>
            <a:srgbClr val="E6ECF4"/>
          </a:solidFill>
          <a:ln>
            <a:solidFill>
              <a:srgbClr val="E6ECF4"/>
            </a:solidFill>
          </a:ln>
        </p:spPr>
        <p:txBody>
          <a:bodyPr wrap="square" lIns="177800" tIns="0" rIns="177800" bIns="0" rtlCol="0" anchor="ctr"/>
          <a:lstStyle/>
          <a:p>
            <a:pPr eaLnBrk="0" algn="l" indent="0" marL="0">
              <a:buNone/>
            </a:pPr>
            <a:r>
              <a:rPr lang="ko-KR" altLang="en-US" sz="22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곰: 형 12개</a:t>
            </a:r>
            <a:endParaRPr lang="ko-KR" sz="2200" dirty="0"/>
          </a:p>
        </p:txBody>
      </p:sp>
      <p:sp>
        <p:nvSpPr>
          <p:cNvPr id="10" name="S06-text71"/>
          <p:cNvSpPr txBox="1"/>
          <p:nvPr/>
        </p:nvSpPr>
        <p:spPr>
          <a:xfrm>
            <a:off x="6277356" y="3154680"/>
            <a:ext cx="5362956" cy="1965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eaLnBrk="0" algn="l" indent="0" marL="0">
              <a:buNone/>
            </a:pPr>
            <a:r>
              <a:rPr lang="ko-KR" altLang="en-US" sz="28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28 × 7분의 3 = 12</a:t>
            </a:r>
            <a:endParaRPr lang="ko-KR" sz="2800" dirty="0"/>
          </a:p>
          <a:p>
            <a:pPr eaLnBrk="0" algn="l" indent="0" marL="0">
              <a:buNone/>
            </a:pPr>
            <a:r>
              <a:rPr lang="ko-KR" altLang="en-US" sz="28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동생: 28 × 7분의 4 = 16</a:t>
            </a:r>
            <a:endParaRPr lang="ko-KR" sz="28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881360" y="6382512"/>
            <a:ext cx="731520" cy="32004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200">
                <a:solidFill>
                  <a:srgbClr val="4B5563"/>
                </a:solidFill>
                <a:latin typeface="맑은 고딕"/>
                <a:ea typeface="맑은 고딕"/>
                <a:cs typeface="맑은 고딕"/>
              </a:defRPr>
            </a:lvl1pPr>
          </a:lstStyle>
          <a:p>
            <a:pPr eaLnBrk="0" algn="r"/>
            <a:fld id="{F7021451-1387-4CA6-816F-3879F97B5CBC}" type="slidenum">
              <a:rPr b="0" lang="en-US"/>
              <a:t>6</a:t>
            </a:fld>
            <a:endParaRPr lang="en-US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642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40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직사각형의 가로와 세로</a:t>
            </a:r>
            <a:endParaRPr lang="ko-KR" sz="4000" dirty="0"/>
          </a:p>
        </p:txBody>
      </p:sp>
      <p:sp>
        <p:nvSpPr>
          <p:cNvPr id="3" name="S07-text72"/>
          <p:cNvSpPr txBox="1"/>
          <p:nvPr/>
        </p:nvSpPr>
        <p:spPr>
          <a:xfrm>
            <a:off x="548640" y="1325880"/>
            <a:ext cx="11091672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28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둘레가 60 cm, 가로 : 세로 = 3 : 2예요.</a:t>
            </a:r>
            <a:endParaRPr lang="ko-KR" sz="2800" dirty="0"/>
          </a:p>
        </p:txBody>
      </p:sp>
      <p:sp>
        <p:nvSpPr>
          <p:cNvPr id="4" name="S07-card73"/>
          <p:cNvSpPr/>
          <p:nvPr/>
        </p:nvSpPr>
        <p:spPr>
          <a:xfrm>
            <a:off x="548640" y="5349240"/>
            <a:ext cx="11091672" cy="868680"/>
          </a:xfrm>
          <a:prstGeom prst="roundRect">
            <a:avLst>
              <a:gd name="adj" fmla="val 12632"/>
            </a:avLst>
          </a:prstGeom>
          <a:solidFill>
            <a:srgbClr val="FDEBDD"/>
          </a:solidFill>
          <a:ln w="12700">
            <a:solidFill>
              <a:srgbClr val="FDEBDD"/>
            </a:solidFill>
            <a:prstDash val="solid"/>
          </a:ln>
        </p:spPr>
      </p:sp>
      <p:sp>
        <p:nvSpPr>
          <p:cNvPr id="5" name="S07-cardtext74"/>
          <p:cNvSpPr txBox="1"/>
          <p:nvPr/>
        </p:nvSpPr>
        <p:spPr>
          <a:xfrm>
            <a:off x="822960" y="5486400"/>
            <a:ext cx="10543032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indent="0" marL="0">
              <a:spcAft>
                <a:spcPts val="600"/>
              </a:spcAft>
              <a:buNone/>
            </a:pPr>
            <a:r>
              <a:rPr lang="ko-KR" altLang="en-US" sz="28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확인: (18 + 12) × 2 = 60, 18 : 12 = 3 : 2</a:t>
            </a:r>
            <a:endParaRPr lang="ko-KR" sz="2800" dirty="0"/>
          </a:p>
        </p:txBody>
      </p:sp>
      <p:sp>
        <p:nvSpPr>
          <p:cNvPr id="6" name="S07-figure75" descr="가로와 세로의 비가 3 : 2인 직사각형"/>
          <p:cNvSpPr/>
          <p:nvPr/>
        </p:nvSpPr>
        <p:spPr>
          <a:xfrm>
            <a:off x="8338048" y="2651760"/>
            <a:ext cx="2743200" cy="1828800"/>
          </a:xfrm>
          <a:custGeom>
            <a:avLst/>
            <a:gdLst/>
            <a:ahLst/>
            <a:cxnLst/>
            <a:rect l="l" t="t" r="r" b="b"/>
            <a:pathLst>
              <a:path w="2743200" h="1828800">
                <a:moveTo>
                  <a:pt x="0" y="1828800"/>
                </a:moveTo>
                <a:lnTo>
                  <a:pt x="2743200" y="1828800"/>
                </a:lnTo>
                <a:lnTo>
                  <a:pt x="2743200" y="0"/>
                </a:lnTo>
                <a:lnTo>
                  <a:pt x="0" y="0"/>
                </a:lnTo>
                <a:close/>
              </a:path>
            </a:pathLst>
          </a:custGeom>
          <a:solidFill>
            <a:srgbClr val="FDEBDD"/>
          </a:solidFill>
          <a:ln w="28575">
            <a:solidFill>
              <a:srgbClr val="1F2937"/>
            </a:solidFill>
            <a:prstDash val="solid"/>
          </a:ln>
        </p:spPr>
      </p:sp>
      <p:sp>
        <p:nvSpPr>
          <p:cNvPr id="7" name="S07-label77"/>
          <p:cNvSpPr txBox="1"/>
          <p:nvPr/>
        </p:nvSpPr>
        <p:spPr>
          <a:xfrm>
            <a:off x="9380972" y="4557395"/>
            <a:ext cx="657352" cy="34925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2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가로</a:t>
            </a:r>
            <a:endParaRPr lang="ko-KR" sz="2200" dirty="0"/>
          </a:p>
        </p:txBody>
      </p:sp>
      <p:sp>
        <p:nvSpPr>
          <p:cNvPr id="8" name="S07-label79"/>
          <p:cNvSpPr txBox="1"/>
          <p:nvPr/>
        </p:nvSpPr>
        <p:spPr>
          <a:xfrm>
            <a:off x="11110204" y="3391535"/>
            <a:ext cx="657352" cy="34925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2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세로</a:t>
            </a:r>
            <a:endParaRPr lang="ko-KR" sz="2200" dirty="0"/>
          </a:p>
        </p:txBody>
      </p:sp>
      <p:sp>
        <p:nvSpPr>
          <p:cNvPr id="9" name="S07-stepno80"/>
          <p:cNvSpPr txBox="1"/>
          <p:nvPr/>
        </p:nvSpPr>
        <p:spPr>
          <a:xfrm>
            <a:off x="548640" y="2145792"/>
            <a:ext cx="548640" cy="548640"/>
          </a:xfrm>
          <a:prstGeom prst="ellipse">
            <a:avLst/>
          </a:prstGeom>
          <a:solidFill>
            <a:srgbClr val="264653"/>
          </a:solidFill>
          <a:ln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2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1</a:t>
            </a:r>
            <a:endParaRPr lang="ko-KR" sz="2200" dirty="0"/>
          </a:p>
        </p:txBody>
      </p:sp>
      <p:sp>
        <p:nvSpPr>
          <p:cNvPr id="10" name="S07-text81"/>
          <p:cNvSpPr txBox="1"/>
          <p:nvPr/>
        </p:nvSpPr>
        <p:spPr>
          <a:xfrm>
            <a:off x="1325880" y="2100072"/>
            <a:ext cx="6087344" cy="86766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eaLnBrk="0" algn="l" indent="0" marL="0">
              <a:buNone/>
            </a:pPr>
            <a:r>
              <a:rPr lang="ko-KR" altLang="en-US" sz="28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가로와 세로의 합:</a:t>
            </a:r>
            <a:endParaRPr lang="ko-KR" sz="2800" dirty="0"/>
          </a:p>
          <a:p>
            <a:pPr eaLnBrk="0" algn="l" indent="0" marL="0">
              <a:buNone/>
            </a:pPr>
            <a:r>
              <a:rPr lang="en-US" altLang="ko-KR" sz="28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60 ÷ 2 = 30(cm)</a:t>
            </a:r>
            <a:endParaRPr lang="ko-KR" sz="2800" dirty="0"/>
          </a:p>
        </p:txBody>
      </p:sp>
      <p:sp>
        <p:nvSpPr>
          <p:cNvPr id="11" name="S07-stepno82"/>
          <p:cNvSpPr txBox="1"/>
          <p:nvPr/>
        </p:nvSpPr>
        <p:spPr>
          <a:xfrm>
            <a:off x="548640" y="3178048"/>
            <a:ext cx="548640" cy="548640"/>
          </a:xfrm>
          <a:prstGeom prst="ellipse">
            <a:avLst/>
          </a:prstGeom>
          <a:solidFill>
            <a:srgbClr val="264653"/>
          </a:solidFill>
          <a:ln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2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2</a:t>
            </a:r>
            <a:endParaRPr lang="ko-KR" sz="2200" dirty="0"/>
          </a:p>
        </p:txBody>
      </p:sp>
      <p:sp>
        <p:nvSpPr>
          <p:cNvPr id="12" name="S07-text83"/>
          <p:cNvSpPr txBox="1"/>
          <p:nvPr/>
        </p:nvSpPr>
        <p:spPr>
          <a:xfrm>
            <a:off x="1325880" y="3132328"/>
            <a:ext cx="6087344" cy="86766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eaLnBrk="0" algn="l" indent="0" marL="0">
              <a:buNone/>
            </a:pPr>
            <a:r>
              <a:rPr lang="ko-KR" altLang="en-US" sz="28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가로: 30 × 5분의 3</a:t>
            </a:r>
            <a:endParaRPr lang="ko-KR" sz="2800" dirty="0"/>
          </a:p>
          <a:p>
            <a:pPr eaLnBrk="0" algn="l" indent="0" marL="0">
              <a:buNone/>
            </a:pPr>
            <a:r>
              <a:rPr lang="en-US" altLang="ko-KR" sz="28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= 18(cm)</a:t>
            </a:r>
            <a:endParaRPr lang="ko-KR" sz="2800" dirty="0"/>
          </a:p>
        </p:txBody>
      </p:sp>
      <p:sp>
        <p:nvSpPr>
          <p:cNvPr id="13" name="S07-stepno84"/>
          <p:cNvSpPr txBox="1"/>
          <p:nvPr/>
        </p:nvSpPr>
        <p:spPr>
          <a:xfrm>
            <a:off x="548640" y="4210304"/>
            <a:ext cx="548640" cy="548640"/>
          </a:xfrm>
          <a:prstGeom prst="ellipse">
            <a:avLst/>
          </a:prstGeom>
          <a:solidFill>
            <a:srgbClr val="264653"/>
          </a:solidFill>
          <a:ln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2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3</a:t>
            </a:r>
            <a:endParaRPr lang="ko-KR" sz="2200" dirty="0"/>
          </a:p>
        </p:txBody>
      </p:sp>
      <p:sp>
        <p:nvSpPr>
          <p:cNvPr id="14" name="S07-text85"/>
          <p:cNvSpPr txBox="1"/>
          <p:nvPr/>
        </p:nvSpPr>
        <p:spPr>
          <a:xfrm>
            <a:off x="1325880" y="4164584"/>
            <a:ext cx="6087344" cy="86766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eaLnBrk="0" algn="l" indent="0" marL="0">
              <a:buNone/>
            </a:pPr>
            <a:r>
              <a:rPr lang="ko-KR" altLang="en-US" sz="28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세로: 30 × 5분의 2</a:t>
            </a:r>
            <a:endParaRPr lang="ko-KR" sz="2800" dirty="0"/>
          </a:p>
          <a:p>
            <a:pPr eaLnBrk="0" algn="l" indent="0" marL="0">
              <a:buNone/>
            </a:pPr>
            <a:r>
              <a:rPr lang="en-US" altLang="ko-KR" sz="28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= 12(cm)</a:t>
            </a:r>
            <a:endParaRPr lang="ko-KR" sz="28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881360" y="6382512"/>
            <a:ext cx="731520" cy="32004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200">
                <a:solidFill>
                  <a:srgbClr val="4B5563"/>
                </a:solidFill>
                <a:latin typeface="맑은 고딕"/>
                <a:ea typeface="맑은 고딕"/>
                <a:cs typeface="맑은 고딕"/>
              </a:defRPr>
            </a:lvl1pPr>
          </a:lstStyle>
          <a:p>
            <a:pPr eaLnBrk="0" algn="r"/>
            <a:fld id="{F7021451-1387-4CA6-816F-3879F97B5CBC}" type="slidenum">
              <a:rPr b="0" lang="en-US"/>
              <a:t>7</a:t>
            </a:fld>
            <a:endParaRPr lang="en-US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642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40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누구의 직사각형일까요?</a:t>
            </a:r>
            <a:endParaRPr lang="ko-KR" sz="4000" dirty="0"/>
          </a:p>
        </p:txBody>
      </p:sp>
      <p:sp>
        <p:nvSpPr>
          <p:cNvPr id="3" name="S08-card86"/>
          <p:cNvSpPr/>
          <p:nvPr/>
        </p:nvSpPr>
        <p:spPr>
          <a:xfrm>
            <a:off x="548640" y="1325880"/>
            <a:ext cx="11091672" cy="868680"/>
          </a:xfrm>
          <a:prstGeom prst="roundRect">
            <a:avLst>
              <a:gd name="adj" fmla="val 12632"/>
            </a:avLst>
          </a:prstGeom>
          <a:solidFill>
            <a:srgbClr val="EAF3F1"/>
          </a:solidFill>
          <a:ln w="12700">
            <a:solidFill>
              <a:srgbClr val="EAF3F1"/>
            </a:solidFill>
            <a:prstDash val="solid"/>
          </a:ln>
        </p:spPr>
      </p:sp>
      <p:sp>
        <p:nvSpPr>
          <p:cNvPr id="4" name="S08-cardtext87"/>
          <p:cNvSpPr txBox="1"/>
          <p:nvPr/>
        </p:nvSpPr>
        <p:spPr>
          <a:xfrm>
            <a:off x="822960" y="1463040"/>
            <a:ext cx="10543032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indent="0" marL="0">
              <a:spcAft>
                <a:spcPts val="600"/>
              </a:spcAft>
              <a:buNone/>
            </a:pPr>
            <a:r>
              <a:rPr lang="ko-KR" altLang="en-US" sz="28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둘레가 40 cm, 가로 : 세로 = 3 : 1인 직사각형을 그려요.</a:t>
            </a:r>
            <a:endParaRPr lang="ko-KR" sz="2800" dirty="0"/>
          </a:p>
        </p:txBody>
      </p:sp>
      <p:sp>
        <p:nvSpPr>
          <p:cNvPr id="5" name="S08-card88"/>
          <p:cNvSpPr/>
          <p:nvPr/>
        </p:nvSpPr>
        <p:spPr>
          <a:xfrm>
            <a:off x="548640" y="5349240"/>
            <a:ext cx="11091672" cy="868680"/>
          </a:xfrm>
          <a:prstGeom prst="roundRect">
            <a:avLst>
              <a:gd name="adj" fmla="val 12632"/>
            </a:avLst>
          </a:prstGeom>
          <a:solidFill>
            <a:srgbClr val="FDEBDD"/>
          </a:solidFill>
          <a:ln w="12700">
            <a:solidFill>
              <a:srgbClr val="FDEBDD"/>
            </a:solidFill>
            <a:prstDash val="solid"/>
          </a:ln>
        </p:spPr>
      </p:sp>
      <p:sp>
        <p:nvSpPr>
          <p:cNvPr id="6" name="S08-cardtext89"/>
          <p:cNvSpPr txBox="1"/>
          <p:nvPr/>
        </p:nvSpPr>
        <p:spPr>
          <a:xfrm>
            <a:off x="822960" y="5486400"/>
            <a:ext cx="10543032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indent="0" marL="0">
              <a:spcAft>
                <a:spcPts val="600"/>
              </a:spcAft>
              <a:buNone/>
            </a:pPr>
            <a:r>
              <a:rPr lang="ko-KR" altLang="en-US" sz="28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토끼와 곰의 직사각형의 둘레를 구해 봐요.</a:t>
            </a:r>
            <a:endParaRPr lang="ko-KR" sz="2800" dirty="0"/>
          </a:p>
        </p:txBody>
      </p:sp>
      <p:sp>
        <p:nvSpPr>
          <p:cNvPr id="7" name="S08-chip90"/>
          <p:cNvSpPr txBox="1"/>
          <p:nvPr/>
        </p:nvSpPr>
        <p:spPr>
          <a:xfrm>
            <a:off x="548640" y="2423160"/>
            <a:ext cx="5362956" cy="566928"/>
          </a:xfrm>
          <a:prstGeom prst="roundRect">
            <a:avLst>
              <a:gd name="adj" fmla="val 25806"/>
            </a:avLst>
          </a:prstGeom>
          <a:solidFill>
            <a:srgbClr val="E6ECF4"/>
          </a:solidFill>
          <a:ln>
            <a:solidFill>
              <a:srgbClr val="E6ECF4"/>
            </a:solidFill>
          </a:ln>
        </p:spPr>
        <p:txBody>
          <a:bodyPr wrap="square" lIns="177800" tIns="0" rIns="177800" bIns="0" rtlCol="0" anchor="ctr"/>
          <a:lstStyle/>
          <a:p>
            <a:pPr eaLnBrk="0" algn="l" indent="0" marL="0">
              <a:buNone/>
            </a:pPr>
            <a:r>
              <a:rPr lang="ko-KR" altLang="en-US" sz="22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토끼: 가로 30 cm</a:t>
            </a:r>
            <a:endParaRPr lang="ko-KR" sz="2200" dirty="0"/>
          </a:p>
        </p:txBody>
      </p:sp>
      <p:sp>
        <p:nvSpPr>
          <p:cNvPr id="8" name="S08-text91"/>
          <p:cNvSpPr txBox="1"/>
          <p:nvPr/>
        </p:nvSpPr>
        <p:spPr>
          <a:xfrm>
            <a:off x="548640" y="3154680"/>
            <a:ext cx="5362956" cy="1965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eaLnBrk="0" algn="l" indent="0" marL="0">
              <a:buNone/>
            </a:pPr>
            <a:r>
              <a:rPr lang="ko-KR" altLang="en-US" sz="28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40 × 4분의 3 = 30</a:t>
            </a:r>
            <a:endParaRPr lang="ko-KR" sz="2800" dirty="0"/>
          </a:p>
          <a:p>
            <a:pPr eaLnBrk="0" algn="l" indent="0" marL="0">
              <a:buNone/>
            </a:pPr>
            <a:r>
              <a:rPr lang="ko-KR" altLang="en-US" sz="28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40 × 4분의 1 = 10</a:t>
            </a:r>
            <a:endParaRPr lang="ko-KR" sz="2800" dirty="0"/>
          </a:p>
        </p:txBody>
      </p:sp>
      <p:sp>
        <p:nvSpPr>
          <p:cNvPr id="9" name="S08-chip92"/>
          <p:cNvSpPr txBox="1"/>
          <p:nvPr/>
        </p:nvSpPr>
        <p:spPr>
          <a:xfrm>
            <a:off x="6277356" y="2423160"/>
            <a:ext cx="5362956" cy="566928"/>
          </a:xfrm>
          <a:prstGeom prst="roundRect">
            <a:avLst>
              <a:gd name="adj" fmla="val 25806"/>
            </a:avLst>
          </a:prstGeom>
          <a:solidFill>
            <a:srgbClr val="E6ECF4"/>
          </a:solidFill>
          <a:ln>
            <a:solidFill>
              <a:srgbClr val="E6ECF4"/>
            </a:solidFill>
          </a:ln>
        </p:spPr>
        <p:txBody>
          <a:bodyPr wrap="square" lIns="177800" tIns="0" rIns="177800" bIns="0" rtlCol="0" anchor="ctr"/>
          <a:lstStyle/>
          <a:p>
            <a:pPr eaLnBrk="0" algn="l" indent="0" marL="0">
              <a:buNone/>
            </a:pPr>
            <a:r>
              <a:rPr lang="ko-KR" altLang="en-US" sz="22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곰: 가로 15 cm</a:t>
            </a:r>
            <a:endParaRPr lang="ko-KR" sz="2200" dirty="0"/>
          </a:p>
        </p:txBody>
      </p:sp>
      <p:sp>
        <p:nvSpPr>
          <p:cNvPr id="10" name="S08-text93"/>
          <p:cNvSpPr txBox="1"/>
          <p:nvPr/>
        </p:nvSpPr>
        <p:spPr>
          <a:xfrm>
            <a:off x="6277356" y="3154680"/>
            <a:ext cx="5362956" cy="1965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eaLnBrk="0" algn="l" indent="0" marL="0">
              <a:buNone/>
            </a:pPr>
            <a:r>
              <a:rPr lang="ko-KR" altLang="en-US" sz="28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가로 + 세로 = 20</a:t>
            </a:r>
            <a:endParaRPr lang="ko-KR" sz="2800" dirty="0"/>
          </a:p>
          <a:p>
            <a:pPr eaLnBrk="0" algn="l" indent="0" marL="0">
              <a:buNone/>
            </a:pPr>
            <a:r>
              <a:rPr lang="ko-KR" altLang="en-US" sz="28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20 × 4분의 3 = 15</a:t>
            </a:r>
            <a:endParaRPr lang="ko-KR" sz="2800" dirty="0"/>
          </a:p>
          <a:p>
            <a:pPr eaLnBrk="0" algn="l" indent="0" marL="0">
              <a:buNone/>
            </a:pPr>
            <a:r>
              <a:rPr lang="ko-KR" altLang="en-US" sz="28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20 × 4분의 1 = 5</a:t>
            </a:r>
            <a:endParaRPr lang="ko-KR" sz="28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881360" y="6382512"/>
            <a:ext cx="731520" cy="32004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200">
                <a:solidFill>
                  <a:srgbClr val="4B5563"/>
                </a:solidFill>
                <a:latin typeface="맑은 고딕"/>
                <a:ea typeface="맑은 고딕"/>
                <a:cs typeface="맑은 고딕"/>
              </a:defRPr>
            </a:lvl1pPr>
          </a:lstStyle>
          <a:p>
            <a:pPr eaLnBrk="0" algn="r"/>
            <a:fld id="{F7021451-1387-4CA6-816F-3879F97B5CBC}" type="slidenum">
              <a:rPr b="0" lang="en-US"/>
              <a:t>8</a:t>
            </a:fld>
            <a:endParaRPr lang="en-US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642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40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생활 속 비례배분</a:t>
            </a:r>
            <a:endParaRPr lang="ko-KR" sz="4000" dirty="0"/>
          </a:p>
        </p:txBody>
      </p:sp>
      <p:sp>
        <p:nvSpPr>
          <p:cNvPr id="3" name="S09-card94"/>
          <p:cNvSpPr/>
          <p:nvPr/>
        </p:nvSpPr>
        <p:spPr>
          <a:xfrm>
            <a:off x="548640" y="5349240"/>
            <a:ext cx="11091672" cy="868680"/>
          </a:xfrm>
          <a:prstGeom prst="roundRect">
            <a:avLst>
              <a:gd name="adj" fmla="val 12632"/>
            </a:avLst>
          </a:prstGeom>
          <a:solidFill>
            <a:srgbClr val="E6ECF4"/>
          </a:solidFill>
          <a:ln w="12700">
            <a:solidFill>
              <a:srgbClr val="E6ECF4"/>
            </a:solidFill>
            <a:prstDash val="solid"/>
          </a:ln>
        </p:spPr>
      </p:sp>
      <p:sp>
        <p:nvSpPr>
          <p:cNvPr id="4" name="S09-cardtext95"/>
          <p:cNvSpPr txBox="1"/>
          <p:nvPr/>
        </p:nvSpPr>
        <p:spPr>
          <a:xfrm>
            <a:off x="822960" y="5486400"/>
            <a:ext cx="10543032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indent="0" marL="0">
              <a:spcAft>
                <a:spcPts val="600"/>
              </a:spcAft>
              <a:buNone/>
            </a:pPr>
            <a:r>
              <a:rPr lang="ko-KR" altLang="en-US" sz="28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나눈 두 양의 합과 비로 확인해요.</a:t>
            </a:r>
            <a:endParaRPr lang="ko-KR" sz="2800" dirty="0"/>
          </a:p>
        </p:txBody>
      </p:sp>
      <p:sp>
        <p:nvSpPr>
          <p:cNvPr id="5" name="S09-chip96"/>
          <p:cNvSpPr txBox="1"/>
          <p:nvPr/>
        </p:nvSpPr>
        <p:spPr>
          <a:xfrm>
            <a:off x="548640" y="1613916"/>
            <a:ext cx="566928" cy="566928"/>
          </a:xfrm>
          <a:prstGeom prst="roundRect">
            <a:avLst>
              <a:gd name="adj" fmla="val 25806"/>
            </a:avLst>
          </a:prstGeom>
          <a:solidFill>
            <a:srgbClr val="264653"/>
          </a:solidFill>
          <a:ln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2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①</a:t>
            </a:r>
            <a:endParaRPr lang="ko-KR" sz="2200" dirty="0"/>
          </a:p>
        </p:txBody>
      </p:sp>
      <p:sp>
        <p:nvSpPr>
          <p:cNvPr id="6" name="S09-text97"/>
          <p:cNvSpPr txBox="1"/>
          <p:nvPr/>
        </p:nvSpPr>
        <p:spPr>
          <a:xfrm>
            <a:off x="1344168" y="1325880"/>
            <a:ext cx="10296144" cy="1143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28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구슬 48개를 언니와 나가 5 : 3으로 나누면</a:t>
            </a:r>
            <a:endParaRPr lang="ko-KR" sz="2800" dirty="0"/>
          </a:p>
          <a:p>
            <a:pPr eaLnBrk="0" algn="l" indent="0" marL="0">
              <a:buNone/>
            </a:pPr>
            <a:r>
              <a:rPr lang="ko-KR" altLang="en-US" sz="28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각각 몇 개인가요?</a:t>
            </a:r>
            <a:endParaRPr lang="ko-KR" sz="2800" dirty="0"/>
          </a:p>
        </p:txBody>
      </p:sp>
      <p:sp>
        <p:nvSpPr>
          <p:cNvPr id="7" name="S09-chip98"/>
          <p:cNvSpPr txBox="1"/>
          <p:nvPr/>
        </p:nvSpPr>
        <p:spPr>
          <a:xfrm>
            <a:off x="548640" y="2939796"/>
            <a:ext cx="566928" cy="566928"/>
          </a:xfrm>
          <a:prstGeom prst="roundRect">
            <a:avLst>
              <a:gd name="adj" fmla="val 25806"/>
            </a:avLst>
          </a:prstGeom>
          <a:solidFill>
            <a:srgbClr val="264653"/>
          </a:solidFill>
          <a:ln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2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②</a:t>
            </a:r>
            <a:endParaRPr lang="ko-KR" sz="2200" dirty="0"/>
          </a:p>
        </p:txBody>
      </p:sp>
      <p:sp>
        <p:nvSpPr>
          <p:cNvPr id="8" name="S09-text99"/>
          <p:cNvSpPr txBox="1"/>
          <p:nvPr/>
        </p:nvSpPr>
        <p:spPr>
          <a:xfrm>
            <a:off x="1344168" y="2651760"/>
            <a:ext cx="10296144" cy="1143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28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끈 2 m를 3 : 2로 자르면</a:t>
            </a:r>
            <a:endParaRPr lang="ko-KR" sz="2800" dirty="0"/>
          </a:p>
          <a:p>
            <a:pPr eaLnBrk="0" algn="l" indent="0" marL="0">
              <a:buNone/>
            </a:pPr>
            <a:r>
              <a:rPr lang="ko-KR" altLang="en-US" sz="28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각각 몇 cm인가요?</a:t>
            </a:r>
            <a:endParaRPr lang="ko-KR" sz="2800" dirty="0"/>
          </a:p>
        </p:txBody>
      </p:sp>
      <p:sp>
        <p:nvSpPr>
          <p:cNvPr id="9" name="S09-chip100"/>
          <p:cNvSpPr txBox="1"/>
          <p:nvPr/>
        </p:nvSpPr>
        <p:spPr>
          <a:xfrm>
            <a:off x="548640" y="4265676"/>
            <a:ext cx="566928" cy="566928"/>
          </a:xfrm>
          <a:prstGeom prst="roundRect">
            <a:avLst>
              <a:gd name="adj" fmla="val 25806"/>
            </a:avLst>
          </a:prstGeom>
          <a:solidFill>
            <a:srgbClr val="264653"/>
          </a:solidFill>
          <a:ln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2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③</a:t>
            </a:r>
            <a:endParaRPr lang="ko-KR" sz="2200" dirty="0"/>
          </a:p>
        </p:txBody>
      </p:sp>
      <p:sp>
        <p:nvSpPr>
          <p:cNvPr id="10" name="S09-text101"/>
          <p:cNvSpPr txBox="1"/>
          <p:nvPr/>
        </p:nvSpPr>
        <p:spPr>
          <a:xfrm>
            <a:off x="1344168" y="3977640"/>
            <a:ext cx="10296144" cy="1143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28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둘레가 56 cm, 가로 : 세로 = 4 : 3인</a:t>
            </a:r>
            <a:endParaRPr lang="ko-KR" sz="2800" dirty="0"/>
          </a:p>
          <a:p>
            <a:pPr eaLnBrk="0" algn="l" indent="0" marL="0">
              <a:buNone/>
            </a:pPr>
            <a:r>
              <a:rPr lang="ko-KR" altLang="en-US" sz="28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직사각형의 가로와 세로는?</a:t>
            </a:r>
            <a:endParaRPr lang="ko-KR" sz="28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881360" y="6382512"/>
            <a:ext cx="731520" cy="32004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200">
                <a:solidFill>
                  <a:srgbClr val="4B5563"/>
                </a:solidFill>
                <a:latin typeface="맑은 고딕"/>
                <a:ea typeface="맑은 고딕"/>
                <a:cs typeface="맑은 고딕"/>
              </a:defRPr>
            </a:lvl1pPr>
          </a:lstStyle>
          <a:p>
            <a:pPr eaLnBrk="0" algn="r"/>
            <a:fld id="{F7021451-1387-4CA6-816F-3879F97B5CBC}" type="slidenum">
              <a:rPr b="0" lang="en-US"/>
              <a:t>9</a:t>
            </a:fld>
            <a:endParaRPr lang="en-US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642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40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혼자 해 보기</a:t>
            </a:r>
            <a:endParaRPr lang="ko-KR" sz="4000" dirty="0"/>
          </a:p>
        </p:txBody>
      </p:sp>
      <p:sp>
        <p:nvSpPr>
          <p:cNvPr id="3" name="S10-chip102"/>
          <p:cNvSpPr txBox="1"/>
          <p:nvPr/>
        </p:nvSpPr>
        <p:spPr>
          <a:xfrm>
            <a:off x="548640" y="1773936"/>
            <a:ext cx="566928" cy="566928"/>
          </a:xfrm>
          <a:prstGeom prst="roundRect">
            <a:avLst>
              <a:gd name="adj" fmla="val 25806"/>
            </a:avLst>
          </a:prstGeom>
          <a:solidFill>
            <a:srgbClr val="264653"/>
          </a:solidFill>
          <a:ln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2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①</a:t>
            </a:r>
            <a:endParaRPr lang="ko-KR" sz="2200" dirty="0"/>
          </a:p>
        </p:txBody>
      </p:sp>
      <p:sp>
        <p:nvSpPr>
          <p:cNvPr id="4" name="S10-text103"/>
          <p:cNvSpPr txBox="1"/>
          <p:nvPr/>
        </p:nvSpPr>
        <p:spPr>
          <a:xfrm>
            <a:off x="1344168" y="1325880"/>
            <a:ext cx="4567428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28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사탕 45개를</a:t>
            </a:r>
            <a:endParaRPr lang="ko-KR" sz="2800" dirty="0"/>
          </a:p>
          <a:p>
            <a:pPr eaLnBrk="0" algn="l" indent="0" marL="0">
              <a:buNone/>
            </a:pPr>
            <a:r>
              <a:rPr lang="ko-KR" altLang="en-US" sz="28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4 : 5로 나누기</a:t>
            </a:r>
            <a:endParaRPr lang="ko-KR" sz="2800" dirty="0"/>
          </a:p>
        </p:txBody>
      </p:sp>
      <p:sp>
        <p:nvSpPr>
          <p:cNvPr id="5" name="S10-chip104"/>
          <p:cNvSpPr txBox="1"/>
          <p:nvPr/>
        </p:nvSpPr>
        <p:spPr>
          <a:xfrm>
            <a:off x="6277356" y="1773936"/>
            <a:ext cx="566928" cy="566928"/>
          </a:xfrm>
          <a:prstGeom prst="roundRect">
            <a:avLst>
              <a:gd name="adj" fmla="val 25806"/>
            </a:avLst>
          </a:prstGeom>
          <a:solidFill>
            <a:srgbClr val="264653"/>
          </a:solidFill>
          <a:ln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2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②</a:t>
            </a:r>
            <a:endParaRPr lang="ko-KR" sz="2200" dirty="0"/>
          </a:p>
        </p:txBody>
      </p:sp>
      <p:sp>
        <p:nvSpPr>
          <p:cNvPr id="6" name="S10-text105"/>
          <p:cNvSpPr txBox="1"/>
          <p:nvPr/>
        </p:nvSpPr>
        <p:spPr>
          <a:xfrm>
            <a:off x="7072884" y="1325880"/>
            <a:ext cx="4567428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28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70을 2 : 5로</a:t>
            </a:r>
            <a:endParaRPr lang="ko-KR" sz="2800" dirty="0"/>
          </a:p>
          <a:p>
            <a:pPr eaLnBrk="0" algn="l" indent="0" marL="0">
              <a:buNone/>
            </a:pPr>
            <a:r>
              <a:rPr lang="ko-KR" altLang="en-US" sz="28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비례배분하기</a:t>
            </a:r>
            <a:endParaRPr lang="ko-KR" sz="2800" dirty="0"/>
          </a:p>
        </p:txBody>
      </p:sp>
      <p:sp>
        <p:nvSpPr>
          <p:cNvPr id="7" name="S10-chip106"/>
          <p:cNvSpPr txBox="1"/>
          <p:nvPr/>
        </p:nvSpPr>
        <p:spPr>
          <a:xfrm>
            <a:off x="548640" y="4311396"/>
            <a:ext cx="566928" cy="566928"/>
          </a:xfrm>
          <a:prstGeom prst="roundRect">
            <a:avLst>
              <a:gd name="adj" fmla="val 25806"/>
            </a:avLst>
          </a:prstGeom>
          <a:solidFill>
            <a:srgbClr val="264653"/>
          </a:solidFill>
          <a:ln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2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③</a:t>
            </a:r>
            <a:endParaRPr lang="ko-KR" sz="2200" dirty="0"/>
          </a:p>
        </p:txBody>
      </p:sp>
      <p:sp>
        <p:nvSpPr>
          <p:cNvPr id="8" name="S10-text107"/>
          <p:cNvSpPr txBox="1"/>
          <p:nvPr/>
        </p:nvSpPr>
        <p:spPr>
          <a:xfrm>
            <a:off x="1344168" y="3863340"/>
            <a:ext cx="4567428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28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공책 36권을 가 반</a:t>
            </a:r>
            <a:endParaRPr lang="ko-KR" sz="2800" dirty="0"/>
          </a:p>
          <a:p>
            <a:pPr eaLnBrk="0" algn="l" indent="0" marL="0">
              <a:buNone/>
            </a:pPr>
            <a:r>
              <a:rPr lang="ko-KR" altLang="en-US" sz="28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28명, 나 반 20명에게</a:t>
            </a:r>
            <a:endParaRPr lang="ko-KR" sz="2800" dirty="0"/>
          </a:p>
          <a:p>
            <a:pPr eaLnBrk="0" algn="l" indent="0" marL="0">
              <a:buNone/>
            </a:pPr>
            <a:r>
              <a:rPr lang="ko-KR" altLang="en-US" sz="28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학생 수의 비로</a:t>
            </a:r>
            <a:endParaRPr lang="ko-KR" sz="2800" dirty="0"/>
          </a:p>
        </p:txBody>
      </p:sp>
      <p:sp>
        <p:nvSpPr>
          <p:cNvPr id="9" name="S10-chip108"/>
          <p:cNvSpPr txBox="1"/>
          <p:nvPr/>
        </p:nvSpPr>
        <p:spPr>
          <a:xfrm>
            <a:off x="6277356" y="4311396"/>
            <a:ext cx="566928" cy="566928"/>
          </a:xfrm>
          <a:prstGeom prst="roundRect">
            <a:avLst>
              <a:gd name="adj" fmla="val 25806"/>
            </a:avLst>
          </a:prstGeom>
          <a:solidFill>
            <a:srgbClr val="264653"/>
          </a:solidFill>
          <a:ln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2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④</a:t>
            </a:r>
            <a:endParaRPr lang="ko-KR" sz="2200" dirty="0"/>
          </a:p>
        </p:txBody>
      </p:sp>
      <p:sp>
        <p:nvSpPr>
          <p:cNvPr id="10" name="S10-text109"/>
          <p:cNvSpPr txBox="1"/>
          <p:nvPr/>
        </p:nvSpPr>
        <p:spPr>
          <a:xfrm>
            <a:off x="7072884" y="3863340"/>
            <a:ext cx="4567428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28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둘레 36 cm,</a:t>
            </a:r>
            <a:endParaRPr lang="ko-KR" sz="2800" dirty="0"/>
          </a:p>
          <a:p>
            <a:pPr eaLnBrk="0" algn="l" indent="0" marL="0">
              <a:buNone/>
            </a:pPr>
            <a:r>
              <a:rPr lang="ko-KR" altLang="en-US" sz="28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가로 : 세로 = 5 : 4인</a:t>
            </a:r>
            <a:endParaRPr lang="ko-KR" sz="2800" dirty="0"/>
          </a:p>
          <a:p>
            <a:pPr eaLnBrk="0" algn="l" indent="0" marL="0">
              <a:buNone/>
            </a:pPr>
            <a:r>
              <a:rPr lang="ko-KR" altLang="en-US" sz="28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직사각형의 가로</a:t>
            </a:r>
            <a:endParaRPr lang="ko-KR" sz="28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881360" y="6382512"/>
            <a:ext cx="731520" cy="32004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200">
                <a:solidFill>
                  <a:srgbClr val="4B5563"/>
                </a:solidFill>
                <a:latin typeface="맑은 고딕"/>
                <a:ea typeface="맑은 고딕"/>
                <a:cs typeface="맑은 고딕"/>
              </a:defRPr>
            </a:lvl1pPr>
          </a:lstStyle>
          <a:p>
            <a:pPr eaLnBrk="0" algn="r"/>
            <a:fld id="{F7021451-1387-4CA6-816F-3879F97B5CBC}" type="slidenum">
              <a:rPr b="0" lang="en-US"/>
              <a:t>10</a:t>
            </a:fld>
            <a:endParaRPr lang="en-US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642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40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36을 5 : 4로 나눈 것은?</a:t>
            </a:r>
            <a:endParaRPr lang="ko-KR" sz="4000" dirty="0"/>
          </a:p>
        </p:txBody>
      </p:sp>
      <p:sp>
        <p:nvSpPr>
          <p:cNvPr id="3" name="S12-card110"/>
          <p:cNvSpPr/>
          <p:nvPr/>
        </p:nvSpPr>
        <p:spPr>
          <a:xfrm>
            <a:off x="548640" y="5349240"/>
            <a:ext cx="11091672" cy="868680"/>
          </a:xfrm>
          <a:prstGeom prst="roundRect">
            <a:avLst>
              <a:gd name="adj" fmla="val 12632"/>
            </a:avLst>
          </a:prstGeom>
          <a:solidFill>
            <a:srgbClr val="EAF3F1"/>
          </a:solidFill>
          <a:ln w="12700">
            <a:solidFill>
              <a:srgbClr val="EAF3F1"/>
            </a:solidFill>
            <a:prstDash val="solid"/>
          </a:ln>
        </p:spPr>
      </p:sp>
      <p:sp>
        <p:nvSpPr>
          <p:cNvPr id="4" name="S12-cardtext111"/>
          <p:cNvSpPr txBox="1"/>
          <p:nvPr/>
        </p:nvSpPr>
        <p:spPr>
          <a:xfrm>
            <a:off x="822960" y="5486400"/>
            <a:ext cx="10543032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indent="0" marL="0">
              <a:spcAft>
                <a:spcPts val="600"/>
              </a:spcAft>
              <a:buNone/>
            </a:pPr>
            <a:r>
              <a:rPr lang="ko-KR" altLang="en-US" sz="28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고르고, 합과 비로 확인해요.</a:t>
            </a:r>
            <a:endParaRPr lang="ko-KR" sz="2800" dirty="0"/>
          </a:p>
        </p:txBody>
      </p:sp>
      <p:sp>
        <p:nvSpPr>
          <p:cNvPr id="5" name="S12-chip112"/>
          <p:cNvSpPr txBox="1"/>
          <p:nvPr/>
        </p:nvSpPr>
        <p:spPr>
          <a:xfrm>
            <a:off x="1991868" y="1325880"/>
            <a:ext cx="566928" cy="566928"/>
          </a:xfrm>
          <a:prstGeom prst="roundRect">
            <a:avLst>
              <a:gd name="adj" fmla="val 25806"/>
            </a:avLst>
          </a:prstGeom>
          <a:solidFill>
            <a:srgbClr val="264653"/>
          </a:solidFill>
          <a:ln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8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가</a:t>
            </a:r>
            <a:endParaRPr lang="ko-KR" sz="2800" dirty="0"/>
          </a:p>
        </p:txBody>
      </p:sp>
      <p:sp>
        <p:nvSpPr>
          <p:cNvPr id="6" name="S12-card113"/>
          <p:cNvSpPr/>
          <p:nvPr/>
        </p:nvSpPr>
        <p:spPr>
          <a:xfrm>
            <a:off x="548640" y="2029968"/>
            <a:ext cx="3453384" cy="3090672"/>
          </a:xfrm>
          <a:prstGeom prst="roundRect">
            <a:avLst>
              <a:gd name="adj" fmla="val 3550"/>
            </a:avLst>
          </a:prstGeom>
          <a:solidFill>
            <a:srgbClr val="EAF3F1"/>
          </a:solidFill>
          <a:ln w="12700">
            <a:solidFill>
              <a:srgbClr val="EAF3F1"/>
            </a:solidFill>
            <a:prstDash val="solid"/>
          </a:ln>
        </p:spPr>
      </p:sp>
      <p:sp>
        <p:nvSpPr>
          <p:cNvPr id="7" name="S12-cardtext114"/>
          <p:cNvSpPr txBox="1"/>
          <p:nvPr/>
        </p:nvSpPr>
        <p:spPr>
          <a:xfrm>
            <a:off x="822960" y="2167128"/>
            <a:ext cx="2904744" cy="2816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indent="0" marL="0">
              <a:spcAft>
                <a:spcPts val="600"/>
              </a:spcAft>
              <a:buNone/>
            </a:pPr>
            <a:r>
              <a:rPr lang="ko-KR" altLang="en-US" sz="28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20과 16</a:t>
            </a:r>
            <a:endParaRPr lang="ko-KR" sz="2800" dirty="0"/>
          </a:p>
        </p:txBody>
      </p:sp>
      <p:sp>
        <p:nvSpPr>
          <p:cNvPr id="8" name="S12-chip115"/>
          <p:cNvSpPr txBox="1"/>
          <p:nvPr/>
        </p:nvSpPr>
        <p:spPr>
          <a:xfrm>
            <a:off x="5811012" y="1325880"/>
            <a:ext cx="566928" cy="566928"/>
          </a:xfrm>
          <a:prstGeom prst="roundRect">
            <a:avLst>
              <a:gd name="adj" fmla="val 25806"/>
            </a:avLst>
          </a:prstGeom>
          <a:solidFill>
            <a:srgbClr val="264653"/>
          </a:solidFill>
          <a:ln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8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나</a:t>
            </a:r>
            <a:endParaRPr lang="ko-KR" sz="2800" dirty="0"/>
          </a:p>
        </p:txBody>
      </p:sp>
      <p:sp>
        <p:nvSpPr>
          <p:cNvPr id="9" name="S12-card116"/>
          <p:cNvSpPr/>
          <p:nvPr/>
        </p:nvSpPr>
        <p:spPr>
          <a:xfrm>
            <a:off x="4367784" y="2029968"/>
            <a:ext cx="3453384" cy="3090672"/>
          </a:xfrm>
          <a:prstGeom prst="roundRect">
            <a:avLst>
              <a:gd name="adj" fmla="val 3550"/>
            </a:avLst>
          </a:prstGeom>
          <a:solidFill>
            <a:srgbClr val="EAF3F1"/>
          </a:solidFill>
          <a:ln w="12700">
            <a:solidFill>
              <a:srgbClr val="EAF3F1"/>
            </a:solidFill>
            <a:prstDash val="solid"/>
          </a:ln>
        </p:spPr>
      </p:sp>
      <p:sp>
        <p:nvSpPr>
          <p:cNvPr id="10" name="S12-cardtext117"/>
          <p:cNvSpPr txBox="1"/>
          <p:nvPr/>
        </p:nvSpPr>
        <p:spPr>
          <a:xfrm>
            <a:off x="4642104" y="2167128"/>
            <a:ext cx="2904744" cy="2816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indent="0" marL="0">
              <a:spcAft>
                <a:spcPts val="600"/>
              </a:spcAft>
              <a:buNone/>
            </a:pPr>
            <a:r>
              <a:rPr lang="ko-KR" altLang="en-US" sz="28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16과 20</a:t>
            </a:r>
            <a:endParaRPr lang="ko-KR" sz="2800" dirty="0"/>
          </a:p>
        </p:txBody>
      </p:sp>
      <p:sp>
        <p:nvSpPr>
          <p:cNvPr id="11" name="S12-chip118"/>
          <p:cNvSpPr txBox="1"/>
          <p:nvPr/>
        </p:nvSpPr>
        <p:spPr>
          <a:xfrm>
            <a:off x="9630156" y="1325880"/>
            <a:ext cx="566928" cy="566928"/>
          </a:xfrm>
          <a:prstGeom prst="roundRect">
            <a:avLst>
              <a:gd name="adj" fmla="val 25806"/>
            </a:avLst>
          </a:prstGeom>
          <a:solidFill>
            <a:srgbClr val="264653"/>
          </a:solidFill>
          <a:ln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8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다</a:t>
            </a:r>
            <a:endParaRPr lang="ko-KR" sz="2800" dirty="0"/>
          </a:p>
        </p:txBody>
      </p:sp>
      <p:sp>
        <p:nvSpPr>
          <p:cNvPr id="12" name="S12-card119"/>
          <p:cNvSpPr/>
          <p:nvPr/>
        </p:nvSpPr>
        <p:spPr>
          <a:xfrm>
            <a:off x="8186928" y="2029968"/>
            <a:ext cx="3453384" cy="3090672"/>
          </a:xfrm>
          <a:prstGeom prst="roundRect">
            <a:avLst>
              <a:gd name="adj" fmla="val 3550"/>
            </a:avLst>
          </a:prstGeom>
          <a:solidFill>
            <a:srgbClr val="EAF3F1"/>
          </a:solidFill>
          <a:ln w="12700">
            <a:solidFill>
              <a:srgbClr val="EAF3F1"/>
            </a:solidFill>
            <a:prstDash val="solid"/>
          </a:ln>
        </p:spPr>
      </p:sp>
      <p:sp>
        <p:nvSpPr>
          <p:cNvPr id="13" name="S12-cardtext120"/>
          <p:cNvSpPr txBox="1"/>
          <p:nvPr/>
        </p:nvSpPr>
        <p:spPr>
          <a:xfrm>
            <a:off x="8461248" y="2167128"/>
            <a:ext cx="2904744" cy="2816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indent="0" marL="0">
              <a:spcAft>
                <a:spcPts val="600"/>
              </a:spcAft>
              <a:buNone/>
            </a:pPr>
            <a:r>
              <a:rPr lang="ko-KR" altLang="en-US" sz="28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18과 18</a:t>
            </a:r>
            <a:endParaRPr lang="ko-KR" sz="28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881360" y="6382512"/>
            <a:ext cx="731520" cy="32004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200">
                <a:solidFill>
                  <a:srgbClr val="4B5563"/>
                </a:solidFill>
                <a:latin typeface="맑은 고딕"/>
                <a:ea typeface="맑은 고딕"/>
                <a:cs typeface="맑은 고딕"/>
              </a:defRPr>
            </a:lvl1pPr>
          </a:lstStyle>
          <a:p>
            <a:pPr eaLnBrk="0" algn="r"/>
            <a:fld id="{F7021451-1387-4CA6-816F-3879F97B5CBC}" type="slidenum">
              <a:rPr b="0" lang="en-US"/>
              <a:t>11</a:t>
            </a:fld>
            <a:endParaRPr lang="en-US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642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40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오늘 배운 것</a:t>
            </a:r>
            <a:endParaRPr lang="ko-KR" sz="4000" dirty="0"/>
          </a:p>
        </p:txBody>
      </p:sp>
      <p:sp>
        <p:nvSpPr>
          <p:cNvPr id="3" name="S13-card121"/>
          <p:cNvSpPr/>
          <p:nvPr/>
        </p:nvSpPr>
        <p:spPr>
          <a:xfrm>
            <a:off x="548640" y="1325880"/>
            <a:ext cx="11091672" cy="868680"/>
          </a:xfrm>
          <a:prstGeom prst="roundRect">
            <a:avLst>
              <a:gd name="adj" fmla="val 12632"/>
            </a:avLst>
          </a:prstGeom>
          <a:solidFill>
            <a:srgbClr val="32606F"/>
          </a:solidFill>
          <a:ln w="12700">
            <a:solidFill>
              <a:srgbClr val="32606F"/>
            </a:solidFill>
            <a:prstDash val="solid"/>
          </a:ln>
        </p:spPr>
      </p:sp>
      <p:sp>
        <p:nvSpPr>
          <p:cNvPr id="4" name="S13-cardtext122"/>
          <p:cNvSpPr txBox="1"/>
          <p:nvPr/>
        </p:nvSpPr>
        <p:spPr>
          <a:xfrm>
            <a:off x="822960" y="1463040"/>
            <a:ext cx="10543032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indent="0" marL="0">
              <a:spcAft>
                <a:spcPts val="600"/>
              </a:spcAft>
              <a:buNone/>
            </a:pPr>
            <a:r>
              <a:rPr lang="ko-KR" altLang="en-US" sz="2800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비례배분할 때 분모는 전항과 후항의 합이에요.</a:t>
            </a:r>
            <a:endParaRPr lang="ko-KR" sz="2800" dirty="0"/>
          </a:p>
        </p:txBody>
      </p:sp>
      <p:sp>
        <p:nvSpPr>
          <p:cNvPr id="5" name="S13-chip123"/>
          <p:cNvSpPr txBox="1"/>
          <p:nvPr/>
        </p:nvSpPr>
        <p:spPr>
          <a:xfrm>
            <a:off x="548640" y="2423160"/>
            <a:ext cx="5431536" cy="594360"/>
          </a:xfrm>
          <a:prstGeom prst="roundRect">
            <a:avLst>
              <a:gd name="adj" fmla="val 24615"/>
            </a:avLst>
          </a:prstGeom>
          <a:solidFill>
            <a:srgbClr val="2A9D8F"/>
          </a:solidFill>
          <a:ln>
            <a:solidFill>
              <a:srgbClr val="2A9D8F"/>
            </a:solidFill>
          </a:ln>
        </p:spPr>
        <p:txBody>
          <a:bodyPr wrap="square" lIns="177800" tIns="0" rIns="177800" bIns="0" rtlCol="0" anchor="ctr"/>
          <a:lstStyle/>
          <a:p>
            <a:pPr eaLnBrk="0" algn="l" indent="0" marL="0">
              <a:buNone/>
            </a:pPr>
            <a:r>
              <a:rPr lang="ko-KR" altLang="en-US" sz="22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○ 합과 비로 두 번 확인</a:t>
            </a:r>
            <a:endParaRPr lang="ko-KR" sz="2200" dirty="0"/>
          </a:p>
        </p:txBody>
      </p:sp>
      <p:sp>
        <p:nvSpPr>
          <p:cNvPr id="6" name="S13-chip124"/>
          <p:cNvSpPr txBox="1"/>
          <p:nvPr/>
        </p:nvSpPr>
        <p:spPr>
          <a:xfrm>
            <a:off x="6208776" y="2423160"/>
            <a:ext cx="5431536" cy="594360"/>
          </a:xfrm>
          <a:prstGeom prst="roundRect">
            <a:avLst>
              <a:gd name="adj" fmla="val 24615"/>
            </a:avLst>
          </a:prstGeom>
          <a:solidFill>
            <a:srgbClr val="C8434E"/>
          </a:solidFill>
          <a:ln>
            <a:solidFill>
              <a:srgbClr val="C8434E"/>
            </a:solidFill>
          </a:ln>
        </p:spPr>
        <p:txBody>
          <a:bodyPr wrap="square" lIns="177800" tIns="0" rIns="177800" bIns="0" rtlCol="0" anchor="ctr"/>
          <a:lstStyle/>
          <a:p>
            <a:pPr eaLnBrk="0" algn="l" indent="0" marL="0">
              <a:buNone/>
            </a:pPr>
            <a:r>
              <a:rPr lang="ko-KR" altLang="en-US" sz="22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× 둘레 전체를 그대로 나누기</a:t>
            </a:r>
            <a:endParaRPr lang="ko-KR" sz="2200" dirty="0"/>
          </a:p>
        </p:txBody>
      </p:sp>
      <p:sp>
        <p:nvSpPr>
          <p:cNvPr id="7" name="S13-text125"/>
          <p:cNvSpPr txBox="1"/>
          <p:nvPr/>
        </p:nvSpPr>
        <p:spPr>
          <a:xfrm>
            <a:off x="548640" y="3246120"/>
            <a:ext cx="11091672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eaLnBrk="0" algn="l" indent="0" marL="0">
              <a:buNone/>
            </a:pPr>
            <a:r>
              <a:rPr lang="ko-KR" altLang="en-US" sz="22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다음 수업을 시작할 때 다시 풀어요</a:t>
            </a:r>
            <a:endParaRPr lang="ko-KR" sz="2200" dirty="0"/>
          </a:p>
        </p:txBody>
      </p:sp>
      <p:sp>
        <p:nvSpPr>
          <p:cNvPr id="8" name="S13-text126"/>
          <p:cNvSpPr txBox="1"/>
          <p:nvPr/>
        </p:nvSpPr>
        <p:spPr>
          <a:xfrm>
            <a:off x="548640" y="3749040"/>
            <a:ext cx="3544824" cy="1828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2200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① 30을 2 : 3으로</a:t>
            </a:r>
            <a:endParaRPr lang="ko-KR" sz="2200" dirty="0"/>
          </a:p>
          <a:p>
            <a:pPr eaLnBrk="0" algn="l" indent="0" marL="0">
              <a:buNone/>
            </a:pPr>
            <a:r>
              <a:rPr lang="ko-KR" altLang="en-US" sz="2200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비례배분</a:t>
            </a:r>
            <a:endParaRPr lang="ko-KR" sz="2200" dirty="0"/>
          </a:p>
        </p:txBody>
      </p:sp>
      <p:sp>
        <p:nvSpPr>
          <p:cNvPr id="9" name="S13-text127"/>
          <p:cNvSpPr txBox="1"/>
          <p:nvPr/>
        </p:nvSpPr>
        <p:spPr>
          <a:xfrm>
            <a:off x="4322064" y="3749040"/>
            <a:ext cx="3544824" cy="1828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2200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② 56을 3 : 5로</a:t>
            </a:r>
            <a:endParaRPr lang="ko-KR" sz="2200" dirty="0"/>
          </a:p>
          <a:p>
            <a:pPr eaLnBrk="0" algn="l" indent="0" marL="0">
              <a:buNone/>
            </a:pPr>
            <a:r>
              <a:rPr lang="ko-KR" altLang="en-US" sz="2200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비례배분</a:t>
            </a:r>
            <a:endParaRPr lang="ko-KR" sz="2200" dirty="0"/>
          </a:p>
        </p:txBody>
      </p:sp>
      <p:sp>
        <p:nvSpPr>
          <p:cNvPr id="10" name="S13-text128"/>
          <p:cNvSpPr txBox="1"/>
          <p:nvPr/>
        </p:nvSpPr>
        <p:spPr>
          <a:xfrm>
            <a:off x="8095488" y="3749040"/>
            <a:ext cx="3544824" cy="1828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2200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③ 둘레 50 cm,</a:t>
            </a:r>
            <a:endParaRPr lang="ko-KR" sz="2200" dirty="0"/>
          </a:p>
          <a:p>
            <a:pPr eaLnBrk="0" algn="l" indent="0" marL="0">
              <a:buNone/>
            </a:pPr>
            <a:r>
              <a:rPr lang="ko-KR" altLang="en-US" sz="2200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가로 : 세로 = 3 : 2인</a:t>
            </a:r>
            <a:endParaRPr lang="ko-KR" sz="2200" dirty="0"/>
          </a:p>
          <a:p>
            <a:pPr eaLnBrk="0" algn="l" indent="0" marL="0">
              <a:buNone/>
            </a:pPr>
            <a:r>
              <a:rPr lang="ko-KR" altLang="en-US" sz="2200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직사각형의 가로</a:t>
            </a:r>
            <a:endParaRPr lang="ko-KR" sz="2200" dirty="0"/>
          </a:p>
        </p:txBody>
      </p:sp>
      <p:sp>
        <p:nvSpPr>
          <p:cNvPr id="11" name="S13-text129"/>
          <p:cNvSpPr txBox="1"/>
          <p:nvPr/>
        </p:nvSpPr>
        <p:spPr>
          <a:xfrm>
            <a:off x="548640" y="5715000"/>
            <a:ext cx="11091672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2200" dirty="0">
                <a:solidFill>
                  <a:srgbClr val="C9DCD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다음 시간: 각기둥과 각뿔</a:t>
            </a:r>
            <a:endParaRPr lang="ko-KR" sz="22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881360" y="6382512"/>
            <a:ext cx="731520" cy="32004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200">
                <a:solidFill>
                  <a:srgbClr val="C9DCD8"/>
                </a:solidFill>
                <a:latin typeface="맑은 고딕"/>
                <a:ea typeface="맑은 고딕"/>
                <a:cs typeface="맑은 고딕"/>
              </a:defRPr>
            </a:lvl1pPr>
          </a:lstStyle>
          <a:p>
            <a:pPr eaLnBrk="0" algn="r"/>
            <a:fld id="{F7021451-1387-4CA6-816F-3879F97B5CBC}" type="slidenum">
              <a:rPr b="0" lang="en-US"/>
              <a:t>12</a:t>
            </a:fld>
            <a:endParaRPr lang="en-US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642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40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보충: 20의 4분의 3 구하기</a:t>
            </a:r>
            <a:endParaRPr lang="ko-KR" sz="4000" dirty="0"/>
          </a:p>
        </p:txBody>
      </p:sp>
      <p:sp>
        <p:nvSpPr>
          <p:cNvPr id="3" name="S14-card130"/>
          <p:cNvSpPr/>
          <p:nvPr/>
        </p:nvSpPr>
        <p:spPr>
          <a:xfrm>
            <a:off x="548640" y="4696968"/>
            <a:ext cx="5431536" cy="1520952"/>
          </a:xfrm>
          <a:prstGeom prst="roundRect">
            <a:avLst>
              <a:gd name="adj" fmla="val 7214"/>
            </a:avLst>
          </a:prstGeom>
          <a:solidFill>
            <a:srgbClr val="EAF3F1"/>
          </a:solidFill>
          <a:ln w="12700">
            <a:solidFill>
              <a:srgbClr val="EAF3F1"/>
            </a:solidFill>
            <a:prstDash val="solid"/>
          </a:ln>
        </p:spPr>
      </p:sp>
      <p:sp>
        <p:nvSpPr>
          <p:cNvPr id="4" name="S14-cardtext131"/>
          <p:cNvSpPr txBox="1"/>
          <p:nvPr/>
        </p:nvSpPr>
        <p:spPr>
          <a:xfrm>
            <a:off x="822960" y="4834128"/>
            <a:ext cx="4882896" cy="12466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indent="0" marL="0">
              <a:spcAft>
                <a:spcPts val="600"/>
              </a:spcAft>
              <a:buNone/>
            </a:pPr>
            <a:r>
              <a:rPr lang="ko-KR" altLang="en-US" sz="28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한 칸</a:t>
            </a:r>
            <a:endParaRPr lang="ko-KR" sz="2800" dirty="0"/>
          </a:p>
          <a:p>
            <a:pPr eaLnBrk="0" indent="0" marL="0">
              <a:spcAft>
                <a:spcPts val="600"/>
              </a:spcAft>
              <a:buNone/>
            </a:pPr>
            <a:r>
              <a:rPr lang="ko-KR" altLang="en-US" sz="22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20을 4칸으로 나누면</a:t>
            </a:r>
            <a:endParaRPr lang="ko-KR" sz="2800" dirty="0"/>
          </a:p>
          <a:p>
            <a:pPr eaLnBrk="0" indent="0" marL="0">
              <a:spcAft>
                <a:spcPts val="600"/>
              </a:spcAft>
              <a:buNone/>
            </a:pPr>
            <a:r>
              <a:rPr lang="ko-KR" altLang="en-US" sz="22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한 칸은 5</a:t>
            </a:r>
            <a:endParaRPr lang="ko-KR" sz="2800" dirty="0"/>
          </a:p>
        </p:txBody>
      </p:sp>
      <p:sp>
        <p:nvSpPr>
          <p:cNvPr id="5" name="S14-card132"/>
          <p:cNvSpPr/>
          <p:nvPr/>
        </p:nvSpPr>
        <p:spPr>
          <a:xfrm>
            <a:off x="6208776" y="4696968"/>
            <a:ext cx="5431536" cy="1520952"/>
          </a:xfrm>
          <a:prstGeom prst="roundRect">
            <a:avLst>
              <a:gd name="adj" fmla="val 7214"/>
            </a:avLst>
          </a:prstGeom>
          <a:solidFill>
            <a:srgbClr val="EAF3F1"/>
          </a:solidFill>
          <a:ln w="12700">
            <a:solidFill>
              <a:srgbClr val="EAF3F1"/>
            </a:solidFill>
            <a:prstDash val="solid"/>
          </a:ln>
        </p:spPr>
      </p:sp>
      <p:sp>
        <p:nvSpPr>
          <p:cNvPr id="6" name="S14-cardtext133"/>
          <p:cNvSpPr txBox="1"/>
          <p:nvPr/>
        </p:nvSpPr>
        <p:spPr>
          <a:xfrm>
            <a:off x="6483096" y="4834128"/>
            <a:ext cx="4882896" cy="12466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indent="0" marL="0">
              <a:spcAft>
                <a:spcPts val="600"/>
              </a:spcAft>
              <a:buNone/>
            </a:pPr>
            <a:r>
              <a:rPr lang="ko-KR" altLang="en-US" sz="28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세 칸</a:t>
            </a:r>
            <a:endParaRPr lang="ko-KR" sz="2800" dirty="0"/>
          </a:p>
          <a:p>
            <a:pPr eaLnBrk="0" indent="0" marL="0">
              <a:spcAft>
                <a:spcPts val="600"/>
              </a:spcAft>
              <a:buNone/>
            </a:pPr>
            <a:r>
              <a:rPr lang="ko-KR" altLang="en-US" sz="22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5 × 3 = 15</a:t>
            </a:r>
            <a:endParaRPr lang="ko-KR" sz="2800" dirty="0"/>
          </a:p>
        </p:txBody>
      </p:sp>
      <p:sp>
        <p:nvSpPr>
          <p:cNvPr id="7" name="S14-num134"/>
          <p:cNvSpPr txBox="1"/>
          <p:nvPr/>
        </p:nvSpPr>
        <p:spPr>
          <a:xfrm>
            <a:off x="764286" y="2440940"/>
            <a:ext cx="483108" cy="419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8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3</a:t>
            </a:r>
            <a:endParaRPr lang="ko-KR" sz="2800" dirty="0"/>
          </a:p>
        </p:txBody>
      </p:sp>
      <p:sp>
        <p:nvSpPr>
          <p:cNvPr id="8" name="S14-fracbar135"/>
          <p:cNvSpPr/>
          <p:nvPr/>
        </p:nvSpPr>
        <p:spPr>
          <a:xfrm>
            <a:off x="800862" y="2897124"/>
            <a:ext cx="409956" cy="0"/>
          </a:xfrm>
          <a:prstGeom prst="line">
            <a:avLst/>
          </a:prstGeom>
          <a:noFill/>
          <a:ln w="22225">
            <a:solidFill>
              <a:srgbClr val="1F2937"/>
            </a:solidFill>
            <a:prstDash val="solid"/>
          </a:ln>
        </p:spPr>
      </p:sp>
      <p:sp>
        <p:nvSpPr>
          <p:cNvPr id="9" name="S14-num136"/>
          <p:cNvSpPr txBox="1"/>
          <p:nvPr/>
        </p:nvSpPr>
        <p:spPr>
          <a:xfrm>
            <a:off x="764286" y="2933700"/>
            <a:ext cx="483108" cy="419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8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4</a:t>
            </a:r>
            <a:endParaRPr lang="ko-KR" sz="2800" dirty="0"/>
          </a:p>
        </p:txBody>
      </p:sp>
      <p:sp>
        <p:nvSpPr>
          <p:cNvPr id="10" name="S14-cell137"/>
          <p:cNvSpPr/>
          <p:nvPr/>
        </p:nvSpPr>
        <p:spPr>
          <a:xfrm>
            <a:off x="1600200" y="2485644"/>
            <a:ext cx="1083564" cy="822960"/>
          </a:xfrm>
          <a:prstGeom prst="rect">
            <a:avLst/>
          </a:prstGeom>
          <a:solidFill>
            <a:srgbClr val="E9762B"/>
          </a:solidFill>
          <a:ln w="19050">
            <a:solidFill>
              <a:srgbClr val="1F2937"/>
            </a:solidFill>
            <a:prstDash val="solid"/>
          </a:ln>
        </p:spPr>
      </p:sp>
      <p:sp>
        <p:nvSpPr>
          <p:cNvPr id="11" name="S14-cell138"/>
          <p:cNvSpPr/>
          <p:nvPr/>
        </p:nvSpPr>
        <p:spPr>
          <a:xfrm>
            <a:off x="2683764" y="2485644"/>
            <a:ext cx="1083564" cy="822960"/>
          </a:xfrm>
          <a:prstGeom prst="rect">
            <a:avLst/>
          </a:prstGeom>
          <a:solidFill>
            <a:srgbClr val="E9762B"/>
          </a:solidFill>
          <a:ln w="19050">
            <a:solidFill>
              <a:srgbClr val="1F2937"/>
            </a:solidFill>
            <a:prstDash val="solid"/>
          </a:ln>
        </p:spPr>
      </p:sp>
      <p:sp>
        <p:nvSpPr>
          <p:cNvPr id="12" name="S14-cell139"/>
          <p:cNvSpPr/>
          <p:nvPr/>
        </p:nvSpPr>
        <p:spPr>
          <a:xfrm>
            <a:off x="3767328" y="2485644"/>
            <a:ext cx="1083564" cy="822960"/>
          </a:xfrm>
          <a:prstGeom prst="rect">
            <a:avLst/>
          </a:prstGeom>
          <a:solidFill>
            <a:srgbClr val="E9762B"/>
          </a:solidFill>
          <a:ln w="19050">
            <a:solidFill>
              <a:srgbClr val="1F2937"/>
            </a:solidFill>
            <a:prstDash val="solid"/>
          </a:ln>
        </p:spPr>
      </p:sp>
      <p:sp>
        <p:nvSpPr>
          <p:cNvPr id="13" name="S14-cell140"/>
          <p:cNvSpPr/>
          <p:nvPr/>
        </p:nvSpPr>
        <p:spPr>
          <a:xfrm>
            <a:off x="4850892" y="2485644"/>
            <a:ext cx="1083564" cy="822960"/>
          </a:xfrm>
          <a:prstGeom prst="rect">
            <a:avLst/>
          </a:prstGeom>
          <a:solidFill>
            <a:srgbClr val="FFFFFF"/>
          </a:solidFill>
          <a:ln w="19050">
            <a:solidFill>
              <a:srgbClr val="1F2937"/>
            </a:solidFill>
            <a:prstDash val="solid"/>
          </a:ln>
        </p:spPr>
      </p:sp>
      <p:sp>
        <p:nvSpPr>
          <p:cNvPr id="14" name="S14-figure141" descr="똑같이 4칸으로 나눈 띠, 3칸 색칠"/>
          <p:cNvSpPr/>
          <p:nvPr/>
        </p:nvSpPr>
        <p:spPr>
          <a:xfrm>
            <a:off x="1600200" y="2485644"/>
            <a:ext cx="4334256" cy="822960"/>
          </a:xfrm>
          <a:prstGeom prst="rect">
            <a:avLst/>
          </a:prstGeom>
          <a:solidFill>
            <a:srgbClr val="FFFFFF">
              <a:alpha val="0"/>
            </a:srgbClr>
          </a:solidFill>
          <a:ln w="28575">
            <a:solidFill>
              <a:srgbClr val="1F2937"/>
            </a:solidFill>
            <a:prstDash val="solid"/>
          </a:ln>
        </p:spPr>
      </p:sp>
      <p:sp>
        <p:nvSpPr>
          <p:cNvPr id="15" name="S14-op142"/>
          <p:cNvSpPr txBox="1"/>
          <p:nvPr/>
        </p:nvSpPr>
        <p:spPr>
          <a:xfrm>
            <a:off x="6997446" y="2321052"/>
            <a:ext cx="859536" cy="11521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36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20</a:t>
            </a:r>
            <a:endParaRPr lang="ko-KR" sz="3600" dirty="0"/>
          </a:p>
        </p:txBody>
      </p:sp>
      <p:sp>
        <p:nvSpPr>
          <p:cNvPr id="16" name="S14-op143"/>
          <p:cNvSpPr txBox="1"/>
          <p:nvPr/>
        </p:nvSpPr>
        <p:spPr>
          <a:xfrm>
            <a:off x="7966710" y="2321052"/>
            <a:ext cx="704088" cy="11521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36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×</a:t>
            </a:r>
            <a:endParaRPr lang="ko-KR" sz="3600" dirty="0"/>
          </a:p>
        </p:txBody>
      </p:sp>
      <p:sp>
        <p:nvSpPr>
          <p:cNvPr id="17" name="S14-num144"/>
          <p:cNvSpPr txBox="1"/>
          <p:nvPr/>
        </p:nvSpPr>
        <p:spPr>
          <a:xfrm>
            <a:off x="8780526" y="2321052"/>
            <a:ext cx="589788" cy="5394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36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3</a:t>
            </a:r>
            <a:endParaRPr lang="ko-KR" sz="3600" dirty="0"/>
          </a:p>
        </p:txBody>
      </p:sp>
      <p:sp>
        <p:nvSpPr>
          <p:cNvPr id="18" name="S14-fracbar145"/>
          <p:cNvSpPr/>
          <p:nvPr/>
        </p:nvSpPr>
        <p:spPr>
          <a:xfrm>
            <a:off x="8817102" y="2897124"/>
            <a:ext cx="516636" cy="0"/>
          </a:xfrm>
          <a:prstGeom prst="line">
            <a:avLst/>
          </a:prstGeom>
          <a:noFill/>
          <a:ln w="28575">
            <a:solidFill>
              <a:srgbClr val="1F2937"/>
            </a:solidFill>
            <a:prstDash val="solid"/>
          </a:ln>
        </p:spPr>
      </p:sp>
      <p:sp>
        <p:nvSpPr>
          <p:cNvPr id="19" name="S14-num146"/>
          <p:cNvSpPr txBox="1"/>
          <p:nvPr/>
        </p:nvSpPr>
        <p:spPr>
          <a:xfrm>
            <a:off x="8780526" y="2933700"/>
            <a:ext cx="589788" cy="5394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36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4</a:t>
            </a:r>
            <a:endParaRPr lang="ko-KR" sz="3600" dirty="0"/>
          </a:p>
        </p:txBody>
      </p:sp>
      <p:sp>
        <p:nvSpPr>
          <p:cNvPr id="20" name="S14-op147"/>
          <p:cNvSpPr txBox="1"/>
          <p:nvPr/>
        </p:nvSpPr>
        <p:spPr>
          <a:xfrm>
            <a:off x="9480042" y="2321052"/>
            <a:ext cx="448056" cy="11521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36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=</a:t>
            </a:r>
            <a:endParaRPr lang="ko-KR" sz="3600" dirty="0"/>
          </a:p>
        </p:txBody>
      </p:sp>
      <p:sp>
        <p:nvSpPr>
          <p:cNvPr id="21" name="S14-op148"/>
          <p:cNvSpPr txBox="1"/>
          <p:nvPr/>
        </p:nvSpPr>
        <p:spPr>
          <a:xfrm>
            <a:off x="10037826" y="2321052"/>
            <a:ext cx="859536" cy="11521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36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15</a:t>
            </a:r>
            <a:endParaRPr lang="ko-KR" sz="36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881360" y="6382512"/>
            <a:ext cx="731520" cy="32004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200">
                <a:solidFill>
                  <a:srgbClr val="4B5563"/>
                </a:solidFill>
                <a:latin typeface="맑은 고딕"/>
                <a:ea typeface="맑은 고딕"/>
                <a:cs typeface="맑은 고딕"/>
              </a:defRPr>
            </a:lvl1pPr>
          </a:lstStyle>
          <a:p>
            <a:pPr eaLnBrk="0" algn="r"/>
            <a:fld id="{F7021451-1387-4CA6-816F-3879F97B5CBC}" type="slidenum">
              <a:rPr b="0" lang="en-US"/>
              <a:t>13</a:t>
            </a:fld>
            <a:endParaRPr lang="en-US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Education Classroom">
  <a:themeElements>
    <a:clrScheme name="Education Classroom">
      <a:dk1>
        <a:srgbClr val="1F2937"/>
      </a:dk1>
      <a:lt1>
        <a:srgbClr val="FFFFFF"/>
      </a:lt1>
      <a:dk2>
        <a:srgbClr val="264653"/>
      </a:dk2>
      <a:lt2>
        <a:srgbClr val="EAF3F1"/>
      </a:lt2>
      <a:accent1>
        <a:srgbClr val="E9762B"/>
      </a:accent1>
      <a:accent2>
        <a:srgbClr val="2A9D8F"/>
      </a:accent2>
      <a:accent3>
        <a:srgbClr val="C8434E"/>
      </a:accent3>
      <a:accent4>
        <a:srgbClr val="3D5A80"/>
      </a:accent4>
      <a:accent5>
        <a:srgbClr val="F2C14E"/>
      </a:accent5>
      <a:accent6>
        <a:srgbClr val="4B5563"/>
      </a:accent6>
      <a:hlink>
        <a:srgbClr val="3D5A80"/>
      </a:hlink>
      <a:folHlink>
        <a:srgbClr val="7A4E8A"/>
      </a:folHlink>
    </a:clrScheme>
    <a:fontScheme name="Education Classroom">
      <a:majorFont>
        <a:latin typeface="맑은 고딕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맑은 고딕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13</Slides>
  <Notes>13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13</vt:i4>
      </vt:variant>
    </vt:vector>
  </HeadingPairs>
  <TitlesOfParts>
    <vt:vector size="16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초6 수학 비례배분</dc:title>
  <dc:subject>KR22-G06-MAT-SHARE-L01</dc:subject>
  <dc:creator>education-ppt</dc:creator>
  <cp:lastModifiedBy>education-ppt</cp:lastModifiedBy>
  <cp:revision>1</cp:revision>
  <dcterms:created xsi:type="dcterms:W3CDTF">2026-10-26T09:05:47Z</dcterms:created>
  <dcterms:modified xsi:type="dcterms:W3CDTF">2026-10-26T09:05:47Z</dcterms:modified>
</cp:coreProperties>
</file>