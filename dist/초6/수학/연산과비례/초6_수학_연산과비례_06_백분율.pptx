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10d3d5d1-6a46-c87a-5d38-7cd6f740fe01}">
          <p14:sldIdLst>
            <p14:sldId id="256"/>
            <p14:sldId id="257"/>
          </p14:sldIdLst>
        </p14:section>
        <p14:section name="개념" id="{bc093f28-5ebc-6812-5eb9-2e5b93805791}">
          <p14:sldIdLst>
            <p14:sldId id="258"/>
            <p14:sldId id="259"/>
            <p14:sldId id="262"/>
            <p14:sldId id="263"/>
          </p14:sldIdLst>
        </p14:section>
        <p14:section name="연습" id="{edaeedb6-409a-4f30-ba97-c56e3c080f60}">
          <p14:sldIdLst>
            <p14:sldId id="260"/>
            <p14:sldId id="261"/>
            <p14:sldId id="264"/>
            <p14:sldId id="265"/>
          </p14:sldIdLst>
        </p14:section>
        <p14:section name="개념" id="{f75ffd6d-049c-5ddc-2c90-59ad09491fde}">
          <p14:sldIdLst/>
        </p14:section>
        <p14:section name="연습" id="{ff203e54-38ee-7e14-9860-36d9f0588c2c}">
          <p14:sldIdLst/>
        </p14:section>
        <p14:section name="확인" id="{e8f13d62-8e63-6ada-f27f-48e52e735c98}">
          <p14:sldIdLst>
            <p14:sldId id="266"/>
            <p14:sldId id="267"/>
            <p14:sldId id="268"/>
          </p14:sldIdLst>
        </p14:section>
        <p14:section name="정리" id="{69f3c1e7-56d9-3f80-dd9d-440b6c5b44a4}">
          <p14:sldIdLst>
            <p14:sldId id="269"/>
          </p14:sldIdLst>
        </p14:section>
        <p14:section name="보충" id="{e8469cb0-d102-3340-cbd4-f6710d5e0345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생활에서 자주 보는 %(퍼센트)가 무엇인지 궁금하게 하고 오늘 할 일을 알려 줍니다.
시간: 약 2분
이렇게 말해 보세요
- “가게에서 ‘20 % 할인’이라는 글을 본 적 있어? 무슨 뜻일까?”
- “오른쪽 그림은 100칸 중 몇 칸을 색칠했어?”
예상 답
- “조금 싸게 판다는 거예요.” “20칸이요.”
막히면
- 답을 확인하지 않고 넘어갑니다. S08에서 할인한 가격을 직접 구합니다.
주의
- 20 %는 100칸 중 20칸만큼이라는 뜻입니다. 지금은 ‘100칸 중 20칸’까지만 말해도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확인(비와 비율)]
목적: 지난 시간의 비와 비율을 기억하는지 확인합니다. 오늘 비율을 백분율로 바꿀 때 그대로 씁니다.
시간: 약 3분
이렇게 말해 보세요
- “7 : 20에서 기준량은 무엇이야? 비율은 비교하는 양을 기준량으로 나누면 돼.”
- “③은 ‘~에 대한’ 앞의 수가 기준량이었지?”
정답
- ① 20분의 7
- ② 0.35
- ③ 1 : 4
막히면
- ①②가 어려우면 S15(보충)를 먼저 합니다. 보충으로도 어려우면 앞 차시 ‘비와 비율’을 다시 합니다.
주의
- ②는 분모를 100으로 만들어(100분의 35) 소수로 바꾸어도 됩니다. 오늘은 이 ‘분모 100’이 핵심입니다.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백분율의 뜻과 읽기]
목적: 기준량을 100으로 할 때의 비율을 백분율이라 하고, 기호 %를 써서 나타냄을 압니다.
시간: 약 3분
이렇게 말해 보세요
- “전체 100칸 중 색칠한 칸은 몇 칸이야? 비율을 분수와 소수로 말해 볼래?”
- “100분의 37을 37 %라고 쓰고 ‘37 퍼센트’라고 읽어.”
- “100칸을 모두 색칠하면 몇 %일까?”
예상 답
- “37칸이요. 100분의 37, 0.37이에요.” “100 %요.”
막히면
- 색칠한 줄(10칸씩 3줄)과 남은 7칸을 손가락으로 세어 봅니다.
주의
- ‘백분율’의 ‘백’은 100입니다. 전체(기준량)가 100 %입니다.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비율을 백분율로 나타내기(시범)]
목적: 비율(분수·소수)에 100을 곱해 백분율로 나타내는 방법을 보여 줍니다.
시간: 약 3분
이렇게 말해 보세요
- “4분의 3의 분모를 100으로 만들려면 분모와 분자에 몇을 곱해?”
- “소수 0.75에 100을 곱하면? 소수점이 오른쪽으로 두 자리 옮겨 가지?”
예상 답
- “25를 곱해요. 100분의 75요.” “75요. 75 %예요.”
막히면
- S03의 100칸 그림에서 4칸 중 3칸 비율로 75칸을 색칠한다고 생각하게 합니다.
주의
- 반대로 백분율을 소수로 바꿀 때는 100으로 나눕니다(75 % → 0.75). S05 ⑤⑥에서 연습합니다.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안내받는 연습(비율 ↔ 백분율)]
목적: 도움을 받으며 비율과 백분율을 서로 바꿉니다.
시간: 약 3분
이렇게 말해 보세요
- “0.42에 100을 곱하면? ③은 분모를 100으로 만들어 볼래?”
- “⑤는 반대야. 65 %는 100분의 몇이야? 소수로는?”
정답
- ① 42 %
- ② 8 %
- ③ 20 % (5분의 1 = 100분의 20)
- ④ 52 % (25분의 13 = 100분의 52)
- ⑤ 0.65
- ⑥ 0.07
막히면
- ②⑥처럼 0이 있는 수는 100칸 그림으로 생각하게 합니다(0.08은 100칸 중 8칸).
주의
- ⑥을 0.7로 쓰면 소수점을 한 자리만 옮긴 것입니다. 7 %는 100분의 7 = 0.07입니다.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오개념 비교(0.8을 8 %로)]
목적: 소수점 아래 숫자를 그대로 %로 쓰는 실수(M1)를 100칸 그림으로 반박합니다.
시간: 약 3분
이렇게 말해 보세요
- “0.8은 10칸 중 8칸이야. 100칸으로 바꾸면 몇 칸이야?”
- “8 %는 100칸 중 8칸이야. 0.8과 같을까?”
예상 답
- “80칸이요. 곰이 맞아요.” “8 %는 0.08이라서 달라요.”
정답
- 곰이 맞습니다. 0.8 = 10분의 8 = 100분의 80 = 80 %.
- 토끼의 8 %는 100분의 8 = 0.08입니다.
막히면
- 종이에 10 × 10 칸을 그려 8줄을 색칠하게 합니다.
주의
- 비율에 100을 곱하면 소수점이 오른쪽으로 두 자리 옮겨 갑니다. 0.8은 0.80으로 보면 쉽습니다.
- 지치면 여기서 쉬고, 다음에 S07부터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득표율 구하기]
목적: 전체 투표수를 기준량으로 하여 득표율을 백분율로 구하고, 득표율을 모두 더하면 100 %임을 압니다.
시간: 약 3분
이렇게 말해 보세요
- “기준량은 무엇이야? 1번 후보의 득표율은 어떻게 구했을까?”
- “2번과 3번 후보의 득표율을 구해 볼래? 세 후보의 득표율을 모두 더하면?”
예상 답
- “기준량은 투표한 25명이에요.” “2번 32 %, 3번 20 %예요.” “더하면 100 %예요.”
정답
- 2번 32 % (8 ÷ 25 × 100), 3번 20 % (5 ÷ 25 × 100), 합 48 + 32 + 20 = 100
막히면
- 25분의 12의 분모와 분자에 4를 곱해 100분의 48로 만들게 합니다.
주의
- 모든 투표가 세 후보 중 한 명에게 갔으므로 득표율의 합은 100 %입니다. 합이 100이 아니면 계산을 다시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할인한 가격 구하기(시범)]
목적: 원래 가격을 기준량으로 하여 할인 금액을 구하고, 원래 가격에서 빼서 판매 가격을 구합니다.
시간: 약 4분
이렇게 말해 보세요
- “띠 전체가 15000원이야. 10칸으로 나누면 한 칸은 얼마고, 몇 %야?”
- “20 %는 몇 칸이야? 할인 금액은 얼마일까?”
- “할인 금액 3000원을 빼면 실제로 내는 돈은?”
예상 답
- “한 칸은 1500원, 10 %예요.” “2칸, 3000원이요.” “12000원이요.”
막히면
- 20 %를 소수 0.2로 바꾸는 것이 어려우면 띠의 칸을 세어 1500 + 1500 = 3000으로 구합니다.
주의
- 20 % 할인하면 80 %만 내므로 15000 × 0.8 = 12000으로 한 번에 구해도 됩니다.
- 할인 금액(3000원)과 판매 가격(12000원)을 헷갈리지 않게 말로 구별하게 합니다(S10).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안내받는 연습(할인 가격, 찬성률, 할인율)]
목적: 도움을 받으며 할인한 가격, 찬성률, 할인율을 구합니다.
시간: 약 4분
이렇게 말해 보세요
- “①은 할인 금액을 먼저 구하고 빼 볼까?”
- “②의 기준량은 몇 명이야?”
- “③은 얼마를 할인했는지 먼저 구하고, 원래 가격을 기준량으로 해.”
정답
- ① 14000원 (할인 금액 20000 × 0.3 = 6000원)
- ② 45 % (18 ÷ 40 × 100)
- ③ 20 % (할인 금액 1000원, 1000 ÷ 5000 × 100)
막히면
- ③은 ‘5000원 중 1000원’이 100칸 중 몇 칸인지 생각하게 합니다.
주의
- ③에서 4000을 기준량으로 나누면(1000 ÷ 4000 = 25 %) 틀립니다. 할인율의 기준량은 원래 가격입니다.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오개념 비교(할인 금액과 판매 가격)]
목적: 할인 금액을 판매 가격으로 착각하는 실수(M2)를 찾습니다.
시간: 약 3분
이렇게 말해 보세요
- “30 % 할인이면 원래 가격의 몇 %를 내는 걸까?”
- “10000원짜리를 3000원에 산다면 몇 % 할인한 걸까?”
예상 답
- “곰이 맞아요. 3000원은 깎아 주는 돈이에요.” “70 %를 내요.”
정답
- 곰이 맞습니다. 3000원은 할인 금액이고, 내야 할 돈(판매 가격)은 7000원입니다(10000 × 0.7 = 7000).
막히면
- S08의 띠 그림을 다시 보여 주고, 색칠한 칸(할인)과 남은 칸(내는 돈)을 구별하게 합니다.
주의
- 3000원에 산다면 70 % 할인입니다. 할인 금액과 판매 가격의 합이 원래 가격인지 확인하는 습관을 들입니다.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해결]
목적: 도움 없이 비율과 백분율을 서로 바꾸고(A), 할인한 가격을 구하는지(B) 확인합니다.
시간: 약 4분
이렇게 말해 보세요
- “이번에는 혼자 해 볼래? ④는 할인 금액과 판매 가격을 모두 써 봐.”
정답
- ① 60 %
- ② 45 % (20분의 9 = 100분의 45)
- ③ 0.35
- ④ 9000원 (할인 금액 3000원)
막히면
- 바로 알려 주지 말고 “100을 곱할까, 100으로 나눌까?” 또는 “할인 금액은 얼마야?”라고만 묻습니다.
- 도움을 받아 해결했다면 기록표에 ‘도움’으로 표시합니다.
주의
- 정답 확인은 다음 장(S12)에서 함께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아이의 답을 함께 확인하고 소수점 위치와 할인 금액·판매 가격 혼동을 바로잡습니다. 수업용에만 있는 장입니다.
시간: 약 2분
이렇게 말해 보세요
- “네 답과 같은지 볼까? ④는 3000 + 9000이 12000인지 확인해 보자.”
정답
- ① 60 % ② 45 % ③ 0.35 ④ 9000원
막히면
- ①③이 틀리면 S05·S06으로(M1), ④가 3000원이면 S10으로(M2) 돌아갑니다.
주의
- 이 장은 학생용 파일에는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확인(백분율 해석)]
목적: 처음 보는 상황에서 백분율로 나타낸 할인과 금액으로 나타낸 할인을 비교하고, 찬성률과 반대율을 해석하는지 확인합니다.
시간: 약 2분
이렇게 말해 보세요
- “①은 두 가게의 판매 가격을 각각 구해서 비교해 볼까?”
- “②는 찬성률을 구한 다음, 반대율은 어떻게 쉽게 구할 수 있을까?”
정답
- ① 가 가게 (가 8000원, 나 8500원. 20 %는 2000원 할인)
- ② 찬성률 62 %, 반대율 38 % (100 − 62)
막히면
- ①은 20 %가 몇 원인지 먼저 구하게 합니다(10000 × 0.2 = 2000).
주의
- ②에서 반대율을 19 ÷ 50 × 100으로 구해도 됩니다. 두 방법이 같은 답인 까닭(합이 100 %)을 말하면 목표 A·B 확인 완료입니다.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정리와 다음 수업 복습]
목적: 핵심을 정리하고 다음 수업 첫 5분에 풀 복습 문제를 알려 줍니다.
시간: 약 1분
이렇게 말해 보세요
- “백분율이 무엇인지, 비율을 백분율로 어떻게 바꾸는지 말해 볼래?”
- “다음 수업을 시작할 때 이 세 문제를 먼저 풀 거야.”
예상 답
- “기준량을 100으로 할 때의 비율이에요. 100을 곱하고 %를 붙여요.”
정답
- ① 27 % ② 60 % ③ 800원
막히면
- S03의 100칸 그림과 S04를 다시 보여 줍니다.
주의
- 다음 차시 ‘비례식’에서는 비율이 같은 두 비를 등식으로 나타냅니다.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선수 학습 보충(비율 구하기)]
목적: S02가 흔들리면 비율의 뜻(비교하는 양 ÷ 기준량)과 분모를 100으로 만드는 방법을 다시 합니다.
시간: 약 5분
이렇게 말해 보세요
- “1 : 4에서 기준량은? 띠 4칸 중 1칸이니까 비율은?”
- “4분의 1의 분모를 100으로 만들면? 소수로는?”
- “이번에는 1 : 5의 비율을 같은 방법으로 해 볼래?”
정답
- 1 : 4의 비율 = 4분의 1 = 100분의 25 = 0.25
- 1 : 5의 비율 = 5분의 1 = 100분의 20 = 0.2
막히면
- 종이 띠를 4칸으로 접어 1칸을 색칠하고, 100 cm 줄자와 견주어 25 cm임을 봅니다.
주의
- 보충으로도 어려우면 앞 차시 ‘비와 비율’을 먼저 다시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연산과비례 · 6차시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백분율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백분율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초6 수학 · 백분율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백분율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티셔츠를 20 % 할인해서 판대요.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얼마나 싸질까?</a:t>
            </a:r>
            <a:endParaRPr lang="ko-KR" sz="2800" dirty="0"/>
          </a:p>
        </p:txBody>
      </p:sp>
      <p:sp>
        <p:nvSpPr>
          <p:cNvPr id="4" name="S01-cell1"/>
          <p:cNvSpPr/>
          <p:nvPr/>
        </p:nvSpPr>
        <p:spPr>
          <a:xfrm>
            <a:off x="8183880" y="640080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01-cell2"/>
          <p:cNvSpPr/>
          <p:nvPr/>
        </p:nvSpPr>
        <p:spPr>
          <a:xfrm>
            <a:off x="8476488" y="640080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1-cell3"/>
          <p:cNvSpPr/>
          <p:nvPr/>
        </p:nvSpPr>
        <p:spPr>
          <a:xfrm>
            <a:off x="8769096" y="640080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1-cell4"/>
          <p:cNvSpPr/>
          <p:nvPr/>
        </p:nvSpPr>
        <p:spPr>
          <a:xfrm>
            <a:off x="9061704" y="640080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1-cell5"/>
          <p:cNvSpPr/>
          <p:nvPr/>
        </p:nvSpPr>
        <p:spPr>
          <a:xfrm>
            <a:off x="9354312" y="640080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1-cell6"/>
          <p:cNvSpPr/>
          <p:nvPr/>
        </p:nvSpPr>
        <p:spPr>
          <a:xfrm>
            <a:off x="9646920" y="640080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1-cell7"/>
          <p:cNvSpPr/>
          <p:nvPr/>
        </p:nvSpPr>
        <p:spPr>
          <a:xfrm>
            <a:off x="9939528" y="640080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1-cell8"/>
          <p:cNvSpPr/>
          <p:nvPr/>
        </p:nvSpPr>
        <p:spPr>
          <a:xfrm>
            <a:off x="10232136" y="640080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1-cell9"/>
          <p:cNvSpPr/>
          <p:nvPr/>
        </p:nvSpPr>
        <p:spPr>
          <a:xfrm>
            <a:off x="10524744" y="640080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1-cell10"/>
          <p:cNvSpPr/>
          <p:nvPr/>
        </p:nvSpPr>
        <p:spPr>
          <a:xfrm>
            <a:off x="10817352" y="640080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1-cell11"/>
          <p:cNvSpPr/>
          <p:nvPr/>
        </p:nvSpPr>
        <p:spPr>
          <a:xfrm>
            <a:off x="8183880" y="932688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1-cell12"/>
          <p:cNvSpPr/>
          <p:nvPr/>
        </p:nvSpPr>
        <p:spPr>
          <a:xfrm>
            <a:off x="8476488" y="932688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1-cell13"/>
          <p:cNvSpPr/>
          <p:nvPr/>
        </p:nvSpPr>
        <p:spPr>
          <a:xfrm>
            <a:off x="8769096" y="932688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1-cell14"/>
          <p:cNvSpPr/>
          <p:nvPr/>
        </p:nvSpPr>
        <p:spPr>
          <a:xfrm>
            <a:off x="9061704" y="932688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1-cell15"/>
          <p:cNvSpPr/>
          <p:nvPr/>
        </p:nvSpPr>
        <p:spPr>
          <a:xfrm>
            <a:off x="9354312" y="932688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1-cell16"/>
          <p:cNvSpPr/>
          <p:nvPr/>
        </p:nvSpPr>
        <p:spPr>
          <a:xfrm>
            <a:off x="9646920" y="932688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1-cell17"/>
          <p:cNvSpPr/>
          <p:nvPr/>
        </p:nvSpPr>
        <p:spPr>
          <a:xfrm>
            <a:off x="9939528" y="932688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1-cell18"/>
          <p:cNvSpPr/>
          <p:nvPr/>
        </p:nvSpPr>
        <p:spPr>
          <a:xfrm>
            <a:off x="10232136" y="932688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1-cell19"/>
          <p:cNvSpPr/>
          <p:nvPr/>
        </p:nvSpPr>
        <p:spPr>
          <a:xfrm>
            <a:off x="10524744" y="932688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1-cell20"/>
          <p:cNvSpPr/>
          <p:nvPr/>
        </p:nvSpPr>
        <p:spPr>
          <a:xfrm>
            <a:off x="10817352" y="932688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1-cell21"/>
          <p:cNvSpPr/>
          <p:nvPr/>
        </p:nvSpPr>
        <p:spPr>
          <a:xfrm>
            <a:off x="8183880" y="1225296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1-cell22"/>
          <p:cNvSpPr/>
          <p:nvPr/>
        </p:nvSpPr>
        <p:spPr>
          <a:xfrm>
            <a:off x="8476488" y="1225296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1-cell23"/>
          <p:cNvSpPr/>
          <p:nvPr/>
        </p:nvSpPr>
        <p:spPr>
          <a:xfrm>
            <a:off x="8769096" y="1225296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1-cell24"/>
          <p:cNvSpPr/>
          <p:nvPr/>
        </p:nvSpPr>
        <p:spPr>
          <a:xfrm>
            <a:off x="9061704" y="1225296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1-cell25"/>
          <p:cNvSpPr/>
          <p:nvPr/>
        </p:nvSpPr>
        <p:spPr>
          <a:xfrm>
            <a:off x="9354312" y="1225296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1-cell26"/>
          <p:cNvSpPr/>
          <p:nvPr/>
        </p:nvSpPr>
        <p:spPr>
          <a:xfrm>
            <a:off x="9646920" y="1225296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1-cell27"/>
          <p:cNvSpPr/>
          <p:nvPr/>
        </p:nvSpPr>
        <p:spPr>
          <a:xfrm>
            <a:off x="9939528" y="1225296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01-cell28"/>
          <p:cNvSpPr/>
          <p:nvPr/>
        </p:nvSpPr>
        <p:spPr>
          <a:xfrm>
            <a:off x="10232136" y="1225296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01-cell29"/>
          <p:cNvSpPr/>
          <p:nvPr/>
        </p:nvSpPr>
        <p:spPr>
          <a:xfrm>
            <a:off x="10524744" y="1225296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01-cell30"/>
          <p:cNvSpPr/>
          <p:nvPr/>
        </p:nvSpPr>
        <p:spPr>
          <a:xfrm>
            <a:off x="10817352" y="1225296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1-cell31"/>
          <p:cNvSpPr/>
          <p:nvPr/>
        </p:nvSpPr>
        <p:spPr>
          <a:xfrm>
            <a:off x="8183880" y="1517904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1-cell32"/>
          <p:cNvSpPr/>
          <p:nvPr/>
        </p:nvSpPr>
        <p:spPr>
          <a:xfrm>
            <a:off x="8476488" y="1517904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1-cell33"/>
          <p:cNvSpPr/>
          <p:nvPr/>
        </p:nvSpPr>
        <p:spPr>
          <a:xfrm>
            <a:off x="8769096" y="1517904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01-cell34"/>
          <p:cNvSpPr/>
          <p:nvPr/>
        </p:nvSpPr>
        <p:spPr>
          <a:xfrm>
            <a:off x="9061704" y="1517904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8" name="S01-cell35"/>
          <p:cNvSpPr/>
          <p:nvPr/>
        </p:nvSpPr>
        <p:spPr>
          <a:xfrm>
            <a:off x="9354312" y="1517904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01-cell36"/>
          <p:cNvSpPr/>
          <p:nvPr/>
        </p:nvSpPr>
        <p:spPr>
          <a:xfrm>
            <a:off x="9646920" y="1517904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0" name="S01-cell37"/>
          <p:cNvSpPr/>
          <p:nvPr/>
        </p:nvSpPr>
        <p:spPr>
          <a:xfrm>
            <a:off x="9939528" y="1517904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1" name="S01-cell38"/>
          <p:cNvSpPr/>
          <p:nvPr/>
        </p:nvSpPr>
        <p:spPr>
          <a:xfrm>
            <a:off x="10232136" y="1517904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2" name="S01-cell39"/>
          <p:cNvSpPr/>
          <p:nvPr/>
        </p:nvSpPr>
        <p:spPr>
          <a:xfrm>
            <a:off x="10524744" y="1517904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3" name="S01-cell40"/>
          <p:cNvSpPr/>
          <p:nvPr/>
        </p:nvSpPr>
        <p:spPr>
          <a:xfrm>
            <a:off x="10817352" y="1517904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4" name="S01-cell41"/>
          <p:cNvSpPr/>
          <p:nvPr/>
        </p:nvSpPr>
        <p:spPr>
          <a:xfrm>
            <a:off x="8183880" y="181051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5" name="S01-cell42"/>
          <p:cNvSpPr/>
          <p:nvPr/>
        </p:nvSpPr>
        <p:spPr>
          <a:xfrm>
            <a:off x="8476488" y="181051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6" name="S01-cell43"/>
          <p:cNvSpPr/>
          <p:nvPr/>
        </p:nvSpPr>
        <p:spPr>
          <a:xfrm>
            <a:off x="8769096" y="181051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7" name="S01-cell44"/>
          <p:cNvSpPr/>
          <p:nvPr/>
        </p:nvSpPr>
        <p:spPr>
          <a:xfrm>
            <a:off x="9061704" y="181051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8" name="S01-cell45"/>
          <p:cNvSpPr/>
          <p:nvPr/>
        </p:nvSpPr>
        <p:spPr>
          <a:xfrm>
            <a:off x="9354312" y="181051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9" name="S01-cell46"/>
          <p:cNvSpPr/>
          <p:nvPr/>
        </p:nvSpPr>
        <p:spPr>
          <a:xfrm>
            <a:off x="9646920" y="181051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0" name="S01-cell47"/>
          <p:cNvSpPr/>
          <p:nvPr/>
        </p:nvSpPr>
        <p:spPr>
          <a:xfrm>
            <a:off x="9939528" y="181051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1" name="S01-cell48"/>
          <p:cNvSpPr/>
          <p:nvPr/>
        </p:nvSpPr>
        <p:spPr>
          <a:xfrm>
            <a:off x="10232136" y="181051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2" name="S01-cell49"/>
          <p:cNvSpPr/>
          <p:nvPr/>
        </p:nvSpPr>
        <p:spPr>
          <a:xfrm>
            <a:off x="10524744" y="181051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3" name="S01-cell50"/>
          <p:cNvSpPr/>
          <p:nvPr/>
        </p:nvSpPr>
        <p:spPr>
          <a:xfrm>
            <a:off x="10817352" y="181051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4" name="S01-cell51"/>
          <p:cNvSpPr/>
          <p:nvPr/>
        </p:nvSpPr>
        <p:spPr>
          <a:xfrm>
            <a:off x="8183880" y="210312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5" name="S01-cell52"/>
          <p:cNvSpPr/>
          <p:nvPr/>
        </p:nvSpPr>
        <p:spPr>
          <a:xfrm>
            <a:off x="8476488" y="210312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6" name="S01-cell53"/>
          <p:cNvSpPr/>
          <p:nvPr/>
        </p:nvSpPr>
        <p:spPr>
          <a:xfrm>
            <a:off x="8769096" y="210312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7" name="S01-cell54"/>
          <p:cNvSpPr/>
          <p:nvPr/>
        </p:nvSpPr>
        <p:spPr>
          <a:xfrm>
            <a:off x="9061704" y="210312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8" name="S01-cell55"/>
          <p:cNvSpPr/>
          <p:nvPr/>
        </p:nvSpPr>
        <p:spPr>
          <a:xfrm>
            <a:off x="9354312" y="210312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9" name="S01-cell56"/>
          <p:cNvSpPr/>
          <p:nvPr/>
        </p:nvSpPr>
        <p:spPr>
          <a:xfrm>
            <a:off x="9646920" y="210312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0" name="S01-cell57"/>
          <p:cNvSpPr/>
          <p:nvPr/>
        </p:nvSpPr>
        <p:spPr>
          <a:xfrm>
            <a:off x="9939528" y="210312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1" name="S01-cell58"/>
          <p:cNvSpPr/>
          <p:nvPr/>
        </p:nvSpPr>
        <p:spPr>
          <a:xfrm>
            <a:off x="10232136" y="210312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2" name="S01-cell59"/>
          <p:cNvSpPr/>
          <p:nvPr/>
        </p:nvSpPr>
        <p:spPr>
          <a:xfrm>
            <a:off x="10524744" y="210312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3" name="S01-cell60"/>
          <p:cNvSpPr/>
          <p:nvPr/>
        </p:nvSpPr>
        <p:spPr>
          <a:xfrm>
            <a:off x="10817352" y="210312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4" name="S01-cell61"/>
          <p:cNvSpPr/>
          <p:nvPr/>
        </p:nvSpPr>
        <p:spPr>
          <a:xfrm>
            <a:off x="8183880" y="2395728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5" name="S01-cell62"/>
          <p:cNvSpPr/>
          <p:nvPr/>
        </p:nvSpPr>
        <p:spPr>
          <a:xfrm>
            <a:off x="8476488" y="2395728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6" name="S01-cell63"/>
          <p:cNvSpPr/>
          <p:nvPr/>
        </p:nvSpPr>
        <p:spPr>
          <a:xfrm>
            <a:off x="8769096" y="2395728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7" name="S01-cell64"/>
          <p:cNvSpPr/>
          <p:nvPr/>
        </p:nvSpPr>
        <p:spPr>
          <a:xfrm>
            <a:off x="9061704" y="2395728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8" name="S01-cell65"/>
          <p:cNvSpPr/>
          <p:nvPr/>
        </p:nvSpPr>
        <p:spPr>
          <a:xfrm>
            <a:off x="9354312" y="2395728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9" name="S01-cell66"/>
          <p:cNvSpPr/>
          <p:nvPr/>
        </p:nvSpPr>
        <p:spPr>
          <a:xfrm>
            <a:off x="9646920" y="2395728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0" name="S01-cell67"/>
          <p:cNvSpPr/>
          <p:nvPr/>
        </p:nvSpPr>
        <p:spPr>
          <a:xfrm>
            <a:off x="9939528" y="2395728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1" name="S01-cell68"/>
          <p:cNvSpPr/>
          <p:nvPr/>
        </p:nvSpPr>
        <p:spPr>
          <a:xfrm>
            <a:off x="10232136" y="2395728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2" name="S01-cell69"/>
          <p:cNvSpPr/>
          <p:nvPr/>
        </p:nvSpPr>
        <p:spPr>
          <a:xfrm>
            <a:off x="10524744" y="2395728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3" name="S01-cell70"/>
          <p:cNvSpPr/>
          <p:nvPr/>
        </p:nvSpPr>
        <p:spPr>
          <a:xfrm>
            <a:off x="10817352" y="2395728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4" name="S01-cell71"/>
          <p:cNvSpPr/>
          <p:nvPr/>
        </p:nvSpPr>
        <p:spPr>
          <a:xfrm>
            <a:off x="8183880" y="2688336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5" name="S01-cell72"/>
          <p:cNvSpPr/>
          <p:nvPr/>
        </p:nvSpPr>
        <p:spPr>
          <a:xfrm>
            <a:off x="8476488" y="2688336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6" name="S01-cell73"/>
          <p:cNvSpPr/>
          <p:nvPr/>
        </p:nvSpPr>
        <p:spPr>
          <a:xfrm>
            <a:off x="8769096" y="2688336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7" name="S01-cell74"/>
          <p:cNvSpPr/>
          <p:nvPr/>
        </p:nvSpPr>
        <p:spPr>
          <a:xfrm>
            <a:off x="9061704" y="2688336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8" name="S01-cell75"/>
          <p:cNvSpPr/>
          <p:nvPr/>
        </p:nvSpPr>
        <p:spPr>
          <a:xfrm>
            <a:off x="9354312" y="2688336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9" name="S01-cell76"/>
          <p:cNvSpPr/>
          <p:nvPr/>
        </p:nvSpPr>
        <p:spPr>
          <a:xfrm>
            <a:off x="9646920" y="2688336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0" name="S01-cell77"/>
          <p:cNvSpPr/>
          <p:nvPr/>
        </p:nvSpPr>
        <p:spPr>
          <a:xfrm>
            <a:off x="9939528" y="2688336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1" name="S01-cell78"/>
          <p:cNvSpPr/>
          <p:nvPr/>
        </p:nvSpPr>
        <p:spPr>
          <a:xfrm>
            <a:off x="10232136" y="2688336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2" name="S01-cell79"/>
          <p:cNvSpPr/>
          <p:nvPr/>
        </p:nvSpPr>
        <p:spPr>
          <a:xfrm>
            <a:off x="10524744" y="2688336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3" name="S01-cell80"/>
          <p:cNvSpPr/>
          <p:nvPr/>
        </p:nvSpPr>
        <p:spPr>
          <a:xfrm>
            <a:off x="10817352" y="2688336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4" name="S01-cell81"/>
          <p:cNvSpPr/>
          <p:nvPr/>
        </p:nvSpPr>
        <p:spPr>
          <a:xfrm>
            <a:off x="8183880" y="2980944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5" name="S01-cell82"/>
          <p:cNvSpPr/>
          <p:nvPr/>
        </p:nvSpPr>
        <p:spPr>
          <a:xfrm>
            <a:off x="8476488" y="2980944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6" name="S01-cell83"/>
          <p:cNvSpPr/>
          <p:nvPr/>
        </p:nvSpPr>
        <p:spPr>
          <a:xfrm>
            <a:off x="8769096" y="2980944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7" name="S01-cell84"/>
          <p:cNvSpPr/>
          <p:nvPr/>
        </p:nvSpPr>
        <p:spPr>
          <a:xfrm>
            <a:off x="9061704" y="2980944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8" name="S01-cell85"/>
          <p:cNvSpPr/>
          <p:nvPr/>
        </p:nvSpPr>
        <p:spPr>
          <a:xfrm>
            <a:off x="9354312" y="2980944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9" name="S01-cell86"/>
          <p:cNvSpPr/>
          <p:nvPr/>
        </p:nvSpPr>
        <p:spPr>
          <a:xfrm>
            <a:off x="9646920" y="2980944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0" name="S01-cell87"/>
          <p:cNvSpPr/>
          <p:nvPr/>
        </p:nvSpPr>
        <p:spPr>
          <a:xfrm>
            <a:off x="9939528" y="2980944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1" name="S01-cell88"/>
          <p:cNvSpPr/>
          <p:nvPr/>
        </p:nvSpPr>
        <p:spPr>
          <a:xfrm>
            <a:off x="10232136" y="2980944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2" name="S01-cell89"/>
          <p:cNvSpPr/>
          <p:nvPr/>
        </p:nvSpPr>
        <p:spPr>
          <a:xfrm>
            <a:off x="10524744" y="2980944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3" name="S01-cell90"/>
          <p:cNvSpPr/>
          <p:nvPr/>
        </p:nvSpPr>
        <p:spPr>
          <a:xfrm>
            <a:off x="10817352" y="2980944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4" name="S01-cell91"/>
          <p:cNvSpPr/>
          <p:nvPr/>
        </p:nvSpPr>
        <p:spPr>
          <a:xfrm>
            <a:off x="8183880" y="327355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5" name="S01-cell92"/>
          <p:cNvSpPr/>
          <p:nvPr/>
        </p:nvSpPr>
        <p:spPr>
          <a:xfrm>
            <a:off x="8476488" y="327355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6" name="S01-cell93"/>
          <p:cNvSpPr/>
          <p:nvPr/>
        </p:nvSpPr>
        <p:spPr>
          <a:xfrm>
            <a:off x="8769096" y="327355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7" name="S01-cell94"/>
          <p:cNvSpPr/>
          <p:nvPr/>
        </p:nvSpPr>
        <p:spPr>
          <a:xfrm>
            <a:off x="9061704" y="327355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8" name="S01-cell95"/>
          <p:cNvSpPr/>
          <p:nvPr/>
        </p:nvSpPr>
        <p:spPr>
          <a:xfrm>
            <a:off x="9354312" y="327355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9" name="S01-cell96"/>
          <p:cNvSpPr/>
          <p:nvPr/>
        </p:nvSpPr>
        <p:spPr>
          <a:xfrm>
            <a:off x="9646920" y="327355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0" name="S01-cell97"/>
          <p:cNvSpPr/>
          <p:nvPr/>
        </p:nvSpPr>
        <p:spPr>
          <a:xfrm>
            <a:off x="9939528" y="327355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1" name="S01-cell98"/>
          <p:cNvSpPr/>
          <p:nvPr/>
        </p:nvSpPr>
        <p:spPr>
          <a:xfrm>
            <a:off x="10232136" y="327355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2" name="S01-cell99"/>
          <p:cNvSpPr/>
          <p:nvPr/>
        </p:nvSpPr>
        <p:spPr>
          <a:xfrm>
            <a:off x="10524744" y="327355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3" name="S01-cell100"/>
          <p:cNvSpPr/>
          <p:nvPr/>
        </p:nvSpPr>
        <p:spPr>
          <a:xfrm>
            <a:off x="10817352" y="327355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4" name="S01-figure101" descr="100칸 중 20칸 색칠"/>
          <p:cNvSpPr/>
          <p:nvPr/>
        </p:nvSpPr>
        <p:spPr>
          <a:xfrm>
            <a:off x="8183880" y="640080"/>
            <a:ext cx="2926080" cy="29260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5" name="S01-card102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06" name="S01-cardtext103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비율을 백분율로 나타내요.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할인율, 득표율을 구하고 해석해요.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chip104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text105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: 20의 비율을 분수로</a:t>
            </a:r>
            <a:endParaRPr lang="ko-KR" sz="2800" dirty="0"/>
          </a:p>
        </p:txBody>
      </p:sp>
      <p:sp>
        <p:nvSpPr>
          <p:cNvPr id="5" name="S02-chip106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text107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: 20의 비율을 소수로</a:t>
            </a:r>
            <a:endParaRPr lang="ko-KR" sz="2800" dirty="0"/>
          </a:p>
        </p:txBody>
      </p:sp>
      <p:sp>
        <p:nvSpPr>
          <p:cNvPr id="7" name="S02-chip108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02-text109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4에 대한 1의 비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백분율</a:t>
            </a:r>
            <a:endParaRPr lang="ko-KR" sz="4000" dirty="0"/>
          </a:p>
        </p:txBody>
      </p:sp>
      <p:sp>
        <p:nvSpPr>
          <p:cNvPr id="3" name="S03-text1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100칸 중 37칸을 색칠했어요.</a:t>
            </a:r>
            <a:endParaRPr lang="ko-KR" sz="2800" dirty="0"/>
          </a:p>
        </p:txBody>
      </p:sp>
      <p:sp>
        <p:nvSpPr>
          <p:cNvPr id="4" name="S03-card11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1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기준량을 100으로 할 때의 비율을 백분율이라고 해요.</a:t>
            </a:r>
            <a:endParaRPr lang="ko-KR" sz="2800" dirty="0"/>
          </a:p>
        </p:txBody>
      </p:sp>
      <p:sp>
        <p:nvSpPr>
          <p:cNvPr id="6" name="S03-cell113"/>
          <p:cNvSpPr/>
          <p:nvPr/>
        </p:nvSpPr>
        <p:spPr>
          <a:xfrm>
            <a:off x="1246602" y="2011680"/>
            <a:ext cx="310896" cy="31089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3-cell114"/>
          <p:cNvSpPr/>
          <p:nvPr/>
        </p:nvSpPr>
        <p:spPr>
          <a:xfrm>
            <a:off x="1557498" y="2011680"/>
            <a:ext cx="310896" cy="31089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3-cell115"/>
          <p:cNvSpPr/>
          <p:nvPr/>
        </p:nvSpPr>
        <p:spPr>
          <a:xfrm>
            <a:off x="1868394" y="2011680"/>
            <a:ext cx="310896" cy="31089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3-cell116"/>
          <p:cNvSpPr/>
          <p:nvPr/>
        </p:nvSpPr>
        <p:spPr>
          <a:xfrm>
            <a:off x="2179290" y="2011680"/>
            <a:ext cx="310896" cy="31089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3-cell117"/>
          <p:cNvSpPr/>
          <p:nvPr/>
        </p:nvSpPr>
        <p:spPr>
          <a:xfrm>
            <a:off x="2490186" y="2011680"/>
            <a:ext cx="310896" cy="31089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3-cell118"/>
          <p:cNvSpPr/>
          <p:nvPr/>
        </p:nvSpPr>
        <p:spPr>
          <a:xfrm>
            <a:off x="2801082" y="2011680"/>
            <a:ext cx="310896" cy="31089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3-cell119"/>
          <p:cNvSpPr/>
          <p:nvPr/>
        </p:nvSpPr>
        <p:spPr>
          <a:xfrm>
            <a:off x="3111978" y="2011680"/>
            <a:ext cx="310896" cy="31089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3-cell120"/>
          <p:cNvSpPr/>
          <p:nvPr/>
        </p:nvSpPr>
        <p:spPr>
          <a:xfrm>
            <a:off x="3422874" y="2011680"/>
            <a:ext cx="310896" cy="31089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3-cell121"/>
          <p:cNvSpPr/>
          <p:nvPr/>
        </p:nvSpPr>
        <p:spPr>
          <a:xfrm>
            <a:off x="3733770" y="2011680"/>
            <a:ext cx="310896" cy="31089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3-cell122"/>
          <p:cNvSpPr/>
          <p:nvPr/>
        </p:nvSpPr>
        <p:spPr>
          <a:xfrm>
            <a:off x="4044666" y="2011680"/>
            <a:ext cx="310896" cy="31089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3-cell123"/>
          <p:cNvSpPr/>
          <p:nvPr/>
        </p:nvSpPr>
        <p:spPr>
          <a:xfrm>
            <a:off x="1246602" y="2322576"/>
            <a:ext cx="310896" cy="31089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3-cell124"/>
          <p:cNvSpPr/>
          <p:nvPr/>
        </p:nvSpPr>
        <p:spPr>
          <a:xfrm>
            <a:off x="1557498" y="2322576"/>
            <a:ext cx="310896" cy="31089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3-cell125"/>
          <p:cNvSpPr/>
          <p:nvPr/>
        </p:nvSpPr>
        <p:spPr>
          <a:xfrm>
            <a:off x="1868394" y="2322576"/>
            <a:ext cx="310896" cy="31089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3-cell126"/>
          <p:cNvSpPr/>
          <p:nvPr/>
        </p:nvSpPr>
        <p:spPr>
          <a:xfrm>
            <a:off x="2179290" y="2322576"/>
            <a:ext cx="310896" cy="31089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3-cell127"/>
          <p:cNvSpPr/>
          <p:nvPr/>
        </p:nvSpPr>
        <p:spPr>
          <a:xfrm>
            <a:off x="2490186" y="2322576"/>
            <a:ext cx="310896" cy="31089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3-cell128"/>
          <p:cNvSpPr/>
          <p:nvPr/>
        </p:nvSpPr>
        <p:spPr>
          <a:xfrm>
            <a:off x="2801082" y="2322576"/>
            <a:ext cx="310896" cy="31089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3-cell129"/>
          <p:cNvSpPr/>
          <p:nvPr/>
        </p:nvSpPr>
        <p:spPr>
          <a:xfrm>
            <a:off x="3111978" y="2322576"/>
            <a:ext cx="310896" cy="31089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3-cell130"/>
          <p:cNvSpPr/>
          <p:nvPr/>
        </p:nvSpPr>
        <p:spPr>
          <a:xfrm>
            <a:off x="3422874" y="2322576"/>
            <a:ext cx="310896" cy="31089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3-cell131"/>
          <p:cNvSpPr/>
          <p:nvPr/>
        </p:nvSpPr>
        <p:spPr>
          <a:xfrm>
            <a:off x="3733770" y="2322576"/>
            <a:ext cx="310896" cy="31089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3-cell132"/>
          <p:cNvSpPr/>
          <p:nvPr/>
        </p:nvSpPr>
        <p:spPr>
          <a:xfrm>
            <a:off x="4044666" y="2322576"/>
            <a:ext cx="310896" cy="31089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3-cell133"/>
          <p:cNvSpPr/>
          <p:nvPr/>
        </p:nvSpPr>
        <p:spPr>
          <a:xfrm>
            <a:off x="1246602" y="2633472"/>
            <a:ext cx="310896" cy="31089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3-cell134"/>
          <p:cNvSpPr/>
          <p:nvPr/>
        </p:nvSpPr>
        <p:spPr>
          <a:xfrm>
            <a:off x="1557498" y="2633472"/>
            <a:ext cx="310896" cy="31089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3-cell135"/>
          <p:cNvSpPr/>
          <p:nvPr/>
        </p:nvSpPr>
        <p:spPr>
          <a:xfrm>
            <a:off x="1868394" y="2633472"/>
            <a:ext cx="310896" cy="31089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3-cell136"/>
          <p:cNvSpPr/>
          <p:nvPr/>
        </p:nvSpPr>
        <p:spPr>
          <a:xfrm>
            <a:off x="2179290" y="2633472"/>
            <a:ext cx="310896" cy="31089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3-cell137"/>
          <p:cNvSpPr/>
          <p:nvPr/>
        </p:nvSpPr>
        <p:spPr>
          <a:xfrm>
            <a:off x="2490186" y="2633472"/>
            <a:ext cx="310896" cy="31089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03-cell138"/>
          <p:cNvSpPr/>
          <p:nvPr/>
        </p:nvSpPr>
        <p:spPr>
          <a:xfrm>
            <a:off x="2801082" y="2633472"/>
            <a:ext cx="310896" cy="31089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03-cell139"/>
          <p:cNvSpPr/>
          <p:nvPr/>
        </p:nvSpPr>
        <p:spPr>
          <a:xfrm>
            <a:off x="3111978" y="2633472"/>
            <a:ext cx="310896" cy="31089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03-cell140"/>
          <p:cNvSpPr/>
          <p:nvPr/>
        </p:nvSpPr>
        <p:spPr>
          <a:xfrm>
            <a:off x="3422874" y="2633472"/>
            <a:ext cx="310896" cy="31089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3-cell141"/>
          <p:cNvSpPr/>
          <p:nvPr/>
        </p:nvSpPr>
        <p:spPr>
          <a:xfrm>
            <a:off x="3733770" y="2633472"/>
            <a:ext cx="310896" cy="31089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3-cell142"/>
          <p:cNvSpPr/>
          <p:nvPr/>
        </p:nvSpPr>
        <p:spPr>
          <a:xfrm>
            <a:off x="4044666" y="2633472"/>
            <a:ext cx="310896" cy="31089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3-cell143"/>
          <p:cNvSpPr/>
          <p:nvPr/>
        </p:nvSpPr>
        <p:spPr>
          <a:xfrm>
            <a:off x="1246602" y="2944368"/>
            <a:ext cx="310896" cy="31089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03-cell144"/>
          <p:cNvSpPr/>
          <p:nvPr/>
        </p:nvSpPr>
        <p:spPr>
          <a:xfrm>
            <a:off x="1557498" y="2944368"/>
            <a:ext cx="310896" cy="31089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8" name="S03-cell145"/>
          <p:cNvSpPr/>
          <p:nvPr/>
        </p:nvSpPr>
        <p:spPr>
          <a:xfrm>
            <a:off x="1868394" y="2944368"/>
            <a:ext cx="310896" cy="31089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03-cell146"/>
          <p:cNvSpPr/>
          <p:nvPr/>
        </p:nvSpPr>
        <p:spPr>
          <a:xfrm>
            <a:off x="2179290" y="2944368"/>
            <a:ext cx="310896" cy="31089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0" name="S03-cell147"/>
          <p:cNvSpPr/>
          <p:nvPr/>
        </p:nvSpPr>
        <p:spPr>
          <a:xfrm>
            <a:off x="2490186" y="2944368"/>
            <a:ext cx="310896" cy="31089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1" name="S03-cell148"/>
          <p:cNvSpPr/>
          <p:nvPr/>
        </p:nvSpPr>
        <p:spPr>
          <a:xfrm>
            <a:off x="2801082" y="2944368"/>
            <a:ext cx="310896" cy="31089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2" name="S03-cell149"/>
          <p:cNvSpPr/>
          <p:nvPr/>
        </p:nvSpPr>
        <p:spPr>
          <a:xfrm>
            <a:off x="3111978" y="2944368"/>
            <a:ext cx="310896" cy="31089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3" name="S03-cell150"/>
          <p:cNvSpPr/>
          <p:nvPr/>
        </p:nvSpPr>
        <p:spPr>
          <a:xfrm>
            <a:off x="3422874" y="2944368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4" name="S03-cell151"/>
          <p:cNvSpPr/>
          <p:nvPr/>
        </p:nvSpPr>
        <p:spPr>
          <a:xfrm>
            <a:off x="3733770" y="2944368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5" name="S03-cell152"/>
          <p:cNvSpPr/>
          <p:nvPr/>
        </p:nvSpPr>
        <p:spPr>
          <a:xfrm>
            <a:off x="4044666" y="2944368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6" name="S03-cell153"/>
          <p:cNvSpPr/>
          <p:nvPr/>
        </p:nvSpPr>
        <p:spPr>
          <a:xfrm>
            <a:off x="1246602" y="3255264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7" name="S03-cell154"/>
          <p:cNvSpPr/>
          <p:nvPr/>
        </p:nvSpPr>
        <p:spPr>
          <a:xfrm>
            <a:off x="1557498" y="3255264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8" name="S03-cell155"/>
          <p:cNvSpPr/>
          <p:nvPr/>
        </p:nvSpPr>
        <p:spPr>
          <a:xfrm>
            <a:off x="1868394" y="3255264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9" name="S03-cell156"/>
          <p:cNvSpPr/>
          <p:nvPr/>
        </p:nvSpPr>
        <p:spPr>
          <a:xfrm>
            <a:off x="2179290" y="3255264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0" name="S03-cell157"/>
          <p:cNvSpPr/>
          <p:nvPr/>
        </p:nvSpPr>
        <p:spPr>
          <a:xfrm>
            <a:off x="2490186" y="3255264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1" name="S03-cell158"/>
          <p:cNvSpPr/>
          <p:nvPr/>
        </p:nvSpPr>
        <p:spPr>
          <a:xfrm>
            <a:off x="2801082" y="3255264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2" name="S03-cell159"/>
          <p:cNvSpPr/>
          <p:nvPr/>
        </p:nvSpPr>
        <p:spPr>
          <a:xfrm>
            <a:off x="3111978" y="3255264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3" name="S03-cell160"/>
          <p:cNvSpPr/>
          <p:nvPr/>
        </p:nvSpPr>
        <p:spPr>
          <a:xfrm>
            <a:off x="3422874" y="3255264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4" name="S03-cell161"/>
          <p:cNvSpPr/>
          <p:nvPr/>
        </p:nvSpPr>
        <p:spPr>
          <a:xfrm>
            <a:off x="3733770" y="3255264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5" name="S03-cell162"/>
          <p:cNvSpPr/>
          <p:nvPr/>
        </p:nvSpPr>
        <p:spPr>
          <a:xfrm>
            <a:off x="4044666" y="3255264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6" name="S03-cell163"/>
          <p:cNvSpPr/>
          <p:nvPr/>
        </p:nvSpPr>
        <p:spPr>
          <a:xfrm>
            <a:off x="1246602" y="3566160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7" name="S03-cell164"/>
          <p:cNvSpPr/>
          <p:nvPr/>
        </p:nvSpPr>
        <p:spPr>
          <a:xfrm>
            <a:off x="1557498" y="3566160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8" name="S03-cell165"/>
          <p:cNvSpPr/>
          <p:nvPr/>
        </p:nvSpPr>
        <p:spPr>
          <a:xfrm>
            <a:off x="1868394" y="3566160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9" name="S03-cell166"/>
          <p:cNvSpPr/>
          <p:nvPr/>
        </p:nvSpPr>
        <p:spPr>
          <a:xfrm>
            <a:off x="2179290" y="3566160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0" name="S03-cell167"/>
          <p:cNvSpPr/>
          <p:nvPr/>
        </p:nvSpPr>
        <p:spPr>
          <a:xfrm>
            <a:off x="2490186" y="3566160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1" name="S03-cell168"/>
          <p:cNvSpPr/>
          <p:nvPr/>
        </p:nvSpPr>
        <p:spPr>
          <a:xfrm>
            <a:off x="2801082" y="3566160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2" name="S03-cell169"/>
          <p:cNvSpPr/>
          <p:nvPr/>
        </p:nvSpPr>
        <p:spPr>
          <a:xfrm>
            <a:off x="3111978" y="3566160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3" name="S03-cell170"/>
          <p:cNvSpPr/>
          <p:nvPr/>
        </p:nvSpPr>
        <p:spPr>
          <a:xfrm>
            <a:off x="3422874" y="3566160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4" name="S03-cell171"/>
          <p:cNvSpPr/>
          <p:nvPr/>
        </p:nvSpPr>
        <p:spPr>
          <a:xfrm>
            <a:off x="3733770" y="3566160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5" name="S03-cell172"/>
          <p:cNvSpPr/>
          <p:nvPr/>
        </p:nvSpPr>
        <p:spPr>
          <a:xfrm>
            <a:off x="4044666" y="3566160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6" name="S03-cell173"/>
          <p:cNvSpPr/>
          <p:nvPr/>
        </p:nvSpPr>
        <p:spPr>
          <a:xfrm>
            <a:off x="1246602" y="3877056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7" name="S03-cell174"/>
          <p:cNvSpPr/>
          <p:nvPr/>
        </p:nvSpPr>
        <p:spPr>
          <a:xfrm>
            <a:off x="1557498" y="3877056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8" name="S03-cell175"/>
          <p:cNvSpPr/>
          <p:nvPr/>
        </p:nvSpPr>
        <p:spPr>
          <a:xfrm>
            <a:off x="1868394" y="3877056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9" name="S03-cell176"/>
          <p:cNvSpPr/>
          <p:nvPr/>
        </p:nvSpPr>
        <p:spPr>
          <a:xfrm>
            <a:off x="2179290" y="3877056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0" name="S03-cell177"/>
          <p:cNvSpPr/>
          <p:nvPr/>
        </p:nvSpPr>
        <p:spPr>
          <a:xfrm>
            <a:off x="2490186" y="3877056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1" name="S03-cell178"/>
          <p:cNvSpPr/>
          <p:nvPr/>
        </p:nvSpPr>
        <p:spPr>
          <a:xfrm>
            <a:off x="2801082" y="3877056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2" name="S03-cell179"/>
          <p:cNvSpPr/>
          <p:nvPr/>
        </p:nvSpPr>
        <p:spPr>
          <a:xfrm>
            <a:off x="3111978" y="3877056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3" name="S03-cell180"/>
          <p:cNvSpPr/>
          <p:nvPr/>
        </p:nvSpPr>
        <p:spPr>
          <a:xfrm>
            <a:off x="3422874" y="3877056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4" name="S03-cell181"/>
          <p:cNvSpPr/>
          <p:nvPr/>
        </p:nvSpPr>
        <p:spPr>
          <a:xfrm>
            <a:off x="3733770" y="3877056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5" name="S03-cell182"/>
          <p:cNvSpPr/>
          <p:nvPr/>
        </p:nvSpPr>
        <p:spPr>
          <a:xfrm>
            <a:off x="4044666" y="3877056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6" name="S03-cell183"/>
          <p:cNvSpPr/>
          <p:nvPr/>
        </p:nvSpPr>
        <p:spPr>
          <a:xfrm>
            <a:off x="1246602" y="4187952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7" name="S03-cell184"/>
          <p:cNvSpPr/>
          <p:nvPr/>
        </p:nvSpPr>
        <p:spPr>
          <a:xfrm>
            <a:off x="1557498" y="4187952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8" name="S03-cell185"/>
          <p:cNvSpPr/>
          <p:nvPr/>
        </p:nvSpPr>
        <p:spPr>
          <a:xfrm>
            <a:off x="1868394" y="4187952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9" name="S03-cell186"/>
          <p:cNvSpPr/>
          <p:nvPr/>
        </p:nvSpPr>
        <p:spPr>
          <a:xfrm>
            <a:off x="2179290" y="4187952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0" name="S03-cell187"/>
          <p:cNvSpPr/>
          <p:nvPr/>
        </p:nvSpPr>
        <p:spPr>
          <a:xfrm>
            <a:off x="2490186" y="4187952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1" name="S03-cell188"/>
          <p:cNvSpPr/>
          <p:nvPr/>
        </p:nvSpPr>
        <p:spPr>
          <a:xfrm>
            <a:off x="2801082" y="4187952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2" name="S03-cell189"/>
          <p:cNvSpPr/>
          <p:nvPr/>
        </p:nvSpPr>
        <p:spPr>
          <a:xfrm>
            <a:off x="3111978" y="4187952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3" name="S03-cell190"/>
          <p:cNvSpPr/>
          <p:nvPr/>
        </p:nvSpPr>
        <p:spPr>
          <a:xfrm>
            <a:off x="3422874" y="4187952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4" name="S03-cell191"/>
          <p:cNvSpPr/>
          <p:nvPr/>
        </p:nvSpPr>
        <p:spPr>
          <a:xfrm>
            <a:off x="3733770" y="4187952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5" name="S03-cell192"/>
          <p:cNvSpPr/>
          <p:nvPr/>
        </p:nvSpPr>
        <p:spPr>
          <a:xfrm>
            <a:off x="4044666" y="4187952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6" name="S03-cell193"/>
          <p:cNvSpPr/>
          <p:nvPr/>
        </p:nvSpPr>
        <p:spPr>
          <a:xfrm>
            <a:off x="1246602" y="4498848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7" name="S03-cell194"/>
          <p:cNvSpPr/>
          <p:nvPr/>
        </p:nvSpPr>
        <p:spPr>
          <a:xfrm>
            <a:off x="1557498" y="4498848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8" name="S03-cell195"/>
          <p:cNvSpPr/>
          <p:nvPr/>
        </p:nvSpPr>
        <p:spPr>
          <a:xfrm>
            <a:off x="1868394" y="4498848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9" name="S03-cell196"/>
          <p:cNvSpPr/>
          <p:nvPr/>
        </p:nvSpPr>
        <p:spPr>
          <a:xfrm>
            <a:off x="2179290" y="4498848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0" name="S03-cell197"/>
          <p:cNvSpPr/>
          <p:nvPr/>
        </p:nvSpPr>
        <p:spPr>
          <a:xfrm>
            <a:off x="2490186" y="4498848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1" name="S03-cell198"/>
          <p:cNvSpPr/>
          <p:nvPr/>
        </p:nvSpPr>
        <p:spPr>
          <a:xfrm>
            <a:off x="2801082" y="4498848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2" name="S03-cell199"/>
          <p:cNvSpPr/>
          <p:nvPr/>
        </p:nvSpPr>
        <p:spPr>
          <a:xfrm>
            <a:off x="3111978" y="4498848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3" name="S03-cell200"/>
          <p:cNvSpPr/>
          <p:nvPr/>
        </p:nvSpPr>
        <p:spPr>
          <a:xfrm>
            <a:off x="3422874" y="4498848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4" name="S03-cell201"/>
          <p:cNvSpPr/>
          <p:nvPr/>
        </p:nvSpPr>
        <p:spPr>
          <a:xfrm>
            <a:off x="3733770" y="4498848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5" name="S03-cell202"/>
          <p:cNvSpPr/>
          <p:nvPr/>
        </p:nvSpPr>
        <p:spPr>
          <a:xfrm>
            <a:off x="4044666" y="4498848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6" name="S03-cell203"/>
          <p:cNvSpPr/>
          <p:nvPr/>
        </p:nvSpPr>
        <p:spPr>
          <a:xfrm>
            <a:off x="1246602" y="4809744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7" name="S03-cell204"/>
          <p:cNvSpPr/>
          <p:nvPr/>
        </p:nvSpPr>
        <p:spPr>
          <a:xfrm>
            <a:off x="1557498" y="4809744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8" name="S03-cell205"/>
          <p:cNvSpPr/>
          <p:nvPr/>
        </p:nvSpPr>
        <p:spPr>
          <a:xfrm>
            <a:off x="1868394" y="4809744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9" name="S03-cell206"/>
          <p:cNvSpPr/>
          <p:nvPr/>
        </p:nvSpPr>
        <p:spPr>
          <a:xfrm>
            <a:off x="2179290" y="4809744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0" name="S03-cell207"/>
          <p:cNvSpPr/>
          <p:nvPr/>
        </p:nvSpPr>
        <p:spPr>
          <a:xfrm>
            <a:off x="2490186" y="4809744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1" name="S03-cell208"/>
          <p:cNvSpPr/>
          <p:nvPr/>
        </p:nvSpPr>
        <p:spPr>
          <a:xfrm>
            <a:off x="2801082" y="4809744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2" name="S03-cell209"/>
          <p:cNvSpPr/>
          <p:nvPr/>
        </p:nvSpPr>
        <p:spPr>
          <a:xfrm>
            <a:off x="3111978" y="4809744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3" name="S03-cell210"/>
          <p:cNvSpPr/>
          <p:nvPr/>
        </p:nvSpPr>
        <p:spPr>
          <a:xfrm>
            <a:off x="3422874" y="4809744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4" name="S03-cell211"/>
          <p:cNvSpPr/>
          <p:nvPr/>
        </p:nvSpPr>
        <p:spPr>
          <a:xfrm>
            <a:off x="3733770" y="4809744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5" name="S03-cell212"/>
          <p:cNvSpPr/>
          <p:nvPr/>
        </p:nvSpPr>
        <p:spPr>
          <a:xfrm>
            <a:off x="4044666" y="4809744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6" name="S03-figure213" descr="100칸 격자에서 37칸 색칠"/>
          <p:cNvSpPr/>
          <p:nvPr/>
        </p:nvSpPr>
        <p:spPr>
          <a:xfrm>
            <a:off x="1246602" y="2011680"/>
            <a:ext cx="3108960" cy="3108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7" name="S03-card214"/>
          <p:cNvSpPr/>
          <p:nvPr/>
        </p:nvSpPr>
        <p:spPr>
          <a:xfrm>
            <a:off x="5419283" y="2101342"/>
            <a:ext cx="6221029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8" name="S03-cardtext215"/>
          <p:cNvSpPr txBox="1"/>
          <p:nvPr/>
        </p:nvSpPr>
        <p:spPr>
          <a:xfrm>
            <a:off x="5693603" y="2238502"/>
            <a:ext cx="5672389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비율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100분의 37 = 0.37</a:t>
            </a:r>
            <a:endParaRPr lang="ko-KR" sz="2800" dirty="0"/>
          </a:p>
        </p:txBody>
      </p:sp>
      <p:sp>
        <p:nvSpPr>
          <p:cNvPr id="109" name="S03-card216"/>
          <p:cNvSpPr/>
          <p:nvPr/>
        </p:nvSpPr>
        <p:spPr>
          <a:xfrm>
            <a:off x="5419283" y="3510026"/>
            <a:ext cx="6221029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0" name="S03-cardtext217"/>
          <p:cNvSpPr txBox="1"/>
          <p:nvPr/>
        </p:nvSpPr>
        <p:spPr>
          <a:xfrm>
            <a:off x="5693603" y="3647186"/>
            <a:ext cx="5672389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백분율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37 %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읽기: 37 퍼센트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비율을 백분율로 바꿔요</a:t>
            </a:r>
            <a:endParaRPr lang="ko-KR" sz="4000" dirty="0"/>
          </a:p>
        </p:txBody>
      </p:sp>
      <p:sp>
        <p:nvSpPr>
          <p:cNvPr id="3" name="S04-text21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4분의 3을 백분율로 나타내요.</a:t>
            </a:r>
            <a:endParaRPr lang="ko-KR" sz="2800" dirty="0"/>
          </a:p>
        </p:txBody>
      </p:sp>
      <p:sp>
        <p:nvSpPr>
          <p:cNvPr id="4" name="S04-card21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22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백분율 = 비율 × 100 (%)</a:t>
            </a:r>
            <a:endParaRPr lang="ko-KR" sz="2800" dirty="0"/>
          </a:p>
        </p:txBody>
      </p:sp>
      <p:sp>
        <p:nvSpPr>
          <p:cNvPr id="6" name="S04-stepno221"/>
          <p:cNvSpPr txBox="1"/>
          <p:nvPr/>
        </p:nvSpPr>
        <p:spPr>
          <a:xfrm>
            <a:off x="548640" y="22829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7" name="S04-text222"/>
          <p:cNvSpPr txBox="1"/>
          <p:nvPr/>
        </p:nvSpPr>
        <p:spPr>
          <a:xfrm>
            <a:off x="1325880" y="2237232"/>
            <a:ext cx="565593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분모를 100으로</a:t>
            </a:r>
            <a:endParaRPr lang="ko-KR" sz="2800" dirty="0"/>
          </a:p>
        </p:txBody>
      </p:sp>
      <p:sp>
        <p:nvSpPr>
          <p:cNvPr id="8" name="S04-num223"/>
          <p:cNvSpPr txBox="1"/>
          <p:nvPr/>
        </p:nvSpPr>
        <p:spPr>
          <a:xfrm>
            <a:off x="6981810" y="2237232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9" name="S04-fracbar224"/>
          <p:cNvSpPr/>
          <p:nvPr/>
        </p:nvSpPr>
        <p:spPr>
          <a:xfrm>
            <a:off x="7018386" y="2693416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4-num225"/>
          <p:cNvSpPr txBox="1"/>
          <p:nvPr/>
        </p:nvSpPr>
        <p:spPr>
          <a:xfrm>
            <a:off x="6981810" y="2729992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11" name="S04-op226"/>
          <p:cNvSpPr txBox="1"/>
          <p:nvPr/>
        </p:nvSpPr>
        <p:spPr>
          <a:xfrm>
            <a:off x="7574646" y="2237232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12" name="S04-num227"/>
          <p:cNvSpPr txBox="1"/>
          <p:nvPr/>
        </p:nvSpPr>
        <p:spPr>
          <a:xfrm>
            <a:off x="8089758" y="2237232"/>
            <a:ext cx="783336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75</a:t>
            </a:r>
            <a:endParaRPr lang="ko-KR" sz="2800" dirty="0"/>
          </a:p>
        </p:txBody>
      </p:sp>
      <p:sp>
        <p:nvSpPr>
          <p:cNvPr id="13" name="S04-fracbar228"/>
          <p:cNvSpPr/>
          <p:nvPr/>
        </p:nvSpPr>
        <p:spPr>
          <a:xfrm>
            <a:off x="8126334" y="2693416"/>
            <a:ext cx="710184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4-num229"/>
          <p:cNvSpPr txBox="1"/>
          <p:nvPr/>
        </p:nvSpPr>
        <p:spPr>
          <a:xfrm>
            <a:off x="8089758" y="2729992"/>
            <a:ext cx="783336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endParaRPr lang="ko-KR" sz="2800" dirty="0"/>
          </a:p>
        </p:txBody>
      </p:sp>
      <p:sp>
        <p:nvSpPr>
          <p:cNvPr id="15" name="S04-stepno230"/>
          <p:cNvSpPr txBox="1"/>
          <p:nvPr/>
        </p:nvSpPr>
        <p:spPr>
          <a:xfrm>
            <a:off x="548640" y="33599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6" name="S04-text231"/>
          <p:cNvSpPr txBox="1"/>
          <p:nvPr/>
        </p:nvSpPr>
        <p:spPr>
          <a:xfrm>
            <a:off x="1325880" y="3314192"/>
            <a:ext cx="5655930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또는 소수에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100을 곱해요.</a:t>
            </a:r>
            <a:endParaRPr lang="ko-KR" sz="2800" dirty="0"/>
          </a:p>
        </p:txBody>
      </p:sp>
      <p:sp>
        <p:nvSpPr>
          <p:cNvPr id="17" name="S04-eqtext232"/>
          <p:cNvSpPr txBox="1"/>
          <p:nvPr/>
        </p:nvSpPr>
        <p:spPr>
          <a:xfrm>
            <a:off x="6981810" y="3314192"/>
            <a:ext cx="465850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0.75 × 100 = 75</a:t>
            </a:r>
            <a:endParaRPr lang="ko-KR" sz="2800" dirty="0"/>
          </a:p>
        </p:txBody>
      </p:sp>
      <p:sp>
        <p:nvSpPr>
          <p:cNvPr id="18" name="S04-stepno233"/>
          <p:cNvSpPr txBox="1"/>
          <p:nvPr/>
        </p:nvSpPr>
        <p:spPr>
          <a:xfrm>
            <a:off x="548640" y="43464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9" name="S04-text234"/>
          <p:cNvSpPr txBox="1"/>
          <p:nvPr/>
        </p:nvSpPr>
        <p:spPr>
          <a:xfrm>
            <a:off x="1325880" y="4346448"/>
            <a:ext cx="5655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% 를 붙여요.</a:t>
            </a:r>
            <a:endParaRPr lang="ko-KR" sz="2800" dirty="0"/>
          </a:p>
        </p:txBody>
      </p:sp>
      <p:sp>
        <p:nvSpPr>
          <p:cNvPr id="20" name="S04-eqtext235"/>
          <p:cNvSpPr txBox="1"/>
          <p:nvPr/>
        </p:nvSpPr>
        <p:spPr>
          <a:xfrm>
            <a:off x="6981810" y="4346448"/>
            <a:ext cx="46585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75 %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백분율로, 소수로</a:t>
            </a:r>
            <a:endParaRPr lang="ko-KR" sz="4000" dirty="0"/>
          </a:p>
        </p:txBody>
      </p:sp>
      <p:sp>
        <p:nvSpPr>
          <p:cNvPr id="3" name="S05-text23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①~④는 백분율로, ⑤⑥은 소수로 나타내요.</a:t>
            </a:r>
            <a:endParaRPr lang="ko-KR" sz="2800" dirty="0"/>
          </a:p>
        </p:txBody>
      </p:sp>
      <p:sp>
        <p:nvSpPr>
          <p:cNvPr id="4" name="S05-card23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23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백분율로는 × 100, 소수로는 ÷ 100</a:t>
            </a:r>
            <a:endParaRPr lang="ko-KR" sz="2800" dirty="0"/>
          </a:p>
        </p:txBody>
      </p:sp>
      <p:sp>
        <p:nvSpPr>
          <p:cNvPr id="6" name="S05-chip239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5-eqtext240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0.42 → □ %</a:t>
            </a:r>
            <a:endParaRPr lang="ko-KR" sz="3200" dirty="0"/>
          </a:p>
        </p:txBody>
      </p:sp>
      <p:sp>
        <p:nvSpPr>
          <p:cNvPr id="8" name="S05-chip241"/>
          <p:cNvSpPr txBox="1"/>
          <p:nvPr/>
        </p:nvSpPr>
        <p:spPr>
          <a:xfrm>
            <a:off x="6277356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5-eqtext242"/>
          <p:cNvSpPr txBox="1"/>
          <p:nvPr/>
        </p:nvSpPr>
        <p:spPr>
          <a:xfrm>
            <a:off x="7072884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0.08 → □ %</a:t>
            </a:r>
            <a:endParaRPr lang="ko-KR" sz="3200" dirty="0"/>
          </a:p>
        </p:txBody>
      </p:sp>
      <p:sp>
        <p:nvSpPr>
          <p:cNvPr id="10" name="S05-chip243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5-num244"/>
          <p:cNvSpPr txBox="1"/>
          <p:nvPr/>
        </p:nvSpPr>
        <p:spPr>
          <a:xfrm>
            <a:off x="1344168" y="310997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12" name="S05-fracbar245"/>
          <p:cNvSpPr/>
          <p:nvPr/>
        </p:nvSpPr>
        <p:spPr>
          <a:xfrm>
            <a:off x="1380744" y="35661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05-num246"/>
          <p:cNvSpPr txBox="1"/>
          <p:nvPr/>
        </p:nvSpPr>
        <p:spPr>
          <a:xfrm>
            <a:off x="1344168" y="36027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14" name="S05-op247"/>
          <p:cNvSpPr txBox="1"/>
          <p:nvPr/>
        </p:nvSpPr>
        <p:spPr>
          <a:xfrm>
            <a:off x="1937004" y="3109976"/>
            <a:ext cx="60452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ko-KR" sz="2800" dirty="0"/>
          </a:p>
        </p:txBody>
      </p:sp>
      <p:sp>
        <p:nvSpPr>
          <p:cNvPr id="15" name="S05-blank248"/>
          <p:cNvSpPr/>
          <p:nvPr/>
        </p:nvSpPr>
        <p:spPr>
          <a:xfrm>
            <a:off x="2798257" y="341090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6" name="S05-op249"/>
          <p:cNvSpPr txBox="1"/>
          <p:nvPr/>
        </p:nvSpPr>
        <p:spPr>
          <a:xfrm>
            <a:off x="3365500" y="310997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%</a:t>
            </a:r>
            <a:endParaRPr lang="ko-KR" sz="2800" dirty="0"/>
          </a:p>
        </p:txBody>
      </p:sp>
      <p:sp>
        <p:nvSpPr>
          <p:cNvPr id="17" name="S05-chip250"/>
          <p:cNvSpPr txBox="1"/>
          <p:nvPr/>
        </p:nvSpPr>
        <p:spPr>
          <a:xfrm>
            <a:off x="6277356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8" name="S05-num251"/>
          <p:cNvSpPr txBox="1"/>
          <p:nvPr/>
        </p:nvSpPr>
        <p:spPr>
          <a:xfrm>
            <a:off x="7072884" y="310997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ko-KR" sz="2800" dirty="0"/>
          </a:p>
        </p:txBody>
      </p:sp>
      <p:sp>
        <p:nvSpPr>
          <p:cNvPr id="19" name="S05-fracbar252"/>
          <p:cNvSpPr/>
          <p:nvPr/>
        </p:nvSpPr>
        <p:spPr>
          <a:xfrm>
            <a:off x="7109460" y="356616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5-num253"/>
          <p:cNvSpPr txBox="1"/>
          <p:nvPr/>
        </p:nvSpPr>
        <p:spPr>
          <a:xfrm>
            <a:off x="7072884" y="360273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</a:t>
            </a:r>
            <a:endParaRPr lang="ko-KR" sz="2800" dirty="0"/>
          </a:p>
        </p:txBody>
      </p:sp>
      <p:sp>
        <p:nvSpPr>
          <p:cNvPr id="21" name="S05-op254"/>
          <p:cNvSpPr txBox="1"/>
          <p:nvPr/>
        </p:nvSpPr>
        <p:spPr>
          <a:xfrm>
            <a:off x="7759700" y="3109976"/>
            <a:ext cx="60452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ko-KR" sz="2800" dirty="0"/>
          </a:p>
        </p:txBody>
      </p:sp>
      <p:sp>
        <p:nvSpPr>
          <p:cNvPr id="22" name="S05-blank255"/>
          <p:cNvSpPr/>
          <p:nvPr/>
        </p:nvSpPr>
        <p:spPr>
          <a:xfrm>
            <a:off x="8620953" y="341090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3" name="S05-op256"/>
          <p:cNvSpPr txBox="1"/>
          <p:nvPr/>
        </p:nvSpPr>
        <p:spPr>
          <a:xfrm>
            <a:off x="9188196" y="310997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%</a:t>
            </a:r>
            <a:endParaRPr lang="ko-KR" sz="2800" dirty="0"/>
          </a:p>
        </p:txBody>
      </p:sp>
      <p:sp>
        <p:nvSpPr>
          <p:cNvPr id="24" name="S05-chip257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ko-KR" sz="2200" dirty="0"/>
          </a:p>
        </p:txBody>
      </p:sp>
      <p:sp>
        <p:nvSpPr>
          <p:cNvPr id="25" name="S05-eqtext258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65 % → □</a:t>
            </a:r>
            <a:endParaRPr lang="ko-KR" sz="3200" dirty="0"/>
          </a:p>
        </p:txBody>
      </p:sp>
      <p:sp>
        <p:nvSpPr>
          <p:cNvPr id="26" name="S05-chip259"/>
          <p:cNvSpPr txBox="1"/>
          <p:nvPr/>
        </p:nvSpPr>
        <p:spPr>
          <a:xfrm>
            <a:off x="6277356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</a:t>
            </a:r>
            <a:endParaRPr lang="ko-KR" sz="2200" dirty="0"/>
          </a:p>
        </p:txBody>
      </p:sp>
      <p:sp>
        <p:nvSpPr>
          <p:cNvPr id="27" name="S05-eqtext260"/>
          <p:cNvSpPr txBox="1"/>
          <p:nvPr/>
        </p:nvSpPr>
        <p:spPr>
          <a:xfrm>
            <a:off x="7072884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7 % → □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000" dirty="0"/>
          </a:p>
        </p:txBody>
      </p:sp>
      <p:sp>
        <p:nvSpPr>
          <p:cNvPr id="3" name="S06-card261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262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0.8을 백분율로 나타냈어요.</a:t>
            </a:r>
            <a:endParaRPr lang="ko-KR" sz="2800" dirty="0"/>
          </a:p>
        </p:txBody>
      </p:sp>
      <p:sp>
        <p:nvSpPr>
          <p:cNvPr id="5" name="S06-card26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6-cardtext26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0.8은 100칸 중 몇 칸일까요?</a:t>
            </a:r>
            <a:endParaRPr lang="ko-KR" sz="2800" dirty="0"/>
          </a:p>
        </p:txBody>
      </p:sp>
      <p:sp>
        <p:nvSpPr>
          <p:cNvPr id="7" name="S06-chip265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8 %</a:t>
            </a:r>
            <a:endParaRPr lang="ko-KR" sz="2200" dirty="0"/>
          </a:p>
        </p:txBody>
      </p:sp>
      <p:sp>
        <p:nvSpPr>
          <p:cNvPr id="8" name="S06-text266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소수점 뒤의 8을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그대로 썼어요.</a:t>
            </a:r>
            <a:endParaRPr lang="ko-KR" sz="2800" dirty="0"/>
          </a:p>
        </p:txBody>
      </p:sp>
      <p:sp>
        <p:nvSpPr>
          <p:cNvPr id="9" name="S06-chip267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80 %</a:t>
            </a:r>
            <a:endParaRPr lang="ko-KR" sz="2200" dirty="0"/>
          </a:p>
        </p:txBody>
      </p:sp>
      <p:sp>
        <p:nvSpPr>
          <p:cNvPr id="10" name="S06-text268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0.8 × 100 = 80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80 %예요.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득표율을 구해요</a:t>
            </a:r>
            <a:endParaRPr lang="ko-KR" sz="4000" dirty="0"/>
          </a:p>
        </p:txBody>
      </p:sp>
      <p:sp>
        <p:nvSpPr>
          <p:cNvPr id="3" name="S07-text26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반장 선거에서 25명이 투표했어요.</a:t>
            </a:r>
            <a:endParaRPr lang="ko-KR" sz="2800" dirty="0"/>
          </a:p>
        </p:txBody>
      </p:sp>
      <p:sp>
        <p:nvSpPr>
          <p:cNvPr id="4" name="S07-card270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271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득표율 = 득표수 ÷ 투표수 × 100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1번: 12 ÷ 25 × 100 = 48 (%)</a:t>
            </a:r>
            <a:endParaRPr lang="ko-KR" sz="2800" dirty="0"/>
          </a:p>
        </p:txBody>
      </p:sp>
      <p:graphicFrame>
        <p:nvGraphicFramePr>
          <p:cNvPr id="8" name="S07-table2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93876" y="2583688"/>
          <a:ext cx="96012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920240"/>
                <a:gridCol w="1920240"/>
                <a:gridCol w="1920240"/>
                <a:gridCol w="1920240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후보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1번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2번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3번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득표수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12표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8표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5표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25표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득표율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48 %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 %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 %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100 %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할인한 가격을 구해요</a:t>
            </a:r>
            <a:endParaRPr lang="ko-KR" sz="4000" dirty="0"/>
          </a:p>
        </p:txBody>
      </p:sp>
      <p:sp>
        <p:nvSpPr>
          <p:cNvPr id="3" name="S08-card27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27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판매 가격 = 원래 가격 − 할인 금액</a:t>
            </a:r>
            <a:endParaRPr lang="ko-KR" sz="2800" dirty="0"/>
          </a:p>
        </p:txBody>
      </p:sp>
      <p:sp>
        <p:nvSpPr>
          <p:cNvPr id="5" name="S08-text275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15000원짜리 티셔츠를 20 % 할인해요.</a:t>
            </a:r>
            <a:endParaRPr lang="ko-KR" sz="2800" dirty="0"/>
          </a:p>
        </p:txBody>
      </p:sp>
      <p:sp>
        <p:nvSpPr>
          <p:cNvPr id="6" name="S08-cell276"/>
          <p:cNvSpPr/>
          <p:nvPr/>
        </p:nvSpPr>
        <p:spPr>
          <a:xfrm>
            <a:off x="6813652" y="3226689"/>
            <a:ext cx="482666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8-cell277"/>
          <p:cNvSpPr/>
          <p:nvPr/>
        </p:nvSpPr>
        <p:spPr>
          <a:xfrm>
            <a:off x="7296318" y="3226689"/>
            <a:ext cx="482666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8-cell278"/>
          <p:cNvSpPr/>
          <p:nvPr/>
        </p:nvSpPr>
        <p:spPr>
          <a:xfrm>
            <a:off x="7778984" y="3226689"/>
            <a:ext cx="482666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8-cell279"/>
          <p:cNvSpPr/>
          <p:nvPr/>
        </p:nvSpPr>
        <p:spPr>
          <a:xfrm>
            <a:off x="8261650" y="3226689"/>
            <a:ext cx="482666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8-cell280"/>
          <p:cNvSpPr/>
          <p:nvPr/>
        </p:nvSpPr>
        <p:spPr>
          <a:xfrm>
            <a:off x="8744316" y="3226689"/>
            <a:ext cx="482666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8-cell281"/>
          <p:cNvSpPr/>
          <p:nvPr/>
        </p:nvSpPr>
        <p:spPr>
          <a:xfrm>
            <a:off x="9226982" y="3226689"/>
            <a:ext cx="482666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8-cell282"/>
          <p:cNvSpPr/>
          <p:nvPr/>
        </p:nvSpPr>
        <p:spPr>
          <a:xfrm>
            <a:off x="9709648" y="3226689"/>
            <a:ext cx="482666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8-cell283"/>
          <p:cNvSpPr/>
          <p:nvPr/>
        </p:nvSpPr>
        <p:spPr>
          <a:xfrm>
            <a:off x="10192314" y="3226689"/>
            <a:ext cx="482666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8-cell284"/>
          <p:cNvSpPr/>
          <p:nvPr/>
        </p:nvSpPr>
        <p:spPr>
          <a:xfrm>
            <a:off x="10674980" y="3226689"/>
            <a:ext cx="482666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8-cell285"/>
          <p:cNvSpPr/>
          <p:nvPr/>
        </p:nvSpPr>
        <p:spPr>
          <a:xfrm>
            <a:off x="11157646" y="3226689"/>
            <a:ext cx="482666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8-figure286" descr="똑같이 10칸으로 나눈 띠, 2칸 색칠"/>
          <p:cNvSpPr/>
          <p:nvPr/>
        </p:nvSpPr>
        <p:spPr>
          <a:xfrm>
            <a:off x="6813652" y="3226689"/>
            <a:ext cx="4826660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7" name="S08-label287"/>
          <p:cNvSpPr txBox="1"/>
          <p:nvPr/>
        </p:nvSpPr>
        <p:spPr>
          <a:xfrm>
            <a:off x="6813652" y="4743450"/>
            <a:ext cx="482666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칸 1500원 (10 %)</a:t>
            </a:r>
            <a:endParaRPr lang="ko-KR" sz="2200" dirty="0"/>
          </a:p>
        </p:txBody>
      </p:sp>
      <p:sp>
        <p:nvSpPr>
          <p:cNvPr id="18" name="S08-stepno288"/>
          <p:cNvSpPr txBox="1"/>
          <p:nvPr/>
        </p:nvSpPr>
        <p:spPr>
          <a:xfrm>
            <a:off x="548640" y="274218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9" name="S08-text289"/>
          <p:cNvSpPr txBox="1"/>
          <p:nvPr/>
        </p:nvSpPr>
        <p:spPr>
          <a:xfrm>
            <a:off x="1325880" y="2696464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할인 금액: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15000 × 0.2 = 3000(원)</a:t>
            </a:r>
            <a:endParaRPr lang="ko-KR" sz="2800" dirty="0"/>
          </a:p>
        </p:txBody>
      </p:sp>
      <p:sp>
        <p:nvSpPr>
          <p:cNvPr id="20" name="S08-stepno290"/>
          <p:cNvSpPr txBox="1"/>
          <p:nvPr/>
        </p:nvSpPr>
        <p:spPr>
          <a:xfrm>
            <a:off x="548640" y="37744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21" name="S08-text291"/>
          <p:cNvSpPr txBox="1"/>
          <p:nvPr/>
        </p:nvSpPr>
        <p:spPr>
          <a:xfrm>
            <a:off x="1325880" y="3728720"/>
            <a:ext cx="5122012" cy="1301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판매 가격: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15000 − 3000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12000(원)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 속 백분율</a:t>
            </a:r>
            <a:endParaRPr lang="ko-KR" sz="4000" dirty="0"/>
          </a:p>
        </p:txBody>
      </p:sp>
      <p:sp>
        <p:nvSpPr>
          <p:cNvPr id="3" name="S09-card29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9-cardtext29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할인율 = 할인 금액 ÷ 원래 가격 × 100</a:t>
            </a:r>
            <a:endParaRPr lang="ko-KR" sz="2800" dirty="0"/>
          </a:p>
        </p:txBody>
      </p:sp>
      <p:sp>
        <p:nvSpPr>
          <p:cNvPr id="5" name="S09-chip294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6" name="S09-text295"/>
          <p:cNvSpPr txBox="1"/>
          <p:nvPr/>
        </p:nvSpPr>
        <p:spPr>
          <a:xfrm>
            <a:off x="1344168" y="132588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20000원짜리 가방을 30 % 할인하면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판매 가격은 얼마인가요?</a:t>
            </a:r>
            <a:endParaRPr lang="ko-KR" sz="2800" dirty="0"/>
          </a:p>
        </p:txBody>
      </p:sp>
      <p:sp>
        <p:nvSpPr>
          <p:cNvPr id="7" name="S09-chip296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8" name="S09-text297"/>
          <p:cNvSpPr txBox="1"/>
          <p:nvPr/>
        </p:nvSpPr>
        <p:spPr>
          <a:xfrm>
            <a:off x="1344168" y="265176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40명 중 18명이 찬성했어요.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찬성률은 몇 %인가요?</a:t>
            </a:r>
            <a:endParaRPr lang="ko-KR" sz="2800" dirty="0"/>
          </a:p>
        </p:txBody>
      </p:sp>
      <p:sp>
        <p:nvSpPr>
          <p:cNvPr id="9" name="S09-chip298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0" name="S09-text299"/>
          <p:cNvSpPr txBox="1"/>
          <p:nvPr/>
        </p:nvSpPr>
        <p:spPr>
          <a:xfrm>
            <a:off x="1344168" y="397764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5000원짜리 공책을 4000원에 팔아요.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할인율은 몇 %인가요?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얼마를 내야 할까요?</a:t>
            </a:r>
            <a:endParaRPr lang="ko-KR" sz="4000" dirty="0"/>
          </a:p>
        </p:txBody>
      </p:sp>
      <p:sp>
        <p:nvSpPr>
          <p:cNvPr id="3" name="S10-card30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30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10000원짜리 필통을 30 % 할인해요.</a:t>
            </a:r>
            <a:endParaRPr lang="ko-KR" sz="2800" dirty="0"/>
          </a:p>
        </p:txBody>
      </p:sp>
      <p:sp>
        <p:nvSpPr>
          <p:cNvPr id="5" name="S10-card30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0-cardtext30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3000원은 무엇을 나타내는 돈일까요?</a:t>
            </a:r>
            <a:endParaRPr lang="ko-KR" sz="2800" dirty="0"/>
          </a:p>
        </p:txBody>
      </p:sp>
      <p:sp>
        <p:nvSpPr>
          <p:cNvPr id="7" name="S10-chip304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3000원</a:t>
            </a:r>
            <a:endParaRPr lang="ko-KR" sz="2200" dirty="0"/>
          </a:p>
        </p:txBody>
      </p:sp>
      <p:sp>
        <p:nvSpPr>
          <p:cNvPr id="8" name="S10-text305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10000 × 0.3 = 3000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3000원을 내요.</a:t>
            </a:r>
            <a:endParaRPr lang="ko-KR" sz="2800" dirty="0"/>
          </a:p>
        </p:txBody>
      </p:sp>
      <p:sp>
        <p:nvSpPr>
          <p:cNvPr id="9" name="S10-chip306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7000원</a:t>
            </a:r>
            <a:endParaRPr lang="ko-KR" sz="2200" dirty="0"/>
          </a:p>
        </p:txBody>
      </p:sp>
      <p:sp>
        <p:nvSpPr>
          <p:cNvPr id="10" name="S10-text307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10000 − 3000 = 7000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7000원을 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chip308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11-eqtext309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0.6 → □ %</a:t>
            </a:r>
            <a:endParaRPr lang="ko-KR" sz="3200" dirty="0"/>
          </a:p>
        </p:txBody>
      </p:sp>
      <p:sp>
        <p:nvSpPr>
          <p:cNvPr id="5" name="S11-chip310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11-num311"/>
          <p:cNvSpPr txBox="1"/>
          <p:nvPr/>
        </p:nvSpPr>
        <p:spPr>
          <a:xfrm>
            <a:off x="7072884" y="154127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3200" dirty="0"/>
          </a:p>
        </p:txBody>
      </p:sp>
      <p:sp>
        <p:nvSpPr>
          <p:cNvPr id="7" name="S11-fracbar312"/>
          <p:cNvSpPr/>
          <p:nvPr/>
        </p:nvSpPr>
        <p:spPr>
          <a:xfrm>
            <a:off x="7109460" y="2057400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" name="S11-num313"/>
          <p:cNvSpPr txBox="1"/>
          <p:nvPr/>
        </p:nvSpPr>
        <p:spPr>
          <a:xfrm>
            <a:off x="7072884" y="2093976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3200" dirty="0"/>
          </a:p>
        </p:txBody>
      </p:sp>
      <p:sp>
        <p:nvSpPr>
          <p:cNvPr id="9" name="S11-op314"/>
          <p:cNvSpPr txBox="1"/>
          <p:nvPr/>
        </p:nvSpPr>
        <p:spPr>
          <a:xfrm>
            <a:off x="7818628" y="154127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ko-KR" sz="3200" dirty="0"/>
          </a:p>
        </p:txBody>
      </p:sp>
      <p:sp>
        <p:nvSpPr>
          <p:cNvPr id="10" name="S11-blank315"/>
          <p:cNvSpPr/>
          <p:nvPr/>
        </p:nvSpPr>
        <p:spPr>
          <a:xfrm>
            <a:off x="8732378" y="1879966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1" name="S11-op316"/>
          <p:cNvSpPr txBox="1"/>
          <p:nvPr/>
        </p:nvSpPr>
        <p:spPr>
          <a:xfrm>
            <a:off x="9346692" y="154127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%</a:t>
            </a:r>
            <a:endParaRPr lang="ko-KR" sz="3200" dirty="0"/>
          </a:p>
        </p:txBody>
      </p:sp>
      <p:sp>
        <p:nvSpPr>
          <p:cNvPr id="12" name="S11-chip317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3" name="S11-eqtext318"/>
          <p:cNvSpPr txBox="1"/>
          <p:nvPr/>
        </p:nvSpPr>
        <p:spPr>
          <a:xfrm>
            <a:off x="1344168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35 % → 소수 □</a:t>
            </a:r>
            <a:endParaRPr lang="ko-KR" sz="3200" dirty="0"/>
          </a:p>
        </p:txBody>
      </p:sp>
      <p:sp>
        <p:nvSpPr>
          <p:cNvPr id="14" name="S11-chip319"/>
          <p:cNvSpPr txBox="1"/>
          <p:nvPr/>
        </p:nvSpPr>
        <p:spPr>
          <a:xfrm>
            <a:off x="6277356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5" name="S11-text320"/>
          <p:cNvSpPr txBox="1"/>
          <p:nvPr/>
        </p:nvSpPr>
        <p:spPr>
          <a:xfrm>
            <a:off x="7072884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12000원짜리 모자를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25 % 할인한 판매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가격은?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2-card321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322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④가 틀렸다면 할인 금액과 판매 가격을 더해 12000원이 되는지 확인하세요.</a:t>
            </a:r>
            <a:endParaRPr lang="ko-KR" sz="2800" dirty="0"/>
          </a:p>
        </p:txBody>
      </p:sp>
      <p:sp>
        <p:nvSpPr>
          <p:cNvPr id="5" name="S12-chip323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2-text324"/>
          <p:cNvSpPr txBox="1"/>
          <p:nvPr/>
        </p:nvSpPr>
        <p:spPr>
          <a:xfrm>
            <a:off x="548640" y="2057400"/>
            <a:ext cx="268147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60 %</a:t>
            </a:r>
            <a:endParaRPr lang="ko-KR" sz="2800" dirty="0"/>
          </a:p>
        </p:txBody>
      </p:sp>
      <p:sp>
        <p:nvSpPr>
          <p:cNvPr id="7" name="S12-text325"/>
          <p:cNvSpPr txBox="1"/>
          <p:nvPr/>
        </p:nvSpPr>
        <p:spPr>
          <a:xfrm>
            <a:off x="3367278" y="2057400"/>
            <a:ext cx="254431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0.6 × 100</a:t>
            </a:r>
            <a:endParaRPr lang="ko-KR" sz="2200" dirty="0"/>
          </a:p>
        </p:txBody>
      </p:sp>
      <p:sp>
        <p:nvSpPr>
          <p:cNvPr id="8" name="S12-text326"/>
          <p:cNvSpPr txBox="1"/>
          <p:nvPr/>
        </p:nvSpPr>
        <p:spPr>
          <a:xfrm>
            <a:off x="548640" y="2775458"/>
            <a:ext cx="268147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45 %</a:t>
            </a:r>
            <a:endParaRPr lang="ko-KR" sz="2800" dirty="0"/>
          </a:p>
        </p:txBody>
      </p:sp>
      <p:sp>
        <p:nvSpPr>
          <p:cNvPr id="9" name="S12-text327"/>
          <p:cNvSpPr txBox="1"/>
          <p:nvPr/>
        </p:nvSpPr>
        <p:spPr>
          <a:xfrm>
            <a:off x="3367278" y="2775458"/>
            <a:ext cx="254431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100분의 45</a:t>
            </a:r>
            <a:endParaRPr lang="ko-KR" sz="2200" dirty="0"/>
          </a:p>
        </p:txBody>
      </p:sp>
      <p:sp>
        <p:nvSpPr>
          <p:cNvPr id="10" name="S12-text328"/>
          <p:cNvSpPr txBox="1"/>
          <p:nvPr/>
        </p:nvSpPr>
        <p:spPr>
          <a:xfrm>
            <a:off x="548640" y="3493516"/>
            <a:ext cx="268147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0.35</a:t>
            </a:r>
            <a:endParaRPr lang="ko-KR" sz="2800" dirty="0"/>
          </a:p>
        </p:txBody>
      </p:sp>
      <p:sp>
        <p:nvSpPr>
          <p:cNvPr id="11" name="S12-text329"/>
          <p:cNvSpPr txBox="1"/>
          <p:nvPr/>
        </p:nvSpPr>
        <p:spPr>
          <a:xfrm>
            <a:off x="3367278" y="3493516"/>
            <a:ext cx="254431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 ÷ 100</a:t>
            </a:r>
            <a:endParaRPr lang="ko-KR" sz="2200" dirty="0"/>
          </a:p>
        </p:txBody>
      </p:sp>
      <p:sp>
        <p:nvSpPr>
          <p:cNvPr id="12" name="S12-text330"/>
          <p:cNvSpPr txBox="1"/>
          <p:nvPr/>
        </p:nvSpPr>
        <p:spPr>
          <a:xfrm>
            <a:off x="548640" y="4211574"/>
            <a:ext cx="268147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9000원</a:t>
            </a:r>
            <a:endParaRPr lang="ko-KR" sz="2800" dirty="0"/>
          </a:p>
        </p:txBody>
      </p:sp>
      <p:sp>
        <p:nvSpPr>
          <p:cNvPr id="13" name="S12-text331"/>
          <p:cNvSpPr txBox="1"/>
          <p:nvPr/>
        </p:nvSpPr>
        <p:spPr>
          <a:xfrm>
            <a:off x="3367278" y="4211574"/>
            <a:ext cx="254431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12000 − 3000</a:t>
            </a:r>
            <a:endParaRPr lang="ko-KR" sz="2200" dirty="0"/>
          </a:p>
        </p:txBody>
      </p:sp>
      <p:sp>
        <p:nvSpPr>
          <p:cNvPr id="14" name="S12-chip332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5" name="S12-text333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6 %</a:t>
            </a:r>
            <a:endParaRPr lang="ko-KR" sz="2800" dirty="0"/>
          </a:p>
        </p:txBody>
      </p:sp>
      <p:sp>
        <p:nvSpPr>
          <p:cNvPr id="16" name="S12-text334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6을 그대로 씀</a:t>
            </a:r>
            <a:endParaRPr lang="ko-KR" sz="2200" dirty="0"/>
          </a:p>
        </p:txBody>
      </p:sp>
      <p:sp>
        <p:nvSpPr>
          <p:cNvPr id="17" name="S12-text335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3000원</a:t>
            </a:r>
            <a:endParaRPr lang="ko-KR" sz="2800" dirty="0"/>
          </a:p>
        </p:txBody>
      </p:sp>
      <p:sp>
        <p:nvSpPr>
          <p:cNvPr id="18" name="S12-text336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할인 금액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쪽일까요?</a:t>
            </a:r>
            <a:endParaRPr lang="ko-KR" sz="4000" dirty="0"/>
          </a:p>
        </p:txBody>
      </p:sp>
      <p:sp>
        <p:nvSpPr>
          <p:cNvPr id="3" name="S13-chip337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13-text338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10000원짜리 같은 물건을 가 가게는 20 % 할인,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 가게는 1500원 할인해요. 어느 가게가 더 싸요?</a:t>
            </a:r>
            <a:endParaRPr lang="ko-KR" sz="2800" dirty="0"/>
          </a:p>
        </p:txBody>
      </p:sp>
      <p:sp>
        <p:nvSpPr>
          <p:cNvPr id="5" name="S13-chip339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13-text340"/>
          <p:cNvSpPr txBox="1"/>
          <p:nvPr/>
        </p:nvSpPr>
        <p:spPr>
          <a:xfrm>
            <a:off x="1344168" y="38633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투표한 50명 중 31명이 찬성, 나머지는 반대했어요.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찬성률과 반대율은 각각 몇 %인가요?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341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342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기준량을 100으로 할 때의 비율이 백분율이에요. 비율에 100을 곱하고 %를 붙여요.</a:t>
            </a:r>
            <a:endParaRPr lang="ko-KR" sz="2800" dirty="0"/>
          </a:p>
        </p:txBody>
      </p:sp>
      <p:sp>
        <p:nvSpPr>
          <p:cNvPr id="5" name="S14-chip343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판매 가격 = 원래 가격 − 할인 금액</a:t>
            </a:r>
            <a:endParaRPr lang="ko-KR" sz="2200" dirty="0"/>
          </a:p>
        </p:txBody>
      </p:sp>
      <p:sp>
        <p:nvSpPr>
          <p:cNvPr id="6" name="S14-chip344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0.8을 8 %라고 하기</a:t>
            </a:r>
            <a:endParaRPr lang="ko-KR" sz="2200" dirty="0"/>
          </a:p>
        </p:txBody>
      </p:sp>
      <p:sp>
        <p:nvSpPr>
          <p:cNvPr id="7" name="S14-text345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346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0.27을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백분율로</a:t>
            </a:r>
            <a:endParaRPr lang="ko-KR" sz="2200" dirty="0"/>
          </a:p>
        </p:txBody>
      </p:sp>
      <p:sp>
        <p:nvSpPr>
          <p:cNvPr id="9" name="S14-text347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5분의 3을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백분율로</a:t>
            </a:r>
            <a:endParaRPr lang="ko-KR" sz="2200" dirty="0"/>
          </a:p>
        </p:txBody>
      </p:sp>
      <p:sp>
        <p:nvSpPr>
          <p:cNvPr id="10" name="S14-text348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8000원의 10 %는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얼마인가요?</a:t>
            </a:r>
            <a:endParaRPr lang="ko-KR" sz="2200" dirty="0"/>
          </a:p>
        </p:txBody>
      </p:sp>
      <p:sp>
        <p:nvSpPr>
          <p:cNvPr id="11" name="S14-text349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비례식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비율을 다시 구해요</a:t>
            </a:r>
            <a:endParaRPr lang="ko-KR" sz="4000" dirty="0"/>
          </a:p>
        </p:txBody>
      </p:sp>
      <p:sp>
        <p:nvSpPr>
          <p:cNvPr id="3" name="S15-text35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 1 : 4의 비율을 구해요.</a:t>
            </a:r>
            <a:endParaRPr lang="ko-KR" sz="2800" dirty="0"/>
          </a:p>
        </p:txBody>
      </p:sp>
      <p:sp>
        <p:nvSpPr>
          <p:cNvPr id="4" name="S15-card351"/>
          <p:cNvSpPr/>
          <p:nvPr/>
        </p:nvSpPr>
        <p:spPr>
          <a:xfrm>
            <a:off x="548640" y="469696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5-cardtext352"/>
          <p:cNvSpPr txBox="1"/>
          <p:nvPr/>
        </p:nvSpPr>
        <p:spPr>
          <a:xfrm>
            <a:off x="822960" y="483412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비율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비교하는 양 ÷ 기준량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÷ 4</a:t>
            </a:r>
            <a:endParaRPr lang="ko-KR" sz="2800" dirty="0"/>
          </a:p>
        </p:txBody>
      </p:sp>
      <p:sp>
        <p:nvSpPr>
          <p:cNvPr id="6" name="S15-card353"/>
          <p:cNvSpPr/>
          <p:nvPr/>
        </p:nvSpPr>
        <p:spPr>
          <a:xfrm>
            <a:off x="6208776" y="469696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5-cardtext354"/>
          <p:cNvSpPr txBox="1"/>
          <p:nvPr/>
        </p:nvSpPr>
        <p:spPr>
          <a:xfrm>
            <a:off x="6483096" y="483412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분모를 100으로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4분의 1 = 100분의 25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0.25</a:t>
            </a:r>
            <a:endParaRPr lang="ko-KR" sz="2800" dirty="0"/>
          </a:p>
        </p:txBody>
      </p:sp>
      <p:sp>
        <p:nvSpPr>
          <p:cNvPr id="8" name="S15-num355"/>
          <p:cNvSpPr txBox="1"/>
          <p:nvPr/>
        </p:nvSpPr>
        <p:spPr>
          <a:xfrm>
            <a:off x="764286" y="2783840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9" name="S15-fracbar356"/>
          <p:cNvSpPr/>
          <p:nvPr/>
        </p:nvSpPr>
        <p:spPr>
          <a:xfrm>
            <a:off x="800862" y="3240024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15-num357"/>
          <p:cNvSpPr txBox="1"/>
          <p:nvPr/>
        </p:nvSpPr>
        <p:spPr>
          <a:xfrm>
            <a:off x="764286" y="3276600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11" name="S15-cell358"/>
          <p:cNvSpPr/>
          <p:nvPr/>
        </p:nvSpPr>
        <p:spPr>
          <a:xfrm>
            <a:off x="1600200" y="2828544"/>
            <a:ext cx="1083564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15-cell359"/>
          <p:cNvSpPr/>
          <p:nvPr/>
        </p:nvSpPr>
        <p:spPr>
          <a:xfrm>
            <a:off x="2683764" y="2828544"/>
            <a:ext cx="1083564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15-cell360"/>
          <p:cNvSpPr/>
          <p:nvPr/>
        </p:nvSpPr>
        <p:spPr>
          <a:xfrm>
            <a:off x="3767328" y="2828544"/>
            <a:ext cx="1083564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15-cell361"/>
          <p:cNvSpPr/>
          <p:nvPr/>
        </p:nvSpPr>
        <p:spPr>
          <a:xfrm>
            <a:off x="4850892" y="2828544"/>
            <a:ext cx="1083564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15-figure362" descr="똑같이 4칸으로 나눈 띠, 1칸 색칠"/>
          <p:cNvSpPr/>
          <p:nvPr/>
        </p:nvSpPr>
        <p:spPr>
          <a:xfrm>
            <a:off x="1600200" y="2828544"/>
            <a:ext cx="4334256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6" name="S15-num363"/>
          <p:cNvSpPr txBox="1"/>
          <p:nvPr/>
        </p:nvSpPr>
        <p:spPr>
          <a:xfrm>
            <a:off x="6787134" y="2663952"/>
            <a:ext cx="58978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600" dirty="0"/>
          </a:p>
        </p:txBody>
      </p:sp>
      <p:sp>
        <p:nvSpPr>
          <p:cNvPr id="17" name="S15-fracbar364"/>
          <p:cNvSpPr/>
          <p:nvPr/>
        </p:nvSpPr>
        <p:spPr>
          <a:xfrm>
            <a:off x="6823710" y="3240024"/>
            <a:ext cx="51663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8" name="S15-num365"/>
          <p:cNvSpPr txBox="1"/>
          <p:nvPr/>
        </p:nvSpPr>
        <p:spPr>
          <a:xfrm>
            <a:off x="6787134" y="3276600"/>
            <a:ext cx="58978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600" dirty="0"/>
          </a:p>
        </p:txBody>
      </p:sp>
      <p:sp>
        <p:nvSpPr>
          <p:cNvPr id="19" name="S15-op366"/>
          <p:cNvSpPr txBox="1"/>
          <p:nvPr/>
        </p:nvSpPr>
        <p:spPr>
          <a:xfrm>
            <a:off x="7486650" y="2663952"/>
            <a:ext cx="44805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600" dirty="0"/>
          </a:p>
        </p:txBody>
      </p:sp>
      <p:sp>
        <p:nvSpPr>
          <p:cNvPr id="20" name="S15-num367"/>
          <p:cNvSpPr txBox="1"/>
          <p:nvPr/>
        </p:nvSpPr>
        <p:spPr>
          <a:xfrm>
            <a:off x="8044434" y="2663952"/>
            <a:ext cx="9601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</a:t>
            </a:r>
            <a:endParaRPr lang="ko-KR" sz="3600" dirty="0"/>
          </a:p>
        </p:txBody>
      </p:sp>
      <p:sp>
        <p:nvSpPr>
          <p:cNvPr id="21" name="S15-fracbar368"/>
          <p:cNvSpPr/>
          <p:nvPr/>
        </p:nvSpPr>
        <p:spPr>
          <a:xfrm>
            <a:off x="8081010" y="3240024"/>
            <a:ext cx="886968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2" name="S15-num369"/>
          <p:cNvSpPr txBox="1"/>
          <p:nvPr/>
        </p:nvSpPr>
        <p:spPr>
          <a:xfrm>
            <a:off x="8044434" y="3276600"/>
            <a:ext cx="9601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endParaRPr lang="ko-KR" sz="3600" dirty="0"/>
          </a:p>
        </p:txBody>
      </p:sp>
      <p:sp>
        <p:nvSpPr>
          <p:cNvPr id="23" name="S15-op370"/>
          <p:cNvSpPr txBox="1"/>
          <p:nvPr/>
        </p:nvSpPr>
        <p:spPr>
          <a:xfrm>
            <a:off x="9114282" y="2663952"/>
            <a:ext cx="44805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600" dirty="0"/>
          </a:p>
        </p:txBody>
      </p:sp>
      <p:sp>
        <p:nvSpPr>
          <p:cNvPr id="24" name="S15-op371"/>
          <p:cNvSpPr txBox="1"/>
          <p:nvPr/>
        </p:nvSpPr>
        <p:spPr>
          <a:xfrm>
            <a:off x="9672066" y="2663952"/>
            <a:ext cx="143560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0.25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초6 수학 백분율</dc:title>
  <dc:subject>KR22-G06-MAT-PERCENT-L01</dc:subject>
  <dc:creator>education-ppt</dc:creator>
  <cp:lastModifiedBy>education-ppt</cp:lastModifiedBy>
  <cp:revision>1</cp:revision>
  <dcterms:created xsi:type="dcterms:W3CDTF">2026-10-26T09:05:42Z</dcterms:created>
  <dcterms:modified xsi:type="dcterms:W3CDTF">2026-10-26T09:05:42Z</dcterms:modified>
</cp:coreProperties>
</file>