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2484bce-6621-cf73-2d24-6ae40dcf881b}">
          <p14:sldIdLst>
            <p14:sldId id="256"/>
            <p14:sldId id="257"/>
          </p14:sldIdLst>
        </p14:section>
        <p14:section name="개념" id="{d4460d65-7fa8-318f-6f3d-711e54e80fd7}">
          <p14:sldIdLst>
            <p14:sldId id="258"/>
            <p14:sldId id="259"/>
            <p14:sldId id="260"/>
            <p14:sldId id="262"/>
            <p14:sldId id="265"/>
          </p14:sldIdLst>
        </p14:section>
        <p14:section name="연습" id="{73710e0e-93d4-c4ae-5b28-a429e0ce810f}">
          <p14:sldIdLst>
            <p14:sldId id="261"/>
            <p14:sldId id="263"/>
            <p14:sldId id="264"/>
            <p14:sldId id="266"/>
          </p14:sldIdLst>
        </p14:section>
        <p14:section name="개념" id="{a19cf43f-a6aa-53f4-0761-73455bebc0b1}">
          <p14:sldIdLst/>
        </p14:section>
        <p14:section name="연습" id="{063c345a-a27d-9f83-ca50-abe463e84530}">
          <p14:sldIdLst/>
        </p14:section>
        <p14:section name="개념" id="{3efa49d8-1c9b-3ca0-5acf-c86759e073c3}">
          <p14:sldIdLst/>
        </p14:section>
        <p14:section name="연습" id="{91ba2dde-9acc-faf6-24ed-01de524585ed}">
          <p14:sldIdLst/>
        </p14:section>
        <p14:section name="확인" id="{b39d96b4-821b-72bb-d369-ccc5b02789d5}">
          <p14:sldIdLst>
            <p14:sldId id="267"/>
            <p14:sldId id="268"/>
          </p14:sldIdLst>
        </p14:section>
        <p14:section name="정리" id="{fc318c89-0426-0961-2db6-27204e2dab1e}">
          <p14:sldIdLst>
            <p14:sldId id="269"/>
          </p14:sldIdLst>
        </p14:section>
        <p14:section name="보충" id="{d9bf1c40-4187-82b5-3b5e-ed178a5f7fa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입체와측정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각기둥과 각뿔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각기둥과 각뿔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각기둥과 각뿔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각기둥과 각뿔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직육면체와 닮았지만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밑면이 삼각형인 입체도형은?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삼각기둥의 겨냥도: 위아래 밑면(삼각형)을 색칠, 보이지 않는 모서리 3개는 점선"/>
          <p:cNvSpPr/>
          <p:nvPr/>
        </p:nvSpPr>
        <p:spPr>
          <a:xfrm>
            <a:off x="8468414" y="2933598"/>
            <a:ext cx="2357011" cy="548742"/>
          </a:xfrm>
          <a:custGeom>
            <a:avLst/>
            <a:gdLst/>
            <a:ahLst/>
            <a:cxnLst/>
            <a:rect l="l" t="t" r="r" b="b"/>
            <a:pathLst>
              <a:path w="2357011" h="548742">
                <a:moveTo>
                  <a:pt x="0" y="548742"/>
                </a:moveTo>
                <a:lnTo>
                  <a:pt x="2357011" y="548742"/>
                </a:lnTo>
                <a:lnTo>
                  <a:pt x="1585827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dash"/>
          </a:ln>
        </p:spPr>
      </p:sp>
      <p:sp>
        <p:nvSpPr>
          <p:cNvPr id="6" name="S01-mark3"/>
          <p:cNvSpPr/>
          <p:nvPr/>
        </p:nvSpPr>
        <p:spPr>
          <a:xfrm>
            <a:off x="8468414" y="723900"/>
            <a:ext cx="2357011" cy="548742"/>
          </a:xfrm>
          <a:custGeom>
            <a:avLst/>
            <a:gdLst/>
            <a:ahLst/>
            <a:cxnLst/>
            <a:rect l="l" t="t" r="r" b="b"/>
            <a:pathLst>
              <a:path w="2357011" h="548742">
                <a:moveTo>
                  <a:pt x="0" y="548742"/>
                </a:moveTo>
                <a:lnTo>
                  <a:pt x="2357011" y="548742"/>
                </a:lnTo>
                <a:lnTo>
                  <a:pt x="1585827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H="1" flipV="1">
            <a:off x="10054241" y="2933598"/>
            <a:ext cx="771185" cy="54874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1-mark5"/>
          <p:cNvSpPr/>
          <p:nvPr/>
        </p:nvSpPr>
        <p:spPr>
          <a:xfrm flipV="1">
            <a:off x="8468414" y="2933598"/>
            <a:ext cx="1585827" cy="54874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01-mark6"/>
          <p:cNvSpPr/>
          <p:nvPr/>
        </p:nvSpPr>
        <p:spPr>
          <a:xfrm flipV="1">
            <a:off x="10054241" y="723900"/>
            <a:ext cx="0" cy="220969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0" name="S01-mark7"/>
          <p:cNvSpPr/>
          <p:nvPr/>
        </p:nvSpPr>
        <p:spPr>
          <a:xfrm>
            <a:off x="8468414" y="3482340"/>
            <a:ext cx="235701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468414" y="1272642"/>
            <a:ext cx="235701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H="1" flipV="1">
            <a:off x="10054241" y="723900"/>
            <a:ext cx="771185" cy="5487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8468414" y="723900"/>
            <a:ext cx="1585827" cy="54874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10825426" y="1272642"/>
            <a:ext cx="0" cy="22096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V="1">
            <a:off x="8468414" y="1272642"/>
            <a:ext cx="0" cy="22096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1-card1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7" name="S01-cardtext1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각기둥과 각뿔의 구성 요소를 찾고 수를 세어요.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각기둥의 전개도를 알아보고 그려요.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 기억하기</a:t>
            </a:r>
            <a:endParaRPr lang="ko-KR" sz="4000" dirty="0"/>
          </a:p>
        </p:txBody>
      </p:sp>
      <p:sp>
        <p:nvSpPr>
          <p:cNvPr id="3" name="S02-card15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16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직육면체의 겨냥도</a:t>
            </a:r>
            <a:endParaRPr lang="ko-KR" sz="2800" dirty="0"/>
          </a:p>
        </p:txBody>
      </p:sp>
      <p:sp>
        <p:nvSpPr>
          <p:cNvPr id="5" name="S02-figure17" descr="직육면체의 겨냥도: 보이는 모서리 9개는 실선, 보이지 않는 모서리 3개는 점선"/>
          <p:cNvSpPr/>
          <p:nvPr/>
        </p:nvSpPr>
        <p:spPr>
          <a:xfrm flipH="1">
            <a:off x="7904074" y="4689958"/>
            <a:ext cx="27432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6" name="S02-mark18"/>
          <p:cNvSpPr/>
          <p:nvPr/>
        </p:nvSpPr>
        <p:spPr>
          <a:xfrm flipV="1">
            <a:off x="7270394" y="4689958"/>
            <a:ext cx="633679" cy="495605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7" name="S02-mark19"/>
          <p:cNvSpPr/>
          <p:nvPr/>
        </p:nvSpPr>
        <p:spPr>
          <a:xfrm flipV="1">
            <a:off x="7904074" y="2861158"/>
            <a:ext cx="0" cy="1828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2-mark20"/>
          <p:cNvSpPr/>
          <p:nvPr/>
        </p:nvSpPr>
        <p:spPr>
          <a:xfrm>
            <a:off x="7270394" y="518556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2-mark21"/>
          <p:cNvSpPr/>
          <p:nvPr/>
        </p:nvSpPr>
        <p:spPr>
          <a:xfrm flipV="1">
            <a:off x="10013594" y="468995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2-mark22"/>
          <p:cNvSpPr/>
          <p:nvPr/>
        </p:nvSpPr>
        <p:spPr>
          <a:xfrm>
            <a:off x="7270394" y="335676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2-mark23"/>
          <p:cNvSpPr/>
          <p:nvPr/>
        </p:nvSpPr>
        <p:spPr>
          <a:xfrm flipV="1">
            <a:off x="10013594" y="286115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2-mark24"/>
          <p:cNvSpPr/>
          <p:nvPr/>
        </p:nvSpPr>
        <p:spPr>
          <a:xfrm flipH="1">
            <a:off x="7904074" y="2861158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2-mark25"/>
          <p:cNvSpPr/>
          <p:nvPr/>
        </p:nvSpPr>
        <p:spPr>
          <a:xfrm flipV="1">
            <a:off x="7270394" y="286115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2-mark26"/>
          <p:cNvSpPr/>
          <p:nvPr/>
        </p:nvSpPr>
        <p:spPr>
          <a:xfrm flipV="1">
            <a:off x="10013594" y="3356762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2-mark27"/>
          <p:cNvSpPr/>
          <p:nvPr/>
        </p:nvSpPr>
        <p:spPr>
          <a:xfrm flipV="1">
            <a:off x="7270394" y="3356762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2-mark28"/>
          <p:cNvSpPr/>
          <p:nvPr/>
        </p:nvSpPr>
        <p:spPr>
          <a:xfrm flipV="1">
            <a:off x="10647274" y="2861158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2-chip2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8" name="S02-text3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면, 모서리, 꼭짓점은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몇 개?</a:t>
            </a:r>
            <a:endParaRPr lang="ko-KR" sz="2800" dirty="0"/>
          </a:p>
        </p:txBody>
      </p:sp>
      <p:sp>
        <p:nvSpPr>
          <p:cNvPr id="19" name="S02-chip3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0" name="S02-text3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점선으로 그린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모서리는 몇 개?</a:t>
            </a:r>
            <a:endParaRPr lang="ko-KR" sz="2800" dirty="0"/>
          </a:p>
        </p:txBody>
      </p:sp>
      <p:sp>
        <p:nvSpPr>
          <p:cNvPr id="21" name="S02-chip3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2" name="S02-text3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평행한 면은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쌍?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</a:t>
            </a:r>
            <a:endParaRPr lang="ko-KR" sz="4000" dirty="0"/>
          </a:p>
        </p:txBody>
      </p:sp>
      <p:sp>
        <p:nvSpPr>
          <p:cNvPr id="3" name="S03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모양에 따라 삼각기둥, 사각기둥, 오각기둥 …이라고 해요.</a:t>
            </a:r>
            <a:endParaRPr lang="ko-KR" sz="2800" dirty="0"/>
          </a:p>
        </p:txBody>
      </p:sp>
      <p:sp>
        <p:nvSpPr>
          <p:cNvPr id="5" name="S03-card37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38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평행하고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두 면</a:t>
            </a:r>
            <a:endParaRPr lang="ko-KR" sz="2800" dirty="0"/>
          </a:p>
        </p:txBody>
      </p:sp>
      <p:sp>
        <p:nvSpPr>
          <p:cNvPr id="7" name="S03-card39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40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밑면과 만나는 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직사각형</a:t>
            </a:r>
            <a:endParaRPr lang="ko-KR" sz="2800" dirty="0"/>
          </a:p>
        </p:txBody>
      </p:sp>
      <p:sp>
        <p:nvSpPr>
          <p:cNvPr id="9" name="S03-figure41" descr="삼각기둥의 겨냥도: 위아래 밑면(삼각형)을 색칠, 보이지 않는 모서리 3개는 점선"/>
          <p:cNvSpPr/>
          <p:nvPr/>
        </p:nvSpPr>
        <p:spPr>
          <a:xfrm>
            <a:off x="2480608" y="2523270"/>
            <a:ext cx="1187808" cy="276537"/>
          </a:xfrm>
          <a:custGeom>
            <a:avLst/>
            <a:gdLst/>
            <a:ahLst/>
            <a:cxnLst/>
            <a:rect l="l" t="t" r="r" b="b"/>
            <a:pathLst>
              <a:path w="1187808" h="276537">
                <a:moveTo>
                  <a:pt x="0" y="276537"/>
                </a:moveTo>
                <a:lnTo>
                  <a:pt x="1187808" y="276537"/>
                </a:lnTo>
                <a:lnTo>
                  <a:pt x="799172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dash"/>
          </a:ln>
        </p:spPr>
      </p:sp>
      <p:sp>
        <p:nvSpPr>
          <p:cNvPr id="10" name="S03-mark42"/>
          <p:cNvSpPr/>
          <p:nvPr/>
        </p:nvSpPr>
        <p:spPr>
          <a:xfrm>
            <a:off x="2480608" y="1409700"/>
            <a:ext cx="1187808" cy="276537"/>
          </a:xfrm>
          <a:custGeom>
            <a:avLst/>
            <a:gdLst/>
            <a:ahLst/>
            <a:cxnLst/>
            <a:rect l="l" t="t" r="r" b="b"/>
            <a:pathLst>
              <a:path w="1187808" h="276537">
                <a:moveTo>
                  <a:pt x="0" y="276537"/>
                </a:moveTo>
                <a:lnTo>
                  <a:pt x="1187808" y="276537"/>
                </a:lnTo>
                <a:lnTo>
                  <a:pt x="799172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3-mark43"/>
          <p:cNvSpPr/>
          <p:nvPr/>
        </p:nvSpPr>
        <p:spPr>
          <a:xfrm flipH="1" flipV="1">
            <a:off x="3279781" y="2523270"/>
            <a:ext cx="388636" cy="276537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2" name="S03-mark44"/>
          <p:cNvSpPr/>
          <p:nvPr/>
        </p:nvSpPr>
        <p:spPr>
          <a:xfrm flipV="1">
            <a:off x="2480608" y="2523270"/>
            <a:ext cx="799172" cy="276537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3" name="S03-mark45"/>
          <p:cNvSpPr/>
          <p:nvPr/>
        </p:nvSpPr>
        <p:spPr>
          <a:xfrm flipV="1">
            <a:off x="3279781" y="1409700"/>
            <a:ext cx="0" cy="111357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4" name="S03-mark46"/>
          <p:cNvSpPr/>
          <p:nvPr/>
        </p:nvSpPr>
        <p:spPr>
          <a:xfrm>
            <a:off x="2480608" y="2799807"/>
            <a:ext cx="11878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3-mark47"/>
          <p:cNvSpPr/>
          <p:nvPr/>
        </p:nvSpPr>
        <p:spPr>
          <a:xfrm>
            <a:off x="2480608" y="1686237"/>
            <a:ext cx="118780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3-mark48"/>
          <p:cNvSpPr/>
          <p:nvPr/>
        </p:nvSpPr>
        <p:spPr>
          <a:xfrm flipH="1" flipV="1">
            <a:off x="3279781" y="1409700"/>
            <a:ext cx="388636" cy="27653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3-mark49"/>
          <p:cNvSpPr/>
          <p:nvPr/>
        </p:nvSpPr>
        <p:spPr>
          <a:xfrm flipV="1">
            <a:off x="2480608" y="1409700"/>
            <a:ext cx="799172" cy="27653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3-mark50"/>
          <p:cNvSpPr/>
          <p:nvPr/>
        </p:nvSpPr>
        <p:spPr>
          <a:xfrm flipV="1">
            <a:off x="3668417" y="1686237"/>
            <a:ext cx="0" cy="111357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3-mark51"/>
          <p:cNvSpPr/>
          <p:nvPr/>
        </p:nvSpPr>
        <p:spPr>
          <a:xfrm flipV="1">
            <a:off x="2480608" y="1686237"/>
            <a:ext cx="0" cy="111357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3-label53"/>
          <p:cNvSpPr txBox="1"/>
          <p:nvPr/>
        </p:nvSpPr>
        <p:spPr>
          <a:xfrm>
            <a:off x="3673812" y="13816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21" name="S03-label55"/>
          <p:cNvSpPr txBox="1"/>
          <p:nvPr/>
        </p:nvSpPr>
        <p:spPr>
          <a:xfrm>
            <a:off x="3673812" y="266230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22" name="S03-label57"/>
          <p:cNvSpPr txBox="1"/>
          <p:nvPr/>
        </p:nvSpPr>
        <p:spPr>
          <a:xfrm>
            <a:off x="2727277" y="206839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23" name="S03-label58"/>
          <p:cNvSpPr txBox="1"/>
          <p:nvPr/>
        </p:nvSpPr>
        <p:spPr>
          <a:xfrm>
            <a:off x="548640" y="299389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삼각기둥</a:t>
            </a:r>
            <a:endParaRPr lang="ko-KR" sz="2200" dirty="0"/>
          </a:p>
        </p:txBody>
      </p:sp>
      <p:sp>
        <p:nvSpPr>
          <p:cNvPr id="24" name="S03-figure59" descr="오각기둥의 겨냥도: 위아래 밑면(오각형)을 색칠, 보이지 않는 모서리 5개는 점선"/>
          <p:cNvSpPr/>
          <p:nvPr/>
        </p:nvSpPr>
        <p:spPr>
          <a:xfrm>
            <a:off x="8366831" y="2485498"/>
            <a:ext cx="1161145" cy="351428"/>
          </a:xfrm>
          <a:custGeom>
            <a:avLst/>
            <a:gdLst/>
            <a:ahLst/>
            <a:cxnLst/>
            <a:rect l="l" t="t" r="r" b="b"/>
            <a:pathLst>
              <a:path w="1161145" h="351428">
                <a:moveTo>
                  <a:pt x="787126" y="0"/>
                </a:moveTo>
                <a:lnTo>
                  <a:pt x="69927" y="134475"/>
                </a:lnTo>
                <a:lnTo>
                  <a:pt x="0" y="351428"/>
                </a:lnTo>
                <a:lnTo>
                  <a:pt x="674526" y="351428"/>
                </a:lnTo>
                <a:lnTo>
                  <a:pt x="1161145" y="134475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dash"/>
          </a:ln>
        </p:spPr>
      </p:sp>
      <p:sp>
        <p:nvSpPr>
          <p:cNvPr id="25" name="S03-mark60"/>
          <p:cNvSpPr/>
          <p:nvPr/>
        </p:nvSpPr>
        <p:spPr>
          <a:xfrm>
            <a:off x="8366831" y="1409700"/>
            <a:ext cx="1161145" cy="351428"/>
          </a:xfrm>
          <a:custGeom>
            <a:avLst/>
            <a:gdLst/>
            <a:ahLst/>
            <a:cxnLst/>
            <a:rect l="l" t="t" r="r" b="b"/>
            <a:pathLst>
              <a:path w="1161145" h="351428">
                <a:moveTo>
                  <a:pt x="787126" y="0"/>
                </a:moveTo>
                <a:lnTo>
                  <a:pt x="69927" y="134475"/>
                </a:lnTo>
                <a:lnTo>
                  <a:pt x="0" y="351428"/>
                </a:lnTo>
                <a:lnTo>
                  <a:pt x="674526" y="351428"/>
                </a:lnTo>
                <a:lnTo>
                  <a:pt x="1161145" y="134475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61"/>
          <p:cNvSpPr/>
          <p:nvPr/>
        </p:nvSpPr>
        <p:spPr>
          <a:xfrm flipH="1">
            <a:off x="8436758" y="2485498"/>
            <a:ext cx="717199" cy="134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7" name="S03-mark62"/>
          <p:cNvSpPr/>
          <p:nvPr/>
        </p:nvSpPr>
        <p:spPr>
          <a:xfrm flipH="1">
            <a:off x="8366831" y="2619973"/>
            <a:ext cx="69927" cy="216953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8" name="S03-mark63"/>
          <p:cNvSpPr/>
          <p:nvPr/>
        </p:nvSpPr>
        <p:spPr>
          <a:xfrm>
            <a:off x="9153957" y="2485498"/>
            <a:ext cx="374019" cy="134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29" name="S03-mark64"/>
          <p:cNvSpPr/>
          <p:nvPr/>
        </p:nvSpPr>
        <p:spPr>
          <a:xfrm flipV="1">
            <a:off x="8436758" y="1544175"/>
            <a:ext cx="0" cy="107579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30" name="S03-mark65"/>
          <p:cNvSpPr/>
          <p:nvPr/>
        </p:nvSpPr>
        <p:spPr>
          <a:xfrm flipV="1">
            <a:off x="9153957" y="1409700"/>
            <a:ext cx="0" cy="1075798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31" name="S03-mark66"/>
          <p:cNvSpPr/>
          <p:nvPr/>
        </p:nvSpPr>
        <p:spPr>
          <a:xfrm>
            <a:off x="8366831" y="2836926"/>
            <a:ext cx="6745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2" name="S03-mark67"/>
          <p:cNvSpPr/>
          <p:nvPr/>
        </p:nvSpPr>
        <p:spPr>
          <a:xfrm flipV="1">
            <a:off x="9041357" y="2619973"/>
            <a:ext cx="486620" cy="21695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3" name="S03-mark68"/>
          <p:cNvSpPr/>
          <p:nvPr/>
        </p:nvSpPr>
        <p:spPr>
          <a:xfrm flipH="1">
            <a:off x="8436758" y="1409700"/>
            <a:ext cx="717199" cy="13447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4" name="S03-mark69"/>
          <p:cNvSpPr/>
          <p:nvPr/>
        </p:nvSpPr>
        <p:spPr>
          <a:xfrm flipH="1">
            <a:off x="8366831" y="1544175"/>
            <a:ext cx="69927" cy="21695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5" name="S03-mark70"/>
          <p:cNvSpPr/>
          <p:nvPr/>
        </p:nvSpPr>
        <p:spPr>
          <a:xfrm>
            <a:off x="8366831" y="1761128"/>
            <a:ext cx="6745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6" name="S03-mark71"/>
          <p:cNvSpPr/>
          <p:nvPr/>
        </p:nvSpPr>
        <p:spPr>
          <a:xfrm flipV="1">
            <a:off x="9041357" y="1544175"/>
            <a:ext cx="486620" cy="21695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3-mark72"/>
          <p:cNvSpPr/>
          <p:nvPr/>
        </p:nvSpPr>
        <p:spPr>
          <a:xfrm>
            <a:off x="9153957" y="1409700"/>
            <a:ext cx="374019" cy="13447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3-mark73"/>
          <p:cNvSpPr/>
          <p:nvPr/>
        </p:nvSpPr>
        <p:spPr>
          <a:xfrm flipV="1">
            <a:off x="8366831" y="1761128"/>
            <a:ext cx="0" cy="10757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3-mark74"/>
          <p:cNvSpPr/>
          <p:nvPr/>
        </p:nvSpPr>
        <p:spPr>
          <a:xfrm flipV="1">
            <a:off x="9041357" y="1761128"/>
            <a:ext cx="0" cy="10757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3-mark75"/>
          <p:cNvSpPr/>
          <p:nvPr/>
        </p:nvSpPr>
        <p:spPr>
          <a:xfrm flipV="1">
            <a:off x="9527977" y="1544175"/>
            <a:ext cx="0" cy="107579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1" name="S03-label76"/>
          <p:cNvSpPr txBox="1"/>
          <p:nvPr/>
        </p:nvSpPr>
        <p:spPr>
          <a:xfrm>
            <a:off x="6254496" y="299389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오각기둥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모서리, 꼭짓점, 높이</a:t>
            </a:r>
            <a:endParaRPr lang="ko-KR" sz="4000" dirty="0"/>
          </a:p>
        </p:txBody>
      </p:sp>
      <p:sp>
        <p:nvSpPr>
          <p:cNvPr id="3" name="S04-figure77" descr="오각기둥: 꼭짓점 하나에 점, 모서리 하나를 굵게, 두 밑면 사이에 높이 화살표"/>
          <p:cNvSpPr/>
          <p:nvPr/>
        </p:nvSpPr>
        <p:spPr>
          <a:xfrm flipH="1">
            <a:off x="2001594" y="4678607"/>
            <a:ext cx="1795460" cy="336649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4" name="S04-mark78"/>
          <p:cNvSpPr/>
          <p:nvPr/>
        </p:nvSpPr>
        <p:spPr>
          <a:xfrm flipH="1">
            <a:off x="1826537" y="5015256"/>
            <a:ext cx="175057" cy="543127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5" name="S04-mark79"/>
          <p:cNvSpPr/>
          <p:nvPr/>
        </p:nvSpPr>
        <p:spPr>
          <a:xfrm>
            <a:off x="3797054" y="4678607"/>
            <a:ext cx="936332" cy="336649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6" name="S04-mark80"/>
          <p:cNvSpPr/>
          <p:nvPr/>
        </p:nvSpPr>
        <p:spPr>
          <a:xfrm flipV="1">
            <a:off x="2001594" y="2322066"/>
            <a:ext cx="0" cy="269319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7" name="S04-mark81"/>
          <p:cNvSpPr/>
          <p:nvPr/>
        </p:nvSpPr>
        <p:spPr>
          <a:xfrm flipV="1">
            <a:off x="3797054" y="1985417"/>
            <a:ext cx="0" cy="269319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4-mark82"/>
          <p:cNvSpPr/>
          <p:nvPr/>
        </p:nvSpPr>
        <p:spPr>
          <a:xfrm>
            <a:off x="1826537" y="5558383"/>
            <a:ext cx="168863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83"/>
          <p:cNvSpPr/>
          <p:nvPr/>
        </p:nvSpPr>
        <p:spPr>
          <a:xfrm flipV="1">
            <a:off x="3515167" y="5015256"/>
            <a:ext cx="1218220" cy="54312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4-mark84"/>
          <p:cNvSpPr/>
          <p:nvPr/>
        </p:nvSpPr>
        <p:spPr>
          <a:xfrm flipH="1">
            <a:off x="2001594" y="1985417"/>
            <a:ext cx="1795460" cy="33664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4-mark85"/>
          <p:cNvSpPr/>
          <p:nvPr/>
        </p:nvSpPr>
        <p:spPr>
          <a:xfrm flipH="1">
            <a:off x="1826537" y="2322066"/>
            <a:ext cx="175057" cy="54312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4-mark86"/>
          <p:cNvSpPr/>
          <p:nvPr/>
        </p:nvSpPr>
        <p:spPr>
          <a:xfrm>
            <a:off x="1826537" y="2865193"/>
            <a:ext cx="168863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4-mark87"/>
          <p:cNvSpPr/>
          <p:nvPr/>
        </p:nvSpPr>
        <p:spPr>
          <a:xfrm flipV="1">
            <a:off x="3515167" y="2322066"/>
            <a:ext cx="1218220" cy="543127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4-mark88"/>
          <p:cNvSpPr/>
          <p:nvPr/>
        </p:nvSpPr>
        <p:spPr>
          <a:xfrm>
            <a:off x="3797054" y="1985417"/>
            <a:ext cx="936332" cy="33664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4-mark89"/>
          <p:cNvSpPr/>
          <p:nvPr/>
        </p:nvSpPr>
        <p:spPr>
          <a:xfrm flipV="1">
            <a:off x="1826537" y="2865193"/>
            <a:ext cx="0" cy="26931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4-mark90"/>
          <p:cNvSpPr/>
          <p:nvPr/>
        </p:nvSpPr>
        <p:spPr>
          <a:xfrm flipV="1">
            <a:off x="3515167" y="2865193"/>
            <a:ext cx="0" cy="26931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91"/>
          <p:cNvSpPr/>
          <p:nvPr/>
        </p:nvSpPr>
        <p:spPr>
          <a:xfrm flipV="1">
            <a:off x="4733387" y="2322066"/>
            <a:ext cx="0" cy="269319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4-mark92"/>
          <p:cNvSpPr/>
          <p:nvPr/>
        </p:nvSpPr>
        <p:spPr>
          <a:xfrm flipV="1">
            <a:off x="1826537" y="2865193"/>
            <a:ext cx="0" cy="2693190"/>
          </a:xfrm>
          <a:prstGeom prst="line">
            <a:avLst/>
          </a:prstGeom>
          <a:noFill/>
          <a:ln w="63500">
            <a:solidFill>
              <a:srgbClr val="E9762B"/>
            </a:solidFill>
            <a:prstDash val="solid"/>
          </a:ln>
        </p:spPr>
      </p:sp>
      <p:sp>
        <p:nvSpPr>
          <p:cNvPr id="19" name="S04-mark93"/>
          <p:cNvSpPr/>
          <p:nvPr/>
        </p:nvSpPr>
        <p:spPr>
          <a:xfrm flipV="1">
            <a:off x="5361798" y="2471987"/>
            <a:ext cx="0" cy="269319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20" name="S04-label95"/>
          <p:cNvSpPr txBox="1"/>
          <p:nvPr/>
        </p:nvSpPr>
        <p:spPr>
          <a:xfrm>
            <a:off x="5390754" y="364395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21" name="S04-mark96"/>
          <p:cNvSpPr/>
          <p:nvPr/>
        </p:nvSpPr>
        <p:spPr>
          <a:xfrm>
            <a:off x="3455731" y="280575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label98"/>
          <p:cNvSpPr txBox="1"/>
          <p:nvPr/>
        </p:nvSpPr>
        <p:spPr>
          <a:xfrm>
            <a:off x="3229131" y="2196816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2200" dirty="0"/>
          </a:p>
        </p:txBody>
      </p:sp>
      <p:sp>
        <p:nvSpPr>
          <p:cNvPr id="23" name="S04-label100"/>
          <p:cNvSpPr txBox="1"/>
          <p:nvPr/>
        </p:nvSpPr>
        <p:spPr>
          <a:xfrm>
            <a:off x="418338" y="4037163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</a:t>
            </a:r>
            <a:endParaRPr lang="ko-KR" sz="2200" dirty="0"/>
          </a:p>
        </p:txBody>
      </p:sp>
      <p:sp>
        <p:nvSpPr>
          <p:cNvPr id="24" name="S04-card101"/>
          <p:cNvSpPr/>
          <p:nvPr/>
        </p:nvSpPr>
        <p:spPr>
          <a:xfrm>
            <a:off x="6062838" y="1602740"/>
            <a:ext cx="557747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102"/>
          <p:cNvSpPr txBox="1"/>
          <p:nvPr/>
        </p:nvSpPr>
        <p:spPr>
          <a:xfrm>
            <a:off x="6337158" y="1739900"/>
            <a:ext cx="502883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면과 면이 만나는 선분</a:t>
            </a:r>
            <a:endParaRPr lang="ko-KR" sz="2800" dirty="0"/>
          </a:p>
        </p:txBody>
      </p:sp>
      <p:sp>
        <p:nvSpPr>
          <p:cNvPr id="26" name="S04-card103"/>
          <p:cNvSpPr/>
          <p:nvPr/>
        </p:nvSpPr>
        <p:spPr>
          <a:xfrm>
            <a:off x="6062838" y="3011424"/>
            <a:ext cx="557747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4-cardtext104"/>
          <p:cNvSpPr txBox="1"/>
          <p:nvPr/>
        </p:nvSpPr>
        <p:spPr>
          <a:xfrm>
            <a:off x="6337158" y="3148584"/>
            <a:ext cx="502883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모서리와 모서리가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만나는 점</a:t>
            </a:r>
            <a:endParaRPr lang="ko-KR" sz="2800" dirty="0"/>
          </a:p>
        </p:txBody>
      </p:sp>
      <p:sp>
        <p:nvSpPr>
          <p:cNvPr id="28" name="S04-card105"/>
          <p:cNvSpPr/>
          <p:nvPr/>
        </p:nvSpPr>
        <p:spPr>
          <a:xfrm>
            <a:off x="6062838" y="4760976"/>
            <a:ext cx="5577474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04-cardtext106"/>
          <p:cNvSpPr txBox="1"/>
          <p:nvPr/>
        </p:nvSpPr>
        <p:spPr>
          <a:xfrm>
            <a:off x="6337158" y="4898136"/>
            <a:ext cx="5028834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밑면 사이의 거리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면, 모서리, 꼭짓점의 수</a:t>
            </a:r>
            <a:endParaRPr lang="ko-KR" sz="4000" dirty="0"/>
          </a:p>
        </p:txBody>
      </p:sp>
      <p:sp>
        <p:nvSpPr>
          <p:cNvPr id="3" name="S05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겨냥도를 보며 세고 규칙을 찾아요.</a:t>
            </a:r>
            <a:endParaRPr lang="ko-KR" sz="2800" dirty="0"/>
          </a:p>
        </p:txBody>
      </p:sp>
      <p:sp>
        <p:nvSpPr>
          <p:cNvPr id="4" name="S05-card10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0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 = (변의 수) + 2, 모서리 = (변의 수) ×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= (한 밑면의 변의 수) × 2</a:t>
            </a:r>
            <a:endParaRPr lang="ko-KR" sz="2800" dirty="0"/>
          </a:p>
        </p:txBody>
      </p:sp>
      <p:graphicFrame>
        <p:nvGraphicFramePr>
          <p:cNvPr id="6" name="S05-table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29028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1810512"/>
                <a:gridCol w="1810512"/>
                <a:gridCol w="1810512"/>
                <a:gridCol w="181051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삼각기둥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사각기둥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오각기둥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육각기둥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밑면의 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모서리의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꼭짓점의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 무엇일까요?</a:t>
            </a:r>
            <a:endParaRPr lang="ko-KR" sz="4000" dirty="0"/>
          </a:p>
        </p:txBody>
      </p:sp>
      <p:sp>
        <p:nvSpPr>
          <p:cNvPr id="3" name="S06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밑면의 변의 수를 먼저 찾아요.</a:t>
            </a:r>
            <a:endParaRPr lang="ko-KR" sz="2800" dirty="0"/>
          </a:p>
        </p:txBody>
      </p:sp>
      <p:sp>
        <p:nvSpPr>
          <p:cNvPr id="5" name="S06-chip1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6-text11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칠각기둥의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모서리의 수</a:t>
            </a:r>
            <a:endParaRPr lang="ko-KR" sz="2800" dirty="0"/>
          </a:p>
        </p:txBody>
      </p:sp>
      <p:sp>
        <p:nvSpPr>
          <p:cNvPr id="7" name="S06-chip11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6-text11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구각기둥의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꼭짓점의 수</a:t>
            </a:r>
            <a:endParaRPr lang="ko-KR" sz="2800" dirty="0"/>
          </a:p>
        </p:txBody>
      </p:sp>
      <p:sp>
        <p:nvSpPr>
          <p:cNvPr id="9" name="S06-chip11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6-text118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꼭짓점이 16개인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각기둥의 이름</a:t>
            </a:r>
            <a:endParaRPr lang="ko-KR" sz="2800" dirty="0"/>
          </a:p>
        </p:txBody>
      </p:sp>
      <p:sp>
        <p:nvSpPr>
          <p:cNvPr id="11" name="S06-chip119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6-text120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면이 9개인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각기둥의 이름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</a:t>
            </a:r>
            <a:endParaRPr lang="ko-KR" sz="4000" dirty="0"/>
          </a:p>
        </p:txBody>
      </p:sp>
      <p:sp>
        <p:nvSpPr>
          <p:cNvPr id="3" name="S07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밑면의 모양에 따라 삼각뿔, 사각뿔, 오각뿔 …이라고 해요.</a:t>
            </a:r>
            <a:endParaRPr lang="ko-KR" sz="2800" dirty="0"/>
          </a:p>
        </p:txBody>
      </p:sp>
      <p:sp>
        <p:nvSpPr>
          <p:cNvPr id="5" name="S07-figure123" descr="사각뿔의 겨냥도: 밑면(사각형) 색칠, 앞 옆면(삼각형) 옅게 색칠, 꼭짓점에서 밑면까지 높이(점선)"/>
          <p:cNvSpPr/>
          <p:nvPr/>
        </p:nvSpPr>
        <p:spPr>
          <a:xfrm>
            <a:off x="1188355" y="4015340"/>
            <a:ext cx="3225453" cy="761782"/>
          </a:xfrm>
          <a:custGeom>
            <a:avLst/>
            <a:gdLst/>
            <a:ahLst/>
            <a:cxnLst/>
            <a:rect l="l" t="t" r="r" b="b"/>
            <a:pathLst>
              <a:path w="3225453" h="761782">
                <a:moveTo>
                  <a:pt x="0" y="761782"/>
                </a:moveTo>
                <a:lnTo>
                  <a:pt x="2250719" y="761782"/>
                </a:lnTo>
                <a:lnTo>
                  <a:pt x="3225453" y="0"/>
                </a:lnTo>
                <a:lnTo>
                  <a:pt x="974734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dash"/>
          </a:ln>
        </p:spPr>
      </p:sp>
      <p:sp>
        <p:nvSpPr>
          <p:cNvPr id="6" name="S07-mark124"/>
          <p:cNvSpPr/>
          <p:nvPr/>
        </p:nvSpPr>
        <p:spPr>
          <a:xfrm>
            <a:off x="1188355" y="1799247"/>
            <a:ext cx="2250719" cy="2977874"/>
          </a:xfrm>
          <a:custGeom>
            <a:avLst/>
            <a:gdLst/>
            <a:ahLst/>
            <a:cxnLst/>
            <a:rect l="l" t="t" r="r" b="b"/>
            <a:pathLst>
              <a:path w="2250719" h="2977874">
                <a:moveTo>
                  <a:pt x="0" y="2977874"/>
                </a:moveTo>
                <a:lnTo>
                  <a:pt x="2250719" y="2977874"/>
                </a:lnTo>
                <a:lnTo>
                  <a:pt x="1612727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25"/>
          <p:cNvSpPr/>
          <p:nvPr/>
        </p:nvSpPr>
        <p:spPr>
          <a:xfrm flipH="1">
            <a:off x="2163089" y="4015340"/>
            <a:ext cx="2250719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8" name="S07-mark126"/>
          <p:cNvSpPr/>
          <p:nvPr/>
        </p:nvSpPr>
        <p:spPr>
          <a:xfrm flipV="1">
            <a:off x="1188355" y="4015340"/>
            <a:ext cx="974734" cy="76178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9" name="S07-mark127"/>
          <p:cNvSpPr/>
          <p:nvPr/>
        </p:nvSpPr>
        <p:spPr>
          <a:xfrm flipV="1">
            <a:off x="2163089" y="1799247"/>
            <a:ext cx="637992" cy="2216092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10" name="S07-mark128"/>
          <p:cNvSpPr/>
          <p:nvPr/>
        </p:nvSpPr>
        <p:spPr>
          <a:xfrm>
            <a:off x="1188355" y="4777122"/>
            <a:ext cx="2250719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7-mark129"/>
          <p:cNvSpPr/>
          <p:nvPr/>
        </p:nvSpPr>
        <p:spPr>
          <a:xfrm flipV="1">
            <a:off x="3439074" y="4015340"/>
            <a:ext cx="974734" cy="76178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7-mark130"/>
          <p:cNvSpPr/>
          <p:nvPr/>
        </p:nvSpPr>
        <p:spPr>
          <a:xfrm flipH="1" flipV="1">
            <a:off x="2801082" y="1799247"/>
            <a:ext cx="637992" cy="297787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7-mark131"/>
          <p:cNvSpPr/>
          <p:nvPr/>
        </p:nvSpPr>
        <p:spPr>
          <a:xfrm flipV="1">
            <a:off x="1188355" y="1799247"/>
            <a:ext cx="1612727" cy="297787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7-mark132"/>
          <p:cNvSpPr/>
          <p:nvPr/>
        </p:nvSpPr>
        <p:spPr>
          <a:xfrm flipH="1" flipV="1">
            <a:off x="2801082" y="1799247"/>
            <a:ext cx="1612727" cy="2216092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7-mark133"/>
          <p:cNvSpPr/>
          <p:nvPr/>
        </p:nvSpPr>
        <p:spPr>
          <a:xfrm>
            <a:off x="2801082" y="1799247"/>
            <a:ext cx="0" cy="2596983"/>
          </a:xfrm>
          <a:prstGeom prst="line">
            <a:avLst/>
          </a:prstGeom>
          <a:noFill/>
          <a:ln w="31750">
            <a:solidFill>
              <a:srgbClr val="3D5A80"/>
            </a:solidFill>
            <a:prstDash val="dash"/>
          </a:ln>
        </p:spPr>
      </p:sp>
      <p:sp>
        <p:nvSpPr>
          <p:cNvPr id="16" name="S07-mark134"/>
          <p:cNvSpPr/>
          <p:nvPr/>
        </p:nvSpPr>
        <p:spPr>
          <a:xfrm>
            <a:off x="2741646" y="173981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label136"/>
          <p:cNvSpPr txBox="1"/>
          <p:nvPr/>
        </p:nvSpPr>
        <p:spPr>
          <a:xfrm>
            <a:off x="1882872" y="1235075"/>
            <a:ext cx="18364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각뿔의 꼭짓점</a:t>
            </a:r>
            <a:endParaRPr lang="ko-KR" sz="2200" dirty="0"/>
          </a:p>
        </p:txBody>
      </p:sp>
      <p:sp>
        <p:nvSpPr>
          <p:cNvPr id="18" name="S07-label138"/>
          <p:cNvSpPr txBox="1"/>
          <p:nvPr/>
        </p:nvSpPr>
        <p:spPr>
          <a:xfrm>
            <a:off x="3009115" y="344251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9" name="S07-label140"/>
          <p:cNvSpPr txBox="1"/>
          <p:nvPr/>
        </p:nvSpPr>
        <p:spPr>
          <a:xfrm>
            <a:off x="3759644" y="48621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</a:t>
            </a:r>
            <a:endParaRPr lang="ko-KR" sz="2200" dirty="0"/>
          </a:p>
        </p:txBody>
      </p:sp>
      <p:sp>
        <p:nvSpPr>
          <p:cNvPr id="20" name="S07-label142"/>
          <p:cNvSpPr txBox="1"/>
          <p:nvPr/>
        </p:nvSpPr>
        <p:spPr>
          <a:xfrm>
            <a:off x="2147783" y="373943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</a:t>
            </a:r>
            <a:endParaRPr lang="ko-KR" sz="2200" dirty="0"/>
          </a:p>
        </p:txBody>
      </p:sp>
      <p:sp>
        <p:nvSpPr>
          <p:cNvPr id="21" name="S07-card143"/>
          <p:cNvSpPr/>
          <p:nvPr/>
        </p:nvSpPr>
        <p:spPr>
          <a:xfrm>
            <a:off x="5419283" y="1527556"/>
            <a:ext cx="6221029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07-cardtext144"/>
          <p:cNvSpPr txBox="1"/>
          <p:nvPr/>
        </p:nvSpPr>
        <p:spPr>
          <a:xfrm>
            <a:off x="5693603" y="1664716"/>
            <a:ext cx="56723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밑면: 아래에 있는 다각형 1개</a:t>
            </a:r>
            <a:endParaRPr lang="ko-KR" sz="2800" dirty="0"/>
          </a:p>
        </p:txBody>
      </p:sp>
      <p:sp>
        <p:nvSpPr>
          <p:cNvPr id="23" name="S07-card145"/>
          <p:cNvSpPr/>
          <p:nvPr/>
        </p:nvSpPr>
        <p:spPr>
          <a:xfrm>
            <a:off x="5419283" y="2624836"/>
            <a:ext cx="6221029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07-cardtext146"/>
          <p:cNvSpPr txBox="1"/>
          <p:nvPr/>
        </p:nvSpPr>
        <p:spPr>
          <a:xfrm>
            <a:off x="5693603" y="2761996"/>
            <a:ext cx="56723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옆면: 한 점에서 만나는 삼각형</a:t>
            </a:r>
            <a:endParaRPr lang="ko-KR" sz="2800" dirty="0"/>
          </a:p>
        </p:txBody>
      </p:sp>
      <p:sp>
        <p:nvSpPr>
          <p:cNvPr id="25" name="S07-card147"/>
          <p:cNvSpPr/>
          <p:nvPr/>
        </p:nvSpPr>
        <p:spPr>
          <a:xfrm>
            <a:off x="5419283" y="3722116"/>
            <a:ext cx="6221029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7-cardtext148"/>
          <p:cNvSpPr txBox="1"/>
          <p:nvPr/>
        </p:nvSpPr>
        <p:spPr>
          <a:xfrm>
            <a:off x="5693603" y="3859276"/>
            <a:ext cx="5672389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각뿔의 꼭짓점: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옆면이 모두 만나는 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각뿔의 수를 세어요</a:t>
            </a:r>
            <a:endParaRPr lang="ko-KR" sz="4000" dirty="0"/>
          </a:p>
        </p:txBody>
      </p:sp>
      <p:sp>
        <p:nvSpPr>
          <p:cNvPr id="3" name="S08-text1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 빈칸을 채워요.</a:t>
            </a:r>
            <a:endParaRPr lang="ko-KR" sz="2800" dirty="0"/>
          </a:p>
        </p:txBody>
      </p:sp>
      <p:sp>
        <p:nvSpPr>
          <p:cNvPr id="4" name="S08-card1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각기둥의 규칙과 무엇이 다른지 말해요.</a:t>
            </a:r>
            <a:endParaRPr lang="ko-KR" sz="2800" dirty="0"/>
          </a:p>
        </p:txBody>
      </p:sp>
      <p:graphicFrame>
        <p:nvGraphicFramePr>
          <p:cNvPr id="9" name="S08-table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84730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1810512"/>
                <a:gridCol w="1810512"/>
                <a:gridCol w="1810512"/>
                <a:gridCol w="181051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삼각뿔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사각뿔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오각뿔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육각뿔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밑면의 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면의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모서리의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꼭짓점의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눕혀 놓은 각기둥</a:t>
            </a:r>
            <a:endParaRPr lang="ko-KR" sz="4000" dirty="0"/>
          </a:p>
        </p:txBody>
      </p:sp>
      <p:sp>
        <p:nvSpPr>
          <p:cNvPr id="3" name="S09-figure153" descr="눕혀 놓은 삼각기둥: 앞 삼각형 면 가(색칠), 오른쪽 위 직사각형 면 나, 바닥에 닿은 직사각형 면 다"/>
          <p:cNvSpPr/>
          <p:nvPr/>
        </p:nvSpPr>
        <p:spPr>
          <a:xfrm>
            <a:off x="6893662" y="3330702"/>
            <a:ext cx="2743200" cy="1463040"/>
          </a:xfrm>
          <a:custGeom>
            <a:avLst/>
            <a:gdLst/>
            <a:ahLst/>
            <a:cxnLst/>
            <a:rect l="l" t="t" r="r" b="b"/>
            <a:pathLst>
              <a:path w="2743200" h="1463040">
                <a:moveTo>
                  <a:pt x="0" y="1463040"/>
                </a:moveTo>
                <a:lnTo>
                  <a:pt x="2743200" y="1463040"/>
                </a:lnTo>
                <a:lnTo>
                  <a:pt x="2194560" y="0"/>
                </a:lnTo>
                <a:close/>
              </a:path>
            </a:pathLst>
          </a:custGeom>
          <a:solidFill>
            <a:srgbClr val="F2C14E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9-mark154"/>
          <p:cNvSpPr/>
          <p:nvPr/>
        </p:nvSpPr>
        <p:spPr>
          <a:xfrm>
            <a:off x="8280806" y="3710178"/>
            <a:ext cx="27432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5" name="S09-mark155"/>
          <p:cNvSpPr/>
          <p:nvPr/>
        </p:nvSpPr>
        <p:spPr>
          <a:xfrm>
            <a:off x="6893662" y="479374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09-mark156"/>
          <p:cNvSpPr/>
          <p:nvPr/>
        </p:nvSpPr>
        <p:spPr>
          <a:xfrm flipH="1" flipV="1">
            <a:off x="9088222" y="3330702"/>
            <a:ext cx="548640" cy="14630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157"/>
          <p:cNvSpPr/>
          <p:nvPr/>
        </p:nvSpPr>
        <p:spPr>
          <a:xfrm flipV="1">
            <a:off x="6893662" y="3330702"/>
            <a:ext cx="2194560" cy="14630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9-mark158"/>
          <p:cNvSpPr/>
          <p:nvPr/>
        </p:nvSpPr>
        <p:spPr>
          <a:xfrm flipH="1" flipV="1">
            <a:off x="10475366" y="2247138"/>
            <a:ext cx="548640" cy="14630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159"/>
          <p:cNvSpPr/>
          <p:nvPr/>
        </p:nvSpPr>
        <p:spPr>
          <a:xfrm flipV="1">
            <a:off x="8280806" y="2247138"/>
            <a:ext cx="2194560" cy="14630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09-mark160"/>
          <p:cNvSpPr/>
          <p:nvPr/>
        </p:nvSpPr>
        <p:spPr>
          <a:xfrm flipV="1">
            <a:off x="9636862" y="3710178"/>
            <a:ext cx="1387145" cy="108356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9-mark161"/>
          <p:cNvSpPr/>
          <p:nvPr/>
        </p:nvSpPr>
        <p:spPr>
          <a:xfrm flipV="1">
            <a:off x="6893662" y="3710178"/>
            <a:ext cx="1387145" cy="108356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09-mark162"/>
          <p:cNvSpPr/>
          <p:nvPr/>
        </p:nvSpPr>
        <p:spPr>
          <a:xfrm flipV="1">
            <a:off x="9088222" y="2247138"/>
            <a:ext cx="1387145" cy="108356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09-label164"/>
          <p:cNvSpPr txBox="1"/>
          <p:nvPr/>
        </p:nvSpPr>
        <p:spPr>
          <a:xfrm>
            <a:off x="8347812" y="413174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4" name="S09-label166"/>
          <p:cNvSpPr txBox="1"/>
          <p:nvPr/>
        </p:nvSpPr>
        <p:spPr>
          <a:xfrm>
            <a:off x="9863887" y="334535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5" name="S09-label168"/>
          <p:cNvSpPr txBox="1"/>
          <p:nvPr/>
        </p:nvSpPr>
        <p:spPr>
          <a:xfrm>
            <a:off x="7997800" y="5122037"/>
            <a:ext cx="126644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다(바닥)</a:t>
            </a:r>
            <a:endParaRPr lang="ko-KR" sz="2200" dirty="0"/>
          </a:p>
        </p:txBody>
      </p:sp>
      <p:sp>
        <p:nvSpPr>
          <p:cNvPr id="16" name="S09-chip16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7" name="S09-text17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입체도형의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이름은?</a:t>
            </a:r>
            <a:endParaRPr lang="ko-KR" sz="2800" dirty="0"/>
          </a:p>
        </p:txBody>
      </p:sp>
      <p:sp>
        <p:nvSpPr>
          <p:cNvPr id="18" name="S09-chip17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9" name="S09-text17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밑면은 가, 나, 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어느 것?</a:t>
            </a:r>
            <a:endParaRPr lang="ko-KR" sz="2800" dirty="0"/>
          </a:p>
        </p:txBody>
      </p:sp>
      <p:sp>
        <p:nvSpPr>
          <p:cNvPr id="20" name="S09-chip17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1" name="S09-text17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바닥에 닿은 다는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삼각기둥의 전개도</a:t>
            </a:r>
            <a:endParaRPr lang="ko-KR" sz="4000" dirty="0"/>
          </a:p>
        </p:txBody>
      </p:sp>
      <p:sp>
        <p:nvSpPr>
          <p:cNvPr id="3" name="S10-mark175"/>
          <p:cNvSpPr/>
          <p:nvPr/>
        </p:nvSpPr>
        <p:spPr>
          <a:xfrm>
            <a:off x="1257398" y="3398422"/>
            <a:ext cx="1120434" cy="746956"/>
          </a:xfrm>
          <a:custGeom>
            <a:avLst/>
            <a:gdLst/>
            <a:ahLst/>
            <a:cxnLst/>
            <a:rect l="l" t="t" r="r" b="b"/>
            <a:pathLst>
              <a:path w="1120434" h="746956">
                <a:moveTo>
                  <a:pt x="0" y="746956"/>
                </a:moveTo>
                <a:lnTo>
                  <a:pt x="1120434" y="746956"/>
                </a:lnTo>
                <a:lnTo>
                  <a:pt x="112043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10-mark176"/>
          <p:cNvSpPr/>
          <p:nvPr/>
        </p:nvSpPr>
        <p:spPr>
          <a:xfrm>
            <a:off x="2377832" y="3398422"/>
            <a:ext cx="1493912" cy="746956"/>
          </a:xfrm>
          <a:custGeom>
            <a:avLst/>
            <a:gdLst/>
            <a:ahLst/>
            <a:cxnLst/>
            <a:rect l="l" t="t" r="r" b="b"/>
            <a:pathLst>
              <a:path w="1493912" h="746956">
                <a:moveTo>
                  <a:pt x="0" y="746956"/>
                </a:moveTo>
                <a:lnTo>
                  <a:pt x="1493912" y="746956"/>
                </a:lnTo>
                <a:lnTo>
                  <a:pt x="1493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10-mark177"/>
          <p:cNvSpPr/>
          <p:nvPr/>
        </p:nvSpPr>
        <p:spPr>
          <a:xfrm>
            <a:off x="3871744" y="3398422"/>
            <a:ext cx="1867390" cy="746956"/>
          </a:xfrm>
          <a:custGeom>
            <a:avLst/>
            <a:gdLst/>
            <a:ahLst/>
            <a:cxnLst/>
            <a:rect l="l" t="t" r="r" b="b"/>
            <a:pathLst>
              <a:path w="1867390" h="746956">
                <a:moveTo>
                  <a:pt x="0" y="746956"/>
                </a:moveTo>
                <a:lnTo>
                  <a:pt x="1867390" y="746956"/>
                </a:lnTo>
                <a:lnTo>
                  <a:pt x="186739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0-mark178"/>
          <p:cNvSpPr/>
          <p:nvPr/>
        </p:nvSpPr>
        <p:spPr>
          <a:xfrm>
            <a:off x="2377832" y="2277988"/>
            <a:ext cx="1493912" cy="1120434"/>
          </a:xfrm>
          <a:custGeom>
            <a:avLst/>
            <a:gdLst/>
            <a:ahLst/>
            <a:cxnLst/>
            <a:rect l="l" t="t" r="r" b="b"/>
            <a:pathLst>
              <a:path w="1493912" h="1120434">
                <a:moveTo>
                  <a:pt x="0" y="1120434"/>
                </a:moveTo>
                <a:lnTo>
                  <a:pt x="1493912" y="1120434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/>
        </p:spPr>
      </p:sp>
      <p:sp>
        <p:nvSpPr>
          <p:cNvPr id="7" name="S10-mark179"/>
          <p:cNvSpPr/>
          <p:nvPr/>
        </p:nvSpPr>
        <p:spPr>
          <a:xfrm>
            <a:off x="2377832" y="4145378"/>
            <a:ext cx="1493912" cy="1120434"/>
          </a:xfrm>
          <a:custGeom>
            <a:avLst/>
            <a:gdLst/>
            <a:ahLst/>
            <a:cxnLst/>
            <a:rect l="l" t="t" r="r" b="b"/>
            <a:pathLst>
              <a:path w="1493912" h="1120434">
                <a:moveTo>
                  <a:pt x="0" y="0"/>
                </a:moveTo>
                <a:lnTo>
                  <a:pt x="1493912" y="0"/>
                </a:lnTo>
                <a:lnTo>
                  <a:pt x="0" y="1120434"/>
                </a:lnTo>
                <a:close/>
              </a:path>
            </a:pathLst>
          </a:custGeom>
          <a:solidFill>
            <a:srgbClr val="E9762B"/>
          </a:solidFill>
          <a:ln/>
        </p:spPr>
      </p:sp>
      <p:sp>
        <p:nvSpPr>
          <p:cNvPr id="8" name="S10-mark180"/>
          <p:cNvSpPr/>
          <p:nvPr/>
        </p:nvSpPr>
        <p:spPr>
          <a:xfrm flipV="1">
            <a:off x="883920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181"/>
          <p:cNvSpPr/>
          <p:nvPr/>
        </p:nvSpPr>
        <p:spPr>
          <a:xfrm flipV="1">
            <a:off x="1257398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182"/>
          <p:cNvSpPr/>
          <p:nvPr/>
        </p:nvSpPr>
        <p:spPr>
          <a:xfrm flipV="1">
            <a:off x="1630876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183"/>
          <p:cNvSpPr/>
          <p:nvPr/>
        </p:nvSpPr>
        <p:spPr>
          <a:xfrm flipV="1">
            <a:off x="2004354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184"/>
          <p:cNvSpPr/>
          <p:nvPr/>
        </p:nvSpPr>
        <p:spPr>
          <a:xfrm flipV="1">
            <a:off x="2377832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185"/>
          <p:cNvSpPr/>
          <p:nvPr/>
        </p:nvSpPr>
        <p:spPr>
          <a:xfrm flipV="1">
            <a:off x="2751310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186"/>
          <p:cNvSpPr/>
          <p:nvPr/>
        </p:nvSpPr>
        <p:spPr>
          <a:xfrm flipV="1">
            <a:off x="3124788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mark187"/>
          <p:cNvSpPr/>
          <p:nvPr/>
        </p:nvSpPr>
        <p:spPr>
          <a:xfrm flipV="1">
            <a:off x="3498266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0-mark188"/>
          <p:cNvSpPr/>
          <p:nvPr/>
        </p:nvSpPr>
        <p:spPr>
          <a:xfrm flipV="1">
            <a:off x="3871744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0-mark189"/>
          <p:cNvSpPr/>
          <p:nvPr/>
        </p:nvSpPr>
        <p:spPr>
          <a:xfrm flipV="1">
            <a:off x="4245222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0-mark190"/>
          <p:cNvSpPr/>
          <p:nvPr/>
        </p:nvSpPr>
        <p:spPr>
          <a:xfrm flipV="1">
            <a:off x="4618700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0-mark191"/>
          <p:cNvSpPr/>
          <p:nvPr/>
        </p:nvSpPr>
        <p:spPr>
          <a:xfrm flipV="1">
            <a:off x="4992178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192"/>
          <p:cNvSpPr/>
          <p:nvPr/>
        </p:nvSpPr>
        <p:spPr>
          <a:xfrm flipV="1">
            <a:off x="5365656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193"/>
          <p:cNvSpPr/>
          <p:nvPr/>
        </p:nvSpPr>
        <p:spPr>
          <a:xfrm flipV="1">
            <a:off x="5739134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194"/>
          <p:cNvSpPr/>
          <p:nvPr/>
        </p:nvSpPr>
        <p:spPr>
          <a:xfrm flipV="1">
            <a:off x="6112612" y="1904510"/>
            <a:ext cx="0" cy="37347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195"/>
          <p:cNvSpPr/>
          <p:nvPr/>
        </p:nvSpPr>
        <p:spPr>
          <a:xfrm>
            <a:off x="883920" y="5639290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196"/>
          <p:cNvSpPr/>
          <p:nvPr/>
        </p:nvSpPr>
        <p:spPr>
          <a:xfrm>
            <a:off x="883920" y="5265812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197"/>
          <p:cNvSpPr/>
          <p:nvPr/>
        </p:nvSpPr>
        <p:spPr>
          <a:xfrm>
            <a:off x="883920" y="4892334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198"/>
          <p:cNvSpPr/>
          <p:nvPr/>
        </p:nvSpPr>
        <p:spPr>
          <a:xfrm>
            <a:off x="883920" y="4518856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mark199"/>
          <p:cNvSpPr/>
          <p:nvPr/>
        </p:nvSpPr>
        <p:spPr>
          <a:xfrm>
            <a:off x="883920" y="4145378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0-mark200"/>
          <p:cNvSpPr/>
          <p:nvPr/>
        </p:nvSpPr>
        <p:spPr>
          <a:xfrm>
            <a:off x="883920" y="3771900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0-mark201"/>
          <p:cNvSpPr/>
          <p:nvPr/>
        </p:nvSpPr>
        <p:spPr>
          <a:xfrm>
            <a:off x="883920" y="3398422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0-mark202"/>
          <p:cNvSpPr/>
          <p:nvPr/>
        </p:nvSpPr>
        <p:spPr>
          <a:xfrm>
            <a:off x="883920" y="3024944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0-mark203"/>
          <p:cNvSpPr/>
          <p:nvPr/>
        </p:nvSpPr>
        <p:spPr>
          <a:xfrm>
            <a:off x="883920" y="2651466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0-mark204"/>
          <p:cNvSpPr/>
          <p:nvPr/>
        </p:nvSpPr>
        <p:spPr>
          <a:xfrm>
            <a:off x="883920" y="2277988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0-mark205"/>
          <p:cNvSpPr/>
          <p:nvPr/>
        </p:nvSpPr>
        <p:spPr>
          <a:xfrm>
            <a:off x="883920" y="1904510"/>
            <a:ext cx="52286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0-figure206" descr="모눈 위 삼각기둥의 전개도: 가로 3 cm, 4 cm, 5 cm, 세로 2 cm인 직사각형 옆면 3개와 그 위아래에 세 변이 3 cm, 4 cm, 5 cm인 삼각형 밑면 2개. 접으면 만나는 두 선분을 파랗게 표시"/>
          <p:cNvSpPr/>
          <p:nvPr/>
        </p:nvSpPr>
        <p:spPr>
          <a:xfrm>
            <a:off x="1257398" y="3398422"/>
            <a:ext cx="1120434" cy="746956"/>
          </a:xfrm>
          <a:custGeom>
            <a:avLst/>
            <a:gdLst/>
            <a:ahLst/>
            <a:cxnLst/>
            <a:rect l="l" t="t" r="r" b="b"/>
            <a:pathLst>
              <a:path w="1120434" h="746956">
                <a:moveTo>
                  <a:pt x="0" y="746956"/>
                </a:moveTo>
                <a:lnTo>
                  <a:pt x="1120434" y="746956"/>
                </a:lnTo>
                <a:lnTo>
                  <a:pt x="112043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5" name="S10-mark207"/>
          <p:cNvSpPr/>
          <p:nvPr/>
        </p:nvSpPr>
        <p:spPr>
          <a:xfrm>
            <a:off x="2377832" y="3398422"/>
            <a:ext cx="1493912" cy="746956"/>
          </a:xfrm>
          <a:custGeom>
            <a:avLst/>
            <a:gdLst/>
            <a:ahLst/>
            <a:cxnLst/>
            <a:rect l="l" t="t" r="r" b="b"/>
            <a:pathLst>
              <a:path w="1493912" h="746956">
                <a:moveTo>
                  <a:pt x="0" y="746956"/>
                </a:moveTo>
                <a:lnTo>
                  <a:pt x="1493912" y="746956"/>
                </a:lnTo>
                <a:lnTo>
                  <a:pt x="1493912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6" name="S10-mark208"/>
          <p:cNvSpPr/>
          <p:nvPr/>
        </p:nvSpPr>
        <p:spPr>
          <a:xfrm>
            <a:off x="3871744" y="3398422"/>
            <a:ext cx="1867390" cy="746956"/>
          </a:xfrm>
          <a:custGeom>
            <a:avLst/>
            <a:gdLst/>
            <a:ahLst/>
            <a:cxnLst/>
            <a:rect l="l" t="t" r="r" b="b"/>
            <a:pathLst>
              <a:path w="1867390" h="746956">
                <a:moveTo>
                  <a:pt x="0" y="746956"/>
                </a:moveTo>
                <a:lnTo>
                  <a:pt x="1867390" y="746956"/>
                </a:lnTo>
                <a:lnTo>
                  <a:pt x="186739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10-mark209"/>
          <p:cNvSpPr/>
          <p:nvPr/>
        </p:nvSpPr>
        <p:spPr>
          <a:xfrm>
            <a:off x="2377832" y="2277988"/>
            <a:ext cx="1493912" cy="1120434"/>
          </a:xfrm>
          <a:custGeom>
            <a:avLst/>
            <a:gdLst/>
            <a:ahLst/>
            <a:cxnLst/>
            <a:rect l="l" t="t" r="r" b="b"/>
            <a:pathLst>
              <a:path w="1493912" h="1120434">
                <a:moveTo>
                  <a:pt x="0" y="1120434"/>
                </a:moveTo>
                <a:lnTo>
                  <a:pt x="1493912" y="112043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10-mark210"/>
          <p:cNvSpPr/>
          <p:nvPr/>
        </p:nvSpPr>
        <p:spPr>
          <a:xfrm>
            <a:off x="2377832" y="4145378"/>
            <a:ext cx="1493912" cy="1120434"/>
          </a:xfrm>
          <a:custGeom>
            <a:avLst/>
            <a:gdLst/>
            <a:ahLst/>
            <a:cxnLst/>
            <a:rect l="l" t="t" r="r" b="b"/>
            <a:pathLst>
              <a:path w="1493912" h="1120434">
                <a:moveTo>
                  <a:pt x="0" y="0"/>
                </a:moveTo>
                <a:lnTo>
                  <a:pt x="1493912" y="0"/>
                </a:lnTo>
                <a:lnTo>
                  <a:pt x="0" y="1120434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10-mark211"/>
          <p:cNvSpPr/>
          <p:nvPr/>
        </p:nvSpPr>
        <p:spPr>
          <a:xfrm flipH="1" flipV="1">
            <a:off x="2377832" y="2277988"/>
            <a:ext cx="1493912" cy="1120434"/>
          </a:xfrm>
          <a:prstGeom prst="line">
            <a:avLst/>
          </a:prstGeom>
          <a:noFill/>
          <a:ln w="63500">
            <a:solidFill>
              <a:srgbClr val="3D5A80"/>
            </a:solidFill>
            <a:prstDash val="solid"/>
          </a:ln>
        </p:spPr>
      </p:sp>
      <p:sp>
        <p:nvSpPr>
          <p:cNvPr id="40" name="S10-mark212"/>
          <p:cNvSpPr/>
          <p:nvPr/>
        </p:nvSpPr>
        <p:spPr>
          <a:xfrm>
            <a:off x="3871744" y="3398422"/>
            <a:ext cx="1867390" cy="0"/>
          </a:xfrm>
          <a:prstGeom prst="line">
            <a:avLst/>
          </a:prstGeom>
          <a:noFill/>
          <a:ln w="63500">
            <a:solidFill>
              <a:srgbClr val="3D5A80"/>
            </a:solidFill>
            <a:prstDash val="solid"/>
          </a:ln>
        </p:spPr>
      </p:sp>
      <p:sp>
        <p:nvSpPr>
          <p:cNvPr id="41" name="S10-label214"/>
          <p:cNvSpPr txBox="1"/>
          <p:nvPr/>
        </p:nvSpPr>
        <p:spPr>
          <a:xfrm>
            <a:off x="1435853" y="42222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42" name="S10-label216"/>
          <p:cNvSpPr txBox="1"/>
          <p:nvPr/>
        </p:nvSpPr>
        <p:spPr>
          <a:xfrm>
            <a:off x="490064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200" dirty="0"/>
          </a:p>
        </p:txBody>
      </p:sp>
      <p:sp>
        <p:nvSpPr>
          <p:cNvPr id="43" name="S10-label218"/>
          <p:cNvSpPr txBox="1"/>
          <p:nvPr/>
        </p:nvSpPr>
        <p:spPr>
          <a:xfrm>
            <a:off x="2743026" y="42222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44" name="S10-label220"/>
          <p:cNvSpPr txBox="1"/>
          <p:nvPr/>
        </p:nvSpPr>
        <p:spPr>
          <a:xfrm>
            <a:off x="4423677" y="42222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45" name="S10-card221"/>
          <p:cNvSpPr/>
          <p:nvPr/>
        </p:nvSpPr>
        <p:spPr>
          <a:xfrm>
            <a:off x="6813652" y="1432306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6" name="S10-cardtext222"/>
          <p:cNvSpPr txBox="1"/>
          <p:nvPr/>
        </p:nvSpPr>
        <p:spPr>
          <a:xfrm>
            <a:off x="7087972" y="1569466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밑면 2개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합동인 삼각형</a:t>
            </a:r>
            <a:endParaRPr lang="ko-KR" sz="2800" dirty="0"/>
          </a:p>
        </p:txBody>
      </p:sp>
      <p:sp>
        <p:nvSpPr>
          <p:cNvPr id="47" name="S10-card223"/>
          <p:cNvSpPr/>
          <p:nvPr/>
        </p:nvSpPr>
        <p:spPr>
          <a:xfrm>
            <a:off x="6813652" y="2840990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8" name="S10-cardtext224"/>
          <p:cNvSpPr txBox="1"/>
          <p:nvPr/>
        </p:nvSpPr>
        <p:spPr>
          <a:xfrm>
            <a:off x="7087972" y="2978150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 3개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(높이 2 cm)</a:t>
            </a:r>
            <a:endParaRPr lang="ko-KR" sz="2800" dirty="0"/>
          </a:p>
        </p:txBody>
      </p:sp>
      <p:sp>
        <p:nvSpPr>
          <p:cNvPr id="49" name="S10-card225"/>
          <p:cNvSpPr/>
          <p:nvPr/>
        </p:nvSpPr>
        <p:spPr>
          <a:xfrm>
            <a:off x="6813652" y="4590542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10-cardtext226"/>
          <p:cNvSpPr txBox="1"/>
          <p:nvPr/>
        </p:nvSpPr>
        <p:spPr>
          <a:xfrm>
            <a:off x="7087972" y="4727702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두 선분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접으면 만나요.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같아요.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전개도가 될 수 있는 것은?</a:t>
            </a:r>
            <a:endParaRPr lang="ko-KR" sz="4000" dirty="0"/>
          </a:p>
        </p:txBody>
      </p:sp>
      <p:sp>
        <p:nvSpPr>
          <p:cNvPr id="3" name="S11-card2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삼각기둥의 전개도가 될 수 있는 것을 모두 골라요.</a:t>
            </a:r>
            <a:endParaRPr lang="ko-KR" sz="2800" dirty="0"/>
          </a:p>
        </p:txBody>
      </p:sp>
      <p:sp>
        <p:nvSpPr>
          <p:cNvPr id="5" name="S11-chip229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1-figure230" descr="가: 밑면 두 개가 가운데 옆면의 위와 아래에 붙은 전개도"/>
          <p:cNvSpPr/>
          <p:nvPr/>
        </p:nvSpPr>
        <p:spPr>
          <a:xfrm>
            <a:off x="632460" y="3301492"/>
            <a:ext cx="821436" cy="547624"/>
          </a:xfrm>
          <a:custGeom>
            <a:avLst/>
            <a:gdLst/>
            <a:ahLst/>
            <a:cxnLst/>
            <a:rect l="l" t="t" r="r" b="b"/>
            <a:pathLst>
              <a:path w="821436" h="547624">
                <a:moveTo>
                  <a:pt x="0" y="547624"/>
                </a:moveTo>
                <a:lnTo>
                  <a:pt x="821436" y="547624"/>
                </a:lnTo>
                <a:lnTo>
                  <a:pt x="82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1-mark231"/>
          <p:cNvSpPr/>
          <p:nvPr/>
        </p:nvSpPr>
        <p:spPr>
          <a:xfrm>
            <a:off x="1453896" y="3301492"/>
            <a:ext cx="1095248" cy="547624"/>
          </a:xfrm>
          <a:custGeom>
            <a:avLst/>
            <a:gdLst/>
            <a:ahLst/>
            <a:cxnLst/>
            <a:rect l="l" t="t" r="r" b="b"/>
            <a:pathLst>
              <a:path w="1095248" h="547624">
                <a:moveTo>
                  <a:pt x="0" y="547624"/>
                </a:moveTo>
                <a:lnTo>
                  <a:pt x="1095248" y="547624"/>
                </a:lnTo>
                <a:lnTo>
                  <a:pt x="1095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1-mark232"/>
          <p:cNvSpPr/>
          <p:nvPr/>
        </p:nvSpPr>
        <p:spPr>
          <a:xfrm>
            <a:off x="2549144" y="3301492"/>
            <a:ext cx="1369060" cy="547624"/>
          </a:xfrm>
          <a:custGeom>
            <a:avLst/>
            <a:gdLst/>
            <a:ahLst/>
            <a:cxnLst/>
            <a:rect l="l" t="t" r="r" b="b"/>
            <a:pathLst>
              <a:path w="1369060" h="547624">
                <a:moveTo>
                  <a:pt x="0" y="547624"/>
                </a:moveTo>
                <a:lnTo>
                  <a:pt x="1369060" y="547624"/>
                </a:lnTo>
                <a:lnTo>
                  <a:pt x="1369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1-mark233"/>
          <p:cNvSpPr/>
          <p:nvPr/>
        </p:nvSpPr>
        <p:spPr>
          <a:xfrm>
            <a:off x="1453896" y="2480056"/>
            <a:ext cx="1095248" cy="821436"/>
          </a:xfrm>
          <a:custGeom>
            <a:avLst/>
            <a:gdLst/>
            <a:ahLst/>
            <a:cxnLst/>
            <a:rect l="l" t="t" r="r" b="b"/>
            <a:pathLst>
              <a:path w="1095248" h="821436">
                <a:moveTo>
                  <a:pt x="0" y="821436"/>
                </a:moveTo>
                <a:lnTo>
                  <a:pt x="1095248" y="821436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11-mark234"/>
          <p:cNvSpPr/>
          <p:nvPr/>
        </p:nvSpPr>
        <p:spPr>
          <a:xfrm>
            <a:off x="1453896" y="3849116"/>
            <a:ext cx="1095248" cy="821436"/>
          </a:xfrm>
          <a:custGeom>
            <a:avLst/>
            <a:gdLst/>
            <a:ahLst/>
            <a:cxnLst/>
            <a:rect l="l" t="t" r="r" b="b"/>
            <a:pathLst>
              <a:path w="1095248" h="821436">
                <a:moveTo>
                  <a:pt x="0" y="0"/>
                </a:moveTo>
                <a:lnTo>
                  <a:pt x="1095248" y="0"/>
                </a:lnTo>
                <a:lnTo>
                  <a:pt x="0" y="821436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1-chip23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2" name="S11-figure236" descr="나: 밑면 두 개가 모두 옆면들의 위쪽에 붙은 그림"/>
          <p:cNvSpPr/>
          <p:nvPr/>
        </p:nvSpPr>
        <p:spPr>
          <a:xfrm>
            <a:off x="4451604" y="3849116"/>
            <a:ext cx="821436" cy="547624"/>
          </a:xfrm>
          <a:custGeom>
            <a:avLst/>
            <a:gdLst/>
            <a:ahLst/>
            <a:cxnLst/>
            <a:rect l="l" t="t" r="r" b="b"/>
            <a:pathLst>
              <a:path w="821436" h="547624">
                <a:moveTo>
                  <a:pt x="0" y="547624"/>
                </a:moveTo>
                <a:lnTo>
                  <a:pt x="821436" y="547624"/>
                </a:lnTo>
                <a:lnTo>
                  <a:pt x="82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1-mark237"/>
          <p:cNvSpPr/>
          <p:nvPr/>
        </p:nvSpPr>
        <p:spPr>
          <a:xfrm>
            <a:off x="5273040" y="3849116"/>
            <a:ext cx="1095248" cy="547624"/>
          </a:xfrm>
          <a:custGeom>
            <a:avLst/>
            <a:gdLst/>
            <a:ahLst/>
            <a:cxnLst/>
            <a:rect l="l" t="t" r="r" b="b"/>
            <a:pathLst>
              <a:path w="1095248" h="547624">
                <a:moveTo>
                  <a:pt x="0" y="547624"/>
                </a:moveTo>
                <a:lnTo>
                  <a:pt x="1095248" y="547624"/>
                </a:lnTo>
                <a:lnTo>
                  <a:pt x="1095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1-mark238"/>
          <p:cNvSpPr/>
          <p:nvPr/>
        </p:nvSpPr>
        <p:spPr>
          <a:xfrm>
            <a:off x="6368288" y="3849116"/>
            <a:ext cx="1369060" cy="547624"/>
          </a:xfrm>
          <a:custGeom>
            <a:avLst/>
            <a:gdLst/>
            <a:ahLst/>
            <a:cxnLst/>
            <a:rect l="l" t="t" r="r" b="b"/>
            <a:pathLst>
              <a:path w="1369060" h="547624">
                <a:moveTo>
                  <a:pt x="0" y="547624"/>
                </a:moveTo>
                <a:lnTo>
                  <a:pt x="1369060" y="547624"/>
                </a:lnTo>
                <a:lnTo>
                  <a:pt x="1369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1-mark239"/>
          <p:cNvSpPr/>
          <p:nvPr/>
        </p:nvSpPr>
        <p:spPr>
          <a:xfrm>
            <a:off x="4451604" y="2753868"/>
            <a:ext cx="821436" cy="1095248"/>
          </a:xfrm>
          <a:custGeom>
            <a:avLst/>
            <a:gdLst/>
            <a:ahLst/>
            <a:cxnLst/>
            <a:rect l="l" t="t" r="r" b="b"/>
            <a:pathLst>
              <a:path w="821436" h="1095248">
                <a:moveTo>
                  <a:pt x="0" y="1095248"/>
                </a:moveTo>
                <a:lnTo>
                  <a:pt x="821436" y="1095248"/>
                </a:lnTo>
                <a:lnTo>
                  <a:pt x="821436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1-mark240"/>
          <p:cNvSpPr/>
          <p:nvPr/>
        </p:nvSpPr>
        <p:spPr>
          <a:xfrm>
            <a:off x="5273040" y="3027680"/>
            <a:ext cx="1095248" cy="821436"/>
          </a:xfrm>
          <a:custGeom>
            <a:avLst/>
            <a:gdLst/>
            <a:ahLst/>
            <a:cxnLst/>
            <a:rect l="l" t="t" r="r" b="b"/>
            <a:pathLst>
              <a:path w="1095248" h="821436">
                <a:moveTo>
                  <a:pt x="0" y="821436"/>
                </a:moveTo>
                <a:lnTo>
                  <a:pt x="1095248" y="821436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11-chip241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8" name="S11-figure242" descr="다: 밑면 하나는 왼쪽 옆면 위에, 하나는 가운데 옆면 아래에 붙은 전개도"/>
          <p:cNvSpPr/>
          <p:nvPr/>
        </p:nvSpPr>
        <p:spPr>
          <a:xfrm>
            <a:off x="8270748" y="3438398"/>
            <a:ext cx="821436" cy="547624"/>
          </a:xfrm>
          <a:custGeom>
            <a:avLst/>
            <a:gdLst/>
            <a:ahLst/>
            <a:cxnLst/>
            <a:rect l="l" t="t" r="r" b="b"/>
            <a:pathLst>
              <a:path w="821436" h="547624">
                <a:moveTo>
                  <a:pt x="0" y="547624"/>
                </a:moveTo>
                <a:lnTo>
                  <a:pt x="821436" y="547624"/>
                </a:lnTo>
                <a:lnTo>
                  <a:pt x="821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1-mark243"/>
          <p:cNvSpPr/>
          <p:nvPr/>
        </p:nvSpPr>
        <p:spPr>
          <a:xfrm>
            <a:off x="9092184" y="3438398"/>
            <a:ext cx="1095248" cy="547624"/>
          </a:xfrm>
          <a:custGeom>
            <a:avLst/>
            <a:gdLst/>
            <a:ahLst/>
            <a:cxnLst/>
            <a:rect l="l" t="t" r="r" b="b"/>
            <a:pathLst>
              <a:path w="1095248" h="547624">
                <a:moveTo>
                  <a:pt x="0" y="547624"/>
                </a:moveTo>
                <a:lnTo>
                  <a:pt x="1095248" y="547624"/>
                </a:lnTo>
                <a:lnTo>
                  <a:pt x="1095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1-mark244"/>
          <p:cNvSpPr/>
          <p:nvPr/>
        </p:nvSpPr>
        <p:spPr>
          <a:xfrm>
            <a:off x="10187432" y="3438398"/>
            <a:ext cx="1369060" cy="547624"/>
          </a:xfrm>
          <a:custGeom>
            <a:avLst/>
            <a:gdLst/>
            <a:ahLst/>
            <a:cxnLst/>
            <a:rect l="l" t="t" r="r" b="b"/>
            <a:pathLst>
              <a:path w="1369060" h="547624">
                <a:moveTo>
                  <a:pt x="0" y="547624"/>
                </a:moveTo>
                <a:lnTo>
                  <a:pt x="1369060" y="547624"/>
                </a:lnTo>
                <a:lnTo>
                  <a:pt x="1369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11-mark245"/>
          <p:cNvSpPr/>
          <p:nvPr/>
        </p:nvSpPr>
        <p:spPr>
          <a:xfrm>
            <a:off x="8270748" y="2343150"/>
            <a:ext cx="821436" cy="1095248"/>
          </a:xfrm>
          <a:custGeom>
            <a:avLst/>
            <a:gdLst/>
            <a:ahLst/>
            <a:cxnLst/>
            <a:rect l="l" t="t" r="r" b="b"/>
            <a:pathLst>
              <a:path w="821436" h="1095248">
                <a:moveTo>
                  <a:pt x="0" y="1095248"/>
                </a:moveTo>
                <a:lnTo>
                  <a:pt x="821436" y="1095248"/>
                </a:lnTo>
                <a:lnTo>
                  <a:pt x="821436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1-mark246"/>
          <p:cNvSpPr/>
          <p:nvPr/>
        </p:nvSpPr>
        <p:spPr>
          <a:xfrm>
            <a:off x="9092184" y="3986022"/>
            <a:ext cx="1095248" cy="821436"/>
          </a:xfrm>
          <a:custGeom>
            <a:avLst/>
            <a:gdLst/>
            <a:ahLst/>
            <a:cxnLst/>
            <a:rect l="l" t="t" r="r" b="b"/>
            <a:pathLst>
              <a:path w="1095248" h="821436">
                <a:moveTo>
                  <a:pt x="0" y="0"/>
                </a:moveTo>
                <a:lnTo>
                  <a:pt x="1095248" y="0"/>
                </a:lnTo>
                <a:lnTo>
                  <a:pt x="0" y="821436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figure247" descr="삼각기둥의 전개도: 옆면의 가로 3 cm, 4 cm, □ cm, 밑면 삼각형의 한 변 5 cm"/>
          <p:cNvSpPr/>
          <p:nvPr/>
        </p:nvSpPr>
        <p:spPr>
          <a:xfrm>
            <a:off x="6612636" y="3380867"/>
            <a:ext cx="1173099" cy="1173099"/>
          </a:xfrm>
          <a:custGeom>
            <a:avLst/>
            <a:gdLst/>
            <a:ahLst/>
            <a:cxnLst/>
            <a:rect l="l" t="t" r="r" b="b"/>
            <a:pathLst>
              <a:path w="1173099" h="1173099">
                <a:moveTo>
                  <a:pt x="0" y="1173099"/>
                </a:moveTo>
                <a:lnTo>
                  <a:pt x="1173099" y="1173099"/>
                </a:lnTo>
                <a:lnTo>
                  <a:pt x="1173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12-mark248"/>
          <p:cNvSpPr/>
          <p:nvPr/>
        </p:nvSpPr>
        <p:spPr>
          <a:xfrm>
            <a:off x="7785735" y="3380867"/>
            <a:ext cx="1564132" cy="1173099"/>
          </a:xfrm>
          <a:custGeom>
            <a:avLst/>
            <a:gdLst/>
            <a:ahLst/>
            <a:cxnLst/>
            <a:rect l="l" t="t" r="r" b="b"/>
            <a:pathLst>
              <a:path w="1564132" h="1173099">
                <a:moveTo>
                  <a:pt x="0" y="1173099"/>
                </a:moveTo>
                <a:lnTo>
                  <a:pt x="1564132" y="1173099"/>
                </a:lnTo>
                <a:lnTo>
                  <a:pt x="156413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12-mark249"/>
          <p:cNvSpPr/>
          <p:nvPr/>
        </p:nvSpPr>
        <p:spPr>
          <a:xfrm>
            <a:off x="9349867" y="3380867"/>
            <a:ext cx="1955165" cy="1173099"/>
          </a:xfrm>
          <a:custGeom>
            <a:avLst/>
            <a:gdLst/>
            <a:ahLst/>
            <a:cxnLst/>
            <a:rect l="l" t="t" r="r" b="b"/>
            <a:pathLst>
              <a:path w="1955165" h="1173099">
                <a:moveTo>
                  <a:pt x="0" y="1173099"/>
                </a:moveTo>
                <a:lnTo>
                  <a:pt x="1955165" y="1173099"/>
                </a:lnTo>
                <a:lnTo>
                  <a:pt x="195516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2-mark250"/>
          <p:cNvSpPr/>
          <p:nvPr/>
        </p:nvSpPr>
        <p:spPr>
          <a:xfrm>
            <a:off x="6612636" y="1816735"/>
            <a:ext cx="1173099" cy="1564132"/>
          </a:xfrm>
          <a:custGeom>
            <a:avLst/>
            <a:gdLst/>
            <a:ahLst/>
            <a:cxnLst/>
            <a:rect l="l" t="t" r="r" b="b"/>
            <a:pathLst>
              <a:path w="1173099" h="1564132">
                <a:moveTo>
                  <a:pt x="0" y="1564132"/>
                </a:moveTo>
                <a:lnTo>
                  <a:pt x="1173099" y="1564132"/>
                </a:lnTo>
                <a:lnTo>
                  <a:pt x="1173099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12-mark251"/>
          <p:cNvSpPr/>
          <p:nvPr/>
        </p:nvSpPr>
        <p:spPr>
          <a:xfrm>
            <a:off x="7785735" y="4553966"/>
            <a:ext cx="1564132" cy="1173099"/>
          </a:xfrm>
          <a:custGeom>
            <a:avLst/>
            <a:gdLst/>
            <a:ahLst/>
            <a:cxnLst/>
            <a:rect l="l" t="t" r="r" b="b"/>
            <a:pathLst>
              <a:path w="1564132" h="1173099">
                <a:moveTo>
                  <a:pt x="0" y="0"/>
                </a:moveTo>
                <a:lnTo>
                  <a:pt x="1564132" y="0"/>
                </a:lnTo>
                <a:lnTo>
                  <a:pt x="0" y="1173099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2-label253"/>
          <p:cNvSpPr txBox="1"/>
          <p:nvPr/>
        </p:nvSpPr>
        <p:spPr>
          <a:xfrm>
            <a:off x="6817424" y="463080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cm</a:t>
            </a:r>
            <a:endParaRPr lang="ko-KR" sz="2200" dirty="0"/>
          </a:p>
        </p:txBody>
      </p:sp>
      <p:sp>
        <p:nvSpPr>
          <p:cNvPr id="9" name="S12-label255"/>
          <p:cNvSpPr txBox="1"/>
          <p:nvPr/>
        </p:nvSpPr>
        <p:spPr>
          <a:xfrm>
            <a:off x="8186039" y="463080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</a:t>
            </a:r>
            <a:endParaRPr lang="ko-KR" sz="2200" dirty="0"/>
          </a:p>
        </p:txBody>
      </p:sp>
      <p:sp>
        <p:nvSpPr>
          <p:cNvPr id="10" name="S12-label257"/>
          <p:cNvSpPr txBox="1"/>
          <p:nvPr/>
        </p:nvSpPr>
        <p:spPr>
          <a:xfrm>
            <a:off x="9900984" y="4630801"/>
            <a:ext cx="8529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cm</a:t>
            </a:r>
            <a:endParaRPr lang="ko-KR" sz="2200" dirty="0"/>
          </a:p>
        </p:txBody>
      </p:sp>
      <p:sp>
        <p:nvSpPr>
          <p:cNvPr id="11" name="S12-label259"/>
          <p:cNvSpPr txBox="1"/>
          <p:nvPr/>
        </p:nvSpPr>
        <p:spPr>
          <a:xfrm>
            <a:off x="6476779" y="216869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200" dirty="0"/>
          </a:p>
        </p:txBody>
      </p:sp>
      <p:sp>
        <p:nvSpPr>
          <p:cNvPr id="12" name="S12-chip260"/>
          <p:cNvSpPr txBox="1"/>
          <p:nvPr/>
        </p:nvSpPr>
        <p:spPr>
          <a:xfrm>
            <a:off x="548640" y="158534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2-text261"/>
          <p:cNvSpPr txBox="1"/>
          <p:nvPr/>
        </p:nvSpPr>
        <p:spPr>
          <a:xfrm>
            <a:off x="1344168" y="132588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팔각기둥의 면, 모서리,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꼭짓점의 수</a:t>
            </a:r>
            <a:endParaRPr lang="ko-KR" sz="2800" dirty="0"/>
          </a:p>
        </p:txBody>
      </p:sp>
      <p:sp>
        <p:nvSpPr>
          <p:cNvPr id="14" name="S12-chip262"/>
          <p:cNvSpPr txBox="1"/>
          <p:nvPr/>
        </p:nvSpPr>
        <p:spPr>
          <a:xfrm>
            <a:off x="548640" y="285407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2-text263"/>
          <p:cNvSpPr txBox="1"/>
          <p:nvPr/>
        </p:nvSpPr>
        <p:spPr>
          <a:xfrm>
            <a:off x="1344168" y="259461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육각뿔의 면, 모서리,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꼭짓점의 수</a:t>
            </a:r>
            <a:endParaRPr lang="ko-KR" sz="2800" dirty="0"/>
          </a:p>
        </p:txBody>
      </p:sp>
      <p:sp>
        <p:nvSpPr>
          <p:cNvPr id="16" name="S12-chip264"/>
          <p:cNvSpPr txBox="1"/>
          <p:nvPr/>
        </p:nvSpPr>
        <p:spPr>
          <a:xfrm>
            <a:off x="548640" y="412280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2-text265"/>
          <p:cNvSpPr txBox="1"/>
          <p:nvPr/>
        </p:nvSpPr>
        <p:spPr>
          <a:xfrm>
            <a:off x="1344168" y="386334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전개도를 접으면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입체도형?</a:t>
            </a:r>
            <a:endParaRPr lang="ko-KR" sz="2800" dirty="0"/>
          </a:p>
        </p:txBody>
      </p:sp>
      <p:sp>
        <p:nvSpPr>
          <p:cNvPr id="18" name="S12-chip266"/>
          <p:cNvSpPr txBox="1"/>
          <p:nvPr/>
        </p:nvSpPr>
        <p:spPr>
          <a:xfrm>
            <a:off x="548640" y="539153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9" name="S12-text267"/>
          <p:cNvSpPr txBox="1"/>
          <p:nvPr/>
        </p:nvSpPr>
        <p:spPr>
          <a:xfrm>
            <a:off x="1344168" y="5132070"/>
            <a:ext cx="456742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□는 몇 cm인가요?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 것을 모두 골라요</a:t>
            </a:r>
            <a:endParaRPr lang="ko-KR" sz="4000" dirty="0"/>
          </a:p>
        </p:txBody>
      </p:sp>
      <p:sp>
        <p:nvSpPr>
          <p:cNvPr id="3" name="S14-card2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것은 바르게 고쳐 말해요.</a:t>
            </a:r>
            <a:endParaRPr lang="ko-KR" sz="2800" dirty="0"/>
          </a:p>
        </p:txBody>
      </p:sp>
      <p:sp>
        <p:nvSpPr>
          <p:cNvPr id="5" name="S14-chip270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4-card271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72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각뿔의 밑면은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2개예요.</a:t>
            </a:r>
            <a:endParaRPr lang="ko-KR" sz="2800" dirty="0"/>
          </a:p>
        </p:txBody>
      </p:sp>
      <p:sp>
        <p:nvSpPr>
          <p:cNvPr id="8" name="S14-chip273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4-card274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75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각기둥의 옆면은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직사각형이에요.</a:t>
            </a:r>
            <a:endParaRPr lang="ko-KR" sz="2800" dirty="0"/>
          </a:p>
        </p:txBody>
      </p:sp>
      <p:sp>
        <p:nvSpPr>
          <p:cNvPr id="11" name="S14-chip276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4-card277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78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오각뿔의 꼭짓점은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6개예요.</a:t>
            </a:r>
            <a:endParaRPr lang="ko-KR" sz="2800" dirty="0"/>
          </a:p>
        </p:txBody>
      </p:sp>
      <p:sp>
        <p:nvSpPr>
          <p:cNvPr id="14" name="S14-chip27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4-card280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81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삼각기둥의 전개도에는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삼각형이 1개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28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8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각기둥은 밑면 2개와 직사각형 옆면, 각뿔은 밑면 1개와 삼각형 옆면으로 되어 있어요.</a:t>
            </a:r>
            <a:endParaRPr lang="ko-KR" sz="2800" dirty="0"/>
          </a:p>
        </p:txBody>
      </p:sp>
      <p:sp>
        <p:nvSpPr>
          <p:cNvPr id="5" name="S15-chip28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밑면의 변의 수로 세기</a:t>
            </a:r>
            <a:endParaRPr lang="ko-KR" sz="2200" dirty="0"/>
          </a:p>
        </p:txBody>
      </p:sp>
      <p:sp>
        <p:nvSpPr>
          <p:cNvPr id="6" name="S15-chip28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바닥에 닿은 면만 밑면이라 하기</a:t>
            </a:r>
            <a:endParaRPr lang="ko-KR" sz="2200" dirty="0"/>
          </a:p>
        </p:txBody>
      </p:sp>
      <p:sp>
        <p:nvSpPr>
          <p:cNvPr id="7" name="S15-text28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28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오각기둥의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모서리의 수</a:t>
            </a:r>
            <a:endParaRPr lang="ko-KR" sz="2200" dirty="0"/>
          </a:p>
        </p:txBody>
      </p:sp>
      <p:sp>
        <p:nvSpPr>
          <p:cNvPr id="9" name="S15-text28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팔각뿔의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꼭짓점의 수</a:t>
            </a:r>
            <a:endParaRPr lang="ko-KR" sz="2200" dirty="0"/>
          </a:p>
        </p:txBody>
      </p:sp>
      <p:sp>
        <p:nvSpPr>
          <p:cNvPr id="10" name="S15-text28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육각기둥 전개도의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옆면의 수</a:t>
            </a:r>
            <a:endParaRPr lang="ko-KR" sz="2200" dirty="0"/>
          </a:p>
        </p:txBody>
      </p:sp>
      <p:sp>
        <p:nvSpPr>
          <p:cNvPr id="11" name="S15-text29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원기둥·원뿔·구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직육면체 다시 보기</a:t>
            </a:r>
            <a:endParaRPr lang="ko-KR" sz="4000" dirty="0"/>
          </a:p>
        </p:txBody>
      </p:sp>
      <p:sp>
        <p:nvSpPr>
          <p:cNvPr id="3" name="S16-figure291" descr="직육면체의 겨냥도: 보이는 모서리 9개는 실선, 보이지 않는 모서리 3개는 점선"/>
          <p:cNvSpPr/>
          <p:nvPr/>
        </p:nvSpPr>
        <p:spPr>
          <a:xfrm flipH="1">
            <a:off x="2175358" y="4438498"/>
            <a:ext cx="274320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4" name="S16-mark292"/>
          <p:cNvSpPr/>
          <p:nvPr/>
        </p:nvSpPr>
        <p:spPr>
          <a:xfrm flipV="1">
            <a:off x="1541678" y="4438498"/>
            <a:ext cx="633679" cy="495605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5" name="S16-mark293"/>
          <p:cNvSpPr/>
          <p:nvPr/>
        </p:nvSpPr>
        <p:spPr>
          <a:xfrm flipV="1">
            <a:off x="2175358" y="2609698"/>
            <a:ext cx="0" cy="1828800"/>
          </a:xfrm>
          <a:prstGeom prst="line">
            <a:avLst/>
          </a:prstGeom>
          <a:noFill/>
          <a:ln w="22225">
            <a:solidFill>
              <a:srgbClr val="1F2937"/>
            </a:solidFill>
            <a:prstDash val="dash"/>
          </a:ln>
        </p:spPr>
      </p:sp>
      <p:sp>
        <p:nvSpPr>
          <p:cNvPr id="6" name="S16-mark294"/>
          <p:cNvSpPr/>
          <p:nvPr/>
        </p:nvSpPr>
        <p:spPr>
          <a:xfrm>
            <a:off x="1541678" y="493410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6-mark295"/>
          <p:cNvSpPr/>
          <p:nvPr/>
        </p:nvSpPr>
        <p:spPr>
          <a:xfrm flipV="1">
            <a:off x="4284878" y="443849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6-mark296"/>
          <p:cNvSpPr/>
          <p:nvPr/>
        </p:nvSpPr>
        <p:spPr>
          <a:xfrm>
            <a:off x="1541678" y="3105302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16-mark297"/>
          <p:cNvSpPr/>
          <p:nvPr/>
        </p:nvSpPr>
        <p:spPr>
          <a:xfrm flipV="1">
            <a:off x="4284878" y="260969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16-mark298"/>
          <p:cNvSpPr/>
          <p:nvPr/>
        </p:nvSpPr>
        <p:spPr>
          <a:xfrm flipH="1">
            <a:off x="2175358" y="2609698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6-mark299"/>
          <p:cNvSpPr/>
          <p:nvPr/>
        </p:nvSpPr>
        <p:spPr>
          <a:xfrm flipV="1">
            <a:off x="1541678" y="2609698"/>
            <a:ext cx="633679" cy="49560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16-mark300"/>
          <p:cNvSpPr/>
          <p:nvPr/>
        </p:nvSpPr>
        <p:spPr>
          <a:xfrm flipV="1">
            <a:off x="4284878" y="3105302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16-mark301"/>
          <p:cNvSpPr/>
          <p:nvPr/>
        </p:nvSpPr>
        <p:spPr>
          <a:xfrm flipV="1">
            <a:off x="1541678" y="3105302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16-mark302"/>
          <p:cNvSpPr/>
          <p:nvPr/>
        </p:nvSpPr>
        <p:spPr>
          <a:xfrm flipV="1">
            <a:off x="4918558" y="2609698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16-card303"/>
          <p:cNvSpPr/>
          <p:nvPr/>
        </p:nvSpPr>
        <p:spPr>
          <a:xfrm>
            <a:off x="6277356" y="2307082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6-cardtext304"/>
          <p:cNvSpPr txBox="1"/>
          <p:nvPr/>
        </p:nvSpPr>
        <p:spPr>
          <a:xfrm>
            <a:off x="6551676" y="2444242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 6, 모서리 12, 꼭짓점 8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상자를 들고 세어 봐요.</a:t>
            </a:r>
            <a:endParaRPr lang="ko-KR" sz="2800" dirty="0"/>
          </a:p>
        </p:txBody>
      </p:sp>
      <p:sp>
        <p:nvSpPr>
          <p:cNvPr id="17" name="S16-card305"/>
          <p:cNvSpPr/>
          <p:nvPr/>
        </p:nvSpPr>
        <p:spPr>
          <a:xfrm>
            <a:off x="6277356" y="3715766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16-cardtext306"/>
          <p:cNvSpPr txBox="1"/>
          <p:nvPr/>
        </p:nvSpPr>
        <p:spPr>
          <a:xfrm>
            <a:off x="6551676" y="3852926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겨냥도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모서리는 실선,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보이지 않는 모서리는 점선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각기둥과 각뿔</dc:title>
  <dc:subject>KR22-G06-MAT-PRISM-L01</dc:subject>
  <dc:creator>education-ppt</dc:creator>
  <cp:lastModifiedBy>education-ppt</cp:lastModifiedBy>
  <cp:revision>1</cp:revision>
  <dcterms:created xsi:type="dcterms:W3CDTF">2026-10-26T08:59:22Z</dcterms:created>
  <dcterms:modified xsi:type="dcterms:W3CDTF">2026-10-26T08:59:22Z</dcterms:modified>
</cp:coreProperties>
</file>