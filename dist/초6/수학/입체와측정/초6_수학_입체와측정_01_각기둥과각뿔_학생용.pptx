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413d0df-b459-c789-64c2-2f5dca46f7bb}">
          <p14:sldIdLst>
            <p14:sldId id="256"/>
            <p14:sldId id="257"/>
          </p14:sldIdLst>
        </p14:section>
        <p14:section name="개념" id="{03e95c56-ecf5-be9c-611a-d07e6307a31f}">
          <p14:sldIdLst>
            <p14:sldId id="258"/>
            <p14:sldId id="259"/>
            <p14:sldId id="260"/>
            <p14:sldId id="262"/>
            <p14:sldId id="265"/>
          </p14:sldIdLst>
        </p14:section>
        <p14:section name="연습" id="{c6cef294-a45c-933d-fc81-6dde271c8b8c}">
          <p14:sldIdLst>
            <p14:sldId id="261"/>
            <p14:sldId id="263"/>
            <p14:sldId id="264"/>
            <p14:sldId id="266"/>
          </p14:sldIdLst>
        </p14:section>
        <p14:section name="개념" id="{cb8f84a4-39e0-260d-129b-4ba04e7013d3}">
          <p14:sldIdLst/>
        </p14:section>
        <p14:section name="연습" id="{5fed1f63-02bd-10c7-418b-f7b4e05ddd2f}">
          <p14:sldIdLst/>
        </p14:section>
        <p14:section name="개념" id="{835e46db-9000-d394-7a12-0aae6eaf8991}">
          <p14:sldIdLst/>
        </p14:section>
        <p14:section name="연습" id="{635e1bac-ef91-4a09-253b-86fc6a906ba9}">
          <p14:sldIdLst/>
        </p14:section>
        <p14:section name="확인" id="{96ecbb4b-4cb3-e642-8dbd-ca9e8d37a001}">
          <p14:sldIdLst>
            <p14:sldId id="267"/>
            <p14:sldId id="268"/>
          </p14:sldIdLst>
        </p14:section>
        <p14:section name="정리" id="{9572a92a-0903-6697-ad70-e30e5c1aec64}">
          <p14:sldIdLst>
            <p14:sldId id="269"/>
          </p14:sldIdLst>
        </p14:section>
        <p14:section name="보충" id="{1ae9c765-bb6e-f769-7d55-659abbc63a01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입체와측정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각기둥과 각뿔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각기둥과 각뿔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수학 · 각기둥과 각뿔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각기둥과 각뿔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직육면체와 닮았지만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밑면이 삼각형인 입체도형은?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삼각기둥의 겨냥도: 위아래 밑면(삼각형)을 색칠, 보이지 않는 모서리 3개는 점선"/>
          <p:cNvSpPr/>
          <p:nvPr/>
        </p:nvSpPr>
        <p:spPr>
          <a:xfrm>
            <a:off x="8468414" y="2933598"/>
            <a:ext cx="2357011" cy="548742"/>
          </a:xfrm>
          <a:custGeom>
            <a:avLst/>
            <a:gdLst/>
            <a:ahLst/>
            <a:cxnLst/>
            <a:rect l="l" t="t" r="r" b="b"/>
            <a:pathLst>
              <a:path w="2357011" h="548742">
                <a:moveTo>
                  <a:pt x="0" y="548742"/>
                </a:moveTo>
                <a:lnTo>
                  <a:pt x="2357011" y="548742"/>
                </a:lnTo>
                <a:lnTo>
                  <a:pt x="1585827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dash"/>
          </a:ln>
        </p:spPr>
      </p:sp>
      <p:sp>
        <p:nvSpPr>
          <p:cNvPr id="6" name="S01-mark3"/>
          <p:cNvSpPr/>
          <p:nvPr/>
        </p:nvSpPr>
        <p:spPr>
          <a:xfrm>
            <a:off x="8468414" y="723900"/>
            <a:ext cx="2357011" cy="548742"/>
          </a:xfrm>
          <a:custGeom>
            <a:avLst/>
            <a:gdLst/>
            <a:ahLst/>
            <a:cxnLst/>
            <a:rect l="l" t="t" r="r" b="b"/>
            <a:pathLst>
              <a:path w="2357011" h="548742">
                <a:moveTo>
                  <a:pt x="0" y="548742"/>
                </a:moveTo>
                <a:lnTo>
                  <a:pt x="2357011" y="548742"/>
                </a:lnTo>
                <a:lnTo>
                  <a:pt x="1585827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 flipH="1" flipV="1">
            <a:off x="10054241" y="2933598"/>
            <a:ext cx="771185" cy="548742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8" name="S01-mark5"/>
          <p:cNvSpPr/>
          <p:nvPr/>
        </p:nvSpPr>
        <p:spPr>
          <a:xfrm flipV="1">
            <a:off x="8468414" y="2933598"/>
            <a:ext cx="1585827" cy="548742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9" name="S01-mark6"/>
          <p:cNvSpPr/>
          <p:nvPr/>
        </p:nvSpPr>
        <p:spPr>
          <a:xfrm flipV="1">
            <a:off x="10054241" y="723900"/>
            <a:ext cx="0" cy="2209698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10" name="S01-mark7"/>
          <p:cNvSpPr/>
          <p:nvPr/>
        </p:nvSpPr>
        <p:spPr>
          <a:xfrm>
            <a:off x="8468414" y="3482340"/>
            <a:ext cx="2357011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>
            <a:off x="8468414" y="1272642"/>
            <a:ext cx="2357011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 flipH="1" flipV="1">
            <a:off x="10054241" y="723900"/>
            <a:ext cx="771185" cy="54874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 flipV="1">
            <a:off x="8468414" y="723900"/>
            <a:ext cx="1585827" cy="54874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 flipV="1">
            <a:off x="10825426" y="1272642"/>
            <a:ext cx="0" cy="2209698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 flipV="1">
            <a:off x="8468414" y="1272642"/>
            <a:ext cx="0" cy="2209698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6" name="S01-card13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7" name="S01-cardtext14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각기둥과 각뿔의 구성 요소를 찾고 수를 세어요.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각기둥의 전개도를 알아보고 그려요.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 기억하기</a:t>
            </a:r>
            <a:endParaRPr lang="ko-KR" sz="4000" dirty="0"/>
          </a:p>
        </p:txBody>
      </p:sp>
      <p:sp>
        <p:nvSpPr>
          <p:cNvPr id="3" name="S02-card15"/>
          <p:cNvSpPr/>
          <p:nvPr/>
        </p:nvSpPr>
        <p:spPr>
          <a:xfrm>
            <a:off x="6277356" y="1325880"/>
            <a:ext cx="5362956" cy="4892040"/>
          </a:xfrm>
          <a:prstGeom prst="roundRect">
            <a:avLst>
              <a:gd name="adj" fmla="val 224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2-cardtext16"/>
          <p:cNvSpPr txBox="1"/>
          <p:nvPr/>
        </p:nvSpPr>
        <p:spPr>
          <a:xfrm>
            <a:off x="6551676" y="1463040"/>
            <a:ext cx="4814316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직육면체의 겨냥도</a:t>
            </a:r>
            <a:endParaRPr lang="ko-KR" sz="2800" dirty="0"/>
          </a:p>
        </p:txBody>
      </p:sp>
      <p:sp>
        <p:nvSpPr>
          <p:cNvPr id="5" name="S02-figure17" descr="직육면체의 겨냥도: 보이는 모서리 9개는 실선, 보이지 않는 모서리 3개는 점선"/>
          <p:cNvSpPr/>
          <p:nvPr/>
        </p:nvSpPr>
        <p:spPr>
          <a:xfrm flipH="1">
            <a:off x="7904074" y="4689958"/>
            <a:ext cx="27432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6" name="S02-mark18"/>
          <p:cNvSpPr/>
          <p:nvPr/>
        </p:nvSpPr>
        <p:spPr>
          <a:xfrm flipV="1">
            <a:off x="7270394" y="4689958"/>
            <a:ext cx="633679" cy="495605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7" name="S02-mark19"/>
          <p:cNvSpPr/>
          <p:nvPr/>
        </p:nvSpPr>
        <p:spPr>
          <a:xfrm flipV="1">
            <a:off x="7904074" y="2861158"/>
            <a:ext cx="0" cy="182880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8" name="S02-mark20"/>
          <p:cNvSpPr/>
          <p:nvPr/>
        </p:nvSpPr>
        <p:spPr>
          <a:xfrm>
            <a:off x="7270394" y="5185562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02-mark21"/>
          <p:cNvSpPr/>
          <p:nvPr/>
        </p:nvSpPr>
        <p:spPr>
          <a:xfrm flipV="1">
            <a:off x="10013594" y="4689958"/>
            <a:ext cx="633679" cy="495605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0" name="S02-mark22"/>
          <p:cNvSpPr/>
          <p:nvPr/>
        </p:nvSpPr>
        <p:spPr>
          <a:xfrm>
            <a:off x="7270394" y="3356762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02-mark23"/>
          <p:cNvSpPr/>
          <p:nvPr/>
        </p:nvSpPr>
        <p:spPr>
          <a:xfrm flipV="1">
            <a:off x="10013594" y="2861158"/>
            <a:ext cx="633679" cy="495605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2" name="S02-mark24"/>
          <p:cNvSpPr/>
          <p:nvPr/>
        </p:nvSpPr>
        <p:spPr>
          <a:xfrm flipH="1">
            <a:off x="7904074" y="2861158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02-mark25"/>
          <p:cNvSpPr/>
          <p:nvPr/>
        </p:nvSpPr>
        <p:spPr>
          <a:xfrm flipV="1">
            <a:off x="7270394" y="2861158"/>
            <a:ext cx="633679" cy="495605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4" name="S02-mark26"/>
          <p:cNvSpPr/>
          <p:nvPr/>
        </p:nvSpPr>
        <p:spPr>
          <a:xfrm flipV="1">
            <a:off x="10013594" y="3356762"/>
            <a:ext cx="0" cy="18288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5" name="S02-mark27"/>
          <p:cNvSpPr/>
          <p:nvPr/>
        </p:nvSpPr>
        <p:spPr>
          <a:xfrm flipV="1">
            <a:off x="7270394" y="3356762"/>
            <a:ext cx="0" cy="18288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6" name="S02-mark28"/>
          <p:cNvSpPr/>
          <p:nvPr/>
        </p:nvSpPr>
        <p:spPr>
          <a:xfrm flipV="1">
            <a:off x="10647274" y="2861158"/>
            <a:ext cx="0" cy="18288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7" name="S02-chip2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8" name="S02-text30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면, 모서리, 꼭짓점은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각각 몇 개?</a:t>
            </a:r>
            <a:endParaRPr lang="ko-KR" sz="2800" dirty="0"/>
          </a:p>
        </p:txBody>
      </p:sp>
      <p:sp>
        <p:nvSpPr>
          <p:cNvPr id="19" name="S02-chip31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0" name="S02-text32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점선으로 그린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모서리는 몇 개?</a:t>
            </a:r>
            <a:endParaRPr lang="ko-KR" sz="2800" dirty="0"/>
          </a:p>
        </p:txBody>
      </p:sp>
      <p:sp>
        <p:nvSpPr>
          <p:cNvPr id="21" name="S02-chip33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2" name="S02-text34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평행한 면은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쌍?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각기둥</a:t>
            </a:r>
            <a:endParaRPr lang="ko-KR" sz="4000" dirty="0"/>
          </a:p>
        </p:txBody>
      </p:sp>
      <p:sp>
        <p:nvSpPr>
          <p:cNvPr id="3" name="S03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밑면의 모양에 따라 삼각기둥, 사각기둥, 오각기둥 …이라고 해요.</a:t>
            </a:r>
            <a:endParaRPr lang="ko-KR" sz="2800" dirty="0"/>
          </a:p>
        </p:txBody>
      </p:sp>
      <p:sp>
        <p:nvSpPr>
          <p:cNvPr id="5" name="S03-figure37" descr="삼각기둥의 겨냥도: 위아래 밑면(삼각형)을 색칠, 보이지 않는 모서리 3개는 점선"/>
          <p:cNvSpPr/>
          <p:nvPr/>
        </p:nvSpPr>
        <p:spPr>
          <a:xfrm>
            <a:off x="1087450" y="4208526"/>
            <a:ext cx="2926080" cy="681228"/>
          </a:xfrm>
          <a:custGeom>
            <a:avLst/>
            <a:gdLst/>
            <a:ahLst/>
            <a:cxnLst/>
            <a:rect l="l" t="t" r="r" b="b"/>
            <a:pathLst>
              <a:path w="2926080" h="681228">
                <a:moveTo>
                  <a:pt x="0" y="681228"/>
                </a:moveTo>
                <a:lnTo>
                  <a:pt x="2926080" y="681228"/>
                </a:lnTo>
                <a:lnTo>
                  <a:pt x="1968703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dash"/>
          </a:ln>
        </p:spPr>
      </p:sp>
      <p:sp>
        <p:nvSpPr>
          <p:cNvPr id="6" name="S03-mark38"/>
          <p:cNvSpPr/>
          <p:nvPr/>
        </p:nvSpPr>
        <p:spPr>
          <a:xfrm>
            <a:off x="1087450" y="1465326"/>
            <a:ext cx="2926080" cy="681228"/>
          </a:xfrm>
          <a:custGeom>
            <a:avLst/>
            <a:gdLst/>
            <a:ahLst/>
            <a:cxnLst/>
            <a:rect l="l" t="t" r="r" b="b"/>
            <a:pathLst>
              <a:path w="2926080" h="681228">
                <a:moveTo>
                  <a:pt x="0" y="681228"/>
                </a:moveTo>
                <a:lnTo>
                  <a:pt x="2926080" y="681228"/>
                </a:lnTo>
                <a:lnTo>
                  <a:pt x="1968703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3-mark39"/>
          <p:cNvSpPr/>
          <p:nvPr/>
        </p:nvSpPr>
        <p:spPr>
          <a:xfrm flipH="1" flipV="1">
            <a:off x="3056153" y="4208526"/>
            <a:ext cx="957377" cy="681228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8" name="S03-mark40"/>
          <p:cNvSpPr/>
          <p:nvPr/>
        </p:nvSpPr>
        <p:spPr>
          <a:xfrm flipV="1">
            <a:off x="1087450" y="4208526"/>
            <a:ext cx="1968703" cy="681228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9" name="S03-mark41"/>
          <p:cNvSpPr/>
          <p:nvPr/>
        </p:nvSpPr>
        <p:spPr>
          <a:xfrm flipV="1">
            <a:off x="3056153" y="1465326"/>
            <a:ext cx="0" cy="274320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10" name="S03-mark42"/>
          <p:cNvSpPr/>
          <p:nvPr/>
        </p:nvSpPr>
        <p:spPr>
          <a:xfrm>
            <a:off x="1087450" y="4889754"/>
            <a:ext cx="292608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03-mark43"/>
          <p:cNvSpPr/>
          <p:nvPr/>
        </p:nvSpPr>
        <p:spPr>
          <a:xfrm>
            <a:off x="1087450" y="2146554"/>
            <a:ext cx="292608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2" name="S03-mark44"/>
          <p:cNvSpPr/>
          <p:nvPr/>
        </p:nvSpPr>
        <p:spPr>
          <a:xfrm flipH="1" flipV="1">
            <a:off x="3056153" y="1465326"/>
            <a:ext cx="957377" cy="681228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03-mark45"/>
          <p:cNvSpPr/>
          <p:nvPr/>
        </p:nvSpPr>
        <p:spPr>
          <a:xfrm flipV="1">
            <a:off x="1087450" y="1465326"/>
            <a:ext cx="1968703" cy="681228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4" name="S03-mark46"/>
          <p:cNvSpPr/>
          <p:nvPr/>
        </p:nvSpPr>
        <p:spPr>
          <a:xfrm flipV="1">
            <a:off x="4013530" y="2146554"/>
            <a:ext cx="0" cy="27432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5" name="S03-mark47"/>
          <p:cNvSpPr/>
          <p:nvPr/>
        </p:nvSpPr>
        <p:spPr>
          <a:xfrm flipV="1">
            <a:off x="1087450" y="2146554"/>
            <a:ext cx="0" cy="27432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6" name="S03-label49"/>
          <p:cNvSpPr txBox="1"/>
          <p:nvPr/>
        </p:nvSpPr>
        <p:spPr>
          <a:xfrm>
            <a:off x="4507814" y="1651889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</a:t>
            </a:r>
            <a:endParaRPr lang="ko-KR" sz="2200" dirty="0"/>
          </a:p>
        </p:txBody>
      </p:sp>
      <p:sp>
        <p:nvSpPr>
          <p:cNvPr id="17" name="S03-label51"/>
          <p:cNvSpPr txBox="1"/>
          <p:nvPr/>
        </p:nvSpPr>
        <p:spPr>
          <a:xfrm>
            <a:off x="4507814" y="4806569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</a:t>
            </a:r>
            <a:endParaRPr lang="ko-KR" sz="2200" dirty="0"/>
          </a:p>
        </p:txBody>
      </p:sp>
      <p:sp>
        <p:nvSpPr>
          <p:cNvPr id="18" name="S03-label53"/>
          <p:cNvSpPr txBox="1"/>
          <p:nvPr/>
        </p:nvSpPr>
        <p:spPr>
          <a:xfrm>
            <a:off x="2176094" y="3343529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</a:t>
            </a:r>
            <a:endParaRPr lang="ko-KR" sz="2200" dirty="0"/>
          </a:p>
        </p:txBody>
      </p:sp>
      <p:sp>
        <p:nvSpPr>
          <p:cNvPr id="19" name="S03-card54"/>
          <p:cNvSpPr/>
          <p:nvPr/>
        </p:nvSpPr>
        <p:spPr>
          <a:xfrm>
            <a:off x="5741060" y="1588008"/>
            <a:ext cx="5899252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0" name="S03-cardtext55"/>
          <p:cNvSpPr txBox="1"/>
          <p:nvPr/>
        </p:nvSpPr>
        <p:spPr>
          <a:xfrm>
            <a:off x="6015380" y="1725168"/>
            <a:ext cx="5350612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평행하고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합동인 두 면</a:t>
            </a:r>
            <a:endParaRPr lang="ko-KR" sz="2800" dirty="0"/>
          </a:p>
        </p:txBody>
      </p:sp>
      <p:sp>
        <p:nvSpPr>
          <p:cNvPr id="21" name="S03-card56"/>
          <p:cNvSpPr/>
          <p:nvPr/>
        </p:nvSpPr>
        <p:spPr>
          <a:xfrm>
            <a:off x="5741060" y="3337560"/>
            <a:ext cx="5899252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2" name="S03-cardtext57"/>
          <p:cNvSpPr txBox="1"/>
          <p:nvPr/>
        </p:nvSpPr>
        <p:spPr>
          <a:xfrm>
            <a:off x="6015380" y="3474720"/>
            <a:ext cx="5350612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밑면과 만나는 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직사각형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모서리, 꼭짓점, 높이</a:t>
            </a:r>
            <a:endParaRPr lang="ko-KR" sz="4000" dirty="0"/>
          </a:p>
        </p:txBody>
      </p:sp>
      <p:sp>
        <p:nvSpPr>
          <p:cNvPr id="3" name="S04-figure58" descr="오각기둥: 꼭짓점 하나에 점, 모서리 하나를 굵게, 두 밑면 사이에 높이 화살표"/>
          <p:cNvSpPr/>
          <p:nvPr/>
        </p:nvSpPr>
        <p:spPr>
          <a:xfrm flipH="1">
            <a:off x="1866473" y="4695444"/>
            <a:ext cx="1828800" cy="34290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4" name="S04-mark59"/>
          <p:cNvSpPr/>
          <p:nvPr/>
        </p:nvSpPr>
        <p:spPr>
          <a:xfrm flipH="1">
            <a:off x="1688165" y="5038344"/>
            <a:ext cx="178308" cy="553212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5" name="S04-mark60"/>
          <p:cNvSpPr/>
          <p:nvPr/>
        </p:nvSpPr>
        <p:spPr>
          <a:xfrm>
            <a:off x="3695273" y="4695444"/>
            <a:ext cx="953719" cy="34290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6" name="S04-mark61"/>
          <p:cNvSpPr/>
          <p:nvPr/>
        </p:nvSpPr>
        <p:spPr>
          <a:xfrm flipV="1">
            <a:off x="1866473" y="2295144"/>
            <a:ext cx="0" cy="274320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7" name="S04-mark62"/>
          <p:cNvSpPr/>
          <p:nvPr/>
        </p:nvSpPr>
        <p:spPr>
          <a:xfrm flipV="1">
            <a:off x="3695273" y="1952244"/>
            <a:ext cx="0" cy="274320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8" name="S04-mark63"/>
          <p:cNvSpPr/>
          <p:nvPr/>
        </p:nvSpPr>
        <p:spPr>
          <a:xfrm>
            <a:off x="1688165" y="5591556"/>
            <a:ext cx="171998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04-mark64"/>
          <p:cNvSpPr/>
          <p:nvPr/>
        </p:nvSpPr>
        <p:spPr>
          <a:xfrm flipV="1">
            <a:off x="3408152" y="5038344"/>
            <a:ext cx="1240841" cy="55321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0" name="S04-mark65"/>
          <p:cNvSpPr/>
          <p:nvPr/>
        </p:nvSpPr>
        <p:spPr>
          <a:xfrm flipH="1">
            <a:off x="1866473" y="1952244"/>
            <a:ext cx="1828800" cy="3429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04-mark66"/>
          <p:cNvSpPr/>
          <p:nvPr/>
        </p:nvSpPr>
        <p:spPr>
          <a:xfrm flipH="1">
            <a:off x="1688165" y="2295144"/>
            <a:ext cx="178308" cy="55321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2" name="S04-mark67"/>
          <p:cNvSpPr/>
          <p:nvPr/>
        </p:nvSpPr>
        <p:spPr>
          <a:xfrm>
            <a:off x="1688165" y="2848356"/>
            <a:ext cx="171998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04-mark68"/>
          <p:cNvSpPr/>
          <p:nvPr/>
        </p:nvSpPr>
        <p:spPr>
          <a:xfrm flipV="1">
            <a:off x="3408152" y="2295144"/>
            <a:ext cx="1240841" cy="55321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4" name="S04-mark69"/>
          <p:cNvSpPr/>
          <p:nvPr/>
        </p:nvSpPr>
        <p:spPr>
          <a:xfrm>
            <a:off x="3695273" y="1952244"/>
            <a:ext cx="953719" cy="3429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5" name="S04-mark70"/>
          <p:cNvSpPr/>
          <p:nvPr/>
        </p:nvSpPr>
        <p:spPr>
          <a:xfrm flipV="1">
            <a:off x="1688165" y="2848356"/>
            <a:ext cx="0" cy="27432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6" name="S04-mark71"/>
          <p:cNvSpPr/>
          <p:nvPr/>
        </p:nvSpPr>
        <p:spPr>
          <a:xfrm flipV="1">
            <a:off x="3408152" y="2848356"/>
            <a:ext cx="0" cy="27432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7" name="S04-mark72"/>
          <p:cNvSpPr/>
          <p:nvPr/>
        </p:nvSpPr>
        <p:spPr>
          <a:xfrm flipV="1">
            <a:off x="4648992" y="2295144"/>
            <a:ext cx="0" cy="27432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8" name="S04-mark73"/>
          <p:cNvSpPr/>
          <p:nvPr/>
        </p:nvSpPr>
        <p:spPr>
          <a:xfrm flipV="1">
            <a:off x="1688165" y="2848356"/>
            <a:ext cx="0" cy="2743200"/>
          </a:xfrm>
          <a:prstGeom prst="line">
            <a:avLst/>
          </a:prstGeom>
          <a:noFill/>
          <a:ln w="63500">
            <a:solidFill>
              <a:srgbClr val="E9762B"/>
            </a:solidFill>
            <a:prstDash val="solid"/>
          </a:ln>
        </p:spPr>
      </p:sp>
      <p:sp>
        <p:nvSpPr>
          <p:cNvPr id="19" name="S04-mark74"/>
          <p:cNvSpPr/>
          <p:nvPr/>
        </p:nvSpPr>
        <p:spPr>
          <a:xfrm flipV="1">
            <a:off x="5289072" y="2447849"/>
            <a:ext cx="0" cy="274320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headEnd type="triangle"/>
            <a:tailEnd type="triangle"/>
          </a:ln>
        </p:spPr>
      </p:sp>
      <p:sp>
        <p:nvSpPr>
          <p:cNvPr id="20" name="S04-label76"/>
          <p:cNvSpPr txBox="1"/>
          <p:nvPr/>
        </p:nvSpPr>
        <p:spPr>
          <a:xfrm>
            <a:off x="5318028" y="3644824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</a:t>
            </a:r>
            <a:endParaRPr lang="ko-KR" sz="2200" dirty="0"/>
          </a:p>
        </p:txBody>
      </p:sp>
      <p:sp>
        <p:nvSpPr>
          <p:cNvPr id="21" name="S04-mark77"/>
          <p:cNvSpPr/>
          <p:nvPr/>
        </p:nvSpPr>
        <p:spPr>
          <a:xfrm>
            <a:off x="3348716" y="2788920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4-label79"/>
          <p:cNvSpPr txBox="1"/>
          <p:nvPr/>
        </p:nvSpPr>
        <p:spPr>
          <a:xfrm>
            <a:off x="2119610" y="3085211"/>
            <a:ext cx="93116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</a:t>
            </a:r>
            <a:endParaRPr lang="ko-KR" sz="2200" dirty="0"/>
          </a:p>
        </p:txBody>
      </p:sp>
      <p:sp>
        <p:nvSpPr>
          <p:cNvPr id="23" name="S04-label81"/>
          <p:cNvSpPr txBox="1"/>
          <p:nvPr/>
        </p:nvSpPr>
        <p:spPr>
          <a:xfrm>
            <a:off x="491063" y="4045331"/>
            <a:ext cx="93116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모서리</a:t>
            </a:r>
            <a:endParaRPr lang="ko-KR" sz="2200" dirty="0"/>
          </a:p>
        </p:txBody>
      </p:sp>
      <p:sp>
        <p:nvSpPr>
          <p:cNvPr id="24" name="S04-card82"/>
          <p:cNvSpPr/>
          <p:nvPr/>
        </p:nvSpPr>
        <p:spPr>
          <a:xfrm>
            <a:off x="6062838" y="1602740"/>
            <a:ext cx="5577474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5" name="S04-cardtext83"/>
          <p:cNvSpPr txBox="1"/>
          <p:nvPr/>
        </p:nvSpPr>
        <p:spPr>
          <a:xfrm>
            <a:off x="6337158" y="1739900"/>
            <a:ext cx="5028834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모서리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면과 면이 만나는 선분</a:t>
            </a:r>
            <a:endParaRPr lang="ko-KR" sz="2800" dirty="0"/>
          </a:p>
        </p:txBody>
      </p:sp>
      <p:sp>
        <p:nvSpPr>
          <p:cNvPr id="26" name="S04-card84"/>
          <p:cNvSpPr/>
          <p:nvPr/>
        </p:nvSpPr>
        <p:spPr>
          <a:xfrm>
            <a:off x="6062838" y="3011424"/>
            <a:ext cx="5577474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7" name="S04-cardtext85"/>
          <p:cNvSpPr txBox="1"/>
          <p:nvPr/>
        </p:nvSpPr>
        <p:spPr>
          <a:xfrm>
            <a:off x="6337158" y="3148584"/>
            <a:ext cx="502883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모서리와 모서리가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만나는 점</a:t>
            </a:r>
            <a:endParaRPr lang="ko-KR" sz="2800" dirty="0"/>
          </a:p>
        </p:txBody>
      </p:sp>
      <p:sp>
        <p:nvSpPr>
          <p:cNvPr id="28" name="S04-card86"/>
          <p:cNvSpPr/>
          <p:nvPr/>
        </p:nvSpPr>
        <p:spPr>
          <a:xfrm>
            <a:off x="6062838" y="4760976"/>
            <a:ext cx="5577474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9" name="S04-cardtext87"/>
          <p:cNvSpPr txBox="1"/>
          <p:nvPr/>
        </p:nvSpPr>
        <p:spPr>
          <a:xfrm>
            <a:off x="6337158" y="4898136"/>
            <a:ext cx="5028834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밑면 사이의 거리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면, 모서리, 꼭짓점의 수</a:t>
            </a:r>
            <a:endParaRPr lang="ko-KR" sz="4000" dirty="0"/>
          </a:p>
        </p:txBody>
      </p:sp>
      <p:sp>
        <p:nvSpPr>
          <p:cNvPr id="3" name="S05-text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겨냥도를 보며 세고 규칙을 찾아요.</a:t>
            </a:r>
            <a:endParaRPr lang="ko-KR" sz="2800" dirty="0"/>
          </a:p>
        </p:txBody>
      </p:sp>
      <p:sp>
        <p:nvSpPr>
          <p:cNvPr id="4" name="S05-card89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90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 = (변의 수) + 2, 모서리 = (변의 수) × 3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 = (한 밑면의 변의 수) × 2</a:t>
            </a:r>
            <a:endParaRPr lang="ko-KR" sz="2800" dirty="0"/>
          </a:p>
        </p:txBody>
      </p:sp>
      <p:graphicFrame>
        <p:nvGraphicFramePr>
          <p:cNvPr id="6" name="S05-table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129028"/>
          <a:ext cx="10058400" cy="914400"/>
        </p:xfrm>
        <a:graphic>
          <a:graphicData uri="http://schemas.openxmlformats.org/drawingml/2006/table">
            <a:tbl>
              <a:tblPr/>
              <a:tblGrid>
                <a:gridCol w="2816352"/>
                <a:gridCol w="1810512"/>
                <a:gridCol w="1810512"/>
                <a:gridCol w="1810512"/>
                <a:gridCol w="1810512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삼각기둥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사각기둥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오각기둥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육각기둥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밑면의 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면의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모서리의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꼭짓점의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개일까요? 무엇일까요?</a:t>
            </a:r>
            <a:endParaRPr lang="ko-KR" sz="4000" dirty="0"/>
          </a:p>
        </p:txBody>
      </p:sp>
      <p:sp>
        <p:nvSpPr>
          <p:cNvPr id="3" name="S06-card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밑면의 변의 수를 먼저 찾아요.</a:t>
            </a:r>
            <a:endParaRPr lang="ko-KR" sz="2800" dirty="0"/>
          </a:p>
        </p:txBody>
      </p:sp>
      <p:sp>
        <p:nvSpPr>
          <p:cNvPr id="5" name="S06-chip9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6-text95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칠각기둥의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모서리의 수</a:t>
            </a:r>
            <a:endParaRPr lang="ko-KR" sz="2800" dirty="0"/>
          </a:p>
        </p:txBody>
      </p:sp>
      <p:sp>
        <p:nvSpPr>
          <p:cNvPr id="7" name="S06-chip96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6-text97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구각기둥의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꼭짓점의 수</a:t>
            </a:r>
            <a:endParaRPr lang="ko-KR" sz="2800" dirty="0"/>
          </a:p>
        </p:txBody>
      </p:sp>
      <p:sp>
        <p:nvSpPr>
          <p:cNvPr id="9" name="S06-chip98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6-text99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꼭짓점이 16개인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각기둥의 이름</a:t>
            </a:r>
            <a:endParaRPr lang="ko-KR" sz="2800" dirty="0"/>
          </a:p>
        </p:txBody>
      </p:sp>
      <p:sp>
        <p:nvSpPr>
          <p:cNvPr id="11" name="S06-chip100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2" name="S06-text101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면이 9개인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각기둥의 이름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각뿔</a:t>
            </a:r>
            <a:endParaRPr lang="ko-KR" sz="4000" dirty="0"/>
          </a:p>
        </p:txBody>
      </p:sp>
      <p:sp>
        <p:nvSpPr>
          <p:cNvPr id="3" name="S07-card1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1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높이: 각뿔의 꼭짓점에서 밑면에 수직으로 그은 파란 점선의 길이</a:t>
            </a:r>
            <a:endParaRPr lang="ko-KR" sz="2800" dirty="0"/>
          </a:p>
        </p:txBody>
      </p:sp>
      <p:sp>
        <p:nvSpPr>
          <p:cNvPr id="5" name="S07-figure104" descr="사각뿔의 겨냥도: 밑면(사각형) 색칠, 각뿔의 꼭짓점에 점, 꼭짓점에서 밑면까지 높이(파란 점선)"/>
          <p:cNvSpPr/>
          <p:nvPr/>
        </p:nvSpPr>
        <p:spPr>
          <a:xfrm>
            <a:off x="1188355" y="4015340"/>
            <a:ext cx="3225453" cy="761782"/>
          </a:xfrm>
          <a:custGeom>
            <a:avLst/>
            <a:gdLst/>
            <a:ahLst/>
            <a:cxnLst/>
            <a:rect l="l" t="t" r="r" b="b"/>
            <a:pathLst>
              <a:path w="3225453" h="761782">
                <a:moveTo>
                  <a:pt x="0" y="761782"/>
                </a:moveTo>
                <a:lnTo>
                  <a:pt x="2250719" y="761782"/>
                </a:lnTo>
                <a:lnTo>
                  <a:pt x="3225453" y="0"/>
                </a:lnTo>
                <a:lnTo>
                  <a:pt x="974734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dash"/>
          </a:ln>
        </p:spPr>
      </p:sp>
      <p:sp>
        <p:nvSpPr>
          <p:cNvPr id="6" name="S07-mark105"/>
          <p:cNvSpPr/>
          <p:nvPr/>
        </p:nvSpPr>
        <p:spPr>
          <a:xfrm>
            <a:off x="2801082" y="1799247"/>
            <a:ext cx="0" cy="2596983"/>
          </a:xfrm>
          <a:prstGeom prst="line">
            <a:avLst/>
          </a:prstGeom>
          <a:noFill/>
          <a:ln w="31750">
            <a:solidFill>
              <a:srgbClr val="3D5A80"/>
            </a:solidFill>
            <a:prstDash val="dash"/>
          </a:ln>
        </p:spPr>
      </p:sp>
      <p:sp>
        <p:nvSpPr>
          <p:cNvPr id="7" name="S07-mark106"/>
          <p:cNvSpPr/>
          <p:nvPr/>
        </p:nvSpPr>
        <p:spPr>
          <a:xfrm flipH="1">
            <a:off x="2163089" y="4015340"/>
            <a:ext cx="2250719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8" name="S07-mark107"/>
          <p:cNvSpPr/>
          <p:nvPr/>
        </p:nvSpPr>
        <p:spPr>
          <a:xfrm flipV="1">
            <a:off x="1188355" y="4015340"/>
            <a:ext cx="974734" cy="761782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9" name="S07-mark108"/>
          <p:cNvSpPr/>
          <p:nvPr/>
        </p:nvSpPr>
        <p:spPr>
          <a:xfrm flipV="1">
            <a:off x="2163089" y="1799247"/>
            <a:ext cx="637992" cy="2216092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10" name="S07-mark109"/>
          <p:cNvSpPr/>
          <p:nvPr/>
        </p:nvSpPr>
        <p:spPr>
          <a:xfrm>
            <a:off x="1188355" y="4777122"/>
            <a:ext cx="2250719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07-mark110"/>
          <p:cNvSpPr/>
          <p:nvPr/>
        </p:nvSpPr>
        <p:spPr>
          <a:xfrm flipV="1">
            <a:off x="3439074" y="4015340"/>
            <a:ext cx="974734" cy="76178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2" name="S07-mark111"/>
          <p:cNvSpPr/>
          <p:nvPr/>
        </p:nvSpPr>
        <p:spPr>
          <a:xfrm flipH="1" flipV="1">
            <a:off x="2801082" y="1799247"/>
            <a:ext cx="637992" cy="2977874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07-mark112"/>
          <p:cNvSpPr/>
          <p:nvPr/>
        </p:nvSpPr>
        <p:spPr>
          <a:xfrm flipV="1">
            <a:off x="1188355" y="1799247"/>
            <a:ext cx="1612727" cy="2977874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4" name="S07-mark113"/>
          <p:cNvSpPr/>
          <p:nvPr/>
        </p:nvSpPr>
        <p:spPr>
          <a:xfrm flipH="1" flipV="1">
            <a:off x="2801082" y="1799247"/>
            <a:ext cx="1612727" cy="221609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5" name="S07-mark114"/>
          <p:cNvSpPr/>
          <p:nvPr/>
        </p:nvSpPr>
        <p:spPr>
          <a:xfrm>
            <a:off x="2741646" y="1739811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7-label116"/>
          <p:cNvSpPr txBox="1"/>
          <p:nvPr/>
        </p:nvSpPr>
        <p:spPr>
          <a:xfrm>
            <a:off x="1882872" y="1235075"/>
            <a:ext cx="183642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각뿔의 꼭짓점</a:t>
            </a:r>
            <a:endParaRPr lang="ko-KR" sz="2200" dirty="0"/>
          </a:p>
        </p:txBody>
      </p:sp>
      <p:sp>
        <p:nvSpPr>
          <p:cNvPr id="17" name="S07-label118"/>
          <p:cNvSpPr txBox="1"/>
          <p:nvPr/>
        </p:nvSpPr>
        <p:spPr>
          <a:xfrm>
            <a:off x="3759644" y="486219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</a:t>
            </a:r>
            <a:endParaRPr lang="ko-KR" sz="2200" dirty="0"/>
          </a:p>
        </p:txBody>
      </p:sp>
      <p:sp>
        <p:nvSpPr>
          <p:cNvPr id="18" name="S07-label120"/>
          <p:cNvSpPr txBox="1"/>
          <p:nvPr/>
        </p:nvSpPr>
        <p:spPr>
          <a:xfrm>
            <a:off x="3309500" y="3442511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</a:t>
            </a:r>
            <a:endParaRPr lang="ko-KR" sz="2200" dirty="0"/>
          </a:p>
        </p:txBody>
      </p:sp>
      <p:sp>
        <p:nvSpPr>
          <p:cNvPr id="19" name="S07-card121"/>
          <p:cNvSpPr/>
          <p:nvPr/>
        </p:nvSpPr>
        <p:spPr>
          <a:xfrm>
            <a:off x="5419283" y="1527556"/>
            <a:ext cx="6221029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0" name="S07-cardtext122"/>
          <p:cNvSpPr txBox="1"/>
          <p:nvPr/>
        </p:nvSpPr>
        <p:spPr>
          <a:xfrm>
            <a:off x="5693603" y="1664716"/>
            <a:ext cx="56723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밑면: 아래에 있는 다각형 1개</a:t>
            </a:r>
            <a:endParaRPr lang="ko-KR" sz="2800" dirty="0"/>
          </a:p>
        </p:txBody>
      </p:sp>
      <p:sp>
        <p:nvSpPr>
          <p:cNvPr id="21" name="S07-card123"/>
          <p:cNvSpPr/>
          <p:nvPr/>
        </p:nvSpPr>
        <p:spPr>
          <a:xfrm>
            <a:off x="5419283" y="2624836"/>
            <a:ext cx="6221029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2" name="S07-cardtext124"/>
          <p:cNvSpPr txBox="1"/>
          <p:nvPr/>
        </p:nvSpPr>
        <p:spPr>
          <a:xfrm>
            <a:off x="5693603" y="2761996"/>
            <a:ext cx="56723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옆면: 한 점에서 만나는 삼각형</a:t>
            </a:r>
            <a:endParaRPr lang="ko-KR" sz="2800" dirty="0"/>
          </a:p>
        </p:txBody>
      </p:sp>
      <p:sp>
        <p:nvSpPr>
          <p:cNvPr id="23" name="S07-card125"/>
          <p:cNvSpPr/>
          <p:nvPr/>
        </p:nvSpPr>
        <p:spPr>
          <a:xfrm>
            <a:off x="5419283" y="3722116"/>
            <a:ext cx="6221029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4" name="S07-cardtext126"/>
          <p:cNvSpPr txBox="1"/>
          <p:nvPr/>
        </p:nvSpPr>
        <p:spPr>
          <a:xfrm>
            <a:off x="5693603" y="3859276"/>
            <a:ext cx="5672389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각뿔의 꼭짓점: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옆면이 모두 만나는 점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각뿔의 수를 세어요</a:t>
            </a:r>
            <a:endParaRPr lang="ko-KR" sz="4000" dirty="0"/>
          </a:p>
        </p:txBody>
      </p:sp>
      <p:sp>
        <p:nvSpPr>
          <p:cNvPr id="3" name="S08-text1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밑면의 모양에 따라 삼각뿔, 사각뿔 …이에요.</a:t>
            </a:r>
            <a:endParaRPr lang="ko-KR" sz="2800" dirty="0"/>
          </a:p>
        </p:txBody>
      </p:sp>
      <p:sp>
        <p:nvSpPr>
          <p:cNvPr id="4" name="S08-card1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규칙을 찾아 빈칸을 채우고, 각기둥과 무엇이 다른지 말해요.</a:t>
            </a:r>
            <a:endParaRPr lang="ko-KR" sz="2800" dirty="0"/>
          </a:p>
        </p:txBody>
      </p:sp>
      <p:graphicFrame>
        <p:nvGraphicFramePr>
          <p:cNvPr id="9" name="S08-table1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284730"/>
          <a:ext cx="10058400" cy="914400"/>
        </p:xfrm>
        <a:graphic>
          <a:graphicData uri="http://schemas.openxmlformats.org/drawingml/2006/table">
            <a:tbl>
              <a:tblPr/>
              <a:tblGrid>
                <a:gridCol w="2816352"/>
                <a:gridCol w="1810512"/>
                <a:gridCol w="1810512"/>
                <a:gridCol w="1810512"/>
                <a:gridCol w="1810512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삼각뿔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사각뿔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오각뿔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육각뿔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밑면의 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면의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모서리의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꼭짓점의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눕혀 놓은 각기둥</a:t>
            </a:r>
            <a:endParaRPr lang="ko-KR" sz="4000" dirty="0"/>
          </a:p>
        </p:txBody>
      </p:sp>
      <p:sp>
        <p:nvSpPr>
          <p:cNvPr id="3" name="S09-figure131" descr="눕혀 놓은 삼각기둥: 앞 삼각형 면 가(색칠), 오른쪽 위 직사각형 면 나, 바닥에 닿은 직사각형 면 다"/>
          <p:cNvSpPr/>
          <p:nvPr/>
        </p:nvSpPr>
        <p:spPr>
          <a:xfrm>
            <a:off x="6893662" y="3239262"/>
            <a:ext cx="2743200" cy="1645920"/>
          </a:xfrm>
          <a:custGeom>
            <a:avLst/>
            <a:gdLst/>
            <a:ahLst/>
            <a:cxnLst/>
            <a:rect l="l" t="t" r="r" b="b"/>
            <a:pathLst>
              <a:path w="2743200" h="1645920">
                <a:moveTo>
                  <a:pt x="0" y="1645920"/>
                </a:moveTo>
                <a:lnTo>
                  <a:pt x="2743200" y="1645920"/>
                </a:lnTo>
                <a:lnTo>
                  <a:pt x="137160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" name="S09-mark132"/>
          <p:cNvSpPr/>
          <p:nvPr/>
        </p:nvSpPr>
        <p:spPr>
          <a:xfrm>
            <a:off x="8280806" y="3801618"/>
            <a:ext cx="27432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5" name="S09-mark133"/>
          <p:cNvSpPr/>
          <p:nvPr/>
        </p:nvSpPr>
        <p:spPr>
          <a:xfrm flipV="1">
            <a:off x="8280806" y="2155698"/>
            <a:ext cx="1371600" cy="164592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6" name="S09-mark134"/>
          <p:cNvSpPr/>
          <p:nvPr/>
        </p:nvSpPr>
        <p:spPr>
          <a:xfrm flipV="1">
            <a:off x="6893662" y="3801618"/>
            <a:ext cx="1387145" cy="1083564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7" name="S09-mark135"/>
          <p:cNvSpPr/>
          <p:nvPr/>
        </p:nvSpPr>
        <p:spPr>
          <a:xfrm>
            <a:off x="6893662" y="4885182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9-mark136"/>
          <p:cNvSpPr/>
          <p:nvPr/>
        </p:nvSpPr>
        <p:spPr>
          <a:xfrm flipH="1" flipV="1">
            <a:off x="8265262" y="3239262"/>
            <a:ext cx="1371600" cy="164592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09-mark137"/>
          <p:cNvSpPr/>
          <p:nvPr/>
        </p:nvSpPr>
        <p:spPr>
          <a:xfrm flipV="1">
            <a:off x="6893662" y="3239262"/>
            <a:ext cx="1371600" cy="164592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0" name="S09-mark138"/>
          <p:cNvSpPr/>
          <p:nvPr/>
        </p:nvSpPr>
        <p:spPr>
          <a:xfrm flipH="1" flipV="1">
            <a:off x="9652406" y="2155698"/>
            <a:ext cx="1371600" cy="164592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09-mark139"/>
          <p:cNvSpPr/>
          <p:nvPr/>
        </p:nvSpPr>
        <p:spPr>
          <a:xfrm flipV="1">
            <a:off x="9636862" y="3801618"/>
            <a:ext cx="1387145" cy="1083564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2" name="S09-mark140"/>
          <p:cNvSpPr/>
          <p:nvPr/>
        </p:nvSpPr>
        <p:spPr>
          <a:xfrm flipV="1">
            <a:off x="8265262" y="2155698"/>
            <a:ext cx="1387145" cy="1083564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09-label142"/>
          <p:cNvSpPr txBox="1"/>
          <p:nvPr/>
        </p:nvSpPr>
        <p:spPr>
          <a:xfrm>
            <a:off x="8073492" y="4161917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14" name="S09-label144"/>
          <p:cNvSpPr txBox="1"/>
          <p:nvPr/>
        </p:nvSpPr>
        <p:spPr>
          <a:xfrm>
            <a:off x="9636201" y="2934792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5" name="S09-label146"/>
          <p:cNvSpPr txBox="1"/>
          <p:nvPr/>
        </p:nvSpPr>
        <p:spPr>
          <a:xfrm>
            <a:off x="8272120" y="5213477"/>
            <a:ext cx="12664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다(바닥)</a:t>
            </a:r>
            <a:endParaRPr lang="ko-KR" sz="2200" dirty="0"/>
          </a:p>
        </p:txBody>
      </p:sp>
      <p:sp>
        <p:nvSpPr>
          <p:cNvPr id="16" name="S09-chip14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7" name="S09-text14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입체도형의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이름은?</a:t>
            </a:r>
            <a:endParaRPr lang="ko-KR" sz="2800" dirty="0"/>
          </a:p>
        </p:txBody>
      </p:sp>
      <p:sp>
        <p:nvSpPr>
          <p:cNvPr id="18" name="S09-chip14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9" name="S09-text150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밑면은 가, 나, 다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 어느 것?</a:t>
            </a:r>
            <a:endParaRPr lang="ko-KR" sz="2800" dirty="0"/>
          </a:p>
        </p:txBody>
      </p:sp>
      <p:sp>
        <p:nvSpPr>
          <p:cNvPr id="20" name="S09-chip15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1" name="S09-text152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바닥에 닿은 다는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삼각기둥의 전개도</a:t>
            </a:r>
            <a:endParaRPr lang="ko-KR" sz="4000" dirty="0"/>
          </a:p>
        </p:txBody>
      </p:sp>
      <p:sp>
        <p:nvSpPr>
          <p:cNvPr id="3" name="S10-mark153"/>
          <p:cNvSpPr/>
          <p:nvPr/>
        </p:nvSpPr>
        <p:spPr>
          <a:xfrm>
            <a:off x="1257398" y="3398422"/>
            <a:ext cx="1120434" cy="746956"/>
          </a:xfrm>
          <a:custGeom>
            <a:avLst/>
            <a:gdLst/>
            <a:ahLst/>
            <a:cxnLst/>
            <a:rect l="l" t="t" r="r" b="b"/>
            <a:pathLst>
              <a:path w="1120434" h="746956">
                <a:moveTo>
                  <a:pt x="0" y="746956"/>
                </a:moveTo>
                <a:lnTo>
                  <a:pt x="1120434" y="746956"/>
                </a:lnTo>
                <a:lnTo>
                  <a:pt x="1120434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4" name="S10-mark154"/>
          <p:cNvSpPr/>
          <p:nvPr/>
        </p:nvSpPr>
        <p:spPr>
          <a:xfrm>
            <a:off x="2377832" y="3398422"/>
            <a:ext cx="1493912" cy="746956"/>
          </a:xfrm>
          <a:custGeom>
            <a:avLst/>
            <a:gdLst/>
            <a:ahLst/>
            <a:cxnLst/>
            <a:rect l="l" t="t" r="r" b="b"/>
            <a:pathLst>
              <a:path w="1493912" h="746956">
                <a:moveTo>
                  <a:pt x="0" y="746956"/>
                </a:moveTo>
                <a:lnTo>
                  <a:pt x="1493912" y="746956"/>
                </a:lnTo>
                <a:lnTo>
                  <a:pt x="14939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" name="S10-mark155"/>
          <p:cNvSpPr/>
          <p:nvPr/>
        </p:nvSpPr>
        <p:spPr>
          <a:xfrm>
            <a:off x="3871744" y="3398422"/>
            <a:ext cx="1867390" cy="746956"/>
          </a:xfrm>
          <a:custGeom>
            <a:avLst/>
            <a:gdLst/>
            <a:ahLst/>
            <a:cxnLst/>
            <a:rect l="l" t="t" r="r" b="b"/>
            <a:pathLst>
              <a:path w="1867390" h="746956">
                <a:moveTo>
                  <a:pt x="0" y="746956"/>
                </a:moveTo>
                <a:lnTo>
                  <a:pt x="1867390" y="746956"/>
                </a:lnTo>
                <a:lnTo>
                  <a:pt x="186739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6" name="S10-mark156"/>
          <p:cNvSpPr/>
          <p:nvPr/>
        </p:nvSpPr>
        <p:spPr>
          <a:xfrm>
            <a:off x="2377832" y="2277988"/>
            <a:ext cx="1493912" cy="1120434"/>
          </a:xfrm>
          <a:custGeom>
            <a:avLst/>
            <a:gdLst/>
            <a:ahLst/>
            <a:cxnLst/>
            <a:rect l="l" t="t" r="r" b="b"/>
            <a:pathLst>
              <a:path w="1493912" h="1120434">
                <a:moveTo>
                  <a:pt x="0" y="1120434"/>
                </a:moveTo>
                <a:lnTo>
                  <a:pt x="1493912" y="1120434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/>
        </p:spPr>
      </p:sp>
      <p:sp>
        <p:nvSpPr>
          <p:cNvPr id="7" name="S10-mark157"/>
          <p:cNvSpPr/>
          <p:nvPr/>
        </p:nvSpPr>
        <p:spPr>
          <a:xfrm>
            <a:off x="2377832" y="4145378"/>
            <a:ext cx="1493912" cy="1120434"/>
          </a:xfrm>
          <a:custGeom>
            <a:avLst/>
            <a:gdLst/>
            <a:ahLst/>
            <a:cxnLst/>
            <a:rect l="l" t="t" r="r" b="b"/>
            <a:pathLst>
              <a:path w="1493912" h="1120434">
                <a:moveTo>
                  <a:pt x="0" y="0"/>
                </a:moveTo>
                <a:lnTo>
                  <a:pt x="1493912" y="0"/>
                </a:lnTo>
                <a:lnTo>
                  <a:pt x="0" y="1120434"/>
                </a:lnTo>
                <a:close/>
              </a:path>
            </a:pathLst>
          </a:custGeom>
          <a:solidFill>
            <a:srgbClr val="E9762B"/>
          </a:solidFill>
          <a:ln/>
        </p:spPr>
      </p:sp>
      <p:sp>
        <p:nvSpPr>
          <p:cNvPr id="8" name="S10-mark158"/>
          <p:cNvSpPr/>
          <p:nvPr/>
        </p:nvSpPr>
        <p:spPr>
          <a:xfrm flipV="1">
            <a:off x="883920" y="1904510"/>
            <a:ext cx="0" cy="37347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0-mark159"/>
          <p:cNvSpPr/>
          <p:nvPr/>
        </p:nvSpPr>
        <p:spPr>
          <a:xfrm flipV="1">
            <a:off x="1257398" y="1904510"/>
            <a:ext cx="0" cy="37347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0-mark160"/>
          <p:cNvSpPr/>
          <p:nvPr/>
        </p:nvSpPr>
        <p:spPr>
          <a:xfrm flipV="1">
            <a:off x="1630876" y="1904510"/>
            <a:ext cx="0" cy="37347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0-mark161"/>
          <p:cNvSpPr/>
          <p:nvPr/>
        </p:nvSpPr>
        <p:spPr>
          <a:xfrm flipV="1">
            <a:off x="2004354" y="1904510"/>
            <a:ext cx="0" cy="37347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0-mark162"/>
          <p:cNvSpPr/>
          <p:nvPr/>
        </p:nvSpPr>
        <p:spPr>
          <a:xfrm flipV="1">
            <a:off x="2377832" y="1904510"/>
            <a:ext cx="0" cy="37347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0-mark163"/>
          <p:cNvSpPr/>
          <p:nvPr/>
        </p:nvSpPr>
        <p:spPr>
          <a:xfrm flipV="1">
            <a:off x="2751310" y="1904510"/>
            <a:ext cx="0" cy="37347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0-mark164"/>
          <p:cNvSpPr/>
          <p:nvPr/>
        </p:nvSpPr>
        <p:spPr>
          <a:xfrm flipV="1">
            <a:off x="3124788" y="1904510"/>
            <a:ext cx="0" cy="37347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0-mark165"/>
          <p:cNvSpPr/>
          <p:nvPr/>
        </p:nvSpPr>
        <p:spPr>
          <a:xfrm flipV="1">
            <a:off x="3498266" y="1904510"/>
            <a:ext cx="0" cy="37347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0-mark166"/>
          <p:cNvSpPr/>
          <p:nvPr/>
        </p:nvSpPr>
        <p:spPr>
          <a:xfrm flipV="1">
            <a:off x="3871744" y="1904510"/>
            <a:ext cx="0" cy="37347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0-mark167"/>
          <p:cNvSpPr/>
          <p:nvPr/>
        </p:nvSpPr>
        <p:spPr>
          <a:xfrm flipV="1">
            <a:off x="4245222" y="1904510"/>
            <a:ext cx="0" cy="37347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0-mark168"/>
          <p:cNvSpPr/>
          <p:nvPr/>
        </p:nvSpPr>
        <p:spPr>
          <a:xfrm flipV="1">
            <a:off x="4618700" y="1904510"/>
            <a:ext cx="0" cy="37347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0-mark169"/>
          <p:cNvSpPr/>
          <p:nvPr/>
        </p:nvSpPr>
        <p:spPr>
          <a:xfrm flipV="1">
            <a:off x="4992178" y="1904510"/>
            <a:ext cx="0" cy="37347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0-mark170"/>
          <p:cNvSpPr/>
          <p:nvPr/>
        </p:nvSpPr>
        <p:spPr>
          <a:xfrm flipV="1">
            <a:off x="5365656" y="1904510"/>
            <a:ext cx="0" cy="37347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10-mark171"/>
          <p:cNvSpPr/>
          <p:nvPr/>
        </p:nvSpPr>
        <p:spPr>
          <a:xfrm flipV="1">
            <a:off x="5739134" y="1904510"/>
            <a:ext cx="0" cy="37347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10-mark172"/>
          <p:cNvSpPr/>
          <p:nvPr/>
        </p:nvSpPr>
        <p:spPr>
          <a:xfrm flipV="1">
            <a:off x="6112612" y="1904510"/>
            <a:ext cx="0" cy="37347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10-mark173"/>
          <p:cNvSpPr/>
          <p:nvPr/>
        </p:nvSpPr>
        <p:spPr>
          <a:xfrm>
            <a:off x="883920" y="5639290"/>
            <a:ext cx="52286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10-mark174"/>
          <p:cNvSpPr/>
          <p:nvPr/>
        </p:nvSpPr>
        <p:spPr>
          <a:xfrm>
            <a:off x="883920" y="5265812"/>
            <a:ext cx="52286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10-mark175"/>
          <p:cNvSpPr/>
          <p:nvPr/>
        </p:nvSpPr>
        <p:spPr>
          <a:xfrm>
            <a:off x="883920" y="4892334"/>
            <a:ext cx="52286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10-mark176"/>
          <p:cNvSpPr/>
          <p:nvPr/>
        </p:nvSpPr>
        <p:spPr>
          <a:xfrm>
            <a:off x="883920" y="4518856"/>
            <a:ext cx="52286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10-mark177"/>
          <p:cNvSpPr/>
          <p:nvPr/>
        </p:nvSpPr>
        <p:spPr>
          <a:xfrm>
            <a:off x="883920" y="4145378"/>
            <a:ext cx="52286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10-mark178"/>
          <p:cNvSpPr/>
          <p:nvPr/>
        </p:nvSpPr>
        <p:spPr>
          <a:xfrm>
            <a:off x="883920" y="3771900"/>
            <a:ext cx="52286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10-mark179"/>
          <p:cNvSpPr/>
          <p:nvPr/>
        </p:nvSpPr>
        <p:spPr>
          <a:xfrm>
            <a:off x="883920" y="3398422"/>
            <a:ext cx="52286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10-mark180"/>
          <p:cNvSpPr/>
          <p:nvPr/>
        </p:nvSpPr>
        <p:spPr>
          <a:xfrm>
            <a:off x="883920" y="3024944"/>
            <a:ext cx="52286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10-mark181"/>
          <p:cNvSpPr/>
          <p:nvPr/>
        </p:nvSpPr>
        <p:spPr>
          <a:xfrm>
            <a:off x="883920" y="2651466"/>
            <a:ext cx="52286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10-mark182"/>
          <p:cNvSpPr/>
          <p:nvPr/>
        </p:nvSpPr>
        <p:spPr>
          <a:xfrm>
            <a:off x="883920" y="2277988"/>
            <a:ext cx="52286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10-mark183"/>
          <p:cNvSpPr/>
          <p:nvPr/>
        </p:nvSpPr>
        <p:spPr>
          <a:xfrm>
            <a:off x="883920" y="1904510"/>
            <a:ext cx="52286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10-figure184" descr="모눈 위 삼각기둥의 전개도: 가로 3 cm, 4 cm, 5 cm, 세로 2 cm인 직사각형 옆면 3개와 그 위아래에 세 변이 3 cm, 4 cm, 5 cm인 삼각형 밑면 2개. 접으면 만나는 두 선분을 파랗게 표시"/>
          <p:cNvSpPr/>
          <p:nvPr/>
        </p:nvSpPr>
        <p:spPr>
          <a:xfrm>
            <a:off x="1257398" y="3398422"/>
            <a:ext cx="1120434" cy="746956"/>
          </a:xfrm>
          <a:custGeom>
            <a:avLst/>
            <a:gdLst/>
            <a:ahLst/>
            <a:cxnLst/>
            <a:rect l="l" t="t" r="r" b="b"/>
            <a:pathLst>
              <a:path w="1120434" h="746956">
                <a:moveTo>
                  <a:pt x="0" y="746956"/>
                </a:moveTo>
                <a:lnTo>
                  <a:pt x="1120434" y="746956"/>
                </a:lnTo>
                <a:lnTo>
                  <a:pt x="1120434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5" name="S10-mark185"/>
          <p:cNvSpPr/>
          <p:nvPr/>
        </p:nvSpPr>
        <p:spPr>
          <a:xfrm>
            <a:off x="2377832" y="3398422"/>
            <a:ext cx="1493912" cy="746956"/>
          </a:xfrm>
          <a:custGeom>
            <a:avLst/>
            <a:gdLst/>
            <a:ahLst/>
            <a:cxnLst/>
            <a:rect l="l" t="t" r="r" b="b"/>
            <a:pathLst>
              <a:path w="1493912" h="746956">
                <a:moveTo>
                  <a:pt x="0" y="746956"/>
                </a:moveTo>
                <a:lnTo>
                  <a:pt x="1493912" y="746956"/>
                </a:lnTo>
                <a:lnTo>
                  <a:pt x="1493912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6" name="S10-mark186"/>
          <p:cNvSpPr/>
          <p:nvPr/>
        </p:nvSpPr>
        <p:spPr>
          <a:xfrm>
            <a:off x="3871744" y="3398422"/>
            <a:ext cx="1867390" cy="746956"/>
          </a:xfrm>
          <a:custGeom>
            <a:avLst/>
            <a:gdLst/>
            <a:ahLst/>
            <a:cxnLst/>
            <a:rect l="l" t="t" r="r" b="b"/>
            <a:pathLst>
              <a:path w="1867390" h="746956">
                <a:moveTo>
                  <a:pt x="0" y="746956"/>
                </a:moveTo>
                <a:lnTo>
                  <a:pt x="1867390" y="746956"/>
                </a:lnTo>
                <a:lnTo>
                  <a:pt x="186739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7" name="S10-mark187"/>
          <p:cNvSpPr/>
          <p:nvPr/>
        </p:nvSpPr>
        <p:spPr>
          <a:xfrm>
            <a:off x="2377832" y="2277988"/>
            <a:ext cx="1493912" cy="1120434"/>
          </a:xfrm>
          <a:custGeom>
            <a:avLst/>
            <a:gdLst/>
            <a:ahLst/>
            <a:cxnLst/>
            <a:rect l="l" t="t" r="r" b="b"/>
            <a:pathLst>
              <a:path w="1493912" h="1120434">
                <a:moveTo>
                  <a:pt x="0" y="1120434"/>
                </a:moveTo>
                <a:lnTo>
                  <a:pt x="1493912" y="1120434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8" name="S10-mark188"/>
          <p:cNvSpPr/>
          <p:nvPr/>
        </p:nvSpPr>
        <p:spPr>
          <a:xfrm>
            <a:off x="2377832" y="4145378"/>
            <a:ext cx="1493912" cy="1120434"/>
          </a:xfrm>
          <a:custGeom>
            <a:avLst/>
            <a:gdLst/>
            <a:ahLst/>
            <a:cxnLst/>
            <a:rect l="l" t="t" r="r" b="b"/>
            <a:pathLst>
              <a:path w="1493912" h="1120434">
                <a:moveTo>
                  <a:pt x="0" y="0"/>
                </a:moveTo>
                <a:lnTo>
                  <a:pt x="1493912" y="0"/>
                </a:lnTo>
                <a:lnTo>
                  <a:pt x="0" y="1120434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9" name="S10-mark189"/>
          <p:cNvSpPr/>
          <p:nvPr/>
        </p:nvSpPr>
        <p:spPr>
          <a:xfrm flipH="1" flipV="1">
            <a:off x="2377832" y="2277988"/>
            <a:ext cx="1493912" cy="1120434"/>
          </a:xfrm>
          <a:prstGeom prst="line">
            <a:avLst/>
          </a:prstGeom>
          <a:noFill/>
          <a:ln w="63500">
            <a:solidFill>
              <a:srgbClr val="3D5A80"/>
            </a:solidFill>
            <a:prstDash val="solid"/>
          </a:ln>
        </p:spPr>
      </p:sp>
      <p:sp>
        <p:nvSpPr>
          <p:cNvPr id="40" name="S10-mark190"/>
          <p:cNvSpPr/>
          <p:nvPr/>
        </p:nvSpPr>
        <p:spPr>
          <a:xfrm>
            <a:off x="3871744" y="3398422"/>
            <a:ext cx="1867390" cy="0"/>
          </a:xfrm>
          <a:prstGeom prst="line">
            <a:avLst/>
          </a:prstGeom>
          <a:noFill/>
          <a:ln w="63500">
            <a:solidFill>
              <a:srgbClr val="3D5A80"/>
            </a:solidFill>
            <a:prstDash val="solid"/>
          </a:ln>
        </p:spPr>
      </p:sp>
      <p:sp>
        <p:nvSpPr>
          <p:cNvPr id="41" name="S10-label192"/>
          <p:cNvSpPr txBox="1"/>
          <p:nvPr/>
        </p:nvSpPr>
        <p:spPr>
          <a:xfrm>
            <a:off x="1435853" y="4222213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42" name="S10-label194"/>
          <p:cNvSpPr txBox="1"/>
          <p:nvPr/>
        </p:nvSpPr>
        <p:spPr>
          <a:xfrm>
            <a:off x="445360" y="359727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cm</a:t>
            </a:r>
            <a:endParaRPr lang="ko-KR" sz="2200" dirty="0"/>
          </a:p>
        </p:txBody>
      </p:sp>
      <p:sp>
        <p:nvSpPr>
          <p:cNvPr id="43" name="S10-label196"/>
          <p:cNvSpPr txBox="1"/>
          <p:nvPr/>
        </p:nvSpPr>
        <p:spPr>
          <a:xfrm>
            <a:off x="4423677" y="4222213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</a:t>
            </a:r>
            <a:endParaRPr lang="ko-KR" sz="2200" dirty="0"/>
          </a:p>
        </p:txBody>
      </p:sp>
      <p:sp>
        <p:nvSpPr>
          <p:cNvPr id="44" name="S10-label198"/>
          <p:cNvSpPr txBox="1"/>
          <p:nvPr/>
        </p:nvSpPr>
        <p:spPr>
          <a:xfrm>
            <a:off x="2743026" y="359727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45" name="S10-card199"/>
          <p:cNvSpPr/>
          <p:nvPr/>
        </p:nvSpPr>
        <p:spPr>
          <a:xfrm>
            <a:off x="6813652" y="1432306"/>
            <a:ext cx="4826660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6" name="S10-cardtext200"/>
          <p:cNvSpPr txBox="1"/>
          <p:nvPr/>
        </p:nvSpPr>
        <p:spPr>
          <a:xfrm>
            <a:off x="7087972" y="1569466"/>
            <a:ext cx="4278020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 2개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합동인 삼각형</a:t>
            </a:r>
            <a:endParaRPr lang="ko-KR" sz="2800" dirty="0"/>
          </a:p>
        </p:txBody>
      </p:sp>
      <p:sp>
        <p:nvSpPr>
          <p:cNvPr id="47" name="S10-card201"/>
          <p:cNvSpPr/>
          <p:nvPr/>
        </p:nvSpPr>
        <p:spPr>
          <a:xfrm>
            <a:off x="6813652" y="2840990"/>
            <a:ext cx="4826660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8" name="S10-cardtext202"/>
          <p:cNvSpPr txBox="1"/>
          <p:nvPr/>
        </p:nvSpPr>
        <p:spPr>
          <a:xfrm>
            <a:off x="7087972" y="2978150"/>
            <a:ext cx="4278020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 3개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(높이 2 cm)</a:t>
            </a:r>
            <a:endParaRPr lang="ko-KR" sz="2800" dirty="0"/>
          </a:p>
        </p:txBody>
      </p:sp>
      <p:sp>
        <p:nvSpPr>
          <p:cNvPr id="49" name="S10-card203"/>
          <p:cNvSpPr/>
          <p:nvPr/>
        </p:nvSpPr>
        <p:spPr>
          <a:xfrm>
            <a:off x="6813652" y="4590542"/>
            <a:ext cx="4826660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0" name="S10-cardtext204"/>
          <p:cNvSpPr txBox="1"/>
          <p:nvPr/>
        </p:nvSpPr>
        <p:spPr>
          <a:xfrm>
            <a:off x="7087972" y="4727702"/>
            <a:ext cx="4278020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파란 두 선분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접으면 만나요.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길이가 같아요.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전개도가 될 수 있는 것은?</a:t>
            </a:r>
            <a:endParaRPr lang="ko-KR" sz="4000" dirty="0"/>
          </a:p>
        </p:txBody>
      </p:sp>
      <p:sp>
        <p:nvSpPr>
          <p:cNvPr id="3" name="S11-card20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20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삼각기둥의 전개도가 될 수 있는 것을 모두 골라요.</a:t>
            </a:r>
            <a:endParaRPr lang="ko-KR" sz="2800" dirty="0"/>
          </a:p>
        </p:txBody>
      </p:sp>
      <p:sp>
        <p:nvSpPr>
          <p:cNvPr id="5" name="S11-chip207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1-figure208" descr="가: 밑면 두 개가 가운데 옆면의 위와 아래에 붙은 전개도"/>
          <p:cNvSpPr/>
          <p:nvPr/>
        </p:nvSpPr>
        <p:spPr>
          <a:xfrm>
            <a:off x="632460" y="3301492"/>
            <a:ext cx="821436" cy="547624"/>
          </a:xfrm>
          <a:custGeom>
            <a:avLst/>
            <a:gdLst/>
            <a:ahLst/>
            <a:cxnLst/>
            <a:rect l="l" t="t" r="r" b="b"/>
            <a:pathLst>
              <a:path w="821436" h="547624">
                <a:moveTo>
                  <a:pt x="0" y="547624"/>
                </a:moveTo>
                <a:lnTo>
                  <a:pt x="821436" y="547624"/>
                </a:lnTo>
                <a:lnTo>
                  <a:pt x="8214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11-mark209"/>
          <p:cNvSpPr/>
          <p:nvPr/>
        </p:nvSpPr>
        <p:spPr>
          <a:xfrm>
            <a:off x="1453896" y="3301492"/>
            <a:ext cx="1095248" cy="547624"/>
          </a:xfrm>
          <a:custGeom>
            <a:avLst/>
            <a:gdLst/>
            <a:ahLst/>
            <a:cxnLst/>
            <a:rect l="l" t="t" r="r" b="b"/>
            <a:pathLst>
              <a:path w="1095248" h="547624">
                <a:moveTo>
                  <a:pt x="0" y="547624"/>
                </a:moveTo>
                <a:lnTo>
                  <a:pt x="1095248" y="547624"/>
                </a:lnTo>
                <a:lnTo>
                  <a:pt x="1095248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1-mark210"/>
          <p:cNvSpPr/>
          <p:nvPr/>
        </p:nvSpPr>
        <p:spPr>
          <a:xfrm>
            <a:off x="2549144" y="3301492"/>
            <a:ext cx="1369060" cy="547624"/>
          </a:xfrm>
          <a:custGeom>
            <a:avLst/>
            <a:gdLst/>
            <a:ahLst/>
            <a:cxnLst/>
            <a:rect l="l" t="t" r="r" b="b"/>
            <a:pathLst>
              <a:path w="1369060" h="547624">
                <a:moveTo>
                  <a:pt x="0" y="547624"/>
                </a:moveTo>
                <a:lnTo>
                  <a:pt x="1369060" y="547624"/>
                </a:lnTo>
                <a:lnTo>
                  <a:pt x="136906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11-mark211"/>
          <p:cNvSpPr/>
          <p:nvPr/>
        </p:nvSpPr>
        <p:spPr>
          <a:xfrm>
            <a:off x="1453896" y="2480056"/>
            <a:ext cx="1095248" cy="821436"/>
          </a:xfrm>
          <a:custGeom>
            <a:avLst/>
            <a:gdLst/>
            <a:ahLst/>
            <a:cxnLst/>
            <a:rect l="l" t="t" r="r" b="b"/>
            <a:pathLst>
              <a:path w="1095248" h="821436">
                <a:moveTo>
                  <a:pt x="0" y="821436"/>
                </a:moveTo>
                <a:lnTo>
                  <a:pt x="1095248" y="821436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11-mark212"/>
          <p:cNvSpPr/>
          <p:nvPr/>
        </p:nvSpPr>
        <p:spPr>
          <a:xfrm>
            <a:off x="1453896" y="3849116"/>
            <a:ext cx="1095248" cy="821436"/>
          </a:xfrm>
          <a:custGeom>
            <a:avLst/>
            <a:gdLst/>
            <a:ahLst/>
            <a:cxnLst/>
            <a:rect l="l" t="t" r="r" b="b"/>
            <a:pathLst>
              <a:path w="1095248" h="821436">
                <a:moveTo>
                  <a:pt x="0" y="0"/>
                </a:moveTo>
                <a:lnTo>
                  <a:pt x="1095248" y="0"/>
                </a:lnTo>
                <a:lnTo>
                  <a:pt x="0" y="82143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11-chip213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2" name="S11-figure214" descr="나: 밑면 두 개가 모두 옆면들의 위쪽에 붙은 그림"/>
          <p:cNvSpPr/>
          <p:nvPr/>
        </p:nvSpPr>
        <p:spPr>
          <a:xfrm>
            <a:off x="4451604" y="3849116"/>
            <a:ext cx="821436" cy="547624"/>
          </a:xfrm>
          <a:custGeom>
            <a:avLst/>
            <a:gdLst/>
            <a:ahLst/>
            <a:cxnLst/>
            <a:rect l="l" t="t" r="r" b="b"/>
            <a:pathLst>
              <a:path w="821436" h="547624">
                <a:moveTo>
                  <a:pt x="0" y="547624"/>
                </a:moveTo>
                <a:lnTo>
                  <a:pt x="821436" y="547624"/>
                </a:lnTo>
                <a:lnTo>
                  <a:pt x="8214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11-mark215"/>
          <p:cNvSpPr/>
          <p:nvPr/>
        </p:nvSpPr>
        <p:spPr>
          <a:xfrm>
            <a:off x="5273040" y="3849116"/>
            <a:ext cx="1095248" cy="547624"/>
          </a:xfrm>
          <a:custGeom>
            <a:avLst/>
            <a:gdLst/>
            <a:ahLst/>
            <a:cxnLst/>
            <a:rect l="l" t="t" r="r" b="b"/>
            <a:pathLst>
              <a:path w="1095248" h="547624">
                <a:moveTo>
                  <a:pt x="0" y="547624"/>
                </a:moveTo>
                <a:lnTo>
                  <a:pt x="1095248" y="547624"/>
                </a:lnTo>
                <a:lnTo>
                  <a:pt x="1095248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11-mark216"/>
          <p:cNvSpPr/>
          <p:nvPr/>
        </p:nvSpPr>
        <p:spPr>
          <a:xfrm>
            <a:off x="6368288" y="3849116"/>
            <a:ext cx="1369060" cy="547624"/>
          </a:xfrm>
          <a:custGeom>
            <a:avLst/>
            <a:gdLst/>
            <a:ahLst/>
            <a:cxnLst/>
            <a:rect l="l" t="t" r="r" b="b"/>
            <a:pathLst>
              <a:path w="1369060" h="547624">
                <a:moveTo>
                  <a:pt x="0" y="547624"/>
                </a:moveTo>
                <a:lnTo>
                  <a:pt x="1369060" y="547624"/>
                </a:lnTo>
                <a:lnTo>
                  <a:pt x="136906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11-mark217"/>
          <p:cNvSpPr/>
          <p:nvPr/>
        </p:nvSpPr>
        <p:spPr>
          <a:xfrm>
            <a:off x="4451604" y="2753868"/>
            <a:ext cx="821436" cy="1095248"/>
          </a:xfrm>
          <a:custGeom>
            <a:avLst/>
            <a:gdLst/>
            <a:ahLst/>
            <a:cxnLst/>
            <a:rect l="l" t="t" r="r" b="b"/>
            <a:pathLst>
              <a:path w="821436" h="1095248">
                <a:moveTo>
                  <a:pt x="0" y="1095248"/>
                </a:moveTo>
                <a:lnTo>
                  <a:pt x="821436" y="1095248"/>
                </a:lnTo>
                <a:lnTo>
                  <a:pt x="821436" y="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11-mark218"/>
          <p:cNvSpPr/>
          <p:nvPr/>
        </p:nvSpPr>
        <p:spPr>
          <a:xfrm>
            <a:off x="6368288" y="3191967"/>
            <a:ext cx="1369060" cy="657149"/>
          </a:xfrm>
          <a:custGeom>
            <a:avLst/>
            <a:gdLst/>
            <a:ahLst/>
            <a:cxnLst/>
            <a:rect l="l" t="t" r="r" b="b"/>
            <a:pathLst>
              <a:path w="1369060" h="657149">
                <a:moveTo>
                  <a:pt x="0" y="657149"/>
                </a:moveTo>
                <a:lnTo>
                  <a:pt x="1369060" y="657149"/>
                </a:lnTo>
                <a:lnTo>
                  <a:pt x="876198" y="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11-chip219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8" name="S11-figure220" descr="다: 밑면 하나는 왼쪽 옆면 위에, 하나는 가운데 옆면 아래에 붙은 전개도"/>
          <p:cNvSpPr/>
          <p:nvPr/>
        </p:nvSpPr>
        <p:spPr>
          <a:xfrm>
            <a:off x="8270748" y="3438398"/>
            <a:ext cx="821436" cy="547624"/>
          </a:xfrm>
          <a:custGeom>
            <a:avLst/>
            <a:gdLst/>
            <a:ahLst/>
            <a:cxnLst/>
            <a:rect l="l" t="t" r="r" b="b"/>
            <a:pathLst>
              <a:path w="821436" h="547624">
                <a:moveTo>
                  <a:pt x="0" y="547624"/>
                </a:moveTo>
                <a:lnTo>
                  <a:pt x="821436" y="547624"/>
                </a:lnTo>
                <a:lnTo>
                  <a:pt x="8214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11-mark221"/>
          <p:cNvSpPr/>
          <p:nvPr/>
        </p:nvSpPr>
        <p:spPr>
          <a:xfrm>
            <a:off x="9092184" y="3438398"/>
            <a:ext cx="1095248" cy="547624"/>
          </a:xfrm>
          <a:custGeom>
            <a:avLst/>
            <a:gdLst/>
            <a:ahLst/>
            <a:cxnLst/>
            <a:rect l="l" t="t" r="r" b="b"/>
            <a:pathLst>
              <a:path w="1095248" h="547624">
                <a:moveTo>
                  <a:pt x="0" y="547624"/>
                </a:moveTo>
                <a:lnTo>
                  <a:pt x="1095248" y="547624"/>
                </a:lnTo>
                <a:lnTo>
                  <a:pt x="1095248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11-mark222"/>
          <p:cNvSpPr/>
          <p:nvPr/>
        </p:nvSpPr>
        <p:spPr>
          <a:xfrm>
            <a:off x="10187432" y="3438398"/>
            <a:ext cx="1369060" cy="547624"/>
          </a:xfrm>
          <a:custGeom>
            <a:avLst/>
            <a:gdLst/>
            <a:ahLst/>
            <a:cxnLst/>
            <a:rect l="l" t="t" r="r" b="b"/>
            <a:pathLst>
              <a:path w="1369060" h="547624">
                <a:moveTo>
                  <a:pt x="0" y="547624"/>
                </a:moveTo>
                <a:lnTo>
                  <a:pt x="1369060" y="547624"/>
                </a:lnTo>
                <a:lnTo>
                  <a:pt x="136906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11-mark223"/>
          <p:cNvSpPr/>
          <p:nvPr/>
        </p:nvSpPr>
        <p:spPr>
          <a:xfrm>
            <a:off x="8270748" y="2343150"/>
            <a:ext cx="821436" cy="1095248"/>
          </a:xfrm>
          <a:custGeom>
            <a:avLst/>
            <a:gdLst/>
            <a:ahLst/>
            <a:cxnLst/>
            <a:rect l="l" t="t" r="r" b="b"/>
            <a:pathLst>
              <a:path w="821436" h="1095248">
                <a:moveTo>
                  <a:pt x="0" y="1095248"/>
                </a:moveTo>
                <a:lnTo>
                  <a:pt x="821436" y="1095248"/>
                </a:lnTo>
                <a:lnTo>
                  <a:pt x="821436" y="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1-mark224"/>
          <p:cNvSpPr/>
          <p:nvPr/>
        </p:nvSpPr>
        <p:spPr>
          <a:xfrm>
            <a:off x="9092184" y="3986022"/>
            <a:ext cx="1095248" cy="821436"/>
          </a:xfrm>
          <a:custGeom>
            <a:avLst/>
            <a:gdLst/>
            <a:ahLst/>
            <a:cxnLst/>
            <a:rect l="l" t="t" r="r" b="b"/>
            <a:pathLst>
              <a:path w="1095248" h="821436">
                <a:moveTo>
                  <a:pt x="0" y="0"/>
                </a:moveTo>
                <a:lnTo>
                  <a:pt x="1095248" y="0"/>
                </a:lnTo>
                <a:lnTo>
                  <a:pt x="0" y="82143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figure225" descr="삼각기둥의 전개도: 옆면의 가로 3 cm, 4 cm, □ cm, 밑면 삼각형의 한 변 5 cm"/>
          <p:cNvSpPr/>
          <p:nvPr/>
        </p:nvSpPr>
        <p:spPr>
          <a:xfrm>
            <a:off x="6612636" y="3380867"/>
            <a:ext cx="1173099" cy="1173099"/>
          </a:xfrm>
          <a:custGeom>
            <a:avLst/>
            <a:gdLst/>
            <a:ahLst/>
            <a:cxnLst/>
            <a:rect l="l" t="t" r="r" b="b"/>
            <a:pathLst>
              <a:path w="1173099" h="1173099">
                <a:moveTo>
                  <a:pt x="0" y="1173099"/>
                </a:moveTo>
                <a:lnTo>
                  <a:pt x="1173099" y="1173099"/>
                </a:lnTo>
                <a:lnTo>
                  <a:pt x="117309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" name="S12-mark226"/>
          <p:cNvSpPr/>
          <p:nvPr/>
        </p:nvSpPr>
        <p:spPr>
          <a:xfrm>
            <a:off x="7785735" y="3380867"/>
            <a:ext cx="1564132" cy="1173099"/>
          </a:xfrm>
          <a:custGeom>
            <a:avLst/>
            <a:gdLst/>
            <a:ahLst/>
            <a:cxnLst/>
            <a:rect l="l" t="t" r="r" b="b"/>
            <a:pathLst>
              <a:path w="1564132" h="1173099">
                <a:moveTo>
                  <a:pt x="0" y="1173099"/>
                </a:moveTo>
                <a:lnTo>
                  <a:pt x="1564132" y="1173099"/>
                </a:lnTo>
                <a:lnTo>
                  <a:pt x="15641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12-mark227"/>
          <p:cNvSpPr/>
          <p:nvPr/>
        </p:nvSpPr>
        <p:spPr>
          <a:xfrm>
            <a:off x="9349867" y="3380867"/>
            <a:ext cx="1955165" cy="1173099"/>
          </a:xfrm>
          <a:custGeom>
            <a:avLst/>
            <a:gdLst/>
            <a:ahLst/>
            <a:cxnLst/>
            <a:rect l="l" t="t" r="r" b="b"/>
            <a:pathLst>
              <a:path w="1955165" h="1173099">
                <a:moveTo>
                  <a:pt x="0" y="1173099"/>
                </a:moveTo>
                <a:lnTo>
                  <a:pt x="1955165" y="1173099"/>
                </a:lnTo>
                <a:lnTo>
                  <a:pt x="195516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12-mark228"/>
          <p:cNvSpPr/>
          <p:nvPr/>
        </p:nvSpPr>
        <p:spPr>
          <a:xfrm>
            <a:off x="6612636" y="1816735"/>
            <a:ext cx="1173099" cy="1564132"/>
          </a:xfrm>
          <a:custGeom>
            <a:avLst/>
            <a:gdLst/>
            <a:ahLst/>
            <a:cxnLst/>
            <a:rect l="l" t="t" r="r" b="b"/>
            <a:pathLst>
              <a:path w="1173099" h="1564132">
                <a:moveTo>
                  <a:pt x="0" y="1564132"/>
                </a:moveTo>
                <a:lnTo>
                  <a:pt x="1173099" y="1564132"/>
                </a:lnTo>
                <a:lnTo>
                  <a:pt x="1173099" y="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12-mark229"/>
          <p:cNvSpPr/>
          <p:nvPr/>
        </p:nvSpPr>
        <p:spPr>
          <a:xfrm>
            <a:off x="7785735" y="4553966"/>
            <a:ext cx="1564132" cy="1173099"/>
          </a:xfrm>
          <a:custGeom>
            <a:avLst/>
            <a:gdLst/>
            <a:ahLst/>
            <a:cxnLst/>
            <a:rect l="l" t="t" r="r" b="b"/>
            <a:pathLst>
              <a:path w="1564132" h="1173099">
                <a:moveTo>
                  <a:pt x="0" y="0"/>
                </a:moveTo>
                <a:lnTo>
                  <a:pt x="1564132" y="0"/>
                </a:lnTo>
                <a:lnTo>
                  <a:pt x="0" y="1173099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2-label231"/>
          <p:cNvSpPr txBox="1"/>
          <p:nvPr/>
        </p:nvSpPr>
        <p:spPr>
          <a:xfrm>
            <a:off x="6817424" y="4630801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9" name="S12-label233"/>
          <p:cNvSpPr txBox="1"/>
          <p:nvPr/>
        </p:nvSpPr>
        <p:spPr>
          <a:xfrm>
            <a:off x="8186039" y="2954782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10" name="S12-label235"/>
          <p:cNvSpPr txBox="1"/>
          <p:nvPr/>
        </p:nvSpPr>
        <p:spPr>
          <a:xfrm>
            <a:off x="9900984" y="4630801"/>
            <a:ext cx="8529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cm</a:t>
            </a:r>
            <a:endParaRPr lang="ko-KR" sz="2200" dirty="0"/>
          </a:p>
        </p:txBody>
      </p:sp>
      <p:sp>
        <p:nvSpPr>
          <p:cNvPr id="11" name="S12-label237"/>
          <p:cNvSpPr txBox="1"/>
          <p:nvPr/>
        </p:nvSpPr>
        <p:spPr>
          <a:xfrm>
            <a:off x="6448168" y="214723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</a:t>
            </a:r>
            <a:endParaRPr lang="ko-KR" sz="2200" dirty="0"/>
          </a:p>
        </p:txBody>
      </p:sp>
      <p:sp>
        <p:nvSpPr>
          <p:cNvPr id="12" name="S12-chip238"/>
          <p:cNvSpPr txBox="1"/>
          <p:nvPr/>
        </p:nvSpPr>
        <p:spPr>
          <a:xfrm>
            <a:off x="548640" y="158534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3" name="S12-text239"/>
          <p:cNvSpPr txBox="1"/>
          <p:nvPr/>
        </p:nvSpPr>
        <p:spPr>
          <a:xfrm>
            <a:off x="1344168" y="1325880"/>
            <a:ext cx="4567428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팔각기둥의 면, 모서리,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꼭짓점의 수</a:t>
            </a:r>
            <a:endParaRPr lang="ko-KR" sz="2800" dirty="0"/>
          </a:p>
        </p:txBody>
      </p:sp>
      <p:sp>
        <p:nvSpPr>
          <p:cNvPr id="14" name="S12-chip240"/>
          <p:cNvSpPr txBox="1"/>
          <p:nvPr/>
        </p:nvSpPr>
        <p:spPr>
          <a:xfrm>
            <a:off x="548640" y="285407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5" name="S12-text241"/>
          <p:cNvSpPr txBox="1"/>
          <p:nvPr/>
        </p:nvSpPr>
        <p:spPr>
          <a:xfrm>
            <a:off x="1344168" y="2594610"/>
            <a:ext cx="4567428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육각뿔의 면, 모서리,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꼭짓점의 수</a:t>
            </a:r>
            <a:endParaRPr lang="ko-KR" sz="2800" dirty="0"/>
          </a:p>
        </p:txBody>
      </p:sp>
      <p:sp>
        <p:nvSpPr>
          <p:cNvPr id="16" name="S12-chip242"/>
          <p:cNvSpPr txBox="1"/>
          <p:nvPr/>
        </p:nvSpPr>
        <p:spPr>
          <a:xfrm>
            <a:off x="548640" y="412280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7" name="S12-text243"/>
          <p:cNvSpPr txBox="1"/>
          <p:nvPr/>
        </p:nvSpPr>
        <p:spPr>
          <a:xfrm>
            <a:off x="1344168" y="3863340"/>
            <a:ext cx="4567428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전개도를 접으면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입체도형?</a:t>
            </a:r>
            <a:endParaRPr lang="ko-KR" sz="2800" dirty="0"/>
          </a:p>
        </p:txBody>
      </p:sp>
      <p:sp>
        <p:nvSpPr>
          <p:cNvPr id="18" name="S12-chip244"/>
          <p:cNvSpPr txBox="1"/>
          <p:nvPr/>
        </p:nvSpPr>
        <p:spPr>
          <a:xfrm>
            <a:off x="548640" y="539153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9" name="S12-text245"/>
          <p:cNvSpPr txBox="1"/>
          <p:nvPr/>
        </p:nvSpPr>
        <p:spPr>
          <a:xfrm>
            <a:off x="1344168" y="5132070"/>
            <a:ext cx="4567428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□는 몇 cm인가요?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옳은 것을 모두 골라요</a:t>
            </a:r>
            <a:endParaRPr lang="ko-KR" sz="4000" dirty="0"/>
          </a:p>
        </p:txBody>
      </p:sp>
      <p:sp>
        <p:nvSpPr>
          <p:cNvPr id="3" name="S14-card2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2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것은 바르게 고쳐 말해요.</a:t>
            </a:r>
            <a:endParaRPr lang="ko-KR" sz="2800" dirty="0"/>
          </a:p>
        </p:txBody>
      </p:sp>
      <p:sp>
        <p:nvSpPr>
          <p:cNvPr id="5" name="S14-chip248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4-card249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4-cardtext250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각뿔의 밑면은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2개예요.</a:t>
            </a:r>
            <a:endParaRPr lang="ko-KR" sz="2800" dirty="0"/>
          </a:p>
        </p:txBody>
      </p:sp>
      <p:sp>
        <p:nvSpPr>
          <p:cNvPr id="8" name="S14-chip251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4-card252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4-cardtext253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각기둥의 옆면은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직사각형이에요.</a:t>
            </a:r>
            <a:endParaRPr lang="ko-KR" sz="2800" dirty="0"/>
          </a:p>
        </p:txBody>
      </p:sp>
      <p:sp>
        <p:nvSpPr>
          <p:cNvPr id="11" name="S14-chip254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4-card255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4-cardtext256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오각뿔의 꼭짓점은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6개예요.</a:t>
            </a:r>
            <a:endParaRPr lang="ko-KR" sz="2800" dirty="0"/>
          </a:p>
        </p:txBody>
      </p:sp>
      <p:sp>
        <p:nvSpPr>
          <p:cNvPr id="14" name="S14-chip257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5" name="S14-card258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4-cardtext259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삼각기둥의 전개도에는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삼각형이 1개 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5-card260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261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각기둥은 밑면 2개와 직사각형 옆면, 각뿔은 밑면 1개와 삼각형 옆면으로 되어 있어요.</a:t>
            </a:r>
            <a:endParaRPr lang="ko-KR" sz="2800" dirty="0"/>
          </a:p>
        </p:txBody>
      </p:sp>
      <p:sp>
        <p:nvSpPr>
          <p:cNvPr id="5" name="S15-chip262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한 밑면의 변의 수로 세기</a:t>
            </a:r>
            <a:endParaRPr lang="ko-KR" sz="2200" dirty="0"/>
          </a:p>
        </p:txBody>
      </p:sp>
      <p:sp>
        <p:nvSpPr>
          <p:cNvPr id="6" name="S15-chip263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바닥에 닿은 면만 밑면이라 하기</a:t>
            </a:r>
            <a:endParaRPr lang="ko-KR" sz="2200" dirty="0"/>
          </a:p>
        </p:txBody>
      </p:sp>
      <p:sp>
        <p:nvSpPr>
          <p:cNvPr id="7" name="S15-text264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5-text265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오각기둥의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모서리의 수</a:t>
            </a:r>
            <a:endParaRPr lang="ko-KR" sz="2200" dirty="0"/>
          </a:p>
        </p:txBody>
      </p:sp>
      <p:sp>
        <p:nvSpPr>
          <p:cNvPr id="9" name="S15-text266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팔각뿔의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꼭짓점의 수</a:t>
            </a:r>
            <a:endParaRPr lang="ko-KR" sz="2200" dirty="0"/>
          </a:p>
        </p:txBody>
      </p:sp>
      <p:sp>
        <p:nvSpPr>
          <p:cNvPr id="10" name="S15-text267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육각기둥 전개도의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옆면의 수</a:t>
            </a:r>
            <a:endParaRPr lang="ko-KR" sz="2200" dirty="0"/>
          </a:p>
        </p:txBody>
      </p:sp>
      <p:sp>
        <p:nvSpPr>
          <p:cNvPr id="11" name="S15-text26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원기둥·원뿔·구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직육면체 다시 보기</a:t>
            </a:r>
            <a:endParaRPr lang="ko-KR" sz="4000" dirty="0"/>
          </a:p>
        </p:txBody>
      </p:sp>
      <p:sp>
        <p:nvSpPr>
          <p:cNvPr id="3" name="S16-figure269" descr="직육면체의 겨냥도: 보이는 모서리 9개는 실선, 보이지 않는 모서리 3개는 점선"/>
          <p:cNvSpPr/>
          <p:nvPr/>
        </p:nvSpPr>
        <p:spPr>
          <a:xfrm flipH="1">
            <a:off x="2175358" y="4438498"/>
            <a:ext cx="27432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4" name="S16-mark270"/>
          <p:cNvSpPr/>
          <p:nvPr/>
        </p:nvSpPr>
        <p:spPr>
          <a:xfrm flipV="1">
            <a:off x="1541678" y="4438498"/>
            <a:ext cx="633679" cy="495605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5" name="S16-mark271"/>
          <p:cNvSpPr/>
          <p:nvPr/>
        </p:nvSpPr>
        <p:spPr>
          <a:xfrm flipV="1">
            <a:off x="2175358" y="2609698"/>
            <a:ext cx="0" cy="182880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6" name="S16-mark272"/>
          <p:cNvSpPr/>
          <p:nvPr/>
        </p:nvSpPr>
        <p:spPr>
          <a:xfrm>
            <a:off x="1541678" y="4934102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16-mark273"/>
          <p:cNvSpPr/>
          <p:nvPr/>
        </p:nvSpPr>
        <p:spPr>
          <a:xfrm flipV="1">
            <a:off x="4284878" y="4438498"/>
            <a:ext cx="633679" cy="495605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16-mark274"/>
          <p:cNvSpPr/>
          <p:nvPr/>
        </p:nvSpPr>
        <p:spPr>
          <a:xfrm>
            <a:off x="1541678" y="3105302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16-mark275"/>
          <p:cNvSpPr/>
          <p:nvPr/>
        </p:nvSpPr>
        <p:spPr>
          <a:xfrm flipV="1">
            <a:off x="4284878" y="2609698"/>
            <a:ext cx="633679" cy="495605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0" name="S16-mark276"/>
          <p:cNvSpPr/>
          <p:nvPr/>
        </p:nvSpPr>
        <p:spPr>
          <a:xfrm flipH="1">
            <a:off x="2175358" y="2609698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16-mark277"/>
          <p:cNvSpPr/>
          <p:nvPr/>
        </p:nvSpPr>
        <p:spPr>
          <a:xfrm flipV="1">
            <a:off x="1541678" y="2609698"/>
            <a:ext cx="633679" cy="495605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2" name="S16-mark278"/>
          <p:cNvSpPr/>
          <p:nvPr/>
        </p:nvSpPr>
        <p:spPr>
          <a:xfrm flipV="1">
            <a:off x="4284878" y="3105302"/>
            <a:ext cx="0" cy="18288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16-mark279"/>
          <p:cNvSpPr/>
          <p:nvPr/>
        </p:nvSpPr>
        <p:spPr>
          <a:xfrm flipV="1">
            <a:off x="1541678" y="3105302"/>
            <a:ext cx="0" cy="18288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4" name="S16-mark280"/>
          <p:cNvSpPr/>
          <p:nvPr/>
        </p:nvSpPr>
        <p:spPr>
          <a:xfrm flipV="1">
            <a:off x="4918558" y="2609698"/>
            <a:ext cx="0" cy="18288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5" name="S16-card281"/>
          <p:cNvSpPr/>
          <p:nvPr/>
        </p:nvSpPr>
        <p:spPr>
          <a:xfrm>
            <a:off x="6277356" y="2307082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6-cardtext282"/>
          <p:cNvSpPr txBox="1"/>
          <p:nvPr/>
        </p:nvSpPr>
        <p:spPr>
          <a:xfrm>
            <a:off x="6551676" y="2444242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 6, 모서리 12, 꼭짓점 8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상자를 들고 세어 봐요.</a:t>
            </a:r>
            <a:endParaRPr lang="ko-KR" sz="2800" dirty="0"/>
          </a:p>
        </p:txBody>
      </p:sp>
      <p:sp>
        <p:nvSpPr>
          <p:cNvPr id="17" name="S16-card283"/>
          <p:cNvSpPr/>
          <p:nvPr/>
        </p:nvSpPr>
        <p:spPr>
          <a:xfrm>
            <a:off x="6277356" y="3715766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8" name="S16-cardtext284"/>
          <p:cNvSpPr txBox="1"/>
          <p:nvPr/>
        </p:nvSpPr>
        <p:spPr>
          <a:xfrm>
            <a:off x="6551676" y="3852926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겨냥도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보이는 모서리는 실선,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보이지 않는 모서리는 점선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수학 각기둥과 각뿔</dc:title>
  <dc:subject>KR22-G06-MAT-PRISM-L01</dc:subject>
  <dc:creator>education-ppt</dc:creator>
  <cp:lastModifiedBy>education-ppt</cp:lastModifiedBy>
  <cp:revision>1</cp:revision>
  <dcterms:created xsi:type="dcterms:W3CDTF">2026-10-26T09:05:50Z</dcterms:created>
  <dcterms:modified xsi:type="dcterms:W3CDTF">2026-10-26T09:05:50Z</dcterms:modified>
</cp:coreProperties>
</file>