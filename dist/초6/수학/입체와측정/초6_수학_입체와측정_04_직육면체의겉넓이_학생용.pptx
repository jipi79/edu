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91040a69-6e41-9040-6fd3-163f0878c4e7}">
          <p14:sldIdLst>
            <p14:sldId id="256"/>
            <p14:sldId id="257"/>
          </p14:sldIdLst>
        </p14:section>
        <p14:section name="개념" id="{db30fa23-d8ce-5844-123e-81e9925de083}">
          <p14:sldIdLst>
            <p14:sldId id="258"/>
            <p14:sldId id="259"/>
            <p14:sldId id="260"/>
            <p14:sldId id="263"/>
          </p14:sldIdLst>
        </p14:section>
        <p14:section name="연습" id="{fcc9a6f2-726a-5359-2d40-5f22020b7256}">
          <p14:sldIdLst>
            <p14:sldId id="261"/>
            <p14:sldId id="262"/>
            <p14:sldId id="264"/>
          </p14:sldIdLst>
        </p14:section>
        <p14:section name="개념" id="{2275522b-bdbf-2472-aa63-ef1d3f59a6f7}">
          <p14:sldIdLst/>
        </p14:section>
        <p14:section name="연습" id="{9fe5533b-2c74-12e5-38b5-7172a0e41491}">
          <p14:sldIdLst/>
        </p14:section>
        <p14:section name="확인" id="{4dbe110a-132e-2a11-7097-309e4edc1020}">
          <p14:sldIdLst>
            <p14:sldId id="265"/>
            <p14:sldId id="266"/>
          </p14:sldIdLst>
        </p14:section>
        <p14:section name="정리" id="{62d0ae22-a67e-3eb7-5fb8-cb080b242470}">
          <p14:sldIdLst>
            <p14:sldId id="267"/>
          </p14:sldIdLst>
        </p14:section>
        <p14:section name="보충" id="{7dddb8e2-bba0-8e65-d4d1-a47038a97134}">
          <p14:sldIdLst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초6 수학 · 입체와측정 · 4차시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초6 수학 · 직육면체의 겉넓이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초6 수학 · 직육면체의 겉넓이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초6 수학 · 직육면체의 겉넓이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직육면체의 겉넓이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상자를 빈틈없이 싸려면 종이가 얼마나 필요할까?</a:t>
            </a:r>
            <a:endParaRPr lang="ko-KR" sz="2800" dirty="0"/>
          </a:p>
        </p:txBody>
      </p:sp>
      <p:sp>
        <p:nvSpPr>
          <p:cNvPr id="4" name="S01-panel1"/>
          <p:cNvSpPr/>
          <p:nvPr/>
        </p:nvSpPr>
        <p:spPr>
          <a:xfrm>
            <a:off x="7543800" y="502920"/>
            <a:ext cx="4206240" cy="32004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01-figure2" descr="가로 4 cm, 세로 3 cm, 높이 2 cm인 직육면체"/>
          <p:cNvSpPr/>
          <p:nvPr/>
        </p:nvSpPr>
        <p:spPr>
          <a:xfrm>
            <a:off x="8181645" y="1678726"/>
            <a:ext cx="1786921" cy="893460"/>
          </a:xfrm>
          <a:custGeom>
            <a:avLst/>
            <a:gdLst/>
            <a:ahLst/>
            <a:cxnLst/>
            <a:rect l="l" t="t" r="r" b="b"/>
            <a:pathLst>
              <a:path w="1786921" h="893460">
                <a:moveTo>
                  <a:pt x="0" y="893460"/>
                </a:moveTo>
                <a:lnTo>
                  <a:pt x="1786921" y="893460"/>
                </a:lnTo>
                <a:lnTo>
                  <a:pt x="1786921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6" name="S01-mark3"/>
          <p:cNvSpPr/>
          <p:nvPr/>
        </p:nvSpPr>
        <p:spPr>
          <a:xfrm>
            <a:off x="8181645" y="1276669"/>
            <a:ext cx="2349801" cy="402057"/>
          </a:xfrm>
          <a:custGeom>
            <a:avLst/>
            <a:gdLst/>
            <a:ahLst/>
            <a:cxnLst/>
            <a:rect l="l" t="t" r="r" b="b"/>
            <a:pathLst>
              <a:path w="2349801" h="402057">
                <a:moveTo>
                  <a:pt x="0" y="402057"/>
                </a:moveTo>
                <a:lnTo>
                  <a:pt x="1786921" y="402057"/>
                </a:lnTo>
                <a:lnTo>
                  <a:pt x="2349801" y="0"/>
                </a:lnTo>
                <a:lnTo>
                  <a:pt x="562880" y="0"/>
                </a:lnTo>
                <a:close/>
              </a:path>
            </a:pathLst>
          </a:custGeom>
          <a:solidFill>
            <a:srgbClr val="F2C14E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7" name="S01-mark4"/>
          <p:cNvSpPr/>
          <p:nvPr/>
        </p:nvSpPr>
        <p:spPr>
          <a:xfrm>
            <a:off x="9968566" y="1276669"/>
            <a:ext cx="562880" cy="1295518"/>
          </a:xfrm>
          <a:custGeom>
            <a:avLst/>
            <a:gdLst/>
            <a:ahLst/>
            <a:cxnLst/>
            <a:rect l="l" t="t" r="r" b="b"/>
            <a:pathLst>
              <a:path w="562880" h="1295518">
                <a:moveTo>
                  <a:pt x="0" y="1295518"/>
                </a:moveTo>
                <a:lnTo>
                  <a:pt x="562880" y="893460"/>
                </a:lnTo>
                <a:lnTo>
                  <a:pt x="562880" y="0"/>
                </a:lnTo>
                <a:lnTo>
                  <a:pt x="0" y="402057"/>
                </a:lnTo>
                <a:close/>
              </a:path>
            </a:pathLst>
          </a:custGeom>
          <a:solidFill>
            <a:srgbClr val="CDEBE6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8" name="S01-mark5"/>
          <p:cNvSpPr/>
          <p:nvPr/>
        </p:nvSpPr>
        <p:spPr>
          <a:xfrm>
            <a:off x="8744525" y="2170130"/>
            <a:ext cx="1786921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dash"/>
          </a:ln>
        </p:spPr>
      </p:sp>
      <p:sp>
        <p:nvSpPr>
          <p:cNvPr id="9" name="S01-mark6"/>
          <p:cNvSpPr/>
          <p:nvPr/>
        </p:nvSpPr>
        <p:spPr>
          <a:xfrm flipV="1">
            <a:off x="8744525" y="1276669"/>
            <a:ext cx="0" cy="893460"/>
          </a:xfrm>
          <a:prstGeom prst="line">
            <a:avLst/>
          </a:prstGeom>
          <a:noFill/>
          <a:ln w="28575">
            <a:solidFill>
              <a:srgbClr val="1F2937"/>
            </a:solidFill>
            <a:prstDash val="dash"/>
          </a:ln>
        </p:spPr>
      </p:sp>
      <p:sp>
        <p:nvSpPr>
          <p:cNvPr id="10" name="S01-mark7"/>
          <p:cNvSpPr/>
          <p:nvPr/>
        </p:nvSpPr>
        <p:spPr>
          <a:xfrm flipH="1">
            <a:off x="8181645" y="2170130"/>
            <a:ext cx="562880" cy="402057"/>
          </a:xfrm>
          <a:prstGeom prst="line">
            <a:avLst/>
          </a:prstGeom>
          <a:noFill/>
          <a:ln w="28575">
            <a:solidFill>
              <a:srgbClr val="1F2937"/>
            </a:solidFill>
            <a:prstDash val="dash"/>
          </a:ln>
        </p:spPr>
      </p:sp>
      <p:sp>
        <p:nvSpPr>
          <p:cNvPr id="11" name="S01-mark8"/>
          <p:cNvSpPr/>
          <p:nvPr/>
        </p:nvSpPr>
        <p:spPr>
          <a:xfrm>
            <a:off x="8181645" y="2572187"/>
            <a:ext cx="1786921" cy="0"/>
          </a:xfrm>
          <a:prstGeom prst="line">
            <a:avLst/>
          </a:prstGeom>
          <a:noFill/>
          <a:ln w="6350">
            <a:solidFill>
              <a:srgbClr val="1F2937"/>
            </a:solidFill>
            <a:prstDash val="solid"/>
          </a:ln>
        </p:spPr>
      </p:sp>
      <p:sp>
        <p:nvSpPr>
          <p:cNvPr id="12" name="S01-mark9"/>
          <p:cNvSpPr/>
          <p:nvPr/>
        </p:nvSpPr>
        <p:spPr>
          <a:xfrm flipV="1">
            <a:off x="9968566" y="2170130"/>
            <a:ext cx="562880" cy="402057"/>
          </a:xfrm>
          <a:prstGeom prst="line">
            <a:avLst/>
          </a:prstGeom>
          <a:noFill/>
          <a:ln w="6350">
            <a:solidFill>
              <a:srgbClr val="1F2937"/>
            </a:solidFill>
            <a:prstDash val="solid"/>
          </a:ln>
        </p:spPr>
      </p:sp>
      <p:sp>
        <p:nvSpPr>
          <p:cNvPr id="13" name="S01-mark10"/>
          <p:cNvSpPr/>
          <p:nvPr/>
        </p:nvSpPr>
        <p:spPr>
          <a:xfrm flipV="1">
            <a:off x="10531446" y="1276669"/>
            <a:ext cx="0" cy="893460"/>
          </a:xfrm>
          <a:prstGeom prst="line">
            <a:avLst/>
          </a:prstGeom>
          <a:noFill/>
          <a:ln w="6350">
            <a:solidFill>
              <a:srgbClr val="1F2937"/>
            </a:solidFill>
            <a:prstDash val="solid"/>
          </a:ln>
        </p:spPr>
      </p:sp>
      <p:sp>
        <p:nvSpPr>
          <p:cNvPr id="14" name="S01-label12"/>
          <p:cNvSpPr txBox="1"/>
          <p:nvPr/>
        </p:nvSpPr>
        <p:spPr>
          <a:xfrm>
            <a:off x="8693343" y="2649022"/>
            <a:ext cx="76352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cm</a:t>
            </a:r>
            <a:endParaRPr lang="ko-KR" sz="2200" dirty="0"/>
          </a:p>
        </p:txBody>
      </p:sp>
      <p:sp>
        <p:nvSpPr>
          <p:cNvPr id="15" name="S01-label14"/>
          <p:cNvSpPr txBox="1"/>
          <p:nvPr/>
        </p:nvSpPr>
        <p:spPr>
          <a:xfrm>
            <a:off x="10098196" y="2518466"/>
            <a:ext cx="76352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cm</a:t>
            </a:r>
            <a:endParaRPr lang="ko-KR" sz="2200" dirty="0"/>
          </a:p>
        </p:txBody>
      </p:sp>
      <p:sp>
        <p:nvSpPr>
          <p:cNvPr id="16" name="S01-label16"/>
          <p:cNvSpPr txBox="1"/>
          <p:nvPr/>
        </p:nvSpPr>
        <p:spPr>
          <a:xfrm>
            <a:off x="10535256" y="1548774"/>
            <a:ext cx="76352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cm</a:t>
            </a:r>
            <a:endParaRPr lang="ko-KR" sz="2200" dirty="0"/>
          </a:p>
        </p:txBody>
      </p:sp>
      <p:sp>
        <p:nvSpPr>
          <p:cNvPr id="17" name="S01-card17"/>
          <p:cNvSpPr/>
          <p:nvPr/>
        </p:nvSpPr>
        <p:spPr>
          <a:xfrm>
            <a:off x="731520" y="4529328"/>
            <a:ext cx="10725912" cy="1597152"/>
          </a:xfrm>
          <a:prstGeom prst="roundRect">
            <a:avLst>
              <a:gd name="adj" fmla="val 6870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18" name="S01-cardtext18"/>
          <p:cNvSpPr txBox="1"/>
          <p:nvPr/>
        </p:nvSpPr>
        <p:spPr>
          <a:xfrm>
            <a:off x="1005840" y="4666488"/>
            <a:ext cx="10177272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전개도로 겉넓이 구하는 방법을 설명해요.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직육면체와 정육면체의 겉넓이를 구해요.</a:t>
            </a:r>
            <a:endParaRPr lang="ko-KR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시간 기억하기</a:t>
            </a:r>
            <a:endParaRPr lang="ko-KR" sz="4000" dirty="0"/>
          </a:p>
        </p:txBody>
      </p:sp>
      <p:sp>
        <p:nvSpPr>
          <p:cNvPr id="3" name="S02-figure19" descr="직육면체: 보이는 세 면(앞, 위, 오른쪽)을 서로 다른 색으로 칠함. 보이지 않는 모서리는 점선"/>
          <p:cNvSpPr/>
          <p:nvPr/>
        </p:nvSpPr>
        <p:spPr>
          <a:xfrm>
            <a:off x="6361176" y="3019530"/>
            <a:ext cx="3167876" cy="1583938"/>
          </a:xfrm>
          <a:custGeom>
            <a:avLst/>
            <a:gdLst/>
            <a:ahLst/>
            <a:cxnLst/>
            <a:rect l="l" t="t" r="r" b="b"/>
            <a:pathLst>
              <a:path w="3167876" h="1583938">
                <a:moveTo>
                  <a:pt x="0" y="1583938"/>
                </a:moveTo>
                <a:lnTo>
                  <a:pt x="3167876" y="1583938"/>
                </a:lnTo>
                <a:lnTo>
                  <a:pt x="3167876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4" name="S02-mark20"/>
          <p:cNvSpPr/>
          <p:nvPr/>
        </p:nvSpPr>
        <p:spPr>
          <a:xfrm>
            <a:off x="6361176" y="2306758"/>
            <a:ext cx="4165756" cy="712772"/>
          </a:xfrm>
          <a:custGeom>
            <a:avLst/>
            <a:gdLst/>
            <a:ahLst/>
            <a:cxnLst/>
            <a:rect l="l" t="t" r="r" b="b"/>
            <a:pathLst>
              <a:path w="4165756" h="712772">
                <a:moveTo>
                  <a:pt x="0" y="712772"/>
                </a:moveTo>
                <a:lnTo>
                  <a:pt x="3167876" y="712772"/>
                </a:lnTo>
                <a:lnTo>
                  <a:pt x="4165756" y="0"/>
                </a:lnTo>
                <a:lnTo>
                  <a:pt x="997881" y="0"/>
                </a:lnTo>
                <a:close/>
              </a:path>
            </a:pathLst>
          </a:custGeom>
          <a:solidFill>
            <a:srgbClr val="F2C14E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5" name="S02-mark21"/>
          <p:cNvSpPr/>
          <p:nvPr/>
        </p:nvSpPr>
        <p:spPr>
          <a:xfrm>
            <a:off x="9529052" y="2306758"/>
            <a:ext cx="997881" cy="2296710"/>
          </a:xfrm>
          <a:custGeom>
            <a:avLst/>
            <a:gdLst/>
            <a:ahLst/>
            <a:cxnLst/>
            <a:rect l="l" t="t" r="r" b="b"/>
            <a:pathLst>
              <a:path w="997881" h="2296710">
                <a:moveTo>
                  <a:pt x="0" y="2296710"/>
                </a:moveTo>
                <a:lnTo>
                  <a:pt x="997881" y="1583938"/>
                </a:lnTo>
                <a:lnTo>
                  <a:pt x="997881" y="0"/>
                </a:lnTo>
                <a:lnTo>
                  <a:pt x="0" y="712772"/>
                </a:lnTo>
                <a:close/>
              </a:path>
            </a:pathLst>
          </a:custGeom>
          <a:solidFill>
            <a:srgbClr val="CDEBE6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6" name="S02-mark22"/>
          <p:cNvSpPr/>
          <p:nvPr/>
        </p:nvSpPr>
        <p:spPr>
          <a:xfrm>
            <a:off x="7359057" y="3890695"/>
            <a:ext cx="3167876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dash"/>
          </a:ln>
        </p:spPr>
      </p:sp>
      <p:sp>
        <p:nvSpPr>
          <p:cNvPr id="7" name="S02-mark23"/>
          <p:cNvSpPr/>
          <p:nvPr/>
        </p:nvSpPr>
        <p:spPr>
          <a:xfrm flipV="1">
            <a:off x="7359057" y="2306758"/>
            <a:ext cx="0" cy="1583938"/>
          </a:xfrm>
          <a:prstGeom prst="line">
            <a:avLst/>
          </a:prstGeom>
          <a:noFill/>
          <a:ln w="28575">
            <a:solidFill>
              <a:srgbClr val="1F2937"/>
            </a:solidFill>
            <a:prstDash val="dash"/>
          </a:ln>
        </p:spPr>
      </p:sp>
      <p:sp>
        <p:nvSpPr>
          <p:cNvPr id="8" name="S02-mark24"/>
          <p:cNvSpPr/>
          <p:nvPr/>
        </p:nvSpPr>
        <p:spPr>
          <a:xfrm flipH="1">
            <a:off x="6361176" y="3890695"/>
            <a:ext cx="997881" cy="712772"/>
          </a:xfrm>
          <a:prstGeom prst="line">
            <a:avLst/>
          </a:prstGeom>
          <a:noFill/>
          <a:ln w="28575">
            <a:solidFill>
              <a:srgbClr val="1F2937"/>
            </a:solidFill>
            <a:prstDash val="dash"/>
          </a:ln>
        </p:spPr>
      </p:sp>
      <p:sp>
        <p:nvSpPr>
          <p:cNvPr id="9" name="S02-mark25"/>
          <p:cNvSpPr/>
          <p:nvPr/>
        </p:nvSpPr>
        <p:spPr>
          <a:xfrm>
            <a:off x="6361176" y="4603467"/>
            <a:ext cx="3167876" cy="0"/>
          </a:xfrm>
          <a:prstGeom prst="line">
            <a:avLst/>
          </a:prstGeom>
          <a:noFill/>
          <a:ln w="6350">
            <a:solidFill>
              <a:srgbClr val="1F2937"/>
            </a:solidFill>
            <a:prstDash val="solid"/>
          </a:ln>
        </p:spPr>
      </p:sp>
      <p:sp>
        <p:nvSpPr>
          <p:cNvPr id="10" name="S02-mark26"/>
          <p:cNvSpPr/>
          <p:nvPr/>
        </p:nvSpPr>
        <p:spPr>
          <a:xfrm flipV="1">
            <a:off x="9529052" y="3890695"/>
            <a:ext cx="997881" cy="712772"/>
          </a:xfrm>
          <a:prstGeom prst="line">
            <a:avLst/>
          </a:prstGeom>
          <a:noFill/>
          <a:ln w="6350">
            <a:solidFill>
              <a:srgbClr val="1F2937"/>
            </a:solidFill>
            <a:prstDash val="solid"/>
          </a:ln>
        </p:spPr>
      </p:sp>
      <p:sp>
        <p:nvSpPr>
          <p:cNvPr id="11" name="S02-mark27"/>
          <p:cNvSpPr/>
          <p:nvPr/>
        </p:nvSpPr>
        <p:spPr>
          <a:xfrm flipV="1">
            <a:off x="10526932" y="2306758"/>
            <a:ext cx="0" cy="1583938"/>
          </a:xfrm>
          <a:prstGeom prst="line">
            <a:avLst/>
          </a:prstGeom>
          <a:noFill/>
          <a:ln w="6350">
            <a:solidFill>
              <a:srgbClr val="1F2937"/>
            </a:solidFill>
            <a:prstDash val="solid"/>
          </a:ln>
        </p:spPr>
      </p:sp>
      <p:sp>
        <p:nvSpPr>
          <p:cNvPr id="12" name="S02-chip28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13" name="S02-text29"/>
          <p:cNvSpPr txBox="1"/>
          <p:nvPr/>
        </p:nvSpPr>
        <p:spPr>
          <a:xfrm>
            <a:off x="1344168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가로 5 cm, 세로 3 cm인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직사각형의 넓이는?</a:t>
            </a:r>
            <a:endParaRPr lang="ko-KR" sz="2800" dirty="0"/>
          </a:p>
        </p:txBody>
      </p:sp>
      <p:sp>
        <p:nvSpPr>
          <p:cNvPr id="14" name="S02-chip30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15" name="S02-text31"/>
          <p:cNvSpPr txBox="1"/>
          <p:nvPr/>
        </p:nvSpPr>
        <p:spPr>
          <a:xfrm>
            <a:off x="1344168" y="301752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변이 4 cm인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정사각형의 넓이는?</a:t>
            </a:r>
            <a:endParaRPr lang="ko-KR" sz="2800" dirty="0"/>
          </a:p>
        </p:txBody>
      </p:sp>
      <p:sp>
        <p:nvSpPr>
          <p:cNvPr id="16" name="S02-chip32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17" name="S02-text33"/>
          <p:cNvSpPr txBox="1"/>
          <p:nvPr/>
        </p:nvSpPr>
        <p:spPr>
          <a:xfrm>
            <a:off x="1344168" y="470916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직육면체에서 서로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합동인 면은 몇 쌍?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겉넓이는 여섯 면의 합</a:t>
            </a:r>
            <a:endParaRPr lang="ko-KR" sz="4000" dirty="0"/>
          </a:p>
        </p:txBody>
      </p:sp>
      <p:sp>
        <p:nvSpPr>
          <p:cNvPr id="3" name="S03-text3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직육면체를 펼쳤어요. 모눈 한 칸은 1 cm²예요.</a:t>
            </a:r>
            <a:endParaRPr lang="ko-KR" sz="2800" dirty="0"/>
          </a:p>
        </p:txBody>
      </p:sp>
      <p:sp>
        <p:nvSpPr>
          <p:cNvPr id="4" name="S03-mark35"/>
          <p:cNvSpPr/>
          <p:nvPr/>
        </p:nvSpPr>
        <p:spPr>
          <a:xfrm>
            <a:off x="1046653" y="3710940"/>
            <a:ext cx="1615440" cy="807720"/>
          </a:xfrm>
          <a:custGeom>
            <a:avLst/>
            <a:gdLst/>
            <a:ahLst/>
            <a:cxnLst/>
            <a:rect l="l" t="t" r="r" b="b"/>
            <a:pathLst>
              <a:path w="1615440" h="807720">
                <a:moveTo>
                  <a:pt x="0" y="807720"/>
                </a:moveTo>
                <a:lnTo>
                  <a:pt x="1615440" y="807720"/>
                </a:lnTo>
                <a:lnTo>
                  <a:pt x="1615440" y="0"/>
                </a:lnTo>
                <a:lnTo>
                  <a:pt x="0" y="0"/>
                </a:lnTo>
                <a:close/>
              </a:path>
            </a:pathLst>
          </a:custGeom>
          <a:solidFill>
            <a:srgbClr val="F2C14E"/>
          </a:solidFill>
          <a:ln/>
        </p:spPr>
      </p:sp>
      <p:sp>
        <p:nvSpPr>
          <p:cNvPr id="5" name="S03-mark36"/>
          <p:cNvSpPr/>
          <p:nvPr/>
        </p:nvSpPr>
        <p:spPr>
          <a:xfrm>
            <a:off x="2662093" y="3710940"/>
            <a:ext cx="1211580" cy="807720"/>
          </a:xfrm>
          <a:custGeom>
            <a:avLst/>
            <a:gdLst/>
            <a:ahLst/>
            <a:cxnLst/>
            <a:rect l="l" t="t" r="r" b="b"/>
            <a:pathLst>
              <a:path w="1211580" h="807720">
                <a:moveTo>
                  <a:pt x="0" y="807720"/>
                </a:moveTo>
                <a:lnTo>
                  <a:pt x="1211580" y="807720"/>
                </a:lnTo>
                <a:lnTo>
                  <a:pt x="1211580" y="0"/>
                </a:lnTo>
                <a:lnTo>
                  <a:pt x="0" y="0"/>
                </a:lnTo>
                <a:close/>
              </a:path>
            </a:pathLst>
          </a:custGeom>
          <a:solidFill>
            <a:srgbClr val="CDEBE6"/>
          </a:solidFill>
          <a:ln/>
        </p:spPr>
      </p:sp>
      <p:sp>
        <p:nvSpPr>
          <p:cNvPr id="6" name="S03-mark37"/>
          <p:cNvSpPr/>
          <p:nvPr/>
        </p:nvSpPr>
        <p:spPr>
          <a:xfrm>
            <a:off x="3873673" y="3710940"/>
            <a:ext cx="1615440" cy="807720"/>
          </a:xfrm>
          <a:custGeom>
            <a:avLst/>
            <a:gdLst/>
            <a:ahLst/>
            <a:cxnLst/>
            <a:rect l="l" t="t" r="r" b="b"/>
            <a:pathLst>
              <a:path w="1615440" h="807720">
                <a:moveTo>
                  <a:pt x="0" y="807720"/>
                </a:moveTo>
                <a:lnTo>
                  <a:pt x="1615440" y="807720"/>
                </a:lnTo>
                <a:lnTo>
                  <a:pt x="1615440" y="0"/>
                </a:lnTo>
                <a:lnTo>
                  <a:pt x="0" y="0"/>
                </a:lnTo>
                <a:close/>
              </a:path>
            </a:pathLst>
          </a:custGeom>
          <a:solidFill>
            <a:srgbClr val="F2C14E"/>
          </a:solidFill>
          <a:ln/>
        </p:spPr>
      </p:sp>
      <p:sp>
        <p:nvSpPr>
          <p:cNvPr id="7" name="S03-mark38"/>
          <p:cNvSpPr/>
          <p:nvPr/>
        </p:nvSpPr>
        <p:spPr>
          <a:xfrm>
            <a:off x="5489113" y="3710940"/>
            <a:ext cx="1211580" cy="807720"/>
          </a:xfrm>
          <a:custGeom>
            <a:avLst/>
            <a:gdLst/>
            <a:ahLst/>
            <a:cxnLst/>
            <a:rect l="l" t="t" r="r" b="b"/>
            <a:pathLst>
              <a:path w="1211580" h="807720">
                <a:moveTo>
                  <a:pt x="0" y="807720"/>
                </a:moveTo>
                <a:lnTo>
                  <a:pt x="1211580" y="807720"/>
                </a:lnTo>
                <a:lnTo>
                  <a:pt x="1211580" y="0"/>
                </a:lnTo>
                <a:lnTo>
                  <a:pt x="0" y="0"/>
                </a:lnTo>
                <a:close/>
              </a:path>
            </a:pathLst>
          </a:custGeom>
          <a:solidFill>
            <a:srgbClr val="CDEBE6"/>
          </a:solidFill>
          <a:ln/>
        </p:spPr>
      </p:sp>
      <p:sp>
        <p:nvSpPr>
          <p:cNvPr id="8" name="S03-mark39"/>
          <p:cNvSpPr/>
          <p:nvPr/>
        </p:nvSpPr>
        <p:spPr>
          <a:xfrm>
            <a:off x="1046653" y="2499360"/>
            <a:ext cx="1615440" cy="1211580"/>
          </a:xfrm>
          <a:custGeom>
            <a:avLst/>
            <a:gdLst/>
            <a:ahLst/>
            <a:cxnLst/>
            <a:rect l="l" t="t" r="r" b="b"/>
            <a:pathLst>
              <a:path w="1615440" h="1211580">
                <a:moveTo>
                  <a:pt x="0" y="1211580"/>
                </a:moveTo>
                <a:lnTo>
                  <a:pt x="1615440" y="1211580"/>
                </a:lnTo>
                <a:lnTo>
                  <a:pt x="1615440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/>
        </p:spPr>
      </p:sp>
      <p:sp>
        <p:nvSpPr>
          <p:cNvPr id="9" name="S03-mark40"/>
          <p:cNvSpPr/>
          <p:nvPr/>
        </p:nvSpPr>
        <p:spPr>
          <a:xfrm>
            <a:off x="1046653" y="4518660"/>
            <a:ext cx="1615440" cy="1211580"/>
          </a:xfrm>
          <a:custGeom>
            <a:avLst/>
            <a:gdLst/>
            <a:ahLst/>
            <a:cxnLst/>
            <a:rect l="l" t="t" r="r" b="b"/>
            <a:pathLst>
              <a:path w="1615440" h="1211580">
                <a:moveTo>
                  <a:pt x="0" y="1211580"/>
                </a:moveTo>
                <a:lnTo>
                  <a:pt x="1615440" y="1211580"/>
                </a:lnTo>
                <a:lnTo>
                  <a:pt x="1615440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/>
        </p:spPr>
      </p:sp>
      <p:sp>
        <p:nvSpPr>
          <p:cNvPr id="10" name="S03-mark41"/>
          <p:cNvSpPr/>
          <p:nvPr/>
        </p:nvSpPr>
        <p:spPr>
          <a:xfrm flipV="1">
            <a:off x="642793" y="2095500"/>
            <a:ext cx="0" cy="403860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1" name="S03-mark42"/>
          <p:cNvSpPr/>
          <p:nvPr/>
        </p:nvSpPr>
        <p:spPr>
          <a:xfrm flipV="1">
            <a:off x="1046653" y="2095500"/>
            <a:ext cx="0" cy="403860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2" name="S03-mark43"/>
          <p:cNvSpPr/>
          <p:nvPr/>
        </p:nvSpPr>
        <p:spPr>
          <a:xfrm flipV="1">
            <a:off x="1450513" y="2095500"/>
            <a:ext cx="0" cy="403860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3" name="S03-mark44"/>
          <p:cNvSpPr/>
          <p:nvPr/>
        </p:nvSpPr>
        <p:spPr>
          <a:xfrm flipV="1">
            <a:off x="1854373" y="2095500"/>
            <a:ext cx="0" cy="403860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4" name="S03-mark45"/>
          <p:cNvSpPr/>
          <p:nvPr/>
        </p:nvSpPr>
        <p:spPr>
          <a:xfrm flipV="1">
            <a:off x="2258233" y="2095500"/>
            <a:ext cx="0" cy="403860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5" name="S03-mark46"/>
          <p:cNvSpPr/>
          <p:nvPr/>
        </p:nvSpPr>
        <p:spPr>
          <a:xfrm flipV="1">
            <a:off x="2662093" y="2095500"/>
            <a:ext cx="0" cy="403860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6" name="S03-mark47"/>
          <p:cNvSpPr/>
          <p:nvPr/>
        </p:nvSpPr>
        <p:spPr>
          <a:xfrm flipV="1">
            <a:off x="3065953" y="2095500"/>
            <a:ext cx="0" cy="403860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7" name="S03-mark48"/>
          <p:cNvSpPr/>
          <p:nvPr/>
        </p:nvSpPr>
        <p:spPr>
          <a:xfrm flipV="1">
            <a:off x="3469813" y="2095500"/>
            <a:ext cx="0" cy="403860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8" name="S03-mark49"/>
          <p:cNvSpPr/>
          <p:nvPr/>
        </p:nvSpPr>
        <p:spPr>
          <a:xfrm flipV="1">
            <a:off x="3873673" y="2095500"/>
            <a:ext cx="0" cy="403860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9" name="S03-mark50"/>
          <p:cNvSpPr/>
          <p:nvPr/>
        </p:nvSpPr>
        <p:spPr>
          <a:xfrm flipV="1">
            <a:off x="4277533" y="2095500"/>
            <a:ext cx="0" cy="403860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0" name="S03-mark51"/>
          <p:cNvSpPr/>
          <p:nvPr/>
        </p:nvSpPr>
        <p:spPr>
          <a:xfrm flipV="1">
            <a:off x="4681393" y="2095500"/>
            <a:ext cx="0" cy="403860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1" name="S03-mark52"/>
          <p:cNvSpPr/>
          <p:nvPr/>
        </p:nvSpPr>
        <p:spPr>
          <a:xfrm flipV="1">
            <a:off x="5085253" y="2095500"/>
            <a:ext cx="0" cy="403860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2" name="S03-mark53"/>
          <p:cNvSpPr/>
          <p:nvPr/>
        </p:nvSpPr>
        <p:spPr>
          <a:xfrm flipV="1">
            <a:off x="5489113" y="2095500"/>
            <a:ext cx="0" cy="403860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3" name="S03-mark54"/>
          <p:cNvSpPr/>
          <p:nvPr/>
        </p:nvSpPr>
        <p:spPr>
          <a:xfrm flipV="1">
            <a:off x="5892973" y="2095500"/>
            <a:ext cx="0" cy="403860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4" name="S03-mark55"/>
          <p:cNvSpPr/>
          <p:nvPr/>
        </p:nvSpPr>
        <p:spPr>
          <a:xfrm flipV="1">
            <a:off x="6296833" y="2095500"/>
            <a:ext cx="0" cy="403860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5" name="S03-mark56"/>
          <p:cNvSpPr/>
          <p:nvPr/>
        </p:nvSpPr>
        <p:spPr>
          <a:xfrm flipV="1">
            <a:off x="6700693" y="2095500"/>
            <a:ext cx="0" cy="403860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6" name="S03-mark57"/>
          <p:cNvSpPr/>
          <p:nvPr/>
        </p:nvSpPr>
        <p:spPr>
          <a:xfrm flipV="1">
            <a:off x="7104553" y="2095500"/>
            <a:ext cx="0" cy="403860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7" name="S03-mark58"/>
          <p:cNvSpPr/>
          <p:nvPr/>
        </p:nvSpPr>
        <p:spPr>
          <a:xfrm>
            <a:off x="642793" y="6134100"/>
            <a:ext cx="646176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8" name="S03-mark59"/>
          <p:cNvSpPr/>
          <p:nvPr/>
        </p:nvSpPr>
        <p:spPr>
          <a:xfrm>
            <a:off x="642793" y="5730240"/>
            <a:ext cx="646176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9" name="S03-mark60"/>
          <p:cNvSpPr/>
          <p:nvPr/>
        </p:nvSpPr>
        <p:spPr>
          <a:xfrm>
            <a:off x="642793" y="5326380"/>
            <a:ext cx="646176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0" name="S03-mark61"/>
          <p:cNvSpPr/>
          <p:nvPr/>
        </p:nvSpPr>
        <p:spPr>
          <a:xfrm>
            <a:off x="642793" y="4922520"/>
            <a:ext cx="646176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1" name="S03-mark62"/>
          <p:cNvSpPr/>
          <p:nvPr/>
        </p:nvSpPr>
        <p:spPr>
          <a:xfrm>
            <a:off x="642793" y="4518660"/>
            <a:ext cx="646176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2" name="S03-mark63"/>
          <p:cNvSpPr/>
          <p:nvPr/>
        </p:nvSpPr>
        <p:spPr>
          <a:xfrm>
            <a:off x="642793" y="4114800"/>
            <a:ext cx="646176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3" name="S03-mark64"/>
          <p:cNvSpPr/>
          <p:nvPr/>
        </p:nvSpPr>
        <p:spPr>
          <a:xfrm>
            <a:off x="642793" y="3710940"/>
            <a:ext cx="646176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4" name="S03-mark65"/>
          <p:cNvSpPr/>
          <p:nvPr/>
        </p:nvSpPr>
        <p:spPr>
          <a:xfrm>
            <a:off x="642793" y="3307080"/>
            <a:ext cx="646176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5" name="S03-mark66"/>
          <p:cNvSpPr/>
          <p:nvPr/>
        </p:nvSpPr>
        <p:spPr>
          <a:xfrm>
            <a:off x="642793" y="2903220"/>
            <a:ext cx="646176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6" name="S03-mark67"/>
          <p:cNvSpPr/>
          <p:nvPr/>
        </p:nvSpPr>
        <p:spPr>
          <a:xfrm>
            <a:off x="642793" y="2499360"/>
            <a:ext cx="646176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7" name="S03-mark68"/>
          <p:cNvSpPr/>
          <p:nvPr/>
        </p:nvSpPr>
        <p:spPr>
          <a:xfrm>
            <a:off x="642793" y="2095500"/>
            <a:ext cx="646176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8" name="S03-figure69" descr="가로 4 cm, 세로 3 cm, 높이 2 cm인 직육면체의 전개도(모눈 위). 넓이 12인 면 2개, 8인 면 2개, 6인 면 2개. 같은 넓이의 면은 같은 색"/>
          <p:cNvSpPr/>
          <p:nvPr/>
        </p:nvSpPr>
        <p:spPr>
          <a:xfrm>
            <a:off x="1046653" y="3710940"/>
            <a:ext cx="1615440" cy="807720"/>
          </a:xfrm>
          <a:custGeom>
            <a:avLst/>
            <a:gdLst/>
            <a:ahLst/>
            <a:cxnLst/>
            <a:rect l="l" t="t" r="r" b="b"/>
            <a:pathLst>
              <a:path w="1615440" h="807720">
                <a:moveTo>
                  <a:pt x="0" y="807720"/>
                </a:moveTo>
                <a:lnTo>
                  <a:pt x="1615440" y="807720"/>
                </a:lnTo>
                <a:lnTo>
                  <a:pt x="1615440" y="0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39" name="S03-mark70"/>
          <p:cNvSpPr/>
          <p:nvPr/>
        </p:nvSpPr>
        <p:spPr>
          <a:xfrm>
            <a:off x="2662093" y="3710940"/>
            <a:ext cx="1211580" cy="807720"/>
          </a:xfrm>
          <a:custGeom>
            <a:avLst/>
            <a:gdLst/>
            <a:ahLst/>
            <a:cxnLst/>
            <a:rect l="l" t="t" r="r" b="b"/>
            <a:pathLst>
              <a:path w="1211580" h="807720">
                <a:moveTo>
                  <a:pt x="0" y="807720"/>
                </a:moveTo>
                <a:lnTo>
                  <a:pt x="1211580" y="807720"/>
                </a:lnTo>
                <a:lnTo>
                  <a:pt x="1211580" y="0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40" name="S03-mark71"/>
          <p:cNvSpPr/>
          <p:nvPr/>
        </p:nvSpPr>
        <p:spPr>
          <a:xfrm>
            <a:off x="3873673" y="3710940"/>
            <a:ext cx="1615440" cy="807720"/>
          </a:xfrm>
          <a:custGeom>
            <a:avLst/>
            <a:gdLst/>
            <a:ahLst/>
            <a:cxnLst/>
            <a:rect l="l" t="t" r="r" b="b"/>
            <a:pathLst>
              <a:path w="1615440" h="807720">
                <a:moveTo>
                  <a:pt x="0" y="807720"/>
                </a:moveTo>
                <a:lnTo>
                  <a:pt x="1615440" y="807720"/>
                </a:lnTo>
                <a:lnTo>
                  <a:pt x="1615440" y="0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41" name="S03-mark72"/>
          <p:cNvSpPr/>
          <p:nvPr/>
        </p:nvSpPr>
        <p:spPr>
          <a:xfrm>
            <a:off x="5489113" y="3710940"/>
            <a:ext cx="1211580" cy="807720"/>
          </a:xfrm>
          <a:custGeom>
            <a:avLst/>
            <a:gdLst/>
            <a:ahLst/>
            <a:cxnLst/>
            <a:rect l="l" t="t" r="r" b="b"/>
            <a:pathLst>
              <a:path w="1211580" h="807720">
                <a:moveTo>
                  <a:pt x="0" y="807720"/>
                </a:moveTo>
                <a:lnTo>
                  <a:pt x="1211580" y="807720"/>
                </a:lnTo>
                <a:lnTo>
                  <a:pt x="1211580" y="0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42" name="S03-mark73"/>
          <p:cNvSpPr/>
          <p:nvPr/>
        </p:nvSpPr>
        <p:spPr>
          <a:xfrm>
            <a:off x="1046653" y="2499360"/>
            <a:ext cx="1615440" cy="1211580"/>
          </a:xfrm>
          <a:custGeom>
            <a:avLst/>
            <a:gdLst/>
            <a:ahLst/>
            <a:cxnLst/>
            <a:rect l="l" t="t" r="r" b="b"/>
            <a:pathLst>
              <a:path w="1615440" h="1211580">
                <a:moveTo>
                  <a:pt x="0" y="1211580"/>
                </a:moveTo>
                <a:lnTo>
                  <a:pt x="1615440" y="1211580"/>
                </a:lnTo>
                <a:lnTo>
                  <a:pt x="1615440" y="0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43" name="S03-mark74"/>
          <p:cNvSpPr/>
          <p:nvPr/>
        </p:nvSpPr>
        <p:spPr>
          <a:xfrm>
            <a:off x="1046653" y="4518660"/>
            <a:ext cx="1615440" cy="1211580"/>
          </a:xfrm>
          <a:custGeom>
            <a:avLst/>
            <a:gdLst/>
            <a:ahLst/>
            <a:cxnLst/>
            <a:rect l="l" t="t" r="r" b="b"/>
            <a:pathLst>
              <a:path w="1615440" h="1211580">
                <a:moveTo>
                  <a:pt x="0" y="1211580"/>
                </a:moveTo>
                <a:lnTo>
                  <a:pt x="1615440" y="1211580"/>
                </a:lnTo>
                <a:lnTo>
                  <a:pt x="1615440" y="0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44" name="S03-label76"/>
          <p:cNvSpPr txBox="1"/>
          <p:nvPr/>
        </p:nvSpPr>
        <p:spPr>
          <a:xfrm>
            <a:off x="1707307" y="3940175"/>
            <a:ext cx="29413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200" dirty="0"/>
          </a:p>
        </p:txBody>
      </p:sp>
      <p:sp>
        <p:nvSpPr>
          <p:cNvPr id="45" name="S03-label78"/>
          <p:cNvSpPr txBox="1"/>
          <p:nvPr/>
        </p:nvSpPr>
        <p:spPr>
          <a:xfrm>
            <a:off x="3120817" y="3940175"/>
            <a:ext cx="29413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200" dirty="0"/>
          </a:p>
        </p:txBody>
      </p:sp>
      <p:sp>
        <p:nvSpPr>
          <p:cNvPr id="46" name="S03-label80"/>
          <p:cNvSpPr txBox="1"/>
          <p:nvPr/>
        </p:nvSpPr>
        <p:spPr>
          <a:xfrm>
            <a:off x="4534327" y="3940175"/>
            <a:ext cx="29413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200" dirty="0"/>
          </a:p>
        </p:txBody>
      </p:sp>
      <p:sp>
        <p:nvSpPr>
          <p:cNvPr id="47" name="S03-label82"/>
          <p:cNvSpPr txBox="1"/>
          <p:nvPr/>
        </p:nvSpPr>
        <p:spPr>
          <a:xfrm>
            <a:off x="5947837" y="3940175"/>
            <a:ext cx="29413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200" dirty="0"/>
          </a:p>
        </p:txBody>
      </p:sp>
      <p:sp>
        <p:nvSpPr>
          <p:cNvPr id="48" name="S03-label84"/>
          <p:cNvSpPr txBox="1"/>
          <p:nvPr/>
        </p:nvSpPr>
        <p:spPr>
          <a:xfrm>
            <a:off x="1615105" y="2930525"/>
            <a:ext cx="478536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2200" dirty="0"/>
          </a:p>
        </p:txBody>
      </p:sp>
      <p:sp>
        <p:nvSpPr>
          <p:cNvPr id="49" name="S03-label86"/>
          <p:cNvSpPr txBox="1"/>
          <p:nvPr/>
        </p:nvSpPr>
        <p:spPr>
          <a:xfrm>
            <a:off x="1615105" y="4949825"/>
            <a:ext cx="478536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2200" dirty="0"/>
          </a:p>
        </p:txBody>
      </p:sp>
      <p:sp>
        <p:nvSpPr>
          <p:cNvPr id="50" name="S03-card87"/>
          <p:cNvSpPr/>
          <p:nvPr/>
        </p:nvSpPr>
        <p:spPr>
          <a:xfrm>
            <a:off x="7564465" y="2812034"/>
            <a:ext cx="4075847" cy="1180084"/>
          </a:xfrm>
          <a:prstGeom prst="roundRect">
            <a:avLst>
              <a:gd name="adj" fmla="val 929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1" name="S03-cardtext88"/>
          <p:cNvSpPr txBox="1"/>
          <p:nvPr/>
        </p:nvSpPr>
        <p:spPr>
          <a:xfrm>
            <a:off x="7838785" y="2949194"/>
            <a:ext cx="3527207" cy="905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겉넓이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여섯 면의 넓이의 합</a:t>
            </a:r>
            <a:endParaRPr lang="ko-KR" sz="2800" dirty="0"/>
          </a:p>
        </p:txBody>
      </p:sp>
      <p:sp>
        <p:nvSpPr>
          <p:cNvPr id="52" name="S03-card89"/>
          <p:cNvSpPr/>
          <p:nvPr/>
        </p:nvSpPr>
        <p:spPr>
          <a:xfrm>
            <a:off x="7564465" y="4220718"/>
            <a:ext cx="4075847" cy="1196848"/>
          </a:xfrm>
          <a:prstGeom prst="roundRect">
            <a:avLst>
              <a:gd name="adj" fmla="val 916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3" name="S03-cardtext90"/>
          <p:cNvSpPr txBox="1"/>
          <p:nvPr/>
        </p:nvSpPr>
        <p:spPr>
          <a:xfrm>
            <a:off x="7838785" y="4357878"/>
            <a:ext cx="3527207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 + 8 + 6 + 8 + 6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+ 12 = 52 (cm²)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쌍이니까 × 2</a:t>
            </a:r>
            <a:endParaRPr lang="ko-KR" sz="4000" dirty="0"/>
          </a:p>
        </p:txBody>
      </p:sp>
      <p:sp>
        <p:nvSpPr>
          <p:cNvPr id="3" name="S04-card9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4-cardtext9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(12 + 8 + 6) × 2 = 52 (cm²)</a:t>
            </a:r>
            <a:endParaRPr lang="ko-KR" sz="2800" dirty="0"/>
          </a:p>
        </p:txBody>
      </p:sp>
      <p:sp>
        <p:nvSpPr>
          <p:cNvPr id="5" name="S04-figure93" descr="가로 4 cm, 세로 3 cm, 높이 2 cm인 직육면체: 위·아래 면, 앞·뒤 면, 양옆 면을 서로 다른 색으로 칠함"/>
          <p:cNvSpPr/>
          <p:nvPr/>
        </p:nvSpPr>
        <p:spPr>
          <a:xfrm>
            <a:off x="7850632" y="2746957"/>
            <a:ext cx="2005485" cy="1002742"/>
          </a:xfrm>
          <a:custGeom>
            <a:avLst/>
            <a:gdLst/>
            <a:ahLst/>
            <a:cxnLst/>
            <a:rect l="l" t="t" r="r" b="b"/>
            <a:pathLst>
              <a:path w="2005485" h="1002742">
                <a:moveTo>
                  <a:pt x="0" y="1002742"/>
                </a:moveTo>
                <a:lnTo>
                  <a:pt x="2005485" y="1002742"/>
                </a:lnTo>
                <a:lnTo>
                  <a:pt x="2005485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6" name="S04-mark94"/>
          <p:cNvSpPr/>
          <p:nvPr/>
        </p:nvSpPr>
        <p:spPr>
          <a:xfrm>
            <a:off x="7850632" y="2295723"/>
            <a:ext cx="2637213" cy="451234"/>
          </a:xfrm>
          <a:custGeom>
            <a:avLst/>
            <a:gdLst/>
            <a:ahLst/>
            <a:cxnLst/>
            <a:rect l="l" t="t" r="r" b="b"/>
            <a:pathLst>
              <a:path w="2637213" h="451234">
                <a:moveTo>
                  <a:pt x="0" y="451234"/>
                </a:moveTo>
                <a:lnTo>
                  <a:pt x="2005485" y="451234"/>
                </a:lnTo>
                <a:lnTo>
                  <a:pt x="2637213" y="0"/>
                </a:lnTo>
                <a:lnTo>
                  <a:pt x="631728" y="0"/>
                </a:lnTo>
                <a:close/>
              </a:path>
            </a:pathLst>
          </a:custGeom>
          <a:solidFill>
            <a:srgbClr val="F2C14E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7" name="S04-mark95"/>
          <p:cNvSpPr/>
          <p:nvPr/>
        </p:nvSpPr>
        <p:spPr>
          <a:xfrm>
            <a:off x="9856117" y="2295723"/>
            <a:ext cx="631728" cy="1453977"/>
          </a:xfrm>
          <a:custGeom>
            <a:avLst/>
            <a:gdLst/>
            <a:ahLst/>
            <a:cxnLst/>
            <a:rect l="l" t="t" r="r" b="b"/>
            <a:pathLst>
              <a:path w="631728" h="1453977">
                <a:moveTo>
                  <a:pt x="0" y="1453977"/>
                </a:moveTo>
                <a:lnTo>
                  <a:pt x="631728" y="1002742"/>
                </a:lnTo>
                <a:lnTo>
                  <a:pt x="631728" y="0"/>
                </a:lnTo>
                <a:lnTo>
                  <a:pt x="0" y="451234"/>
                </a:lnTo>
                <a:close/>
              </a:path>
            </a:pathLst>
          </a:custGeom>
          <a:solidFill>
            <a:srgbClr val="CDEBE6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8" name="S04-mark96"/>
          <p:cNvSpPr/>
          <p:nvPr/>
        </p:nvSpPr>
        <p:spPr>
          <a:xfrm>
            <a:off x="8482360" y="3298466"/>
            <a:ext cx="2005485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dash"/>
          </a:ln>
        </p:spPr>
      </p:sp>
      <p:sp>
        <p:nvSpPr>
          <p:cNvPr id="9" name="S04-mark97"/>
          <p:cNvSpPr/>
          <p:nvPr/>
        </p:nvSpPr>
        <p:spPr>
          <a:xfrm flipV="1">
            <a:off x="8482360" y="2295723"/>
            <a:ext cx="0" cy="1002742"/>
          </a:xfrm>
          <a:prstGeom prst="line">
            <a:avLst/>
          </a:prstGeom>
          <a:noFill/>
          <a:ln w="28575">
            <a:solidFill>
              <a:srgbClr val="1F2937"/>
            </a:solidFill>
            <a:prstDash val="dash"/>
          </a:ln>
        </p:spPr>
      </p:sp>
      <p:sp>
        <p:nvSpPr>
          <p:cNvPr id="10" name="S04-mark98"/>
          <p:cNvSpPr/>
          <p:nvPr/>
        </p:nvSpPr>
        <p:spPr>
          <a:xfrm flipH="1">
            <a:off x="7850632" y="3298466"/>
            <a:ext cx="631728" cy="451234"/>
          </a:xfrm>
          <a:prstGeom prst="line">
            <a:avLst/>
          </a:prstGeom>
          <a:noFill/>
          <a:ln w="28575">
            <a:solidFill>
              <a:srgbClr val="1F2937"/>
            </a:solidFill>
            <a:prstDash val="dash"/>
          </a:ln>
        </p:spPr>
      </p:sp>
      <p:sp>
        <p:nvSpPr>
          <p:cNvPr id="11" name="S04-mark99"/>
          <p:cNvSpPr/>
          <p:nvPr/>
        </p:nvSpPr>
        <p:spPr>
          <a:xfrm>
            <a:off x="7850632" y="3749700"/>
            <a:ext cx="2005485" cy="0"/>
          </a:xfrm>
          <a:prstGeom prst="line">
            <a:avLst/>
          </a:prstGeom>
          <a:noFill/>
          <a:ln w="6350">
            <a:solidFill>
              <a:srgbClr val="1F2937"/>
            </a:solidFill>
            <a:prstDash val="solid"/>
          </a:ln>
        </p:spPr>
      </p:sp>
      <p:sp>
        <p:nvSpPr>
          <p:cNvPr id="12" name="S04-mark100"/>
          <p:cNvSpPr/>
          <p:nvPr/>
        </p:nvSpPr>
        <p:spPr>
          <a:xfrm flipV="1">
            <a:off x="9856117" y="3298466"/>
            <a:ext cx="631728" cy="451234"/>
          </a:xfrm>
          <a:prstGeom prst="line">
            <a:avLst/>
          </a:prstGeom>
          <a:noFill/>
          <a:ln w="6350">
            <a:solidFill>
              <a:srgbClr val="1F2937"/>
            </a:solidFill>
            <a:prstDash val="solid"/>
          </a:ln>
        </p:spPr>
      </p:sp>
      <p:sp>
        <p:nvSpPr>
          <p:cNvPr id="13" name="S04-mark101"/>
          <p:cNvSpPr/>
          <p:nvPr/>
        </p:nvSpPr>
        <p:spPr>
          <a:xfrm flipV="1">
            <a:off x="10487845" y="2295723"/>
            <a:ext cx="0" cy="1002742"/>
          </a:xfrm>
          <a:prstGeom prst="line">
            <a:avLst/>
          </a:prstGeom>
          <a:noFill/>
          <a:ln w="6350">
            <a:solidFill>
              <a:srgbClr val="1F2937"/>
            </a:solidFill>
            <a:prstDash val="solid"/>
          </a:ln>
        </p:spPr>
      </p:sp>
      <p:sp>
        <p:nvSpPr>
          <p:cNvPr id="14" name="S04-label103"/>
          <p:cNvSpPr txBox="1"/>
          <p:nvPr/>
        </p:nvSpPr>
        <p:spPr>
          <a:xfrm>
            <a:off x="8471612" y="3826535"/>
            <a:ext cx="76352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cm</a:t>
            </a:r>
            <a:endParaRPr lang="ko-KR" sz="2200" dirty="0"/>
          </a:p>
        </p:txBody>
      </p:sp>
      <p:sp>
        <p:nvSpPr>
          <p:cNvPr id="15" name="S04-label105"/>
          <p:cNvSpPr txBox="1"/>
          <p:nvPr/>
        </p:nvSpPr>
        <p:spPr>
          <a:xfrm>
            <a:off x="10020171" y="3671390"/>
            <a:ext cx="76352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cm</a:t>
            </a:r>
            <a:endParaRPr lang="ko-KR" sz="2200" dirty="0"/>
          </a:p>
        </p:txBody>
      </p:sp>
      <p:sp>
        <p:nvSpPr>
          <p:cNvPr id="16" name="S04-label107"/>
          <p:cNvSpPr txBox="1"/>
          <p:nvPr/>
        </p:nvSpPr>
        <p:spPr>
          <a:xfrm>
            <a:off x="10491655" y="2622469"/>
            <a:ext cx="76352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cm</a:t>
            </a:r>
            <a:endParaRPr lang="ko-KR" sz="2200" dirty="0"/>
          </a:p>
        </p:txBody>
      </p:sp>
      <p:sp>
        <p:nvSpPr>
          <p:cNvPr id="17" name="S04-stepno108"/>
          <p:cNvSpPr txBox="1"/>
          <p:nvPr/>
        </p:nvSpPr>
        <p:spPr>
          <a:xfrm>
            <a:off x="548640" y="187909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18" name="S04-text109"/>
          <p:cNvSpPr txBox="1"/>
          <p:nvPr/>
        </p:nvSpPr>
        <p:spPr>
          <a:xfrm>
            <a:off x="1325880" y="1879092"/>
            <a:ext cx="295537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위·아래</a:t>
            </a:r>
            <a:endParaRPr lang="ko-KR" sz="2800" dirty="0"/>
          </a:p>
        </p:txBody>
      </p:sp>
      <p:sp>
        <p:nvSpPr>
          <p:cNvPr id="19" name="S04-eqtext110"/>
          <p:cNvSpPr txBox="1"/>
          <p:nvPr/>
        </p:nvSpPr>
        <p:spPr>
          <a:xfrm>
            <a:off x="4281257" y="1879092"/>
            <a:ext cx="27029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× 3 = 12</a:t>
            </a:r>
            <a:endParaRPr lang="ko-KR" sz="2800" dirty="0"/>
          </a:p>
        </p:txBody>
      </p:sp>
      <p:sp>
        <p:nvSpPr>
          <p:cNvPr id="20" name="S04-stepno111"/>
          <p:cNvSpPr txBox="1"/>
          <p:nvPr/>
        </p:nvSpPr>
        <p:spPr>
          <a:xfrm>
            <a:off x="548640" y="259232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21" name="S04-text112"/>
          <p:cNvSpPr txBox="1"/>
          <p:nvPr/>
        </p:nvSpPr>
        <p:spPr>
          <a:xfrm>
            <a:off x="1325880" y="2592324"/>
            <a:ext cx="295537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앞·뒤</a:t>
            </a:r>
            <a:endParaRPr lang="ko-KR" sz="2800" dirty="0"/>
          </a:p>
        </p:txBody>
      </p:sp>
      <p:sp>
        <p:nvSpPr>
          <p:cNvPr id="22" name="S04-eqtext113"/>
          <p:cNvSpPr txBox="1"/>
          <p:nvPr/>
        </p:nvSpPr>
        <p:spPr>
          <a:xfrm>
            <a:off x="4281257" y="2592324"/>
            <a:ext cx="27029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× 2 = 8</a:t>
            </a:r>
            <a:endParaRPr lang="ko-KR" sz="2800" dirty="0"/>
          </a:p>
        </p:txBody>
      </p:sp>
      <p:sp>
        <p:nvSpPr>
          <p:cNvPr id="23" name="S04-stepno114"/>
          <p:cNvSpPr txBox="1"/>
          <p:nvPr/>
        </p:nvSpPr>
        <p:spPr>
          <a:xfrm>
            <a:off x="548640" y="330555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24" name="S04-text115"/>
          <p:cNvSpPr txBox="1"/>
          <p:nvPr/>
        </p:nvSpPr>
        <p:spPr>
          <a:xfrm>
            <a:off x="1325880" y="3305556"/>
            <a:ext cx="295537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양옆</a:t>
            </a:r>
            <a:endParaRPr lang="ko-KR" sz="2800" dirty="0"/>
          </a:p>
        </p:txBody>
      </p:sp>
      <p:sp>
        <p:nvSpPr>
          <p:cNvPr id="25" name="S04-eqtext116"/>
          <p:cNvSpPr txBox="1"/>
          <p:nvPr/>
        </p:nvSpPr>
        <p:spPr>
          <a:xfrm>
            <a:off x="4281257" y="3305556"/>
            <a:ext cx="27029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× 2 = 6</a:t>
            </a:r>
            <a:endParaRPr lang="ko-KR" sz="2800" dirty="0"/>
          </a:p>
        </p:txBody>
      </p:sp>
      <p:sp>
        <p:nvSpPr>
          <p:cNvPr id="26" name="S04-stepno117"/>
          <p:cNvSpPr txBox="1"/>
          <p:nvPr/>
        </p:nvSpPr>
        <p:spPr>
          <a:xfrm>
            <a:off x="548640" y="401878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200" dirty="0"/>
          </a:p>
        </p:txBody>
      </p:sp>
      <p:sp>
        <p:nvSpPr>
          <p:cNvPr id="27" name="S04-text118"/>
          <p:cNvSpPr txBox="1"/>
          <p:nvPr/>
        </p:nvSpPr>
        <p:spPr>
          <a:xfrm>
            <a:off x="1325880" y="4018788"/>
            <a:ext cx="295537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면의 합 × 2</a:t>
            </a:r>
            <a:endParaRPr lang="ko-KR" sz="2800" dirty="0"/>
          </a:p>
        </p:txBody>
      </p:sp>
      <p:sp>
        <p:nvSpPr>
          <p:cNvPr id="28" name="S04-eqtext119"/>
          <p:cNvSpPr txBox="1"/>
          <p:nvPr/>
        </p:nvSpPr>
        <p:spPr>
          <a:xfrm>
            <a:off x="4281257" y="4018788"/>
            <a:ext cx="27029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26 × 2 = 52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밑면과 옆면으로</a:t>
            </a:r>
            <a:endParaRPr lang="ko-KR" sz="4000" dirty="0"/>
          </a:p>
        </p:txBody>
      </p:sp>
      <p:sp>
        <p:nvSpPr>
          <p:cNvPr id="3" name="S05-mark120"/>
          <p:cNvSpPr/>
          <p:nvPr/>
        </p:nvSpPr>
        <p:spPr>
          <a:xfrm>
            <a:off x="1024204" y="3380156"/>
            <a:ext cx="1566977" cy="783488"/>
          </a:xfrm>
          <a:custGeom>
            <a:avLst/>
            <a:gdLst/>
            <a:ahLst/>
            <a:cxnLst/>
            <a:rect l="l" t="t" r="r" b="b"/>
            <a:pathLst>
              <a:path w="1566977" h="783488">
                <a:moveTo>
                  <a:pt x="0" y="783488"/>
                </a:moveTo>
                <a:lnTo>
                  <a:pt x="1566977" y="783488"/>
                </a:lnTo>
                <a:lnTo>
                  <a:pt x="1566977" y="0"/>
                </a:lnTo>
                <a:lnTo>
                  <a:pt x="0" y="0"/>
                </a:lnTo>
                <a:close/>
              </a:path>
            </a:pathLst>
          </a:custGeom>
          <a:solidFill>
            <a:srgbClr val="F2C14E"/>
          </a:solidFill>
          <a:ln/>
        </p:spPr>
      </p:sp>
      <p:sp>
        <p:nvSpPr>
          <p:cNvPr id="4" name="S05-mark121"/>
          <p:cNvSpPr/>
          <p:nvPr/>
        </p:nvSpPr>
        <p:spPr>
          <a:xfrm>
            <a:off x="2591181" y="3380156"/>
            <a:ext cx="1175233" cy="783488"/>
          </a:xfrm>
          <a:custGeom>
            <a:avLst/>
            <a:gdLst/>
            <a:ahLst/>
            <a:cxnLst/>
            <a:rect l="l" t="t" r="r" b="b"/>
            <a:pathLst>
              <a:path w="1175233" h="783488">
                <a:moveTo>
                  <a:pt x="0" y="783488"/>
                </a:moveTo>
                <a:lnTo>
                  <a:pt x="1175233" y="783488"/>
                </a:lnTo>
                <a:lnTo>
                  <a:pt x="1175233" y="0"/>
                </a:lnTo>
                <a:lnTo>
                  <a:pt x="0" y="0"/>
                </a:lnTo>
                <a:close/>
              </a:path>
            </a:pathLst>
          </a:custGeom>
          <a:solidFill>
            <a:srgbClr val="F2C14E"/>
          </a:solidFill>
          <a:ln/>
        </p:spPr>
      </p:sp>
      <p:sp>
        <p:nvSpPr>
          <p:cNvPr id="5" name="S05-mark122"/>
          <p:cNvSpPr/>
          <p:nvPr/>
        </p:nvSpPr>
        <p:spPr>
          <a:xfrm>
            <a:off x="3766414" y="3380156"/>
            <a:ext cx="1566977" cy="783488"/>
          </a:xfrm>
          <a:custGeom>
            <a:avLst/>
            <a:gdLst/>
            <a:ahLst/>
            <a:cxnLst/>
            <a:rect l="l" t="t" r="r" b="b"/>
            <a:pathLst>
              <a:path w="1566977" h="783488">
                <a:moveTo>
                  <a:pt x="0" y="783488"/>
                </a:moveTo>
                <a:lnTo>
                  <a:pt x="1566977" y="783488"/>
                </a:lnTo>
                <a:lnTo>
                  <a:pt x="1566977" y="0"/>
                </a:lnTo>
                <a:lnTo>
                  <a:pt x="0" y="0"/>
                </a:lnTo>
                <a:close/>
              </a:path>
            </a:pathLst>
          </a:custGeom>
          <a:solidFill>
            <a:srgbClr val="F2C14E"/>
          </a:solidFill>
          <a:ln/>
        </p:spPr>
      </p:sp>
      <p:sp>
        <p:nvSpPr>
          <p:cNvPr id="6" name="S05-mark123"/>
          <p:cNvSpPr/>
          <p:nvPr/>
        </p:nvSpPr>
        <p:spPr>
          <a:xfrm>
            <a:off x="5333390" y="3380156"/>
            <a:ext cx="1175233" cy="783488"/>
          </a:xfrm>
          <a:custGeom>
            <a:avLst/>
            <a:gdLst/>
            <a:ahLst/>
            <a:cxnLst/>
            <a:rect l="l" t="t" r="r" b="b"/>
            <a:pathLst>
              <a:path w="1175233" h="783488">
                <a:moveTo>
                  <a:pt x="0" y="783488"/>
                </a:moveTo>
                <a:lnTo>
                  <a:pt x="1175233" y="783488"/>
                </a:lnTo>
                <a:lnTo>
                  <a:pt x="1175233" y="0"/>
                </a:lnTo>
                <a:lnTo>
                  <a:pt x="0" y="0"/>
                </a:lnTo>
                <a:close/>
              </a:path>
            </a:pathLst>
          </a:custGeom>
          <a:solidFill>
            <a:srgbClr val="F2C14E"/>
          </a:solidFill>
          <a:ln/>
        </p:spPr>
      </p:sp>
      <p:sp>
        <p:nvSpPr>
          <p:cNvPr id="7" name="S05-mark124"/>
          <p:cNvSpPr/>
          <p:nvPr/>
        </p:nvSpPr>
        <p:spPr>
          <a:xfrm>
            <a:off x="1024204" y="2204923"/>
            <a:ext cx="1566977" cy="1175233"/>
          </a:xfrm>
          <a:custGeom>
            <a:avLst/>
            <a:gdLst/>
            <a:ahLst/>
            <a:cxnLst/>
            <a:rect l="l" t="t" r="r" b="b"/>
            <a:pathLst>
              <a:path w="1566977" h="1175233">
                <a:moveTo>
                  <a:pt x="0" y="1175233"/>
                </a:moveTo>
                <a:lnTo>
                  <a:pt x="1566977" y="1175233"/>
                </a:lnTo>
                <a:lnTo>
                  <a:pt x="1566977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/>
        </p:spPr>
      </p:sp>
      <p:sp>
        <p:nvSpPr>
          <p:cNvPr id="8" name="S05-mark125"/>
          <p:cNvSpPr/>
          <p:nvPr/>
        </p:nvSpPr>
        <p:spPr>
          <a:xfrm>
            <a:off x="1024204" y="4163644"/>
            <a:ext cx="1566977" cy="1175233"/>
          </a:xfrm>
          <a:custGeom>
            <a:avLst/>
            <a:gdLst/>
            <a:ahLst/>
            <a:cxnLst/>
            <a:rect l="l" t="t" r="r" b="b"/>
            <a:pathLst>
              <a:path w="1566977" h="1175233">
                <a:moveTo>
                  <a:pt x="0" y="1175233"/>
                </a:moveTo>
                <a:lnTo>
                  <a:pt x="1566977" y="1175233"/>
                </a:lnTo>
                <a:lnTo>
                  <a:pt x="1566977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/>
        </p:spPr>
      </p:sp>
      <p:sp>
        <p:nvSpPr>
          <p:cNvPr id="9" name="S05-mark126"/>
          <p:cNvSpPr/>
          <p:nvPr/>
        </p:nvSpPr>
        <p:spPr>
          <a:xfrm flipV="1">
            <a:off x="632460" y="1813179"/>
            <a:ext cx="0" cy="3917442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0" name="S05-mark127"/>
          <p:cNvSpPr/>
          <p:nvPr/>
        </p:nvSpPr>
        <p:spPr>
          <a:xfrm flipV="1">
            <a:off x="1024204" y="1813179"/>
            <a:ext cx="0" cy="3917442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1" name="S05-mark128"/>
          <p:cNvSpPr/>
          <p:nvPr/>
        </p:nvSpPr>
        <p:spPr>
          <a:xfrm flipV="1">
            <a:off x="1415948" y="1813179"/>
            <a:ext cx="0" cy="3917442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2" name="S05-mark129"/>
          <p:cNvSpPr/>
          <p:nvPr/>
        </p:nvSpPr>
        <p:spPr>
          <a:xfrm flipV="1">
            <a:off x="1807693" y="1813179"/>
            <a:ext cx="0" cy="3917442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3" name="S05-mark130"/>
          <p:cNvSpPr/>
          <p:nvPr/>
        </p:nvSpPr>
        <p:spPr>
          <a:xfrm flipV="1">
            <a:off x="2199437" y="1813179"/>
            <a:ext cx="0" cy="3917442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4" name="S05-mark131"/>
          <p:cNvSpPr/>
          <p:nvPr/>
        </p:nvSpPr>
        <p:spPr>
          <a:xfrm flipV="1">
            <a:off x="2591181" y="1813179"/>
            <a:ext cx="0" cy="3917442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5" name="S05-mark132"/>
          <p:cNvSpPr/>
          <p:nvPr/>
        </p:nvSpPr>
        <p:spPr>
          <a:xfrm flipV="1">
            <a:off x="2982925" y="1813179"/>
            <a:ext cx="0" cy="3917442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6" name="S05-mark133"/>
          <p:cNvSpPr/>
          <p:nvPr/>
        </p:nvSpPr>
        <p:spPr>
          <a:xfrm flipV="1">
            <a:off x="3374669" y="1813179"/>
            <a:ext cx="0" cy="3917442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7" name="S05-mark134"/>
          <p:cNvSpPr/>
          <p:nvPr/>
        </p:nvSpPr>
        <p:spPr>
          <a:xfrm flipV="1">
            <a:off x="3766414" y="1813179"/>
            <a:ext cx="0" cy="3917442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8" name="S05-mark135"/>
          <p:cNvSpPr/>
          <p:nvPr/>
        </p:nvSpPr>
        <p:spPr>
          <a:xfrm flipV="1">
            <a:off x="4158158" y="1813179"/>
            <a:ext cx="0" cy="3917442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9" name="S05-mark136"/>
          <p:cNvSpPr/>
          <p:nvPr/>
        </p:nvSpPr>
        <p:spPr>
          <a:xfrm flipV="1">
            <a:off x="4549902" y="1813179"/>
            <a:ext cx="0" cy="3917442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0" name="S05-mark137"/>
          <p:cNvSpPr/>
          <p:nvPr/>
        </p:nvSpPr>
        <p:spPr>
          <a:xfrm flipV="1">
            <a:off x="4941646" y="1813179"/>
            <a:ext cx="0" cy="3917442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1" name="S05-mark138"/>
          <p:cNvSpPr/>
          <p:nvPr/>
        </p:nvSpPr>
        <p:spPr>
          <a:xfrm flipV="1">
            <a:off x="5333390" y="1813179"/>
            <a:ext cx="0" cy="3917442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2" name="S05-mark139"/>
          <p:cNvSpPr/>
          <p:nvPr/>
        </p:nvSpPr>
        <p:spPr>
          <a:xfrm flipV="1">
            <a:off x="5725135" y="1813179"/>
            <a:ext cx="0" cy="3917442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3" name="S05-mark140"/>
          <p:cNvSpPr/>
          <p:nvPr/>
        </p:nvSpPr>
        <p:spPr>
          <a:xfrm flipV="1">
            <a:off x="6116879" y="1813179"/>
            <a:ext cx="0" cy="3917442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4" name="S05-mark141"/>
          <p:cNvSpPr/>
          <p:nvPr/>
        </p:nvSpPr>
        <p:spPr>
          <a:xfrm flipV="1">
            <a:off x="6508623" y="1813179"/>
            <a:ext cx="0" cy="3917442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5" name="S05-mark142"/>
          <p:cNvSpPr/>
          <p:nvPr/>
        </p:nvSpPr>
        <p:spPr>
          <a:xfrm flipV="1">
            <a:off x="6900367" y="1813179"/>
            <a:ext cx="0" cy="3917442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6" name="S05-mark143"/>
          <p:cNvSpPr/>
          <p:nvPr/>
        </p:nvSpPr>
        <p:spPr>
          <a:xfrm>
            <a:off x="632460" y="5730621"/>
            <a:ext cx="6267907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7" name="S05-mark144"/>
          <p:cNvSpPr/>
          <p:nvPr/>
        </p:nvSpPr>
        <p:spPr>
          <a:xfrm>
            <a:off x="632460" y="5338877"/>
            <a:ext cx="6267907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8" name="S05-mark145"/>
          <p:cNvSpPr/>
          <p:nvPr/>
        </p:nvSpPr>
        <p:spPr>
          <a:xfrm>
            <a:off x="632460" y="4947133"/>
            <a:ext cx="6267907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9" name="S05-mark146"/>
          <p:cNvSpPr/>
          <p:nvPr/>
        </p:nvSpPr>
        <p:spPr>
          <a:xfrm>
            <a:off x="632460" y="4555388"/>
            <a:ext cx="6267907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0" name="S05-mark147"/>
          <p:cNvSpPr/>
          <p:nvPr/>
        </p:nvSpPr>
        <p:spPr>
          <a:xfrm>
            <a:off x="632460" y="4163644"/>
            <a:ext cx="6267907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1" name="S05-mark148"/>
          <p:cNvSpPr/>
          <p:nvPr/>
        </p:nvSpPr>
        <p:spPr>
          <a:xfrm>
            <a:off x="632460" y="3771900"/>
            <a:ext cx="6267907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2" name="S05-mark149"/>
          <p:cNvSpPr/>
          <p:nvPr/>
        </p:nvSpPr>
        <p:spPr>
          <a:xfrm>
            <a:off x="632460" y="3380156"/>
            <a:ext cx="6267907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3" name="S05-mark150"/>
          <p:cNvSpPr/>
          <p:nvPr/>
        </p:nvSpPr>
        <p:spPr>
          <a:xfrm>
            <a:off x="632460" y="2988412"/>
            <a:ext cx="6267907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4" name="S05-mark151"/>
          <p:cNvSpPr/>
          <p:nvPr/>
        </p:nvSpPr>
        <p:spPr>
          <a:xfrm>
            <a:off x="632460" y="2596667"/>
            <a:ext cx="6267907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5" name="S05-mark152"/>
          <p:cNvSpPr/>
          <p:nvPr/>
        </p:nvSpPr>
        <p:spPr>
          <a:xfrm>
            <a:off x="632460" y="2204923"/>
            <a:ext cx="6267907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6" name="S05-mark153"/>
          <p:cNvSpPr/>
          <p:nvPr/>
        </p:nvSpPr>
        <p:spPr>
          <a:xfrm>
            <a:off x="632460" y="1813179"/>
            <a:ext cx="6267907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7" name="S05-figure154" descr="전개도에서 옆면 네 개를 이으면 가로 14 cm(4 + 3 + 4 + 3), 세로 2 cm인 직사각형 하나가 됨. 위아래의 밑면은 4 cm × 3 cm"/>
          <p:cNvSpPr/>
          <p:nvPr/>
        </p:nvSpPr>
        <p:spPr>
          <a:xfrm>
            <a:off x="1024204" y="3380156"/>
            <a:ext cx="1566977" cy="783488"/>
          </a:xfrm>
          <a:custGeom>
            <a:avLst/>
            <a:gdLst/>
            <a:ahLst/>
            <a:cxnLst/>
            <a:rect l="l" t="t" r="r" b="b"/>
            <a:pathLst>
              <a:path w="1566977" h="783488">
                <a:moveTo>
                  <a:pt x="0" y="783488"/>
                </a:moveTo>
                <a:lnTo>
                  <a:pt x="1566977" y="783488"/>
                </a:lnTo>
                <a:lnTo>
                  <a:pt x="1566977" y="0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38" name="S05-mark155"/>
          <p:cNvSpPr/>
          <p:nvPr/>
        </p:nvSpPr>
        <p:spPr>
          <a:xfrm>
            <a:off x="2591181" y="3380156"/>
            <a:ext cx="1175233" cy="783488"/>
          </a:xfrm>
          <a:custGeom>
            <a:avLst/>
            <a:gdLst/>
            <a:ahLst/>
            <a:cxnLst/>
            <a:rect l="l" t="t" r="r" b="b"/>
            <a:pathLst>
              <a:path w="1175233" h="783488">
                <a:moveTo>
                  <a:pt x="0" y="783488"/>
                </a:moveTo>
                <a:lnTo>
                  <a:pt x="1175233" y="783488"/>
                </a:lnTo>
                <a:lnTo>
                  <a:pt x="1175233" y="0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39" name="S05-mark156"/>
          <p:cNvSpPr/>
          <p:nvPr/>
        </p:nvSpPr>
        <p:spPr>
          <a:xfrm>
            <a:off x="3766414" y="3380156"/>
            <a:ext cx="1566977" cy="783488"/>
          </a:xfrm>
          <a:custGeom>
            <a:avLst/>
            <a:gdLst/>
            <a:ahLst/>
            <a:cxnLst/>
            <a:rect l="l" t="t" r="r" b="b"/>
            <a:pathLst>
              <a:path w="1566977" h="783488">
                <a:moveTo>
                  <a:pt x="0" y="783488"/>
                </a:moveTo>
                <a:lnTo>
                  <a:pt x="1566977" y="783488"/>
                </a:lnTo>
                <a:lnTo>
                  <a:pt x="1566977" y="0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40" name="S05-mark157"/>
          <p:cNvSpPr/>
          <p:nvPr/>
        </p:nvSpPr>
        <p:spPr>
          <a:xfrm>
            <a:off x="5333390" y="3380156"/>
            <a:ext cx="1175233" cy="783488"/>
          </a:xfrm>
          <a:custGeom>
            <a:avLst/>
            <a:gdLst/>
            <a:ahLst/>
            <a:cxnLst/>
            <a:rect l="l" t="t" r="r" b="b"/>
            <a:pathLst>
              <a:path w="1175233" h="783488">
                <a:moveTo>
                  <a:pt x="0" y="783488"/>
                </a:moveTo>
                <a:lnTo>
                  <a:pt x="1175233" y="783488"/>
                </a:lnTo>
                <a:lnTo>
                  <a:pt x="1175233" y="0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41" name="S05-mark158"/>
          <p:cNvSpPr/>
          <p:nvPr/>
        </p:nvSpPr>
        <p:spPr>
          <a:xfrm>
            <a:off x="1024204" y="2204923"/>
            <a:ext cx="1566977" cy="1175233"/>
          </a:xfrm>
          <a:custGeom>
            <a:avLst/>
            <a:gdLst/>
            <a:ahLst/>
            <a:cxnLst/>
            <a:rect l="l" t="t" r="r" b="b"/>
            <a:pathLst>
              <a:path w="1566977" h="1175233">
                <a:moveTo>
                  <a:pt x="0" y="1175233"/>
                </a:moveTo>
                <a:lnTo>
                  <a:pt x="1566977" y="1175233"/>
                </a:lnTo>
                <a:lnTo>
                  <a:pt x="1566977" y="0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42" name="S05-mark159"/>
          <p:cNvSpPr/>
          <p:nvPr/>
        </p:nvSpPr>
        <p:spPr>
          <a:xfrm>
            <a:off x="1024204" y="4163644"/>
            <a:ext cx="1566977" cy="1175233"/>
          </a:xfrm>
          <a:custGeom>
            <a:avLst/>
            <a:gdLst/>
            <a:ahLst/>
            <a:cxnLst/>
            <a:rect l="l" t="t" r="r" b="b"/>
            <a:pathLst>
              <a:path w="1566977" h="1175233">
                <a:moveTo>
                  <a:pt x="0" y="1175233"/>
                </a:moveTo>
                <a:lnTo>
                  <a:pt x="1566977" y="1175233"/>
                </a:lnTo>
                <a:lnTo>
                  <a:pt x="1566977" y="0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43" name="S05-mark160"/>
          <p:cNvSpPr/>
          <p:nvPr/>
        </p:nvSpPr>
        <p:spPr>
          <a:xfrm>
            <a:off x="1024204" y="3380156"/>
            <a:ext cx="5484419" cy="783488"/>
          </a:xfrm>
          <a:custGeom>
            <a:avLst/>
            <a:gdLst/>
            <a:ahLst/>
            <a:cxnLst/>
            <a:rect l="l" t="t" r="r" b="b"/>
            <a:pathLst>
              <a:path w="5484419" h="783488">
                <a:moveTo>
                  <a:pt x="0" y="783488"/>
                </a:moveTo>
                <a:lnTo>
                  <a:pt x="5484419" y="783488"/>
                </a:lnTo>
                <a:lnTo>
                  <a:pt x="5484419" y="0"/>
                </a:lnTo>
                <a:lnTo>
                  <a:pt x="0" y="0"/>
                </a:lnTo>
                <a:close/>
              </a:path>
            </a:pathLst>
          </a:custGeom>
          <a:noFill/>
          <a:ln w="50800">
            <a:solidFill>
              <a:srgbClr val="E9762B"/>
            </a:solidFill>
            <a:prstDash val="solid"/>
          </a:ln>
        </p:spPr>
      </p:sp>
      <p:sp>
        <p:nvSpPr>
          <p:cNvPr id="44" name="S05-mark161"/>
          <p:cNvSpPr/>
          <p:nvPr/>
        </p:nvSpPr>
        <p:spPr>
          <a:xfrm>
            <a:off x="1024204" y="3928598"/>
            <a:ext cx="5484419" cy="0"/>
          </a:xfrm>
          <a:prstGeom prst="line">
            <a:avLst/>
          </a:prstGeom>
          <a:noFill/>
          <a:ln w="28575">
            <a:solidFill>
              <a:srgbClr val="3D5A80"/>
            </a:solidFill>
            <a:prstDash val="solid"/>
            <a:headEnd type="triangle"/>
            <a:tailEnd type="triangle"/>
          </a:ln>
        </p:spPr>
      </p:sp>
      <p:sp>
        <p:nvSpPr>
          <p:cNvPr id="45" name="S05-label163"/>
          <p:cNvSpPr txBox="1"/>
          <p:nvPr/>
        </p:nvSpPr>
        <p:spPr>
          <a:xfrm>
            <a:off x="1479017" y="2617914"/>
            <a:ext cx="65735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밑면</a:t>
            </a:r>
            <a:endParaRPr lang="ko-KR" sz="2200" dirty="0"/>
          </a:p>
        </p:txBody>
      </p:sp>
      <p:sp>
        <p:nvSpPr>
          <p:cNvPr id="46" name="S05-label165"/>
          <p:cNvSpPr txBox="1"/>
          <p:nvPr/>
        </p:nvSpPr>
        <p:spPr>
          <a:xfrm>
            <a:off x="1479017" y="4576636"/>
            <a:ext cx="65735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밑면</a:t>
            </a:r>
            <a:endParaRPr lang="ko-KR" sz="2200" dirty="0"/>
          </a:p>
        </p:txBody>
      </p:sp>
      <p:sp>
        <p:nvSpPr>
          <p:cNvPr id="47" name="S05-label167"/>
          <p:cNvSpPr txBox="1"/>
          <p:nvPr/>
        </p:nvSpPr>
        <p:spPr>
          <a:xfrm>
            <a:off x="2969514" y="2931310"/>
            <a:ext cx="3160776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+ 3 + 4 + 3 = 14 (cm)</a:t>
            </a:r>
            <a:endParaRPr lang="ko-KR" sz="2200" dirty="0"/>
          </a:p>
        </p:txBody>
      </p:sp>
      <p:sp>
        <p:nvSpPr>
          <p:cNvPr id="48" name="S05-card168"/>
          <p:cNvSpPr/>
          <p:nvPr/>
        </p:nvSpPr>
        <p:spPr>
          <a:xfrm>
            <a:off x="7349947" y="1602740"/>
            <a:ext cx="4290365" cy="1520952"/>
          </a:xfrm>
          <a:prstGeom prst="roundRect">
            <a:avLst>
              <a:gd name="adj" fmla="val 721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9" name="S05-cardtext169"/>
          <p:cNvSpPr txBox="1"/>
          <p:nvPr/>
        </p:nvSpPr>
        <p:spPr>
          <a:xfrm>
            <a:off x="7624267" y="1739900"/>
            <a:ext cx="3741725" cy="1246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옆면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가로는 밑면의 둘레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 × 2 = 28</a:t>
            </a:r>
            <a:endParaRPr lang="ko-KR" sz="2800" dirty="0"/>
          </a:p>
        </p:txBody>
      </p:sp>
      <p:sp>
        <p:nvSpPr>
          <p:cNvPr id="50" name="S05-card170"/>
          <p:cNvSpPr/>
          <p:nvPr/>
        </p:nvSpPr>
        <p:spPr>
          <a:xfrm>
            <a:off x="7349947" y="3352292"/>
            <a:ext cx="4290365" cy="1180084"/>
          </a:xfrm>
          <a:prstGeom prst="roundRect">
            <a:avLst>
              <a:gd name="adj" fmla="val 929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1" name="S05-cardtext171"/>
          <p:cNvSpPr txBox="1"/>
          <p:nvPr/>
        </p:nvSpPr>
        <p:spPr>
          <a:xfrm>
            <a:off x="7624267" y="3489452"/>
            <a:ext cx="3741725" cy="905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밑면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 × 2 = 24</a:t>
            </a:r>
            <a:endParaRPr lang="ko-KR" sz="2800" dirty="0"/>
          </a:p>
        </p:txBody>
      </p:sp>
      <p:sp>
        <p:nvSpPr>
          <p:cNvPr id="52" name="S05-card172"/>
          <p:cNvSpPr/>
          <p:nvPr/>
        </p:nvSpPr>
        <p:spPr>
          <a:xfrm>
            <a:off x="7349947" y="4760976"/>
            <a:ext cx="4290365" cy="1180084"/>
          </a:xfrm>
          <a:prstGeom prst="roundRect">
            <a:avLst>
              <a:gd name="adj" fmla="val 929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3" name="S05-cardtext173"/>
          <p:cNvSpPr txBox="1"/>
          <p:nvPr/>
        </p:nvSpPr>
        <p:spPr>
          <a:xfrm>
            <a:off x="7624267" y="4898136"/>
            <a:ext cx="3741725" cy="905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겉넓이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en-US" altLang="ko-KR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 + 28 = 52 (cm²)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</a:t>
            </a:r>
            <a:endParaRPr lang="ko-KR" sz="4000" dirty="0"/>
          </a:p>
        </p:txBody>
      </p:sp>
      <p:sp>
        <p:nvSpPr>
          <p:cNvPr id="3" name="S06-card174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6-cardtext175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가로 4 cm, 세로 3 cm, 높이 2 cm인 직육면체의 겉넓이는?</a:t>
            </a:r>
            <a:endParaRPr lang="ko-KR" sz="2800" dirty="0"/>
          </a:p>
        </p:txBody>
      </p:sp>
      <p:sp>
        <p:nvSpPr>
          <p:cNvPr id="5" name="S06-card17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6-cardtext17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 토끼는 무엇을 빠뜨렸나요?</a:t>
            </a:r>
            <a:endParaRPr lang="ko-KR" sz="2800" dirty="0"/>
          </a:p>
        </p:txBody>
      </p:sp>
      <p:sp>
        <p:nvSpPr>
          <p:cNvPr id="7" name="S06-chip178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토끼: 26 cm²</a:t>
            </a:r>
            <a:endParaRPr lang="ko-KR" sz="2200" dirty="0"/>
          </a:p>
        </p:txBody>
      </p:sp>
      <p:sp>
        <p:nvSpPr>
          <p:cNvPr id="8" name="S06-text179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“12 + 8 + 6 = 26이에요.”</a:t>
            </a:r>
            <a:endParaRPr lang="ko-KR" sz="2800" dirty="0"/>
          </a:p>
        </p:txBody>
      </p:sp>
      <p:sp>
        <p:nvSpPr>
          <p:cNvPr id="9" name="S06-chip180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곰: 52 cm²</a:t>
            </a:r>
            <a:endParaRPr lang="ko-KR" sz="2200" dirty="0"/>
          </a:p>
        </p:txBody>
      </p:sp>
      <p:sp>
        <p:nvSpPr>
          <p:cNvPr id="10" name="S06-text181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“(12 + 8 + 6) × 2 = 52예요.”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함께 구해 봐요</a:t>
            </a:r>
            <a:endParaRPr lang="ko-KR" sz="4000" dirty="0"/>
          </a:p>
        </p:txBody>
      </p:sp>
      <p:sp>
        <p:nvSpPr>
          <p:cNvPr id="3" name="S07-card18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4" name="S07-cardtext18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넓이가 같은 면이 2개씩 3쌍이에요.</a:t>
            </a:r>
            <a:endParaRPr lang="ko-KR" sz="2800" dirty="0"/>
          </a:p>
        </p:txBody>
      </p:sp>
      <p:sp>
        <p:nvSpPr>
          <p:cNvPr id="5" name="S07-figure184" descr="가로 5 cm, 세로 4 cm, 높이 3 cm인 직육면체"/>
          <p:cNvSpPr/>
          <p:nvPr/>
        </p:nvSpPr>
        <p:spPr>
          <a:xfrm>
            <a:off x="6778041" y="2512726"/>
            <a:ext cx="2732824" cy="1639694"/>
          </a:xfrm>
          <a:custGeom>
            <a:avLst/>
            <a:gdLst/>
            <a:ahLst/>
            <a:cxnLst/>
            <a:rect l="l" t="t" r="r" b="b"/>
            <a:pathLst>
              <a:path w="2732824" h="1639694">
                <a:moveTo>
                  <a:pt x="0" y="1639694"/>
                </a:moveTo>
                <a:lnTo>
                  <a:pt x="2732824" y="1639694"/>
                </a:lnTo>
                <a:lnTo>
                  <a:pt x="2732824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6" name="S07-mark185"/>
          <p:cNvSpPr/>
          <p:nvPr/>
        </p:nvSpPr>
        <p:spPr>
          <a:xfrm>
            <a:off x="6778041" y="1856848"/>
            <a:ext cx="3651052" cy="655878"/>
          </a:xfrm>
          <a:custGeom>
            <a:avLst/>
            <a:gdLst/>
            <a:ahLst/>
            <a:cxnLst/>
            <a:rect l="l" t="t" r="r" b="b"/>
            <a:pathLst>
              <a:path w="3651052" h="655878">
                <a:moveTo>
                  <a:pt x="0" y="655878"/>
                </a:moveTo>
                <a:lnTo>
                  <a:pt x="2732824" y="655878"/>
                </a:lnTo>
                <a:lnTo>
                  <a:pt x="3651052" y="0"/>
                </a:lnTo>
                <a:lnTo>
                  <a:pt x="918229" y="0"/>
                </a:lnTo>
                <a:close/>
              </a:path>
            </a:pathLst>
          </a:custGeom>
          <a:solidFill>
            <a:srgbClr val="F2C14E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7" name="S07-mark186"/>
          <p:cNvSpPr/>
          <p:nvPr/>
        </p:nvSpPr>
        <p:spPr>
          <a:xfrm>
            <a:off x="9510864" y="1856848"/>
            <a:ext cx="918229" cy="2295572"/>
          </a:xfrm>
          <a:custGeom>
            <a:avLst/>
            <a:gdLst/>
            <a:ahLst/>
            <a:cxnLst/>
            <a:rect l="l" t="t" r="r" b="b"/>
            <a:pathLst>
              <a:path w="918229" h="2295572">
                <a:moveTo>
                  <a:pt x="0" y="2295572"/>
                </a:moveTo>
                <a:lnTo>
                  <a:pt x="918229" y="1639694"/>
                </a:lnTo>
                <a:lnTo>
                  <a:pt x="918229" y="0"/>
                </a:lnTo>
                <a:lnTo>
                  <a:pt x="0" y="655878"/>
                </a:lnTo>
                <a:close/>
              </a:path>
            </a:pathLst>
          </a:custGeom>
          <a:solidFill>
            <a:srgbClr val="CDEBE6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8" name="S07-mark187"/>
          <p:cNvSpPr/>
          <p:nvPr/>
        </p:nvSpPr>
        <p:spPr>
          <a:xfrm>
            <a:off x="7696270" y="3496542"/>
            <a:ext cx="2732824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dash"/>
          </a:ln>
        </p:spPr>
      </p:sp>
      <p:sp>
        <p:nvSpPr>
          <p:cNvPr id="9" name="S07-mark188"/>
          <p:cNvSpPr/>
          <p:nvPr/>
        </p:nvSpPr>
        <p:spPr>
          <a:xfrm flipV="1">
            <a:off x="7696270" y="1856848"/>
            <a:ext cx="0" cy="1639694"/>
          </a:xfrm>
          <a:prstGeom prst="line">
            <a:avLst/>
          </a:prstGeom>
          <a:noFill/>
          <a:ln w="28575">
            <a:solidFill>
              <a:srgbClr val="1F2937"/>
            </a:solidFill>
            <a:prstDash val="dash"/>
          </a:ln>
        </p:spPr>
      </p:sp>
      <p:sp>
        <p:nvSpPr>
          <p:cNvPr id="10" name="S07-mark189"/>
          <p:cNvSpPr/>
          <p:nvPr/>
        </p:nvSpPr>
        <p:spPr>
          <a:xfrm flipH="1">
            <a:off x="6778041" y="3496542"/>
            <a:ext cx="918229" cy="655878"/>
          </a:xfrm>
          <a:prstGeom prst="line">
            <a:avLst/>
          </a:prstGeom>
          <a:noFill/>
          <a:ln w="28575">
            <a:solidFill>
              <a:srgbClr val="1F2937"/>
            </a:solidFill>
            <a:prstDash val="dash"/>
          </a:ln>
        </p:spPr>
      </p:sp>
      <p:sp>
        <p:nvSpPr>
          <p:cNvPr id="11" name="S07-mark190"/>
          <p:cNvSpPr/>
          <p:nvPr/>
        </p:nvSpPr>
        <p:spPr>
          <a:xfrm>
            <a:off x="6778041" y="4152420"/>
            <a:ext cx="2732824" cy="0"/>
          </a:xfrm>
          <a:prstGeom prst="line">
            <a:avLst/>
          </a:prstGeom>
          <a:noFill/>
          <a:ln w="6350">
            <a:solidFill>
              <a:srgbClr val="1F2937"/>
            </a:solidFill>
            <a:prstDash val="solid"/>
          </a:ln>
        </p:spPr>
      </p:sp>
      <p:sp>
        <p:nvSpPr>
          <p:cNvPr id="12" name="S07-mark191"/>
          <p:cNvSpPr/>
          <p:nvPr/>
        </p:nvSpPr>
        <p:spPr>
          <a:xfrm flipV="1">
            <a:off x="9510864" y="3496542"/>
            <a:ext cx="918229" cy="655878"/>
          </a:xfrm>
          <a:prstGeom prst="line">
            <a:avLst/>
          </a:prstGeom>
          <a:noFill/>
          <a:ln w="6350">
            <a:solidFill>
              <a:srgbClr val="1F2937"/>
            </a:solidFill>
            <a:prstDash val="solid"/>
          </a:ln>
        </p:spPr>
      </p:sp>
      <p:sp>
        <p:nvSpPr>
          <p:cNvPr id="13" name="S07-mark192"/>
          <p:cNvSpPr/>
          <p:nvPr/>
        </p:nvSpPr>
        <p:spPr>
          <a:xfrm flipV="1">
            <a:off x="10429093" y="1856848"/>
            <a:ext cx="0" cy="1639694"/>
          </a:xfrm>
          <a:prstGeom prst="line">
            <a:avLst/>
          </a:prstGeom>
          <a:noFill/>
          <a:ln w="6350">
            <a:solidFill>
              <a:srgbClr val="1F2937"/>
            </a:solidFill>
            <a:prstDash val="solid"/>
          </a:ln>
        </p:spPr>
      </p:sp>
      <p:sp>
        <p:nvSpPr>
          <p:cNvPr id="14" name="S07-label194"/>
          <p:cNvSpPr txBox="1"/>
          <p:nvPr/>
        </p:nvSpPr>
        <p:spPr>
          <a:xfrm>
            <a:off x="7762691" y="4229255"/>
            <a:ext cx="76352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cm</a:t>
            </a:r>
            <a:endParaRPr lang="ko-KR" sz="2200" dirty="0"/>
          </a:p>
        </p:txBody>
      </p:sp>
      <p:sp>
        <p:nvSpPr>
          <p:cNvPr id="15" name="S07-label196"/>
          <p:cNvSpPr txBox="1"/>
          <p:nvPr/>
        </p:nvSpPr>
        <p:spPr>
          <a:xfrm>
            <a:off x="9818169" y="3971789"/>
            <a:ext cx="76352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cm</a:t>
            </a:r>
            <a:endParaRPr lang="ko-KR" sz="2200" dirty="0"/>
          </a:p>
        </p:txBody>
      </p:sp>
      <p:sp>
        <p:nvSpPr>
          <p:cNvPr id="16" name="S07-label198"/>
          <p:cNvSpPr txBox="1"/>
          <p:nvPr/>
        </p:nvSpPr>
        <p:spPr>
          <a:xfrm>
            <a:off x="10432903" y="2502070"/>
            <a:ext cx="76352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cm</a:t>
            </a:r>
            <a:endParaRPr lang="ko-KR" sz="2200" dirty="0"/>
          </a:p>
        </p:txBody>
      </p:sp>
      <p:sp>
        <p:nvSpPr>
          <p:cNvPr id="17" name="S07-chip199"/>
          <p:cNvSpPr txBox="1"/>
          <p:nvPr/>
        </p:nvSpPr>
        <p:spPr>
          <a:xfrm>
            <a:off x="548640" y="16139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18" name="S07-text200"/>
          <p:cNvSpPr txBox="1"/>
          <p:nvPr/>
        </p:nvSpPr>
        <p:spPr>
          <a:xfrm>
            <a:off x="1344168" y="1325880"/>
            <a:ext cx="45674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서로 다른 세 면의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넓이는 각각?</a:t>
            </a:r>
            <a:endParaRPr lang="ko-KR" sz="2800" dirty="0"/>
          </a:p>
        </p:txBody>
      </p:sp>
      <p:sp>
        <p:nvSpPr>
          <p:cNvPr id="19" name="S07-chip201"/>
          <p:cNvSpPr txBox="1"/>
          <p:nvPr/>
        </p:nvSpPr>
        <p:spPr>
          <a:xfrm>
            <a:off x="548640" y="29397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20" name="S07-text202"/>
          <p:cNvSpPr txBox="1"/>
          <p:nvPr/>
        </p:nvSpPr>
        <p:spPr>
          <a:xfrm>
            <a:off x="1344168" y="2651760"/>
            <a:ext cx="45674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겉넓이는?</a:t>
            </a:r>
            <a:endParaRPr lang="ko-KR" sz="2800" dirty="0"/>
          </a:p>
        </p:txBody>
      </p:sp>
      <p:sp>
        <p:nvSpPr>
          <p:cNvPr id="21" name="S07-chip203"/>
          <p:cNvSpPr txBox="1"/>
          <p:nvPr/>
        </p:nvSpPr>
        <p:spPr>
          <a:xfrm>
            <a:off x="548640" y="42656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22" name="S07-text204"/>
          <p:cNvSpPr txBox="1"/>
          <p:nvPr/>
        </p:nvSpPr>
        <p:spPr>
          <a:xfrm>
            <a:off x="1344168" y="3977640"/>
            <a:ext cx="45674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밑면의 둘레를 이용해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다시 구해 보면?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정육면체의 겉넓이</a:t>
            </a:r>
            <a:endParaRPr lang="ko-KR" sz="4000" dirty="0"/>
          </a:p>
        </p:txBody>
      </p:sp>
      <p:sp>
        <p:nvSpPr>
          <p:cNvPr id="3" name="S08-text20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모서리가 3 cm인 정육면체의 전개도예요.</a:t>
            </a:r>
            <a:endParaRPr lang="ko-KR" sz="2800" dirty="0"/>
          </a:p>
        </p:txBody>
      </p:sp>
      <p:sp>
        <p:nvSpPr>
          <p:cNvPr id="4" name="S08-mark206"/>
          <p:cNvSpPr/>
          <p:nvPr/>
        </p:nvSpPr>
        <p:spPr>
          <a:xfrm>
            <a:off x="2396829" y="3564082"/>
            <a:ext cx="1101436" cy="1101436"/>
          </a:xfrm>
          <a:custGeom>
            <a:avLst/>
            <a:gdLst/>
            <a:ahLst/>
            <a:cxnLst/>
            <a:rect l="l" t="t" r="r" b="b"/>
            <a:pathLst>
              <a:path w="1101436" h="1101436">
                <a:moveTo>
                  <a:pt x="0" y="1101436"/>
                </a:moveTo>
                <a:lnTo>
                  <a:pt x="1101436" y="1101436"/>
                </a:lnTo>
                <a:lnTo>
                  <a:pt x="1101436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/>
        </p:spPr>
      </p:sp>
      <p:sp>
        <p:nvSpPr>
          <p:cNvPr id="5" name="S08-mark207"/>
          <p:cNvSpPr/>
          <p:nvPr/>
        </p:nvSpPr>
        <p:spPr>
          <a:xfrm>
            <a:off x="2396829" y="2462645"/>
            <a:ext cx="1101436" cy="1101436"/>
          </a:xfrm>
          <a:custGeom>
            <a:avLst/>
            <a:gdLst/>
            <a:ahLst/>
            <a:cxnLst/>
            <a:rect l="l" t="t" r="r" b="b"/>
            <a:pathLst>
              <a:path w="1101436" h="1101436">
                <a:moveTo>
                  <a:pt x="0" y="1101436"/>
                </a:moveTo>
                <a:lnTo>
                  <a:pt x="1101436" y="1101436"/>
                </a:lnTo>
                <a:lnTo>
                  <a:pt x="1101436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/>
        </p:spPr>
      </p:sp>
      <p:sp>
        <p:nvSpPr>
          <p:cNvPr id="6" name="S08-mark208"/>
          <p:cNvSpPr/>
          <p:nvPr/>
        </p:nvSpPr>
        <p:spPr>
          <a:xfrm>
            <a:off x="2396829" y="4665518"/>
            <a:ext cx="1101436" cy="1101436"/>
          </a:xfrm>
          <a:custGeom>
            <a:avLst/>
            <a:gdLst/>
            <a:ahLst/>
            <a:cxnLst/>
            <a:rect l="l" t="t" r="r" b="b"/>
            <a:pathLst>
              <a:path w="1101436" h="1101436">
                <a:moveTo>
                  <a:pt x="0" y="1101436"/>
                </a:moveTo>
                <a:lnTo>
                  <a:pt x="1101436" y="1101436"/>
                </a:lnTo>
                <a:lnTo>
                  <a:pt x="1101436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/>
        </p:spPr>
      </p:sp>
      <p:sp>
        <p:nvSpPr>
          <p:cNvPr id="7" name="S08-mark209"/>
          <p:cNvSpPr/>
          <p:nvPr/>
        </p:nvSpPr>
        <p:spPr>
          <a:xfrm>
            <a:off x="1295393" y="3564082"/>
            <a:ext cx="1101436" cy="1101436"/>
          </a:xfrm>
          <a:custGeom>
            <a:avLst/>
            <a:gdLst/>
            <a:ahLst/>
            <a:cxnLst/>
            <a:rect l="l" t="t" r="r" b="b"/>
            <a:pathLst>
              <a:path w="1101436" h="1101436">
                <a:moveTo>
                  <a:pt x="0" y="1101436"/>
                </a:moveTo>
                <a:lnTo>
                  <a:pt x="1101436" y="1101436"/>
                </a:lnTo>
                <a:lnTo>
                  <a:pt x="1101436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/>
        </p:spPr>
      </p:sp>
      <p:sp>
        <p:nvSpPr>
          <p:cNvPr id="8" name="S08-mark210"/>
          <p:cNvSpPr/>
          <p:nvPr/>
        </p:nvSpPr>
        <p:spPr>
          <a:xfrm>
            <a:off x="3498266" y="3564082"/>
            <a:ext cx="1101436" cy="1101436"/>
          </a:xfrm>
          <a:custGeom>
            <a:avLst/>
            <a:gdLst/>
            <a:ahLst/>
            <a:cxnLst/>
            <a:rect l="l" t="t" r="r" b="b"/>
            <a:pathLst>
              <a:path w="1101436" h="1101436">
                <a:moveTo>
                  <a:pt x="0" y="1101436"/>
                </a:moveTo>
                <a:lnTo>
                  <a:pt x="1101436" y="1101436"/>
                </a:lnTo>
                <a:lnTo>
                  <a:pt x="1101436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/>
        </p:spPr>
      </p:sp>
      <p:sp>
        <p:nvSpPr>
          <p:cNvPr id="9" name="S08-mark211"/>
          <p:cNvSpPr/>
          <p:nvPr/>
        </p:nvSpPr>
        <p:spPr>
          <a:xfrm>
            <a:off x="4599702" y="3564082"/>
            <a:ext cx="1101436" cy="1101436"/>
          </a:xfrm>
          <a:custGeom>
            <a:avLst/>
            <a:gdLst/>
            <a:ahLst/>
            <a:cxnLst/>
            <a:rect l="l" t="t" r="r" b="b"/>
            <a:pathLst>
              <a:path w="1101436" h="1101436">
                <a:moveTo>
                  <a:pt x="0" y="1101436"/>
                </a:moveTo>
                <a:lnTo>
                  <a:pt x="1101436" y="1101436"/>
                </a:lnTo>
                <a:lnTo>
                  <a:pt x="1101436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/>
        </p:spPr>
      </p:sp>
      <p:sp>
        <p:nvSpPr>
          <p:cNvPr id="10" name="S08-mark212"/>
          <p:cNvSpPr/>
          <p:nvPr/>
        </p:nvSpPr>
        <p:spPr>
          <a:xfrm flipV="1">
            <a:off x="928248" y="2095500"/>
            <a:ext cx="0" cy="403860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1" name="S08-mark213"/>
          <p:cNvSpPr/>
          <p:nvPr/>
        </p:nvSpPr>
        <p:spPr>
          <a:xfrm flipV="1">
            <a:off x="1295393" y="2095500"/>
            <a:ext cx="0" cy="403860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2" name="S08-mark214"/>
          <p:cNvSpPr/>
          <p:nvPr/>
        </p:nvSpPr>
        <p:spPr>
          <a:xfrm flipV="1">
            <a:off x="1662539" y="2095500"/>
            <a:ext cx="0" cy="403860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3" name="S08-mark215"/>
          <p:cNvSpPr/>
          <p:nvPr/>
        </p:nvSpPr>
        <p:spPr>
          <a:xfrm flipV="1">
            <a:off x="2029684" y="2095500"/>
            <a:ext cx="0" cy="403860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4" name="S08-mark216"/>
          <p:cNvSpPr/>
          <p:nvPr/>
        </p:nvSpPr>
        <p:spPr>
          <a:xfrm flipV="1">
            <a:off x="2396829" y="2095500"/>
            <a:ext cx="0" cy="403860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5" name="S08-mark217"/>
          <p:cNvSpPr/>
          <p:nvPr/>
        </p:nvSpPr>
        <p:spPr>
          <a:xfrm flipV="1">
            <a:off x="2763975" y="2095500"/>
            <a:ext cx="0" cy="403860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6" name="S08-mark218"/>
          <p:cNvSpPr/>
          <p:nvPr/>
        </p:nvSpPr>
        <p:spPr>
          <a:xfrm flipV="1">
            <a:off x="3131120" y="2095500"/>
            <a:ext cx="0" cy="403860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7" name="S08-mark219"/>
          <p:cNvSpPr/>
          <p:nvPr/>
        </p:nvSpPr>
        <p:spPr>
          <a:xfrm flipV="1">
            <a:off x="3498266" y="2095500"/>
            <a:ext cx="0" cy="403860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8" name="S08-mark220"/>
          <p:cNvSpPr/>
          <p:nvPr/>
        </p:nvSpPr>
        <p:spPr>
          <a:xfrm flipV="1">
            <a:off x="3865411" y="2095500"/>
            <a:ext cx="0" cy="403860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9" name="S08-mark221"/>
          <p:cNvSpPr/>
          <p:nvPr/>
        </p:nvSpPr>
        <p:spPr>
          <a:xfrm flipV="1">
            <a:off x="4232557" y="2095500"/>
            <a:ext cx="0" cy="403860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0" name="S08-mark222"/>
          <p:cNvSpPr/>
          <p:nvPr/>
        </p:nvSpPr>
        <p:spPr>
          <a:xfrm flipV="1">
            <a:off x="4599702" y="2095500"/>
            <a:ext cx="0" cy="403860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1" name="S08-mark223"/>
          <p:cNvSpPr/>
          <p:nvPr/>
        </p:nvSpPr>
        <p:spPr>
          <a:xfrm flipV="1">
            <a:off x="4966848" y="2095500"/>
            <a:ext cx="0" cy="403860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2" name="S08-mark224"/>
          <p:cNvSpPr/>
          <p:nvPr/>
        </p:nvSpPr>
        <p:spPr>
          <a:xfrm flipV="1">
            <a:off x="5333993" y="2095500"/>
            <a:ext cx="0" cy="403860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3" name="S08-mark225"/>
          <p:cNvSpPr/>
          <p:nvPr/>
        </p:nvSpPr>
        <p:spPr>
          <a:xfrm flipV="1">
            <a:off x="5701139" y="2095500"/>
            <a:ext cx="0" cy="403860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4" name="S08-mark226"/>
          <p:cNvSpPr/>
          <p:nvPr/>
        </p:nvSpPr>
        <p:spPr>
          <a:xfrm flipV="1">
            <a:off x="6068284" y="2095500"/>
            <a:ext cx="0" cy="403860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5" name="S08-mark227"/>
          <p:cNvSpPr/>
          <p:nvPr/>
        </p:nvSpPr>
        <p:spPr>
          <a:xfrm>
            <a:off x="928248" y="6134100"/>
            <a:ext cx="514003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6" name="S08-mark228"/>
          <p:cNvSpPr/>
          <p:nvPr/>
        </p:nvSpPr>
        <p:spPr>
          <a:xfrm>
            <a:off x="928248" y="5766955"/>
            <a:ext cx="514003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7" name="S08-mark229"/>
          <p:cNvSpPr/>
          <p:nvPr/>
        </p:nvSpPr>
        <p:spPr>
          <a:xfrm>
            <a:off x="928248" y="5399809"/>
            <a:ext cx="514003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8" name="S08-mark230"/>
          <p:cNvSpPr/>
          <p:nvPr/>
        </p:nvSpPr>
        <p:spPr>
          <a:xfrm>
            <a:off x="928248" y="5032664"/>
            <a:ext cx="514003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9" name="S08-mark231"/>
          <p:cNvSpPr/>
          <p:nvPr/>
        </p:nvSpPr>
        <p:spPr>
          <a:xfrm>
            <a:off x="928248" y="4665518"/>
            <a:ext cx="514003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0" name="S08-mark232"/>
          <p:cNvSpPr/>
          <p:nvPr/>
        </p:nvSpPr>
        <p:spPr>
          <a:xfrm>
            <a:off x="928248" y="4298373"/>
            <a:ext cx="514003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1" name="S08-mark233"/>
          <p:cNvSpPr/>
          <p:nvPr/>
        </p:nvSpPr>
        <p:spPr>
          <a:xfrm>
            <a:off x="928248" y="3931227"/>
            <a:ext cx="514003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2" name="S08-mark234"/>
          <p:cNvSpPr/>
          <p:nvPr/>
        </p:nvSpPr>
        <p:spPr>
          <a:xfrm>
            <a:off x="928248" y="3564082"/>
            <a:ext cx="514003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3" name="S08-mark235"/>
          <p:cNvSpPr/>
          <p:nvPr/>
        </p:nvSpPr>
        <p:spPr>
          <a:xfrm>
            <a:off x="928248" y="3196936"/>
            <a:ext cx="514003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4" name="S08-mark236"/>
          <p:cNvSpPr/>
          <p:nvPr/>
        </p:nvSpPr>
        <p:spPr>
          <a:xfrm>
            <a:off x="928248" y="2829791"/>
            <a:ext cx="514003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5" name="S08-mark237"/>
          <p:cNvSpPr/>
          <p:nvPr/>
        </p:nvSpPr>
        <p:spPr>
          <a:xfrm>
            <a:off x="928248" y="2462645"/>
            <a:ext cx="514003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6" name="S08-mark238"/>
          <p:cNvSpPr/>
          <p:nvPr/>
        </p:nvSpPr>
        <p:spPr>
          <a:xfrm>
            <a:off x="928248" y="2095500"/>
            <a:ext cx="514003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7" name="S08-figure239" descr="한 모서리가 3 cm인 정육면체의 전개도(모눈 위): 넓이 9 cm²인 정사각형 6개"/>
          <p:cNvSpPr/>
          <p:nvPr/>
        </p:nvSpPr>
        <p:spPr>
          <a:xfrm>
            <a:off x="2396829" y="3564082"/>
            <a:ext cx="1101436" cy="1101436"/>
          </a:xfrm>
          <a:custGeom>
            <a:avLst/>
            <a:gdLst/>
            <a:ahLst/>
            <a:cxnLst/>
            <a:rect l="l" t="t" r="r" b="b"/>
            <a:pathLst>
              <a:path w="1101436" h="1101436">
                <a:moveTo>
                  <a:pt x="0" y="1101436"/>
                </a:moveTo>
                <a:lnTo>
                  <a:pt x="1101436" y="1101436"/>
                </a:lnTo>
                <a:lnTo>
                  <a:pt x="1101436" y="0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38" name="S08-mark240"/>
          <p:cNvSpPr/>
          <p:nvPr/>
        </p:nvSpPr>
        <p:spPr>
          <a:xfrm>
            <a:off x="2396829" y="2462645"/>
            <a:ext cx="1101436" cy="1101436"/>
          </a:xfrm>
          <a:custGeom>
            <a:avLst/>
            <a:gdLst/>
            <a:ahLst/>
            <a:cxnLst/>
            <a:rect l="l" t="t" r="r" b="b"/>
            <a:pathLst>
              <a:path w="1101436" h="1101436">
                <a:moveTo>
                  <a:pt x="0" y="1101436"/>
                </a:moveTo>
                <a:lnTo>
                  <a:pt x="1101436" y="1101436"/>
                </a:lnTo>
                <a:lnTo>
                  <a:pt x="1101436" y="0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39" name="S08-mark241"/>
          <p:cNvSpPr/>
          <p:nvPr/>
        </p:nvSpPr>
        <p:spPr>
          <a:xfrm>
            <a:off x="2396829" y="4665518"/>
            <a:ext cx="1101436" cy="1101436"/>
          </a:xfrm>
          <a:custGeom>
            <a:avLst/>
            <a:gdLst/>
            <a:ahLst/>
            <a:cxnLst/>
            <a:rect l="l" t="t" r="r" b="b"/>
            <a:pathLst>
              <a:path w="1101436" h="1101436">
                <a:moveTo>
                  <a:pt x="0" y="1101436"/>
                </a:moveTo>
                <a:lnTo>
                  <a:pt x="1101436" y="1101436"/>
                </a:lnTo>
                <a:lnTo>
                  <a:pt x="1101436" y="0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40" name="S08-mark242"/>
          <p:cNvSpPr/>
          <p:nvPr/>
        </p:nvSpPr>
        <p:spPr>
          <a:xfrm>
            <a:off x="1295393" y="3564082"/>
            <a:ext cx="1101436" cy="1101436"/>
          </a:xfrm>
          <a:custGeom>
            <a:avLst/>
            <a:gdLst/>
            <a:ahLst/>
            <a:cxnLst/>
            <a:rect l="l" t="t" r="r" b="b"/>
            <a:pathLst>
              <a:path w="1101436" h="1101436">
                <a:moveTo>
                  <a:pt x="0" y="1101436"/>
                </a:moveTo>
                <a:lnTo>
                  <a:pt x="1101436" y="1101436"/>
                </a:lnTo>
                <a:lnTo>
                  <a:pt x="1101436" y="0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41" name="S08-mark243"/>
          <p:cNvSpPr/>
          <p:nvPr/>
        </p:nvSpPr>
        <p:spPr>
          <a:xfrm>
            <a:off x="3498266" y="3564082"/>
            <a:ext cx="1101436" cy="1101436"/>
          </a:xfrm>
          <a:custGeom>
            <a:avLst/>
            <a:gdLst/>
            <a:ahLst/>
            <a:cxnLst/>
            <a:rect l="l" t="t" r="r" b="b"/>
            <a:pathLst>
              <a:path w="1101436" h="1101436">
                <a:moveTo>
                  <a:pt x="0" y="1101436"/>
                </a:moveTo>
                <a:lnTo>
                  <a:pt x="1101436" y="1101436"/>
                </a:lnTo>
                <a:lnTo>
                  <a:pt x="1101436" y="0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42" name="S08-mark244"/>
          <p:cNvSpPr/>
          <p:nvPr/>
        </p:nvSpPr>
        <p:spPr>
          <a:xfrm>
            <a:off x="4599702" y="3564082"/>
            <a:ext cx="1101436" cy="1101436"/>
          </a:xfrm>
          <a:custGeom>
            <a:avLst/>
            <a:gdLst/>
            <a:ahLst/>
            <a:cxnLst/>
            <a:rect l="l" t="t" r="r" b="b"/>
            <a:pathLst>
              <a:path w="1101436" h="1101436">
                <a:moveTo>
                  <a:pt x="0" y="1101436"/>
                </a:moveTo>
                <a:lnTo>
                  <a:pt x="1101436" y="1101436"/>
                </a:lnTo>
                <a:lnTo>
                  <a:pt x="1101436" y="0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43" name="S08-label246"/>
          <p:cNvSpPr txBox="1"/>
          <p:nvPr/>
        </p:nvSpPr>
        <p:spPr>
          <a:xfrm>
            <a:off x="2800482" y="3940175"/>
            <a:ext cx="29413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2200" dirty="0"/>
          </a:p>
        </p:txBody>
      </p:sp>
      <p:sp>
        <p:nvSpPr>
          <p:cNvPr id="44" name="S08-label248"/>
          <p:cNvSpPr txBox="1"/>
          <p:nvPr/>
        </p:nvSpPr>
        <p:spPr>
          <a:xfrm>
            <a:off x="2800482" y="2838739"/>
            <a:ext cx="29413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2200" dirty="0"/>
          </a:p>
        </p:txBody>
      </p:sp>
      <p:sp>
        <p:nvSpPr>
          <p:cNvPr id="45" name="S08-label250"/>
          <p:cNvSpPr txBox="1"/>
          <p:nvPr/>
        </p:nvSpPr>
        <p:spPr>
          <a:xfrm>
            <a:off x="2800482" y="5041611"/>
            <a:ext cx="29413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2200" dirty="0"/>
          </a:p>
        </p:txBody>
      </p:sp>
      <p:sp>
        <p:nvSpPr>
          <p:cNvPr id="46" name="S08-label252"/>
          <p:cNvSpPr txBox="1"/>
          <p:nvPr/>
        </p:nvSpPr>
        <p:spPr>
          <a:xfrm>
            <a:off x="1699045" y="3940175"/>
            <a:ext cx="29413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2200" dirty="0"/>
          </a:p>
        </p:txBody>
      </p:sp>
      <p:sp>
        <p:nvSpPr>
          <p:cNvPr id="47" name="S08-label254"/>
          <p:cNvSpPr txBox="1"/>
          <p:nvPr/>
        </p:nvSpPr>
        <p:spPr>
          <a:xfrm>
            <a:off x="3901918" y="3940175"/>
            <a:ext cx="29413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2200" dirty="0"/>
          </a:p>
        </p:txBody>
      </p:sp>
      <p:sp>
        <p:nvSpPr>
          <p:cNvPr id="48" name="S08-label256"/>
          <p:cNvSpPr txBox="1"/>
          <p:nvPr/>
        </p:nvSpPr>
        <p:spPr>
          <a:xfrm>
            <a:off x="5003354" y="3940175"/>
            <a:ext cx="29413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2200" dirty="0"/>
          </a:p>
        </p:txBody>
      </p:sp>
      <p:sp>
        <p:nvSpPr>
          <p:cNvPr id="49" name="S08-card257"/>
          <p:cNvSpPr/>
          <p:nvPr/>
        </p:nvSpPr>
        <p:spPr>
          <a:xfrm>
            <a:off x="6813652" y="2976118"/>
            <a:ext cx="4826660" cy="1180084"/>
          </a:xfrm>
          <a:prstGeom prst="roundRect">
            <a:avLst>
              <a:gd name="adj" fmla="val 929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0" name="S08-cardtext258"/>
          <p:cNvSpPr txBox="1"/>
          <p:nvPr/>
        </p:nvSpPr>
        <p:spPr>
          <a:xfrm>
            <a:off x="7087972" y="3113278"/>
            <a:ext cx="4278020" cy="905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여섯 면이 모두 합동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면의 넓이 × 6</a:t>
            </a:r>
            <a:endParaRPr lang="ko-KR" sz="2800" dirty="0"/>
          </a:p>
        </p:txBody>
      </p:sp>
      <p:sp>
        <p:nvSpPr>
          <p:cNvPr id="51" name="S08-card259"/>
          <p:cNvSpPr/>
          <p:nvPr/>
        </p:nvSpPr>
        <p:spPr>
          <a:xfrm>
            <a:off x="6813652" y="4384802"/>
            <a:ext cx="4826660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2" name="S08-cardtext260"/>
          <p:cNvSpPr txBox="1"/>
          <p:nvPr/>
        </p:nvSpPr>
        <p:spPr>
          <a:xfrm>
            <a:off x="7087972" y="4521962"/>
            <a:ext cx="42780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× 3 × 6 = 54 (cm²)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겉넓이 구하기</a:t>
            </a:r>
            <a:endParaRPr lang="ko-KR" sz="4000" dirty="0"/>
          </a:p>
        </p:txBody>
      </p:sp>
      <p:sp>
        <p:nvSpPr>
          <p:cNvPr id="3" name="S09-text26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겉넓이를 구해요.</a:t>
            </a:r>
            <a:endParaRPr lang="ko-KR" sz="2800" dirty="0"/>
          </a:p>
        </p:txBody>
      </p:sp>
      <p:sp>
        <p:nvSpPr>
          <p:cNvPr id="4" name="S09-card26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9-cardtext26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정육면체는 한 면 × 6, 직육면체는 세 면의 합 × 2</a:t>
            </a:r>
            <a:endParaRPr lang="ko-KR" sz="2800" dirty="0"/>
          </a:p>
        </p:txBody>
      </p:sp>
      <p:sp>
        <p:nvSpPr>
          <p:cNvPr id="6" name="S09-chip264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7" name="S09-text265"/>
          <p:cNvSpPr txBox="1"/>
          <p:nvPr/>
        </p:nvSpPr>
        <p:spPr>
          <a:xfrm>
            <a:off x="1344168" y="201168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모서리가 5 cm인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정육면체</a:t>
            </a:r>
            <a:endParaRPr lang="ko-KR" sz="2800" dirty="0"/>
          </a:p>
        </p:txBody>
      </p:sp>
      <p:sp>
        <p:nvSpPr>
          <p:cNvPr id="8" name="S09-chip266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9" name="S09-text267"/>
          <p:cNvSpPr txBox="1"/>
          <p:nvPr/>
        </p:nvSpPr>
        <p:spPr>
          <a:xfrm>
            <a:off x="1344168" y="310896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가로 10 cm, 세로 6 cm,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높이 4 cm인 직육면체</a:t>
            </a:r>
            <a:endParaRPr lang="ko-KR" sz="2800" dirty="0"/>
          </a:p>
        </p:txBody>
      </p:sp>
      <p:sp>
        <p:nvSpPr>
          <p:cNvPr id="10" name="S09-chip268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11" name="S09-text269"/>
          <p:cNvSpPr txBox="1"/>
          <p:nvPr/>
        </p:nvSpPr>
        <p:spPr>
          <a:xfrm>
            <a:off x="1344168" y="420624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면의 넓이가 16 cm²인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정육면체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0-text27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겉넓이를 구하고, 어떻게 구했는지 말해요.</a:t>
            </a:r>
            <a:endParaRPr lang="ko-KR" sz="2800" dirty="0"/>
          </a:p>
        </p:txBody>
      </p:sp>
      <p:sp>
        <p:nvSpPr>
          <p:cNvPr id="4" name="S10-mark271"/>
          <p:cNvSpPr/>
          <p:nvPr/>
        </p:nvSpPr>
        <p:spPr>
          <a:xfrm>
            <a:off x="6685883" y="3627739"/>
            <a:ext cx="1623536" cy="974122"/>
          </a:xfrm>
          <a:custGeom>
            <a:avLst/>
            <a:gdLst/>
            <a:ahLst/>
            <a:cxnLst/>
            <a:rect l="l" t="t" r="r" b="b"/>
            <a:pathLst>
              <a:path w="1623536" h="974122">
                <a:moveTo>
                  <a:pt x="0" y="974122"/>
                </a:moveTo>
                <a:lnTo>
                  <a:pt x="1623536" y="974122"/>
                </a:lnTo>
                <a:lnTo>
                  <a:pt x="1623536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/>
        </p:spPr>
      </p:sp>
      <p:sp>
        <p:nvSpPr>
          <p:cNvPr id="5" name="S10-mark272"/>
          <p:cNvSpPr/>
          <p:nvPr/>
        </p:nvSpPr>
        <p:spPr>
          <a:xfrm>
            <a:off x="8309420" y="3627739"/>
            <a:ext cx="649415" cy="974122"/>
          </a:xfrm>
          <a:custGeom>
            <a:avLst/>
            <a:gdLst/>
            <a:ahLst/>
            <a:cxnLst/>
            <a:rect l="l" t="t" r="r" b="b"/>
            <a:pathLst>
              <a:path w="649415" h="974122">
                <a:moveTo>
                  <a:pt x="0" y="974122"/>
                </a:moveTo>
                <a:lnTo>
                  <a:pt x="649415" y="974122"/>
                </a:lnTo>
                <a:lnTo>
                  <a:pt x="649415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/>
        </p:spPr>
      </p:sp>
      <p:sp>
        <p:nvSpPr>
          <p:cNvPr id="6" name="S10-mark273"/>
          <p:cNvSpPr/>
          <p:nvPr/>
        </p:nvSpPr>
        <p:spPr>
          <a:xfrm>
            <a:off x="8958834" y="3627739"/>
            <a:ext cx="1623536" cy="974122"/>
          </a:xfrm>
          <a:custGeom>
            <a:avLst/>
            <a:gdLst/>
            <a:ahLst/>
            <a:cxnLst/>
            <a:rect l="l" t="t" r="r" b="b"/>
            <a:pathLst>
              <a:path w="1623536" h="974122">
                <a:moveTo>
                  <a:pt x="0" y="974122"/>
                </a:moveTo>
                <a:lnTo>
                  <a:pt x="1623536" y="974122"/>
                </a:lnTo>
                <a:lnTo>
                  <a:pt x="1623536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/>
        </p:spPr>
      </p:sp>
      <p:sp>
        <p:nvSpPr>
          <p:cNvPr id="7" name="S10-mark274"/>
          <p:cNvSpPr/>
          <p:nvPr/>
        </p:nvSpPr>
        <p:spPr>
          <a:xfrm>
            <a:off x="10582370" y="3627739"/>
            <a:ext cx="649415" cy="974122"/>
          </a:xfrm>
          <a:custGeom>
            <a:avLst/>
            <a:gdLst/>
            <a:ahLst/>
            <a:cxnLst/>
            <a:rect l="l" t="t" r="r" b="b"/>
            <a:pathLst>
              <a:path w="649415" h="974122">
                <a:moveTo>
                  <a:pt x="0" y="974122"/>
                </a:moveTo>
                <a:lnTo>
                  <a:pt x="649415" y="974122"/>
                </a:lnTo>
                <a:lnTo>
                  <a:pt x="649415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/>
        </p:spPr>
      </p:sp>
      <p:sp>
        <p:nvSpPr>
          <p:cNvPr id="8" name="S10-mark275"/>
          <p:cNvSpPr/>
          <p:nvPr/>
        </p:nvSpPr>
        <p:spPr>
          <a:xfrm>
            <a:off x="6685883" y="2978325"/>
            <a:ext cx="1623536" cy="649415"/>
          </a:xfrm>
          <a:custGeom>
            <a:avLst/>
            <a:gdLst/>
            <a:ahLst/>
            <a:cxnLst/>
            <a:rect l="l" t="t" r="r" b="b"/>
            <a:pathLst>
              <a:path w="1623536" h="649415">
                <a:moveTo>
                  <a:pt x="0" y="649415"/>
                </a:moveTo>
                <a:lnTo>
                  <a:pt x="1623536" y="649415"/>
                </a:lnTo>
                <a:lnTo>
                  <a:pt x="1623536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/>
        </p:spPr>
      </p:sp>
      <p:sp>
        <p:nvSpPr>
          <p:cNvPr id="9" name="S10-mark276"/>
          <p:cNvSpPr/>
          <p:nvPr/>
        </p:nvSpPr>
        <p:spPr>
          <a:xfrm>
            <a:off x="6685883" y="4601861"/>
            <a:ext cx="1623536" cy="649414"/>
          </a:xfrm>
          <a:custGeom>
            <a:avLst/>
            <a:gdLst/>
            <a:ahLst/>
            <a:cxnLst/>
            <a:rect l="l" t="t" r="r" b="b"/>
            <a:pathLst>
              <a:path w="1623536" h="649414">
                <a:moveTo>
                  <a:pt x="0" y="649414"/>
                </a:moveTo>
                <a:lnTo>
                  <a:pt x="1623536" y="649414"/>
                </a:lnTo>
                <a:lnTo>
                  <a:pt x="1623536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/>
        </p:spPr>
      </p:sp>
      <p:sp>
        <p:nvSpPr>
          <p:cNvPr id="10" name="S10-mark277"/>
          <p:cNvSpPr/>
          <p:nvPr/>
        </p:nvSpPr>
        <p:spPr>
          <a:xfrm flipV="1">
            <a:off x="6361176" y="2653617"/>
            <a:ext cx="0" cy="2922365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1" name="S10-mark278"/>
          <p:cNvSpPr/>
          <p:nvPr/>
        </p:nvSpPr>
        <p:spPr>
          <a:xfrm flipV="1">
            <a:off x="6685883" y="2653617"/>
            <a:ext cx="0" cy="2922365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2" name="S10-mark279"/>
          <p:cNvSpPr/>
          <p:nvPr/>
        </p:nvSpPr>
        <p:spPr>
          <a:xfrm flipV="1">
            <a:off x="7010591" y="2653617"/>
            <a:ext cx="0" cy="2922365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3" name="S10-mark280"/>
          <p:cNvSpPr/>
          <p:nvPr/>
        </p:nvSpPr>
        <p:spPr>
          <a:xfrm flipV="1">
            <a:off x="7335298" y="2653617"/>
            <a:ext cx="0" cy="2922365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4" name="S10-mark281"/>
          <p:cNvSpPr/>
          <p:nvPr/>
        </p:nvSpPr>
        <p:spPr>
          <a:xfrm flipV="1">
            <a:off x="7660005" y="2653617"/>
            <a:ext cx="0" cy="2922365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5" name="S10-mark282"/>
          <p:cNvSpPr/>
          <p:nvPr/>
        </p:nvSpPr>
        <p:spPr>
          <a:xfrm flipV="1">
            <a:off x="7984712" y="2653617"/>
            <a:ext cx="0" cy="2922365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6" name="S10-mark283"/>
          <p:cNvSpPr/>
          <p:nvPr/>
        </p:nvSpPr>
        <p:spPr>
          <a:xfrm flipV="1">
            <a:off x="8309420" y="2653617"/>
            <a:ext cx="0" cy="2922365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7" name="S10-mark284"/>
          <p:cNvSpPr/>
          <p:nvPr/>
        </p:nvSpPr>
        <p:spPr>
          <a:xfrm flipV="1">
            <a:off x="8634127" y="2653617"/>
            <a:ext cx="0" cy="2922365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8" name="S10-mark285"/>
          <p:cNvSpPr/>
          <p:nvPr/>
        </p:nvSpPr>
        <p:spPr>
          <a:xfrm flipV="1">
            <a:off x="8958834" y="2653617"/>
            <a:ext cx="0" cy="2922365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9" name="S10-mark286"/>
          <p:cNvSpPr/>
          <p:nvPr/>
        </p:nvSpPr>
        <p:spPr>
          <a:xfrm flipV="1">
            <a:off x="9283541" y="2653617"/>
            <a:ext cx="0" cy="2922365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0" name="S10-mark287"/>
          <p:cNvSpPr/>
          <p:nvPr/>
        </p:nvSpPr>
        <p:spPr>
          <a:xfrm flipV="1">
            <a:off x="9608249" y="2653617"/>
            <a:ext cx="0" cy="2922365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1" name="S10-mark288"/>
          <p:cNvSpPr/>
          <p:nvPr/>
        </p:nvSpPr>
        <p:spPr>
          <a:xfrm flipV="1">
            <a:off x="9932956" y="2653617"/>
            <a:ext cx="0" cy="2922365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2" name="S10-mark289"/>
          <p:cNvSpPr/>
          <p:nvPr/>
        </p:nvSpPr>
        <p:spPr>
          <a:xfrm flipV="1">
            <a:off x="10257663" y="2653617"/>
            <a:ext cx="0" cy="2922365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3" name="S10-mark290"/>
          <p:cNvSpPr/>
          <p:nvPr/>
        </p:nvSpPr>
        <p:spPr>
          <a:xfrm flipV="1">
            <a:off x="10582370" y="2653617"/>
            <a:ext cx="0" cy="2922365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4" name="S10-mark291"/>
          <p:cNvSpPr/>
          <p:nvPr/>
        </p:nvSpPr>
        <p:spPr>
          <a:xfrm flipV="1">
            <a:off x="10907078" y="2653617"/>
            <a:ext cx="0" cy="2922365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5" name="S10-mark292"/>
          <p:cNvSpPr/>
          <p:nvPr/>
        </p:nvSpPr>
        <p:spPr>
          <a:xfrm flipV="1">
            <a:off x="11231785" y="2653617"/>
            <a:ext cx="0" cy="2922365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6" name="S10-mark293"/>
          <p:cNvSpPr/>
          <p:nvPr/>
        </p:nvSpPr>
        <p:spPr>
          <a:xfrm flipV="1">
            <a:off x="11556492" y="2653617"/>
            <a:ext cx="0" cy="2922365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7" name="S10-mark294"/>
          <p:cNvSpPr/>
          <p:nvPr/>
        </p:nvSpPr>
        <p:spPr>
          <a:xfrm>
            <a:off x="6361176" y="5575983"/>
            <a:ext cx="519531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8" name="S10-mark295"/>
          <p:cNvSpPr/>
          <p:nvPr/>
        </p:nvSpPr>
        <p:spPr>
          <a:xfrm>
            <a:off x="6361176" y="5251275"/>
            <a:ext cx="519531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9" name="S10-mark296"/>
          <p:cNvSpPr/>
          <p:nvPr/>
        </p:nvSpPr>
        <p:spPr>
          <a:xfrm>
            <a:off x="6361176" y="4926568"/>
            <a:ext cx="519531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0" name="S10-mark297"/>
          <p:cNvSpPr/>
          <p:nvPr/>
        </p:nvSpPr>
        <p:spPr>
          <a:xfrm>
            <a:off x="6361176" y="4601861"/>
            <a:ext cx="519531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1" name="S10-mark298"/>
          <p:cNvSpPr/>
          <p:nvPr/>
        </p:nvSpPr>
        <p:spPr>
          <a:xfrm>
            <a:off x="6361176" y="4277154"/>
            <a:ext cx="519531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2" name="S10-mark299"/>
          <p:cNvSpPr/>
          <p:nvPr/>
        </p:nvSpPr>
        <p:spPr>
          <a:xfrm>
            <a:off x="6361176" y="3952446"/>
            <a:ext cx="519531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3" name="S10-mark300"/>
          <p:cNvSpPr/>
          <p:nvPr/>
        </p:nvSpPr>
        <p:spPr>
          <a:xfrm>
            <a:off x="6361176" y="3627739"/>
            <a:ext cx="519531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4" name="S10-mark301"/>
          <p:cNvSpPr/>
          <p:nvPr/>
        </p:nvSpPr>
        <p:spPr>
          <a:xfrm>
            <a:off x="6361176" y="3303032"/>
            <a:ext cx="519531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5" name="S10-mark302"/>
          <p:cNvSpPr/>
          <p:nvPr/>
        </p:nvSpPr>
        <p:spPr>
          <a:xfrm>
            <a:off x="6361176" y="2978325"/>
            <a:ext cx="519531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6" name="S10-mark303"/>
          <p:cNvSpPr/>
          <p:nvPr/>
        </p:nvSpPr>
        <p:spPr>
          <a:xfrm>
            <a:off x="6361176" y="2653617"/>
            <a:ext cx="519531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7" name="S10-figure304" descr="모눈 위 직육면체의 전개도: 가로 5칸·세로 2칸인 면 2개, 가로 5칸·세로 3칸인 면 2개, 가로 2칸·세로 3칸인 면 2개"/>
          <p:cNvSpPr/>
          <p:nvPr/>
        </p:nvSpPr>
        <p:spPr>
          <a:xfrm>
            <a:off x="6685883" y="3627739"/>
            <a:ext cx="1623536" cy="974122"/>
          </a:xfrm>
          <a:custGeom>
            <a:avLst/>
            <a:gdLst/>
            <a:ahLst/>
            <a:cxnLst/>
            <a:rect l="l" t="t" r="r" b="b"/>
            <a:pathLst>
              <a:path w="1623536" h="974122">
                <a:moveTo>
                  <a:pt x="0" y="974122"/>
                </a:moveTo>
                <a:lnTo>
                  <a:pt x="1623536" y="974122"/>
                </a:lnTo>
                <a:lnTo>
                  <a:pt x="1623536" y="0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38" name="S10-mark305"/>
          <p:cNvSpPr/>
          <p:nvPr/>
        </p:nvSpPr>
        <p:spPr>
          <a:xfrm>
            <a:off x="8309420" y="3627739"/>
            <a:ext cx="649415" cy="974122"/>
          </a:xfrm>
          <a:custGeom>
            <a:avLst/>
            <a:gdLst/>
            <a:ahLst/>
            <a:cxnLst/>
            <a:rect l="l" t="t" r="r" b="b"/>
            <a:pathLst>
              <a:path w="649415" h="974122">
                <a:moveTo>
                  <a:pt x="0" y="974122"/>
                </a:moveTo>
                <a:lnTo>
                  <a:pt x="649415" y="974122"/>
                </a:lnTo>
                <a:lnTo>
                  <a:pt x="649415" y="0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39" name="S10-mark306"/>
          <p:cNvSpPr/>
          <p:nvPr/>
        </p:nvSpPr>
        <p:spPr>
          <a:xfrm>
            <a:off x="8958834" y="3627739"/>
            <a:ext cx="1623536" cy="974122"/>
          </a:xfrm>
          <a:custGeom>
            <a:avLst/>
            <a:gdLst/>
            <a:ahLst/>
            <a:cxnLst/>
            <a:rect l="l" t="t" r="r" b="b"/>
            <a:pathLst>
              <a:path w="1623536" h="974122">
                <a:moveTo>
                  <a:pt x="0" y="974122"/>
                </a:moveTo>
                <a:lnTo>
                  <a:pt x="1623536" y="974122"/>
                </a:lnTo>
                <a:lnTo>
                  <a:pt x="1623536" y="0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40" name="S10-mark307"/>
          <p:cNvSpPr/>
          <p:nvPr/>
        </p:nvSpPr>
        <p:spPr>
          <a:xfrm>
            <a:off x="10582370" y="3627739"/>
            <a:ext cx="649415" cy="974122"/>
          </a:xfrm>
          <a:custGeom>
            <a:avLst/>
            <a:gdLst/>
            <a:ahLst/>
            <a:cxnLst/>
            <a:rect l="l" t="t" r="r" b="b"/>
            <a:pathLst>
              <a:path w="649415" h="974122">
                <a:moveTo>
                  <a:pt x="0" y="974122"/>
                </a:moveTo>
                <a:lnTo>
                  <a:pt x="649415" y="974122"/>
                </a:lnTo>
                <a:lnTo>
                  <a:pt x="649415" y="0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41" name="S10-mark308"/>
          <p:cNvSpPr/>
          <p:nvPr/>
        </p:nvSpPr>
        <p:spPr>
          <a:xfrm>
            <a:off x="6685883" y="2978325"/>
            <a:ext cx="1623536" cy="649415"/>
          </a:xfrm>
          <a:custGeom>
            <a:avLst/>
            <a:gdLst/>
            <a:ahLst/>
            <a:cxnLst/>
            <a:rect l="l" t="t" r="r" b="b"/>
            <a:pathLst>
              <a:path w="1623536" h="649415">
                <a:moveTo>
                  <a:pt x="0" y="649415"/>
                </a:moveTo>
                <a:lnTo>
                  <a:pt x="1623536" y="649415"/>
                </a:lnTo>
                <a:lnTo>
                  <a:pt x="1623536" y="0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42" name="S10-mark309"/>
          <p:cNvSpPr/>
          <p:nvPr/>
        </p:nvSpPr>
        <p:spPr>
          <a:xfrm>
            <a:off x="6685883" y="4601861"/>
            <a:ext cx="1623536" cy="649414"/>
          </a:xfrm>
          <a:custGeom>
            <a:avLst/>
            <a:gdLst/>
            <a:ahLst/>
            <a:cxnLst/>
            <a:rect l="l" t="t" r="r" b="b"/>
            <a:pathLst>
              <a:path w="1623536" h="649414">
                <a:moveTo>
                  <a:pt x="0" y="649414"/>
                </a:moveTo>
                <a:lnTo>
                  <a:pt x="1623536" y="649414"/>
                </a:lnTo>
                <a:lnTo>
                  <a:pt x="1623536" y="0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43" name="S10-chip310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44" name="S10-text311"/>
          <p:cNvSpPr txBox="1"/>
          <p:nvPr/>
        </p:nvSpPr>
        <p:spPr>
          <a:xfrm>
            <a:off x="1344168" y="2011680"/>
            <a:ext cx="45674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오른쪽 전개도로 만든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직육면체(한 칸 1 cm²)</a:t>
            </a:r>
            <a:endParaRPr lang="ko-KR" sz="2800" dirty="0"/>
          </a:p>
        </p:txBody>
      </p:sp>
      <p:sp>
        <p:nvSpPr>
          <p:cNvPr id="45" name="S10-chip312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46" name="S10-text313"/>
          <p:cNvSpPr txBox="1"/>
          <p:nvPr/>
        </p:nvSpPr>
        <p:spPr>
          <a:xfrm>
            <a:off x="1344168" y="3474720"/>
            <a:ext cx="45674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모서리가 6 cm인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정육면체</a:t>
            </a:r>
            <a:endParaRPr lang="ko-KR" sz="2800" dirty="0"/>
          </a:p>
        </p:txBody>
      </p:sp>
      <p:sp>
        <p:nvSpPr>
          <p:cNvPr id="47" name="S10-chip314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48" name="S10-text315"/>
          <p:cNvSpPr txBox="1"/>
          <p:nvPr/>
        </p:nvSpPr>
        <p:spPr>
          <a:xfrm>
            <a:off x="1344168" y="4937760"/>
            <a:ext cx="45674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가로 8 cm, 세로 5 cm,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높이 2 cm인 직육면체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바른 식을 모두 골라요</a:t>
            </a:r>
            <a:endParaRPr lang="ko-KR" sz="4000" dirty="0"/>
          </a:p>
        </p:txBody>
      </p:sp>
      <p:sp>
        <p:nvSpPr>
          <p:cNvPr id="3" name="S12-text31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가로 4 cm, 세로 3 cm, 높이 2 cm인 직육면체의 겉넓이</a:t>
            </a:r>
            <a:endParaRPr lang="ko-KR" sz="2800" dirty="0"/>
          </a:p>
        </p:txBody>
      </p:sp>
      <p:sp>
        <p:nvSpPr>
          <p:cNvPr id="4" name="S12-card31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2-cardtext31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바른 식을 모두 고르고, 그 식이 무엇을 구하는지 말해요.</a:t>
            </a:r>
            <a:endParaRPr lang="ko-KR" sz="2800" dirty="0"/>
          </a:p>
        </p:txBody>
      </p:sp>
      <p:sp>
        <p:nvSpPr>
          <p:cNvPr id="6" name="S12-chip319"/>
          <p:cNvSpPr txBox="1"/>
          <p:nvPr/>
        </p:nvSpPr>
        <p:spPr>
          <a:xfrm>
            <a:off x="548640" y="24368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800" dirty="0"/>
          </a:p>
        </p:txBody>
      </p:sp>
      <p:sp>
        <p:nvSpPr>
          <p:cNvPr id="7" name="S12-card320"/>
          <p:cNvSpPr/>
          <p:nvPr/>
        </p:nvSpPr>
        <p:spPr>
          <a:xfrm>
            <a:off x="1344168" y="2011680"/>
            <a:ext cx="4567428" cy="1417320"/>
          </a:xfrm>
          <a:prstGeom prst="roundRect">
            <a:avLst>
              <a:gd name="adj" fmla="val 774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12-cardtext321"/>
          <p:cNvSpPr txBox="1"/>
          <p:nvPr/>
        </p:nvSpPr>
        <p:spPr>
          <a:xfrm>
            <a:off x="1618488" y="2148840"/>
            <a:ext cx="40187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(4 × 3 + 4 × 2 + 3 × 2)</a:t>
            </a:r>
            <a:endParaRPr lang="ko-KR" sz="2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2</a:t>
            </a:r>
            <a:endParaRPr lang="ko-KR" sz="2200" dirty="0"/>
          </a:p>
        </p:txBody>
      </p:sp>
      <p:sp>
        <p:nvSpPr>
          <p:cNvPr id="9" name="S12-chip322"/>
          <p:cNvSpPr txBox="1"/>
          <p:nvPr/>
        </p:nvSpPr>
        <p:spPr>
          <a:xfrm>
            <a:off x="6277356" y="24368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800" dirty="0"/>
          </a:p>
        </p:txBody>
      </p:sp>
      <p:sp>
        <p:nvSpPr>
          <p:cNvPr id="10" name="S12-card323"/>
          <p:cNvSpPr/>
          <p:nvPr/>
        </p:nvSpPr>
        <p:spPr>
          <a:xfrm>
            <a:off x="7072884" y="2011680"/>
            <a:ext cx="4567428" cy="1417320"/>
          </a:xfrm>
          <a:prstGeom prst="roundRect">
            <a:avLst>
              <a:gd name="adj" fmla="val 774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12-cardtext324"/>
          <p:cNvSpPr txBox="1"/>
          <p:nvPr/>
        </p:nvSpPr>
        <p:spPr>
          <a:xfrm>
            <a:off x="7347204" y="2148840"/>
            <a:ext cx="40187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× 3 × 2</a:t>
            </a:r>
            <a:endParaRPr lang="ko-KR" sz="2800" dirty="0"/>
          </a:p>
        </p:txBody>
      </p:sp>
      <p:sp>
        <p:nvSpPr>
          <p:cNvPr id="12" name="S12-chip325"/>
          <p:cNvSpPr txBox="1"/>
          <p:nvPr/>
        </p:nvSpPr>
        <p:spPr>
          <a:xfrm>
            <a:off x="548640" y="41285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2800" dirty="0"/>
          </a:p>
        </p:txBody>
      </p:sp>
      <p:sp>
        <p:nvSpPr>
          <p:cNvPr id="13" name="S12-card326"/>
          <p:cNvSpPr/>
          <p:nvPr/>
        </p:nvSpPr>
        <p:spPr>
          <a:xfrm>
            <a:off x="1344168" y="3703320"/>
            <a:ext cx="4567428" cy="1417320"/>
          </a:xfrm>
          <a:prstGeom prst="roundRect">
            <a:avLst>
              <a:gd name="adj" fmla="val 774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4" name="S12-cardtext327"/>
          <p:cNvSpPr txBox="1"/>
          <p:nvPr/>
        </p:nvSpPr>
        <p:spPr>
          <a:xfrm>
            <a:off x="1618488" y="3840480"/>
            <a:ext cx="40187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× 3 × 2 +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(4 + 3 + 4 + 3) × 2</a:t>
            </a:r>
            <a:endParaRPr lang="ko-KR" sz="2800" dirty="0"/>
          </a:p>
        </p:txBody>
      </p:sp>
      <p:sp>
        <p:nvSpPr>
          <p:cNvPr id="15" name="S12-chip328"/>
          <p:cNvSpPr txBox="1"/>
          <p:nvPr/>
        </p:nvSpPr>
        <p:spPr>
          <a:xfrm>
            <a:off x="6277356" y="41285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</a:t>
            </a:r>
            <a:endParaRPr lang="ko-KR" sz="2800" dirty="0"/>
          </a:p>
        </p:txBody>
      </p:sp>
      <p:sp>
        <p:nvSpPr>
          <p:cNvPr id="16" name="S12-card329"/>
          <p:cNvSpPr/>
          <p:nvPr/>
        </p:nvSpPr>
        <p:spPr>
          <a:xfrm>
            <a:off x="7072884" y="3703320"/>
            <a:ext cx="4567428" cy="1417320"/>
          </a:xfrm>
          <a:prstGeom prst="roundRect">
            <a:avLst>
              <a:gd name="adj" fmla="val 774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7" name="S12-cardtext330"/>
          <p:cNvSpPr txBox="1"/>
          <p:nvPr/>
        </p:nvSpPr>
        <p:spPr>
          <a:xfrm>
            <a:off x="7347204" y="3840480"/>
            <a:ext cx="40187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× 3 + 4 × 2 + 3 × 2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3-card331"/>
          <p:cNvSpPr/>
          <p:nvPr/>
        </p:nvSpPr>
        <p:spPr>
          <a:xfrm>
            <a:off x="548640" y="1325880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3-cardtext332"/>
          <p:cNvSpPr txBox="1"/>
          <p:nvPr/>
        </p:nvSpPr>
        <p:spPr>
          <a:xfrm>
            <a:off x="822960" y="1463040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직육면체의 겉넓이는 여섯 면의 넓이의 합이에요. (세 면의 합) × 2, 정육면체는 (한 면) × 6</a:t>
            </a:r>
            <a:endParaRPr lang="ko-KR" sz="2800" dirty="0"/>
          </a:p>
        </p:txBody>
      </p:sp>
      <p:sp>
        <p:nvSpPr>
          <p:cNvPr id="5" name="S13-chip333"/>
          <p:cNvSpPr txBox="1"/>
          <p:nvPr/>
        </p:nvSpPr>
        <p:spPr>
          <a:xfrm>
            <a:off x="548640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합동인 면 세 쌍을 짝짓기</a:t>
            </a:r>
            <a:endParaRPr lang="ko-KR" sz="2200" dirty="0"/>
          </a:p>
        </p:txBody>
      </p:sp>
      <p:sp>
        <p:nvSpPr>
          <p:cNvPr id="6" name="S13-chip334"/>
          <p:cNvSpPr txBox="1"/>
          <p:nvPr/>
        </p:nvSpPr>
        <p:spPr>
          <a:xfrm>
            <a:off x="6208776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세 면만 더하고 끝내기</a:t>
            </a:r>
            <a:endParaRPr lang="ko-KR" sz="2200" dirty="0"/>
          </a:p>
        </p:txBody>
      </p:sp>
      <p:sp>
        <p:nvSpPr>
          <p:cNvPr id="7" name="S13-text335"/>
          <p:cNvSpPr txBox="1"/>
          <p:nvPr/>
        </p:nvSpPr>
        <p:spPr>
          <a:xfrm>
            <a:off x="548640" y="3574288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200" dirty="0"/>
          </a:p>
        </p:txBody>
      </p:sp>
      <p:sp>
        <p:nvSpPr>
          <p:cNvPr id="8" name="S13-text336"/>
          <p:cNvSpPr txBox="1"/>
          <p:nvPr/>
        </p:nvSpPr>
        <p:spPr>
          <a:xfrm>
            <a:off x="548640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한 모서리가 2 cm인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정육면체의 겉넓이는?</a:t>
            </a:r>
            <a:endParaRPr lang="ko-KR" sz="2200" dirty="0"/>
          </a:p>
        </p:txBody>
      </p:sp>
      <p:sp>
        <p:nvSpPr>
          <p:cNvPr id="9" name="S13-text337"/>
          <p:cNvSpPr txBox="1"/>
          <p:nvPr/>
        </p:nvSpPr>
        <p:spPr>
          <a:xfrm>
            <a:off x="4322064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가로 5 cm, 세로 2 cm,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높이 1 cm인 직육면체의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겉넓이는?</a:t>
            </a:r>
            <a:endParaRPr lang="ko-KR" sz="2200" dirty="0"/>
          </a:p>
        </p:txBody>
      </p:sp>
      <p:sp>
        <p:nvSpPr>
          <p:cNvPr id="10" name="S13-text338"/>
          <p:cNvSpPr txBox="1"/>
          <p:nvPr/>
        </p:nvSpPr>
        <p:spPr>
          <a:xfrm>
            <a:off x="8095488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직육면체에서 합동인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면은 몇 쌍인가요?</a:t>
            </a:r>
            <a:endParaRPr lang="ko-KR" sz="2200" dirty="0"/>
          </a:p>
        </p:txBody>
      </p:sp>
      <p:sp>
        <p:nvSpPr>
          <p:cNvPr id="11" name="S13-text339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직육면체의 부피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직사각형의 넓이</a:t>
            </a:r>
            <a:endParaRPr lang="ko-KR" sz="4000" dirty="0"/>
          </a:p>
        </p:txBody>
      </p:sp>
      <p:sp>
        <p:nvSpPr>
          <p:cNvPr id="3" name="S14-text34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칸은 1 cm²예요.</a:t>
            </a:r>
            <a:endParaRPr lang="ko-KR" sz="2800" dirty="0"/>
          </a:p>
        </p:txBody>
      </p:sp>
      <p:sp>
        <p:nvSpPr>
          <p:cNvPr id="4" name="S14-cell341"/>
          <p:cNvSpPr/>
          <p:nvPr/>
        </p:nvSpPr>
        <p:spPr>
          <a:xfrm>
            <a:off x="1515618" y="3086100"/>
            <a:ext cx="685800" cy="68580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" name="S14-cell342"/>
          <p:cNvSpPr/>
          <p:nvPr/>
        </p:nvSpPr>
        <p:spPr>
          <a:xfrm>
            <a:off x="2201418" y="3086100"/>
            <a:ext cx="685800" cy="68580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" name="S14-cell343"/>
          <p:cNvSpPr/>
          <p:nvPr/>
        </p:nvSpPr>
        <p:spPr>
          <a:xfrm>
            <a:off x="2887218" y="3086100"/>
            <a:ext cx="685800" cy="68580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" name="S14-cell344"/>
          <p:cNvSpPr/>
          <p:nvPr/>
        </p:nvSpPr>
        <p:spPr>
          <a:xfrm>
            <a:off x="3573018" y="3086100"/>
            <a:ext cx="685800" cy="68580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" name="S14-cell345"/>
          <p:cNvSpPr/>
          <p:nvPr/>
        </p:nvSpPr>
        <p:spPr>
          <a:xfrm>
            <a:off x="4258818" y="3086100"/>
            <a:ext cx="685800" cy="68580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" name="S14-cell346"/>
          <p:cNvSpPr/>
          <p:nvPr/>
        </p:nvSpPr>
        <p:spPr>
          <a:xfrm>
            <a:off x="1515618" y="3771900"/>
            <a:ext cx="685800" cy="68580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" name="S14-cell347"/>
          <p:cNvSpPr/>
          <p:nvPr/>
        </p:nvSpPr>
        <p:spPr>
          <a:xfrm>
            <a:off x="2201418" y="3771900"/>
            <a:ext cx="685800" cy="68580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" name="S14-cell348"/>
          <p:cNvSpPr/>
          <p:nvPr/>
        </p:nvSpPr>
        <p:spPr>
          <a:xfrm>
            <a:off x="2887218" y="3771900"/>
            <a:ext cx="685800" cy="68580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" name="S14-cell349"/>
          <p:cNvSpPr/>
          <p:nvPr/>
        </p:nvSpPr>
        <p:spPr>
          <a:xfrm>
            <a:off x="3573018" y="3771900"/>
            <a:ext cx="685800" cy="68580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" name="S14-cell350"/>
          <p:cNvSpPr/>
          <p:nvPr/>
        </p:nvSpPr>
        <p:spPr>
          <a:xfrm>
            <a:off x="4258818" y="3771900"/>
            <a:ext cx="685800" cy="68580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" name="S14-cell351"/>
          <p:cNvSpPr/>
          <p:nvPr/>
        </p:nvSpPr>
        <p:spPr>
          <a:xfrm>
            <a:off x="1515618" y="4457700"/>
            <a:ext cx="685800" cy="68580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" name="S14-cell352"/>
          <p:cNvSpPr/>
          <p:nvPr/>
        </p:nvSpPr>
        <p:spPr>
          <a:xfrm>
            <a:off x="2201418" y="4457700"/>
            <a:ext cx="685800" cy="68580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6" name="S14-cell353"/>
          <p:cNvSpPr/>
          <p:nvPr/>
        </p:nvSpPr>
        <p:spPr>
          <a:xfrm>
            <a:off x="2887218" y="4457700"/>
            <a:ext cx="685800" cy="68580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" name="S14-cell354"/>
          <p:cNvSpPr/>
          <p:nvPr/>
        </p:nvSpPr>
        <p:spPr>
          <a:xfrm>
            <a:off x="3573018" y="4457700"/>
            <a:ext cx="685800" cy="68580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8" name="S14-cell355"/>
          <p:cNvSpPr/>
          <p:nvPr/>
        </p:nvSpPr>
        <p:spPr>
          <a:xfrm>
            <a:off x="4258818" y="4457700"/>
            <a:ext cx="685800" cy="68580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9" name="S14-figure356" descr="가로 5칸, 세로 3칸인 직사각형: 15칸 모두 색칠"/>
          <p:cNvSpPr/>
          <p:nvPr/>
        </p:nvSpPr>
        <p:spPr>
          <a:xfrm>
            <a:off x="1515618" y="3086100"/>
            <a:ext cx="3429000" cy="205740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0" name="S14-card357"/>
          <p:cNvSpPr/>
          <p:nvPr/>
        </p:nvSpPr>
        <p:spPr>
          <a:xfrm>
            <a:off x="6277356" y="2649982"/>
            <a:ext cx="5362956" cy="1180084"/>
          </a:xfrm>
          <a:prstGeom prst="roundRect">
            <a:avLst>
              <a:gd name="adj" fmla="val 929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21" name="S14-cardtext358"/>
          <p:cNvSpPr txBox="1"/>
          <p:nvPr/>
        </p:nvSpPr>
        <p:spPr>
          <a:xfrm>
            <a:off x="6551676" y="2787142"/>
            <a:ext cx="4814316" cy="905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칸 수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줄에 5칸씩 3줄</a:t>
            </a:r>
            <a:endParaRPr lang="ko-KR" sz="2800" dirty="0"/>
          </a:p>
        </p:txBody>
      </p:sp>
      <p:sp>
        <p:nvSpPr>
          <p:cNvPr id="22" name="S14-card359"/>
          <p:cNvSpPr/>
          <p:nvPr/>
        </p:nvSpPr>
        <p:spPr>
          <a:xfrm>
            <a:off x="6277356" y="4058666"/>
            <a:ext cx="5362956" cy="1520952"/>
          </a:xfrm>
          <a:prstGeom prst="roundRect">
            <a:avLst>
              <a:gd name="adj" fmla="val 721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23" name="S14-cardtext360"/>
          <p:cNvSpPr txBox="1"/>
          <p:nvPr/>
        </p:nvSpPr>
        <p:spPr>
          <a:xfrm>
            <a:off x="6551676" y="4195826"/>
            <a:ext cx="4814316" cy="1246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직사각형의 넓이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가로 × 세로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en-US" altLang="ko-KR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× 3 = 15 (cm²)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초6 수학 직육면체의 겉넓이</dc:title>
  <dc:subject>KR22-G06-MAT-SURFACE-L01</dc:subject>
  <dc:creator>education-ppt</dc:creator>
  <cp:lastModifiedBy>education-ppt</cp:lastModifiedBy>
  <cp:revision>1</cp:revision>
  <dcterms:created xsi:type="dcterms:W3CDTF">2026-10-26T09:13:53Z</dcterms:created>
  <dcterms:modified xsi:type="dcterms:W3CDTF">2026-10-26T09:13:53Z</dcterms:modified>
</cp:coreProperties>
</file>