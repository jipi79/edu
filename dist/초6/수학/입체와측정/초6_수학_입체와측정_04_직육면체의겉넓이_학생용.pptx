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6a058e81-06c6-93c3-c6cb-07b71dd69c4c}">
          <p14:sldIdLst>
            <p14:sldId id="256"/>
            <p14:sldId id="257"/>
          </p14:sldIdLst>
        </p14:section>
        <p14:section name="개념" id="{52c2a15a-cdd6-72ff-f726-49782a231729}">
          <p14:sldIdLst>
            <p14:sldId id="258"/>
            <p14:sldId id="259"/>
            <p14:sldId id="260"/>
            <p14:sldId id="263"/>
          </p14:sldIdLst>
        </p14:section>
        <p14:section name="연습" id="{ba380037-0e01-10e5-8f75-4170a24c3b31}">
          <p14:sldIdLst>
            <p14:sldId id="261"/>
            <p14:sldId id="262"/>
            <p14:sldId id="264"/>
          </p14:sldIdLst>
        </p14:section>
        <p14:section name="개념" id="{6fd047b6-b5ca-2de1-195f-b2552d1de02f}">
          <p14:sldIdLst/>
        </p14:section>
        <p14:section name="연습" id="{b35038d4-b5df-e866-9c15-a1e923d3a882}">
          <p14:sldIdLst/>
        </p14:section>
        <p14:section name="확인" id="{1bc226f4-30e3-ceae-86b8-aa5ad0fe8b71}">
          <p14:sldIdLst>
            <p14:sldId id="265"/>
            <p14:sldId id="266"/>
          </p14:sldIdLst>
        </p14:section>
        <p14:section name="정리" id="{bc1b2fe8-4192-0bd9-80a9-d288645dcd68}">
          <p14:sldIdLst>
            <p14:sldId id="267"/>
          </p14:sldIdLst>
        </p14:section>
        <p14:section name="보충" id="{d2963346-e9ef-2a18-52fe-066c3cee75b2}">
          <p14:sldIdLst>
            <p14:sldId id="26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입체와측정 · 4차시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초6 수학 · 직육면체의 겉넓이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</a:t>
            </a:r>
            <a:endParaRPr lang="ko-KR" sz="4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28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상자를 빈틈없이 싸려면 종이가 얼마나 필요할까?</a:t>
            </a:r>
            <a:endParaRPr lang="ko-KR" sz="2800" dirty="0"/>
          </a:p>
        </p:txBody>
      </p:sp>
      <p:sp>
        <p:nvSpPr>
          <p:cNvPr id="4" name="S01-panel1"/>
          <p:cNvSpPr/>
          <p:nvPr/>
        </p:nvSpPr>
        <p:spPr>
          <a:xfrm>
            <a:off x="7543800" y="502920"/>
            <a:ext cx="4206240" cy="3200400"/>
          </a:xfrm>
          <a:prstGeom prst="roundRect">
            <a:avLst>
              <a:gd name="adj" fmla="val 4286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01-figure2" descr="가로 4 cm, 세로 3 cm, 높이 2 cm인 직육면체"/>
          <p:cNvSpPr/>
          <p:nvPr/>
        </p:nvSpPr>
        <p:spPr>
          <a:xfrm>
            <a:off x="8181645" y="1796694"/>
            <a:ext cx="2228555" cy="1114278"/>
          </a:xfrm>
          <a:custGeom>
            <a:avLst/>
            <a:gdLst/>
            <a:ahLst/>
            <a:cxnLst/>
            <a:rect l="l" t="t" r="r" b="b"/>
            <a:pathLst>
              <a:path w="2228555" h="1114278">
                <a:moveTo>
                  <a:pt x="0" y="1114278"/>
                </a:moveTo>
                <a:lnTo>
                  <a:pt x="2228555" y="1114278"/>
                </a:lnTo>
                <a:lnTo>
                  <a:pt x="2228555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1-mark3"/>
          <p:cNvSpPr/>
          <p:nvPr/>
        </p:nvSpPr>
        <p:spPr>
          <a:xfrm>
            <a:off x="8181645" y="1295269"/>
            <a:ext cx="2930550" cy="501425"/>
          </a:xfrm>
          <a:custGeom>
            <a:avLst/>
            <a:gdLst/>
            <a:ahLst/>
            <a:cxnLst/>
            <a:rect l="l" t="t" r="r" b="b"/>
            <a:pathLst>
              <a:path w="2930550" h="501425">
                <a:moveTo>
                  <a:pt x="0" y="501425"/>
                </a:moveTo>
                <a:lnTo>
                  <a:pt x="2228555" y="501425"/>
                </a:lnTo>
                <a:lnTo>
                  <a:pt x="2930550" y="0"/>
                </a:lnTo>
                <a:lnTo>
                  <a:pt x="701995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1-mark4"/>
          <p:cNvSpPr/>
          <p:nvPr/>
        </p:nvSpPr>
        <p:spPr>
          <a:xfrm>
            <a:off x="10410200" y="1295269"/>
            <a:ext cx="701995" cy="1615703"/>
          </a:xfrm>
          <a:custGeom>
            <a:avLst/>
            <a:gdLst/>
            <a:ahLst/>
            <a:cxnLst/>
            <a:rect l="l" t="t" r="r" b="b"/>
            <a:pathLst>
              <a:path w="701995" h="1615703">
                <a:moveTo>
                  <a:pt x="0" y="1615703"/>
                </a:moveTo>
                <a:lnTo>
                  <a:pt x="701995" y="1114278"/>
                </a:lnTo>
                <a:lnTo>
                  <a:pt x="701995" y="0"/>
                </a:lnTo>
                <a:lnTo>
                  <a:pt x="0" y="501425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1-mark5"/>
          <p:cNvSpPr/>
          <p:nvPr/>
        </p:nvSpPr>
        <p:spPr>
          <a:xfrm>
            <a:off x="8883640" y="2409546"/>
            <a:ext cx="2228555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1-mark6"/>
          <p:cNvSpPr/>
          <p:nvPr/>
        </p:nvSpPr>
        <p:spPr>
          <a:xfrm flipV="1">
            <a:off x="8883640" y="1295269"/>
            <a:ext cx="0" cy="1114278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1-mark7"/>
          <p:cNvSpPr/>
          <p:nvPr/>
        </p:nvSpPr>
        <p:spPr>
          <a:xfrm flipH="1">
            <a:off x="8181645" y="2409546"/>
            <a:ext cx="701995" cy="501425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1-mark8"/>
          <p:cNvSpPr/>
          <p:nvPr/>
        </p:nvSpPr>
        <p:spPr>
          <a:xfrm>
            <a:off x="8181645" y="2910971"/>
            <a:ext cx="2228555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1-mark9"/>
          <p:cNvSpPr/>
          <p:nvPr/>
        </p:nvSpPr>
        <p:spPr>
          <a:xfrm flipV="1">
            <a:off x="10410200" y="2409546"/>
            <a:ext cx="701995" cy="501425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1-mark10"/>
          <p:cNvSpPr/>
          <p:nvPr/>
        </p:nvSpPr>
        <p:spPr>
          <a:xfrm flipV="1">
            <a:off x="11112195" y="1295269"/>
            <a:ext cx="0" cy="1114278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1-label12"/>
          <p:cNvSpPr txBox="1"/>
          <p:nvPr/>
        </p:nvSpPr>
        <p:spPr>
          <a:xfrm>
            <a:off x="8914161" y="298780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1-label14"/>
          <p:cNvSpPr txBox="1"/>
          <p:nvPr/>
        </p:nvSpPr>
        <p:spPr>
          <a:xfrm>
            <a:off x="10609388" y="280756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1-label16"/>
          <p:cNvSpPr txBox="1"/>
          <p:nvPr/>
        </p:nvSpPr>
        <p:spPr>
          <a:xfrm>
            <a:off x="11116005" y="1677783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1-card17"/>
          <p:cNvSpPr/>
          <p:nvPr/>
        </p:nvSpPr>
        <p:spPr>
          <a:xfrm>
            <a:off x="731520" y="4529328"/>
            <a:ext cx="10725912" cy="1597152"/>
          </a:xfrm>
          <a:prstGeom prst="roundRect">
            <a:avLst>
              <a:gd name="adj" fmla="val 6870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8" name="S01-cardtext18"/>
          <p:cNvSpPr txBox="1"/>
          <p:nvPr/>
        </p:nvSpPr>
        <p:spPr>
          <a:xfrm>
            <a:off x="1005840" y="4666488"/>
            <a:ext cx="10177272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전개도로 겉넓이 구하는 방법을 설명해요.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직육면체와 정육면체의 겉넓이를 구해요.</a:t>
            </a:r>
            <a:endParaRPr lang="ko-KR" sz="2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000" dirty="0"/>
          </a:p>
        </p:txBody>
      </p:sp>
      <p:sp>
        <p:nvSpPr>
          <p:cNvPr id="3" name="S02-figure19" descr="직육면체: 보이는 세 면(앞, 위, 오른쪽)을 서로 다른 색으로 칠함. 보이지 않는 모서리는 점선"/>
          <p:cNvSpPr/>
          <p:nvPr/>
        </p:nvSpPr>
        <p:spPr>
          <a:xfrm>
            <a:off x="6553962" y="3268980"/>
            <a:ext cx="3657600" cy="1828800"/>
          </a:xfrm>
          <a:custGeom>
            <a:avLst/>
            <a:gdLst/>
            <a:ahLst/>
            <a:cxnLst/>
            <a:rect l="l" t="t" r="r" b="b"/>
            <a:pathLst>
              <a:path w="3657600" h="1828800">
                <a:moveTo>
                  <a:pt x="0" y="1828800"/>
                </a:moveTo>
                <a:lnTo>
                  <a:pt x="3657600" y="1828800"/>
                </a:lnTo>
                <a:lnTo>
                  <a:pt x="365760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4" name="S02-mark20"/>
          <p:cNvSpPr/>
          <p:nvPr/>
        </p:nvSpPr>
        <p:spPr>
          <a:xfrm>
            <a:off x="6553962" y="2446020"/>
            <a:ext cx="4809744" cy="822960"/>
          </a:xfrm>
          <a:custGeom>
            <a:avLst/>
            <a:gdLst/>
            <a:ahLst/>
            <a:cxnLst/>
            <a:rect l="l" t="t" r="r" b="b"/>
            <a:pathLst>
              <a:path w="4809744" h="822960">
                <a:moveTo>
                  <a:pt x="0" y="822960"/>
                </a:moveTo>
                <a:lnTo>
                  <a:pt x="3657600" y="822960"/>
                </a:lnTo>
                <a:lnTo>
                  <a:pt x="4809744" y="0"/>
                </a:lnTo>
                <a:lnTo>
                  <a:pt x="1152144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" name="S02-mark21"/>
          <p:cNvSpPr/>
          <p:nvPr/>
        </p:nvSpPr>
        <p:spPr>
          <a:xfrm>
            <a:off x="10211562" y="2446020"/>
            <a:ext cx="1152144" cy="2651760"/>
          </a:xfrm>
          <a:custGeom>
            <a:avLst/>
            <a:gdLst/>
            <a:ahLst/>
            <a:cxnLst/>
            <a:rect l="l" t="t" r="r" b="b"/>
            <a:pathLst>
              <a:path w="1152144" h="2651760">
                <a:moveTo>
                  <a:pt x="0" y="2651760"/>
                </a:moveTo>
                <a:lnTo>
                  <a:pt x="1152144" y="1828800"/>
                </a:lnTo>
                <a:lnTo>
                  <a:pt x="1152144" y="0"/>
                </a:lnTo>
                <a:lnTo>
                  <a:pt x="0" y="822960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2-mark22"/>
          <p:cNvSpPr/>
          <p:nvPr/>
        </p:nvSpPr>
        <p:spPr>
          <a:xfrm>
            <a:off x="7706106" y="4274820"/>
            <a:ext cx="365760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7" name="S02-mark23"/>
          <p:cNvSpPr/>
          <p:nvPr/>
        </p:nvSpPr>
        <p:spPr>
          <a:xfrm flipV="1">
            <a:off x="7706106" y="2446020"/>
            <a:ext cx="0" cy="182880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8" name="S02-mark24"/>
          <p:cNvSpPr/>
          <p:nvPr/>
        </p:nvSpPr>
        <p:spPr>
          <a:xfrm flipH="1">
            <a:off x="6553962" y="4274820"/>
            <a:ext cx="1152144" cy="82296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2-mark25"/>
          <p:cNvSpPr/>
          <p:nvPr/>
        </p:nvSpPr>
        <p:spPr>
          <a:xfrm>
            <a:off x="6553962" y="5097780"/>
            <a:ext cx="3657600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0" name="S02-mark26"/>
          <p:cNvSpPr/>
          <p:nvPr/>
        </p:nvSpPr>
        <p:spPr>
          <a:xfrm flipV="1">
            <a:off x="10211562" y="4274820"/>
            <a:ext cx="1152144" cy="82296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1" name="S02-mark27"/>
          <p:cNvSpPr/>
          <p:nvPr/>
        </p:nvSpPr>
        <p:spPr>
          <a:xfrm flipV="1">
            <a:off x="11363706" y="2446020"/>
            <a:ext cx="0" cy="182880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2-chip2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3" name="S02-text29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5 cm, 세로 3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넓이는?</a:t>
            </a:r>
            <a:endParaRPr lang="ko-KR" sz="2800" dirty="0"/>
          </a:p>
        </p:txBody>
      </p:sp>
      <p:sp>
        <p:nvSpPr>
          <p:cNvPr id="14" name="S02-chip3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15" name="S02-text31"/>
          <p:cNvSpPr txBox="1"/>
          <p:nvPr/>
        </p:nvSpPr>
        <p:spPr>
          <a:xfrm>
            <a:off x="1344168" y="301752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변이 4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정사각형의 넓이는?</a:t>
            </a:r>
            <a:endParaRPr lang="ko-KR" sz="2800" dirty="0"/>
          </a:p>
        </p:txBody>
      </p:sp>
      <p:sp>
        <p:nvSpPr>
          <p:cNvPr id="16" name="S02-chip3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7" name="S02-text33"/>
          <p:cNvSpPr txBox="1"/>
          <p:nvPr/>
        </p:nvSpPr>
        <p:spPr>
          <a:xfrm>
            <a:off x="1344168" y="470916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직육면체에서 서로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합동인 면은 몇 쌍?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 여섯 면의 합</a:t>
            </a:r>
            <a:endParaRPr lang="ko-KR" sz="4000" dirty="0"/>
          </a:p>
        </p:txBody>
      </p:sp>
      <p:sp>
        <p:nvSpPr>
          <p:cNvPr id="3" name="S03-text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직육면체를 펼쳤어요. 모눈 한 칸은 1 cm²예요.</a:t>
            </a:r>
            <a:endParaRPr lang="ko-KR" sz="2800" dirty="0"/>
          </a:p>
        </p:txBody>
      </p:sp>
      <p:sp>
        <p:nvSpPr>
          <p:cNvPr id="4" name="S03-mark35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3-mark36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6" name="S03-mark37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3-mark38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8" name="S03-mark39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3-mark40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3-mark41"/>
          <p:cNvSpPr/>
          <p:nvPr/>
        </p:nvSpPr>
        <p:spPr>
          <a:xfrm flipV="1">
            <a:off x="6427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3-mark42"/>
          <p:cNvSpPr/>
          <p:nvPr/>
        </p:nvSpPr>
        <p:spPr>
          <a:xfrm flipV="1">
            <a:off x="10466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3-mark43"/>
          <p:cNvSpPr/>
          <p:nvPr/>
        </p:nvSpPr>
        <p:spPr>
          <a:xfrm flipV="1">
            <a:off x="14505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3-mark44"/>
          <p:cNvSpPr/>
          <p:nvPr/>
        </p:nvSpPr>
        <p:spPr>
          <a:xfrm flipV="1">
            <a:off x="18543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3-mark45"/>
          <p:cNvSpPr/>
          <p:nvPr/>
        </p:nvSpPr>
        <p:spPr>
          <a:xfrm flipV="1">
            <a:off x="22582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3-mark46"/>
          <p:cNvSpPr/>
          <p:nvPr/>
        </p:nvSpPr>
        <p:spPr>
          <a:xfrm flipV="1">
            <a:off x="26620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3-mark47"/>
          <p:cNvSpPr/>
          <p:nvPr/>
        </p:nvSpPr>
        <p:spPr>
          <a:xfrm flipV="1">
            <a:off x="30659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3-mark48"/>
          <p:cNvSpPr/>
          <p:nvPr/>
        </p:nvSpPr>
        <p:spPr>
          <a:xfrm flipV="1">
            <a:off x="34698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3-mark49"/>
          <p:cNvSpPr/>
          <p:nvPr/>
        </p:nvSpPr>
        <p:spPr>
          <a:xfrm flipV="1">
            <a:off x="38736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3-mark50"/>
          <p:cNvSpPr/>
          <p:nvPr/>
        </p:nvSpPr>
        <p:spPr>
          <a:xfrm flipV="1">
            <a:off x="42775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3-mark51"/>
          <p:cNvSpPr/>
          <p:nvPr/>
        </p:nvSpPr>
        <p:spPr>
          <a:xfrm flipV="1">
            <a:off x="4681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3-mark52"/>
          <p:cNvSpPr/>
          <p:nvPr/>
        </p:nvSpPr>
        <p:spPr>
          <a:xfrm flipV="1">
            <a:off x="50852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3-mark53"/>
          <p:cNvSpPr/>
          <p:nvPr/>
        </p:nvSpPr>
        <p:spPr>
          <a:xfrm flipV="1">
            <a:off x="548911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3-mark54"/>
          <p:cNvSpPr/>
          <p:nvPr/>
        </p:nvSpPr>
        <p:spPr>
          <a:xfrm flipV="1">
            <a:off x="589297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3-mark55"/>
          <p:cNvSpPr/>
          <p:nvPr/>
        </p:nvSpPr>
        <p:spPr>
          <a:xfrm flipV="1">
            <a:off x="629683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3-mark56"/>
          <p:cNvSpPr/>
          <p:nvPr/>
        </p:nvSpPr>
        <p:spPr>
          <a:xfrm flipV="1">
            <a:off x="67006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3-mark57"/>
          <p:cNvSpPr/>
          <p:nvPr/>
        </p:nvSpPr>
        <p:spPr>
          <a:xfrm flipV="1">
            <a:off x="710455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3-mark58"/>
          <p:cNvSpPr/>
          <p:nvPr/>
        </p:nvSpPr>
        <p:spPr>
          <a:xfrm>
            <a:off x="642793" y="61341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3-mark59"/>
          <p:cNvSpPr/>
          <p:nvPr/>
        </p:nvSpPr>
        <p:spPr>
          <a:xfrm>
            <a:off x="642793" y="57302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3-mark60"/>
          <p:cNvSpPr/>
          <p:nvPr/>
        </p:nvSpPr>
        <p:spPr>
          <a:xfrm>
            <a:off x="642793" y="53263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3-mark61"/>
          <p:cNvSpPr/>
          <p:nvPr/>
        </p:nvSpPr>
        <p:spPr>
          <a:xfrm>
            <a:off x="642793" y="49225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3-mark62"/>
          <p:cNvSpPr/>
          <p:nvPr/>
        </p:nvSpPr>
        <p:spPr>
          <a:xfrm>
            <a:off x="642793" y="45186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3-mark63"/>
          <p:cNvSpPr/>
          <p:nvPr/>
        </p:nvSpPr>
        <p:spPr>
          <a:xfrm>
            <a:off x="642793" y="41148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3-mark64"/>
          <p:cNvSpPr/>
          <p:nvPr/>
        </p:nvSpPr>
        <p:spPr>
          <a:xfrm>
            <a:off x="642793" y="371094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3-mark65"/>
          <p:cNvSpPr/>
          <p:nvPr/>
        </p:nvSpPr>
        <p:spPr>
          <a:xfrm>
            <a:off x="642793" y="330708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3-mark66"/>
          <p:cNvSpPr/>
          <p:nvPr/>
        </p:nvSpPr>
        <p:spPr>
          <a:xfrm>
            <a:off x="642793" y="290322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3-mark67"/>
          <p:cNvSpPr/>
          <p:nvPr/>
        </p:nvSpPr>
        <p:spPr>
          <a:xfrm>
            <a:off x="642793" y="249936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3-mark68"/>
          <p:cNvSpPr/>
          <p:nvPr/>
        </p:nvSpPr>
        <p:spPr>
          <a:xfrm>
            <a:off x="642793" y="2095500"/>
            <a:ext cx="6461760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8" name="S03-figure69" descr="가로 4 cm, 세로 3 cm, 높이 2 cm인 직육면체의 전개도(모눈 위). 넓이 12인 면 2개, 8인 면 2개, 6인 면 2개. 같은 넓이의 면은 같은 색"/>
          <p:cNvSpPr/>
          <p:nvPr/>
        </p:nvSpPr>
        <p:spPr>
          <a:xfrm>
            <a:off x="104665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3-mark70"/>
          <p:cNvSpPr/>
          <p:nvPr/>
        </p:nvSpPr>
        <p:spPr>
          <a:xfrm>
            <a:off x="266209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3-mark71"/>
          <p:cNvSpPr/>
          <p:nvPr/>
        </p:nvSpPr>
        <p:spPr>
          <a:xfrm>
            <a:off x="3873673" y="3710940"/>
            <a:ext cx="1615440" cy="807720"/>
          </a:xfrm>
          <a:custGeom>
            <a:avLst/>
            <a:gdLst/>
            <a:ahLst/>
            <a:cxnLst/>
            <a:rect l="l" t="t" r="r" b="b"/>
            <a:pathLst>
              <a:path w="1615440" h="807720">
                <a:moveTo>
                  <a:pt x="0" y="807720"/>
                </a:moveTo>
                <a:lnTo>
                  <a:pt x="1615440" y="80772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3-mark72"/>
          <p:cNvSpPr/>
          <p:nvPr/>
        </p:nvSpPr>
        <p:spPr>
          <a:xfrm>
            <a:off x="5489113" y="3710940"/>
            <a:ext cx="1211580" cy="807720"/>
          </a:xfrm>
          <a:custGeom>
            <a:avLst/>
            <a:gdLst/>
            <a:ahLst/>
            <a:cxnLst/>
            <a:rect l="l" t="t" r="r" b="b"/>
            <a:pathLst>
              <a:path w="1211580" h="807720">
                <a:moveTo>
                  <a:pt x="0" y="807720"/>
                </a:moveTo>
                <a:lnTo>
                  <a:pt x="1211580" y="807720"/>
                </a:lnTo>
                <a:lnTo>
                  <a:pt x="121158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3-mark73"/>
          <p:cNvSpPr/>
          <p:nvPr/>
        </p:nvSpPr>
        <p:spPr>
          <a:xfrm>
            <a:off x="1046653" y="24993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3-mark74"/>
          <p:cNvSpPr/>
          <p:nvPr/>
        </p:nvSpPr>
        <p:spPr>
          <a:xfrm>
            <a:off x="1046653" y="4518660"/>
            <a:ext cx="1615440" cy="1211580"/>
          </a:xfrm>
          <a:custGeom>
            <a:avLst/>
            <a:gdLst/>
            <a:ahLst/>
            <a:cxnLst/>
            <a:rect l="l" t="t" r="r" b="b"/>
            <a:pathLst>
              <a:path w="1615440" h="1211580">
                <a:moveTo>
                  <a:pt x="0" y="1211580"/>
                </a:moveTo>
                <a:lnTo>
                  <a:pt x="1615440" y="1211580"/>
                </a:lnTo>
                <a:lnTo>
                  <a:pt x="1615440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4" name="S03-label76"/>
          <p:cNvSpPr txBox="1"/>
          <p:nvPr/>
        </p:nvSpPr>
        <p:spPr>
          <a:xfrm>
            <a:off x="170730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5" name="S03-label78"/>
          <p:cNvSpPr txBox="1"/>
          <p:nvPr/>
        </p:nvSpPr>
        <p:spPr>
          <a:xfrm>
            <a:off x="312081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6" name="S03-label80"/>
          <p:cNvSpPr txBox="1"/>
          <p:nvPr/>
        </p:nvSpPr>
        <p:spPr>
          <a:xfrm>
            <a:off x="453432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200" dirty="0"/>
          </a:p>
        </p:txBody>
      </p:sp>
      <p:sp>
        <p:nvSpPr>
          <p:cNvPr id="47" name="S03-label82"/>
          <p:cNvSpPr txBox="1"/>
          <p:nvPr/>
        </p:nvSpPr>
        <p:spPr>
          <a:xfrm>
            <a:off x="5947837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200" dirty="0"/>
          </a:p>
        </p:txBody>
      </p:sp>
      <p:sp>
        <p:nvSpPr>
          <p:cNvPr id="48" name="S03-label84"/>
          <p:cNvSpPr txBox="1"/>
          <p:nvPr/>
        </p:nvSpPr>
        <p:spPr>
          <a:xfrm>
            <a:off x="1615105" y="29305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49" name="S03-label86"/>
          <p:cNvSpPr txBox="1"/>
          <p:nvPr/>
        </p:nvSpPr>
        <p:spPr>
          <a:xfrm>
            <a:off x="1615105" y="4949825"/>
            <a:ext cx="47853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200" dirty="0"/>
          </a:p>
        </p:txBody>
      </p:sp>
      <p:sp>
        <p:nvSpPr>
          <p:cNvPr id="50" name="S03-card87"/>
          <p:cNvSpPr/>
          <p:nvPr/>
        </p:nvSpPr>
        <p:spPr>
          <a:xfrm>
            <a:off x="7564465" y="2812034"/>
            <a:ext cx="4075847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1" name="S03-cardtext88"/>
          <p:cNvSpPr txBox="1"/>
          <p:nvPr/>
        </p:nvSpPr>
        <p:spPr>
          <a:xfrm>
            <a:off x="7838785" y="2949194"/>
            <a:ext cx="3527207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면의 넓이의 합</a:t>
            </a:r>
            <a:endParaRPr lang="ko-KR" sz="2800" dirty="0"/>
          </a:p>
        </p:txBody>
      </p:sp>
      <p:sp>
        <p:nvSpPr>
          <p:cNvPr id="52" name="S03-card89"/>
          <p:cNvSpPr/>
          <p:nvPr/>
        </p:nvSpPr>
        <p:spPr>
          <a:xfrm>
            <a:off x="7564465" y="4220718"/>
            <a:ext cx="4075847" cy="1196848"/>
          </a:xfrm>
          <a:prstGeom prst="roundRect">
            <a:avLst>
              <a:gd name="adj" fmla="val 916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3" name="S03-cardtext90"/>
          <p:cNvSpPr txBox="1"/>
          <p:nvPr/>
        </p:nvSpPr>
        <p:spPr>
          <a:xfrm>
            <a:off x="7838785" y="4357878"/>
            <a:ext cx="3527207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+ 8 + 6 + 8 + 6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+ 12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 쌍이니까 × 2</a:t>
            </a:r>
            <a:endParaRPr lang="ko-KR" sz="4000" dirty="0"/>
          </a:p>
        </p:txBody>
      </p:sp>
      <p:sp>
        <p:nvSpPr>
          <p:cNvPr id="3" name="S04-card91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4-cardtext92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(세 면의 넓이의 합) × 2 = 52 cm²</a:t>
            </a:r>
            <a:endParaRPr lang="ko-KR" sz="2800" dirty="0"/>
          </a:p>
        </p:txBody>
      </p:sp>
      <p:sp>
        <p:nvSpPr>
          <p:cNvPr id="5" name="S04-figure93" descr="가로 4 cm, 세로 3 cm, 높이 2 cm인 직육면체: 위·아래 면, 앞·뒤 면, 양옆 면을 서로 다른 색으로 칠함"/>
          <p:cNvSpPr/>
          <p:nvPr/>
        </p:nvSpPr>
        <p:spPr>
          <a:xfrm>
            <a:off x="7850632" y="2879354"/>
            <a:ext cx="2501137" cy="1250569"/>
          </a:xfrm>
          <a:custGeom>
            <a:avLst/>
            <a:gdLst/>
            <a:ahLst/>
            <a:cxnLst/>
            <a:rect l="l" t="t" r="r" b="b"/>
            <a:pathLst>
              <a:path w="2501137" h="1250569">
                <a:moveTo>
                  <a:pt x="0" y="1250569"/>
                </a:moveTo>
                <a:lnTo>
                  <a:pt x="2501137" y="1250569"/>
                </a:lnTo>
                <a:lnTo>
                  <a:pt x="250113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4-mark94"/>
          <p:cNvSpPr/>
          <p:nvPr/>
        </p:nvSpPr>
        <p:spPr>
          <a:xfrm>
            <a:off x="7850632" y="2316598"/>
            <a:ext cx="3288995" cy="562756"/>
          </a:xfrm>
          <a:custGeom>
            <a:avLst/>
            <a:gdLst/>
            <a:ahLst/>
            <a:cxnLst/>
            <a:rect l="l" t="t" r="r" b="b"/>
            <a:pathLst>
              <a:path w="3288995" h="562756">
                <a:moveTo>
                  <a:pt x="0" y="562756"/>
                </a:moveTo>
                <a:lnTo>
                  <a:pt x="2501137" y="562756"/>
                </a:lnTo>
                <a:lnTo>
                  <a:pt x="3288995" y="0"/>
                </a:lnTo>
                <a:lnTo>
                  <a:pt x="787858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4-mark95"/>
          <p:cNvSpPr/>
          <p:nvPr/>
        </p:nvSpPr>
        <p:spPr>
          <a:xfrm>
            <a:off x="10351769" y="2316598"/>
            <a:ext cx="787858" cy="1813324"/>
          </a:xfrm>
          <a:custGeom>
            <a:avLst/>
            <a:gdLst/>
            <a:ahLst/>
            <a:cxnLst/>
            <a:rect l="l" t="t" r="r" b="b"/>
            <a:pathLst>
              <a:path w="787858" h="1813324">
                <a:moveTo>
                  <a:pt x="0" y="1813324"/>
                </a:moveTo>
                <a:lnTo>
                  <a:pt x="787858" y="1250569"/>
                </a:lnTo>
                <a:lnTo>
                  <a:pt x="787858" y="0"/>
                </a:lnTo>
                <a:lnTo>
                  <a:pt x="0" y="562756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4-mark96"/>
          <p:cNvSpPr/>
          <p:nvPr/>
        </p:nvSpPr>
        <p:spPr>
          <a:xfrm>
            <a:off x="8638490" y="3567166"/>
            <a:ext cx="2501137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4-mark97"/>
          <p:cNvSpPr/>
          <p:nvPr/>
        </p:nvSpPr>
        <p:spPr>
          <a:xfrm flipV="1">
            <a:off x="8638490" y="2316598"/>
            <a:ext cx="0" cy="125056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4-mark98"/>
          <p:cNvSpPr/>
          <p:nvPr/>
        </p:nvSpPr>
        <p:spPr>
          <a:xfrm flipH="1">
            <a:off x="7850632" y="3567166"/>
            <a:ext cx="787858" cy="56275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4-mark99"/>
          <p:cNvSpPr/>
          <p:nvPr/>
        </p:nvSpPr>
        <p:spPr>
          <a:xfrm>
            <a:off x="7850632" y="4129922"/>
            <a:ext cx="2501137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4-mark100"/>
          <p:cNvSpPr/>
          <p:nvPr/>
        </p:nvSpPr>
        <p:spPr>
          <a:xfrm flipV="1">
            <a:off x="10351769" y="3567166"/>
            <a:ext cx="787858" cy="562756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4-mark101"/>
          <p:cNvSpPr/>
          <p:nvPr/>
        </p:nvSpPr>
        <p:spPr>
          <a:xfrm flipV="1">
            <a:off x="11139627" y="2316598"/>
            <a:ext cx="0" cy="1250569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4-label103"/>
          <p:cNvSpPr txBox="1"/>
          <p:nvPr/>
        </p:nvSpPr>
        <p:spPr>
          <a:xfrm>
            <a:off x="8719439" y="4206757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5" name="S04-label105"/>
          <p:cNvSpPr txBox="1"/>
          <p:nvPr/>
        </p:nvSpPr>
        <p:spPr>
          <a:xfrm>
            <a:off x="10593888" y="399585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6" name="S04-label107"/>
          <p:cNvSpPr txBox="1"/>
          <p:nvPr/>
        </p:nvSpPr>
        <p:spPr>
          <a:xfrm>
            <a:off x="11143437" y="2767257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 cm</a:t>
            </a:r>
            <a:endParaRPr lang="ko-KR" sz="2200" dirty="0"/>
          </a:p>
        </p:txBody>
      </p:sp>
      <p:sp>
        <p:nvSpPr>
          <p:cNvPr id="17" name="S04-stepno108"/>
          <p:cNvSpPr txBox="1"/>
          <p:nvPr/>
        </p:nvSpPr>
        <p:spPr>
          <a:xfrm>
            <a:off x="548640" y="187909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200" dirty="0"/>
          </a:p>
        </p:txBody>
      </p:sp>
      <p:sp>
        <p:nvSpPr>
          <p:cNvPr id="18" name="S04-text109"/>
          <p:cNvSpPr txBox="1"/>
          <p:nvPr/>
        </p:nvSpPr>
        <p:spPr>
          <a:xfrm>
            <a:off x="1325880" y="1879092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위·아래</a:t>
            </a:r>
            <a:endParaRPr lang="ko-KR" sz="2800" dirty="0"/>
          </a:p>
        </p:txBody>
      </p:sp>
      <p:sp>
        <p:nvSpPr>
          <p:cNvPr id="19" name="S04-eqtext110"/>
          <p:cNvSpPr txBox="1"/>
          <p:nvPr/>
        </p:nvSpPr>
        <p:spPr>
          <a:xfrm>
            <a:off x="4281257" y="1879092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= 12</a:t>
            </a:r>
            <a:endParaRPr lang="ko-KR" sz="2800" dirty="0"/>
          </a:p>
        </p:txBody>
      </p:sp>
      <p:sp>
        <p:nvSpPr>
          <p:cNvPr id="20" name="S04-stepno111"/>
          <p:cNvSpPr txBox="1"/>
          <p:nvPr/>
        </p:nvSpPr>
        <p:spPr>
          <a:xfrm>
            <a:off x="548640" y="2592324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200" dirty="0"/>
          </a:p>
        </p:txBody>
      </p:sp>
      <p:sp>
        <p:nvSpPr>
          <p:cNvPr id="21" name="S04-text112"/>
          <p:cNvSpPr txBox="1"/>
          <p:nvPr/>
        </p:nvSpPr>
        <p:spPr>
          <a:xfrm>
            <a:off x="1325880" y="2592324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앞·뒤</a:t>
            </a:r>
            <a:endParaRPr lang="ko-KR" sz="2800" dirty="0"/>
          </a:p>
        </p:txBody>
      </p:sp>
      <p:sp>
        <p:nvSpPr>
          <p:cNvPr id="22" name="S04-eqtext113"/>
          <p:cNvSpPr txBox="1"/>
          <p:nvPr/>
        </p:nvSpPr>
        <p:spPr>
          <a:xfrm>
            <a:off x="4281257" y="2592324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2 = 8</a:t>
            </a:r>
            <a:endParaRPr lang="ko-KR" sz="2800" dirty="0"/>
          </a:p>
        </p:txBody>
      </p:sp>
      <p:sp>
        <p:nvSpPr>
          <p:cNvPr id="23" name="S04-stepno114"/>
          <p:cNvSpPr txBox="1"/>
          <p:nvPr/>
        </p:nvSpPr>
        <p:spPr>
          <a:xfrm>
            <a:off x="548640" y="3305556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200" dirty="0"/>
          </a:p>
        </p:txBody>
      </p:sp>
      <p:sp>
        <p:nvSpPr>
          <p:cNvPr id="24" name="S04-text115"/>
          <p:cNvSpPr txBox="1"/>
          <p:nvPr/>
        </p:nvSpPr>
        <p:spPr>
          <a:xfrm>
            <a:off x="1325880" y="3305556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양옆</a:t>
            </a:r>
            <a:endParaRPr lang="ko-KR" sz="2800" dirty="0"/>
          </a:p>
        </p:txBody>
      </p:sp>
      <p:sp>
        <p:nvSpPr>
          <p:cNvPr id="25" name="S04-eqtext116"/>
          <p:cNvSpPr txBox="1"/>
          <p:nvPr/>
        </p:nvSpPr>
        <p:spPr>
          <a:xfrm>
            <a:off x="4281257" y="3305556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2 = 6</a:t>
            </a:r>
            <a:endParaRPr lang="ko-KR" sz="2800" dirty="0"/>
          </a:p>
        </p:txBody>
      </p:sp>
      <p:sp>
        <p:nvSpPr>
          <p:cNvPr id="26" name="S04-stepno117"/>
          <p:cNvSpPr txBox="1"/>
          <p:nvPr/>
        </p:nvSpPr>
        <p:spPr>
          <a:xfrm>
            <a:off x="548640" y="4018788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200" dirty="0"/>
          </a:p>
        </p:txBody>
      </p:sp>
      <p:sp>
        <p:nvSpPr>
          <p:cNvPr id="27" name="S04-text118"/>
          <p:cNvSpPr txBox="1"/>
          <p:nvPr/>
        </p:nvSpPr>
        <p:spPr>
          <a:xfrm>
            <a:off x="1325880" y="4018788"/>
            <a:ext cx="2955377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</a:t>
            </a:r>
            <a:endParaRPr lang="ko-KR" sz="2800" dirty="0"/>
          </a:p>
        </p:txBody>
      </p:sp>
      <p:sp>
        <p:nvSpPr>
          <p:cNvPr id="28" name="S04-eqtext119"/>
          <p:cNvSpPr txBox="1"/>
          <p:nvPr/>
        </p:nvSpPr>
        <p:spPr>
          <a:xfrm>
            <a:off x="4281257" y="4018788"/>
            <a:ext cx="270293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1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(12 + 8 + 6) × 2 = 52</a:t>
            </a:r>
            <a:endParaRPr lang="ko-KR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밑면과 옆면으로</a:t>
            </a:r>
            <a:endParaRPr lang="ko-KR" sz="4000" dirty="0"/>
          </a:p>
        </p:txBody>
      </p:sp>
      <p:sp>
        <p:nvSpPr>
          <p:cNvPr id="3" name="S05-mark120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4" name="S05-mark121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05-mark122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6" name="S05-mark123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05-mark124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5-mark125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5-mark126"/>
          <p:cNvSpPr/>
          <p:nvPr/>
        </p:nvSpPr>
        <p:spPr>
          <a:xfrm flipV="1">
            <a:off x="63246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0" name="S05-mark127"/>
          <p:cNvSpPr/>
          <p:nvPr/>
        </p:nvSpPr>
        <p:spPr>
          <a:xfrm flipV="1">
            <a:off x="102420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5-mark128"/>
          <p:cNvSpPr/>
          <p:nvPr/>
        </p:nvSpPr>
        <p:spPr>
          <a:xfrm flipV="1">
            <a:off x="141594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5-mark129"/>
          <p:cNvSpPr/>
          <p:nvPr/>
        </p:nvSpPr>
        <p:spPr>
          <a:xfrm flipV="1">
            <a:off x="180769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5-mark130"/>
          <p:cNvSpPr/>
          <p:nvPr/>
        </p:nvSpPr>
        <p:spPr>
          <a:xfrm flipV="1">
            <a:off x="219943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5-mark131"/>
          <p:cNvSpPr/>
          <p:nvPr/>
        </p:nvSpPr>
        <p:spPr>
          <a:xfrm flipV="1">
            <a:off x="2591181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5-mark132"/>
          <p:cNvSpPr/>
          <p:nvPr/>
        </p:nvSpPr>
        <p:spPr>
          <a:xfrm flipV="1">
            <a:off x="298292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5-mark133"/>
          <p:cNvSpPr/>
          <p:nvPr/>
        </p:nvSpPr>
        <p:spPr>
          <a:xfrm flipV="1">
            <a:off x="337466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5-mark134"/>
          <p:cNvSpPr/>
          <p:nvPr/>
        </p:nvSpPr>
        <p:spPr>
          <a:xfrm flipV="1">
            <a:off x="3766414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5-mark135"/>
          <p:cNvSpPr/>
          <p:nvPr/>
        </p:nvSpPr>
        <p:spPr>
          <a:xfrm flipV="1">
            <a:off x="4158158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5-mark136"/>
          <p:cNvSpPr/>
          <p:nvPr/>
        </p:nvSpPr>
        <p:spPr>
          <a:xfrm flipV="1">
            <a:off x="4549902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5-mark137"/>
          <p:cNvSpPr/>
          <p:nvPr/>
        </p:nvSpPr>
        <p:spPr>
          <a:xfrm flipV="1">
            <a:off x="4941646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5-mark138"/>
          <p:cNvSpPr/>
          <p:nvPr/>
        </p:nvSpPr>
        <p:spPr>
          <a:xfrm flipV="1">
            <a:off x="5333390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5-mark139"/>
          <p:cNvSpPr/>
          <p:nvPr/>
        </p:nvSpPr>
        <p:spPr>
          <a:xfrm flipV="1">
            <a:off x="5725135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5-mark140"/>
          <p:cNvSpPr/>
          <p:nvPr/>
        </p:nvSpPr>
        <p:spPr>
          <a:xfrm flipV="1">
            <a:off x="6116879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5-mark141"/>
          <p:cNvSpPr/>
          <p:nvPr/>
        </p:nvSpPr>
        <p:spPr>
          <a:xfrm flipV="1">
            <a:off x="6508623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5-mark142"/>
          <p:cNvSpPr/>
          <p:nvPr/>
        </p:nvSpPr>
        <p:spPr>
          <a:xfrm flipV="1">
            <a:off x="6900367" y="1813179"/>
            <a:ext cx="0" cy="3917442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5-mark143"/>
          <p:cNvSpPr/>
          <p:nvPr/>
        </p:nvSpPr>
        <p:spPr>
          <a:xfrm>
            <a:off x="632460" y="5730621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5-mark144"/>
          <p:cNvSpPr/>
          <p:nvPr/>
        </p:nvSpPr>
        <p:spPr>
          <a:xfrm>
            <a:off x="632460" y="533887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5-mark145"/>
          <p:cNvSpPr/>
          <p:nvPr/>
        </p:nvSpPr>
        <p:spPr>
          <a:xfrm>
            <a:off x="632460" y="494713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5-mark146"/>
          <p:cNvSpPr/>
          <p:nvPr/>
        </p:nvSpPr>
        <p:spPr>
          <a:xfrm>
            <a:off x="632460" y="4555388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5-mark147"/>
          <p:cNvSpPr/>
          <p:nvPr/>
        </p:nvSpPr>
        <p:spPr>
          <a:xfrm>
            <a:off x="632460" y="4163644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5-mark148"/>
          <p:cNvSpPr/>
          <p:nvPr/>
        </p:nvSpPr>
        <p:spPr>
          <a:xfrm>
            <a:off x="632460" y="3771900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5-mark149"/>
          <p:cNvSpPr/>
          <p:nvPr/>
        </p:nvSpPr>
        <p:spPr>
          <a:xfrm>
            <a:off x="632460" y="3380156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5-mark150"/>
          <p:cNvSpPr/>
          <p:nvPr/>
        </p:nvSpPr>
        <p:spPr>
          <a:xfrm>
            <a:off x="632460" y="2988412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5-mark151"/>
          <p:cNvSpPr/>
          <p:nvPr/>
        </p:nvSpPr>
        <p:spPr>
          <a:xfrm>
            <a:off x="632460" y="2596667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5-mark152"/>
          <p:cNvSpPr/>
          <p:nvPr/>
        </p:nvSpPr>
        <p:spPr>
          <a:xfrm>
            <a:off x="632460" y="2204923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5-mark153"/>
          <p:cNvSpPr/>
          <p:nvPr/>
        </p:nvSpPr>
        <p:spPr>
          <a:xfrm>
            <a:off x="632460" y="1813179"/>
            <a:ext cx="6267907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5-figure154" descr="전개도에서 옆면 네 개를 이으면 가로 14 cm(4 + 3 + 4 + 3), 세로 2 cm인 직사각형 하나가 됨. 위아래의 밑면은 4 cm × 3 cm"/>
          <p:cNvSpPr/>
          <p:nvPr/>
        </p:nvSpPr>
        <p:spPr>
          <a:xfrm>
            <a:off x="102420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5-mark155"/>
          <p:cNvSpPr/>
          <p:nvPr/>
        </p:nvSpPr>
        <p:spPr>
          <a:xfrm>
            <a:off x="2591181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5-mark156"/>
          <p:cNvSpPr/>
          <p:nvPr/>
        </p:nvSpPr>
        <p:spPr>
          <a:xfrm>
            <a:off x="3766414" y="3380156"/>
            <a:ext cx="1566977" cy="783488"/>
          </a:xfrm>
          <a:custGeom>
            <a:avLst/>
            <a:gdLst/>
            <a:ahLst/>
            <a:cxnLst/>
            <a:rect l="l" t="t" r="r" b="b"/>
            <a:pathLst>
              <a:path w="1566977" h="783488">
                <a:moveTo>
                  <a:pt x="0" y="783488"/>
                </a:moveTo>
                <a:lnTo>
                  <a:pt x="1566977" y="783488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5-mark157"/>
          <p:cNvSpPr/>
          <p:nvPr/>
        </p:nvSpPr>
        <p:spPr>
          <a:xfrm>
            <a:off x="5333390" y="3380156"/>
            <a:ext cx="1175233" cy="783488"/>
          </a:xfrm>
          <a:custGeom>
            <a:avLst/>
            <a:gdLst/>
            <a:ahLst/>
            <a:cxnLst/>
            <a:rect l="l" t="t" r="r" b="b"/>
            <a:pathLst>
              <a:path w="1175233" h="783488">
                <a:moveTo>
                  <a:pt x="0" y="783488"/>
                </a:moveTo>
                <a:lnTo>
                  <a:pt x="1175233" y="783488"/>
                </a:lnTo>
                <a:lnTo>
                  <a:pt x="1175233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5-mark158"/>
          <p:cNvSpPr/>
          <p:nvPr/>
        </p:nvSpPr>
        <p:spPr>
          <a:xfrm>
            <a:off x="1024204" y="2204923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5-mark159"/>
          <p:cNvSpPr/>
          <p:nvPr/>
        </p:nvSpPr>
        <p:spPr>
          <a:xfrm>
            <a:off x="1024204" y="4163644"/>
            <a:ext cx="1566977" cy="1175233"/>
          </a:xfrm>
          <a:custGeom>
            <a:avLst/>
            <a:gdLst/>
            <a:ahLst/>
            <a:cxnLst/>
            <a:rect l="l" t="t" r="r" b="b"/>
            <a:pathLst>
              <a:path w="1566977" h="1175233">
                <a:moveTo>
                  <a:pt x="0" y="1175233"/>
                </a:moveTo>
                <a:lnTo>
                  <a:pt x="1566977" y="1175233"/>
                </a:lnTo>
                <a:lnTo>
                  <a:pt x="1566977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5-mark160"/>
          <p:cNvSpPr/>
          <p:nvPr/>
        </p:nvSpPr>
        <p:spPr>
          <a:xfrm>
            <a:off x="1024204" y="3380156"/>
            <a:ext cx="5484419" cy="783488"/>
          </a:xfrm>
          <a:custGeom>
            <a:avLst/>
            <a:gdLst/>
            <a:ahLst/>
            <a:cxnLst/>
            <a:rect l="l" t="t" r="r" b="b"/>
            <a:pathLst>
              <a:path w="5484419" h="783488">
                <a:moveTo>
                  <a:pt x="0" y="783488"/>
                </a:moveTo>
                <a:lnTo>
                  <a:pt x="5484419" y="783488"/>
                </a:lnTo>
                <a:lnTo>
                  <a:pt x="5484419" y="0"/>
                </a:lnTo>
                <a:lnTo>
                  <a:pt x="0" y="0"/>
                </a:lnTo>
                <a:close/>
              </a:path>
            </a:pathLst>
          </a:custGeom>
          <a:noFill/>
          <a:ln w="50800">
            <a:solidFill>
              <a:srgbClr val="E9762B"/>
            </a:solidFill>
            <a:prstDash val="solid"/>
          </a:ln>
        </p:spPr>
      </p:sp>
      <p:sp>
        <p:nvSpPr>
          <p:cNvPr id="44" name="S05-mark161"/>
          <p:cNvSpPr/>
          <p:nvPr/>
        </p:nvSpPr>
        <p:spPr>
          <a:xfrm>
            <a:off x="1024204" y="3184284"/>
            <a:ext cx="5484419" cy="0"/>
          </a:xfrm>
          <a:prstGeom prst="line">
            <a:avLst/>
          </a:prstGeom>
          <a:noFill/>
          <a:ln w="28575">
            <a:solidFill>
              <a:srgbClr val="3D5A80"/>
            </a:solidFill>
            <a:prstDash val="solid"/>
            <a:headEnd type="triangle"/>
            <a:tailEnd type="triangle"/>
          </a:ln>
        </p:spPr>
      </p:sp>
      <p:sp>
        <p:nvSpPr>
          <p:cNvPr id="45" name="S05-label163"/>
          <p:cNvSpPr txBox="1"/>
          <p:nvPr/>
        </p:nvSpPr>
        <p:spPr>
          <a:xfrm>
            <a:off x="1479017" y="2617914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6" name="S05-label165"/>
          <p:cNvSpPr txBox="1"/>
          <p:nvPr/>
        </p:nvSpPr>
        <p:spPr>
          <a:xfrm>
            <a:off x="1479017" y="4576636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</a:t>
            </a:r>
            <a:endParaRPr lang="ko-KR" sz="2200" dirty="0"/>
          </a:p>
        </p:txBody>
      </p:sp>
      <p:sp>
        <p:nvSpPr>
          <p:cNvPr id="47" name="S05-label167"/>
          <p:cNvSpPr txBox="1"/>
          <p:nvPr/>
        </p:nvSpPr>
        <p:spPr>
          <a:xfrm>
            <a:off x="4221226" y="3597275"/>
            <a:ext cx="65735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200" dirty="0"/>
          </a:p>
        </p:txBody>
      </p:sp>
      <p:sp>
        <p:nvSpPr>
          <p:cNvPr id="48" name="S05-label169"/>
          <p:cNvSpPr txBox="1"/>
          <p:nvPr/>
        </p:nvSpPr>
        <p:spPr>
          <a:xfrm>
            <a:off x="3361258" y="2774612"/>
            <a:ext cx="3160776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+ 3 + 4 + 3 = 14 (cm)</a:t>
            </a:r>
            <a:endParaRPr lang="ko-KR" sz="2200" dirty="0"/>
          </a:p>
        </p:txBody>
      </p:sp>
      <p:sp>
        <p:nvSpPr>
          <p:cNvPr id="49" name="S05-card170"/>
          <p:cNvSpPr/>
          <p:nvPr/>
        </p:nvSpPr>
        <p:spPr>
          <a:xfrm>
            <a:off x="7349947" y="1602740"/>
            <a:ext cx="4290365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0" name="S05-cardtext171"/>
          <p:cNvSpPr txBox="1"/>
          <p:nvPr/>
        </p:nvSpPr>
        <p:spPr>
          <a:xfrm>
            <a:off x="7624267" y="1739900"/>
            <a:ext cx="3741725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옆면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가로는 밑면의 둘레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 × 2 = 28</a:t>
            </a:r>
            <a:endParaRPr lang="ko-KR" sz="2800" dirty="0"/>
          </a:p>
        </p:txBody>
      </p:sp>
      <p:sp>
        <p:nvSpPr>
          <p:cNvPr id="51" name="S05-card172"/>
          <p:cNvSpPr/>
          <p:nvPr/>
        </p:nvSpPr>
        <p:spPr>
          <a:xfrm>
            <a:off x="7349947" y="3352292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2" name="S05-cardtext173"/>
          <p:cNvSpPr txBox="1"/>
          <p:nvPr/>
        </p:nvSpPr>
        <p:spPr>
          <a:xfrm>
            <a:off x="7624267" y="3489452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밑면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 × 2 = 24</a:t>
            </a:r>
            <a:endParaRPr lang="ko-KR" sz="2800" dirty="0"/>
          </a:p>
        </p:txBody>
      </p:sp>
      <p:sp>
        <p:nvSpPr>
          <p:cNvPr id="53" name="S05-card174"/>
          <p:cNvSpPr/>
          <p:nvPr/>
        </p:nvSpPr>
        <p:spPr>
          <a:xfrm>
            <a:off x="7349947" y="4760976"/>
            <a:ext cx="4290365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4" name="S05-cardtext175"/>
          <p:cNvSpPr txBox="1"/>
          <p:nvPr/>
        </p:nvSpPr>
        <p:spPr>
          <a:xfrm>
            <a:off x="7624267" y="4898136"/>
            <a:ext cx="3741725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 + 28 = 52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000" dirty="0"/>
          </a:p>
        </p:txBody>
      </p:sp>
      <p:sp>
        <p:nvSpPr>
          <p:cNvPr id="3" name="S06-card176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177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겉넓이는?</a:t>
            </a:r>
            <a:endParaRPr lang="ko-KR" sz="2800" dirty="0"/>
          </a:p>
        </p:txBody>
      </p:sp>
      <p:sp>
        <p:nvSpPr>
          <p:cNvPr id="5" name="S06-card17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17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토끼는 무엇을 빠뜨렸나요?</a:t>
            </a:r>
            <a:endParaRPr lang="ko-KR" sz="2800" dirty="0"/>
          </a:p>
        </p:txBody>
      </p:sp>
      <p:sp>
        <p:nvSpPr>
          <p:cNvPr id="7" name="S06-chip180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26 cm²</a:t>
            </a:r>
            <a:endParaRPr lang="ko-KR" sz="2200" dirty="0"/>
          </a:p>
        </p:txBody>
      </p:sp>
      <p:sp>
        <p:nvSpPr>
          <p:cNvPr id="8" name="S06-text181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“12 + 8 + 6 = 26이에요.”</a:t>
            </a:r>
            <a:endParaRPr lang="ko-KR" sz="2800" dirty="0"/>
          </a:p>
        </p:txBody>
      </p:sp>
      <p:sp>
        <p:nvSpPr>
          <p:cNvPr id="9" name="S06-chip182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52 cm²</a:t>
            </a:r>
            <a:endParaRPr lang="ko-KR" sz="2200" dirty="0"/>
          </a:p>
        </p:txBody>
      </p:sp>
      <p:sp>
        <p:nvSpPr>
          <p:cNvPr id="10" name="S06-text183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“(12 + 8 + 6) × 2 = 52예요.”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함께 구해 봐요</a:t>
            </a:r>
            <a:endParaRPr lang="ko-KR" sz="4000" dirty="0"/>
          </a:p>
        </p:txBody>
      </p:sp>
      <p:sp>
        <p:nvSpPr>
          <p:cNvPr id="3" name="S07-card18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07-cardtext18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넓이가 같은 면이 2개씩 3쌍이에요.</a:t>
            </a:r>
            <a:endParaRPr lang="ko-KR" sz="2800" dirty="0"/>
          </a:p>
        </p:txBody>
      </p:sp>
      <p:sp>
        <p:nvSpPr>
          <p:cNvPr id="5" name="S07-figure186" descr="가로 5 cm, 세로 4 cm, 높이 3 cm인 직육면체"/>
          <p:cNvSpPr/>
          <p:nvPr/>
        </p:nvSpPr>
        <p:spPr>
          <a:xfrm>
            <a:off x="6778041" y="2635621"/>
            <a:ext cx="3264660" cy="1958796"/>
          </a:xfrm>
          <a:custGeom>
            <a:avLst/>
            <a:gdLst/>
            <a:ahLst/>
            <a:cxnLst/>
            <a:rect l="l" t="t" r="r" b="b"/>
            <a:pathLst>
              <a:path w="3264660" h="1958796">
                <a:moveTo>
                  <a:pt x="0" y="1958796"/>
                </a:moveTo>
                <a:lnTo>
                  <a:pt x="3264660" y="1958796"/>
                </a:lnTo>
                <a:lnTo>
                  <a:pt x="3264660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6" name="S07-mark187"/>
          <p:cNvSpPr/>
          <p:nvPr/>
        </p:nvSpPr>
        <p:spPr>
          <a:xfrm>
            <a:off x="6778041" y="1852103"/>
            <a:ext cx="4361586" cy="783519"/>
          </a:xfrm>
          <a:custGeom>
            <a:avLst/>
            <a:gdLst/>
            <a:ahLst/>
            <a:cxnLst/>
            <a:rect l="l" t="t" r="r" b="b"/>
            <a:pathLst>
              <a:path w="4361586" h="783519">
                <a:moveTo>
                  <a:pt x="0" y="783519"/>
                </a:moveTo>
                <a:lnTo>
                  <a:pt x="3264660" y="783519"/>
                </a:lnTo>
                <a:lnTo>
                  <a:pt x="4361586" y="0"/>
                </a:lnTo>
                <a:lnTo>
                  <a:pt x="1096926" y="0"/>
                </a:lnTo>
                <a:close/>
              </a:path>
            </a:pathLst>
          </a:custGeom>
          <a:solidFill>
            <a:srgbClr val="F2C14E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7" name="S07-mark188"/>
          <p:cNvSpPr/>
          <p:nvPr/>
        </p:nvSpPr>
        <p:spPr>
          <a:xfrm>
            <a:off x="10042701" y="1852103"/>
            <a:ext cx="1096926" cy="2742315"/>
          </a:xfrm>
          <a:custGeom>
            <a:avLst/>
            <a:gdLst/>
            <a:ahLst/>
            <a:cxnLst/>
            <a:rect l="l" t="t" r="r" b="b"/>
            <a:pathLst>
              <a:path w="1096926" h="2742315">
                <a:moveTo>
                  <a:pt x="0" y="2742315"/>
                </a:moveTo>
                <a:lnTo>
                  <a:pt x="1096926" y="1958796"/>
                </a:lnTo>
                <a:lnTo>
                  <a:pt x="1096926" y="0"/>
                </a:lnTo>
                <a:lnTo>
                  <a:pt x="0" y="783519"/>
                </a:lnTo>
                <a:close/>
              </a:path>
            </a:pathLst>
          </a:custGeom>
          <a:solidFill>
            <a:srgbClr val="CDEBE6"/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8" name="S07-mark189"/>
          <p:cNvSpPr/>
          <p:nvPr/>
        </p:nvSpPr>
        <p:spPr>
          <a:xfrm>
            <a:off x="7874967" y="3810899"/>
            <a:ext cx="3264660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9" name="S07-mark190"/>
          <p:cNvSpPr/>
          <p:nvPr/>
        </p:nvSpPr>
        <p:spPr>
          <a:xfrm flipV="1">
            <a:off x="7874967" y="1852103"/>
            <a:ext cx="0" cy="1958796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0" name="S07-mark191"/>
          <p:cNvSpPr/>
          <p:nvPr/>
        </p:nvSpPr>
        <p:spPr>
          <a:xfrm flipH="1">
            <a:off x="6778041" y="3810899"/>
            <a:ext cx="1096926" cy="783519"/>
          </a:xfrm>
          <a:prstGeom prst="line">
            <a:avLst/>
          </a:prstGeom>
          <a:noFill/>
          <a:ln w="28575">
            <a:solidFill>
              <a:srgbClr val="1F2937"/>
            </a:solidFill>
            <a:prstDash val="dash"/>
          </a:ln>
        </p:spPr>
      </p:sp>
      <p:sp>
        <p:nvSpPr>
          <p:cNvPr id="11" name="S07-mark192"/>
          <p:cNvSpPr/>
          <p:nvPr/>
        </p:nvSpPr>
        <p:spPr>
          <a:xfrm>
            <a:off x="6778041" y="4594417"/>
            <a:ext cx="3264660" cy="0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2" name="S07-mark193"/>
          <p:cNvSpPr/>
          <p:nvPr/>
        </p:nvSpPr>
        <p:spPr>
          <a:xfrm flipV="1">
            <a:off x="10042701" y="3810899"/>
            <a:ext cx="1096926" cy="783519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3" name="S07-mark194"/>
          <p:cNvSpPr/>
          <p:nvPr/>
        </p:nvSpPr>
        <p:spPr>
          <a:xfrm flipV="1">
            <a:off x="11139627" y="1852103"/>
            <a:ext cx="0" cy="1958796"/>
          </a:xfrm>
          <a:prstGeom prst="line">
            <a:avLst/>
          </a:prstGeom>
          <a:noFill/>
          <a:ln w="6350">
            <a:solidFill>
              <a:srgbClr val="1F2937"/>
            </a:solidFill>
            <a:prstDash val="solid"/>
          </a:ln>
        </p:spPr>
      </p:sp>
      <p:sp>
        <p:nvSpPr>
          <p:cNvPr id="14" name="S07-label196"/>
          <p:cNvSpPr txBox="1"/>
          <p:nvPr/>
        </p:nvSpPr>
        <p:spPr>
          <a:xfrm>
            <a:off x="8028609" y="4671252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cm</a:t>
            </a:r>
            <a:endParaRPr lang="ko-KR" sz="2200" dirty="0"/>
          </a:p>
        </p:txBody>
      </p:sp>
      <p:sp>
        <p:nvSpPr>
          <p:cNvPr id="15" name="S07-label198"/>
          <p:cNvSpPr txBox="1"/>
          <p:nvPr/>
        </p:nvSpPr>
        <p:spPr>
          <a:xfrm>
            <a:off x="10439354" y="434996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cm</a:t>
            </a:r>
            <a:endParaRPr lang="ko-KR" sz="2200" dirty="0"/>
          </a:p>
        </p:txBody>
      </p:sp>
      <p:sp>
        <p:nvSpPr>
          <p:cNvPr id="16" name="S07-label200"/>
          <p:cNvSpPr txBox="1"/>
          <p:nvPr/>
        </p:nvSpPr>
        <p:spPr>
          <a:xfrm>
            <a:off x="11143437" y="2656876"/>
            <a:ext cx="763524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en-US" altLang="ko-KR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cm</a:t>
            </a:r>
            <a:endParaRPr lang="ko-KR" sz="2200" dirty="0"/>
          </a:p>
        </p:txBody>
      </p:sp>
      <p:sp>
        <p:nvSpPr>
          <p:cNvPr id="17" name="S07-chip201"/>
          <p:cNvSpPr txBox="1"/>
          <p:nvPr/>
        </p:nvSpPr>
        <p:spPr>
          <a:xfrm>
            <a:off x="548640" y="16139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18" name="S07-text202"/>
          <p:cNvSpPr txBox="1"/>
          <p:nvPr/>
        </p:nvSpPr>
        <p:spPr>
          <a:xfrm>
            <a:off x="1344168" y="132588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서로 다른 세 면의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넓이는 각각?</a:t>
            </a:r>
            <a:endParaRPr lang="ko-KR" sz="2800" dirty="0"/>
          </a:p>
        </p:txBody>
      </p:sp>
      <p:sp>
        <p:nvSpPr>
          <p:cNvPr id="19" name="S07-chip203"/>
          <p:cNvSpPr txBox="1"/>
          <p:nvPr/>
        </p:nvSpPr>
        <p:spPr>
          <a:xfrm>
            <a:off x="548640" y="29397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20" name="S07-text204"/>
          <p:cNvSpPr txBox="1"/>
          <p:nvPr/>
        </p:nvSpPr>
        <p:spPr>
          <a:xfrm>
            <a:off x="1344168" y="265176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800" dirty="0"/>
          </a:p>
        </p:txBody>
      </p:sp>
      <p:sp>
        <p:nvSpPr>
          <p:cNvPr id="21" name="S07-chip205"/>
          <p:cNvSpPr txBox="1"/>
          <p:nvPr/>
        </p:nvSpPr>
        <p:spPr>
          <a:xfrm>
            <a:off x="548640" y="42656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22" name="S07-text206"/>
          <p:cNvSpPr txBox="1"/>
          <p:nvPr/>
        </p:nvSpPr>
        <p:spPr>
          <a:xfrm>
            <a:off x="1344168" y="3977640"/>
            <a:ext cx="456742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밑면의 둘레를 이용해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구해 보면?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</a:t>
            </a:r>
            <a:endParaRPr lang="ko-KR" sz="4000" dirty="0"/>
          </a:p>
        </p:txBody>
      </p:sp>
      <p:sp>
        <p:nvSpPr>
          <p:cNvPr id="3" name="S08-text20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3 cm인 정육면체의 전개도예요.</a:t>
            </a:r>
            <a:endParaRPr lang="ko-KR" sz="2800" dirty="0"/>
          </a:p>
        </p:txBody>
      </p:sp>
      <p:sp>
        <p:nvSpPr>
          <p:cNvPr id="4" name="S08-mark208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5" name="S08-mark209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6" name="S08-mark210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7" name="S08-mark211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8" name="S08-mark212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08-mark213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08-mark214"/>
          <p:cNvSpPr/>
          <p:nvPr/>
        </p:nvSpPr>
        <p:spPr>
          <a:xfrm flipV="1">
            <a:off x="9282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08-mark215"/>
          <p:cNvSpPr/>
          <p:nvPr/>
        </p:nvSpPr>
        <p:spPr>
          <a:xfrm flipV="1">
            <a:off x="12953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08-mark216"/>
          <p:cNvSpPr/>
          <p:nvPr/>
        </p:nvSpPr>
        <p:spPr>
          <a:xfrm flipV="1">
            <a:off x="16625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08-mark217"/>
          <p:cNvSpPr/>
          <p:nvPr/>
        </p:nvSpPr>
        <p:spPr>
          <a:xfrm flipV="1">
            <a:off x="20296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08-mark218"/>
          <p:cNvSpPr/>
          <p:nvPr/>
        </p:nvSpPr>
        <p:spPr>
          <a:xfrm flipV="1">
            <a:off x="239682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08-mark219"/>
          <p:cNvSpPr/>
          <p:nvPr/>
        </p:nvSpPr>
        <p:spPr>
          <a:xfrm flipV="1">
            <a:off x="2763975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08-mark220"/>
          <p:cNvSpPr/>
          <p:nvPr/>
        </p:nvSpPr>
        <p:spPr>
          <a:xfrm flipV="1">
            <a:off x="3131120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08-mark221"/>
          <p:cNvSpPr/>
          <p:nvPr/>
        </p:nvSpPr>
        <p:spPr>
          <a:xfrm flipV="1">
            <a:off x="3498266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08-mark222"/>
          <p:cNvSpPr/>
          <p:nvPr/>
        </p:nvSpPr>
        <p:spPr>
          <a:xfrm flipV="1">
            <a:off x="3865411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08-mark223"/>
          <p:cNvSpPr/>
          <p:nvPr/>
        </p:nvSpPr>
        <p:spPr>
          <a:xfrm flipV="1">
            <a:off x="4232557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08-mark224"/>
          <p:cNvSpPr/>
          <p:nvPr/>
        </p:nvSpPr>
        <p:spPr>
          <a:xfrm flipV="1">
            <a:off x="4599702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08-mark225"/>
          <p:cNvSpPr/>
          <p:nvPr/>
        </p:nvSpPr>
        <p:spPr>
          <a:xfrm flipV="1">
            <a:off x="4966848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08-mark226"/>
          <p:cNvSpPr/>
          <p:nvPr/>
        </p:nvSpPr>
        <p:spPr>
          <a:xfrm flipV="1">
            <a:off x="5333993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08-mark227"/>
          <p:cNvSpPr/>
          <p:nvPr/>
        </p:nvSpPr>
        <p:spPr>
          <a:xfrm flipV="1">
            <a:off x="5701139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08-mark228"/>
          <p:cNvSpPr/>
          <p:nvPr/>
        </p:nvSpPr>
        <p:spPr>
          <a:xfrm flipV="1">
            <a:off x="6068284" y="2095500"/>
            <a:ext cx="0" cy="403860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08-mark229"/>
          <p:cNvSpPr/>
          <p:nvPr/>
        </p:nvSpPr>
        <p:spPr>
          <a:xfrm>
            <a:off x="928248" y="61341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08-mark230"/>
          <p:cNvSpPr/>
          <p:nvPr/>
        </p:nvSpPr>
        <p:spPr>
          <a:xfrm>
            <a:off x="928248" y="576695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08-mark231"/>
          <p:cNvSpPr/>
          <p:nvPr/>
        </p:nvSpPr>
        <p:spPr>
          <a:xfrm>
            <a:off x="928248" y="5399809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08-mark232"/>
          <p:cNvSpPr/>
          <p:nvPr/>
        </p:nvSpPr>
        <p:spPr>
          <a:xfrm>
            <a:off x="928248" y="5032664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08-mark233"/>
          <p:cNvSpPr/>
          <p:nvPr/>
        </p:nvSpPr>
        <p:spPr>
          <a:xfrm>
            <a:off x="928248" y="4665518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08-mark234"/>
          <p:cNvSpPr/>
          <p:nvPr/>
        </p:nvSpPr>
        <p:spPr>
          <a:xfrm>
            <a:off x="928248" y="4298373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08-mark235"/>
          <p:cNvSpPr/>
          <p:nvPr/>
        </p:nvSpPr>
        <p:spPr>
          <a:xfrm>
            <a:off x="928248" y="3931227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08-mark236"/>
          <p:cNvSpPr/>
          <p:nvPr/>
        </p:nvSpPr>
        <p:spPr>
          <a:xfrm>
            <a:off x="928248" y="3564082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08-mark237"/>
          <p:cNvSpPr/>
          <p:nvPr/>
        </p:nvSpPr>
        <p:spPr>
          <a:xfrm>
            <a:off x="928248" y="3196936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08-mark238"/>
          <p:cNvSpPr/>
          <p:nvPr/>
        </p:nvSpPr>
        <p:spPr>
          <a:xfrm>
            <a:off x="928248" y="2829791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08-mark239"/>
          <p:cNvSpPr/>
          <p:nvPr/>
        </p:nvSpPr>
        <p:spPr>
          <a:xfrm>
            <a:off x="928248" y="2462645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08-mark240"/>
          <p:cNvSpPr/>
          <p:nvPr/>
        </p:nvSpPr>
        <p:spPr>
          <a:xfrm>
            <a:off x="928248" y="2095500"/>
            <a:ext cx="514003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08-figure241" descr="한 모서리가 3 cm인 정육면체의 전개도(모눈 위): 넓이 9 cm²인 정사각형 6개"/>
          <p:cNvSpPr/>
          <p:nvPr/>
        </p:nvSpPr>
        <p:spPr>
          <a:xfrm>
            <a:off x="2396829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08-mark242"/>
          <p:cNvSpPr/>
          <p:nvPr/>
        </p:nvSpPr>
        <p:spPr>
          <a:xfrm>
            <a:off x="2396829" y="2462645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08-mark243"/>
          <p:cNvSpPr/>
          <p:nvPr/>
        </p:nvSpPr>
        <p:spPr>
          <a:xfrm>
            <a:off x="2396829" y="4665518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08-mark244"/>
          <p:cNvSpPr/>
          <p:nvPr/>
        </p:nvSpPr>
        <p:spPr>
          <a:xfrm>
            <a:off x="1295393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08-mark245"/>
          <p:cNvSpPr/>
          <p:nvPr/>
        </p:nvSpPr>
        <p:spPr>
          <a:xfrm>
            <a:off x="3498266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08-mark246"/>
          <p:cNvSpPr/>
          <p:nvPr/>
        </p:nvSpPr>
        <p:spPr>
          <a:xfrm>
            <a:off x="4599702" y="3564082"/>
            <a:ext cx="1101436" cy="1101436"/>
          </a:xfrm>
          <a:custGeom>
            <a:avLst/>
            <a:gdLst/>
            <a:ahLst/>
            <a:cxnLst/>
            <a:rect l="l" t="t" r="r" b="b"/>
            <a:pathLst>
              <a:path w="1101436" h="1101436">
                <a:moveTo>
                  <a:pt x="0" y="1101436"/>
                </a:moveTo>
                <a:lnTo>
                  <a:pt x="1101436" y="1101436"/>
                </a:lnTo>
                <a:lnTo>
                  <a:pt x="11014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08-label248"/>
          <p:cNvSpPr txBox="1"/>
          <p:nvPr/>
        </p:nvSpPr>
        <p:spPr>
          <a:xfrm>
            <a:off x="2800482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4" name="S08-label250"/>
          <p:cNvSpPr txBox="1"/>
          <p:nvPr/>
        </p:nvSpPr>
        <p:spPr>
          <a:xfrm>
            <a:off x="2800482" y="2838739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5" name="S08-label252"/>
          <p:cNvSpPr txBox="1"/>
          <p:nvPr/>
        </p:nvSpPr>
        <p:spPr>
          <a:xfrm>
            <a:off x="2800482" y="5041611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6" name="S08-label254"/>
          <p:cNvSpPr txBox="1"/>
          <p:nvPr/>
        </p:nvSpPr>
        <p:spPr>
          <a:xfrm>
            <a:off x="1699045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7" name="S08-label256"/>
          <p:cNvSpPr txBox="1"/>
          <p:nvPr/>
        </p:nvSpPr>
        <p:spPr>
          <a:xfrm>
            <a:off x="3901918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8" name="S08-label258"/>
          <p:cNvSpPr txBox="1"/>
          <p:nvPr/>
        </p:nvSpPr>
        <p:spPr>
          <a:xfrm>
            <a:off x="5003354" y="3940175"/>
            <a:ext cx="294132" cy="34925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200" dirty="0"/>
          </a:p>
        </p:txBody>
      </p:sp>
      <p:sp>
        <p:nvSpPr>
          <p:cNvPr id="49" name="S08-card259"/>
          <p:cNvSpPr/>
          <p:nvPr/>
        </p:nvSpPr>
        <p:spPr>
          <a:xfrm>
            <a:off x="6813652" y="2976118"/>
            <a:ext cx="4826660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0" name="S08-cardtext260"/>
          <p:cNvSpPr txBox="1"/>
          <p:nvPr/>
        </p:nvSpPr>
        <p:spPr>
          <a:xfrm>
            <a:off x="7087972" y="3113278"/>
            <a:ext cx="4278020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여섯 면이 모두 합동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 × 6</a:t>
            </a:r>
            <a:endParaRPr lang="ko-KR" sz="2800" dirty="0"/>
          </a:p>
        </p:txBody>
      </p:sp>
      <p:sp>
        <p:nvSpPr>
          <p:cNvPr id="51" name="S08-card261"/>
          <p:cNvSpPr/>
          <p:nvPr/>
        </p:nvSpPr>
        <p:spPr>
          <a:xfrm>
            <a:off x="6813652" y="4384802"/>
            <a:ext cx="4826660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2" name="S08-cardtext262"/>
          <p:cNvSpPr txBox="1"/>
          <p:nvPr/>
        </p:nvSpPr>
        <p:spPr>
          <a:xfrm>
            <a:off x="7087972" y="4521962"/>
            <a:ext cx="42780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en-US" altLang="ko-KR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 × 3 × 6 = 54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 구하기</a:t>
            </a:r>
            <a:endParaRPr lang="ko-KR" sz="4000" dirty="0"/>
          </a:p>
        </p:txBody>
      </p:sp>
      <p:sp>
        <p:nvSpPr>
          <p:cNvPr id="3" name="S09-text26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구해요.</a:t>
            </a:r>
            <a:endParaRPr lang="ko-KR" sz="2800" dirty="0"/>
          </a:p>
        </p:txBody>
      </p:sp>
      <p:sp>
        <p:nvSpPr>
          <p:cNvPr id="4" name="S09-card26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9-cardtext26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정육면체는 한 면 × 6, 직육면체는 세 면의 합 × 2</a:t>
            </a:r>
            <a:endParaRPr lang="ko-KR" sz="2800" dirty="0"/>
          </a:p>
        </p:txBody>
      </p:sp>
      <p:sp>
        <p:nvSpPr>
          <p:cNvPr id="6" name="S09-chip266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7" name="S09-text267"/>
          <p:cNvSpPr txBox="1"/>
          <p:nvPr/>
        </p:nvSpPr>
        <p:spPr>
          <a:xfrm>
            <a:off x="1344168" y="201168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5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8" name="S09-chip268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9" name="S09-text269"/>
          <p:cNvSpPr txBox="1"/>
          <p:nvPr/>
        </p:nvSpPr>
        <p:spPr>
          <a:xfrm>
            <a:off x="1344168" y="310896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10 cm, 세로 6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4 cm인 직육면체</a:t>
            </a:r>
            <a:endParaRPr lang="ko-KR" sz="2800" dirty="0"/>
          </a:p>
        </p:txBody>
      </p:sp>
      <p:sp>
        <p:nvSpPr>
          <p:cNvPr id="10" name="S09-chip270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11" name="S09-text271"/>
          <p:cNvSpPr txBox="1"/>
          <p:nvPr/>
        </p:nvSpPr>
        <p:spPr>
          <a:xfrm>
            <a:off x="1344168" y="4206240"/>
            <a:ext cx="1029614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면의 넓이가 16 cm²인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000" dirty="0"/>
          </a:p>
        </p:txBody>
      </p:sp>
      <p:sp>
        <p:nvSpPr>
          <p:cNvPr id="3" name="S10-text27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겉넓이를 구하고, 어떻게 구했는지 말해요.</a:t>
            </a:r>
            <a:endParaRPr lang="ko-KR" sz="2800" dirty="0"/>
          </a:p>
        </p:txBody>
      </p:sp>
      <p:sp>
        <p:nvSpPr>
          <p:cNvPr id="4" name="S10-mark273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5" name="S10-mark274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6" name="S10-mark275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2C14E"/>
          </a:solidFill>
          <a:ln/>
        </p:spPr>
      </p:sp>
      <p:sp>
        <p:nvSpPr>
          <p:cNvPr id="7" name="S10-mark276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solidFill>
            <a:srgbClr val="CDEBE6"/>
          </a:solidFill>
          <a:ln/>
        </p:spPr>
      </p:sp>
      <p:sp>
        <p:nvSpPr>
          <p:cNvPr id="8" name="S10-mark277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9" name="S10-mark278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solidFill>
            <a:srgbClr val="FDEBDD"/>
          </a:solidFill>
          <a:ln/>
        </p:spPr>
      </p:sp>
      <p:sp>
        <p:nvSpPr>
          <p:cNvPr id="10" name="S10-mark279"/>
          <p:cNvSpPr/>
          <p:nvPr/>
        </p:nvSpPr>
        <p:spPr>
          <a:xfrm flipV="1">
            <a:off x="636117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1" name="S10-mark280"/>
          <p:cNvSpPr/>
          <p:nvPr/>
        </p:nvSpPr>
        <p:spPr>
          <a:xfrm flipV="1">
            <a:off x="668588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2" name="S10-mark281"/>
          <p:cNvSpPr/>
          <p:nvPr/>
        </p:nvSpPr>
        <p:spPr>
          <a:xfrm flipV="1">
            <a:off x="701059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3" name="S10-mark282"/>
          <p:cNvSpPr/>
          <p:nvPr/>
        </p:nvSpPr>
        <p:spPr>
          <a:xfrm flipV="1">
            <a:off x="733529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4" name="S10-mark283"/>
          <p:cNvSpPr/>
          <p:nvPr/>
        </p:nvSpPr>
        <p:spPr>
          <a:xfrm flipV="1">
            <a:off x="766000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5" name="S10-mark284"/>
          <p:cNvSpPr/>
          <p:nvPr/>
        </p:nvSpPr>
        <p:spPr>
          <a:xfrm flipV="1">
            <a:off x="798471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6" name="S10-mark285"/>
          <p:cNvSpPr/>
          <p:nvPr/>
        </p:nvSpPr>
        <p:spPr>
          <a:xfrm flipV="1">
            <a:off x="830942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7" name="S10-mark286"/>
          <p:cNvSpPr/>
          <p:nvPr/>
        </p:nvSpPr>
        <p:spPr>
          <a:xfrm flipV="1">
            <a:off x="8634127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8" name="S10-mark287"/>
          <p:cNvSpPr/>
          <p:nvPr/>
        </p:nvSpPr>
        <p:spPr>
          <a:xfrm flipV="1">
            <a:off x="8958834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19" name="S10-mark288"/>
          <p:cNvSpPr/>
          <p:nvPr/>
        </p:nvSpPr>
        <p:spPr>
          <a:xfrm flipV="1">
            <a:off x="9283541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0" name="S10-mark289"/>
          <p:cNvSpPr/>
          <p:nvPr/>
        </p:nvSpPr>
        <p:spPr>
          <a:xfrm flipV="1">
            <a:off x="9608249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1" name="S10-mark290"/>
          <p:cNvSpPr/>
          <p:nvPr/>
        </p:nvSpPr>
        <p:spPr>
          <a:xfrm flipV="1">
            <a:off x="9932956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2" name="S10-mark291"/>
          <p:cNvSpPr/>
          <p:nvPr/>
        </p:nvSpPr>
        <p:spPr>
          <a:xfrm flipV="1">
            <a:off x="10257663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3" name="S10-mark292"/>
          <p:cNvSpPr/>
          <p:nvPr/>
        </p:nvSpPr>
        <p:spPr>
          <a:xfrm flipV="1">
            <a:off x="10582370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4" name="S10-mark293"/>
          <p:cNvSpPr/>
          <p:nvPr/>
        </p:nvSpPr>
        <p:spPr>
          <a:xfrm flipV="1">
            <a:off x="10907078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5" name="S10-mark294"/>
          <p:cNvSpPr/>
          <p:nvPr/>
        </p:nvSpPr>
        <p:spPr>
          <a:xfrm flipV="1">
            <a:off x="11231785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6" name="S10-mark295"/>
          <p:cNvSpPr/>
          <p:nvPr/>
        </p:nvSpPr>
        <p:spPr>
          <a:xfrm flipV="1">
            <a:off x="11556492" y="2653617"/>
            <a:ext cx="0" cy="2922365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7" name="S10-mark296"/>
          <p:cNvSpPr/>
          <p:nvPr/>
        </p:nvSpPr>
        <p:spPr>
          <a:xfrm>
            <a:off x="6361176" y="5575983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8" name="S10-mark297"/>
          <p:cNvSpPr/>
          <p:nvPr/>
        </p:nvSpPr>
        <p:spPr>
          <a:xfrm>
            <a:off x="6361176" y="525127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29" name="S10-mark298"/>
          <p:cNvSpPr/>
          <p:nvPr/>
        </p:nvSpPr>
        <p:spPr>
          <a:xfrm>
            <a:off x="6361176" y="4926568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0" name="S10-mark299"/>
          <p:cNvSpPr/>
          <p:nvPr/>
        </p:nvSpPr>
        <p:spPr>
          <a:xfrm>
            <a:off x="6361176" y="4601861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1" name="S10-mark300"/>
          <p:cNvSpPr/>
          <p:nvPr/>
        </p:nvSpPr>
        <p:spPr>
          <a:xfrm>
            <a:off x="6361176" y="4277154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2" name="S10-mark301"/>
          <p:cNvSpPr/>
          <p:nvPr/>
        </p:nvSpPr>
        <p:spPr>
          <a:xfrm>
            <a:off x="6361176" y="3952446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3" name="S10-mark302"/>
          <p:cNvSpPr/>
          <p:nvPr/>
        </p:nvSpPr>
        <p:spPr>
          <a:xfrm>
            <a:off x="6361176" y="3627739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4" name="S10-mark303"/>
          <p:cNvSpPr/>
          <p:nvPr/>
        </p:nvSpPr>
        <p:spPr>
          <a:xfrm>
            <a:off x="6361176" y="3303032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5" name="S10-mark304"/>
          <p:cNvSpPr/>
          <p:nvPr/>
        </p:nvSpPr>
        <p:spPr>
          <a:xfrm>
            <a:off x="6361176" y="2978325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6" name="S10-mark305"/>
          <p:cNvSpPr/>
          <p:nvPr/>
        </p:nvSpPr>
        <p:spPr>
          <a:xfrm>
            <a:off x="6361176" y="2653617"/>
            <a:ext cx="5195316" cy="0"/>
          </a:xfrm>
          <a:prstGeom prst="line">
            <a:avLst/>
          </a:prstGeom>
          <a:noFill/>
          <a:ln w="9525">
            <a:solidFill>
              <a:srgbClr val="B8C2CC"/>
            </a:solidFill>
            <a:prstDash val="solid"/>
          </a:ln>
        </p:spPr>
      </p:sp>
      <p:sp>
        <p:nvSpPr>
          <p:cNvPr id="37" name="S10-figure306" descr="모눈 위 직육면체의 전개도: 가로 5칸·세로 2칸인 면 2개, 가로 5칸·세로 3칸인 면 2개, 가로 2칸·세로 3칸인 면 2개"/>
          <p:cNvSpPr/>
          <p:nvPr/>
        </p:nvSpPr>
        <p:spPr>
          <a:xfrm>
            <a:off x="6685883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8" name="S10-mark307"/>
          <p:cNvSpPr/>
          <p:nvPr/>
        </p:nvSpPr>
        <p:spPr>
          <a:xfrm>
            <a:off x="830942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39" name="S10-mark308"/>
          <p:cNvSpPr/>
          <p:nvPr/>
        </p:nvSpPr>
        <p:spPr>
          <a:xfrm>
            <a:off x="8958834" y="3627739"/>
            <a:ext cx="1623536" cy="974122"/>
          </a:xfrm>
          <a:custGeom>
            <a:avLst/>
            <a:gdLst/>
            <a:ahLst/>
            <a:cxnLst/>
            <a:rect l="l" t="t" r="r" b="b"/>
            <a:pathLst>
              <a:path w="1623536" h="974122">
                <a:moveTo>
                  <a:pt x="0" y="974122"/>
                </a:moveTo>
                <a:lnTo>
                  <a:pt x="1623536" y="974122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0" name="S10-mark309"/>
          <p:cNvSpPr/>
          <p:nvPr/>
        </p:nvSpPr>
        <p:spPr>
          <a:xfrm>
            <a:off x="10582370" y="3627739"/>
            <a:ext cx="649415" cy="974122"/>
          </a:xfrm>
          <a:custGeom>
            <a:avLst/>
            <a:gdLst/>
            <a:ahLst/>
            <a:cxnLst/>
            <a:rect l="l" t="t" r="r" b="b"/>
            <a:pathLst>
              <a:path w="649415" h="974122">
                <a:moveTo>
                  <a:pt x="0" y="974122"/>
                </a:moveTo>
                <a:lnTo>
                  <a:pt x="649415" y="974122"/>
                </a:lnTo>
                <a:lnTo>
                  <a:pt x="649415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1" name="S10-mark310"/>
          <p:cNvSpPr/>
          <p:nvPr/>
        </p:nvSpPr>
        <p:spPr>
          <a:xfrm>
            <a:off x="6685883" y="2978325"/>
            <a:ext cx="1623536" cy="649415"/>
          </a:xfrm>
          <a:custGeom>
            <a:avLst/>
            <a:gdLst/>
            <a:ahLst/>
            <a:cxnLst/>
            <a:rect l="l" t="t" r="r" b="b"/>
            <a:pathLst>
              <a:path w="1623536" h="649415">
                <a:moveTo>
                  <a:pt x="0" y="649415"/>
                </a:moveTo>
                <a:lnTo>
                  <a:pt x="1623536" y="649415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2" name="S10-mark311"/>
          <p:cNvSpPr/>
          <p:nvPr/>
        </p:nvSpPr>
        <p:spPr>
          <a:xfrm>
            <a:off x="6685883" y="4601861"/>
            <a:ext cx="1623536" cy="649414"/>
          </a:xfrm>
          <a:custGeom>
            <a:avLst/>
            <a:gdLst/>
            <a:ahLst/>
            <a:cxnLst/>
            <a:rect l="l" t="t" r="r" b="b"/>
            <a:pathLst>
              <a:path w="1623536" h="649414">
                <a:moveTo>
                  <a:pt x="0" y="649414"/>
                </a:moveTo>
                <a:lnTo>
                  <a:pt x="1623536" y="649414"/>
                </a:lnTo>
                <a:lnTo>
                  <a:pt x="1623536" y="0"/>
                </a:lnTo>
                <a:lnTo>
                  <a:pt x="0" y="0"/>
                </a:lnTo>
                <a:close/>
              </a:path>
            </a:pathLst>
          </a:custGeom>
          <a:noFill/>
          <a:ln w="28575">
            <a:solidFill>
              <a:srgbClr val="1F2937"/>
            </a:solidFill>
            <a:prstDash val="solid"/>
          </a:ln>
        </p:spPr>
      </p:sp>
      <p:sp>
        <p:nvSpPr>
          <p:cNvPr id="43" name="S10-chip312"/>
          <p:cNvSpPr txBox="1"/>
          <p:nvPr/>
        </p:nvSpPr>
        <p:spPr>
          <a:xfrm>
            <a:off x="548640" y="23682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200" dirty="0"/>
          </a:p>
        </p:txBody>
      </p:sp>
      <p:sp>
        <p:nvSpPr>
          <p:cNvPr id="44" name="S10-text313"/>
          <p:cNvSpPr txBox="1"/>
          <p:nvPr/>
        </p:nvSpPr>
        <p:spPr>
          <a:xfrm>
            <a:off x="1344168" y="201168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 전개도로 만든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직육면체(한 칸 1 cm²)</a:t>
            </a:r>
            <a:endParaRPr lang="ko-KR" sz="2800" dirty="0"/>
          </a:p>
        </p:txBody>
      </p:sp>
      <p:sp>
        <p:nvSpPr>
          <p:cNvPr id="45" name="S10-chip314"/>
          <p:cNvSpPr txBox="1"/>
          <p:nvPr/>
        </p:nvSpPr>
        <p:spPr>
          <a:xfrm>
            <a:off x="548640" y="38313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200" dirty="0"/>
          </a:p>
        </p:txBody>
      </p:sp>
      <p:sp>
        <p:nvSpPr>
          <p:cNvPr id="46" name="S10-text315"/>
          <p:cNvSpPr txBox="1"/>
          <p:nvPr/>
        </p:nvSpPr>
        <p:spPr>
          <a:xfrm>
            <a:off x="1344168" y="347472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모서리가 6 cm인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</a:t>
            </a:r>
            <a:endParaRPr lang="ko-KR" sz="2800" dirty="0"/>
          </a:p>
        </p:txBody>
      </p:sp>
      <p:sp>
        <p:nvSpPr>
          <p:cNvPr id="47" name="S10-chip316"/>
          <p:cNvSpPr txBox="1"/>
          <p:nvPr/>
        </p:nvSpPr>
        <p:spPr>
          <a:xfrm>
            <a:off x="548640" y="52943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200" dirty="0"/>
          </a:p>
        </p:txBody>
      </p:sp>
      <p:sp>
        <p:nvSpPr>
          <p:cNvPr id="48" name="S10-text317"/>
          <p:cNvSpPr txBox="1"/>
          <p:nvPr/>
        </p:nvSpPr>
        <p:spPr>
          <a:xfrm>
            <a:off x="1344168" y="4937760"/>
            <a:ext cx="456742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8 cm, 세로 5 cm,</a:t>
            </a:r>
            <a:endParaRPr lang="ko-KR" sz="2800" dirty="0"/>
          </a:p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2 cm인 직육면체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골라요</a:t>
            </a:r>
            <a:endParaRPr lang="ko-KR" sz="4000" dirty="0"/>
          </a:p>
        </p:txBody>
      </p:sp>
      <p:sp>
        <p:nvSpPr>
          <p:cNvPr id="3" name="S12-text318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4 cm, 세로 3 cm, 높이 2 cm인 직육면체의 겉넓이</a:t>
            </a:r>
            <a:endParaRPr lang="ko-KR" sz="2800" dirty="0"/>
          </a:p>
        </p:txBody>
      </p:sp>
      <p:sp>
        <p:nvSpPr>
          <p:cNvPr id="4" name="S12-card319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320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바른 식을 모두 고르고, 그 식이 무엇을 구하는지 말해요.</a:t>
            </a:r>
            <a:endParaRPr lang="ko-KR" sz="2800" dirty="0"/>
          </a:p>
        </p:txBody>
      </p:sp>
      <p:sp>
        <p:nvSpPr>
          <p:cNvPr id="6" name="S12-chip321"/>
          <p:cNvSpPr txBox="1"/>
          <p:nvPr/>
        </p:nvSpPr>
        <p:spPr>
          <a:xfrm>
            <a:off x="548640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2800" dirty="0"/>
          </a:p>
        </p:txBody>
      </p:sp>
      <p:sp>
        <p:nvSpPr>
          <p:cNvPr id="7" name="S12-card322"/>
          <p:cNvSpPr/>
          <p:nvPr/>
        </p:nvSpPr>
        <p:spPr>
          <a:xfrm>
            <a:off x="1344168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323"/>
          <p:cNvSpPr txBox="1"/>
          <p:nvPr/>
        </p:nvSpPr>
        <p:spPr>
          <a:xfrm>
            <a:off x="1618488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× 3 + 4 × 2 + 3 × 2)</a:t>
            </a:r>
            <a:endParaRPr lang="ko-KR" sz="2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2</a:t>
            </a:r>
            <a:endParaRPr lang="ko-KR" sz="2200" dirty="0"/>
          </a:p>
        </p:txBody>
      </p:sp>
      <p:sp>
        <p:nvSpPr>
          <p:cNvPr id="9" name="S12-chip324"/>
          <p:cNvSpPr txBox="1"/>
          <p:nvPr/>
        </p:nvSpPr>
        <p:spPr>
          <a:xfrm>
            <a:off x="6277356" y="24368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2800" dirty="0"/>
          </a:p>
        </p:txBody>
      </p:sp>
      <p:sp>
        <p:nvSpPr>
          <p:cNvPr id="10" name="S12-card325"/>
          <p:cNvSpPr/>
          <p:nvPr/>
        </p:nvSpPr>
        <p:spPr>
          <a:xfrm>
            <a:off x="7072884" y="201168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326"/>
          <p:cNvSpPr txBox="1"/>
          <p:nvPr/>
        </p:nvSpPr>
        <p:spPr>
          <a:xfrm>
            <a:off x="7347204" y="214884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</a:t>
            </a:r>
            <a:endParaRPr lang="ko-KR" sz="2800" dirty="0"/>
          </a:p>
        </p:txBody>
      </p:sp>
      <p:sp>
        <p:nvSpPr>
          <p:cNvPr id="12" name="S12-chip327"/>
          <p:cNvSpPr txBox="1"/>
          <p:nvPr/>
        </p:nvSpPr>
        <p:spPr>
          <a:xfrm>
            <a:off x="548640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2800" dirty="0"/>
          </a:p>
        </p:txBody>
      </p:sp>
      <p:sp>
        <p:nvSpPr>
          <p:cNvPr id="13" name="S12-card328"/>
          <p:cNvSpPr/>
          <p:nvPr/>
        </p:nvSpPr>
        <p:spPr>
          <a:xfrm>
            <a:off x="1344168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329"/>
          <p:cNvSpPr txBox="1"/>
          <p:nvPr/>
        </p:nvSpPr>
        <p:spPr>
          <a:xfrm>
            <a:off x="1618488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× 2 +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(4 + 3 + 4 + 3) × 2</a:t>
            </a:r>
            <a:endParaRPr lang="ko-KR" sz="2800" dirty="0"/>
          </a:p>
        </p:txBody>
      </p:sp>
      <p:sp>
        <p:nvSpPr>
          <p:cNvPr id="15" name="S12-chip330"/>
          <p:cNvSpPr txBox="1"/>
          <p:nvPr/>
        </p:nvSpPr>
        <p:spPr>
          <a:xfrm>
            <a:off x="6277356" y="41285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라</a:t>
            </a:r>
            <a:endParaRPr lang="ko-KR" sz="2800" dirty="0"/>
          </a:p>
        </p:txBody>
      </p:sp>
      <p:sp>
        <p:nvSpPr>
          <p:cNvPr id="16" name="S12-card331"/>
          <p:cNvSpPr/>
          <p:nvPr/>
        </p:nvSpPr>
        <p:spPr>
          <a:xfrm>
            <a:off x="7072884" y="3703320"/>
            <a:ext cx="4567428" cy="1417320"/>
          </a:xfrm>
          <a:prstGeom prst="roundRect">
            <a:avLst>
              <a:gd name="adj" fmla="val 774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7" name="S12-cardtext332"/>
          <p:cNvSpPr txBox="1"/>
          <p:nvPr/>
        </p:nvSpPr>
        <p:spPr>
          <a:xfrm>
            <a:off x="7347204" y="3840480"/>
            <a:ext cx="40187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 × 3 + 4 × 2 + 3 × 2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000" dirty="0"/>
          </a:p>
        </p:txBody>
      </p:sp>
      <p:sp>
        <p:nvSpPr>
          <p:cNvPr id="3" name="S13-card333"/>
          <p:cNvSpPr/>
          <p:nvPr/>
        </p:nvSpPr>
        <p:spPr>
          <a:xfrm>
            <a:off x="548640" y="1325880"/>
            <a:ext cx="11091672" cy="1196848"/>
          </a:xfrm>
          <a:prstGeom prst="roundRect">
            <a:avLst>
              <a:gd name="adj" fmla="val 9168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334"/>
          <p:cNvSpPr txBox="1"/>
          <p:nvPr/>
        </p:nvSpPr>
        <p:spPr>
          <a:xfrm>
            <a:off x="822960" y="1463040"/>
            <a:ext cx="10543032" cy="9225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직육면체의 겉넓이는 여섯 면의 넓이의 합이에요. (세 면의 합) × 2, 정육면체는 (한 면) × 6</a:t>
            </a:r>
            <a:endParaRPr lang="ko-KR" sz="2800" dirty="0"/>
          </a:p>
        </p:txBody>
      </p:sp>
      <p:sp>
        <p:nvSpPr>
          <p:cNvPr id="5" name="S13-chip335"/>
          <p:cNvSpPr txBox="1"/>
          <p:nvPr/>
        </p:nvSpPr>
        <p:spPr>
          <a:xfrm>
            <a:off x="548640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합동인 면 세 쌍을 짝짓기</a:t>
            </a:r>
            <a:endParaRPr lang="ko-KR" sz="2200" dirty="0"/>
          </a:p>
        </p:txBody>
      </p:sp>
      <p:sp>
        <p:nvSpPr>
          <p:cNvPr id="6" name="S13-chip336"/>
          <p:cNvSpPr txBox="1"/>
          <p:nvPr/>
        </p:nvSpPr>
        <p:spPr>
          <a:xfrm>
            <a:off x="6208776" y="2751328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세 면만 더하고 끝내기</a:t>
            </a:r>
            <a:endParaRPr lang="ko-KR" sz="2200" dirty="0"/>
          </a:p>
        </p:txBody>
      </p:sp>
      <p:sp>
        <p:nvSpPr>
          <p:cNvPr id="7" name="S13-text337"/>
          <p:cNvSpPr txBox="1"/>
          <p:nvPr/>
        </p:nvSpPr>
        <p:spPr>
          <a:xfrm>
            <a:off x="548640" y="357428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200" dirty="0"/>
          </a:p>
        </p:txBody>
      </p:sp>
      <p:sp>
        <p:nvSpPr>
          <p:cNvPr id="8" name="S13-text338"/>
          <p:cNvSpPr txBox="1"/>
          <p:nvPr/>
        </p:nvSpPr>
        <p:spPr>
          <a:xfrm>
            <a:off x="548640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한 모서리가 2 cm인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정육면체의 겉넓이는?</a:t>
            </a:r>
            <a:endParaRPr lang="ko-KR" sz="2200" dirty="0"/>
          </a:p>
        </p:txBody>
      </p:sp>
      <p:sp>
        <p:nvSpPr>
          <p:cNvPr id="9" name="S13-text339"/>
          <p:cNvSpPr txBox="1"/>
          <p:nvPr/>
        </p:nvSpPr>
        <p:spPr>
          <a:xfrm>
            <a:off x="4322064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가로 5 cm, 세로 2 cm,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높이 1 cm인 직육면체의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겉넓이는?</a:t>
            </a:r>
            <a:endParaRPr lang="ko-KR" sz="2200" dirty="0"/>
          </a:p>
        </p:txBody>
      </p:sp>
      <p:sp>
        <p:nvSpPr>
          <p:cNvPr id="10" name="S13-text340"/>
          <p:cNvSpPr txBox="1"/>
          <p:nvPr/>
        </p:nvSpPr>
        <p:spPr>
          <a:xfrm>
            <a:off x="8095488" y="4077208"/>
            <a:ext cx="3544824" cy="1500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직육면체에서 합동인</a:t>
            </a:r>
            <a:endParaRPr lang="ko-KR" sz="2200" dirty="0"/>
          </a:p>
          <a:p>
            <a:pPr eaLnBrk="0" algn="l" indent="0" marL="0">
              <a:buNone/>
            </a:pPr>
            <a:r>
              <a:rPr lang="ko-KR" altLang="en-US" sz="2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면은 몇 쌍인가요?</a:t>
            </a:r>
            <a:endParaRPr lang="ko-KR" sz="2200" dirty="0"/>
          </a:p>
        </p:txBody>
      </p:sp>
      <p:sp>
        <p:nvSpPr>
          <p:cNvPr id="11" name="S13-text341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직육면체의 부피</a:t>
            </a:r>
            <a:endParaRPr lang="ko-KR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직사각형의 넓이</a:t>
            </a:r>
            <a:endParaRPr lang="ko-KR" sz="4000" dirty="0"/>
          </a:p>
        </p:txBody>
      </p:sp>
      <p:sp>
        <p:nvSpPr>
          <p:cNvPr id="3" name="S14-text34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8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칸은 1 cm²예요.</a:t>
            </a:r>
            <a:endParaRPr lang="ko-KR" sz="2800" dirty="0"/>
          </a:p>
        </p:txBody>
      </p:sp>
      <p:sp>
        <p:nvSpPr>
          <p:cNvPr id="4" name="S14-cell343"/>
          <p:cNvSpPr/>
          <p:nvPr/>
        </p:nvSpPr>
        <p:spPr>
          <a:xfrm>
            <a:off x="15156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" name="S14-cell344"/>
          <p:cNvSpPr/>
          <p:nvPr/>
        </p:nvSpPr>
        <p:spPr>
          <a:xfrm>
            <a:off x="22014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cell345"/>
          <p:cNvSpPr/>
          <p:nvPr/>
        </p:nvSpPr>
        <p:spPr>
          <a:xfrm>
            <a:off x="28872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" name="S14-cell346"/>
          <p:cNvSpPr/>
          <p:nvPr/>
        </p:nvSpPr>
        <p:spPr>
          <a:xfrm>
            <a:off x="35730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" name="S14-cell347"/>
          <p:cNvSpPr/>
          <p:nvPr/>
        </p:nvSpPr>
        <p:spPr>
          <a:xfrm>
            <a:off x="4258818" y="30861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" name="S14-cell348"/>
          <p:cNvSpPr/>
          <p:nvPr/>
        </p:nvSpPr>
        <p:spPr>
          <a:xfrm>
            <a:off x="15156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" name="S14-cell349"/>
          <p:cNvSpPr/>
          <p:nvPr/>
        </p:nvSpPr>
        <p:spPr>
          <a:xfrm>
            <a:off x="22014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" name="S14-cell350"/>
          <p:cNvSpPr/>
          <p:nvPr/>
        </p:nvSpPr>
        <p:spPr>
          <a:xfrm>
            <a:off x="28872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" name="S14-cell351"/>
          <p:cNvSpPr/>
          <p:nvPr/>
        </p:nvSpPr>
        <p:spPr>
          <a:xfrm>
            <a:off x="35730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3" name="S14-cell352"/>
          <p:cNvSpPr/>
          <p:nvPr/>
        </p:nvSpPr>
        <p:spPr>
          <a:xfrm>
            <a:off x="4258818" y="37719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4" name="S14-cell353"/>
          <p:cNvSpPr/>
          <p:nvPr/>
        </p:nvSpPr>
        <p:spPr>
          <a:xfrm>
            <a:off x="15156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5" name="S14-cell354"/>
          <p:cNvSpPr/>
          <p:nvPr/>
        </p:nvSpPr>
        <p:spPr>
          <a:xfrm>
            <a:off x="22014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cell355"/>
          <p:cNvSpPr/>
          <p:nvPr/>
        </p:nvSpPr>
        <p:spPr>
          <a:xfrm>
            <a:off x="28872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7" name="S14-cell356"/>
          <p:cNvSpPr/>
          <p:nvPr/>
        </p:nvSpPr>
        <p:spPr>
          <a:xfrm>
            <a:off x="35730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8" name="S14-cell357"/>
          <p:cNvSpPr/>
          <p:nvPr/>
        </p:nvSpPr>
        <p:spPr>
          <a:xfrm>
            <a:off x="4258818" y="4457700"/>
            <a:ext cx="685800" cy="68580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9" name="S14-figure358" descr="가로 5칸, 세로 3칸인 직사각형: 15칸 모두 색칠"/>
          <p:cNvSpPr/>
          <p:nvPr/>
        </p:nvSpPr>
        <p:spPr>
          <a:xfrm>
            <a:off x="1515618" y="3086100"/>
            <a:ext cx="3429000" cy="205740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20" name="S14-card359"/>
          <p:cNvSpPr/>
          <p:nvPr/>
        </p:nvSpPr>
        <p:spPr>
          <a:xfrm>
            <a:off x="6277356" y="2649982"/>
            <a:ext cx="5362956" cy="1180084"/>
          </a:xfrm>
          <a:prstGeom prst="roundRect">
            <a:avLst>
              <a:gd name="adj" fmla="val 929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1" name="S14-cardtext360"/>
          <p:cNvSpPr txBox="1"/>
          <p:nvPr/>
        </p:nvSpPr>
        <p:spPr>
          <a:xfrm>
            <a:off x="6551676" y="2787142"/>
            <a:ext cx="4814316" cy="9057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칸 수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줄에 5칸씩 3줄</a:t>
            </a:r>
            <a:endParaRPr lang="ko-KR" sz="2800" dirty="0"/>
          </a:p>
        </p:txBody>
      </p:sp>
      <p:sp>
        <p:nvSpPr>
          <p:cNvPr id="22" name="S14-card361"/>
          <p:cNvSpPr/>
          <p:nvPr/>
        </p:nvSpPr>
        <p:spPr>
          <a:xfrm>
            <a:off x="6277356" y="4058666"/>
            <a:ext cx="5362956" cy="1520952"/>
          </a:xfrm>
          <a:prstGeom prst="roundRect">
            <a:avLst>
              <a:gd name="adj" fmla="val 7214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23" name="S14-cardtext362"/>
          <p:cNvSpPr txBox="1"/>
          <p:nvPr/>
        </p:nvSpPr>
        <p:spPr>
          <a:xfrm>
            <a:off x="6551676" y="4195826"/>
            <a:ext cx="4814316" cy="1246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28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직사각형의 넓이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가로 × 세로</a:t>
            </a:r>
            <a:endParaRPr lang="ko-KR" sz="28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en-US" altLang="ko-KR" sz="2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 × 3 = 15 (cm²)</a:t>
            </a:r>
            <a:endParaRPr lang="ko-KR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초6 수학 직육면체의 겉넓이</dc:title>
  <dc:subject>KR22-G06-MAT-SURFACE-L01</dc:subject>
  <dc:creator>education-ppt</dc:creator>
  <cp:lastModifiedBy>education-ppt</cp:lastModifiedBy>
  <cp:revision>1</cp:revision>
  <dcterms:created xsi:type="dcterms:W3CDTF">2026-10-26T09:12:51Z</dcterms:created>
  <dcterms:modified xsi:type="dcterms:W3CDTF">2026-10-26T09:12:51Z</dcterms:modified>
</cp:coreProperties>
</file>