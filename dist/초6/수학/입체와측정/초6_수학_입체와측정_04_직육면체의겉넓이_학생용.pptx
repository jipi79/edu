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623bcf6-3f35-51b1-5a71-014d6001e255}">
          <p14:sldIdLst>
            <p14:sldId id="256"/>
            <p14:sldId id="257"/>
          </p14:sldIdLst>
        </p14:section>
        <p14:section name="개념" id="{83344b59-b53e-39bc-cda7-76a3a5781f00}">
          <p14:sldIdLst>
            <p14:sldId id="258"/>
            <p14:sldId id="259"/>
            <p14:sldId id="260"/>
            <p14:sldId id="263"/>
          </p14:sldIdLst>
        </p14:section>
        <p14:section name="연습" id="{72ea7adf-4028-e983-7066-1f3a0e80376f}">
          <p14:sldIdLst>
            <p14:sldId id="261"/>
            <p14:sldId id="262"/>
            <p14:sldId id="264"/>
          </p14:sldIdLst>
        </p14:section>
        <p14:section name="개념" id="{9b80f3a0-8d4a-d6fa-b75c-f62dfd4e4a9d}">
          <p14:sldIdLst/>
        </p14:section>
        <p14:section name="연습" id="{d55851b5-4781-9ce2-441d-b61b318f0fe8}">
          <p14:sldIdLst/>
        </p14:section>
        <p14:section name="확인" id="{dd708e75-0e67-b850-dff5-8816f550c2a1}">
          <p14:sldIdLst>
            <p14:sldId id="265"/>
            <p14:sldId id="266"/>
          </p14:sldIdLst>
        </p14:section>
        <p14:section name="정리" id="{99816ee7-3216-a1cd-b61f-acdd34d63659}">
          <p14:sldIdLst>
            <p14:sldId id="267"/>
          </p14:sldIdLst>
        </p14:section>
        <p14:section name="보충" id="{0154ee79-41cc-ba7b-2a34-97af247698a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겉넓이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빈틈없이 싸려면 종이가 얼마나 필요할까?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가로 4 cm, 세로 3 cm, 높이 2 cm인 직육면체"/>
          <p:cNvSpPr/>
          <p:nvPr/>
        </p:nvSpPr>
        <p:spPr>
          <a:xfrm>
            <a:off x="8181645" y="1678726"/>
            <a:ext cx="1786921" cy="893460"/>
          </a:xfrm>
          <a:custGeom>
            <a:avLst/>
            <a:gdLst/>
            <a:ahLst/>
            <a:cxnLst/>
            <a:rect l="l" t="t" r="r" b="b"/>
            <a:pathLst>
              <a:path w="1786921" h="893460">
                <a:moveTo>
                  <a:pt x="0" y="893460"/>
                </a:moveTo>
                <a:lnTo>
                  <a:pt x="1786921" y="893460"/>
                </a:lnTo>
                <a:lnTo>
                  <a:pt x="178692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181645" y="1276669"/>
            <a:ext cx="2349801" cy="402057"/>
          </a:xfrm>
          <a:custGeom>
            <a:avLst/>
            <a:gdLst/>
            <a:ahLst/>
            <a:cxnLst/>
            <a:rect l="l" t="t" r="r" b="b"/>
            <a:pathLst>
              <a:path w="2349801" h="402057">
                <a:moveTo>
                  <a:pt x="0" y="402057"/>
                </a:moveTo>
                <a:lnTo>
                  <a:pt x="1786921" y="402057"/>
                </a:lnTo>
                <a:lnTo>
                  <a:pt x="2349801" y="0"/>
                </a:lnTo>
                <a:lnTo>
                  <a:pt x="56288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968566" y="1276669"/>
            <a:ext cx="562880" cy="1295518"/>
          </a:xfrm>
          <a:custGeom>
            <a:avLst/>
            <a:gdLst/>
            <a:ahLst/>
            <a:cxnLst/>
            <a:rect l="l" t="t" r="r" b="b"/>
            <a:pathLst>
              <a:path w="562880" h="1295518">
                <a:moveTo>
                  <a:pt x="0" y="1295518"/>
                </a:moveTo>
                <a:lnTo>
                  <a:pt x="562880" y="893460"/>
                </a:lnTo>
                <a:lnTo>
                  <a:pt x="562880" y="0"/>
                </a:lnTo>
                <a:lnTo>
                  <a:pt x="0" y="402057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744525" y="2170130"/>
            <a:ext cx="178692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1-mark6"/>
          <p:cNvSpPr/>
          <p:nvPr/>
        </p:nvSpPr>
        <p:spPr>
          <a:xfrm flipV="1">
            <a:off x="8744525" y="1276669"/>
            <a:ext cx="0" cy="89346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1-mark7"/>
          <p:cNvSpPr/>
          <p:nvPr/>
        </p:nvSpPr>
        <p:spPr>
          <a:xfrm flipH="1">
            <a:off x="8181645" y="2170130"/>
            <a:ext cx="562880" cy="402057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1-mark8"/>
          <p:cNvSpPr/>
          <p:nvPr/>
        </p:nvSpPr>
        <p:spPr>
          <a:xfrm>
            <a:off x="8181645" y="2572187"/>
            <a:ext cx="1786921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9968566" y="2170130"/>
            <a:ext cx="562880" cy="402057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0531446" y="1276669"/>
            <a:ext cx="0" cy="89346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1-label12"/>
          <p:cNvSpPr txBox="1"/>
          <p:nvPr/>
        </p:nvSpPr>
        <p:spPr>
          <a:xfrm>
            <a:off x="8693343" y="264902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5" name="S01-label14"/>
          <p:cNvSpPr txBox="1"/>
          <p:nvPr/>
        </p:nvSpPr>
        <p:spPr>
          <a:xfrm>
            <a:off x="10098196" y="251846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6" name="S01-label16"/>
          <p:cNvSpPr txBox="1"/>
          <p:nvPr/>
        </p:nvSpPr>
        <p:spPr>
          <a:xfrm>
            <a:off x="10535256" y="154877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</a:t>
            </a:r>
            <a:endParaRPr lang="ko-KR" sz="2200" dirty="0"/>
          </a:p>
        </p:txBody>
      </p:sp>
      <p:sp>
        <p:nvSpPr>
          <p:cNvPr id="17" name="S01-card1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전개도로 겉넓이 구하는 방법을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직육면체와 정육면체의 겉넓이를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19" descr="직육면체: 보이는 세 면(앞, 위, 오른쪽)을 서로 다른 색으로 칠함. 보이지 않는 모서리는 점선"/>
          <p:cNvSpPr/>
          <p:nvPr/>
        </p:nvSpPr>
        <p:spPr>
          <a:xfrm>
            <a:off x="6361176" y="3019530"/>
            <a:ext cx="3167876" cy="1583938"/>
          </a:xfrm>
          <a:custGeom>
            <a:avLst/>
            <a:gdLst/>
            <a:ahLst/>
            <a:cxnLst/>
            <a:rect l="l" t="t" r="r" b="b"/>
            <a:pathLst>
              <a:path w="3167876" h="1583938">
                <a:moveTo>
                  <a:pt x="0" y="1583938"/>
                </a:moveTo>
                <a:lnTo>
                  <a:pt x="3167876" y="1583938"/>
                </a:lnTo>
                <a:lnTo>
                  <a:pt x="31678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2-mark20"/>
          <p:cNvSpPr/>
          <p:nvPr/>
        </p:nvSpPr>
        <p:spPr>
          <a:xfrm>
            <a:off x="6361176" y="2306758"/>
            <a:ext cx="4165756" cy="712772"/>
          </a:xfrm>
          <a:custGeom>
            <a:avLst/>
            <a:gdLst/>
            <a:ahLst/>
            <a:cxnLst/>
            <a:rect l="l" t="t" r="r" b="b"/>
            <a:pathLst>
              <a:path w="4165756" h="712772">
                <a:moveTo>
                  <a:pt x="0" y="712772"/>
                </a:moveTo>
                <a:lnTo>
                  <a:pt x="3167876" y="712772"/>
                </a:lnTo>
                <a:lnTo>
                  <a:pt x="4165756" y="0"/>
                </a:lnTo>
                <a:lnTo>
                  <a:pt x="997881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2-mark21"/>
          <p:cNvSpPr/>
          <p:nvPr/>
        </p:nvSpPr>
        <p:spPr>
          <a:xfrm>
            <a:off x="9529052" y="2306758"/>
            <a:ext cx="997881" cy="2296710"/>
          </a:xfrm>
          <a:custGeom>
            <a:avLst/>
            <a:gdLst/>
            <a:ahLst/>
            <a:cxnLst/>
            <a:rect l="l" t="t" r="r" b="b"/>
            <a:pathLst>
              <a:path w="997881" h="2296710">
                <a:moveTo>
                  <a:pt x="0" y="2296710"/>
                </a:moveTo>
                <a:lnTo>
                  <a:pt x="997881" y="1583938"/>
                </a:lnTo>
                <a:lnTo>
                  <a:pt x="997881" y="0"/>
                </a:lnTo>
                <a:lnTo>
                  <a:pt x="0" y="712772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22"/>
          <p:cNvSpPr/>
          <p:nvPr/>
        </p:nvSpPr>
        <p:spPr>
          <a:xfrm>
            <a:off x="7359057" y="3890695"/>
            <a:ext cx="316787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2-mark23"/>
          <p:cNvSpPr/>
          <p:nvPr/>
        </p:nvSpPr>
        <p:spPr>
          <a:xfrm flipV="1">
            <a:off x="7359057" y="2306758"/>
            <a:ext cx="0" cy="158393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2-mark24"/>
          <p:cNvSpPr/>
          <p:nvPr/>
        </p:nvSpPr>
        <p:spPr>
          <a:xfrm flipH="1">
            <a:off x="6361176" y="3890695"/>
            <a:ext cx="997881" cy="71277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2-mark25"/>
          <p:cNvSpPr/>
          <p:nvPr/>
        </p:nvSpPr>
        <p:spPr>
          <a:xfrm>
            <a:off x="6361176" y="4603467"/>
            <a:ext cx="3167876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0" name="S02-mark26"/>
          <p:cNvSpPr/>
          <p:nvPr/>
        </p:nvSpPr>
        <p:spPr>
          <a:xfrm flipV="1">
            <a:off x="9529052" y="3890695"/>
            <a:ext cx="997881" cy="712772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1" name="S02-mark27"/>
          <p:cNvSpPr/>
          <p:nvPr/>
        </p:nvSpPr>
        <p:spPr>
          <a:xfrm flipV="1">
            <a:off x="10526932" y="2306758"/>
            <a:ext cx="0" cy="1583938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2-chip2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3" name="S02-text2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5 cm, 세로 3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넓이는?</a:t>
            </a:r>
            <a:endParaRPr lang="ko-KR" sz="2800" dirty="0"/>
          </a:p>
        </p:txBody>
      </p:sp>
      <p:sp>
        <p:nvSpPr>
          <p:cNvPr id="14" name="S02-chip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02-text31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4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넓이는?</a:t>
            </a:r>
            <a:endParaRPr lang="ko-KR" sz="2800" dirty="0"/>
          </a:p>
        </p:txBody>
      </p:sp>
      <p:sp>
        <p:nvSpPr>
          <p:cNvPr id="16" name="S02-chip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7" name="S02-text33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직육면체에서 서로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면은 몇 쌍?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 여섯 면의 합</a:t>
            </a:r>
            <a:endParaRPr lang="ko-KR" sz="40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직육면체를 펼쳤어요. 모눈 한 칸은 1 cm²예요.</a:t>
            </a:r>
            <a:endParaRPr lang="ko-KR" sz="2800" dirty="0"/>
          </a:p>
        </p:txBody>
      </p:sp>
      <p:sp>
        <p:nvSpPr>
          <p:cNvPr id="4" name="S03-mark35"/>
          <p:cNvSpPr/>
          <p:nvPr/>
        </p:nvSpPr>
        <p:spPr>
          <a:xfrm>
            <a:off x="104665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3-mark36"/>
          <p:cNvSpPr/>
          <p:nvPr/>
        </p:nvSpPr>
        <p:spPr>
          <a:xfrm>
            <a:off x="266209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BE6"/>
          </a:solidFill>
          <a:ln/>
        </p:spPr>
      </p:sp>
      <p:sp>
        <p:nvSpPr>
          <p:cNvPr id="6" name="S03-mark37"/>
          <p:cNvSpPr/>
          <p:nvPr/>
        </p:nvSpPr>
        <p:spPr>
          <a:xfrm>
            <a:off x="387367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03-mark38"/>
          <p:cNvSpPr/>
          <p:nvPr/>
        </p:nvSpPr>
        <p:spPr>
          <a:xfrm>
            <a:off x="548911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BE6"/>
          </a:solidFill>
          <a:ln/>
        </p:spPr>
      </p:sp>
      <p:sp>
        <p:nvSpPr>
          <p:cNvPr id="8" name="S03-mark39"/>
          <p:cNvSpPr/>
          <p:nvPr/>
        </p:nvSpPr>
        <p:spPr>
          <a:xfrm>
            <a:off x="1046653" y="24993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3-mark40"/>
          <p:cNvSpPr/>
          <p:nvPr/>
        </p:nvSpPr>
        <p:spPr>
          <a:xfrm>
            <a:off x="1046653" y="45186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03-mark41"/>
          <p:cNvSpPr/>
          <p:nvPr/>
        </p:nvSpPr>
        <p:spPr>
          <a:xfrm flipV="1">
            <a:off x="6427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42"/>
          <p:cNvSpPr/>
          <p:nvPr/>
        </p:nvSpPr>
        <p:spPr>
          <a:xfrm flipV="1">
            <a:off x="10466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43"/>
          <p:cNvSpPr/>
          <p:nvPr/>
        </p:nvSpPr>
        <p:spPr>
          <a:xfrm flipV="1">
            <a:off x="14505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44"/>
          <p:cNvSpPr/>
          <p:nvPr/>
        </p:nvSpPr>
        <p:spPr>
          <a:xfrm flipV="1">
            <a:off x="18543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45"/>
          <p:cNvSpPr/>
          <p:nvPr/>
        </p:nvSpPr>
        <p:spPr>
          <a:xfrm flipV="1">
            <a:off x="22582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46"/>
          <p:cNvSpPr/>
          <p:nvPr/>
        </p:nvSpPr>
        <p:spPr>
          <a:xfrm flipV="1">
            <a:off x="26620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47"/>
          <p:cNvSpPr/>
          <p:nvPr/>
        </p:nvSpPr>
        <p:spPr>
          <a:xfrm flipV="1">
            <a:off x="30659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48"/>
          <p:cNvSpPr/>
          <p:nvPr/>
        </p:nvSpPr>
        <p:spPr>
          <a:xfrm flipV="1">
            <a:off x="34698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49"/>
          <p:cNvSpPr/>
          <p:nvPr/>
        </p:nvSpPr>
        <p:spPr>
          <a:xfrm flipV="1">
            <a:off x="38736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50"/>
          <p:cNvSpPr/>
          <p:nvPr/>
        </p:nvSpPr>
        <p:spPr>
          <a:xfrm flipV="1">
            <a:off x="42775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51"/>
          <p:cNvSpPr/>
          <p:nvPr/>
        </p:nvSpPr>
        <p:spPr>
          <a:xfrm flipV="1">
            <a:off x="46813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3-mark52"/>
          <p:cNvSpPr/>
          <p:nvPr/>
        </p:nvSpPr>
        <p:spPr>
          <a:xfrm flipV="1">
            <a:off x="50852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3-mark53"/>
          <p:cNvSpPr/>
          <p:nvPr/>
        </p:nvSpPr>
        <p:spPr>
          <a:xfrm flipV="1">
            <a:off x="54891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3-mark54"/>
          <p:cNvSpPr/>
          <p:nvPr/>
        </p:nvSpPr>
        <p:spPr>
          <a:xfrm flipV="1">
            <a:off x="58929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3-mark55"/>
          <p:cNvSpPr/>
          <p:nvPr/>
        </p:nvSpPr>
        <p:spPr>
          <a:xfrm flipV="1">
            <a:off x="62968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3-mark56"/>
          <p:cNvSpPr/>
          <p:nvPr/>
        </p:nvSpPr>
        <p:spPr>
          <a:xfrm flipV="1">
            <a:off x="67006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3-mark57"/>
          <p:cNvSpPr/>
          <p:nvPr/>
        </p:nvSpPr>
        <p:spPr>
          <a:xfrm flipV="1">
            <a:off x="71045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3-mark58"/>
          <p:cNvSpPr/>
          <p:nvPr/>
        </p:nvSpPr>
        <p:spPr>
          <a:xfrm>
            <a:off x="642793" y="61341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3-mark59"/>
          <p:cNvSpPr/>
          <p:nvPr/>
        </p:nvSpPr>
        <p:spPr>
          <a:xfrm>
            <a:off x="642793" y="573024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3-mark60"/>
          <p:cNvSpPr/>
          <p:nvPr/>
        </p:nvSpPr>
        <p:spPr>
          <a:xfrm>
            <a:off x="642793" y="532638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3-mark61"/>
          <p:cNvSpPr/>
          <p:nvPr/>
        </p:nvSpPr>
        <p:spPr>
          <a:xfrm>
            <a:off x="642793" y="492252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3-mark62"/>
          <p:cNvSpPr/>
          <p:nvPr/>
        </p:nvSpPr>
        <p:spPr>
          <a:xfrm>
            <a:off x="642793" y="451866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3-mark63"/>
          <p:cNvSpPr/>
          <p:nvPr/>
        </p:nvSpPr>
        <p:spPr>
          <a:xfrm>
            <a:off x="642793" y="41148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3-mark64"/>
          <p:cNvSpPr/>
          <p:nvPr/>
        </p:nvSpPr>
        <p:spPr>
          <a:xfrm>
            <a:off x="642793" y="371094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3-mark65"/>
          <p:cNvSpPr/>
          <p:nvPr/>
        </p:nvSpPr>
        <p:spPr>
          <a:xfrm>
            <a:off x="642793" y="330708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3-mark66"/>
          <p:cNvSpPr/>
          <p:nvPr/>
        </p:nvSpPr>
        <p:spPr>
          <a:xfrm>
            <a:off x="642793" y="290322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3-mark67"/>
          <p:cNvSpPr/>
          <p:nvPr/>
        </p:nvSpPr>
        <p:spPr>
          <a:xfrm>
            <a:off x="642793" y="249936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3-mark68"/>
          <p:cNvSpPr/>
          <p:nvPr/>
        </p:nvSpPr>
        <p:spPr>
          <a:xfrm>
            <a:off x="642793" y="20955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3-figure69" descr="가로 4 cm, 세로 3 cm, 높이 2 cm인 직육면체의 전개도(모눈 위). 넓이 12인 면 2개, 8인 면 2개, 6인 면 2개. 같은 넓이의 면은 같은 색"/>
          <p:cNvSpPr/>
          <p:nvPr/>
        </p:nvSpPr>
        <p:spPr>
          <a:xfrm>
            <a:off x="104665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3-mark70"/>
          <p:cNvSpPr/>
          <p:nvPr/>
        </p:nvSpPr>
        <p:spPr>
          <a:xfrm>
            <a:off x="266209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3-mark71"/>
          <p:cNvSpPr/>
          <p:nvPr/>
        </p:nvSpPr>
        <p:spPr>
          <a:xfrm>
            <a:off x="387367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3-mark72"/>
          <p:cNvSpPr/>
          <p:nvPr/>
        </p:nvSpPr>
        <p:spPr>
          <a:xfrm>
            <a:off x="548911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3-mark73"/>
          <p:cNvSpPr/>
          <p:nvPr/>
        </p:nvSpPr>
        <p:spPr>
          <a:xfrm>
            <a:off x="1046653" y="24993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3-mark74"/>
          <p:cNvSpPr/>
          <p:nvPr/>
        </p:nvSpPr>
        <p:spPr>
          <a:xfrm>
            <a:off x="1046653" y="45186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4" name="S03-label76"/>
          <p:cNvSpPr txBox="1"/>
          <p:nvPr/>
        </p:nvSpPr>
        <p:spPr>
          <a:xfrm>
            <a:off x="170730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45" name="S03-label78"/>
          <p:cNvSpPr txBox="1"/>
          <p:nvPr/>
        </p:nvSpPr>
        <p:spPr>
          <a:xfrm>
            <a:off x="312081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46" name="S03-label80"/>
          <p:cNvSpPr txBox="1"/>
          <p:nvPr/>
        </p:nvSpPr>
        <p:spPr>
          <a:xfrm>
            <a:off x="453432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47" name="S03-label82"/>
          <p:cNvSpPr txBox="1"/>
          <p:nvPr/>
        </p:nvSpPr>
        <p:spPr>
          <a:xfrm>
            <a:off x="594783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48" name="S03-label84"/>
          <p:cNvSpPr txBox="1"/>
          <p:nvPr/>
        </p:nvSpPr>
        <p:spPr>
          <a:xfrm>
            <a:off x="1615105" y="293052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49" name="S03-label86"/>
          <p:cNvSpPr txBox="1"/>
          <p:nvPr/>
        </p:nvSpPr>
        <p:spPr>
          <a:xfrm>
            <a:off x="1615105" y="494982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50" name="S03-card87"/>
          <p:cNvSpPr/>
          <p:nvPr/>
        </p:nvSpPr>
        <p:spPr>
          <a:xfrm>
            <a:off x="7564465" y="2812034"/>
            <a:ext cx="4075847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1" name="S03-cardtext88"/>
          <p:cNvSpPr txBox="1"/>
          <p:nvPr/>
        </p:nvSpPr>
        <p:spPr>
          <a:xfrm>
            <a:off x="7838785" y="2949194"/>
            <a:ext cx="3527207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면의 넓이의 합</a:t>
            </a:r>
            <a:endParaRPr lang="ko-KR" sz="2800" dirty="0"/>
          </a:p>
        </p:txBody>
      </p:sp>
      <p:sp>
        <p:nvSpPr>
          <p:cNvPr id="52" name="S03-card89"/>
          <p:cNvSpPr/>
          <p:nvPr/>
        </p:nvSpPr>
        <p:spPr>
          <a:xfrm>
            <a:off x="7564465" y="4220718"/>
            <a:ext cx="40758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3" name="S03-cardtext90"/>
          <p:cNvSpPr txBox="1"/>
          <p:nvPr/>
        </p:nvSpPr>
        <p:spPr>
          <a:xfrm>
            <a:off x="7838785" y="4357878"/>
            <a:ext cx="35272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+ 8 + 6 + 8 + 6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+ 12 = 52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쌍이니까 × 2</a:t>
            </a:r>
            <a:endParaRPr lang="ko-KR" sz="4000" dirty="0"/>
          </a:p>
        </p:txBody>
      </p:sp>
      <p:sp>
        <p:nvSpPr>
          <p:cNvPr id="3" name="S04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(12 + 8 + 6) × 2 = 52 (cm²)</a:t>
            </a:r>
            <a:endParaRPr lang="ko-KR" sz="2800" dirty="0"/>
          </a:p>
        </p:txBody>
      </p:sp>
      <p:sp>
        <p:nvSpPr>
          <p:cNvPr id="5" name="S04-figure93" descr="가로 4 cm, 세로 3 cm, 높이 2 cm인 직육면체: 위·아래 면, 앞·뒤 면, 양옆 면을 서로 다른 색으로 칠함"/>
          <p:cNvSpPr/>
          <p:nvPr/>
        </p:nvSpPr>
        <p:spPr>
          <a:xfrm>
            <a:off x="7850632" y="2746957"/>
            <a:ext cx="2005485" cy="1002742"/>
          </a:xfrm>
          <a:custGeom>
            <a:avLst/>
            <a:gdLst/>
            <a:ahLst/>
            <a:cxnLst/>
            <a:rect l="l" t="t" r="r" b="b"/>
            <a:pathLst>
              <a:path w="2005485" h="1002742">
                <a:moveTo>
                  <a:pt x="0" y="1002742"/>
                </a:moveTo>
                <a:lnTo>
                  <a:pt x="2005485" y="1002742"/>
                </a:lnTo>
                <a:lnTo>
                  <a:pt x="200548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94"/>
          <p:cNvSpPr/>
          <p:nvPr/>
        </p:nvSpPr>
        <p:spPr>
          <a:xfrm>
            <a:off x="7850632" y="2295723"/>
            <a:ext cx="2637213" cy="451234"/>
          </a:xfrm>
          <a:custGeom>
            <a:avLst/>
            <a:gdLst/>
            <a:ahLst/>
            <a:cxnLst/>
            <a:rect l="l" t="t" r="r" b="b"/>
            <a:pathLst>
              <a:path w="2637213" h="451234">
                <a:moveTo>
                  <a:pt x="0" y="451234"/>
                </a:moveTo>
                <a:lnTo>
                  <a:pt x="2005485" y="451234"/>
                </a:lnTo>
                <a:lnTo>
                  <a:pt x="2637213" y="0"/>
                </a:lnTo>
                <a:lnTo>
                  <a:pt x="631728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95"/>
          <p:cNvSpPr/>
          <p:nvPr/>
        </p:nvSpPr>
        <p:spPr>
          <a:xfrm>
            <a:off x="9856117" y="2295723"/>
            <a:ext cx="631728" cy="1453977"/>
          </a:xfrm>
          <a:custGeom>
            <a:avLst/>
            <a:gdLst/>
            <a:ahLst/>
            <a:cxnLst/>
            <a:rect l="l" t="t" r="r" b="b"/>
            <a:pathLst>
              <a:path w="631728" h="1453977">
                <a:moveTo>
                  <a:pt x="0" y="1453977"/>
                </a:moveTo>
                <a:lnTo>
                  <a:pt x="631728" y="1002742"/>
                </a:lnTo>
                <a:lnTo>
                  <a:pt x="631728" y="0"/>
                </a:lnTo>
                <a:lnTo>
                  <a:pt x="0" y="451234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96"/>
          <p:cNvSpPr/>
          <p:nvPr/>
        </p:nvSpPr>
        <p:spPr>
          <a:xfrm>
            <a:off x="8482360" y="3298466"/>
            <a:ext cx="200548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4-mark97"/>
          <p:cNvSpPr/>
          <p:nvPr/>
        </p:nvSpPr>
        <p:spPr>
          <a:xfrm flipV="1">
            <a:off x="8482360" y="2295723"/>
            <a:ext cx="0" cy="100274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4-mark98"/>
          <p:cNvSpPr/>
          <p:nvPr/>
        </p:nvSpPr>
        <p:spPr>
          <a:xfrm flipH="1">
            <a:off x="7850632" y="3298466"/>
            <a:ext cx="631728" cy="45123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4-mark99"/>
          <p:cNvSpPr/>
          <p:nvPr/>
        </p:nvSpPr>
        <p:spPr>
          <a:xfrm>
            <a:off x="7850632" y="3749700"/>
            <a:ext cx="2005485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4-mark100"/>
          <p:cNvSpPr/>
          <p:nvPr/>
        </p:nvSpPr>
        <p:spPr>
          <a:xfrm flipV="1">
            <a:off x="9856117" y="3298466"/>
            <a:ext cx="631728" cy="451234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4-mark101"/>
          <p:cNvSpPr/>
          <p:nvPr/>
        </p:nvSpPr>
        <p:spPr>
          <a:xfrm flipV="1">
            <a:off x="10487845" y="2295723"/>
            <a:ext cx="0" cy="1002742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4-label103"/>
          <p:cNvSpPr txBox="1"/>
          <p:nvPr/>
        </p:nvSpPr>
        <p:spPr>
          <a:xfrm>
            <a:off x="8471612" y="38265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5" name="S04-label105"/>
          <p:cNvSpPr txBox="1"/>
          <p:nvPr/>
        </p:nvSpPr>
        <p:spPr>
          <a:xfrm>
            <a:off x="10020171" y="367139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6" name="S04-label107"/>
          <p:cNvSpPr txBox="1"/>
          <p:nvPr/>
        </p:nvSpPr>
        <p:spPr>
          <a:xfrm>
            <a:off x="10491655" y="262246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</a:t>
            </a:r>
            <a:endParaRPr lang="ko-KR" sz="2200" dirty="0"/>
          </a:p>
        </p:txBody>
      </p:sp>
      <p:sp>
        <p:nvSpPr>
          <p:cNvPr id="17" name="S04-stepno108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8" name="S04-text109"/>
          <p:cNvSpPr txBox="1"/>
          <p:nvPr/>
        </p:nvSpPr>
        <p:spPr>
          <a:xfrm>
            <a:off x="1325880" y="1879092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위·아래</a:t>
            </a:r>
            <a:endParaRPr lang="ko-KR" sz="2800" dirty="0"/>
          </a:p>
        </p:txBody>
      </p:sp>
      <p:sp>
        <p:nvSpPr>
          <p:cNvPr id="19" name="S04-eqtext110"/>
          <p:cNvSpPr txBox="1"/>
          <p:nvPr/>
        </p:nvSpPr>
        <p:spPr>
          <a:xfrm>
            <a:off x="4281257" y="1879092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800" dirty="0"/>
          </a:p>
        </p:txBody>
      </p:sp>
      <p:sp>
        <p:nvSpPr>
          <p:cNvPr id="20" name="S04-stepno11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1" name="S04-text112"/>
          <p:cNvSpPr txBox="1"/>
          <p:nvPr/>
        </p:nvSpPr>
        <p:spPr>
          <a:xfrm>
            <a:off x="1325880" y="2592324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앞·뒤</a:t>
            </a:r>
            <a:endParaRPr lang="ko-KR" sz="2800" dirty="0"/>
          </a:p>
        </p:txBody>
      </p:sp>
      <p:sp>
        <p:nvSpPr>
          <p:cNvPr id="22" name="S04-eqtext113"/>
          <p:cNvSpPr txBox="1"/>
          <p:nvPr/>
        </p:nvSpPr>
        <p:spPr>
          <a:xfrm>
            <a:off x="4281257" y="2592324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</a:t>
            </a:r>
            <a:endParaRPr lang="ko-KR" sz="2800" dirty="0"/>
          </a:p>
        </p:txBody>
      </p:sp>
      <p:sp>
        <p:nvSpPr>
          <p:cNvPr id="23" name="S04-stepno114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4" name="S04-text115"/>
          <p:cNvSpPr txBox="1"/>
          <p:nvPr/>
        </p:nvSpPr>
        <p:spPr>
          <a:xfrm>
            <a:off x="1325880" y="3305556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양옆</a:t>
            </a:r>
            <a:endParaRPr lang="ko-KR" sz="2800" dirty="0"/>
          </a:p>
        </p:txBody>
      </p:sp>
      <p:sp>
        <p:nvSpPr>
          <p:cNvPr id="25" name="S04-eqtext116"/>
          <p:cNvSpPr txBox="1"/>
          <p:nvPr/>
        </p:nvSpPr>
        <p:spPr>
          <a:xfrm>
            <a:off x="4281257" y="3305556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 = 6</a:t>
            </a:r>
            <a:endParaRPr lang="ko-KR" sz="2800" dirty="0"/>
          </a:p>
        </p:txBody>
      </p:sp>
      <p:sp>
        <p:nvSpPr>
          <p:cNvPr id="26" name="S04-stepno117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7" name="S04-text118"/>
          <p:cNvSpPr txBox="1"/>
          <p:nvPr/>
        </p:nvSpPr>
        <p:spPr>
          <a:xfrm>
            <a:off x="1325880" y="4018788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면의 합 × 2</a:t>
            </a:r>
            <a:endParaRPr lang="ko-KR" sz="2800" dirty="0"/>
          </a:p>
        </p:txBody>
      </p:sp>
      <p:sp>
        <p:nvSpPr>
          <p:cNvPr id="28" name="S04-eqtext119"/>
          <p:cNvSpPr txBox="1"/>
          <p:nvPr/>
        </p:nvSpPr>
        <p:spPr>
          <a:xfrm>
            <a:off x="4281257" y="4018788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× 2 = 52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밑면과 옆면으로</a:t>
            </a:r>
            <a:endParaRPr lang="ko-KR" sz="4000" dirty="0"/>
          </a:p>
        </p:txBody>
      </p:sp>
      <p:sp>
        <p:nvSpPr>
          <p:cNvPr id="3" name="S05-mark120"/>
          <p:cNvSpPr/>
          <p:nvPr/>
        </p:nvSpPr>
        <p:spPr>
          <a:xfrm>
            <a:off x="102420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4" name="S05-mark121"/>
          <p:cNvSpPr/>
          <p:nvPr/>
        </p:nvSpPr>
        <p:spPr>
          <a:xfrm>
            <a:off x="2591181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5-mark122"/>
          <p:cNvSpPr/>
          <p:nvPr/>
        </p:nvSpPr>
        <p:spPr>
          <a:xfrm>
            <a:off x="376641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6" name="S05-mark123"/>
          <p:cNvSpPr/>
          <p:nvPr/>
        </p:nvSpPr>
        <p:spPr>
          <a:xfrm>
            <a:off x="5333390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05-mark124"/>
          <p:cNvSpPr/>
          <p:nvPr/>
        </p:nvSpPr>
        <p:spPr>
          <a:xfrm>
            <a:off x="1024204" y="2204923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5-mark125"/>
          <p:cNvSpPr/>
          <p:nvPr/>
        </p:nvSpPr>
        <p:spPr>
          <a:xfrm>
            <a:off x="1024204" y="4163644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5-mark126"/>
          <p:cNvSpPr/>
          <p:nvPr/>
        </p:nvSpPr>
        <p:spPr>
          <a:xfrm flipV="1">
            <a:off x="632460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27"/>
          <p:cNvSpPr/>
          <p:nvPr/>
        </p:nvSpPr>
        <p:spPr>
          <a:xfrm flipV="1">
            <a:off x="1024204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28"/>
          <p:cNvSpPr/>
          <p:nvPr/>
        </p:nvSpPr>
        <p:spPr>
          <a:xfrm flipV="1">
            <a:off x="1415948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29"/>
          <p:cNvSpPr/>
          <p:nvPr/>
        </p:nvSpPr>
        <p:spPr>
          <a:xfrm flipV="1">
            <a:off x="1807693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30"/>
          <p:cNvSpPr/>
          <p:nvPr/>
        </p:nvSpPr>
        <p:spPr>
          <a:xfrm flipV="1">
            <a:off x="2199437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31"/>
          <p:cNvSpPr/>
          <p:nvPr/>
        </p:nvSpPr>
        <p:spPr>
          <a:xfrm flipV="1">
            <a:off x="2591181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32"/>
          <p:cNvSpPr/>
          <p:nvPr/>
        </p:nvSpPr>
        <p:spPr>
          <a:xfrm flipV="1">
            <a:off x="2982925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33"/>
          <p:cNvSpPr/>
          <p:nvPr/>
        </p:nvSpPr>
        <p:spPr>
          <a:xfrm flipV="1">
            <a:off x="3374669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134"/>
          <p:cNvSpPr/>
          <p:nvPr/>
        </p:nvSpPr>
        <p:spPr>
          <a:xfrm flipV="1">
            <a:off x="3766414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mark135"/>
          <p:cNvSpPr/>
          <p:nvPr/>
        </p:nvSpPr>
        <p:spPr>
          <a:xfrm flipV="1">
            <a:off x="4158158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5-mark136"/>
          <p:cNvSpPr/>
          <p:nvPr/>
        </p:nvSpPr>
        <p:spPr>
          <a:xfrm flipV="1">
            <a:off x="4549902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37"/>
          <p:cNvSpPr/>
          <p:nvPr/>
        </p:nvSpPr>
        <p:spPr>
          <a:xfrm flipV="1">
            <a:off x="4941646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38"/>
          <p:cNvSpPr/>
          <p:nvPr/>
        </p:nvSpPr>
        <p:spPr>
          <a:xfrm flipV="1">
            <a:off x="5333390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39"/>
          <p:cNvSpPr/>
          <p:nvPr/>
        </p:nvSpPr>
        <p:spPr>
          <a:xfrm flipV="1">
            <a:off x="5725135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40"/>
          <p:cNvSpPr/>
          <p:nvPr/>
        </p:nvSpPr>
        <p:spPr>
          <a:xfrm flipV="1">
            <a:off x="6116879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41"/>
          <p:cNvSpPr/>
          <p:nvPr/>
        </p:nvSpPr>
        <p:spPr>
          <a:xfrm flipV="1">
            <a:off x="6508623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42"/>
          <p:cNvSpPr/>
          <p:nvPr/>
        </p:nvSpPr>
        <p:spPr>
          <a:xfrm flipV="1">
            <a:off x="6900367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43"/>
          <p:cNvSpPr/>
          <p:nvPr/>
        </p:nvSpPr>
        <p:spPr>
          <a:xfrm>
            <a:off x="632460" y="5730621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mark144"/>
          <p:cNvSpPr/>
          <p:nvPr/>
        </p:nvSpPr>
        <p:spPr>
          <a:xfrm>
            <a:off x="632460" y="5338877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5-mark145"/>
          <p:cNvSpPr/>
          <p:nvPr/>
        </p:nvSpPr>
        <p:spPr>
          <a:xfrm>
            <a:off x="632460" y="4947133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5-mark146"/>
          <p:cNvSpPr/>
          <p:nvPr/>
        </p:nvSpPr>
        <p:spPr>
          <a:xfrm>
            <a:off x="632460" y="4555388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5-mark147"/>
          <p:cNvSpPr/>
          <p:nvPr/>
        </p:nvSpPr>
        <p:spPr>
          <a:xfrm>
            <a:off x="632460" y="4163644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5-mark148"/>
          <p:cNvSpPr/>
          <p:nvPr/>
        </p:nvSpPr>
        <p:spPr>
          <a:xfrm>
            <a:off x="632460" y="3771900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5-mark149"/>
          <p:cNvSpPr/>
          <p:nvPr/>
        </p:nvSpPr>
        <p:spPr>
          <a:xfrm>
            <a:off x="632460" y="3380156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5-mark150"/>
          <p:cNvSpPr/>
          <p:nvPr/>
        </p:nvSpPr>
        <p:spPr>
          <a:xfrm>
            <a:off x="632460" y="2988412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5-mark151"/>
          <p:cNvSpPr/>
          <p:nvPr/>
        </p:nvSpPr>
        <p:spPr>
          <a:xfrm>
            <a:off x="632460" y="2596667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5-mark152"/>
          <p:cNvSpPr/>
          <p:nvPr/>
        </p:nvSpPr>
        <p:spPr>
          <a:xfrm>
            <a:off x="632460" y="2204923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5-mark153"/>
          <p:cNvSpPr/>
          <p:nvPr/>
        </p:nvSpPr>
        <p:spPr>
          <a:xfrm>
            <a:off x="632460" y="1813179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5-figure154" descr="전개도에서 옆면 네 개를 이으면 가로 14 cm(4 + 3 + 4 + 3), 세로 2 cm인 직사각형 하나가 됨. 위아래의 밑면은 4 cm × 3 cm"/>
          <p:cNvSpPr/>
          <p:nvPr/>
        </p:nvSpPr>
        <p:spPr>
          <a:xfrm>
            <a:off x="102420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05-mark155"/>
          <p:cNvSpPr/>
          <p:nvPr/>
        </p:nvSpPr>
        <p:spPr>
          <a:xfrm>
            <a:off x="2591181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5-mark156"/>
          <p:cNvSpPr/>
          <p:nvPr/>
        </p:nvSpPr>
        <p:spPr>
          <a:xfrm>
            <a:off x="376641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5-mark157"/>
          <p:cNvSpPr/>
          <p:nvPr/>
        </p:nvSpPr>
        <p:spPr>
          <a:xfrm>
            <a:off x="5333390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5-mark158"/>
          <p:cNvSpPr/>
          <p:nvPr/>
        </p:nvSpPr>
        <p:spPr>
          <a:xfrm>
            <a:off x="1024204" y="2204923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5-mark159"/>
          <p:cNvSpPr/>
          <p:nvPr/>
        </p:nvSpPr>
        <p:spPr>
          <a:xfrm>
            <a:off x="1024204" y="4163644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5-mark160"/>
          <p:cNvSpPr/>
          <p:nvPr/>
        </p:nvSpPr>
        <p:spPr>
          <a:xfrm>
            <a:off x="1024204" y="3380156"/>
            <a:ext cx="5484419" cy="783488"/>
          </a:xfrm>
          <a:custGeom>
            <a:avLst/>
            <a:gdLst/>
            <a:ahLst/>
            <a:cxnLst/>
            <a:rect l="l" t="t" r="r" b="b"/>
            <a:pathLst>
              <a:path w="5484419" h="783488">
                <a:moveTo>
                  <a:pt x="0" y="783488"/>
                </a:moveTo>
                <a:lnTo>
                  <a:pt x="5484419" y="783488"/>
                </a:lnTo>
                <a:lnTo>
                  <a:pt x="5484419" y="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44" name="S05-mark161"/>
          <p:cNvSpPr/>
          <p:nvPr/>
        </p:nvSpPr>
        <p:spPr>
          <a:xfrm>
            <a:off x="1024204" y="3928598"/>
            <a:ext cx="5484419" cy="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45" name="S05-label163"/>
          <p:cNvSpPr txBox="1"/>
          <p:nvPr/>
        </p:nvSpPr>
        <p:spPr>
          <a:xfrm>
            <a:off x="1479017" y="261791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46" name="S05-label165"/>
          <p:cNvSpPr txBox="1"/>
          <p:nvPr/>
        </p:nvSpPr>
        <p:spPr>
          <a:xfrm>
            <a:off x="1479017" y="457663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47" name="S05-label167"/>
          <p:cNvSpPr txBox="1"/>
          <p:nvPr/>
        </p:nvSpPr>
        <p:spPr>
          <a:xfrm>
            <a:off x="2969514" y="2931310"/>
            <a:ext cx="31607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+ 4 + 3 = 14 (cm)</a:t>
            </a:r>
            <a:endParaRPr lang="ko-KR" sz="2200" dirty="0"/>
          </a:p>
        </p:txBody>
      </p:sp>
      <p:sp>
        <p:nvSpPr>
          <p:cNvPr id="48" name="S05-card168"/>
          <p:cNvSpPr/>
          <p:nvPr/>
        </p:nvSpPr>
        <p:spPr>
          <a:xfrm>
            <a:off x="7349947" y="1602740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9" name="S05-cardtext169"/>
          <p:cNvSpPr txBox="1"/>
          <p:nvPr/>
        </p:nvSpPr>
        <p:spPr>
          <a:xfrm>
            <a:off x="7624267" y="1739900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가로는 밑면의 둘레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2 = 28</a:t>
            </a:r>
            <a:endParaRPr lang="ko-KR" sz="2800" dirty="0"/>
          </a:p>
        </p:txBody>
      </p:sp>
      <p:sp>
        <p:nvSpPr>
          <p:cNvPr id="50" name="S05-card170"/>
          <p:cNvSpPr/>
          <p:nvPr/>
        </p:nvSpPr>
        <p:spPr>
          <a:xfrm>
            <a:off x="7349947" y="3352292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1" name="S05-cardtext171"/>
          <p:cNvSpPr txBox="1"/>
          <p:nvPr/>
        </p:nvSpPr>
        <p:spPr>
          <a:xfrm>
            <a:off x="7624267" y="3489452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2 = 24</a:t>
            </a:r>
            <a:endParaRPr lang="ko-KR" sz="2800" dirty="0"/>
          </a:p>
        </p:txBody>
      </p:sp>
      <p:sp>
        <p:nvSpPr>
          <p:cNvPr id="52" name="S05-card172"/>
          <p:cNvSpPr/>
          <p:nvPr/>
        </p:nvSpPr>
        <p:spPr>
          <a:xfrm>
            <a:off x="7349947" y="4760976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3" name="S05-cardtext173"/>
          <p:cNvSpPr txBox="1"/>
          <p:nvPr/>
        </p:nvSpPr>
        <p:spPr>
          <a:xfrm>
            <a:off x="7624267" y="4898136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+ 28 = 52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4 cm, 세로 3 cm, 높이 2 cm인 직육면체의 겉넓이는?</a:t>
            </a:r>
            <a:endParaRPr lang="ko-KR" sz="2800" dirty="0"/>
          </a:p>
        </p:txBody>
      </p:sp>
      <p:sp>
        <p:nvSpPr>
          <p:cNvPr id="5" name="S06-card1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토끼는 무엇을 빠뜨렸나요?</a:t>
            </a:r>
            <a:endParaRPr lang="ko-KR" sz="2800" dirty="0"/>
          </a:p>
        </p:txBody>
      </p:sp>
      <p:sp>
        <p:nvSpPr>
          <p:cNvPr id="7" name="S06-chip17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26 cm²</a:t>
            </a:r>
            <a:endParaRPr lang="ko-KR" sz="2200" dirty="0"/>
          </a:p>
        </p:txBody>
      </p:sp>
      <p:sp>
        <p:nvSpPr>
          <p:cNvPr id="8" name="S06-text17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“12 + 8 + 6 = 26이에요.”</a:t>
            </a:r>
            <a:endParaRPr lang="ko-KR" sz="2800" dirty="0"/>
          </a:p>
        </p:txBody>
      </p:sp>
      <p:sp>
        <p:nvSpPr>
          <p:cNvPr id="9" name="S06-chip18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52 cm²</a:t>
            </a:r>
            <a:endParaRPr lang="ko-KR" sz="2200" dirty="0"/>
          </a:p>
        </p:txBody>
      </p:sp>
      <p:sp>
        <p:nvSpPr>
          <p:cNvPr id="10" name="S06-text18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“(12 + 8 + 6) × 2 = 52예요.”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구해 봐요</a:t>
            </a:r>
            <a:endParaRPr lang="ko-KR" sz="4000" dirty="0"/>
          </a:p>
        </p:txBody>
      </p:sp>
      <p:sp>
        <p:nvSpPr>
          <p:cNvPr id="3" name="S07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같은 면이 2개씩 3쌍이에요.</a:t>
            </a:r>
            <a:endParaRPr lang="ko-KR" sz="2800" dirty="0"/>
          </a:p>
        </p:txBody>
      </p:sp>
      <p:sp>
        <p:nvSpPr>
          <p:cNvPr id="5" name="S07-figure184" descr="가로 5 cm, 세로 4 cm, 높이 3 cm인 직육면체"/>
          <p:cNvSpPr/>
          <p:nvPr/>
        </p:nvSpPr>
        <p:spPr>
          <a:xfrm>
            <a:off x="6778041" y="2512726"/>
            <a:ext cx="2732824" cy="1639694"/>
          </a:xfrm>
          <a:custGeom>
            <a:avLst/>
            <a:gdLst/>
            <a:ahLst/>
            <a:cxnLst/>
            <a:rect l="l" t="t" r="r" b="b"/>
            <a:pathLst>
              <a:path w="2732824" h="1639694">
                <a:moveTo>
                  <a:pt x="0" y="1639694"/>
                </a:moveTo>
                <a:lnTo>
                  <a:pt x="2732824" y="1639694"/>
                </a:lnTo>
                <a:lnTo>
                  <a:pt x="2732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185"/>
          <p:cNvSpPr/>
          <p:nvPr/>
        </p:nvSpPr>
        <p:spPr>
          <a:xfrm>
            <a:off x="6778041" y="1856848"/>
            <a:ext cx="3651052" cy="655878"/>
          </a:xfrm>
          <a:custGeom>
            <a:avLst/>
            <a:gdLst/>
            <a:ahLst/>
            <a:cxnLst/>
            <a:rect l="l" t="t" r="r" b="b"/>
            <a:pathLst>
              <a:path w="3651052" h="655878">
                <a:moveTo>
                  <a:pt x="0" y="655878"/>
                </a:moveTo>
                <a:lnTo>
                  <a:pt x="2732824" y="655878"/>
                </a:lnTo>
                <a:lnTo>
                  <a:pt x="3651052" y="0"/>
                </a:lnTo>
                <a:lnTo>
                  <a:pt x="918229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86"/>
          <p:cNvSpPr/>
          <p:nvPr/>
        </p:nvSpPr>
        <p:spPr>
          <a:xfrm>
            <a:off x="9510864" y="1856848"/>
            <a:ext cx="918229" cy="2295572"/>
          </a:xfrm>
          <a:custGeom>
            <a:avLst/>
            <a:gdLst/>
            <a:ahLst/>
            <a:cxnLst/>
            <a:rect l="l" t="t" r="r" b="b"/>
            <a:pathLst>
              <a:path w="918229" h="2295572">
                <a:moveTo>
                  <a:pt x="0" y="2295572"/>
                </a:moveTo>
                <a:lnTo>
                  <a:pt x="918229" y="1639694"/>
                </a:lnTo>
                <a:lnTo>
                  <a:pt x="918229" y="0"/>
                </a:lnTo>
                <a:lnTo>
                  <a:pt x="0" y="655878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187"/>
          <p:cNvSpPr/>
          <p:nvPr/>
        </p:nvSpPr>
        <p:spPr>
          <a:xfrm>
            <a:off x="7696270" y="3496542"/>
            <a:ext cx="273282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7-mark188"/>
          <p:cNvSpPr/>
          <p:nvPr/>
        </p:nvSpPr>
        <p:spPr>
          <a:xfrm flipV="1">
            <a:off x="7696270" y="1856848"/>
            <a:ext cx="0" cy="163969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7-mark189"/>
          <p:cNvSpPr/>
          <p:nvPr/>
        </p:nvSpPr>
        <p:spPr>
          <a:xfrm flipH="1">
            <a:off x="6778041" y="3496542"/>
            <a:ext cx="918229" cy="65587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7-mark190"/>
          <p:cNvSpPr/>
          <p:nvPr/>
        </p:nvSpPr>
        <p:spPr>
          <a:xfrm>
            <a:off x="6778041" y="4152420"/>
            <a:ext cx="2732824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7-mark191"/>
          <p:cNvSpPr/>
          <p:nvPr/>
        </p:nvSpPr>
        <p:spPr>
          <a:xfrm flipV="1">
            <a:off x="9510864" y="3496542"/>
            <a:ext cx="918229" cy="655878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7-mark192"/>
          <p:cNvSpPr/>
          <p:nvPr/>
        </p:nvSpPr>
        <p:spPr>
          <a:xfrm flipV="1">
            <a:off x="10429093" y="1856848"/>
            <a:ext cx="0" cy="1639694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7-label194"/>
          <p:cNvSpPr txBox="1"/>
          <p:nvPr/>
        </p:nvSpPr>
        <p:spPr>
          <a:xfrm>
            <a:off x="7762691" y="42292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</a:t>
            </a:r>
            <a:endParaRPr lang="ko-KR" sz="2200" dirty="0"/>
          </a:p>
        </p:txBody>
      </p:sp>
      <p:sp>
        <p:nvSpPr>
          <p:cNvPr id="15" name="S07-label196"/>
          <p:cNvSpPr txBox="1"/>
          <p:nvPr/>
        </p:nvSpPr>
        <p:spPr>
          <a:xfrm>
            <a:off x="9818169" y="397178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6" name="S07-label198"/>
          <p:cNvSpPr txBox="1"/>
          <p:nvPr/>
        </p:nvSpPr>
        <p:spPr>
          <a:xfrm>
            <a:off x="10432903" y="250207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7" name="S07-chip19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7-text20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세 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 각각?</a:t>
            </a:r>
            <a:endParaRPr lang="ko-KR" sz="2800" dirty="0"/>
          </a:p>
        </p:txBody>
      </p:sp>
      <p:sp>
        <p:nvSpPr>
          <p:cNvPr id="19" name="S07-chip20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7-text20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겉넓이는?</a:t>
            </a:r>
            <a:endParaRPr lang="ko-KR" sz="2800" dirty="0"/>
          </a:p>
        </p:txBody>
      </p:sp>
      <p:sp>
        <p:nvSpPr>
          <p:cNvPr id="21" name="S07-chip20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7-text20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둘레를 이용해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구해 보면?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정육면체의 겉넓이</a:t>
            </a:r>
            <a:endParaRPr lang="ko-KR" sz="4000" dirty="0"/>
          </a:p>
        </p:txBody>
      </p:sp>
      <p:sp>
        <p:nvSpPr>
          <p:cNvPr id="3" name="S08-text2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3 cm인 정육면체의 전개도예요.</a:t>
            </a:r>
            <a:endParaRPr lang="ko-KR" sz="2800" dirty="0"/>
          </a:p>
        </p:txBody>
      </p:sp>
      <p:sp>
        <p:nvSpPr>
          <p:cNvPr id="4" name="S08-mark206"/>
          <p:cNvSpPr/>
          <p:nvPr/>
        </p:nvSpPr>
        <p:spPr>
          <a:xfrm>
            <a:off x="2396829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8-mark207"/>
          <p:cNvSpPr/>
          <p:nvPr/>
        </p:nvSpPr>
        <p:spPr>
          <a:xfrm>
            <a:off x="2396829" y="2462645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8-mark208"/>
          <p:cNvSpPr/>
          <p:nvPr/>
        </p:nvSpPr>
        <p:spPr>
          <a:xfrm>
            <a:off x="2396829" y="4665518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8-mark209"/>
          <p:cNvSpPr/>
          <p:nvPr/>
        </p:nvSpPr>
        <p:spPr>
          <a:xfrm>
            <a:off x="1295393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8-mark210"/>
          <p:cNvSpPr/>
          <p:nvPr/>
        </p:nvSpPr>
        <p:spPr>
          <a:xfrm>
            <a:off x="3498266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8-mark211"/>
          <p:cNvSpPr/>
          <p:nvPr/>
        </p:nvSpPr>
        <p:spPr>
          <a:xfrm>
            <a:off x="4599702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08-mark212"/>
          <p:cNvSpPr/>
          <p:nvPr/>
        </p:nvSpPr>
        <p:spPr>
          <a:xfrm flipV="1">
            <a:off x="928248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13"/>
          <p:cNvSpPr/>
          <p:nvPr/>
        </p:nvSpPr>
        <p:spPr>
          <a:xfrm flipV="1">
            <a:off x="12953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14"/>
          <p:cNvSpPr/>
          <p:nvPr/>
        </p:nvSpPr>
        <p:spPr>
          <a:xfrm flipV="1">
            <a:off x="166253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15"/>
          <p:cNvSpPr/>
          <p:nvPr/>
        </p:nvSpPr>
        <p:spPr>
          <a:xfrm flipV="1">
            <a:off x="2029684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16"/>
          <p:cNvSpPr/>
          <p:nvPr/>
        </p:nvSpPr>
        <p:spPr>
          <a:xfrm flipV="1">
            <a:off x="239682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17"/>
          <p:cNvSpPr/>
          <p:nvPr/>
        </p:nvSpPr>
        <p:spPr>
          <a:xfrm flipV="1">
            <a:off x="2763975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18"/>
          <p:cNvSpPr/>
          <p:nvPr/>
        </p:nvSpPr>
        <p:spPr>
          <a:xfrm flipV="1">
            <a:off x="3131120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19"/>
          <p:cNvSpPr/>
          <p:nvPr/>
        </p:nvSpPr>
        <p:spPr>
          <a:xfrm flipV="1">
            <a:off x="3498266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220"/>
          <p:cNvSpPr/>
          <p:nvPr/>
        </p:nvSpPr>
        <p:spPr>
          <a:xfrm flipV="1">
            <a:off x="3865411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221"/>
          <p:cNvSpPr/>
          <p:nvPr/>
        </p:nvSpPr>
        <p:spPr>
          <a:xfrm flipV="1">
            <a:off x="4232557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222"/>
          <p:cNvSpPr/>
          <p:nvPr/>
        </p:nvSpPr>
        <p:spPr>
          <a:xfrm flipV="1">
            <a:off x="4599702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mark223"/>
          <p:cNvSpPr/>
          <p:nvPr/>
        </p:nvSpPr>
        <p:spPr>
          <a:xfrm flipV="1">
            <a:off x="4966848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8-mark224"/>
          <p:cNvSpPr/>
          <p:nvPr/>
        </p:nvSpPr>
        <p:spPr>
          <a:xfrm flipV="1">
            <a:off x="53339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8-mark225"/>
          <p:cNvSpPr/>
          <p:nvPr/>
        </p:nvSpPr>
        <p:spPr>
          <a:xfrm flipV="1">
            <a:off x="570113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8-mark226"/>
          <p:cNvSpPr/>
          <p:nvPr/>
        </p:nvSpPr>
        <p:spPr>
          <a:xfrm flipV="1">
            <a:off x="6068284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8-mark227"/>
          <p:cNvSpPr/>
          <p:nvPr/>
        </p:nvSpPr>
        <p:spPr>
          <a:xfrm>
            <a:off x="928248" y="6134100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8-mark228"/>
          <p:cNvSpPr/>
          <p:nvPr/>
        </p:nvSpPr>
        <p:spPr>
          <a:xfrm>
            <a:off x="928248" y="5766955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8-mark229"/>
          <p:cNvSpPr/>
          <p:nvPr/>
        </p:nvSpPr>
        <p:spPr>
          <a:xfrm>
            <a:off x="928248" y="5399809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8-mark230"/>
          <p:cNvSpPr/>
          <p:nvPr/>
        </p:nvSpPr>
        <p:spPr>
          <a:xfrm>
            <a:off x="928248" y="5032664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8-mark231"/>
          <p:cNvSpPr/>
          <p:nvPr/>
        </p:nvSpPr>
        <p:spPr>
          <a:xfrm>
            <a:off x="928248" y="4665518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8-mark232"/>
          <p:cNvSpPr/>
          <p:nvPr/>
        </p:nvSpPr>
        <p:spPr>
          <a:xfrm>
            <a:off x="928248" y="4298373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8-mark233"/>
          <p:cNvSpPr/>
          <p:nvPr/>
        </p:nvSpPr>
        <p:spPr>
          <a:xfrm>
            <a:off x="928248" y="3931227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8-mark234"/>
          <p:cNvSpPr/>
          <p:nvPr/>
        </p:nvSpPr>
        <p:spPr>
          <a:xfrm>
            <a:off x="928248" y="3564082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8-mark235"/>
          <p:cNvSpPr/>
          <p:nvPr/>
        </p:nvSpPr>
        <p:spPr>
          <a:xfrm>
            <a:off x="928248" y="3196936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8-mark236"/>
          <p:cNvSpPr/>
          <p:nvPr/>
        </p:nvSpPr>
        <p:spPr>
          <a:xfrm>
            <a:off x="928248" y="2829791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8-mark237"/>
          <p:cNvSpPr/>
          <p:nvPr/>
        </p:nvSpPr>
        <p:spPr>
          <a:xfrm>
            <a:off x="928248" y="2462645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8-mark238"/>
          <p:cNvSpPr/>
          <p:nvPr/>
        </p:nvSpPr>
        <p:spPr>
          <a:xfrm>
            <a:off x="928248" y="2095500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8-figure239" descr="한 모서리가 3 cm인 정육면체의 전개도(모눈 위): 넓이 9 cm²인 정사각형 6개"/>
          <p:cNvSpPr/>
          <p:nvPr/>
        </p:nvSpPr>
        <p:spPr>
          <a:xfrm>
            <a:off x="2396829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08-mark240"/>
          <p:cNvSpPr/>
          <p:nvPr/>
        </p:nvSpPr>
        <p:spPr>
          <a:xfrm>
            <a:off x="2396829" y="2462645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8-mark241"/>
          <p:cNvSpPr/>
          <p:nvPr/>
        </p:nvSpPr>
        <p:spPr>
          <a:xfrm>
            <a:off x="2396829" y="4665518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8-mark242"/>
          <p:cNvSpPr/>
          <p:nvPr/>
        </p:nvSpPr>
        <p:spPr>
          <a:xfrm>
            <a:off x="1295393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8-mark243"/>
          <p:cNvSpPr/>
          <p:nvPr/>
        </p:nvSpPr>
        <p:spPr>
          <a:xfrm>
            <a:off x="3498266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8-mark244"/>
          <p:cNvSpPr/>
          <p:nvPr/>
        </p:nvSpPr>
        <p:spPr>
          <a:xfrm>
            <a:off x="4599702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8-label246"/>
          <p:cNvSpPr txBox="1"/>
          <p:nvPr/>
        </p:nvSpPr>
        <p:spPr>
          <a:xfrm>
            <a:off x="2800482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4" name="S08-label248"/>
          <p:cNvSpPr txBox="1"/>
          <p:nvPr/>
        </p:nvSpPr>
        <p:spPr>
          <a:xfrm>
            <a:off x="2800482" y="283873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5" name="S08-label250"/>
          <p:cNvSpPr txBox="1"/>
          <p:nvPr/>
        </p:nvSpPr>
        <p:spPr>
          <a:xfrm>
            <a:off x="2800482" y="504161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6" name="S08-label252"/>
          <p:cNvSpPr txBox="1"/>
          <p:nvPr/>
        </p:nvSpPr>
        <p:spPr>
          <a:xfrm>
            <a:off x="1699045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7" name="S08-label254"/>
          <p:cNvSpPr txBox="1"/>
          <p:nvPr/>
        </p:nvSpPr>
        <p:spPr>
          <a:xfrm>
            <a:off x="3901918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8" name="S08-label256"/>
          <p:cNvSpPr txBox="1"/>
          <p:nvPr/>
        </p:nvSpPr>
        <p:spPr>
          <a:xfrm>
            <a:off x="5003354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9" name="S08-card257"/>
          <p:cNvSpPr/>
          <p:nvPr/>
        </p:nvSpPr>
        <p:spPr>
          <a:xfrm>
            <a:off x="6813652" y="2976118"/>
            <a:ext cx="4826660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0" name="S08-cardtext258"/>
          <p:cNvSpPr txBox="1"/>
          <p:nvPr/>
        </p:nvSpPr>
        <p:spPr>
          <a:xfrm>
            <a:off x="7087972" y="3113278"/>
            <a:ext cx="4278020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면이 모두 합동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면의 넓이 × 6</a:t>
            </a:r>
            <a:endParaRPr lang="ko-KR" sz="2800" dirty="0"/>
          </a:p>
        </p:txBody>
      </p:sp>
      <p:sp>
        <p:nvSpPr>
          <p:cNvPr id="51" name="S08-card259"/>
          <p:cNvSpPr/>
          <p:nvPr/>
        </p:nvSpPr>
        <p:spPr>
          <a:xfrm>
            <a:off x="6813652" y="4384802"/>
            <a:ext cx="4826660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2" name="S08-cardtext260"/>
          <p:cNvSpPr txBox="1"/>
          <p:nvPr/>
        </p:nvSpPr>
        <p:spPr>
          <a:xfrm>
            <a:off x="7087972" y="4521962"/>
            <a:ext cx="4278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3 × 6 = 54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 구하기</a:t>
            </a:r>
            <a:endParaRPr lang="ko-KR" sz="4000" dirty="0"/>
          </a:p>
        </p:txBody>
      </p:sp>
      <p:sp>
        <p:nvSpPr>
          <p:cNvPr id="3" name="S09-text2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겉넓이를 구해요.</a:t>
            </a:r>
            <a:endParaRPr lang="ko-KR" sz="2800" dirty="0"/>
          </a:p>
        </p:txBody>
      </p:sp>
      <p:sp>
        <p:nvSpPr>
          <p:cNvPr id="4" name="S09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정육면체는 한 면 × 6, 직육면체는 세 면의 합 × 2</a:t>
            </a:r>
            <a:endParaRPr lang="ko-KR" sz="2800" dirty="0"/>
          </a:p>
        </p:txBody>
      </p:sp>
      <p:sp>
        <p:nvSpPr>
          <p:cNvPr id="6" name="S09-chip26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26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5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8" name="S09-chip26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26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10 cm, 세로 6 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4 cm인 직육면체</a:t>
            </a:r>
            <a:endParaRPr lang="ko-KR" sz="2800" dirty="0"/>
          </a:p>
        </p:txBody>
      </p:sp>
      <p:sp>
        <p:nvSpPr>
          <p:cNvPr id="10" name="S09-chip26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26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면의 넓이가 16 cm²인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2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겉넓이를 구하고, 어떻게 구했는지 말해요.</a:t>
            </a:r>
            <a:endParaRPr lang="ko-KR" sz="2800" dirty="0"/>
          </a:p>
        </p:txBody>
      </p:sp>
      <p:sp>
        <p:nvSpPr>
          <p:cNvPr id="4" name="S10-mark271"/>
          <p:cNvSpPr/>
          <p:nvPr/>
        </p:nvSpPr>
        <p:spPr>
          <a:xfrm>
            <a:off x="6685883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10-mark272"/>
          <p:cNvSpPr/>
          <p:nvPr/>
        </p:nvSpPr>
        <p:spPr>
          <a:xfrm>
            <a:off x="830942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0-mark273"/>
          <p:cNvSpPr/>
          <p:nvPr/>
        </p:nvSpPr>
        <p:spPr>
          <a:xfrm>
            <a:off x="8958834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0-mark274"/>
          <p:cNvSpPr/>
          <p:nvPr/>
        </p:nvSpPr>
        <p:spPr>
          <a:xfrm>
            <a:off x="1058237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10-mark275"/>
          <p:cNvSpPr/>
          <p:nvPr/>
        </p:nvSpPr>
        <p:spPr>
          <a:xfrm>
            <a:off x="6685883" y="2978325"/>
            <a:ext cx="1623536" cy="649415"/>
          </a:xfrm>
          <a:custGeom>
            <a:avLst/>
            <a:gdLst/>
            <a:ahLst/>
            <a:cxnLst/>
            <a:rect l="l" t="t" r="r" b="b"/>
            <a:pathLst>
              <a:path w="1623536" h="649415">
                <a:moveTo>
                  <a:pt x="0" y="649415"/>
                </a:moveTo>
                <a:lnTo>
                  <a:pt x="1623536" y="649415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10-mark276"/>
          <p:cNvSpPr/>
          <p:nvPr/>
        </p:nvSpPr>
        <p:spPr>
          <a:xfrm>
            <a:off x="6685883" y="4601861"/>
            <a:ext cx="1623536" cy="649414"/>
          </a:xfrm>
          <a:custGeom>
            <a:avLst/>
            <a:gdLst/>
            <a:ahLst/>
            <a:cxnLst/>
            <a:rect l="l" t="t" r="r" b="b"/>
            <a:pathLst>
              <a:path w="1623536" h="649414">
                <a:moveTo>
                  <a:pt x="0" y="649414"/>
                </a:moveTo>
                <a:lnTo>
                  <a:pt x="1623536" y="649414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10-mark277"/>
          <p:cNvSpPr/>
          <p:nvPr/>
        </p:nvSpPr>
        <p:spPr>
          <a:xfrm flipV="1">
            <a:off x="6361176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278"/>
          <p:cNvSpPr/>
          <p:nvPr/>
        </p:nvSpPr>
        <p:spPr>
          <a:xfrm flipV="1">
            <a:off x="6685883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279"/>
          <p:cNvSpPr/>
          <p:nvPr/>
        </p:nvSpPr>
        <p:spPr>
          <a:xfrm flipV="1">
            <a:off x="7010591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280"/>
          <p:cNvSpPr/>
          <p:nvPr/>
        </p:nvSpPr>
        <p:spPr>
          <a:xfrm flipV="1">
            <a:off x="7335298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281"/>
          <p:cNvSpPr/>
          <p:nvPr/>
        </p:nvSpPr>
        <p:spPr>
          <a:xfrm flipV="1">
            <a:off x="7660005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mark282"/>
          <p:cNvSpPr/>
          <p:nvPr/>
        </p:nvSpPr>
        <p:spPr>
          <a:xfrm flipV="1">
            <a:off x="7984712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0-mark283"/>
          <p:cNvSpPr/>
          <p:nvPr/>
        </p:nvSpPr>
        <p:spPr>
          <a:xfrm flipV="1">
            <a:off x="8309420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0-mark284"/>
          <p:cNvSpPr/>
          <p:nvPr/>
        </p:nvSpPr>
        <p:spPr>
          <a:xfrm flipV="1">
            <a:off x="8634127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0-mark285"/>
          <p:cNvSpPr/>
          <p:nvPr/>
        </p:nvSpPr>
        <p:spPr>
          <a:xfrm flipV="1">
            <a:off x="8958834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0-mark286"/>
          <p:cNvSpPr/>
          <p:nvPr/>
        </p:nvSpPr>
        <p:spPr>
          <a:xfrm flipV="1">
            <a:off x="9283541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287"/>
          <p:cNvSpPr/>
          <p:nvPr/>
        </p:nvSpPr>
        <p:spPr>
          <a:xfrm flipV="1">
            <a:off x="9608249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288"/>
          <p:cNvSpPr/>
          <p:nvPr/>
        </p:nvSpPr>
        <p:spPr>
          <a:xfrm flipV="1">
            <a:off x="9932956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289"/>
          <p:cNvSpPr/>
          <p:nvPr/>
        </p:nvSpPr>
        <p:spPr>
          <a:xfrm flipV="1">
            <a:off x="10257663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290"/>
          <p:cNvSpPr/>
          <p:nvPr/>
        </p:nvSpPr>
        <p:spPr>
          <a:xfrm flipV="1">
            <a:off x="10582370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291"/>
          <p:cNvSpPr/>
          <p:nvPr/>
        </p:nvSpPr>
        <p:spPr>
          <a:xfrm flipV="1">
            <a:off x="10907078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292"/>
          <p:cNvSpPr/>
          <p:nvPr/>
        </p:nvSpPr>
        <p:spPr>
          <a:xfrm flipV="1">
            <a:off x="11231785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293"/>
          <p:cNvSpPr/>
          <p:nvPr/>
        </p:nvSpPr>
        <p:spPr>
          <a:xfrm flipV="1">
            <a:off x="11556492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mark294"/>
          <p:cNvSpPr/>
          <p:nvPr/>
        </p:nvSpPr>
        <p:spPr>
          <a:xfrm>
            <a:off x="6361176" y="5575983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0-mark295"/>
          <p:cNvSpPr/>
          <p:nvPr/>
        </p:nvSpPr>
        <p:spPr>
          <a:xfrm>
            <a:off x="6361176" y="5251275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0-mark296"/>
          <p:cNvSpPr/>
          <p:nvPr/>
        </p:nvSpPr>
        <p:spPr>
          <a:xfrm>
            <a:off x="6361176" y="4926568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0-mark297"/>
          <p:cNvSpPr/>
          <p:nvPr/>
        </p:nvSpPr>
        <p:spPr>
          <a:xfrm>
            <a:off x="6361176" y="4601861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0-mark298"/>
          <p:cNvSpPr/>
          <p:nvPr/>
        </p:nvSpPr>
        <p:spPr>
          <a:xfrm>
            <a:off x="6361176" y="4277154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mark299"/>
          <p:cNvSpPr/>
          <p:nvPr/>
        </p:nvSpPr>
        <p:spPr>
          <a:xfrm>
            <a:off x="6361176" y="3952446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0-mark300"/>
          <p:cNvSpPr/>
          <p:nvPr/>
        </p:nvSpPr>
        <p:spPr>
          <a:xfrm>
            <a:off x="6361176" y="3627739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0-mark301"/>
          <p:cNvSpPr/>
          <p:nvPr/>
        </p:nvSpPr>
        <p:spPr>
          <a:xfrm>
            <a:off x="6361176" y="3303032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0-mark302"/>
          <p:cNvSpPr/>
          <p:nvPr/>
        </p:nvSpPr>
        <p:spPr>
          <a:xfrm>
            <a:off x="6361176" y="2978325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0-mark303"/>
          <p:cNvSpPr/>
          <p:nvPr/>
        </p:nvSpPr>
        <p:spPr>
          <a:xfrm>
            <a:off x="6361176" y="2653617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0-figure304" descr="모눈 위 직육면체의 전개도: 가로 5칸·세로 2칸인 면 2개, 가로 5칸·세로 3칸인 면 2개, 가로 2칸·세로 3칸인 면 2개"/>
          <p:cNvSpPr/>
          <p:nvPr/>
        </p:nvSpPr>
        <p:spPr>
          <a:xfrm>
            <a:off x="6685883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10-mark305"/>
          <p:cNvSpPr/>
          <p:nvPr/>
        </p:nvSpPr>
        <p:spPr>
          <a:xfrm>
            <a:off x="830942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10-mark306"/>
          <p:cNvSpPr/>
          <p:nvPr/>
        </p:nvSpPr>
        <p:spPr>
          <a:xfrm>
            <a:off x="8958834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0-mark307"/>
          <p:cNvSpPr/>
          <p:nvPr/>
        </p:nvSpPr>
        <p:spPr>
          <a:xfrm>
            <a:off x="1058237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10-mark308"/>
          <p:cNvSpPr/>
          <p:nvPr/>
        </p:nvSpPr>
        <p:spPr>
          <a:xfrm>
            <a:off x="6685883" y="2978325"/>
            <a:ext cx="1623536" cy="649415"/>
          </a:xfrm>
          <a:custGeom>
            <a:avLst/>
            <a:gdLst/>
            <a:ahLst/>
            <a:cxnLst/>
            <a:rect l="l" t="t" r="r" b="b"/>
            <a:pathLst>
              <a:path w="1623536" h="649415">
                <a:moveTo>
                  <a:pt x="0" y="649415"/>
                </a:moveTo>
                <a:lnTo>
                  <a:pt x="1623536" y="649415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10-mark309"/>
          <p:cNvSpPr/>
          <p:nvPr/>
        </p:nvSpPr>
        <p:spPr>
          <a:xfrm>
            <a:off x="6685883" y="4601861"/>
            <a:ext cx="1623536" cy="649414"/>
          </a:xfrm>
          <a:custGeom>
            <a:avLst/>
            <a:gdLst/>
            <a:ahLst/>
            <a:cxnLst/>
            <a:rect l="l" t="t" r="r" b="b"/>
            <a:pathLst>
              <a:path w="1623536" h="649414">
                <a:moveTo>
                  <a:pt x="0" y="649414"/>
                </a:moveTo>
                <a:lnTo>
                  <a:pt x="1623536" y="649414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10-chip31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4" name="S10-text31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전개도로 만든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직육면체(한 칸 1 cm²)</a:t>
            </a:r>
            <a:endParaRPr lang="ko-KR" sz="2800" dirty="0"/>
          </a:p>
        </p:txBody>
      </p:sp>
      <p:sp>
        <p:nvSpPr>
          <p:cNvPr id="45" name="S10-chip31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6" name="S10-text31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6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47" name="S10-chip3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8" name="S10-text31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8 cm, 세로 5 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2 cm인 직육면체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식을 모두 골라요</a:t>
            </a:r>
            <a:endParaRPr lang="ko-KR" sz="4000" dirty="0"/>
          </a:p>
        </p:txBody>
      </p:sp>
      <p:sp>
        <p:nvSpPr>
          <p:cNvPr id="3" name="S12-text3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4 cm, 세로 3 cm, 높이 2 cm인 직육면체의 겉넓이</a:t>
            </a:r>
            <a:endParaRPr lang="ko-KR" sz="2800" dirty="0"/>
          </a:p>
        </p:txBody>
      </p:sp>
      <p:sp>
        <p:nvSpPr>
          <p:cNvPr id="4" name="S12-card3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3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식을 모두 고르고, 그 식이 무엇을 구하는지 말해요.</a:t>
            </a:r>
            <a:endParaRPr lang="ko-KR" sz="2800" dirty="0"/>
          </a:p>
        </p:txBody>
      </p:sp>
      <p:sp>
        <p:nvSpPr>
          <p:cNvPr id="6" name="S12-chip319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2-card320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321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 × 3 + 4 × 2 + 3 × 2)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</a:t>
            </a:r>
            <a:endParaRPr lang="ko-KR" sz="2200" dirty="0"/>
          </a:p>
        </p:txBody>
      </p:sp>
      <p:sp>
        <p:nvSpPr>
          <p:cNvPr id="9" name="S12-chip322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2-card323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324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× 2</a:t>
            </a:r>
            <a:endParaRPr lang="ko-KR" sz="2800" dirty="0"/>
          </a:p>
        </p:txBody>
      </p:sp>
      <p:sp>
        <p:nvSpPr>
          <p:cNvPr id="12" name="S12-chip325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2-card326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327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× 2 +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 + 3 + 4 + 3) × 2</a:t>
            </a:r>
            <a:endParaRPr lang="ko-KR" sz="2800" dirty="0"/>
          </a:p>
        </p:txBody>
      </p:sp>
      <p:sp>
        <p:nvSpPr>
          <p:cNvPr id="15" name="S12-chip328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2-card329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2-cardtext330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+ 4 × 2 + 3 ×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33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3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겉넓이는 여섯 면의 넓이의 합이에요. (세 면의 합) × 2, 정육면체는 (한 면) × 6</a:t>
            </a:r>
            <a:endParaRPr lang="ko-KR" sz="2800" dirty="0"/>
          </a:p>
        </p:txBody>
      </p:sp>
      <p:sp>
        <p:nvSpPr>
          <p:cNvPr id="5" name="S13-chip33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합동인 면 세 쌍을 짝짓기</a:t>
            </a:r>
            <a:endParaRPr lang="ko-KR" sz="2200" dirty="0"/>
          </a:p>
        </p:txBody>
      </p:sp>
      <p:sp>
        <p:nvSpPr>
          <p:cNvPr id="6" name="S13-chip33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세 면만 더하고 끝내기</a:t>
            </a:r>
            <a:endParaRPr lang="ko-KR" sz="2200" dirty="0"/>
          </a:p>
        </p:txBody>
      </p:sp>
      <p:sp>
        <p:nvSpPr>
          <p:cNvPr id="7" name="S13-text33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33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모서리가 2 cm인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정육면체의 겉넓이는?</a:t>
            </a:r>
            <a:endParaRPr lang="ko-KR" sz="2200" dirty="0"/>
          </a:p>
        </p:txBody>
      </p:sp>
      <p:sp>
        <p:nvSpPr>
          <p:cNvPr id="9" name="S13-text33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가로 5 cm, 세로 2 cm,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1 cm인 직육면체의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겉넓이는?</a:t>
            </a:r>
            <a:endParaRPr lang="ko-KR" sz="2200" dirty="0"/>
          </a:p>
        </p:txBody>
      </p:sp>
      <p:sp>
        <p:nvSpPr>
          <p:cNvPr id="10" name="S13-text33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직육면체에서 합동인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면은 몇 쌍인가요?</a:t>
            </a:r>
            <a:endParaRPr lang="ko-KR" sz="2200" dirty="0"/>
          </a:p>
        </p:txBody>
      </p:sp>
      <p:sp>
        <p:nvSpPr>
          <p:cNvPr id="11" name="S13-text33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직육면체의 부피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직사각형의 넓이</a:t>
            </a:r>
            <a:endParaRPr lang="ko-KR" sz="4000" dirty="0"/>
          </a:p>
        </p:txBody>
      </p:sp>
      <p:sp>
        <p:nvSpPr>
          <p:cNvPr id="3" name="S14-text3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1 cm²예요.</a:t>
            </a:r>
            <a:endParaRPr lang="ko-KR" sz="2800" dirty="0"/>
          </a:p>
        </p:txBody>
      </p:sp>
      <p:sp>
        <p:nvSpPr>
          <p:cNvPr id="4" name="S14-cell341"/>
          <p:cNvSpPr/>
          <p:nvPr/>
        </p:nvSpPr>
        <p:spPr>
          <a:xfrm>
            <a:off x="15156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4-cell342"/>
          <p:cNvSpPr/>
          <p:nvPr/>
        </p:nvSpPr>
        <p:spPr>
          <a:xfrm>
            <a:off x="22014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cell343"/>
          <p:cNvSpPr/>
          <p:nvPr/>
        </p:nvSpPr>
        <p:spPr>
          <a:xfrm>
            <a:off x="28872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cell344"/>
          <p:cNvSpPr/>
          <p:nvPr/>
        </p:nvSpPr>
        <p:spPr>
          <a:xfrm>
            <a:off x="35730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cell345"/>
          <p:cNvSpPr/>
          <p:nvPr/>
        </p:nvSpPr>
        <p:spPr>
          <a:xfrm>
            <a:off x="42588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346"/>
          <p:cNvSpPr/>
          <p:nvPr/>
        </p:nvSpPr>
        <p:spPr>
          <a:xfrm>
            <a:off x="15156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347"/>
          <p:cNvSpPr/>
          <p:nvPr/>
        </p:nvSpPr>
        <p:spPr>
          <a:xfrm>
            <a:off x="22014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348"/>
          <p:cNvSpPr/>
          <p:nvPr/>
        </p:nvSpPr>
        <p:spPr>
          <a:xfrm>
            <a:off x="28872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349"/>
          <p:cNvSpPr/>
          <p:nvPr/>
        </p:nvSpPr>
        <p:spPr>
          <a:xfrm>
            <a:off x="35730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350"/>
          <p:cNvSpPr/>
          <p:nvPr/>
        </p:nvSpPr>
        <p:spPr>
          <a:xfrm>
            <a:off x="42588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351"/>
          <p:cNvSpPr/>
          <p:nvPr/>
        </p:nvSpPr>
        <p:spPr>
          <a:xfrm>
            <a:off x="15156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352"/>
          <p:cNvSpPr/>
          <p:nvPr/>
        </p:nvSpPr>
        <p:spPr>
          <a:xfrm>
            <a:off x="22014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cell353"/>
          <p:cNvSpPr/>
          <p:nvPr/>
        </p:nvSpPr>
        <p:spPr>
          <a:xfrm>
            <a:off x="28872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cell354"/>
          <p:cNvSpPr/>
          <p:nvPr/>
        </p:nvSpPr>
        <p:spPr>
          <a:xfrm>
            <a:off x="35730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4-cell355"/>
          <p:cNvSpPr/>
          <p:nvPr/>
        </p:nvSpPr>
        <p:spPr>
          <a:xfrm>
            <a:off x="42588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figure356" descr="가로 5칸, 세로 3칸인 직사각형: 15칸 모두 색칠"/>
          <p:cNvSpPr/>
          <p:nvPr/>
        </p:nvSpPr>
        <p:spPr>
          <a:xfrm>
            <a:off x="1515618" y="3086100"/>
            <a:ext cx="34290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4-card357"/>
          <p:cNvSpPr/>
          <p:nvPr/>
        </p:nvSpPr>
        <p:spPr>
          <a:xfrm>
            <a:off x="6277356" y="264998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14-cardtext358"/>
          <p:cNvSpPr txBox="1"/>
          <p:nvPr/>
        </p:nvSpPr>
        <p:spPr>
          <a:xfrm>
            <a:off x="6551676" y="278714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줄에 5칸씩 3줄</a:t>
            </a:r>
            <a:endParaRPr lang="ko-KR" sz="2800" dirty="0"/>
          </a:p>
        </p:txBody>
      </p:sp>
      <p:sp>
        <p:nvSpPr>
          <p:cNvPr id="22" name="S14-card359"/>
          <p:cNvSpPr/>
          <p:nvPr/>
        </p:nvSpPr>
        <p:spPr>
          <a:xfrm>
            <a:off x="6277356" y="405866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14-cardtext360"/>
          <p:cNvSpPr txBox="1"/>
          <p:nvPr/>
        </p:nvSpPr>
        <p:spPr>
          <a:xfrm>
            <a:off x="6551676" y="419582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× 세로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 = 15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직육면체의 겉넓이</dc:title>
  <dc:subject>KR22-G06-MAT-SURFACE-L01</dc:subject>
  <dc:creator>education-ppt</dc:creator>
  <cp:lastModifiedBy>education-ppt</cp:lastModifiedBy>
  <cp:revision>1</cp:revision>
  <dcterms:created xsi:type="dcterms:W3CDTF">2026-10-26T09:27:54Z</dcterms:created>
  <dcterms:modified xsi:type="dcterms:W3CDTF">2026-10-26T09:27:54Z</dcterms:modified>
</cp:coreProperties>
</file>