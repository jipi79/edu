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7a731b8-5e9e-71eb-2548-673c10f8abc6}">
          <p14:sldIdLst>
            <p14:sldId id="256"/>
            <p14:sldId id="257"/>
          </p14:sldIdLst>
        </p14:section>
        <p14:section name="개념" id="{cc23c482-d3d4-0d77-23b4-20aa3c61d6b1}">
          <p14:sldIdLst>
            <p14:sldId id="258"/>
            <p14:sldId id="260"/>
            <p14:sldId id="261"/>
            <p14:sldId id="262"/>
          </p14:sldIdLst>
        </p14:section>
        <p14:section name="연습" id="{e4f3d31c-bed2-23e1-ab91-f073444e2a23}">
          <p14:sldIdLst>
            <p14:sldId id="259"/>
            <p14:sldId id="263"/>
            <p14:sldId id="264"/>
            <p14:sldId id="265"/>
          </p14:sldIdLst>
        </p14:section>
        <p14:section name="개념" id="{c5f47efa-8409-3b72-5d21-9fd9e4f1329d}">
          <p14:sldIdLst/>
        </p14:section>
        <p14:section name="연습" id="{660293b8-7189-f6aa-681f-3e637cdc53ba}">
          <p14:sldIdLst/>
        </p14:section>
        <p14:section name="확인" id="{dac9d201-dbfd-d2c4-223d-ebc7fbda6914}">
          <p14:sldIdLst>
            <p14:sldId id="266"/>
            <p14:sldId id="267"/>
          </p14:sldIdLst>
        </p14:section>
        <p14:section name="정리" id="{759c9744-a6fb-c6fe-6645-be351d18e5fc}">
          <p14:sldIdLst>
            <p14:sldId id="268"/>
          </p14:sldIdLst>
        </p14:section>
        <p14:section name="보충" id="{0cd43c9d-4aa0-bddb-7215-f9e0e645ba0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쌓기나무와 공간 감각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쌓기나무까지 셀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쌓기나무 8개로 쌓은 모양: 왼쪽 뒤가 3층, 왼쪽 앞이 2층, 나머지는 1층"/>
          <p:cNvSpPr/>
          <p:nvPr/>
        </p:nvSpPr>
        <p:spPr>
          <a:xfrm>
            <a:off x="9212591" y="1726969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12591" y="1977736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1977736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778262" y="1977736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778262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212591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646920" y="1977736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9646920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081249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212591" y="1225435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212591" y="1476202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646920" y="1476202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212591" y="2228504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212591" y="2479271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9646920" y="2479271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8778262" y="1476202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8778262" y="1726969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9212591" y="1726969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9212591" y="723900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9212591" y="974667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9646920" y="974667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646920" y="2479271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>
            <a:off x="9646920" y="2730038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>
            <a:off x="10081249" y="2730038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1-card2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위·앞·옆에서 본 모양을 알아내요.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쌓기나무의 개수를 정확히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28" descr="쌓기나무 4개를 한 줄로 쌓은 모양: 1층에 3개, 맨 왼쪽 쌓기나무 위에 1개"/>
          <p:cNvSpPr/>
          <p:nvPr/>
        </p:nvSpPr>
        <p:spPr>
          <a:xfrm>
            <a:off x="7375093" y="28575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29"/>
          <p:cNvSpPr/>
          <p:nvPr/>
        </p:nvSpPr>
        <p:spPr>
          <a:xfrm>
            <a:off x="7375093" y="33147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30"/>
          <p:cNvSpPr/>
          <p:nvPr/>
        </p:nvSpPr>
        <p:spPr>
          <a:xfrm>
            <a:off x="8166964" y="33147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31"/>
          <p:cNvSpPr/>
          <p:nvPr/>
        </p:nvSpPr>
        <p:spPr>
          <a:xfrm>
            <a:off x="8166964" y="33147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2-mark32"/>
          <p:cNvSpPr/>
          <p:nvPr/>
        </p:nvSpPr>
        <p:spPr>
          <a:xfrm>
            <a:off x="8166964" y="37719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2-mark33"/>
          <p:cNvSpPr/>
          <p:nvPr/>
        </p:nvSpPr>
        <p:spPr>
          <a:xfrm>
            <a:off x="8958834" y="37719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2-mark34"/>
          <p:cNvSpPr/>
          <p:nvPr/>
        </p:nvSpPr>
        <p:spPr>
          <a:xfrm>
            <a:off x="7375093" y="19431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mark35"/>
          <p:cNvSpPr/>
          <p:nvPr/>
        </p:nvSpPr>
        <p:spPr>
          <a:xfrm>
            <a:off x="7375093" y="24003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mark36"/>
          <p:cNvSpPr/>
          <p:nvPr/>
        </p:nvSpPr>
        <p:spPr>
          <a:xfrm>
            <a:off x="8166964" y="24003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2-mark37"/>
          <p:cNvSpPr/>
          <p:nvPr/>
        </p:nvSpPr>
        <p:spPr>
          <a:xfrm>
            <a:off x="8958834" y="37719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2-mark38"/>
          <p:cNvSpPr/>
          <p:nvPr/>
        </p:nvSpPr>
        <p:spPr>
          <a:xfrm>
            <a:off x="8958834" y="42291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2-mark39"/>
          <p:cNvSpPr/>
          <p:nvPr/>
        </p:nvSpPr>
        <p:spPr>
          <a:xfrm>
            <a:off x="9750704" y="42291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2-chip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2-text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17" name="S02-chip4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2-text4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있는 쌓기나무는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19" name="S02-chip4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2-text4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보면 원, 앞에서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직사각형인 도형은?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위·앞·옆에서 본 모양</a:t>
            </a:r>
            <a:endParaRPr lang="ko-KR" sz="4000" dirty="0"/>
          </a:p>
        </p:txBody>
      </p:sp>
      <p:sp>
        <p:nvSpPr>
          <p:cNvPr id="3" name="S03-card46"/>
          <p:cNvSpPr/>
          <p:nvPr/>
        </p:nvSpPr>
        <p:spPr>
          <a:xfrm>
            <a:off x="548640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7"/>
          <p:cNvSpPr txBox="1"/>
          <p:nvPr/>
        </p:nvSpPr>
        <p:spPr>
          <a:xfrm>
            <a:off x="822960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아래쪽이 앞이에요.</a:t>
            </a:r>
            <a:endParaRPr lang="ko-KR" sz="2800" dirty="0"/>
          </a:p>
        </p:txBody>
      </p:sp>
      <p:sp>
        <p:nvSpPr>
          <p:cNvPr id="5" name="S03-card48"/>
          <p:cNvSpPr/>
          <p:nvPr/>
        </p:nvSpPr>
        <p:spPr>
          <a:xfrm>
            <a:off x="4322064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49"/>
          <p:cNvSpPr txBox="1"/>
          <p:nvPr/>
        </p:nvSpPr>
        <p:spPr>
          <a:xfrm>
            <a:off x="4596384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가장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층만큼</a:t>
            </a:r>
            <a:endParaRPr lang="ko-KR" sz="2800" dirty="0"/>
          </a:p>
        </p:txBody>
      </p:sp>
      <p:sp>
        <p:nvSpPr>
          <p:cNvPr id="7" name="S03-card50"/>
          <p:cNvSpPr/>
          <p:nvPr/>
        </p:nvSpPr>
        <p:spPr>
          <a:xfrm>
            <a:off x="8095488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51"/>
          <p:cNvSpPr txBox="1"/>
          <p:nvPr/>
        </p:nvSpPr>
        <p:spPr>
          <a:xfrm>
            <a:off x="8369808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옆(오른쪽)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앞줄이 왼쪽에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보여요.</a:t>
            </a:r>
            <a:endParaRPr lang="ko-KR" sz="2800" dirty="0"/>
          </a:p>
        </p:txBody>
      </p:sp>
      <p:sp>
        <p:nvSpPr>
          <p:cNvPr id="9" name="S03-figure52" descr="쌓기나무 8개로 쌓은 모양과 앞, 옆(오른쪽)을 가리키는 화살표: 앞줄은 왼쪽부터 2층, 1층, 1층, 뒷줄은 왼쪽부터 3층, 1층"/>
          <p:cNvSpPr/>
          <p:nvPr/>
        </p:nvSpPr>
        <p:spPr>
          <a:xfrm>
            <a:off x="1066423" y="2521290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53"/>
          <p:cNvSpPr/>
          <p:nvPr/>
        </p:nvSpPr>
        <p:spPr>
          <a:xfrm>
            <a:off x="1066423" y="2771846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54"/>
          <p:cNvSpPr/>
          <p:nvPr/>
        </p:nvSpPr>
        <p:spPr>
          <a:xfrm>
            <a:off x="1500386" y="2771846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55"/>
          <p:cNvSpPr/>
          <p:nvPr/>
        </p:nvSpPr>
        <p:spPr>
          <a:xfrm>
            <a:off x="632460" y="277184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56"/>
          <p:cNvSpPr/>
          <p:nvPr/>
        </p:nvSpPr>
        <p:spPr>
          <a:xfrm>
            <a:off x="632460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57"/>
          <p:cNvSpPr/>
          <p:nvPr/>
        </p:nvSpPr>
        <p:spPr>
          <a:xfrm>
            <a:off x="1066423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58"/>
          <p:cNvSpPr/>
          <p:nvPr/>
        </p:nvSpPr>
        <p:spPr>
          <a:xfrm>
            <a:off x="1500386" y="277184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mark59"/>
          <p:cNvSpPr/>
          <p:nvPr/>
        </p:nvSpPr>
        <p:spPr>
          <a:xfrm>
            <a:off x="1500386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3-mark60"/>
          <p:cNvSpPr/>
          <p:nvPr/>
        </p:nvSpPr>
        <p:spPr>
          <a:xfrm>
            <a:off x="1934349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3-mark61"/>
          <p:cNvSpPr/>
          <p:nvPr/>
        </p:nvSpPr>
        <p:spPr>
          <a:xfrm>
            <a:off x="1066423" y="2020178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3-mark62"/>
          <p:cNvSpPr/>
          <p:nvPr/>
        </p:nvSpPr>
        <p:spPr>
          <a:xfrm>
            <a:off x="1066423" y="227073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3-mark63"/>
          <p:cNvSpPr/>
          <p:nvPr/>
        </p:nvSpPr>
        <p:spPr>
          <a:xfrm>
            <a:off x="1500386" y="227073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3-mark64"/>
          <p:cNvSpPr/>
          <p:nvPr/>
        </p:nvSpPr>
        <p:spPr>
          <a:xfrm>
            <a:off x="1066423" y="3022402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mark65"/>
          <p:cNvSpPr/>
          <p:nvPr/>
        </p:nvSpPr>
        <p:spPr>
          <a:xfrm>
            <a:off x="1066423" y="3272958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3-mark66"/>
          <p:cNvSpPr/>
          <p:nvPr/>
        </p:nvSpPr>
        <p:spPr>
          <a:xfrm>
            <a:off x="1500386" y="3272958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3-mark67"/>
          <p:cNvSpPr/>
          <p:nvPr/>
        </p:nvSpPr>
        <p:spPr>
          <a:xfrm>
            <a:off x="632460" y="2270734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68"/>
          <p:cNvSpPr/>
          <p:nvPr/>
        </p:nvSpPr>
        <p:spPr>
          <a:xfrm>
            <a:off x="632460" y="2521290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69"/>
          <p:cNvSpPr/>
          <p:nvPr/>
        </p:nvSpPr>
        <p:spPr>
          <a:xfrm>
            <a:off x="1066423" y="2521290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3-mark70"/>
          <p:cNvSpPr/>
          <p:nvPr/>
        </p:nvSpPr>
        <p:spPr>
          <a:xfrm>
            <a:off x="1066423" y="151906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3-mark71"/>
          <p:cNvSpPr/>
          <p:nvPr/>
        </p:nvSpPr>
        <p:spPr>
          <a:xfrm>
            <a:off x="1066423" y="176962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3-mark72"/>
          <p:cNvSpPr/>
          <p:nvPr/>
        </p:nvSpPr>
        <p:spPr>
          <a:xfrm>
            <a:off x="1500386" y="176962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3-mark73"/>
          <p:cNvSpPr/>
          <p:nvPr/>
        </p:nvSpPr>
        <p:spPr>
          <a:xfrm>
            <a:off x="1500386" y="3272958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3-mark74"/>
          <p:cNvSpPr/>
          <p:nvPr/>
        </p:nvSpPr>
        <p:spPr>
          <a:xfrm>
            <a:off x="1500386" y="352351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3-mark75"/>
          <p:cNvSpPr/>
          <p:nvPr/>
        </p:nvSpPr>
        <p:spPr>
          <a:xfrm>
            <a:off x="1934349" y="352351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3-mark76"/>
          <p:cNvSpPr/>
          <p:nvPr/>
        </p:nvSpPr>
        <p:spPr>
          <a:xfrm flipV="1">
            <a:off x="805845" y="3723959"/>
            <a:ext cx="347271" cy="20044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03-mark77"/>
          <p:cNvSpPr/>
          <p:nvPr/>
        </p:nvSpPr>
        <p:spPr>
          <a:xfrm flipH="1" flipV="1">
            <a:off x="2498601" y="3849237"/>
            <a:ext cx="347271" cy="20044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3-label79"/>
          <p:cNvSpPr txBox="1"/>
          <p:nvPr/>
        </p:nvSpPr>
        <p:spPr>
          <a:xfrm>
            <a:off x="462238" y="383747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6" name="S03-label81"/>
          <p:cNvSpPr txBox="1"/>
          <p:nvPr/>
        </p:nvSpPr>
        <p:spPr>
          <a:xfrm>
            <a:off x="2805938" y="396275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7" name="S03-cell82"/>
          <p:cNvSpPr/>
          <p:nvPr/>
        </p:nvSpPr>
        <p:spPr>
          <a:xfrm>
            <a:off x="3982212" y="22147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3"/>
          <p:cNvSpPr/>
          <p:nvPr/>
        </p:nvSpPr>
        <p:spPr>
          <a:xfrm>
            <a:off x="4439412" y="22147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4"/>
          <p:cNvSpPr/>
          <p:nvPr/>
        </p:nvSpPr>
        <p:spPr>
          <a:xfrm>
            <a:off x="4896612" y="22147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5"/>
          <p:cNvSpPr/>
          <p:nvPr/>
        </p:nvSpPr>
        <p:spPr>
          <a:xfrm>
            <a:off x="39822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cell86"/>
          <p:cNvSpPr/>
          <p:nvPr/>
        </p:nvSpPr>
        <p:spPr>
          <a:xfrm>
            <a:off x="44394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cell87"/>
          <p:cNvSpPr/>
          <p:nvPr/>
        </p:nvSpPr>
        <p:spPr>
          <a:xfrm>
            <a:off x="48966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figure88" descr="위에서 본 모양: 뒷줄 왼쪽 2칸, 앞줄 3칸 색칠"/>
          <p:cNvSpPr/>
          <p:nvPr/>
        </p:nvSpPr>
        <p:spPr>
          <a:xfrm>
            <a:off x="3982212" y="2214753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3-label89"/>
          <p:cNvSpPr txBox="1"/>
          <p:nvPr/>
        </p:nvSpPr>
        <p:spPr>
          <a:xfrm>
            <a:off x="3401568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200" dirty="0"/>
          </a:p>
        </p:txBody>
      </p:sp>
      <p:sp>
        <p:nvSpPr>
          <p:cNvPr id="45" name="S03-cell90"/>
          <p:cNvSpPr/>
          <p:nvPr/>
        </p:nvSpPr>
        <p:spPr>
          <a:xfrm>
            <a:off x="6835140" y="19861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91"/>
          <p:cNvSpPr/>
          <p:nvPr/>
        </p:nvSpPr>
        <p:spPr>
          <a:xfrm>
            <a:off x="7292340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92"/>
          <p:cNvSpPr/>
          <p:nvPr/>
        </p:nvSpPr>
        <p:spPr>
          <a:xfrm>
            <a:off x="7749540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93"/>
          <p:cNvSpPr/>
          <p:nvPr/>
        </p:nvSpPr>
        <p:spPr>
          <a:xfrm>
            <a:off x="6835140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94"/>
          <p:cNvSpPr/>
          <p:nvPr/>
        </p:nvSpPr>
        <p:spPr>
          <a:xfrm>
            <a:off x="7292340" y="24433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cell95"/>
          <p:cNvSpPr/>
          <p:nvPr/>
        </p:nvSpPr>
        <p:spPr>
          <a:xfrm>
            <a:off x="7749540" y="24433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cell96"/>
          <p:cNvSpPr/>
          <p:nvPr/>
        </p:nvSpPr>
        <p:spPr>
          <a:xfrm>
            <a:off x="68351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cell97"/>
          <p:cNvSpPr/>
          <p:nvPr/>
        </p:nvSpPr>
        <p:spPr>
          <a:xfrm>
            <a:off x="72923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3-cell98"/>
          <p:cNvSpPr/>
          <p:nvPr/>
        </p:nvSpPr>
        <p:spPr>
          <a:xfrm>
            <a:off x="77495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3-figure99" descr="앞에서 본 모양: 왼쪽 줄 3칸, 가운데 줄 1칸, 오른쪽 줄 1칸 색칠"/>
          <p:cNvSpPr/>
          <p:nvPr/>
        </p:nvSpPr>
        <p:spPr>
          <a:xfrm>
            <a:off x="6835140" y="1986153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5" name="S03-label100"/>
          <p:cNvSpPr txBox="1"/>
          <p:nvPr/>
        </p:nvSpPr>
        <p:spPr>
          <a:xfrm>
            <a:off x="6254496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56" name="S03-cell101"/>
          <p:cNvSpPr/>
          <p:nvPr/>
        </p:nvSpPr>
        <p:spPr>
          <a:xfrm>
            <a:off x="9916668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cell102"/>
          <p:cNvSpPr/>
          <p:nvPr/>
        </p:nvSpPr>
        <p:spPr>
          <a:xfrm>
            <a:off x="10373868" y="19861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cell103"/>
          <p:cNvSpPr/>
          <p:nvPr/>
        </p:nvSpPr>
        <p:spPr>
          <a:xfrm>
            <a:off x="9916668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cell104"/>
          <p:cNvSpPr/>
          <p:nvPr/>
        </p:nvSpPr>
        <p:spPr>
          <a:xfrm>
            <a:off x="10373868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3-cell105"/>
          <p:cNvSpPr/>
          <p:nvPr/>
        </p:nvSpPr>
        <p:spPr>
          <a:xfrm>
            <a:off x="9916668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cell106"/>
          <p:cNvSpPr/>
          <p:nvPr/>
        </p:nvSpPr>
        <p:spPr>
          <a:xfrm>
            <a:off x="10373868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figure107" descr="오른쪽 옆에서 본 모양: 왼쪽(앞줄) 2칸, 오른쪽(뒷줄) 3칸 색칠"/>
          <p:cNvSpPr/>
          <p:nvPr/>
        </p:nvSpPr>
        <p:spPr>
          <a:xfrm>
            <a:off x="9916668" y="1986153"/>
            <a:ext cx="9144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3" name="S03-label108"/>
          <p:cNvSpPr txBox="1"/>
          <p:nvPr/>
        </p:nvSpPr>
        <p:spPr>
          <a:xfrm>
            <a:off x="9107424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옆에서 본 모양 찾기</a:t>
            </a:r>
            <a:endParaRPr lang="ko-KR" sz="4000" dirty="0"/>
          </a:p>
        </p:txBody>
      </p:sp>
      <p:sp>
        <p:nvSpPr>
          <p:cNvPr id="3" name="S04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옆(오른쪽)에서 본 모양을 골라요.</a:t>
            </a:r>
            <a:endParaRPr lang="ko-KR" sz="2800" dirty="0"/>
          </a:p>
        </p:txBody>
      </p:sp>
      <p:sp>
        <p:nvSpPr>
          <p:cNvPr id="4" name="S04-figure110" descr="쌓기나무 9개로 쌓은 모양: 앞줄은 왼쪽부터 1층, 1층, 2층, 뒷줄은 가운데 2층, 오른쪽 3층"/>
          <p:cNvSpPr/>
          <p:nvPr/>
        </p:nvSpPr>
        <p:spPr>
          <a:xfrm>
            <a:off x="6840813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4-mark111"/>
          <p:cNvSpPr/>
          <p:nvPr/>
        </p:nvSpPr>
        <p:spPr>
          <a:xfrm>
            <a:off x="6840813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112"/>
          <p:cNvSpPr/>
          <p:nvPr/>
        </p:nvSpPr>
        <p:spPr>
          <a:xfrm>
            <a:off x="7618019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113"/>
          <p:cNvSpPr/>
          <p:nvPr/>
        </p:nvSpPr>
        <p:spPr>
          <a:xfrm>
            <a:off x="8395225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114"/>
          <p:cNvSpPr/>
          <p:nvPr/>
        </p:nvSpPr>
        <p:spPr>
          <a:xfrm>
            <a:off x="8395225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115"/>
          <p:cNvSpPr/>
          <p:nvPr/>
        </p:nvSpPr>
        <p:spPr>
          <a:xfrm>
            <a:off x="9172431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116"/>
          <p:cNvSpPr/>
          <p:nvPr/>
        </p:nvSpPr>
        <p:spPr>
          <a:xfrm>
            <a:off x="7618019" y="38904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4-mark117"/>
          <p:cNvSpPr/>
          <p:nvPr/>
        </p:nvSpPr>
        <p:spPr>
          <a:xfrm>
            <a:off x="7618019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118"/>
          <p:cNvSpPr/>
          <p:nvPr/>
        </p:nvSpPr>
        <p:spPr>
          <a:xfrm>
            <a:off x="8395225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119"/>
          <p:cNvSpPr/>
          <p:nvPr/>
        </p:nvSpPr>
        <p:spPr>
          <a:xfrm>
            <a:off x="9172431" y="38904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mark120"/>
          <p:cNvSpPr/>
          <p:nvPr/>
        </p:nvSpPr>
        <p:spPr>
          <a:xfrm>
            <a:off x="9172431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mark121"/>
          <p:cNvSpPr/>
          <p:nvPr/>
        </p:nvSpPr>
        <p:spPr>
          <a:xfrm>
            <a:off x="9949637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mark122"/>
          <p:cNvSpPr/>
          <p:nvPr/>
        </p:nvSpPr>
        <p:spPr>
          <a:xfrm>
            <a:off x="8395225" y="25442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123"/>
          <p:cNvSpPr/>
          <p:nvPr/>
        </p:nvSpPr>
        <p:spPr>
          <a:xfrm>
            <a:off x="8395225" y="29929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124"/>
          <p:cNvSpPr/>
          <p:nvPr/>
        </p:nvSpPr>
        <p:spPr>
          <a:xfrm>
            <a:off x="9172431" y="29929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125"/>
          <p:cNvSpPr/>
          <p:nvPr/>
        </p:nvSpPr>
        <p:spPr>
          <a:xfrm>
            <a:off x="8395225" y="4339167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126"/>
          <p:cNvSpPr/>
          <p:nvPr/>
        </p:nvSpPr>
        <p:spPr>
          <a:xfrm>
            <a:off x="8395225" y="47879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mark127"/>
          <p:cNvSpPr/>
          <p:nvPr/>
        </p:nvSpPr>
        <p:spPr>
          <a:xfrm>
            <a:off x="9172431" y="47879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4-mark128"/>
          <p:cNvSpPr/>
          <p:nvPr/>
        </p:nvSpPr>
        <p:spPr>
          <a:xfrm>
            <a:off x="9172431" y="2992967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4-mark129"/>
          <p:cNvSpPr/>
          <p:nvPr/>
        </p:nvSpPr>
        <p:spPr>
          <a:xfrm>
            <a:off x="9172431" y="34417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mark130"/>
          <p:cNvSpPr/>
          <p:nvPr/>
        </p:nvSpPr>
        <p:spPr>
          <a:xfrm>
            <a:off x="9949637" y="34417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4-mark131"/>
          <p:cNvSpPr/>
          <p:nvPr/>
        </p:nvSpPr>
        <p:spPr>
          <a:xfrm>
            <a:off x="8395225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4-mark132"/>
          <p:cNvSpPr/>
          <p:nvPr/>
        </p:nvSpPr>
        <p:spPr>
          <a:xfrm>
            <a:off x="8395225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4-mark133"/>
          <p:cNvSpPr/>
          <p:nvPr/>
        </p:nvSpPr>
        <p:spPr>
          <a:xfrm>
            <a:off x="9172431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4-mark134"/>
          <p:cNvSpPr/>
          <p:nvPr/>
        </p:nvSpPr>
        <p:spPr>
          <a:xfrm>
            <a:off x="9172431" y="20955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4-mark135"/>
          <p:cNvSpPr/>
          <p:nvPr/>
        </p:nvSpPr>
        <p:spPr>
          <a:xfrm>
            <a:off x="9172431" y="25442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mark136"/>
          <p:cNvSpPr/>
          <p:nvPr/>
        </p:nvSpPr>
        <p:spPr>
          <a:xfrm>
            <a:off x="9949637" y="25442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mark137"/>
          <p:cNvSpPr/>
          <p:nvPr/>
        </p:nvSpPr>
        <p:spPr>
          <a:xfrm flipV="1">
            <a:off x="7151336" y="5146887"/>
            <a:ext cx="621944" cy="358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04-mark138"/>
          <p:cNvSpPr/>
          <p:nvPr/>
        </p:nvSpPr>
        <p:spPr>
          <a:xfrm flipH="1" flipV="1">
            <a:off x="10182979" y="5371253"/>
            <a:ext cx="621944" cy="358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4-label140"/>
          <p:cNvSpPr txBox="1"/>
          <p:nvPr/>
        </p:nvSpPr>
        <p:spPr>
          <a:xfrm>
            <a:off x="6687634" y="548830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4" name="S04-label142"/>
          <p:cNvSpPr txBox="1"/>
          <p:nvPr/>
        </p:nvSpPr>
        <p:spPr>
          <a:xfrm>
            <a:off x="10885085" y="571267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5" name="S04-chip14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36" name="S04-cell144"/>
          <p:cNvSpPr/>
          <p:nvPr/>
        </p:nvSpPr>
        <p:spPr>
          <a:xfrm>
            <a:off x="307924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cell145"/>
          <p:cNvSpPr/>
          <p:nvPr/>
        </p:nvSpPr>
        <p:spPr>
          <a:xfrm>
            <a:off x="344500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4-cell146"/>
          <p:cNvSpPr/>
          <p:nvPr/>
        </p:nvSpPr>
        <p:spPr>
          <a:xfrm>
            <a:off x="3810762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47"/>
          <p:cNvSpPr/>
          <p:nvPr/>
        </p:nvSpPr>
        <p:spPr>
          <a:xfrm>
            <a:off x="3079242" y="24688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48"/>
          <p:cNvSpPr/>
          <p:nvPr/>
        </p:nvSpPr>
        <p:spPr>
          <a:xfrm>
            <a:off x="344500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49"/>
          <p:cNvSpPr/>
          <p:nvPr/>
        </p:nvSpPr>
        <p:spPr>
          <a:xfrm>
            <a:off x="381076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50"/>
          <p:cNvSpPr/>
          <p:nvPr/>
        </p:nvSpPr>
        <p:spPr>
          <a:xfrm>
            <a:off x="307924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51"/>
          <p:cNvSpPr/>
          <p:nvPr/>
        </p:nvSpPr>
        <p:spPr>
          <a:xfrm>
            <a:off x="344500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52"/>
          <p:cNvSpPr/>
          <p:nvPr/>
        </p:nvSpPr>
        <p:spPr>
          <a:xfrm>
            <a:off x="381076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53" descr="가: 왼쪽부터 1칸, 2칸, 3칸 색칠(3줄)"/>
          <p:cNvSpPr/>
          <p:nvPr/>
        </p:nvSpPr>
        <p:spPr>
          <a:xfrm>
            <a:off x="3079242" y="210312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chip1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7" name="S04-cell155"/>
          <p:cNvSpPr/>
          <p:nvPr/>
        </p:nvSpPr>
        <p:spPr>
          <a:xfrm>
            <a:off x="3262122" y="35661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4-cell156"/>
          <p:cNvSpPr/>
          <p:nvPr/>
        </p:nvSpPr>
        <p:spPr>
          <a:xfrm>
            <a:off x="3627882" y="35661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4-cell157"/>
          <p:cNvSpPr/>
          <p:nvPr/>
        </p:nvSpPr>
        <p:spPr>
          <a:xfrm>
            <a:off x="326212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4-cell158"/>
          <p:cNvSpPr/>
          <p:nvPr/>
        </p:nvSpPr>
        <p:spPr>
          <a:xfrm>
            <a:off x="362788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4-cell159"/>
          <p:cNvSpPr/>
          <p:nvPr/>
        </p:nvSpPr>
        <p:spPr>
          <a:xfrm>
            <a:off x="326212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4-cell160"/>
          <p:cNvSpPr/>
          <p:nvPr/>
        </p:nvSpPr>
        <p:spPr>
          <a:xfrm>
            <a:off x="362788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4-figure161" descr="나: 왼쪽 2칸, 오른쪽 3칸 색칠(2줄)"/>
          <p:cNvSpPr/>
          <p:nvPr/>
        </p:nvSpPr>
        <p:spPr>
          <a:xfrm>
            <a:off x="3262122" y="356616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4" name="S04-chip1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55" name="S04-cell163"/>
          <p:cNvSpPr/>
          <p:nvPr/>
        </p:nvSpPr>
        <p:spPr>
          <a:xfrm>
            <a:off x="3079242" y="50292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cell164"/>
          <p:cNvSpPr/>
          <p:nvPr/>
        </p:nvSpPr>
        <p:spPr>
          <a:xfrm>
            <a:off x="344500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cell165"/>
          <p:cNvSpPr/>
          <p:nvPr/>
        </p:nvSpPr>
        <p:spPr>
          <a:xfrm>
            <a:off x="381076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4-cell166"/>
          <p:cNvSpPr/>
          <p:nvPr/>
        </p:nvSpPr>
        <p:spPr>
          <a:xfrm>
            <a:off x="307924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4-cell167"/>
          <p:cNvSpPr/>
          <p:nvPr/>
        </p:nvSpPr>
        <p:spPr>
          <a:xfrm>
            <a:off x="344500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4-cell168"/>
          <p:cNvSpPr/>
          <p:nvPr/>
        </p:nvSpPr>
        <p:spPr>
          <a:xfrm>
            <a:off x="3810762" y="5394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4-cell169"/>
          <p:cNvSpPr/>
          <p:nvPr/>
        </p:nvSpPr>
        <p:spPr>
          <a:xfrm>
            <a:off x="307924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4-cell170"/>
          <p:cNvSpPr/>
          <p:nvPr/>
        </p:nvSpPr>
        <p:spPr>
          <a:xfrm>
            <a:off x="344500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4-cell171"/>
          <p:cNvSpPr/>
          <p:nvPr/>
        </p:nvSpPr>
        <p:spPr>
          <a:xfrm>
            <a:off x="381076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4-figure172" descr="다: 왼쪽부터 3칸, 2칸, 1칸 색칠(3줄)"/>
          <p:cNvSpPr/>
          <p:nvPr/>
        </p:nvSpPr>
        <p:spPr>
          <a:xfrm>
            <a:off x="3079242" y="502920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쌓기나무</a:t>
            </a:r>
            <a:endParaRPr lang="ko-KR" sz="4000" dirty="0"/>
          </a:p>
        </p:txBody>
      </p:sp>
      <p:sp>
        <p:nvSpPr>
          <p:cNvPr id="3" name="S05-card173"/>
          <p:cNvSpPr/>
          <p:nvPr/>
        </p:nvSpPr>
        <p:spPr>
          <a:xfrm>
            <a:off x="548640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74"/>
          <p:cNvSpPr txBox="1"/>
          <p:nvPr/>
        </p:nvSpPr>
        <p:spPr>
          <a:xfrm>
            <a:off x="822960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숨은 쌓기나무가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있을 수 있어요.</a:t>
            </a:r>
            <a:endParaRPr lang="ko-KR" sz="2800" dirty="0"/>
          </a:p>
        </p:txBody>
      </p:sp>
      <p:sp>
        <p:nvSpPr>
          <p:cNvPr id="5" name="S05-card175"/>
          <p:cNvSpPr/>
          <p:nvPr/>
        </p:nvSpPr>
        <p:spPr>
          <a:xfrm>
            <a:off x="6208776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76"/>
          <p:cNvSpPr txBox="1"/>
          <p:nvPr/>
        </p:nvSpPr>
        <p:spPr>
          <a:xfrm>
            <a:off x="6483096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모양을 보면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개수가 정해져요.</a:t>
            </a:r>
            <a:endParaRPr lang="ko-KR" sz="2800" dirty="0"/>
          </a:p>
        </p:txBody>
      </p:sp>
      <p:sp>
        <p:nvSpPr>
          <p:cNvPr id="7" name="S05-figure177" descr="쌓기나무를 쌓은 모양: 앞줄은 왼쪽 1층, 오른쪽 2층, 뒷줄 오른쪽 1층이 보임. 뒷줄 왼쪽은 가려져 보이지 않음"/>
          <p:cNvSpPr/>
          <p:nvPr/>
        </p:nvSpPr>
        <p:spPr>
          <a:xfrm>
            <a:off x="937203" y="2277785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178"/>
          <p:cNvSpPr/>
          <p:nvPr/>
        </p:nvSpPr>
        <p:spPr>
          <a:xfrm>
            <a:off x="937203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179"/>
          <p:cNvSpPr/>
          <p:nvPr/>
        </p:nvSpPr>
        <p:spPr>
          <a:xfrm>
            <a:off x="1613887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5-mark180"/>
          <p:cNvSpPr/>
          <p:nvPr/>
        </p:nvSpPr>
        <p:spPr>
          <a:xfrm>
            <a:off x="2290572" y="2277785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mark181"/>
          <p:cNvSpPr/>
          <p:nvPr/>
        </p:nvSpPr>
        <p:spPr>
          <a:xfrm>
            <a:off x="2290572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5-mark182"/>
          <p:cNvSpPr/>
          <p:nvPr/>
        </p:nvSpPr>
        <p:spPr>
          <a:xfrm>
            <a:off x="2967257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183"/>
          <p:cNvSpPr/>
          <p:nvPr/>
        </p:nvSpPr>
        <p:spPr>
          <a:xfrm>
            <a:off x="1613887" y="2668480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184"/>
          <p:cNvSpPr/>
          <p:nvPr/>
        </p:nvSpPr>
        <p:spPr>
          <a:xfrm>
            <a:off x="1613887" y="3059176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mark185"/>
          <p:cNvSpPr/>
          <p:nvPr/>
        </p:nvSpPr>
        <p:spPr>
          <a:xfrm>
            <a:off x="2290572" y="3059176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5-mark186"/>
          <p:cNvSpPr/>
          <p:nvPr/>
        </p:nvSpPr>
        <p:spPr>
          <a:xfrm>
            <a:off x="1613887" y="1887089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mark187"/>
          <p:cNvSpPr/>
          <p:nvPr/>
        </p:nvSpPr>
        <p:spPr>
          <a:xfrm>
            <a:off x="1613887" y="2277785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5-mark188"/>
          <p:cNvSpPr/>
          <p:nvPr/>
        </p:nvSpPr>
        <p:spPr>
          <a:xfrm>
            <a:off x="2290572" y="2277785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mark189"/>
          <p:cNvSpPr/>
          <p:nvPr/>
        </p:nvSpPr>
        <p:spPr>
          <a:xfrm flipV="1">
            <a:off x="869222" y="3567080"/>
            <a:ext cx="541504" cy="31255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5-mark190"/>
          <p:cNvSpPr/>
          <p:nvPr/>
        </p:nvSpPr>
        <p:spPr>
          <a:xfrm flipH="1" flipV="1">
            <a:off x="3170418" y="3567080"/>
            <a:ext cx="541504" cy="31255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5-label192"/>
          <p:cNvSpPr txBox="1"/>
          <p:nvPr/>
        </p:nvSpPr>
        <p:spPr>
          <a:xfrm>
            <a:off x="440690" y="384175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2" name="S05-label194"/>
          <p:cNvSpPr txBox="1"/>
          <p:nvPr/>
        </p:nvSpPr>
        <p:spPr>
          <a:xfrm>
            <a:off x="3756914" y="384175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23" name="S05-figure195" descr="위에서 본 모양 ①: 앞줄 2칸, 뒷줄 오른쪽 1칸"/>
          <p:cNvSpPr/>
          <p:nvPr/>
        </p:nvSpPr>
        <p:spPr>
          <a:xfrm>
            <a:off x="5545836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mark196"/>
          <p:cNvSpPr/>
          <p:nvPr/>
        </p:nvSpPr>
        <p:spPr>
          <a:xfrm>
            <a:off x="6094476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5-mark197"/>
          <p:cNvSpPr/>
          <p:nvPr/>
        </p:nvSpPr>
        <p:spPr>
          <a:xfrm>
            <a:off x="6094476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5-label199"/>
          <p:cNvSpPr txBox="1"/>
          <p:nvPr/>
        </p:nvSpPr>
        <p:spPr>
          <a:xfrm>
            <a:off x="5902706" y="335889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7" name="S05-label200"/>
          <p:cNvSpPr txBox="1"/>
          <p:nvPr/>
        </p:nvSpPr>
        <p:spPr>
          <a:xfrm>
            <a:off x="4352544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 ①</a:t>
            </a:r>
            <a:endParaRPr lang="ko-KR" sz="2200" dirty="0"/>
          </a:p>
        </p:txBody>
      </p:sp>
      <p:sp>
        <p:nvSpPr>
          <p:cNvPr id="28" name="S05-figure201" descr="위에서 본 모양 ②: 앞줄 2칸, 뒷줄 2칸(네 칸 모두)"/>
          <p:cNvSpPr/>
          <p:nvPr/>
        </p:nvSpPr>
        <p:spPr>
          <a:xfrm>
            <a:off x="9349740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5-mark202"/>
          <p:cNvSpPr/>
          <p:nvPr/>
        </p:nvSpPr>
        <p:spPr>
          <a:xfrm>
            <a:off x="9349740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5-mark203"/>
          <p:cNvSpPr/>
          <p:nvPr/>
        </p:nvSpPr>
        <p:spPr>
          <a:xfrm>
            <a:off x="9898380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5-mark204"/>
          <p:cNvSpPr/>
          <p:nvPr/>
        </p:nvSpPr>
        <p:spPr>
          <a:xfrm>
            <a:off x="9898380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5-label206"/>
          <p:cNvSpPr txBox="1"/>
          <p:nvPr/>
        </p:nvSpPr>
        <p:spPr>
          <a:xfrm>
            <a:off x="9706610" y="335889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3" name="S05-label207"/>
          <p:cNvSpPr txBox="1"/>
          <p:nvPr/>
        </p:nvSpPr>
        <p:spPr>
          <a:xfrm>
            <a:off x="8156448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 ②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모양에 수 쓰기</a:t>
            </a:r>
            <a:endParaRPr lang="ko-KR" sz="4000" dirty="0"/>
          </a:p>
        </p:txBody>
      </p:sp>
      <p:sp>
        <p:nvSpPr>
          <p:cNvPr id="3" name="S06-card208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09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수를 모두 더해요.</a:t>
            </a:r>
            <a:endParaRPr lang="ko-KR" sz="2800" dirty="0"/>
          </a:p>
        </p:txBody>
      </p:sp>
      <p:sp>
        <p:nvSpPr>
          <p:cNvPr id="5" name="S06-card210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11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 본 모양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가장 큰 수만큼</a:t>
            </a:r>
            <a:endParaRPr lang="ko-KR" sz="2800" dirty="0"/>
          </a:p>
        </p:txBody>
      </p:sp>
      <p:sp>
        <p:nvSpPr>
          <p:cNvPr id="7" name="S06-figure212" descr="쌓기나무 9개로 쌓은 모양: 앞줄은 왼쪽부터 1층, 2층, 1층, 뒷줄은 왼쪽부터 2층, 3층"/>
          <p:cNvSpPr/>
          <p:nvPr/>
        </p:nvSpPr>
        <p:spPr>
          <a:xfrm>
            <a:off x="2250812" y="2404415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213"/>
          <p:cNvSpPr/>
          <p:nvPr/>
        </p:nvSpPr>
        <p:spPr>
          <a:xfrm>
            <a:off x="2250812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mark214"/>
          <p:cNvSpPr/>
          <p:nvPr/>
        </p:nvSpPr>
        <p:spPr>
          <a:xfrm>
            <a:off x="2825094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mark215"/>
          <p:cNvSpPr/>
          <p:nvPr/>
        </p:nvSpPr>
        <p:spPr>
          <a:xfrm>
            <a:off x="1676530" y="2735986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216"/>
          <p:cNvSpPr/>
          <p:nvPr/>
        </p:nvSpPr>
        <p:spPr>
          <a:xfrm>
            <a:off x="1676530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6-mark217"/>
          <p:cNvSpPr/>
          <p:nvPr/>
        </p:nvSpPr>
        <p:spPr>
          <a:xfrm>
            <a:off x="2250812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218"/>
          <p:cNvSpPr/>
          <p:nvPr/>
        </p:nvSpPr>
        <p:spPr>
          <a:xfrm>
            <a:off x="2825094" y="2735986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219"/>
          <p:cNvSpPr/>
          <p:nvPr/>
        </p:nvSpPr>
        <p:spPr>
          <a:xfrm>
            <a:off x="2825094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6-mark220"/>
          <p:cNvSpPr/>
          <p:nvPr/>
        </p:nvSpPr>
        <p:spPr>
          <a:xfrm>
            <a:off x="3399376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mark221"/>
          <p:cNvSpPr/>
          <p:nvPr/>
        </p:nvSpPr>
        <p:spPr>
          <a:xfrm>
            <a:off x="2250812" y="1741272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mark222"/>
          <p:cNvSpPr/>
          <p:nvPr/>
        </p:nvSpPr>
        <p:spPr>
          <a:xfrm>
            <a:off x="2250812" y="2072843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223"/>
          <p:cNvSpPr/>
          <p:nvPr/>
        </p:nvSpPr>
        <p:spPr>
          <a:xfrm>
            <a:off x="2825094" y="2072843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224"/>
          <p:cNvSpPr/>
          <p:nvPr/>
        </p:nvSpPr>
        <p:spPr>
          <a:xfrm>
            <a:off x="2250812" y="3067558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225"/>
          <p:cNvSpPr/>
          <p:nvPr/>
        </p:nvSpPr>
        <p:spPr>
          <a:xfrm>
            <a:off x="2250812" y="3399130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mark226"/>
          <p:cNvSpPr/>
          <p:nvPr/>
        </p:nvSpPr>
        <p:spPr>
          <a:xfrm>
            <a:off x="2825094" y="3399130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6-mark227"/>
          <p:cNvSpPr/>
          <p:nvPr/>
        </p:nvSpPr>
        <p:spPr>
          <a:xfrm>
            <a:off x="2825094" y="2072843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228"/>
          <p:cNvSpPr/>
          <p:nvPr/>
        </p:nvSpPr>
        <p:spPr>
          <a:xfrm>
            <a:off x="2825094" y="2404415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mark229"/>
          <p:cNvSpPr/>
          <p:nvPr/>
        </p:nvSpPr>
        <p:spPr>
          <a:xfrm>
            <a:off x="3399376" y="2404415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6-mark230"/>
          <p:cNvSpPr/>
          <p:nvPr/>
        </p:nvSpPr>
        <p:spPr>
          <a:xfrm>
            <a:off x="2825094" y="3399130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6-mark231"/>
          <p:cNvSpPr/>
          <p:nvPr/>
        </p:nvSpPr>
        <p:spPr>
          <a:xfrm>
            <a:off x="2825094" y="3730701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mark232"/>
          <p:cNvSpPr/>
          <p:nvPr/>
        </p:nvSpPr>
        <p:spPr>
          <a:xfrm>
            <a:off x="3399376" y="3730701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6-mark233"/>
          <p:cNvSpPr/>
          <p:nvPr/>
        </p:nvSpPr>
        <p:spPr>
          <a:xfrm>
            <a:off x="2250812" y="2404415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6-mark234"/>
          <p:cNvSpPr/>
          <p:nvPr/>
        </p:nvSpPr>
        <p:spPr>
          <a:xfrm>
            <a:off x="2250812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6-mark235"/>
          <p:cNvSpPr/>
          <p:nvPr/>
        </p:nvSpPr>
        <p:spPr>
          <a:xfrm>
            <a:off x="2825094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mark236"/>
          <p:cNvSpPr/>
          <p:nvPr/>
        </p:nvSpPr>
        <p:spPr>
          <a:xfrm>
            <a:off x="2825094" y="1409700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6-mark237"/>
          <p:cNvSpPr/>
          <p:nvPr/>
        </p:nvSpPr>
        <p:spPr>
          <a:xfrm>
            <a:off x="2825094" y="1741272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6-mark238"/>
          <p:cNvSpPr/>
          <p:nvPr/>
        </p:nvSpPr>
        <p:spPr>
          <a:xfrm>
            <a:off x="3399376" y="1741272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6-mark239"/>
          <p:cNvSpPr/>
          <p:nvPr/>
        </p:nvSpPr>
        <p:spPr>
          <a:xfrm flipV="1">
            <a:off x="1905978" y="3995958"/>
            <a:ext cx="459558" cy="26525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6-mark240"/>
          <p:cNvSpPr/>
          <p:nvPr/>
        </p:nvSpPr>
        <p:spPr>
          <a:xfrm flipH="1" flipV="1">
            <a:off x="4146075" y="4161744"/>
            <a:ext cx="459558" cy="26525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6-label242"/>
          <p:cNvSpPr txBox="1"/>
          <p:nvPr/>
        </p:nvSpPr>
        <p:spPr>
          <a:xfrm>
            <a:off x="1513275" y="420264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7" name="S06-label244"/>
          <p:cNvSpPr txBox="1"/>
          <p:nvPr/>
        </p:nvSpPr>
        <p:spPr>
          <a:xfrm>
            <a:off x="4614796" y="436842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8" name="S06-figure245" descr="위에서 본 모양에 수를 씀: 뒷줄 2, 3 / 앞줄 1, 2, 1"/>
          <p:cNvSpPr/>
          <p:nvPr/>
        </p:nvSpPr>
        <p:spPr>
          <a:xfrm>
            <a:off x="75758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6-mark246"/>
          <p:cNvSpPr/>
          <p:nvPr/>
        </p:nvSpPr>
        <p:spPr>
          <a:xfrm>
            <a:off x="7575804" y="16765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mark247"/>
          <p:cNvSpPr/>
          <p:nvPr/>
        </p:nvSpPr>
        <p:spPr>
          <a:xfrm>
            <a:off x="84902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6-mark248"/>
          <p:cNvSpPr/>
          <p:nvPr/>
        </p:nvSpPr>
        <p:spPr>
          <a:xfrm>
            <a:off x="8490204" y="16765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6-mark249"/>
          <p:cNvSpPr/>
          <p:nvPr/>
        </p:nvSpPr>
        <p:spPr>
          <a:xfrm>
            <a:off x="94046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06-label251"/>
          <p:cNvSpPr txBox="1"/>
          <p:nvPr/>
        </p:nvSpPr>
        <p:spPr>
          <a:xfrm>
            <a:off x="78859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4" name="S06-label253"/>
          <p:cNvSpPr txBox="1"/>
          <p:nvPr/>
        </p:nvSpPr>
        <p:spPr>
          <a:xfrm>
            <a:off x="7885938" y="19591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5" name="S06-label255"/>
          <p:cNvSpPr txBox="1"/>
          <p:nvPr/>
        </p:nvSpPr>
        <p:spPr>
          <a:xfrm>
            <a:off x="88003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6" name="S06-label257"/>
          <p:cNvSpPr txBox="1"/>
          <p:nvPr/>
        </p:nvSpPr>
        <p:spPr>
          <a:xfrm>
            <a:off x="8800338" y="19591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7" name="S06-label259"/>
          <p:cNvSpPr txBox="1"/>
          <p:nvPr/>
        </p:nvSpPr>
        <p:spPr>
          <a:xfrm>
            <a:off x="97147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06-label261"/>
          <p:cNvSpPr txBox="1"/>
          <p:nvPr/>
        </p:nvSpPr>
        <p:spPr>
          <a:xfrm>
            <a:off x="8755634" y="383362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49" name="S06-label26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자리마다 쌓은 개수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나타낸 모양</a:t>
            </a:r>
            <a:endParaRPr lang="ko-KR" sz="4000" dirty="0"/>
          </a:p>
        </p:txBody>
      </p:sp>
      <p:sp>
        <p:nvSpPr>
          <p:cNvPr id="3" name="S07-card2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층마다 색칠한 칸을 세어 더해요. 5 + 2 + 1 = 8</a:t>
            </a:r>
            <a:endParaRPr lang="ko-KR" sz="2800" dirty="0"/>
          </a:p>
        </p:txBody>
      </p:sp>
      <p:sp>
        <p:nvSpPr>
          <p:cNvPr id="5" name="S07-figure265" descr="쌓기나무 8개로 쌓은 모양: 앞줄은 왼쪽부터 3층, 1층, 1층, 뒷줄은 왼쪽부터 2층, 1층"/>
          <p:cNvSpPr/>
          <p:nvPr/>
        </p:nvSpPr>
        <p:spPr>
          <a:xfrm>
            <a:off x="1324124" y="2656332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266"/>
          <p:cNvSpPr/>
          <p:nvPr/>
        </p:nvSpPr>
        <p:spPr>
          <a:xfrm>
            <a:off x="1324124" y="2939796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267"/>
          <p:cNvSpPr/>
          <p:nvPr/>
        </p:nvSpPr>
        <p:spPr>
          <a:xfrm>
            <a:off x="1815084" y="2939796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268"/>
          <p:cNvSpPr/>
          <p:nvPr/>
        </p:nvSpPr>
        <p:spPr>
          <a:xfrm>
            <a:off x="833165" y="2939796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mark269"/>
          <p:cNvSpPr/>
          <p:nvPr/>
        </p:nvSpPr>
        <p:spPr>
          <a:xfrm>
            <a:off x="833165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mark270"/>
          <p:cNvSpPr/>
          <p:nvPr/>
        </p:nvSpPr>
        <p:spPr>
          <a:xfrm>
            <a:off x="132412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271"/>
          <p:cNvSpPr/>
          <p:nvPr/>
        </p:nvSpPr>
        <p:spPr>
          <a:xfrm>
            <a:off x="1815084" y="2939796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mark272"/>
          <p:cNvSpPr/>
          <p:nvPr/>
        </p:nvSpPr>
        <p:spPr>
          <a:xfrm>
            <a:off x="181508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mark273"/>
          <p:cNvSpPr/>
          <p:nvPr/>
        </p:nvSpPr>
        <p:spPr>
          <a:xfrm>
            <a:off x="230604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mark274"/>
          <p:cNvSpPr/>
          <p:nvPr/>
        </p:nvSpPr>
        <p:spPr>
          <a:xfrm>
            <a:off x="1324124" y="2089404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275"/>
          <p:cNvSpPr/>
          <p:nvPr/>
        </p:nvSpPr>
        <p:spPr>
          <a:xfrm>
            <a:off x="1324124" y="237286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mark276"/>
          <p:cNvSpPr/>
          <p:nvPr/>
        </p:nvSpPr>
        <p:spPr>
          <a:xfrm>
            <a:off x="1815084" y="237286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7-mark277"/>
          <p:cNvSpPr/>
          <p:nvPr/>
        </p:nvSpPr>
        <p:spPr>
          <a:xfrm>
            <a:off x="1324124" y="3223260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mark278"/>
          <p:cNvSpPr/>
          <p:nvPr/>
        </p:nvSpPr>
        <p:spPr>
          <a:xfrm>
            <a:off x="1324124" y="350672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7-mark279"/>
          <p:cNvSpPr/>
          <p:nvPr/>
        </p:nvSpPr>
        <p:spPr>
          <a:xfrm>
            <a:off x="1815084" y="350672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mark280"/>
          <p:cNvSpPr/>
          <p:nvPr/>
        </p:nvSpPr>
        <p:spPr>
          <a:xfrm>
            <a:off x="833165" y="2372868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mark281"/>
          <p:cNvSpPr/>
          <p:nvPr/>
        </p:nvSpPr>
        <p:spPr>
          <a:xfrm>
            <a:off x="833165" y="2656332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7-mark282"/>
          <p:cNvSpPr/>
          <p:nvPr/>
        </p:nvSpPr>
        <p:spPr>
          <a:xfrm>
            <a:off x="1324124" y="2656332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283"/>
          <p:cNvSpPr/>
          <p:nvPr/>
        </p:nvSpPr>
        <p:spPr>
          <a:xfrm>
            <a:off x="1815084" y="3506724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7-mark284"/>
          <p:cNvSpPr/>
          <p:nvPr/>
        </p:nvSpPr>
        <p:spPr>
          <a:xfrm>
            <a:off x="1815084" y="379018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7-mark285"/>
          <p:cNvSpPr/>
          <p:nvPr/>
        </p:nvSpPr>
        <p:spPr>
          <a:xfrm>
            <a:off x="2306044" y="379018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86"/>
          <p:cNvSpPr/>
          <p:nvPr/>
        </p:nvSpPr>
        <p:spPr>
          <a:xfrm>
            <a:off x="833165" y="1805940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7-mark287"/>
          <p:cNvSpPr/>
          <p:nvPr/>
        </p:nvSpPr>
        <p:spPr>
          <a:xfrm>
            <a:off x="833165" y="208940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7-mark288"/>
          <p:cNvSpPr/>
          <p:nvPr/>
        </p:nvSpPr>
        <p:spPr>
          <a:xfrm>
            <a:off x="1324124" y="208940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7-cell289"/>
          <p:cNvSpPr/>
          <p:nvPr/>
        </p:nvSpPr>
        <p:spPr>
          <a:xfrm>
            <a:off x="3982212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290"/>
          <p:cNvSpPr/>
          <p:nvPr/>
        </p:nvSpPr>
        <p:spPr>
          <a:xfrm>
            <a:off x="4439412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291"/>
          <p:cNvSpPr/>
          <p:nvPr/>
        </p:nvSpPr>
        <p:spPr>
          <a:xfrm>
            <a:off x="4896612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292"/>
          <p:cNvSpPr/>
          <p:nvPr/>
        </p:nvSpPr>
        <p:spPr>
          <a:xfrm>
            <a:off x="39822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293"/>
          <p:cNvSpPr/>
          <p:nvPr/>
        </p:nvSpPr>
        <p:spPr>
          <a:xfrm>
            <a:off x="44394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294"/>
          <p:cNvSpPr/>
          <p:nvPr/>
        </p:nvSpPr>
        <p:spPr>
          <a:xfrm>
            <a:off x="48966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figure295" descr="1층 모양: 앞줄 3칸, 뒷줄 왼쪽 2칸, 모두 5칸 색칠"/>
          <p:cNvSpPr/>
          <p:nvPr/>
        </p:nvSpPr>
        <p:spPr>
          <a:xfrm>
            <a:off x="3982212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7-label296"/>
          <p:cNvSpPr txBox="1"/>
          <p:nvPr/>
        </p:nvSpPr>
        <p:spPr>
          <a:xfrm>
            <a:off x="3401568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</a:t>
            </a:r>
            <a:endParaRPr lang="ko-KR" sz="2200" dirty="0"/>
          </a:p>
        </p:txBody>
      </p:sp>
      <p:sp>
        <p:nvSpPr>
          <p:cNvPr id="37" name="S07-cell297"/>
          <p:cNvSpPr/>
          <p:nvPr/>
        </p:nvSpPr>
        <p:spPr>
          <a:xfrm>
            <a:off x="6835140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cell298"/>
          <p:cNvSpPr/>
          <p:nvPr/>
        </p:nvSpPr>
        <p:spPr>
          <a:xfrm>
            <a:off x="7292340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cell299"/>
          <p:cNvSpPr/>
          <p:nvPr/>
        </p:nvSpPr>
        <p:spPr>
          <a:xfrm>
            <a:off x="7749540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7-cell300"/>
          <p:cNvSpPr/>
          <p:nvPr/>
        </p:nvSpPr>
        <p:spPr>
          <a:xfrm>
            <a:off x="6835140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cell301"/>
          <p:cNvSpPr/>
          <p:nvPr/>
        </p:nvSpPr>
        <p:spPr>
          <a:xfrm>
            <a:off x="7292340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7-cell302"/>
          <p:cNvSpPr/>
          <p:nvPr/>
        </p:nvSpPr>
        <p:spPr>
          <a:xfrm>
            <a:off x="7749540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figure303" descr="2층 모양: 앞줄 왼쪽 1칸, 뒷줄 왼쪽 1칸, 모두 2칸 색칠"/>
          <p:cNvSpPr/>
          <p:nvPr/>
        </p:nvSpPr>
        <p:spPr>
          <a:xfrm>
            <a:off x="6835140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7-label304"/>
          <p:cNvSpPr txBox="1"/>
          <p:nvPr/>
        </p:nvSpPr>
        <p:spPr>
          <a:xfrm>
            <a:off x="6254496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</a:t>
            </a:r>
            <a:endParaRPr lang="ko-KR" sz="2200" dirty="0"/>
          </a:p>
        </p:txBody>
      </p:sp>
      <p:sp>
        <p:nvSpPr>
          <p:cNvPr id="45" name="S07-cell305"/>
          <p:cNvSpPr/>
          <p:nvPr/>
        </p:nvSpPr>
        <p:spPr>
          <a:xfrm>
            <a:off x="96880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cell306"/>
          <p:cNvSpPr/>
          <p:nvPr/>
        </p:nvSpPr>
        <p:spPr>
          <a:xfrm>
            <a:off x="101452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307"/>
          <p:cNvSpPr/>
          <p:nvPr/>
        </p:nvSpPr>
        <p:spPr>
          <a:xfrm>
            <a:off x="106024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308"/>
          <p:cNvSpPr/>
          <p:nvPr/>
        </p:nvSpPr>
        <p:spPr>
          <a:xfrm>
            <a:off x="9688068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309"/>
          <p:cNvSpPr/>
          <p:nvPr/>
        </p:nvSpPr>
        <p:spPr>
          <a:xfrm>
            <a:off x="10145268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310"/>
          <p:cNvSpPr/>
          <p:nvPr/>
        </p:nvSpPr>
        <p:spPr>
          <a:xfrm>
            <a:off x="10602468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311" descr="3층 모양: 앞줄 왼쪽 1칸 색칠"/>
          <p:cNvSpPr/>
          <p:nvPr/>
        </p:nvSpPr>
        <p:spPr>
          <a:xfrm>
            <a:off x="9688068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label312"/>
          <p:cNvSpPr txBox="1"/>
          <p:nvPr/>
        </p:nvSpPr>
        <p:spPr>
          <a:xfrm>
            <a:off x="9107424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수를 보고 알아내기</a:t>
            </a:r>
            <a:endParaRPr lang="ko-KR" sz="4000" dirty="0"/>
          </a:p>
        </p:txBody>
      </p:sp>
      <p:sp>
        <p:nvSpPr>
          <p:cNvPr id="3" name="S08-text3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모양에 쌓은 개수를 썼어요.</a:t>
            </a:r>
            <a:endParaRPr lang="ko-KR" sz="2800" dirty="0"/>
          </a:p>
        </p:txBody>
      </p:sp>
      <p:sp>
        <p:nvSpPr>
          <p:cNvPr id="4" name="S08-card3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앞·옆에서는 줄마다 가장 큰 수만 보여요.</a:t>
            </a:r>
            <a:endParaRPr lang="ko-KR" sz="2800" dirty="0"/>
          </a:p>
        </p:txBody>
      </p:sp>
      <p:sp>
        <p:nvSpPr>
          <p:cNvPr id="6" name="S08-figure316" descr="위에서 본 모양에 수를 씀: 뒷줄 3, 1, 2 / 앞줄 2, 1, 1"/>
          <p:cNvSpPr/>
          <p:nvPr/>
        </p:nvSpPr>
        <p:spPr>
          <a:xfrm>
            <a:off x="75872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8-mark317"/>
          <p:cNvSpPr/>
          <p:nvPr/>
        </p:nvSpPr>
        <p:spPr>
          <a:xfrm>
            <a:off x="75872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8-mark318"/>
          <p:cNvSpPr/>
          <p:nvPr/>
        </p:nvSpPr>
        <p:spPr>
          <a:xfrm>
            <a:off x="85016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mark319"/>
          <p:cNvSpPr/>
          <p:nvPr/>
        </p:nvSpPr>
        <p:spPr>
          <a:xfrm>
            <a:off x="85016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8-mark320"/>
          <p:cNvSpPr/>
          <p:nvPr/>
        </p:nvSpPr>
        <p:spPr>
          <a:xfrm>
            <a:off x="94160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8-mark321"/>
          <p:cNvSpPr/>
          <p:nvPr/>
        </p:nvSpPr>
        <p:spPr>
          <a:xfrm>
            <a:off x="94160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label323"/>
          <p:cNvSpPr txBox="1"/>
          <p:nvPr/>
        </p:nvSpPr>
        <p:spPr>
          <a:xfrm>
            <a:off x="78973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08-label325"/>
          <p:cNvSpPr txBox="1"/>
          <p:nvPr/>
        </p:nvSpPr>
        <p:spPr>
          <a:xfrm>
            <a:off x="78973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4" name="S08-label327"/>
          <p:cNvSpPr txBox="1"/>
          <p:nvPr/>
        </p:nvSpPr>
        <p:spPr>
          <a:xfrm>
            <a:off x="88117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8-label329"/>
          <p:cNvSpPr txBox="1"/>
          <p:nvPr/>
        </p:nvSpPr>
        <p:spPr>
          <a:xfrm>
            <a:off x="88117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label331"/>
          <p:cNvSpPr txBox="1"/>
          <p:nvPr/>
        </p:nvSpPr>
        <p:spPr>
          <a:xfrm>
            <a:off x="97261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7" name="S08-label333"/>
          <p:cNvSpPr txBox="1"/>
          <p:nvPr/>
        </p:nvSpPr>
        <p:spPr>
          <a:xfrm>
            <a:off x="97261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08-label335"/>
          <p:cNvSpPr txBox="1"/>
          <p:nvPr/>
        </p:nvSpPr>
        <p:spPr>
          <a:xfrm>
            <a:off x="8767064" y="45573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9" name="S08-chip3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0" name="S08-text33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21" name="S08-chip3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08-text3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보면 왼쪽 줄부터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층씩 보이나요?</a:t>
            </a:r>
            <a:endParaRPr lang="ko-KR" sz="2800" dirty="0"/>
          </a:p>
        </p:txBody>
      </p:sp>
      <p:sp>
        <p:nvSpPr>
          <p:cNvPr id="23" name="S08-chip3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4" name="S08-text34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보면 앞줄부터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층씩 보이나요?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그렸을까요?</a:t>
            </a:r>
            <a:endParaRPr lang="ko-KR" sz="4000" dirty="0"/>
          </a:p>
        </p:txBody>
      </p:sp>
      <p:sp>
        <p:nvSpPr>
          <p:cNvPr id="3" name="S09-text3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모양을 앞에서 본 모양을 그렸어요.</a:t>
            </a:r>
            <a:endParaRPr lang="ko-KR" sz="2800" dirty="0"/>
          </a:p>
        </p:txBody>
      </p:sp>
      <p:sp>
        <p:nvSpPr>
          <p:cNvPr id="4" name="S09-card3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3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토끼는 가, 곰은 나처럼 그렸어요. 누가 맞을까요?</a:t>
            </a:r>
            <a:endParaRPr lang="ko-KR" sz="2800" dirty="0"/>
          </a:p>
        </p:txBody>
      </p:sp>
      <p:sp>
        <p:nvSpPr>
          <p:cNvPr id="6" name="S09-figure345" descr="위에서 본 모양에 수를 씀: 뒷줄 1, 1, 1 / 앞줄 1, 2"/>
          <p:cNvSpPr/>
          <p:nvPr/>
        </p:nvSpPr>
        <p:spPr>
          <a:xfrm>
            <a:off x="75872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9-mark346"/>
          <p:cNvSpPr/>
          <p:nvPr/>
        </p:nvSpPr>
        <p:spPr>
          <a:xfrm>
            <a:off x="75872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9-mark347"/>
          <p:cNvSpPr/>
          <p:nvPr/>
        </p:nvSpPr>
        <p:spPr>
          <a:xfrm>
            <a:off x="85016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348"/>
          <p:cNvSpPr/>
          <p:nvPr/>
        </p:nvSpPr>
        <p:spPr>
          <a:xfrm>
            <a:off x="85016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mark349"/>
          <p:cNvSpPr/>
          <p:nvPr/>
        </p:nvSpPr>
        <p:spPr>
          <a:xfrm>
            <a:off x="94160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9-label351"/>
          <p:cNvSpPr txBox="1"/>
          <p:nvPr/>
        </p:nvSpPr>
        <p:spPr>
          <a:xfrm>
            <a:off x="78973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9-label353"/>
          <p:cNvSpPr txBox="1"/>
          <p:nvPr/>
        </p:nvSpPr>
        <p:spPr>
          <a:xfrm>
            <a:off x="78973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9-label355"/>
          <p:cNvSpPr txBox="1"/>
          <p:nvPr/>
        </p:nvSpPr>
        <p:spPr>
          <a:xfrm>
            <a:off x="88117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9-label357"/>
          <p:cNvSpPr txBox="1"/>
          <p:nvPr/>
        </p:nvSpPr>
        <p:spPr>
          <a:xfrm>
            <a:off x="88117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9-label359"/>
          <p:cNvSpPr txBox="1"/>
          <p:nvPr/>
        </p:nvSpPr>
        <p:spPr>
          <a:xfrm>
            <a:off x="97261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9-label361"/>
          <p:cNvSpPr txBox="1"/>
          <p:nvPr/>
        </p:nvSpPr>
        <p:spPr>
          <a:xfrm>
            <a:off x="8767064" y="45573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7" name="S09-chip36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8" name="S09-cell363"/>
          <p:cNvSpPr/>
          <p:nvPr/>
        </p:nvSpPr>
        <p:spPr>
          <a:xfrm>
            <a:off x="3079242" y="2194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364"/>
          <p:cNvSpPr/>
          <p:nvPr/>
        </p:nvSpPr>
        <p:spPr>
          <a:xfrm>
            <a:off x="3445002" y="21945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365"/>
          <p:cNvSpPr/>
          <p:nvPr/>
        </p:nvSpPr>
        <p:spPr>
          <a:xfrm>
            <a:off x="3810762" y="2194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366"/>
          <p:cNvSpPr/>
          <p:nvPr/>
        </p:nvSpPr>
        <p:spPr>
          <a:xfrm>
            <a:off x="3079242" y="25603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cell367"/>
          <p:cNvSpPr/>
          <p:nvPr/>
        </p:nvSpPr>
        <p:spPr>
          <a:xfrm>
            <a:off x="3445002" y="25603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368"/>
          <p:cNvSpPr/>
          <p:nvPr/>
        </p:nvSpPr>
        <p:spPr>
          <a:xfrm>
            <a:off x="3810762" y="25603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cell369"/>
          <p:cNvSpPr/>
          <p:nvPr/>
        </p:nvSpPr>
        <p:spPr>
          <a:xfrm>
            <a:off x="307924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cell370"/>
          <p:cNvSpPr/>
          <p:nvPr/>
        </p:nvSpPr>
        <p:spPr>
          <a:xfrm>
            <a:off x="344500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371"/>
          <p:cNvSpPr/>
          <p:nvPr/>
        </p:nvSpPr>
        <p:spPr>
          <a:xfrm>
            <a:off x="381076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figure372" descr="가(토끼): 왼쪽부터 2칸, 3칸, 1칸 색칠"/>
          <p:cNvSpPr/>
          <p:nvPr/>
        </p:nvSpPr>
        <p:spPr>
          <a:xfrm>
            <a:off x="3079242" y="219456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9-chip37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9" name="S09-cell374"/>
          <p:cNvSpPr/>
          <p:nvPr/>
        </p:nvSpPr>
        <p:spPr>
          <a:xfrm>
            <a:off x="307924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375"/>
          <p:cNvSpPr/>
          <p:nvPr/>
        </p:nvSpPr>
        <p:spPr>
          <a:xfrm>
            <a:off x="344500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376"/>
          <p:cNvSpPr/>
          <p:nvPr/>
        </p:nvSpPr>
        <p:spPr>
          <a:xfrm>
            <a:off x="381076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377"/>
          <p:cNvSpPr/>
          <p:nvPr/>
        </p:nvSpPr>
        <p:spPr>
          <a:xfrm>
            <a:off x="3079242" y="4206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378"/>
          <p:cNvSpPr/>
          <p:nvPr/>
        </p:nvSpPr>
        <p:spPr>
          <a:xfrm>
            <a:off x="3445002" y="42062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379"/>
          <p:cNvSpPr/>
          <p:nvPr/>
        </p:nvSpPr>
        <p:spPr>
          <a:xfrm>
            <a:off x="3810762" y="4206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380"/>
          <p:cNvSpPr/>
          <p:nvPr/>
        </p:nvSpPr>
        <p:spPr>
          <a:xfrm>
            <a:off x="307924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381"/>
          <p:cNvSpPr/>
          <p:nvPr/>
        </p:nvSpPr>
        <p:spPr>
          <a:xfrm>
            <a:off x="344500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382"/>
          <p:cNvSpPr/>
          <p:nvPr/>
        </p:nvSpPr>
        <p:spPr>
          <a:xfrm>
            <a:off x="381076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figure383" descr="나(곰): 왼쪽부터 1칸, 2칸, 1칸 색칠"/>
          <p:cNvSpPr/>
          <p:nvPr/>
        </p:nvSpPr>
        <p:spPr>
          <a:xfrm>
            <a:off x="3079242" y="384048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모양으로 개수 구하기</a:t>
            </a:r>
            <a:endParaRPr lang="ko-KR" sz="4000" dirty="0"/>
          </a:p>
        </p:txBody>
      </p:sp>
      <p:sp>
        <p:nvSpPr>
          <p:cNvPr id="3" name="S10-text3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위·앞·옆에서 본 모양이에요.</a:t>
            </a:r>
            <a:endParaRPr lang="ko-KR" sz="2800" dirty="0"/>
          </a:p>
        </p:txBody>
      </p:sp>
      <p:sp>
        <p:nvSpPr>
          <p:cNvPr id="4" name="S10-card3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3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앞줄부터 정하고, 앞에서 본 모양으로 뒷줄을 정해요.</a:t>
            </a:r>
            <a:endParaRPr lang="ko-KR" sz="2800" dirty="0"/>
          </a:p>
        </p:txBody>
      </p:sp>
      <p:sp>
        <p:nvSpPr>
          <p:cNvPr id="6" name="S10-cell387"/>
          <p:cNvSpPr/>
          <p:nvPr/>
        </p:nvSpPr>
        <p:spPr>
          <a:xfrm>
            <a:off x="6488430" y="295694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cell388"/>
          <p:cNvSpPr/>
          <p:nvPr/>
        </p:nvSpPr>
        <p:spPr>
          <a:xfrm>
            <a:off x="6872478" y="295694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cell389"/>
          <p:cNvSpPr/>
          <p:nvPr/>
        </p:nvSpPr>
        <p:spPr>
          <a:xfrm>
            <a:off x="7256526" y="295694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390"/>
          <p:cNvSpPr/>
          <p:nvPr/>
        </p:nvSpPr>
        <p:spPr>
          <a:xfrm>
            <a:off x="6488430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391"/>
          <p:cNvSpPr/>
          <p:nvPr/>
        </p:nvSpPr>
        <p:spPr>
          <a:xfrm>
            <a:off x="6872478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392"/>
          <p:cNvSpPr/>
          <p:nvPr/>
        </p:nvSpPr>
        <p:spPr>
          <a:xfrm>
            <a:off x="7256526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figure393" descr="위에서 본 모양: 뒷줄 왼쪽 2칸, 앞줄 3칸"/>
          <p:cNvSpPr/>
          <p:nvPr/>
        </p:nvSpPr>
        <p:spPr>
          <a:xfrm>
            <a:off x="6488430" y="2956941"/>
            <a:ext cx="1152144" cy="76809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label394"/>
          <p:cNvSpPr txBox="1"/>
          <p:nvPr/>
        </p:nvSpPr>
        <p:spPr>
          <a:xfrm>
            <a:off x="6277356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200" dirty="0"/>
          </a:p>
        </p:txBody>
      </p:sp>
      <p:sp>
        <p:nvSpPr>
          <p:cNvPr id="14" name="S10-cell395"/>
          <p:cNvSpPr/>
          <p:nvPr/>
        </p:nvSpPr>
        <p:spPr>
          <a:xfrm>
            <a:off x="8382762" y="276491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396"/>
          <p:cNvSpPr/>
          <p:nvPr/>
        </p:nvSpPr>
        <p:spPr>
          <a:xfrm>
            <a:off x="8766810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397"/>
          <p:cNvSpPr/>
          <p:nvPr/>
        </p:nvSpPr>
        <p:spPr>
          <a:xfrm>
            <a:off x="9150858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398"/>
          <p:cNvSpPr/>
          <p:nvPr/>
        </p:nvSpPr>
        <p:spPr>
          <a:xfrm>
            <a:off x="8382762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399"/>
          <p:cNvSpPr/>
          <p:nvPr/>
        </p:nvSpPr>
        <p:spPr>
          <a:xfrm>
            <a:off x="8766810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400"/>
          <p:cNvSpPr/>
          <p:nvPr/>
        </p:nvSpPr>
        <p:spPr>
          <a:xfrm>
            <a:off x="9150858" y="314896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401"/>
          <p:cNvSpPr/>
          <p:nvPr/>
        </p:nvSpPr>
        <p:spPr>
          <a:xfrm>
            <a:off x="8382762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402"/>
          <p:cNvSpPr/>
          <p:nvPr/>
        </p:nvSpPr>
        <p:spPr>
          <a:xfrm>
            <a:off x="8766810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403"/>
          <p:cNvSpPr/>
          <p:nvPr/>
        </p:nvSpPr>
        <p:spPr>
          <a:xfrm>
            <a:off x="9150858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404" descr="앞에서 본 모양: 왼쪽부터 3칸, 2칸, 1칸"/>
          <p:cNvSpPr/>
          <p:nvPr/>
        </p:nvSpPr>
        <p:spPr>
          <a:xfrm>
            <a:off x="8382762" y="2764917"/>
            <a:ext cx="1152144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405"/>
          <p:cNvSpPr txBox="1"/>
          <p:nvPr/>
        </p:nvSpPr>
        <p:spPr>
          <a:xfrm>
            <a:off x="8171688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5" name="S10-cell406"/>
          <p:cNvSpPr/>
          <p:nvPr/>
        </p:nvSpPr>
        <p:spPr>
          <a:xfrm>
            <a:off x="10469118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407"/>
          <p:cNvSpPr/>
          <p:nvPr/>
        </p:nvSpPr>
        <p:spPr>
          <a:xfrm>
            <a:off x="10853166" y="276491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408"/>
          <p:cNvSpPr/>
          <p:nvPr/>
        </p:nvSpPr>
        <p:spPr>
          <a:xfrm>
            <a:off x="10469118" y="314896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409"/>
          <p:cNvSpPr/>
          <p:nvPr/>
        </p:nvSpPr>
        <p:spPr>
          <a:xfrm>
            <a:off x="10853166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410"/>
          <p:cNvSpPr/>
          <p:nvPr/>
        </p:nvSpPr>
        <p:spPr>
          <a:xfrm>
            <a:off x="10469118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411"/>
          <p:cNvSpPr/>
          <p:nvPr/>
        </p:nvSpPr>
        <p:spPr>
          <a:xfrm>
            <a:off x="10853166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figure412" descr="옆에서 본 모양: 왼쪽(앞줄) 1칸, 오른쪽(뒷줄) 3칸"/>
          <p:cNvSpPr/>
          <p:nvPr/>
        </p:nvSpPr>
        <p:spPr>
          <a:xfrm>
            <a:off x="10469118" y="2764917"/>
            <a:ext cx="768096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10-label413"/>
          <p:cNvSpPr txBox="1"/>
          <p:nvPr/>
        </p:nvSpPr>
        <p:spPr>
          <a:xfrm>
            <a:off x="10066020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3" name="S10-chip4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0-text41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옆을 보면 앞줄은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층인가요?</a:t>
            </a:r>
            <a:endParaRPr lang="ko-KR" sz="2800" dirty="0"/>
          </a:p>
        </p:txBody>
      </p:sp>
      <p:sp>
        <p:nvSpPr>
          <p:cNvPr id="35" name="S10-chip4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0-text41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뒷줄 왼쪽과 가운데에는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개씩 있나요?</a:t>
            </a:r>
            <a:endParaRPr lang="ko-KR" sz="2800" dirty="0"/>
          </a:p>
        </p:txBody>
      </p:sp>
      <p:sp>
        <p:nvSpPr>
          <p:cNvPr id="37" name="S10-chip4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0-text41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4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개수를 구하고, 어떻게 알았는지 말해요.</a:t>
            </a:r>
            <a:endParaRPr lang="ko-KR" sz="2800" dirty="0"/>
          </a:p>
        </p:txBody>
      </p:sp>
      <p:sp>
        <p:nvSpPr>
          <p:cNvPr id="4" name="S11-chip421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figure422" descr="쌓기나무를 쌓은 모양: 앞줄은 왼쪽부터 1층, 2층, 1층, 뒷줄은 가운데 2층, 오른쪽 1층이 보임"/>
          <p:cNvSpPr/>
          <p:nvPr/>
        </p:nvSpPr>
        <p:spPr>
          <a:xfrm>
            <a:off x="1953412" y="2269712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423"/>
          <p:cNvSpPr/>
          <p:nvPr/>
        </p:nvSpPr>
        <p:spPr>
          <a:xfrm>
            <a:off x="1953412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424"/>
          <p:cNvSpPr/>
          <p:nvPr/>
        </p:nvSpPr>
        <p:spPr>
          <a:xfrm>
            <a:off x="2255147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425"/>
          <p:cNvSpPr/>
          <p:nvPr/>
        </p:nvSpPr>
        <p:spPr>
          <a:xfrm>
            <a:off x="1651676" y="2443925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1-mark426"/>
          <p:cNvSpPr/>
          <p:nvPr/>
        </p:nvSpPr>
        <p:spPr>
          <a:xfrm>
            <a:off x="1651676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1-mark427"/>
          <p:cNvSpPr/>
          <p:nvPr/>
        </p:nvSpPr>
        <p:spPr>
          <a:xfrm>
            <a:off x="1953412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1-mark428"/>
          <p:cNvSpPr/>
          <p:nvPr/>
        </p:nvSpPr>
        <p:spPr>
          <a:xfrm>
            <a:off x="2255147" y="2443925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1-mark429"/>
          <p:cNvSpPr/>
          <p:nvPr/>
        </p:nvSpPr>
        <p:spPr>
          <a:xfrm>
            <a:off x="2255147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1-mark430"/>
          <p:cNvSpPr/>
          <p:nvPr/>
        </p:nvSpPr>
        <p:spPr>
          <a:xfrm>
            <a:off x="2556883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1-mark431"/>
          <p:cNvSpPr/>
          <p:nvPr/>
        </p:nvSpPr>
        <p:spPr>
          <a:xfrm>
            <a:off x="1953412" y="2618137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1-mark432"/>
          <p:cNvSpPr/>
          <p:nvPr/>
        </p:nvSpPr>
        <p:spPr>
          <a:xfrm>
            <a:off x="1953412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1-mark433"/>
          <p:cNvSpPr/>
          <p:nvPr/>
        </p:nvSpPr>
        <p:spPr>
          <a:xfrm>
            <a:off x="2255147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1-mark434"/>
          <p:cNvSpPr/>
          <p:nvPr/>
        </p:nvSpPr>
        <p:spPr>
          <a:xfrm>
            <a:off x="2556883" y="2618137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1-mark435"/>
          <p:cNvSpPr/>
          <p:nvPr/>
        </p:nvSpPr>
        <p:spPr>
          <a:xfrm>
            <a:off x="2556883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1-mark436"/>
          <p:cNvSpPr/>
          <p:nvPr/>
        </p:nvSpPr>
        <p:spPr>
          <a:xfrm>
            <a:off x="2858618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mark437"/>
          <p:cNvSpPr/>
          <p:nvPr/>
        </p:nvSpPr>
        <p:spPr>
          <a:xfrm>
            <a:off x="2255147" y="2095500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1-mark438"/>
          <p:cNvSpPr/>
          <p:nvPr/>
        </p:nvSpPr>
        <p:spPr>
          <a:xfrm>
            <a:off x="2255147" y="2269712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1-mark439"/>
          <p:cNvSpPr/>
          <p:nvPr/>
        </p:nvSpPr>
        <p:spPr>
          <a:xfrm>
            <a:off x="2556883" y="2269712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mark440"/>
          <p:cNvSpPr/>
          <p:nvPr/>
        </p:nvSpPr>
        <p:spPr>
          <a:xfrm>
            <a:off x="2255147" y="2792349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1-mark441"/>
          <p:cNvSpPr/>
          <p:nvPr/>
        </p:nvSpPr>
        <p:spPr>
          <a:xfrm>
            <a:off x="2255147" y="2966561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1-mark442"/>
          <p:cNvSpPr/>
          <p:nvPr/>
        </p:nvSpPr>
        <p:spPr>
          <a:xfrm>
            <a:off x="2556883" y="2966561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11-mark443"/>
          <p:cNvSpPr/>
          <p:nvPr/>
        </p:nvSpPr>
        <p:spPr>
          <a:xfrm>
            <a:off x="1953412" y="2269712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1-mark444"/>
          <p:cNvSpPr/>
          <p:nvPr/>
        </p:nvSpPr>
        <p:spPr>
          <a:xfrm>
            <a:off x="1953412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1-mark445"/>
          <p:cNvSpPr/>
          <p:nvPr/>
        </p:nvSpPr>
        <p:spPr>
          <a:xfrm>
            <a:off x="2255147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1-label446"/>
          <p:cNvSpPr txBox="1"/>
          <p:nvPr/>
        </p:nvSpPr>
        <p:spPr>
          <a:xfrm>
            <a:off x="1344168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쌓은 모양</a:t>
            </a:r>
            <a:endParaRPr lang="ko-KR" sz="2200" dirty="0"/>
          </a:p>
        </p:txBody>
      </p:sp>
      <p:sp>
        <p:nvSpPr>
          <p:cNvPr id="30" name="S11-figure447" descr="위에서 본 모양: 앞줄 3칸, 뒷줄 3칸(여섯 칸 모두)"/>
          <p:cNvSpPr/>
          <p:nvPr/>
        </p:nvSpPr>
        <p:spPr>
          <a:xfrm>
            <a:off x="423252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1-mark448"/>
          <p:cNvSpPr/>
          <p:nvPr/>
        </p:nvSpPr>
        <p:spPr>
          <a:xfrm>
            <a:off x="423252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11-mark449"/>
          <p:cNvSpPr/>
          <p:nvPr/>
        </p:nvSpPr>
        <p:spPr>
          <a:xfrm>
            <a:off x="464400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11-mark450"/>
          <p:cNvSpPr/>
          <p:nvPr/>
        </p:nvSpPr>
        <p:spPr>
          <a:xfrm>
            <a:off x="464400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11-mark451"/>
          <p:cNvSpPr/>
          <p:nvPr/>
        </p:nvSpPr>
        <p:spPr>
          <a:xfrm>
            <a:off x="505548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11-mark452"/>
          <p:cNvSpPr/>
          <p:nvPr/>
        </p:nvSpPr>
        <p:spPr>
          <a:xfrm>
            <a:off x="505548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11-label454"/>
          <p:cNvSpPr txBox="1"/>
          <p:nvPr/>
        </p:nvSpPr>
        <p:spPr>
          <a:xfrm>
            <a:off x="4657979" y="314236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7" name="S11-label455"/>
          <p:cNvSpPr txBox="1"/>
          <p:nvPr/>
        </p:nvSpPr>
        <p:spPr>
          <a:xfrm>
            <a:off x="3787902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</a:t>
            </a:r>
            <a:endParaRPr lang="ko-KR" sz="2200" dirty="0"/>
          </a:p>
        </p:txBody>
      </p:sp>
      <p:sp>
        <p:nvSpPr>
          <p:cNvPr id="38" name="S11-chip456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9" name="S11-figure457" descr="위에서 본 모양에 수를 씀: 뒷줄 2, 1, 2 / 앞줄 3, 1"/>
          <p:cNvSpPr/>
          <p:nvPr/>
        </p:nvSpPr>
        <p:spPr>
          <a:xfrm>
            <a:off x="8271869" y="2818653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11-mark458"/>
          <p:cNvSpPr/>
          <p:nvPr/>
        </p:nvSpPr>
        <p:spPr>
          <a:xfrm>
            <a:off x="8271869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11-mark459"/>
          <p:cNvSpPr/>
          <p:nvPr/>
        </p:nvSpPr>
        <p:spPr>
          <a:xfrm>
            <a:off x="8995022" y="2818653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11-mark460"/>
          <p:cNvSpPr/>
          <p:nvPr/>
        </p:nvSpPr>
        <p:spPr>
          <a:xfrm>
            <a:off x="8995022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1-mark461"/>
          <p:cNvSpPr/>
          <p:nvPr/>
        </p:nvSpPr>
        <p:spPr>
          <a:xfrm>
            <a:off x="9718174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label463"/>
          <p:cNvSpPr txBox="1"/>
          <p:nvPr/>
        </p:nvSpPr>
        <p:spPr>
          <a:xfrm>
            <a:off x="8486379" y="300560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5" name="S11-label465"/>
          <p:cNvSpPr txBox="1"/>
          <p:nvPr/>
        </p:nvSpPr>
        <p:spPr>
          <a:xfrm>
            <a:off x="8486379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6" name="S11-label467"/>
          <p:cNvSpPr txBox="1"/>
          <p:nvPr/>
        </p:nvSpPr>
        <p:spPr>
          <a:xfrm>
            <a:off x="9209532" y="300560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7" name="S11-label469"/>
          <p:cNvSpPr txBox="1"/>
          <p:nvPr/>
        </p:nvSpPr>
        <p:spPr>
          <a:xfrm>
            <a:off x="9209532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11-label471"/>
          <p:cNvSpPr txBox="1"/>
          <p:nvPr/>
        </p:nvSpPr>
        <p:spPr>
          <a:xfrm>
            <a:off x="9932685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9" name="S11-label473"/>
          <p:cNvSpPr txBox="1"/>
          <p:nvPr/>
        </p:nvSpPr>
        <p:spPr>
          <a:xfrm>
            <a:off x="9164828" y="376491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50" name="S11-chip474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1" name="S11-cell475"/>
          <p:cNvSpPr/>
          <p:nvPr/>
        </p:nvSpPr>
        <p:spPr>
          <a:xfrm>
            <a:off x="145008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1-cell476"/>
          <p:cNvSpPr/>
          <p:nvPr/>
        </p:nvSpPr>
        <p:spPr>
          <a:xfrm>
            <a:off x="181584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1-cell477"/>
          <p:cNvSpPr/>
          <p:nvPr/>
        </p:nvSpPr>
        <p:spPr>
          <a:xfrm>
            <a:off x="218160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1-cell478"/>
          <p:cNvSpPr/>
          <p:nvPr/>
        </p:nvSpPr>
        <p:spPr>
          <a:xfrm>
            <a:off x="145008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1-cell479"/>
          <p:cNvSpPr/>
          <p:nvPr/>
        </p:nvSpPr>
        <p:spPr>
          <a:xfrm>
            <a:off x="181584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1-cell480"/>
          <p:cNvSpPr/>
          <p:nvPr/>
        </p:nvSpPr>
        <p:spPr>
          <a:xfrm>
            <a:off x="218160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1-figure481" descr="1층 모양: 6칸 모두 색칠"/>
          <p:cNvSpPr/>
          <p:nvPr/>
        </p:nvSpPr>
        <p:spPr>
          <a:xfrm>
            <a:off x="1450086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8" name="S11-label482"/>
          <p:cNvSpPr txBox="1"/>
          <p:nvPr/>
        </p:nvSpPr>
        <p:spPr>
          <a:xfrm>
            <a:off x="1344168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</a:t>
            </a:r>
            <a:endParaRPr lang="ko-KR" sz="2200" dirty="0"/>
          </a:p>
        </p:txBody>
      </p:sp>
      <p:sp>
        <p:nvSpPr>
          <p:cNvPr id="59" name="S11-cell483"/>
          <p:cNvSpPr/>
          <p:nvPr/>
        </p:nvSpPr>
        <p:spPr>
          <a:xfrm>
            <a:off x="3079242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1-cell484"/>
          <p:cNvSpPr/>
          <p:nvPr/>
        </p:nvSpPr>
        <p:spPr>
          <a:xfrm>
            <a:off x="3445002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1-cell485"/>
          <p:cNvSpPr/>
          <p:nvPr/>
        </p:nvSpPr>
        <p:spPr>
          <a:xfrm>
            <a:off x="3810762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1-cell486"/>
          <p:cNvSpPr/>
          <p:nvPr/>
        </p:nvSpPr>
        <p:spPr>
          <a:xfrm>
            <a:off x="3079242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11-cell487"/>
          <p:cNvSpPr/>
          <p:nvPr/>
        </p:nvSpPr>
        <p:spPr>
          <a:xfrm>
            <a:off x="3445002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1-cell488"/>
          <p:cNvSpPr/>
          <p:nvPr/>
        </p:nvSpPr>
        <p:spPr>
          <a:xfrm>
            <a:off x="3810762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11-figure489" descr="2층 모양: 앞줄 가운데, 뒷줄 왼쪽, 뒷줄 오른쪽 3칸 색칠"/>
          <p:cNvSpPr/>
          <p:nvPr/>
        </p:nvSpPr>
        <p:spPr>
          <a:xfrm>
            <a:off x="3079242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11-label490"/>
          <p:cNvSpPr txBox="1"/>
          <p:nvPr/>
        </p:nvSpPr>
        <p:spPr>
          <a:xfrm>
            <a:off x="2973324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</a:t>
            </a:r>
            <a:endParaRPr lang="ko-KR" sz="2200" dirty="0"/>
          </a:p>
        </p:txBody>
      </p:sp>
      <p:sp>
        <p:nvSpPr>
          <p:cNvPr id="67" name="S11-cell491"/>
          <p:cNvSpPr/>
          <p:nvPr/>
        </p:nvSpPr>
        <p:spPr>
          <a:xfrm>
            <a:off x="4708398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1-cell492"/>
          <p:cNvSpPr/>
          <p:nvPr/>
        </p:nvSpPr>
        <p:spPr>
          <a:xfrm>
            <a:off x="5074158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11-cell493"/>
          <p:cNvSpPr/>
          <p:nvPr/>
        </p:nvSpPr>
        <p:spPr>
          <a:xfrm>
            <a:off x="5439918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1-cell494"/>
          <p:cNvSpPr/>
          <p:nvPr/>
        </p:nvSpPr>
        <p:spPr>
          <a:xfrm>
            <a:off x="470839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1-cell495"/>
          <p:cNvSpPr/>
          <p:nvPr/>
        </p:nvSpPr>
        <p:spPr>
          <a:xfrm>
            <a:off x="507415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1-cell496"/>
          <p:cNvSpPr/>
          <p:nvPr/>
        </p:nvSpPr>
        <p:spPr>
          <a:xfrm>
            <a:off x="543991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1-figure497" descr="3층 모양: 뒷줄 왼쪽 1칸 색칠"/>
          <p:cNvSpPr/>
          <p:nvPr/>
        </p:nvSpPr>
        <p:spPr>
          <a:xfrm>
            <a:off x="4708398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4" name="S11-label498"/>
          <p:cNvSpPr txBox="1"/>
          <p:nvPr/>
        </p:nvSpPr>
        <p:spPr>
          <a:xfrm>
            <a:off x="4602480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</a:t>
            </a:r>
            <a:endParaRPr lang="ko-KR" sz="2200" dirty="0"/>
          </a:p>
        </p:txBody>
      </p:sp>
      <p:sp>
        <p:nvSpPr>
          <p:cNvPr id="75" name="S11-chip49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76" name="S11-text50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앞에서 보면 왼쪽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줄부터 몇 층씩 보이나요?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본 모양은?</a:t>
            </a:r>
            <a:endParaRPr lang="ko-KR" sz="4000" dirty="0"/>
          </a:p>
        </p:txBody>
      </p:sp>
      <p:sp>
        <p:nvSpPr>
          <p:cNvPr id="3" name="S13-text5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옆에서 본 모양을 고르고, 까닭을 말해요.</a:t>
            </a:r>
            <a:endParaRPr lang="ko-KR" sz="2800" dirty="0"/>
          </a:p>
        </p:txBody>
      </p:sp>
      <p:sp>
        <p:nvSpPr>
          <p:cNvPr id="4" name="S13-figure502" descr="위에서 본 모양에 수를 씀: 뒷줄 3, 2, 1 / 앞줄 2, 1"/>
          <p:cNvSpPr/>
          <p:nvPr/>
        </p:nvSpPr>
        <p:spPr>
          <a:xfrm>
            <a:off x="7587234" y="38633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3-mark503"/>
          <p:cNvSpPr/>
          <p:nvPr/>
        </p:nvSpPr>
        <p:spPr>
          <a:xfrm>
            <a:off x="75872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3-mark504"/>
          <p:cNvSpPr/>
          <p:nvPr/>
        </p:nvSpPr>
        <p:spPr>
          <a:xfrm>
            <a:off x="8501634" y="38633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3-mark505"/>
          <p:cNvSpPr/>
          <p:nvPr/>
        </p:nvSpPr>
        <p:spPr>
          <a:xfrm>
            <a:off x="85016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mark506"/>
          <p:cNvSpPr/>
          <p:nvPr/>
        </p:nvSpPr>
        <p:spPr>
          <a:xfrm>
            <a:off x="94160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3-label508"/>
          <p:cNvSpPr txBox="1"/>
          <p:nvPr/>
        </p:nvSpPr>
        <p:spPr>
          <a:xfrm>
            <a:off x="7897368" y="41459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3-label510"/>
          <p:cNvSpPr txBox="1"/>
          <p:nvPr/>
        </p:nvSpPr>
        <p:spPr>
          <a:xfrm>
            <a:off x="78973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3-label512"/>
          <p:cNvSpPr txBox="1"/>
          <p:nvPr/>
        </p:nvSpPr>
        <p:spPr>
          <a:xfrm>
            <a:off x="8811768" y="41459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13-label514"/>
          <p:cNvSpPr txBox="1"/>
          <p:nvPr/>
        </p:nvSpPr>
        <p:spPr>
          <a:xfrm>
            <a:off x="88117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13-label516"/>
          <p:cNvSpPr txBox="1"/>
          <p:nvPr/>
        </p:nvSpPr>
        <p:spPr>
          <a:xfrm>
            <a:off x="97261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13-label518"/>
          <p:cNvSpPr txBox="1"/>
          <p:nvPr/>
        </p:nvSpPr>
        <p:spPr>
          <a:xfrm>
            <a:off x="8767064" y="51060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5" name="S13-chip51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6" name="S13-cell520"/>
          <p:cNvSpPr/>
          <p:nvPr/>
        </p:nvSpPr>
        <p:spPr>
          <a:xfrm>
            <a:off x="3262122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521"/>
          <p:cNvSpPr/>
          <p:nvPr/>
        </p:nvSpPr>
        <p:spPr>
          <a:xfrm>
            <a:off x="362788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522"/>
          <p:cNvSpPr/>
          <p:nvPr/>
        </p:nvSpPr>
        <p:spPr>
          <a:xfrm>
            <a:off x="326212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523"/>
          <p:cNvSpPr/>
          <p:nvPr/>
        </p:nvSpPr>
        <p:spPr>
          <a:xfrm>
            <a:off x="362788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cell524"/>
          <p:cNvSpPr/>
          <p:nvPr/>
        </p:nvSpPr>
        <p:spPr>
          <a:xfrm>
            <a:off x="326212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525"/>
          <p:cNvSpPr/>
          <p:nvPr/>
        </p:nvSpPr>
        <p:spPr>
          <a:xfrm>
            <a:off x="362788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figure526" descr="가: 왼쪽 3칸, 오른쪽 2칸 색칠"/>
          <p:cNvSpPr/>
          <p:nvPr/>
        </p:nvSpPr>
        <p:spPr>
          <a:xfrm>
            <a:off x="3262122" y="210312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3-chip52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4" name="S13-cell528"/>
          <p:cNvSpPr/>
          <p:nvPr/>
        </p:nvSpPr>
        <p:spPr>
          <a:xfrm>
            <a:off x="3262122" y="35661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529"/>
          <p:cNvSpPr/>
          <p:nvPr/>
        </p:nvSpPr>
        <p:spPr>
          <a:xfrm>
            <a:off x="3627882" y="35661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530"/>
          <p:cNvSpPr/>
          <p:nvPr/>
        </p:nvSpPr>
        <p:spPr>
          <a:xfrm>
            <a:off x="326212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531"/>
          <p:cNvSpPr/>
          <p:nvPr/>
        </p:nvSpPr>
        <p:spPr>
          <a:xfrm>
            <a:off x="362788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532"/>
          <p:cNvSpPr/>
          <p:nvPr/>
        </p:nvSpPr>
        <p:spPr>
          <a:xfrm>
            <a:off x="326212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533"/>
          <p:cNvSpPr/>
          <p:nvPr/>
        </p:nvSpPr>
        <p:spPr>
          <a:xfrm>
            <a:off x="362788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figure534" descr="나: 왼쪽 2칸, 오른쪽 3칸 색칠"/>
          <p:cNvSpPr/>
          <p:nvPr/>
        </p:nvSpPr>
        <p:spPr>
          <a:xfrm>
            <a:off x="3262122" y="356616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3-chip53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32" name="S13-cell536"/>
          <p:cNvSpPr/>
          <p:nvPr/>
        </p:nvSpPr>
        <p:spPr>
          <a:xfrm>
            <a:off x="3079242" y="50292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3-cell537"/>
          <p:cNvSpPr/>
          <p:nvPr/>
        </p:nvSpPr>
        <p:spPr>
          <a:xfrm>
            <a:off x="344500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3-cell538"/>
          <p:cNvSpPr/>
          <p:nvPr/>
        </p:nvSpPr>
        <p:spPr>
          <a:xfrm>
            <a:off x="381076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3-cell539"/>
          <p:cNvSpPr/>
          <p:nvPr/>
        </p:nvSpPr>
        <p:spPr>
          <a:xfrm>
            <a:off x="307924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3-cell540"/>
          <p:cNvSpPr/>
          <p:nvPr/>
        </p:nvSpPr>
        <p:spPr>
          <a:xfrm>
            <a:off x="344500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cell541"/>
          <p:cNvSpPr/>
          <p:nvPr/>
        </p:nvSpPr>
        <p:spPr>
          <a:xfrm>
            <a:off x="3810762" y="5394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cell542"/>
          <p:cNvSpPr/>
          <p:nvPr/>
        </p:nvSpPr>
        <p:spPr>
          <a:xfrm>
            <a:off x="307924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cell543"/>
          <p:cNvSpPr/>
          <p:nvPr/>
        </p:nvSpPr>
        <p:spPr>
          <a:xfrm>
            <a:off x="344500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cell544"/>
          <p:cNvSpPr/>
          <p:nvPr/>
        </p:nvSpPr>
        <p:spPr>
          <a:xfrm>
            <a:off x="381076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figure545" descr="다: 왼쪽부터 3칸, 2칸, 1칸 색칠"/>
          <p:cNvSpPr/>
          <p:nvPr/>
        </p:nvSpPr>
        <p:spPr>
          <a:xfrm>
            <a:off x="3079242" y="502920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54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4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앞·옆에서는 줄마다 가장 높은 층이 보여요. 숨은 쌓기나무는 위에서 본 모양으로 확인해요.</a:t>
            </a:r>
            <a:endParaRPr lang="ko-KR" sz="2800" dirty="0"/>
          </a:p>
        </p:txBody>
      </p:sp>
      <p:sp>
        <p:nvSpPr>
          <p:cNvPr id="5" name="S14-chip54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자리마다 수를 써서 더하기</a:t>
            </a:r>
            <a:endParaRPr lang="ko-KR" sz="2200" dirty="0"/>
          </a:p>
        </p:txBody>
      </p:sp>
      <p:sp>
        <p:nvSpPr>
          <p:cNvPr id="6" name="S14-chip54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줄의 수를 더해 앞모양 그리기</a:t>
            </a:r>
            <a:endParaRPr lang="ko-KR" sz="2200" dirty="0"/>
          </a:p>
        </p:txBody>
      </p:sp>
      <p:sp>
        <p:nvSpPr>
          <p:cNvPr id="7" name="S14-text55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551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위에서 본 모양에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2, 3, 1이 있으면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2200" dirty="0"/>
          </a:p>
        </p:txBody>
      </p:sp>
      <p:sp>
        <p:nvSpPr>
          <p:cNvPr id="9" name="S14-text55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앞뒤로 1층과 3층이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줄을 앞에서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몇 층?</a:t>
            </a:r>
            <a:endParaRPr lang="ko-KR" sz="2200" dirty="0"/>
          </a:p>
        </p:txBody>
      </p:sp>
      <p:sp>
        <p:nvSpPr>
          <p:cNvPr id="10" name="S14-text55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그림만으로 개수를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정할 수 없는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200" dirty="0"/>
          </a:p>
        </p:txBody>
      </p:sp>
      <p:sp>
        <p:nvSpPr>
          <p:cNvPr id="11" name="S14-text5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직육면체의 겉넓이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층별로 세기</a:t>
            </a:r>
            <a:endParaRPr lang="ko-KR" sz="4000" dirty="0"/>
          </a:p>
        </p:txBody>
      </p:sp>
      <p:sp>
        <p:nvSpPr>
          <p:cNvPr id="3" name="S15-card5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5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+ 1 = 6, 모두 6개예요.</a:t>
            </a:r>
            <a:endParaRPr lang="ko-KR" sz="2800" dirty="0"/>
          </a:p>
        </p:txBody>
      </p:sp>
      <p:sp>
        <p:nvSpPr>
          <p:cNvPr id="5" name="S15-figure557" descr="쌓기나무 6개를 한 줄로 계단처럼 쌓은 모양: 왼쪽부터 1층, 2층, 3층"/>
          <p:cNvSpPr/>
          <p:nvPr/>
        </p:nvSpPr>
        <p:spPr>
          <a:xfrm>
            <a:off x="1659575" y="231648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5-mark558"/>
          <p:cNvSpPr/>
          <p:nvPr/>
        </p:nvSpPr>
        <p:spPr>
          <a:xfrm>
            <a:off x="1659575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5-mark559"/>
          <p:cNvSpPr/>
          <p:nvPr/>
        </p:nvSpPr>
        <p:spPr>
          <a:xfrm>
            <a:off x="2444847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560"/>
          <p:cNvSpPr/>
          <p:nvPr/>
        </p:nvSpPr>
        <p:spPr>
          <a:xfrm>
            <a:off x="2444847" y="276987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mark561"/>
          <p:cNvSpPr/>
          <p:nvPr/>
        </p:nvSpPr>
        <p:spPr>
          <a:xfrm>
            <a:off x="2444847" y="322326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5-mark562"/>
          <p:cNvSpPr/>
          <p:nvPr/>
        </p:nvSpPr>
        <p:spPr>
          <a:xfrm>
            <a:off x="3230118" y="322326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5-mark563"/>
          <p:cNvSpPr/>
          <p:nvPr/>
        </p:nvSpPr>
        <p:spPr>
          <a:xfrm>
            <a:off x="3230118" y="322326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mark564"/>
          <p:cNvSpPr/>
          <p:nvPr/>
        </p:nvSpPr>
        <p:spPr>
          <a:xfrm>
            <a:off x="3230118" y="367665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5-mark565"/>
          <p:cNvSpPr/>
          <p:nvPr/>
        </p:nvSpPr>
        <p:spPr>
          <a:xfrm>
            <a:off x="4015389" y="367665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5-mark566"/>
          <p:cNvSpPr/>
          <p:nvPr/>
        </p:nvSpPr>
        <p:spPr>
          <a:xfrm>
            <a:off x="2444847" y="186309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5-mark567"/>
          <p:cNvSpPr/>
          <p:nvPr/>
        </p:nvSpPr>
        <p:spPr>
          <a:xfrm>
            <a:off x="2444847" y="231648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mark568"/>
          <p:cNvSpPr/>
          <p:nvPr/>
        </p:nvSpPr>
        <p:spPr>
          <a:xfrm>
            <a:off x="3230118" y="231648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5-mark569"/>
          <p:cNvSpPr/>
          <p:nvPr/>
        </p:nvSpPr>
        <p:spPr>
          <a:xfrm>
            <a:off x="3230118" y="231648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5-mark570"/>
          <p:cNvSpPr/>
          <p:nvPr/>
        </p:nvSpPr>
        <p:spPr>
          <a:xfrm>
            <a:off x="3230118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mark571"/>
          <p:cNvSpPr/>
          <p:nvPr/>
        </p:nvSpPr>
        <p:spPr>
          <a:xfrm>
            <a:off x="4015389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5-mark572"/>
          <p:cNvSpPr/>
          <p:nvPr/>
        </p:nvSpPr>
        <p:spPr>
          <a:xfrm>
            <a:off x="3230118" y="140970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5-mark573"/>
          <p:cNvSpPr/>
          <p:nvPr/>
        </p:nvSpPr>
        <p:spPr>
          <a:xfrm>
            <a:off x="3230118" y="186309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5-mark574"/>
          <p:cNvSpPr/>
          <p:nvPr/>
        </p:nvSpPr>
        <p:spPr>
          <a:xfrm>
            <a:off x="4015389" y="186309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5-card575"/>
          <p:cNvSpPr/>
          <p:nvPr/>
        </p:nvSpPr>
        <p:spPr>
          <a:xfrm>
            <a:off x="6277356" y="16916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576"/>
          <p:cNvSpPr txBox="1"/>
          <p:nvPr/>
        </p:nvSpPr>
        <p:spPr>
          <a:xfrm>
            <a:off x="6551676" y="18288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</a:t>
            </a:r>
            <a:endParaRPr lang="ko-KR" sz="2800" dirty="0"/>
          </a:p>
        </p:txBody>
      </p:sp>
      <p:sp>
        <p:nvSpPr>
          <p:cNvPr id="25" name="S15-card577"/>
          <p:cNvSpPr/>
          <p:nvPr/>
        </p:nvSpPr>
        <p:spPr>
          <a:xfrm>
            <a:off x="6277356" y="27889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578"/>
          <p:cNvSpPr txBox="1"/>
          <p:nvPr/>
        </p:nvSpPr>
        <p:spPr>
          <a:xfrm>
            <a:off x="6551676" y="29260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2개</a:t>
            </a:r>
            <a:endParaRPr lang="ko-KR" sz="2800" dirty="0"/>
          </a:p>
        </p:txBody>
      </p:sp>
      <p:sp>
        <p:nvSpPr>
          <p:cNvPr id="27" name="S15-card579"/>
          <p:cNvSpPr/>
          <p:nvPr/>
        </p:nvSpPr>
        <p:spPr>
          <a:xfrm>
            <a:off x="6277356" y="38862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5-cardtext580"/>
          <p:cNvSpPr txBox="1"/>
          <p:nvPr/>
        </p:nvSpPr>
        <p:spPr>
          <a:xfrm>
            <a:off x="6551676" y="40233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3층에 1개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쌓기나무와 공간 감각</dc:title>
  <dc:subject>KR22-G06-MAT-VIEWS-L01</dc:subject>
  <dc:creator>education-ppt</dc:creator>
  <cp:lastModifiedBy>education-ppt</cp:lastModifiedBy>
  <cp:revision>1</cp:revision>
  <dcterms:created xsi:type="dcterms:W3CDTF">2026-10-26T09:09:11Z</dcterms:created>
  <dcterms:modified xsi:type="dcterms:W3CDTF">2026-10-26T09:09:11Z</dcterms:modified>
</cp:coreProperties>
</file>