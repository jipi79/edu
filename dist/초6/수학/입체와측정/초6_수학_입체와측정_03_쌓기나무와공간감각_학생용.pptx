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b40e06d-c2dc-c8ca-fe43-0cce3223275b}">
          <p14:sldIdLst>
            <p14:sldId id="256"/>
            <p14:sldId id="257"/>
          </p14:sldIdLst>
        </p14:section>
        <p14:section name="개념" id="{94f6f63a-3347-6643-280f-b749b9deee4f}">
          <p14:sldIdLst>
            <p14:sldId id="258"/>
            <p14:sldId id="260"/>
            <p14:sldId id="261"/>
            <p14:sldId id="262"/>
          </p14:sldIdLst>
        </p14:section>
        <p14:section name="연습" id="{7d7803fb-e701-9446-61da-7f6b3f62e7f0}">
          <p14:sldIdLst>
            <p14:sldId id="259"/>
            <p14:sldId id="263"/>
            <p14:sldId id="264"/>
            <p14:sldId id="265"/>
          </p14:sldIdLst>
        </p14:section>
        <p14:section name="개념" id="{54da03e5-9484-0015-04c9-7f9a86370eed}">
          <p14:sldIdLst/>
        </p14:section>
        <p14:section name="연습" id="{3aacb502-6baf-608a-9a12-a026407df076}">
          <p14:sldIdLst/>
        </p14:section>
        <p14:section name="확인" id="{3b276ada-9be5-8a3b-f19b-4863b5f451bb}">
          <p14:sldIdLst>
            <p14:sldId id="266"/>
            <p14:sldId id="267"/>
          </p14:sldIdLst>
        </p14:section>
        <p14:section name="정리" id="{637e8fe3-d1f0-d76d-e0e3-4832f897a671}">
          <p14:sldIdLst>
            <p14:sldId id="268"/>
          </p14:sldIdLst>
        </p14:section>
        <p14:section name="보충" id="{87bf0d6e-27e6-725f-b24b-1bf339cf33c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쌓기나무와 공간 감각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쌓기나무와 공간 감각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쌓기나무와 공간 감각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쌓기나무와 공간 감각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쌓기나무까지 셀 수 있을까?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쌓기나무 8개로 쌓은 모양: 왼쪽 뒤가 3층, 왼쪽 앞이 2층, 나머지는 1층"/>
          <p:cNvSpPr/>
          <p:nvPr/>
        </p:nvSpPr>
        <p:spPr>
          <a:xfrm>
            <a:off x="9212591" y="1726969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212591" y="1977736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646920" y="1977736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778262" y="1977736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778262" y="2228504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212591" y="2228504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646920" y="1977736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646920" y="2228504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10081249" y="2228504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212591" y="1225435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9212591" y="1476202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646920" y="1476202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212591" y="2228504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212591" y="2479271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9646920" y="2479271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8778262" y="1476202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8778262" y="1726969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9212591" y="1726969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9212591" y="723900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9212591" y="974667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9646920" y="974667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>
            <a:off x="9646920" y="2479271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>
            <a:off x="9646920" y="2730038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>
            <a:off x="10081249" y="2730038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1-card26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0" name="S01-cardtext27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위·앞·옆에서 본 모양을 알아내요.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쌓기나무의 개수를 정확히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28" descr="쌓기나무 4개를 한 줄로 쌓은 모양: 1층에 3개, 맨 왼쪽 쌓기나무 위에 1개"/>
          <p:cNvSpPr/>
          <p:nvPr/>
        </p:nvSpPr>
        <p:spPr>
          <a:xfrm>
            <a:off x="7375093" y="2857500"/>
            <a:ext cx="1583741" cy="914400"/>
          </a:xfrm>
          <a:custGeom>
            <a:avLst/>
            <a:gdLst/>
            <a:ahLst/>
            <a:cxnLst/>
            <a:rect l="l" t="t" r="r" b="b"/>
            <a:pathLst>
              <a:path w="1583741" h="914400">
                <a:moveTo>
                  <a:pt x="0" y="457200"/>
                </a:moveTo>
                <a:lnTo>
                  <a:pt x="791870" y="914400"/>
                </a:lnTo>
                <a:lnTo>
                  <a:pt x="1583741" y="457200"/>
                </a:lnTo>
                <a:lnTo>
                  <a:pt x="7918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2-mark29"/>
          <p:cNvSpPr/>
          <p:nvPr/>
        </p:nvSpPr>
        <p:spPr>
          <a:xfrm>
            <a:off x="7375093" y="33147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914400"/>
                </a:moveTo>
                <a:lnTo>
                  <a:pt x="791870" y="1371600"/>
                </a:lnTo>
                <a:lnTo>
                  <a:pt x="79187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2-mark30"/>
          <p:cNvSpPr/>
          <p:nvPr/>
        </p:nvSpPr>
        <p:spPr>
          <a:xfrm>
            <a:off x="8166964" y="33147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1371600"/>
                </a:moveTo>
                <a:lnTo>
                  <a:pt x="791870" y="914400"/>
                </a:lnTo>
                <a:lnTo>
                  <a:pt x="79187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2-mark31"/>
          <p:cNvSpPr/>
          <p:nvPr/>
        </p:nvSpPr>
        <p:spPr>
          <a:xfrm>
            <a:off x="8166964" y="3314700"/>
            <a:ext cx="1583741" cy="914400"/>
          </a:xfrm>
          <a:custGeom>
            <a:avLst/>
            <a:gdLst/>
            <a:ahLst/>
            <a:cxnLst/>
            <a:rect l="l" t="t" r="r" b="b"/>
            <a:pathLst>
              <a:path w="1583741" h="914400">
                <a:moveTo>
                  <a:pt x="0" y="457200"/>
                </a:moveTo>
                <a:lnTo>
                  <a:pt x="791870" y="914400"/>
                </a:lnTo>
                <a:lnTo>
                  <a:pt x="1583741" y="457200"/>
                </a:lnTo>
                <a:lnTo>
                  <a:pt x="7918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2-mark32"/>
          <p:cNvSpPr/>
          <p:nvPr/>
        </p:nvSpPr>
        <p:spPr>
          <a:xfrm>
            <a:off x="8166964" y="37719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914400"/>
                </a:moveTo>
                <a:lnTo>
                  <a:pt x="791870" y="1371600"/>
                </a:lnTo>
                <a:lnTo>
                  <a:pt x="79187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2-mark33"/>
          <p:cNvSpPr/>
          <p:nvPr/>
        </p:nvSpPr>
        <p:spPr>
          <a:xfrm>
            <a:off x="8958834" y="37719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1371600"/>
                </a:moveTo>
                <a:lnTo>
                  <a:pt x="791870" y="914400"/>
                </a:lnTo>
                <a:lnTo>
                  <a:pt x="79187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2-mark34"/>
          <p:cNvSpPr/>
          <p:nvPr/>
        </p:nvSpPr>
        <p:spPr>
          <a:xfrm>
            <a:off x="7375093" y="1943100"/>
            <a:ext cx="1583741" cy="914400"/>
          </a:xfrm>
          <a:custGeom>
            <a:avLst/>
            <a:gdLst/>
            <a:ahLst/>
            <a:cxnLst/>
            <a:rect l="l" t="t" r="r" b="b"/>
            <a:pathLst>
              <a:path w="1583741" h="914400">
                <a:moveTo>
                  <a:pt x="0" y="457200"/>
                </a:moveTo>
                <a:lnTo>
                  <a:pt x="791870" y="914400"/>
                </a:lnTo>
                <a:lnTo>
                  <a:pt x="1583741" y="457200"/>
                </a:lnTo>
                <a:lnTo>
                  <a:pt x="7918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2-mark35"/>
          <p:cNvSpPr/>
          <p:nvPr/>
        </p:nvSpPr>
        <p:spPr>
          <a:xfrm>
            <a:off x="7375093" y="24003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914400"/>
                </a:moveTo>
                <a:lnTo>
                  <a:pt x="791870" y="1371600"/>
                </a:lnTo>
                <a:lnTo>
                  <a:pt x="79187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2-mark36"/>
          <p:cNvSpPr/>
          <p:nvPr/>
        </p:nvSpPr>
        <p:spPr>
          <a:xfrm>
            <a:off x="8166964" y="24003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1371600"/>
                </a:moveTo>
                <a:lnTo>
                  <a:pt x="791870" y="914400"/>
                </a:lnTo>
                <a:lnTo>
                  <a:pt x="79187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2-mark37"/>
          <p:cNvSpPr/>
          <p:nvPr/>
        </p:nvSpPr>
        <p:spPr>
          <a:xfrm>
            <a:off x="8958834" y="3771900"/>
            <a:ext cx="1583741" cy="914400"/>
          </a:xfrm>
          <a:custGeom>
            <a:avLst/>
            <a:gdLst/>
            <a:ahLst/>
            <a:cxnLst/>
            <a:rect l="l" t="t" r="r" b="b"/>
            <a:pathLst>
              <a:path w="1583741" h="914400">
                <a:moveTo>
                  <a:pt x="0" y="457200"/>
                </a:moveTo>
                <a:lnTo>
                  <a:pt x="791870" y="914400"/>
                </a:lnTo>
                <a:lnTo>
                  <a:pt x="1583741" y="457200"/>
                </a:lnTo>
                <a:lnTo>
                  <a:pt x="7918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2-mark38"/>
          <p:cNvSpPr/>
          <p:nvPr/>
        </p:nvSpPr>
        <p:spPr>
          <a:xfrm>
            <a:off x="8958834" y="42291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914400"/>
                </a:moveTo>
                <a:lnTo>
                  <a:pt x="791870" y="1371600"/>
                </a:lnTo>
                <a:lnTo>
                  <a:pt x="79187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2-mark39"/>
          <p:cNvSpPr/>
          <p:nvPr/>
        </p:nvSpPr>
        <p:spPr>
          <a:xfrm>
            <a:off x="9750704" y="42291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1371600"/>
                </a:moveTo>
                <a:lnTo>
                  <a:pt x="791870" y="914400"/>
                </a:lnTo>
                <a:lnTo>
                  <a:pt x="79187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2-chip4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6" name="S02-text4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쌓기나무는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17" name="S02-chip4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8" name="S02-text43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2층에 있는 쌓기나무는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19" name="S02-chip4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0" name="S02-text45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보면 원, 앞에서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 직사각형인 도형은?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위·앞·옆에서 본 모양</a:t>
            </a:r>
            <a:endParaRPr lang="ko-KR" sz="4000" dirty="0"/>
          </a:p>
        </p:txBody>
      </p:sp>
      <p:sp>
        <p:nvSpPr>
          <p:cNvPr id="3" name="S03-card46"/>
          <p:cNvSpPr/>
          <p:nvPr/>
        </p:nvSpPr>
        <p:spPr>
          <a:xfrm>
            <a:off x="548640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47"/>
          <p:cNvSpPr txBox="1"/>
          <p:nvPr/>
        </p:nvSpPr>
        <p:spPr>
          <a:xfrm>
            <a:off x="822960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아래쪽이 앞이에요.</a:t>
            </a:r>
            <a:endParaRPr lang="ko-KR" sz="2800" dirty="0"/>
          </a:p>
        </p:txBody>
      </p:sp>
      <p:sp>
        <p:nvSpPr>
          <p:cNvPr id="5" name="S03-card48"/>
          <p:cNvSpPr/>
          <p:nvPr/>
        </p:nvSpPr>
        <p:spPr>
          <a:xfrm>
            <a:off x="4322064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49"/>
          <p:cNvSpPr txBox="1"/>
          <p:nvPr/>
        </p:nvSpPr>
        <p:spPr>
          <a:xfrm>
            <a:off x="4596384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줄마다 가장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층만큼</a:t>
            </a:r>
            <a:endParaRPr lang="ko-KR" sz="2800" dirty="0"/>
          </a:p>
        </p:txBody>
      </p:sp>
      <p:sp>
        <p:nvSpPr>
          <p:cNvPr id="7" name="S03-card50"/>
          <p:cNvSpPr/>
          <p:nvPr/>
        </p:nvSpPr>
        <p:spPr>
          <a:xfrm>
            <a:off x="8095488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51"/>
          <p:cNvSpPr txBox="1"/>
          <p:nvPr/>
        </p:nvSpPr>
        <p:spPr>
          <a:xfrm>
            <a:off x="8369808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옆(오른쪽)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앞줄이 왼쪽에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보여요.</a:t>
            </a:r>
            <a:endParaRPr lang="ko-KR" sz="2800" dirty="0"/>
          </a:p>
        </p:txBody>
      </p:sp>
      <p:sp>
        <p:nvSpPr>
          <p:cNvPr id="9" name="S03-figure52" descr="쌓기나무 8개로 쌓은 모양과 앞, 옆(오른쪽)을 가리키는 화살표: 앞줄은 왼쪽부터 2층, 1층, 1층, 뒷줄은 왼쪽부터 3층, 1층"/>
          <p:cNvSpPr/>
          <p:nvPr/>
        </p:nvSpPr>
        <p:spPr>
          <a:xfrm>
            <a:off x="1168407" y="2577092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53"/>
          <p:cNvSpPr/>
          <p:nvPr/>
        </p:nvSpPr>
        <p:spPr>
          <a:xfrm>
            <a:off x="1168407" y="2790447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54"/>
          <p:cNvSpPr/>
          <p:nvPr/>
        </p:nvSpPr>
        <p:spPr>
          <a:xfrm>
            <a:off x="1537937" y="2790447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3-mark55"/>
          <p:cNvSpPr/>
          <p:nvPr/>
        </p:nvSpPr>
        <p:spPr>
          <a:xfrm>
            <a:off x="798877" y="2790447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mark56"/>
          <p:cNvSpPr/>
          <p:nvPr/>
        </p:nvSpPr>
        <p:spPr>
          <a:xfrm>
            <a:off x="798877" y="3003801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3-mark57"/>
          <p:cNvSpPr/>
          <p:nvPr/>
        </p:nvSpPr>
        <p:spPr>
          <a:xfrm>
            <a:off x="1168407" y="3003801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mark58"/>
          <p:cNvSpPr/>
          <p:nvPr/>
        </p:nvSpPr>
        <p:spPr>
          <a:xfrm>
            <a:off x="1537937" y="2790447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3-mark59"/>
          <p:cNvSpPr/>
          <p:nvPr/>
        </p:nvSpPr>
        <p:spPr>
          <a:xfrm>
            <a:off x="1537937" y="3003801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3-mark60"/>
          <p:cNvSpPr/>
          <p:nvPr/>
        </p:nvSpPr>
        <p:spPr>
          <a:xfrm>
            <a:off x="1907466" y="3003801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3-mark61"/>
          <p:cNvSpPr/>
          <p:nvPr/>
        </p:nvSpPr>
        <p:spPr>
          <a:xfrm>
            <a:off x="1168407" y="2150383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3-mark62"/>
          <p:cNvSpPr/>
          <p:nvPr/>
        </p:nvSpPr>
        <p:spPr>
          <a:xfrm>
            <a:off x="1168407" y="2363738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3-mark63"/>
          <p:cNvSpPr/>
          <p:nvPr/>
        </p:nvSpPr>
        <p:spPr>
          <a:xfrm>
            <a:off x="1537937" y="2363738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3-mark64"/>
          <p:cNvSpPr/>
          <p:nvPr/>
        </p:nvSpPr>
        <p:spPr>
          <a:xfrm>
            <a:off x="1168407" y="3003801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3-mark65"/>
          <p:cNvSpPr/>
          <p:nvPr/>
        </p:nvSpPr>
        <p:spPr>
          <a:xfrm>
            <a:off x="1168407" y="3217156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3-mark66"/>
          <p:cNvSpPr/>
          <p:nvPr/>
        </p:nvSpPr>
        <p:spPr>
          <a:xfrm>
            <a:off x="1537937" y="3217156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3-mark67"/>
          <p:cNvSpPr/>
          <p:nvPr/>
        </p:nvSpPr>
        <p:spPr>
          <a:xfrm>
            <a:off x="798877" y="2363738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3-mark68"/>
          <p:cNvSpPr/>
          <p:nvPr/>
        </p:nvSpPr>
        <p:spPr>
          <a:xfrm>
            <a:off x="798877" y="2577092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mark69"/>
          <p:cNvSpPr/>
          <p:nvPr/>
        </p:nvSpPr>
        <p:spPr>
          <a:xfrm>
            <a:off x="1168407" y="2577092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3-mark70"/>
          <p:cNvSpPr/>
          <p:nvPr/>
        </p:nvSpPr>
        <p:spPr>
          <a:xfrm>
            <a:off x="1168407" y="1723674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3-mark71"/>
          <p:cNvSpPr/>
          <p:nvPr/>
        </p:nvSpPr>
        <p:spPr>
          <a:xfrm>
            <a:off x="1168407" y="1937029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3-mark72"/>
          <p:cNvSpPr/>
          <p:nvPr/>
        </p:nvSpPr>
        <p:spPr>
          <a:xfrm>
            <a:off x="1537937" y="1937029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3-mark73"/>
          <p:cNvSpPr/>
          <p:nvPr/>
        </p:nvSpPr>
        <p:spPr>
          <a:xfrm>
            <a:off x="1537937" y="3217156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3-mark74"/>
          <p:cNvSpPr/>
          <p:nvPr/>
        </p:nvSpPr>
        <p:spPr>
          <a:xfrm>
            <a:off x="1537937" y="3430510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3-mark75"/>
          <p:cNvSpPr/>
          <p:nvPr/>
        </p:nvSpPr>
        <p:spPr>
          <a:xfrm>
            <a:off x="1907466" y="3430510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3-mark76"/>
          <p:cNvSpPr/>
          <p:nvPr/>
        </p:nvSpPr>
        <p:spPr>
          <a:xfrm flipV="1">
            <a:off x="798877" y="3601194"/>
            <a:ext cx="443351" cy="256025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03-mark77"/>
          <p:cNvSpPr/>
          <p:nvPr/>
        </p:nvSpPr>
        <p:spPr>
          <a:xfrm flipH="1" flipV="1">
            <a:off x="2387941" y="3707871"/>
            <a:ext cx="443351" cy="256025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3-label79"/>
          <p:cNvSpPr txBox="1"/>
          <p:nvPr/>
        </p:nvSpPr>
        <p:spPr>
          <a:xfrm>
            <a:off x="440690" y="377860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6" name="S03-label81"/>
          <p:cNvSpPr txBox="1"/>
          <p:nvPr/>
        </p:nvSpPr>
        <p:spPr>
          <a:xfrm>
            <a:off x="2805938" y="388528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37" name="S03-cell82"/>
          <p:cNvSpPr/>
          <p:nvPr/>
        </p:nvSpPr>
        <p:spPr>
          <a:xfrm>
            <a:off x="3982212" y="22147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83"/>
          <p:cNvSpPr/>
          <p:nvPr/>
        </p:nvSpPr>
        <p:spPr>
          <a:xfrm>
            <a:off x="4439412" y="22147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84"/>
          <p:cNvSpPr/>
          <p:nvPr/>
        </p:nvSpPr>
        <p:spPr>
          <a:xfrm>
            <a:off x="4896612" y="22147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cell85"/>
          <p:cNvSpPr/>
          <p:nvPr/>
        </p:nvSpPr>
        <p:spPr>
          <a:xfrm>
            <a:off x="3982212" y="26719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cell86"/>
          <p:cNvSpPr/>
          <p:nvPr/>
        </p:nvSpPr>
        <p:spPr>
          <a:xfrm>
            <a:off x="4439412" y="26719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cell87"/>
          <p:cNvSpPr/>
          <p:nvPr/>
        </p:nvSpPr>
        <p:spPr>
          <a:xfrm>
            <a:off x="4896612" y="26719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figure88" descr="위에서 본 모양: 뒷줄 왼쪽 2칸, 앞줄 3칸 색칠"/>
          <p:cNvSpPr/>
          <p:nvPr/>
        </p:nvSpPr>
        <p:spPr>
          <a:xfrm>
            <a:off x="3982212" y="2214753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03-label89"/>
          <p:cNvSpPr txBox="1"/>
          <p:nvPr/>
        </p:nvSpPr>
        <p:spPr>
          <a:xfrm>
            <a:off x="3401568" y="4091178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2200" dirty="0"/>
          </a:p>
        </p:txBody>
      </p:sp>
      <p:sp>
        <p:nvSpPr>
          <p:cNvPr id="45" name="S03-cell90"/>
          <p:cNvSpPr/>
          <p:nvPr/>
        </p:nvSpPr>
        <p:spPr>
          <a:xfrm>
            <a:off x="6835140" y="19861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91"/>
          <p:cNvSpPr/>
          <p:nvPr/>
        </p:nvSpPr>
        <p:spPr>
          <a:xfrm>
            <a:off x="7292340" y="19861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92"/>
          <p:cNvSpPr/>
          <p:nvPr/>
        </p:nvSpPr>
        <p:spPr>
          <a:xfrm>
            <a:off x="7749540" y="19861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93"/>
          <p:cNvSpPr/>
          <p:nvPr/>
        </p:nvSpPr>
        <p:spPr>
          <a:xfrm>
            <a:off x="6835140" y="24433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94"/>
          <p:cNvSpPr/>
          <p:nvPr/>
        </p:nvSpPr>
        <p:spPr>
          <a:xfrm>
            <a:off x="7292340" y="24433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cell95"/>
          <p:cNvSpPr/>
          <p:nvPr/>
        </p:nvSpPr>
        <p:spPr>
          <a:xfrm>
            <a:off x="7749540" y="24433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cell96"/>
          <p:cNvSpPr/>
          <p:nvPr/>
        </p:nvSpPr>
        <p:spPr>
          <a:xfrm>
            <a:off x="6835140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cell97"/>
          <p:cNvSpPr/>
          <p:nvPr/>
        </p:nvSpPr>
        <p:spPr>
          <a:xfrm>
            <a:off x="7292340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3-cell98"/>
          <p:cNvSpPr/>
          <p:nvPr/>
        </p:nvSpPr>
        <p:spPr>
          <a:xfrm>
            <a:off x="7749540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3-figure99" descr="앞에서 본 모양: 왼쪽 줄 3칸, 가운데 줄 1칸, 오른쪽 줄 1칸 색칠"/>
          <p:cNvSpPr/>
          <p:nvPr/>
        </p:nvSpPr>
        <p:spPr>
          <a:xfrm>
            <a:off x="6835140" y="1986153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5" name="S03-label100"/>
          <p:cNvSpPr txBox="1"/>
          <p:nvPr/>
        </p:nvSpPr>
        <p:spPr>
          <a:xfrm>
            <a:off x="6254496" y="4091178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56" name="S03-cell101"/>
          <p:cNvSpPr/>
          <p:nvPr/>
        </p:nvSpPr>
        <p:spPr>
          <a:xfrm>
            <a:off x="9916668" y="19861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cell102"/>
          <p:cNvSpPr/>
          <p:nvPr/>
        </p:nvSpPr>
        <p:spPr>
          <a:xfrm>
            <a:off x="10373868" y="19861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3-cell103"/>
          <p:cNvSpPr/>
          <p:nvPr/>
        </p:nvSpPr>
        <p:spPr>
          <a:xfrm>
            <a:off x="9916668" y="24433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3-cell104"/>
          <p:cNvSpPr/>
          <p:nvPr/>
        </p:nvSpPr>
        <p:spPr>
          <a:xfrm>
            <a:off x="10373868" y="24433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3-cell105"/>
          <p:cNvSpPr/>
          <p:nvPr/>
        </p:nvSpPr>
        <p:spPr>
          <a:xfrm>
            <a:off x="9916668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cell106"/>
          <p:cNvSpPr/>
          <p:nvPr/>
        </p:nvSpPr>
        <p:spPr>
          <a:xfrm>
            <a:off x="10373868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figure107" descr="오른쪽 옆에서 본 모양: 왼쪽(앞줄) 2칸, 오른쪽(뒷줄) 3칸 색칠"/>
          <p:cNvSpPr/>
          <p:nvPr/>
        </p:nvSpPr>
        <p:spPr>
          <a:xfrm>
            <a:off x="9916668" y="1986153"/>
            <a:ext cx="9144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3" name="S03-label108"/>
          <p:cNvSpPr txBox="1"/>
          <p:nvPr/>
        </p:nvSpPr>
        <p:spPr>
          <a:xfrm>
            <a:off x="9107424" y="4091178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앞과 옆에서 본 모양 찾기</a:t>
            </a:r>
            <a:endParaRPr lang="ko-KR" sz="4000" dirty="0"/>
          </a:p>
        </p:txBody>
      </p:sp>
      <p:sp>
        <p:nvSpPr>
          <p:cNvPr id="3" name="S04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본 모양과 옆에서 본 모양을 각각 골라요.</a:t>
            </a:r>
            <a:endParaRPr lang="ko-KR" sz="2800" dirty="0"/>
          </a:p>
        </p:txBody>
      </p:sp>
      <p:sp>
        <p:nvSpPr>
          <p:cNvPr id="5" name="S04-chip111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2800" dirty="0"/>
          </a:p>
        </p:txBody>
      </p:sp>
      <p:sp>
        <p:nvSpPr>
          <p:cNvPr id="6" name="S04-figure112" descr="쌓기나무 9개로 쌓은 모양: 앞줄은 왼쪽부터 1층, 1층, 2층, 뒷줄은 가운데 2층, 오른쪽 3층"/>
          <p:cNvSpPr/>
          <p:nvPr/>
        </p:nvSpPr>
        <p:spPr>
          <a:xfrm>
            <a:off x="3023384" y="1790446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113"/>
          <p:cNvSpPr/>
          <p:nvPr/>
        </p:nvSpPr>
        <p:spPr>
          <a:xfrm>
            <a:off x="3023384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114"/>
          <p:cNvSpPr/>
          <p:nvPr/>
        </p:nvSpPr>
        <p:spPr>
          <a:xfrm>
            <a:off x="3243202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115"/>
          <p:cNvSpPr/>
          <p:nvPr/>
        </p:nvSpPr>
        <p:spPr>
          <a:xfrm>
            <a:off x="3463019" y="1790446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116"/>
          <p:cNvSpPr/>
          <p:nvPr/>
        </p:nvSpPr>
        <p:spPr>
          <a:xfrm>
            <a:off x="3463019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4-mark117"/>
          <p:cNvSpPr/>
          <p:nvPr/>
        </p:nvSpPr>
        <p:spPr>
          <a:xfrm>
            <a:off x="3682836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118"/>
          <p:cNvSpPr/>
          <p:nvPr/>
        </p:nvSpPr>
        <p:spPr>
          <a:xfrm>
            <a:off x="3243202" y="1917361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mark119"/>
          <p:cNvSpPr/>
          <p:nvPr/>
        </p:nvSpPr>
        <p:spPr>
          <a:xfrm>
            <a:off x="3243202" y="2044277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4-mark120"/>
          <p:cNvSpPr/>
          <p:nvPr/>
        </p:nvSpPr>
        <p:spPr>
          <a:xfrm>
            <a:off x="3463019" y="2044277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mark121"/>
          <p:cNvSpPr/>
          <p:nvPr/>
        </p:nvSpPr>
        <p:spPr>
          <a:xfrm>
            <a:off x="3682836" y="1917361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mark122"/>
          <p:cNvSpPr/>
          <p:nvPr/>
        </p:nvSpPr>
        <p:spPr>
          <a:xfrm>
            <a:off x="3682836" y="2044277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123"/>
          <p:cNvSpPr/>
          <p:nvPr/>
        </p:nvSpPr>
        <p:spPr>
          <a:xfrm>
            <a:off x="3902654" y="2044277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124"/>
          <p:cNvSpPr/>
          <p:nvPr/>
        </p:nvSpPr>
        <p:spPr>
          <a:xfrm>
            <a:off x="3463019" y="1536615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mark125"/>
          <p:cNvSpPr/>
          <p:nvPr/>
        </p:nvSpPr>
        <p:spPr>
          <a:xfrm>
            <a:off x="3463019" y="166353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4-mark126"/>
          <p:cNvSpPr/>
          <p:nvPr/>
        </p:nvSpPr>
        <p:spPr>
          <a:xfrm>
            <a:off x="3682836" y="166353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4-mark127"/>
          <p:cNvSpPr/>
          <p:nvPr/>
        </p:nvSpPr>
        <p:spPr>
          <a:xfrm>
            <a:off x="3463019" y="2044277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4-mark128"/>
          <p:cNvSpPr/>
          <p:nvPr/>
        </p:nvSpPr>
        <p:spPr>
          <a:xfrm>
            <a:off x="3463019" y="2171192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4-mark129"/>
          <p:cNvSpPr/>
          <p:nvPr/>
        </p:nvSpPr>
        <p:spPr>
          <a:xfrm>
            <a:off x="3682836" y="2171192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4-mark130"/>
          <p:cNvSpPr/>
          <p:nvPr/>
        </p:nvSpPr>
        <p:spPr>
          <a:xfrm>
            <a:off x="3682836" y="1663531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4-mark131"/>
          <p:cNvSpPr/>
          <p:nvPr/>
        </p:nvSpPr>
        <p:spPr>
          <a:xfrm>
            <a:off x="3682836" y="1790446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4-mark132"/>
          <p:cNvSpPr/>
          <p:nvPr/>
        </p:nvSpPr>
        <p:spPr>
          <a:xfrm>
            <a:off x="3902654" y="1790446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4-mark133"/>
          <p:cNvSpPr/>
          <p:nvPr/>
        </p:nvSpPr>
        <p:spPr>
          <a:xfrm>
            <a:off x="3463019" y="1790446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4-mark134"/>
          <p:cNvSpPr/>
          <p:nvPr/>
        </p:nvSpPr>
        <p:spPr>
          <a:xfrm>
            <a:off x="3463019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4-mark135"/>
          <p:cNvSpPr/>
          <p:nvPr/>
        </p:nvSpPr>
        <p:spPr>
          <a:xfrm>
            <a:off x="3682836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mark136"/>
          <p:cNvSpPr/>
          <p:nvPr/>
        </p:nvSpPr>
        <p:spPr>
          <a:xfrm>
            <a:off x="3682836" y="1409700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4-mark137"/>
          <p:cNvSpPr/>
          <p:nvPr/>
        </p:nvSpPr>
        <p:spPr>
          <a:xfrm>
            <a:off x="3682836" y="1536615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4-mark138"/>
          <p:cNvSpPr/>
          <p:nvPr/>
        </p:nvSpPr>
        <p:spPr>
          <a:xfrm>
            <a:off x="3902654" y="1536615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4-mark139"/>
          <p:cNvSpPr/>
          <p:nvPr/>
        </p:nvSpPr>
        <p:spPr>
          <a:xfrm flipV="1">
            <a:off x="3023384" y="2272724"/>
            <a:ext cx="263730" cy="15229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04-mark140"/>
          <p:cNvSpPr/>
          <p:nvPr/>
        </p:nvSpPr>
        <p:spPr>
          <a:xfrm flipH="1" flipV="1">
            <a:off x="3968650" y="2336182"/>
            <a:ext cx="263730" cy="15229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4-label142"/>
          <p:cNvSpPr txBox="1"/>
          <p:nvPr/>
        </p:nvSpPr>
        <p:spPr>
          <a:xfrm>
            <a:off x="2732620" y="230751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6" name="S04-label144"/>
          <p:cNvSpPr txBox="1"/>
          <p:nvPr/>
        </p:nvSpPr>
        <p:spPr>
          <a:xfrm>
            <a:off x="4139604" y="237096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37" name="S04-label145"/>
          <p:cNvSpPr txBox="1"/>
          <p:nvPr/>
        </p:nvSpPr>
        <p:spPr>
          <a:xfrm>
            <a:off x="1344168" y="270891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쌓은 모양</a:t>
            </a:r>
            <a:endParaRPr lang="ko-KR" sz="2200" dirty="0"/>
          </a:p>
        </p:txBody>
      </p:sp>
      <p:sp>
        <p:nvSpPr>
          <p:cNvPr id="38" name="S04-chip14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39" name="S04-cell147"/>
          <p:cNvSpPr/>
          <p:nvPr/>
        </p:nvSpPr>
        <p:spPr>
          <a:xfrm>
            <a:off x="8780526" y="140474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4-cell148"/>
          <p:cNvSpPr/>
          <p:nvPr/>
        </p:nvSpPr>
        <p:spPr>
          <a:xfrm>
            <a:off x="9164574" y="140474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4-cell149"/>
          <p:cNvSpPr/>
          <p:nvPr/>
        </p:nvSpPr>
        <p:spPr>
          <a:xfrm>
            <a:off x="9548622" y="1404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4-cell150"/>
          <p:cNvSpPr/>
          <p:nvPr/>
        </p:nvSpPr>
        <p:spPr>
          <a:xfrm>
            <a:off x="8780526" y="178879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4-cell151"/>
          <p:cNvSpPr/>
          <p:nvPr/>
        </p:nvSpPr>
        <p:spPr>
          <a:xfrm>
            <a:off x="9164574" y="1788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4-cell152"/>
          <p:cNvSpPr/>
          <p:nvPr/>
        </p:nvSpPr>
        <p:spPr>
          <a:xfrm>
            <a:off x="9548622" y="1788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4-cell153"/>
          <p:cNvSpPr/>
          <p:nvPr/>
        </p:nvSpPr>
        <p:spPr>
          <a:xfrm>
            <a:off x="8780526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4-cell154"/>
          <p:cNvSpPr/>
          <p:nvPr/>
        </p:nvSpPr>
        <p:spPr>
          <a:xfrm>
            <a:off x="9164574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4-cell155"/>
          <p:cNvSpPr/>
          <p:nvPr/>
        </p:nvSpPr>
        <p:spPr>
          <a:xfrm>
            <a:off x="9548622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4-figure156" descr="가: 왼쪽부터 1칸, 2칸, 3칸 색칠(3줄)"/>
          <p:cNvSpPr/>
          <p:nvPr/>
        </p:nvSpPr>
        <p:spPr>
          <a:xfrm>
            <a:off x="8780526" y="1404747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9" name="S04-label157"/>
          <p:cNvSpPr txBox="1"/>
          <p:nvPr/>
        </p:nvSpPr>
        <p:spPr>
          <a:xfrm>
            <a:off x="7072884" y="270891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50" name="S04-chip15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51" name="S04-cell159"/>
          <p:cNvSpPr/>
          <p:nvPr/>
        </p:nvSpPr>
        <p:spPr>
          <a:xfrm>
            <a:off x="3243834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4-cell160"/>
          <p:cNvSpPr/>
          <p:nvPr/>
        </p:nvSpPr>
        <p:spPr>
          <a:xfrm>
            <a:off x="3627882" y="343928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4-cell161"/>
          <p:cNvSpPr/>
          <p:nvPr/>
        </p:nvSpPr>
        <p:spPr>
          <a:xfrm>
            <a:off x="3243834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4-cell162"/>
          <p:cNvSpPr/>
          <p:nvPr/>
        </p:nvSpPr>
        <p:spPr>
          <a:xfrm>
            <a:off x="3627882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4-cell163"/>
          <p:cNvSpPr/>
          <p:nvPr/>
        </p:nvSpPr>
        <p:spPr>
          <a:xfrm>
            <a:off x="3243834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cell164"/>
          <p:cNvSpPr/>
          <p:nvPr/>
        </p:nvSpPr>
        <p:spPr>
          <a:xfrm>
            <a:off x="3627882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figure165" descr="나: 왼쪽 2칸, 오른쪽 3칸 색칠(2줄)"/>
          <p:cNvSpPr/>
          <p:nvPr/>
        </p:nvSpPr>
        <p:spPr>
          <a:xfrm>
            <a:off x="3243834" y="3439287"/>
            <a:ext cx="768096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8" name="S04-label166"/>
          <p:cNvSpPr txBox="1"/>
          <p:nvPr/>
        </p:nvSpPr>
        <p:spPr>
          <a:xfrm>
            <a:off x="1344168" y="474345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59" name="S04-chip167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60" name="S04-cell168"/>
          <p:cNvSpPr/>
          <p:nvPr/>
        </p:nvSpPr>
        <p:spPr>
          <a:xfrm>
            <a:off x="8780526" y="343928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4-cell169"/>
          <p:cNvSpPr/>
          <p:nvPr/>
        </p:nvSpPr>
        <p:spPr>
          <a:xfrm>
            <a:off x="9164574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4-cell170"/>
          <p:cNvSpPr/>
          <p:nvPr/>
        </p:nvSpPr>
        <p:spPr>
          <a:xfrm>
            <a:off x="9548622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4-cell171"/>
          <p:cNvSpPr/>
          <p:nvPr/>
        </p:nvSpPr>
        <p:spPr>
          <a:xfrm>
            <a:off x="8780526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4-cell172"/>
          <p:cNvSpPr/>
          <p:nvPr/>
        </p:nvSpPr>
        <p:spPr>
          <a:xfrm>
            <a:off x="9164574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4-cell173"/>
          <p:cNvSpPr/>
          <p:nvPr/>
        </p:nvSpPr>
        <p:spPr>
          <a:xfrm>
            <a:off x="9548622" y="382333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4-cell174"/>
          <p:cNvSpPr/>
          <p:nvPr/>
        </p:nvSpPr>
        <p:spPr>
          <a:xfrm>
            <a:off x="8780526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4-cell175"/>
          <p:cNvSpPr/>
          <p:nvPr/>
        </p:nvSpPr>
        <p:spPr>
          <a:xfrm>
            <a:off x="9164574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4-cell176"/>
          <p:cNvSpPr/>
          <p:nvPr/>
        </p:nvSpPr>
        <p:spPr>
          <a:xfrm>
            <a:off x="9548622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4-figure177" descr="다: 왼쪽부터 3칸, 2칸, 1칸 색칠(3줄)"/>
          <p:cNvSpPr/>
          <p:nvPr/>
        </p:nvSpPr>
        <p:spPr>
          <a:xfrm>
            <a:off x="8780526" y="3439287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0" name="S04-label178"/>
          <p:cNvSpPr txBox="1"/>
          <p:nvPr/>
        </p:nvSpPr>
        <p:spPr>
          <a:xfrm>
            <a:off x="7072884" y="474345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쌓기나무</a:t>
            </a:r>
            <a:endParaRPr lang="ko-KR" sz="4000" dirty="0"/>
          </a:p>
        </p:txBody>
      </p:sp>
      <p:sp>
        <p:nvSpPr>
          <p:cNvPr id="3" name="S05-card179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80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숨은 쌓기나무가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있을 수 있어요.</a:t>
            </a:r>
            <a:endParaRPr lang="ko-KR" sz="2800" dirty="0"/>
          </a:p>
        </p:txBody>
      </p:sp>
      <p:sp>
        <p:nvSpPr>
          <p:cNvPr id="5" name="S05-card181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82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모양을 보면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개수가 정해져요.</a:t>
            </a:r>
            <a:endParaRPr lang="ko-KR" sz="2800" dirty="0"/>
          </a:p>
        </p:txBody>
      </p:sp>
      <p:sp>
        <p:nvSpPr>
          <p:cNvPr id="7" name="S05-figure183" descr="쌓기나무를 쌓은 모양: 앞줄은 왼쪽 1층, 오른쪽 2층, 뒷줄 오른쪽 1층이 보임. 뒷줄 왼쪽은 가려져 보이지 않음"/>
          <p:cNvSpPr/>
          <p:nvPr/>
        </p:nvSpPr>
        <p:spPr>
          <a:xfrm>
            <a:off x="1166560" y="2410208"/>
            <a:ext cx="1124012" cy="648968"/>
          </a:xfrm>
          <a:custGeom>
            <a:avLst/>
            <a:gdLst/>
            <a:ahLst/>
            <a:cxnLst/>
            <a:rect l="l" t="t" r="r" b="b"/>
            <a:pathLst>
              <a:path w="1124012" h="648968">
                <a:moveTo>
                  <a:pt x="0" y="324484"/>
                </a:moveTo>
                <a:lnTo>
                  <a:pt x="562006" y="648968"/>
                </a:lnTo>
                <a:lnTo>
                  <a:pt x="1124012" y="324484"/>
                </a:lnTo>
                <a:lnTo>
                  <a:pt x="56200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184"/>
          <p:cNvSpPr/>
          <p:nvPr/>
        </p:nvSpPr>
        <p:spPr>
          <a:xfrm>
            <a:off x="1166560" y="2734692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648968"/>
                </a:moveTo>
                <a:lnTo>
                  <a:pt x="562006" y="973451"/>
                </a:lnTo>
                <a:lnTo>
                  <a:pt x="562006" y="32448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185"/>
          <p:cNvSpPr/>
          <p:nvPr/>
        </p:nvSpPr>
        <p:spPr>
          <a:xfrm>
            <a:off x="1728566" y="2734692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973451"/>
                </a:moveTo>
                <a:lnTo>
                  <a:pt x="562006" y="648968"/>
                </a:lnTo>
                <a:lnTo>
                  <a:pt x="562006" y="0"/>
                </a:lnTo>
                <a:lnTo>
                  <a:pt x="0" y="32448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5-mark186"/>
          <p:cNvSpPr/>
          <p:nvPr/>
        </p:nvSpPr>
        <p:spPr>
          <a:xfrm>
            <a:off x="2290572" y="2410208"/>
            <a:ext cx="1124012" cy="648968"/>
          </a:xfrm>
          <a:custGeom>
            <a:avLst/>
            <a:gdLst/>
            <a:ahLst/>
            <a:cxnLst/>
            <a:rect l="l" t="t" r="r" b="b"/>
            <a:pathLst>
              <a:path w="1124012" h="648968">
                <a:moveTo>
                  <a:pt x="0" y="324484"/>
                </a:moveTo>
                <a:lnTo>
                  <a:pt x="562006" y="648968"/>
                </a:lnTo>
                <a:lnTo>
                  <a:pt x="1124012" y="324484"/>
                </a:lnTo>
                <a:lnTo>
                  <a:pt x="56200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5-mark187"/>
          <p:cNvSpPr/>
          <p:nvPr/>
        </p:nvSpPr>
        <p:spPr>
          <a:xfrm>
            <a:off x="2290572" y="2734692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648968"/>
                </a:moveTo>
                <a:lnTo>
                  <a:pt x="562006" y="973451"/>
                </a:lnTo>
                <a:lnTo>
                  <a:pt x="562006" y="32448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5-mark188"/>
          <p:cNvSpPr/>
          <p:nvPr/>
        </p:nvSpPr>
        <p:spPr>
          <a:xfrm>
            <a:off x="2852578" y="2734692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973451"/>
                </a:moveTo>
                <a:lnTo>
                  <a:pt x="562006" y="648968"/>
                </a:lnTo>
                <a:lnTo>
                  <a:pt x="562006" y="0"/>
                </a:lnTo>
                <a:lnTo>
                  <a:pt x="0" y="32448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189"/>
          <p:cNvSpPr/>
          <p:nvPr/>
        </p:nvSpPr>
        <p:spPr>
          <a:xfrm>
            <a:off x="1728566" y="2734692"/>
            <a:ext cx="1124012" cy="648968"/>
          </a:xfrm>
          <a:custGeom>
            <a:avLst/>
            <a:gdLst/>
            <a:ahLst/>
            <a:cxnLst/>
            <a:rect l="l" t="t" r="r" b="b"/>
            <a:pathLst>
              <a:path w="1124012" h="648968">
                <a:moveTo>
                  <a:pt x="0" y="324484"/>
                </a:moveTo>
                <a:lnTo>
                  <a:pt x="562006" y="648968"/>
                </a:lnTo>
                <a:lnTo>
                  <a:pt x="1124012" y="324484"/>
                </a:lnTo>
                <a:lnTo>
                  <a:pt x="56200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5-mark190"/>
          <p:cNvSpPr/>
          <p:nvPr/>
        </p:nvSpPr>
        <p:spPr>
          <a:xfrm>
            <a:off x="1728566" y="3059176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648968"/>
                </a:moveTo>
                <a:lnTo>
                  <a:pt x="562006" y="973451"/>
                </a:lnTo>
                <a:lnTo>
                  <a:pt x="562006" y="32448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5-mark191"/>
          <p:cNvSpPr/>
          <p:nvPr/>
        </p:nvSpPr>
        <p:spPr>
          <a:xfrm>
            <a:off x="2290572" y="3059176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973451"/>
                </a:moveTo>
                <a:lnTo>
                  <a:pt x="562006" y="648968"/>
                </a:lnTo>
                <a:lnTo>
                  <a:pt x="562006" y="0"/>
                </a:lnTo>
                <a:lnTo>
                  <a:pt x="0" y="32448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5-mark192"/>
          <p:cNvSpPr/>
          <p:nvPr/>
        </p:nvSpPr>
        <p:spPr>
          <a:xfrm>
            <a:off x="1728566" y="2085725"/>
            <a:ext cx="1124012" cy="648968"/>
          </a:xfrm>
          <a:custGeom>
            <a:avLst/>
            <a:gdLst/>
            <a:ahLst/>
            <a:cxnLst/>
            <a:rect l="l" t="t" r="r" b="b"/>
            <a:pathLst>
              <a:path w="1124012" h="648968">
                <a:moveTo>
                  <a:pt x="0" y="324484"/>
                </a:moveTo>
                <a:lnTo>
                  <a:pt x="562006" y="648968"/>
                </a:lnTo>
                <a:lnTo>
                  <a:pt x="1124012" y="324484"/>
                </a:lnTo>
                <a:lnTo>
                  <a:pt x="56200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5-mark193"/>
          <p:cNvSpPr/>
          <p:nvPr/>
        </p:nvSpPr>
        <p:spPr>
          <a:xfrm>
            <a:off x="1728566" y="2410208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648968"/>
                </a:moveTo>
                <a:lnTo>
                  <a:pt x="562006" y="973451"/>
                </a:lnTo>
                <a:lnTo>
                  <a:pt x="562006" y="32448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5-mark194"/>
          <p:cNvSpPr/>
          <p:nvPr/>
        </p:nvSpPr>
        <p:spPr>
          <a:xfrm>
            <a:off x="2290572" y="2410208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973451"/>
                </a:moveTo>
                <a:lnTo>
                  <a:pt x="562006" y="648968"/>
                </a:lnTo>
                <a:lnTo>
                  <a:pt x="562006" y="0"/>
                </a:lnTo>
                <a:lnTo>
                  <a:pt x="0" y="32448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5-mark195"/>
          <p:cNvSpPr/>
          <p:nvPr/>
        </p:nvSpPr>
        <p:spPr>
          <a:xfrm flipV="1">
            <a:off x="885557" y="3481005"/>
            <a:ext cx="674277" cy="389381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5-mark196"/>
          <p:cNvSpPr/>
          <p:nvPr/>
        </p:nvSpPr>
        <p:spPr>
          <a:xfrm flipH="1" flipV="1">
            <a:off x="3021309" y="3481005"/>
            <a:ext cx="674277" cy="389381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5-label198"/>
          <p:cNvSpPr txBox="1"/>
          <p:nvPr/>
        </p:nvSpPr>
        <p:spPr>
          <a:xfrm>
            <a:off x="440690" y="384177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22" name="S05-label200"/>
          <p:cNvSpPr txBox="1"/>
          <p:nvPr/>
        </p:nvSpPr>
        <p:spPr>
          <a:xfrm>
            <a:off x="3756914" y="384177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23" name="S05-figure201" descr="위에서 본 모양 ①: 앞줄 2칸, 뒷줄 오른쪽 1칸"/>
          <p:cNvSpPr/>
          <p:nvPr/>
        </p:nvSpPr>
        <p:spPr>
          <a:xfrm>
            <a:off x="5545836" y="268312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5-mark202"/>
          <p:cNvSpPr/>
          <p:nvPr/>
        </p:nvSpPr>
        <p:spPr>
          <a:xfrm>
            <a:off x="6094476" y="268312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5-mark203"/>
          <p:cNvSpPr/>
          <p:nvPr/>
        </p:nvSpPr>
        <p:spPr>
          <a:xfrm>
            <a:off x="6094476" y="213448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5-label205"/>
          <p:cNvSpPr txBox="1"/>
          <p:nvPr/>
        </p:nvSpPr>
        <p:spPr>
          <a:xfrm>
            <a:off x="5902706" y="335889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27" name="S05-label206"/>
          <p:cNvSpPr txBox="1"/>
          <p:nvPr/>
        </p:nvSpPr>
        <p:spPr>
          <a:xfrm>
            <a:off x="4352544" y="4415282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 ①</a:t>
            </a:r>
            <a:endParaRPr lang="ko-KR" sz="2200" dirty="0"/>
          </a:p>
        </p:txBody>
      </p:sp>
      <p:sp>
        <p:nvSpPr>
          <p:cNvPr id="28" name="S05-figure207" descr="위에서 본 모양 ②: 앞줄 2칸, 뒷줄 2칸(네 칸 모두)"/>
          <p:cNvSpPr/>
          <p:nvPr/>
        </p:nvSpPr>
        <p:spPr>
          <a:xfrm>
            <a:off x="9349740" y="268312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5-mark208"/>
          <p:cNvSpPr/>
          <p:nvPr/>
        </p:nvSpPr>
        <p:spPr>
          <a:xfrm>
            <a:off x="9349740" y="213448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5-mark209"/>
          <p:cNvSpPr/>
          <p:nvPr/>
        </p:nvSpPr>
        <p:spPr>
          <a:xfrm>
            <a:off x="9898380" y="268312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5-mark210"/>
          <p:cNvSpPr/>
          <p:nvPr/>
        </p:nvSpPr>
        <p:spPr>
          <a:xfrm>
            <a:off x="9898380" y="213448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5-label212"/>
          <p:cNvSpPr txBox="1"/>
          <p:nvPr/>
        </p:nvSpPr>
        <p:spPr>
          <a:xfrm>
            <a:off x="9706610" y="335889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3" name="S05-label213"/>
          <p:cNvSpPr txBox="1"/>
          <p:nvPr/>
        </p:nvSpPr>
        <p:spPr>
          <a:xfrm>
            <a:off x="8156448" y="4415282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 ②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모양에 수 쓰기</a:t>
            </a:r>
            <a:endParaRPr lang="ko-KR" sz="4000" dirty="0"/>
          </a:p>
        </p:txBody>
      </p:sp>
      <p:sp>
        <p:nvSpPr>
          <p:cNvPr id="3" name="S06-card214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215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수를 모두 더해요.</a:t>
            </a:r>
            <a:endParaRPr lang="ko-KR" sz="2800" dirty="0"/>
          </a:p>
        </p:txBody>
      </p:sp>
      <p:sp>
        <p:nvSpPr>
          <p:cNvPr id="5" name="S06-card216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217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앞·옆에서 본 모양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줄마다 가장 큰 수만큼</a:t>
            </a:r>
            <a:endParaRPr lang="ko-KR" sz="2800" dirty="0"/>
          </a:p>
        </p:txBody>
      </p:sp>
      <p:sp>
        <p:nvSpPr>
          <p:cNvPr id="7" name="S06-figure218" descr="쌓기나무 9개로 쌓은 모양: 앞줄은 왼쪽부터 1층, 2층, 1층, 뒷줄은 왼쪽부터 2층, 3층"/>
          <p:cNvSpPr/>
          <p:nvPr/>
        </p:nvSpPr>
        <p:spPr>
          <a:xfrm>
            <a:off x="2236554" y="2404415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219"/>
          <p:cNvSpPr/>
          <p:nvPr/>
        </p:nvSpPr>
        <p:spPr>
          <a:xfrm>
            <a:off x="2236554" y="2735986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mark220"/>
          <p:cNvSpPr/>
          <p:nvPr/>
        </p:nvSpPr>
        <p:spPr>
          <a:xfrm>
            <a:off x="2810836" y="2735986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6-mark221"/>
          <p:cNvSpPr/>
          <p:nvPr/>
        </p:nvSpPr>
        <p:spPr>
          <a:xfrm>
            <a:off x="1662272" y="2735986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222"/>
          <p:cNvSpPr/>
          <p:nvPr/>
        </p:nvSpPr>
        <p:spPr>
          <a:xfrm>
            <a:off x="1662272" y="3067558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6-mark223"/>
          <p:cNvSpPr/>
          <p:nvPr/>
        </p:nvSpPr>
        <p:spPr>
          <a:xfrm>
            <a:off x="2236554" y="3067558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6-mark224"/>
          <p:cNvSpPr/>
          <p:nvPr/>
        </p:nvSpPr>
        <p:spPr>
          <a:xfrm>
            <a:off x="2810836" y="2735986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6-mark225"/>
          <p:cNvSpPr/>
          <p:nvPr/>
        </p:nvSpPr>
        <p:spPr>
          <a:xfrm>
            <a:off x="2810836" y="3067558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6-mark226"/>
          <p:cNvSpPr/>
          <p:nvPr/>
        </p:nvSpPr>
        <p:spPr>
          <a:xfrm>
            <a:off x="3385119" y="3067558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6-mark227"/>
          <p:cNvSpPr/>
          <p:nvPr/>
        </p:nvSpPr>
        <p:spPr>
          <a:xfrm>
            <a:off x="2236554" y="1741272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6-mark228"/>
          <p:cNvSpPr/>
          <p:nvPr/>
        </p:nvSpPr>
        <p:spPr>
          <a:xfrm>
            <a:off x="2236554" y="2072843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6-mark229"/>
          <p:cNvSpPr/>
          <p:nvPr/>
        </p:nvSpPr>
        <p:spPr>
          <a:xfrm>
            <a:off x="2810836" y="2072843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mark230"/>
          <p:cNvSpPr/>
          <p:nvPr/>
        </p:nvSpPr>
        <p:spPr>
          <a:xfrm>
            <a:off x="2236554" y="3067558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6-mark231"/>
          <p:cNvSpPr/>
          <p:nvPr/>
        </p:nvSpPr>
        <p:spPr>
          <a:xfrm>
            <a:off x="2236554" y="3399130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6-mark232"/>
          <p:cNvSpPr/>
          <p:nvPr/>
        </p:nvSpPr>
        <p:spPr>
          <a:xfrm>
            <a:off x="2810836" y="3399130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6-mark233"/>
          <p:cNvSpPr/>
          <p:nvPr/>
        </p:nvSpPr>
        <p:spPr>
          <a:xfrm>
            <a:off x="2810836" y="2072843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6-mark234"/>
          <p:cNvSpPr/>
          <p:nvPr/>
        </p:nvSpPr>
        <p:spPr>
          <a:xfrm>
            <a:off x="2810836" y="2404415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mark235"/>
          <p:cNvSpPr/>
          <p:nvPr/>
        </p:nvSpPr>
        <p:spPr>
          <a:xfrm>
            <a:off x="3385119" y="2404415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6-mark236"/>
          <p:cNvSpPr/>
          <p:nvPr/>
        </p:nvSpPr>
        <p:spPr>
          <a:xfrm>
            <a:off x="2810836" y="3399130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6-mark237"/>
          <p:cNvSpPr/>
          <p:nvPr/>
        </p:nvSpPr>
        <p:spPr>
          <a:xfrm>
            <a:off x="2810836" y="3730701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6-mark238"/>
          <p:cNvSpPr/>
          <p:nvPr/>
        </p:nvSpPr>
        <p:spPr>
          <a:xfrm>
            <a:off x="3385119" y="3730701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6-mark239"/>
          <p:cNvSpPr/>
          <p:nvPr/>
        </p:nvSpPr>
        <p:spPr>
          <a:xfrm>
            <a:off x="2236554" y="2404415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6-mark240"/>
          <p:cNvSpPr/>
          <p:nvPr/>
        </p:nvSpPr>
        <p:spPr>
          <a:xfrm>
            <a:off x="2236554" y="2735986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6-mark241"/>
          <p:cNvSpPr/>
          <p:nvPr/>
        </p:nvSpPr>
        <p:spPr>
          <a:xfrm>
            <a:off x="2810836" y="2735986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6-mark242"/>
          <p:cNvSpPr/>
          <p:nvPr/>
        </p:nvSpPr>
        <p:spPr>
          <a:xfrm>
            <a:off x="2810836" y="1409700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6-mark243"/>
          <p:cNvSpPr/>
          <p:nvPr/>
        </p:nvSpPr>
        <p:spPr>
          <a:xfrm>
            <a:off x="2810836" y="1741272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6-mark244"/>
          <p:cNvSpPr/>
          <p:nvPr/>
        </p:nvSpPr>
        <p:spPr>
          <a:xfrm>
            <a:off x="3385119" y="1741272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6-mark245"/>
          <p:cNvSpPr/>
          <p:nvPr/>
        </p:nvSpPr>
        <p:spPr>
          <a:xfrm flipV="1">
            <a:off x="1662272" y="3995958"/>
            <a:ext cx="689006" cy="39788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6-mark246"/>
          <p:cNvSpPr/>
          <p:nvPr/>
        </p:nvSpPr>
        <p:spPr>
          <a:xfrm flipH="1" flipV="1">
            <a:off x="4131818" y="4161744"/>
            <a:ext cx="689006" cy="39788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6-label248"/>
          <p:cNvSpPr txBox="1"/>
          <p:nvPr/>
        </p:nvSpPr>
        <p:spPr>
          <a:xfrm>
            <a:off x="1211877" y="436842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7" name="S06-label250"/>
          <p:cNvSpPr txBox="1"/>
          <p:nvPr/>
        </p:nvSpPr>
        <p:spPr>
          <a:xfrm>
            <a:off x="4887679" y="453421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38" name="S06-figure251" descr="위에서 본 모양에 수를 씀: 뒷줄 2, 3 / 앞줄 1, 2, 1"/>
          <p:cNvSpPr/>
          <p:nvPr/>
        </p:nvSpPr>
        <p:spPr>
          <a:xfrm>
            <a:off x="7575804" y="25909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9" name="S06-mark252"/>
          <p:cNvSpPr/>
          <p:nvPr/>
        </p:nvSpPr>
        <p:spPr>
          <a:xfrm>
            <a:off x="7575804" y="16765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6-mark253"/>
          <p:cNvSpPr/>
          <p:nvPr/>
        </p:nvSpPr>
        <p:spPr>
          <a:xfrm>
            <a:off x="8490204" y="25909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6-mark254"/>
          <p:cNvSpPr/>
          <p:nvPr/>
        </p:nvSpPr>
        <p:spPr>
          <a:xfrm>
            <a:off x="8490204" y="16765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06-mark255"/>
          <p:cNvSpPr/>
          <p:nvPr/>
        </p:nvSpPr>
        <p:spPr>
          <a:xfrm>
            <a:off x="9404604" y="25909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06-label257"/>
          <p:cNvSpPr txBox="1"/>
          <p:nvPr/>
        </p:nvSpPr>
        <p:spPr>
          <a:xfrm>
            <a:off x="7885938" y="28735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4" name="S06-label259"/>
          <p:cNvSpPr txBox="1"/>
          <p:nvPr/>
        </p:nvSpPr>
        <p:spPr>
          <a:xfrm>
            <a:off x="7885938" y="19591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5" name="S06-label261"/>
          <p:cNvSpPr txBox="1"/>
          <p:nvPr/>
        </p:nvSpPr>
        <p:spPr>
          <a:xfrm>
            <a:off x="8800338" y="28735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6" name="S06-label263"/>
          <p:cNvSpPr txBox="1"/>
          <p:nvPr/>
        </p:nvSpPr>
        <p:spPr>
          <a:xfrm>
            <a:off x="8800338" y="19591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7" name="S06-label265"/>
          <p:cNvSpPr txBox="1"/>
          <p:nvPr/>
        </p:nvSpPr>
        <p:spPr>
          <a:xfrm>
            <a:off x="9714738" y="28735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8" name="S06-label267"/>
          <p:cNvSpPr txBox="1"/>
          <p:nvPr/>
        </p:nvSpPr>
        <p:spPr>
          <a:xfrm>
            <a:off x="8755634" y="383362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49" name="S06-label268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자리마다 쌓은 개수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층별로 나타낸 모양</a:t>
            </a:r>
            <a:endParaRPr lang="ko-KR" sz="4000" dirty="0"/>
          </a:p>
        </p:txBody>
      </p:sp>
      <p:sp>
        <p:nvSpPr>
          <p:cNvPr id="3" name="S07-card2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층마다 색칠한 칸을 세어 더해요. 5 + 2 + 1 = 8</a:t>
            </a:r>
            <a:endParaRPr lang="ko-KR" sz="2800" dirty="0"/>
          </a:p>
        </p:txBody>
      </p:sp>
      <p:sp>
        <p:nvSpPr>
          <p:cNvPr id="5" name="S07-figure271" descr="쌓기나무 8개로 쌓은 모양: 앞줄은 왼쪽부터 3층, 1층, 1층, 뒷줄은 왼쪽부터 2층, 1층"/>
          <p:cNvSpPr/>
          <p:nvPr/>
        </p:nvSpPr>
        <p:spPr>
          <a:xfrm>
            <a:off x="1324124" y="2656332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272"/>
          <p:cNvSpPr/>
          <p:nvPr/>
        </p:nvSpPr>
        <p:spPr>
          <a:xfrm>
            <a:off x="1324124" y="2939796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273"/>
          <p:cNvSpPr/>
          <p:nvPr/>
        </p:nvSpPr>
        <p:spPr>
          <a:xfrm>
            <a:off x="1815084" y="2939796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274"/>
          <p:cNvSpPr/>
          <p:nvPr/>
        </p:nvSpPr>
        <p:spPr>
          <a:xfrm>
            <a:off x="833165" y="2939796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7-mark275"/>
          <p:cNvSpPr/>
          <p:nvPr/>
        </p:nvSpPr>
        <p:spPr>
          <a:xfrm>
            <a:off x="833165" y="3223260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mark276"/>
          <p:cNvSpPr/>
          <p:nvPr/>
        </p:nvSpPr>
        <p:spPr>
          <a:xfrm>
            <a:off x="1324124" y="3223260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7-mark277"/>
          <p:cNvSpPr/>
          <p:nvPr/>
        </p:nvSpPr>
        <p:spPr>
          <a:xfrm>
            <a:off x="1815084" y="2939796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7-mark278"/>
          <p:cNvSpPr/>
          <p:nvPr/>
        </p:nvSpPr>
        <p:spPr>
          <a:xfrm>
            <a:off x="1815084" y="3223260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mark279"/>
          <p:cNvSpPr/>
          <p:nvPr/>
        </p:nvSpPr>
        <p:spPr>
          <a:xfrm>
            <a:off x="2306044" y="3223260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7-mark280"/>
          <p:cNvSpPr/>
          <p:nvPr/>
        </p:nvSpPr>
        <p:spPr>
          <a:xfrm>
            <a:off x="1324124" y="2089404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7-mark281"/>
          <p:cNvSpPr/>
          <p:nvPr/>
        </p:nvSpPr>
        <p:spPr>
          <a:xfrm>
            <a:off x="1324124" y="2372868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7-mark282"/>
          <p:cNvSpPr/>
          <p:nvPr/>
        </p:nvSpPr>
        <p:spPr>
          <a:xfrm>
            <a:off x="1815084" y="2372868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7-mark283"/>
          <p:cNvSpPr/>
          <p:nvPr/>
        </p:nvSpPr>
        <p:spPr>
          <a:xfrm>
            <a:off x="1324124" y="3223260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7-mark284"/>
          <p:cNvSpPr/>
          <p:nvPr/>
        </p:nvSpPr>
        <p:spPr>
          <a:xfrm>
            <a:off x="1324124" y="3506724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7-mark285"/>
          <p:cNvSpPr/>
          <p:nvPr/>
        </p:nvSpPr>
        <p:spPr>
          <a:xfrm>
            <a:off x="1815084" y="3506724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7-mark286"/>
          <p:cNvSpPr/>
          <p:nvPr/>
        </p:nvSpPr>
        <p:spPr>
          <a:xfrm>
            <a:off x="833165" y="2372868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7-mark287"/>
          <p:cNvSpPr/>
          <p:nvPr/>
        </p:nvSpPr>
        <p:spPr>
          <a:xfrm>
            <a:off x="833165" y="2656332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7-mark288"/>
          <p:cNvSpPr/>
          <p:nvPr/>
        </p:nvSpPr>
        <p:spPr>
          <a:xfrm>
            <a:off x="1324124" y="2656332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7-mark289"/>
          <p:cNvSpPr/>
          <p:nvPr/>
        </p:nvSpPr>
        <p:spPr>
          <a:xfrm>
            <a:off x="1815084" y="3506724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7-mark290"/>
          <p:cNvSpPr/>
          <p:nvPr/>
        </p:nvSpPr>
        <p:spPr>
          <a:xfrm>
            <a:off x="1815084" y="3790188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7-mark291"/>
          <p:cNvSpPr/>
          <p:nvPr/>
        </p:nvSpPr>
        <p:spPr>
          <a:xfrm>
            <a:off x="2306044" y="3790188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7-mark292"/>
          <p:cNvSpPr/>
          <p:nvPr/>
        </p:nvSpPr>
        <p:spPr>
          <a:xfrm>
            <a:off x="833165" y="1805940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7-mark293"/>
          <p:cNvSpPr/>
          <p:nvPr/>
        </p:nvSpPr>
        <p:spPr>
          <a:xfrm>
            <a:off x="833165" y="2089404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7-mark294"/>
          <p:cNvSpPr/>
          <p:nvPr/>
        </p:nvSpPr>
        <p:spPr>
          <a:xfrm>
            <a:off x="1324124" y="2089404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7-cell295"/>
          <p:cNvSpPr/>
          <p:nvPr/>
        </p:nvSpPr>
        <p:spPr>
          <a:xfrm>
            <a:off x="3982212" y="25408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cell296"/>
          <p:cNvSpPr/>
          <p:nvPr/>
        </p:nvSpPr>
        <p:spPr>
          <a:xfrm>
            <a:off x="4439412" y="25408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7-cell297"/>
          <p:cNvSpPr/>
          <p:nvPr/>
        </p:nvSpPr>
        <p:spPr>
          <a:xfrm>
            <a:off x="4896612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7-cell298"/>
          <p:cNvSpPr/>
          <p:nvPr/>
        </p:nvSpPr>
        <p:spPr>
          <a:xfrm>
            <a:off x="3982212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299"/>
          <p:cNvSpPr/>
          <p:nvPr/>
        </p:nvSpPr>
        <p:spPr>
          <a:xfrm>
            <a:off x="4439412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300"/>
          <p:cNvSpPr/>
          <p:nvPr/>
        </p:nvSpPr>
        <p:spPr>
          <a:xfrm>
            <a:off x="4896612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figure301" descr="1층 모양: 앞줄 3칸, 뒷줄 왼쪽 2칸, 모두 5칸 색칠"/>
          <p:cNvSpPr/>
          <p:nvPr/>
        </p:nvSpPr>
        <p:spPr>
          <a:xfrm>
            <a:off x="3982212" y="2540889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7-label302"/>
          <p:cNvSpPr txBox="1"/>
          <p:nvPr/>
        </p:nvSpPr>
        <p:spPr>
          <a:xfrm>
            <a:off x="3401568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</a:t>
            </a:r>
            <a:endParaRPr lang="ko-KR" sz="2200" dirty="0"/>
          </a:p>
        </p:txBody>
      </p:sp>
      <p:sp>
        <p:nvSpPr>
          <p:cNvPr id="37" name="S07-cell303"/>
          <p:cNvSpPr/>
          <p:nvPr/>
        </p:nvSpPr>
        <p:spPr>
          <a:xfrm>
            <a:off x="6835140" y="25408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cell304"/>
          <p:cNvSpPr/>
          <p:nvPr/>
        </p:nvSpPr>
        <p:spPr>
          <a:xfrm>
            <a:off x="7292340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cell305"/>
          <p:cNvSpPr/>
          <p:nvPr/>
        </p:nvSpPr>
        <p:spPr>
          <a:xfrm>
            <a:off x="7749540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7-cell306"/>
          <p:cNvSpPr/>
          <p:nvPr/>
        </p:nvSpPr>
        <p:spPr>
          <a:xfrm>
            <a:off x="6835140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cell307"/>
          <p:cNvSpPr/>
          <p:nvPr/>
        </p:nvSpPr>
        <p:spPr>
          <a:xfrm>
            <a:off x="7292340" y="29980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7-cell308"/>
          <p:cNvSpPr/>
          <p:nvPr/>
        </p:nvSpPr>
        <p:spPr>
          <a:xfrm>
            <a:off x="7749540" y="29980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7-figure309" descr="2층 모양: 앞줄 왼쪽 1칸, 뒷줄 왼쪽 1칸, 모두 2칸 색칠"/>
          <p:cNvSpPr/>
          <p:nvPr/>
        </p:nvSpPr>
        <p:spPr>
          <a:xfrm>
            <a:off x="6835140" y="2540889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07-label310"/>
          <p:cNvSpPr txBox="1"/>
          <p:nvPr/>
        </p:nvSpPr>
        <p:spPr>
          <a:xfrm>
            <a:off x="6254496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</a:t>
            </a:r>
            <a:endParaRPr lang="ko-KR" sz="2200" dirty="0"/>
          </a:p>
        </p:txBody>
      </p:sp>
      <p:sp>
        <p:nvSpPr>
          <p:cNvPr id="45" name="S07-cell311"/>
          <p:cNvSpPr/>
          <p:nvPr/>
        </p:nvSpPr>
        <p:spPr>
          <a:xfrm>
            <a:off x="9688068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7-cell312"/>
          <p:cNvSpPr/>
          <p:nvPr/>
        </p:nvSpPr>
        <p:spPr>
          <a:xfrm>
            <a:off x="10145268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7-cell313"/>
          <p:cNvSpPr/>
          <p:nvPr/>
        </p:nvSpPr>
        <p:spPr>
          <a:xfrm>
            <a:off x="10602468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7-cell314"/>
          <p:cNvSpPr/>
          <p:nvPr/>
        </p:nvSpPr>
        <p:spPr>
          <a:xfrm>
            <a:off x="9688068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7-cell315"/>
          <p:cNvSpPr/>
          <p:nvPr/>
        </p:nvSpPr>
        <p:spPr>
          <a:xfrm>
            <a:off x="10145268" y="29980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7-cell316"/>
          <p:cNvSpPr/>
          <p:nvPr/>
        </p:nvSpPr>
        <p:spPr>
          <a:xfrm>
            <a:off x="10602468" y="29980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7-figure317" descr="3층 모양: 앞줄 왼쪽 1칸 색칠"/>
          <p:cNvSpPr/>
          <p:nvPr/>
        </p:nvSpPr>
        <p:spPr>
          <a:xfrm>
            <a:off x="9688068" y="2540889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2" name="S07-label318"/>
          <p:cNvSpPr txBox="1"/>
          <p:nvPr/>
        </p:nvSpPr>
        <p:spPr>
          <a:xfrm>
            <a:off x="9107424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수를 보고 알아내기</a:t>
            </a:r>
            <a:endParaRPr lang="ko-KR" sz="4000" dirty="0"/>
          </a:p>
        </p:txBody>
      </p:sp>
      <p:sp>
        <p:nvSpPr>
          <p:cNvPr id="3" name="S08-text3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모양에 쌓은 개수를 썼어요.</a:t>
            </a:r>
            <a:endParaRPr lang="ko-KR" sz="2800" dirty="0"/>
          </a:p>
        </p:txBody>
      </p:sp>
      <p:sp>
        <p:nvSpPr>
          <p:cNvPr id="4" name="S08-card3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앞·옆에서는 줄마다 가장 큰 수만 보여요.</a:t>
            </a:r>
            <a:endParaRPr lang="ko-KR" sz="2800" dirty="0"/>
          </a:p>
        </p:txBody>
      </p:sp>
      <p:sp>
        <p:nvSpPr>
          <p:cNvPr id="6" name="S08-figure322" descr="위에서 본 모양에 수를 씀: 뒷줄 3, 1, 2 / 앞줄 2, 1, 1"/>
          <p:cNvSpPr/>
          <p:nvPr/>
        </p:nvSpPr>
        <p:spPr>
          <a:xfrm>
            <a:off x="7587234" y="33147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8-mark323"/>
          <p:cNvSpPr/>
          <p:nvPr/>
        </p:nvSpPr>
        <p:spPr>
          <a:xfrm>
            <a:off x="7587234" y="24003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8-mark324"/>
          <p:cNvSpPr/>
          <p:nvPr/>
        </p:nvSpPr>
        <p:spPr>
          <a:xfrm>
            <a:off x="8501634" y="33147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8-mark325"/>
          <p:cNvSpPr/>
          <p:nvPr/>
        </p:nvSpPr>
        <p:spPr>
          <a:xfrm>
            <a:off x="8501634" y="24003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8-mark326"/>
          <p:cNvSpPr/>
          <p:nvPr/>
        </p:nvSpPr>
        <p:spPr>
          <a:xfrm>
            <a:off x="9416034" y="33147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8-mark327"/>
          <p:cNvSpPr/>
          <p:nvPr/>
        </p:nvSpPr>
        <p:spPr>
          <a:xfrm>
            <a:off x="9416034" y="24003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8-label329"/>
          <p:cNvSpPr txBox="1"/>
          <p:nvPr/>
        </p:nvSpPr>
        <p:spPr>
          <a:xfrm>
            <a:off x="7897368" y="35972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3" name="S08-label331"/>
          <p:cNvSpPr txBox="1"/>
          <p:nvPr/>
        </p:nvSpPr>
        <p:spPr>
          <a:xfrm>
            <a:off x="7897368" y="2682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4" name="S08-label333"/>
          <p:cNvSpPr txBox="1"/>
          <p:nvPr/>
        </p:nvSpPr>
        <p:spPr>
          <a:xfrm>
            <a:off x="8811768" y="35972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8-label335"/>
          <p:cNvSpPr txBox="1"/>
          <p:nvPr/>
        </p:nvSpPr>
        <p:spPr>
          <a:xfrm>
            <a:off x="8811768" y="2682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8-label337"/>
          <p:cNvSpPr txBox="1"/>
          <p:nvPr/>
        </p:nvSpPr>
        <p:spPr>
          <a:xfrm>
            <a:off x="9726168" y="35972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7" name="S08-label339"/>
          <p:cNvSpPr txBox="1"/>
          <p:nvPr/>
        </p:nvSpPr>
        <p:spPr>
          <a:xfrm>
            <a:off x="9726168" y="2682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8" name="S08-label341"/>
          <p:cNvSpPr txBox="1"/>
          <p:nvPr/>
        </p:nvSpPr>
        <p:spPr>
          <a:xfrm>
            <a:off x="8767064" y="455739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19" name="S08-chip34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0" name="S08-text34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쌓기나무는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21" name="S08-chip34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08-text345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보면 왼쪽 줄부터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층씩 보이나요?</a:t>
            </a:r>
            <a:endParaRPr lang="ko-KR" sz="2800" dirty="0"/>
          </a:p>
        </p:txBody>
      </p:sp>
      <p:sp>
        <p:nvSpPr>
          <p:cNvPr id="23" name="S08-chip34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4" name="S08-text347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보면 앞줄부터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층씩 보이나요?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본 모양은?</a:t>
            </a:r>
            <a:endParaRPr lang="ko-KR" sz="4000" dirty="0"/>
          </a:p>
        </p:txBody>
      </p:sp>
      <p:sp>
        <p:nvSpPr>
          <p:cNvPr id="3" name="S09-card3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3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맞게 그렸을까요? 까닭을 말해요.</a:t>
            </a:r>
            <a:endParaRPr lang="ko-KR" sz="2800" dirty="0"/>
          </a:p>
        </p:txBody>
      </p:sp>
      <p:sp>
        <p:nvSpPr>
          <p:cNvPr id="5" name="S09-chip35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2800" dirty="0"/>
          </a:p>
        </p:txBody>
      </p:sp>
      <p:sp>
        <p:nvSpPr>
          <p:cNvPr id="6" name="S09-figure351" descr="위에서 본 모양에 수를 씀: 뒷줄 1, 1, 1 / 앞줄 1, 2"/>
          <p:cNvSpPr/>
          <p:nvPr/>
        </p:nvSpPr>
        <p:spPr>
          <a:xfrm>
            <a:off x="1520952" y="321183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352"/>
          <p:cNvSpPr/>
          <p:nvPr/>
        </p:nvSpPr>
        <p:spPr>
          <a:xfrm>
            <a:off x="1520952" y="270891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9-mark353"/>
          <p:cNvSpPr/>
          <p:nvPr/>
        </p:nvSpPr>
        <p:spPr>
          <a:xfrm>
            <a:off x="2023872" y="321183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354"/>
          <p:cNvSpPr/>
          <p:nvPr/>
        </p:nvSpPr>
        <p:spPr>
          <a:xfrm>
            <a:off x="2023872" y="270891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9-mark355"/>
          <p:cNvSpPr/>
          <p:nvPr/>
        </p:nvSpPr>
        <p:spPr>
          <a:xfrm>
            <a:off x="2526792" y="270891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9-label357"/>
          <p:cNvSpPr txBox="1"/>
          <p:nvPr/>
        </p:nvSpPr>
        <p:spPr>
          <a:xfrm>
            <a:off x="1625346" y="32886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9-label359"/>
          <p:cNvSpPr txBox="1"/>
          <p:nvPr/>
        </p:nvSpPr>
        <p:spPr>
          <a:xfrm>
            <a:off x="1625346" y="278574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9-label361"/>
          <p:cNvSpPr txBox="1"/>
          <p:nvPr/>
        </p:nvSpPr>
        <p:spPr>
          <a:xfrm>
            <a:off x="2128266" y="32886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9-label363"/>
          <p:cNvSpPr txBox="1"/>
          <p:nvPr/>
        </p:nvSpPr>
        <p:spPr>
          <a:xfrm>
            <a:off x="2128266" y="278574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9-label365"/>
          <p:cNvSpPr txBox="1"/>
          <p:nvPr/>
        </p:nvSpPr>
        <p:spPr>
          <a:xfrm>
            <a:off x="2631186" y="278574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9-label367"/>
          <p:cNvSpPr txBox="1"/>
          <p:nvPr/>
        </p:nvSpPr>
        <p:spPr>
          <a:xfrm>
            <a:off x="2083562" y="381673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17" name="S09-label368"/>
          <p:cNvSpPr txBox="1"/>
          <p:nvPr/>
        </p:nvSpPr>
        <p:spPr>
          <a:xfrm>
            <a:off x="548640" y="4743450"/>
            <a:ext cx="3453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위에서 본 모양</a:t>
            </a:r>
            <a:endParaRPr lang="ko-KR" sz="2200" dirty="0"/>
          </a:p>
        </p:txBody>
      </p:sp>
      <p:sp>
        <p:nvSpPr>
          <p:cNvPr id="18" name="S09-chip369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19" name="S09-cell370"/>
          <p:cNvSpPr/>
          <p:nvPr/>
        </p:nvSpPr>
        <p:spPr>
          <a:xfrm>
            <a:off x="5518404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cell371"/>
          <p:cNvSpPr/>
          <p:nvPr/>
        </p:nvSpPr>
        <p:spPr>
          <a:xfrm>
            <a:off x="5902452" y="277406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9-cell372"/>
          <p:cNvSpPr/>
          <p:nvPr/>
        </p:nvSpPr>
        <p:spPr>
          <a:xfrm>
            <a:off x="6286500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9-cell373"/>
          <p:cNvSpPr/>
          <p:nvPr/>
        </p:nvSpPr>
        <p:spPr>
          <a:xfrm>
            <a:off x="5518404" y="315810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9-cell374"/>
          <p:cNvSpPr/>
          <p:nvPr/>
        </p:nvSpPr>
        <p:spPr>
          <a:xfrm>
            <a:off x="5902452" y="315810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9-cell375"/>
          <p:cNvSpPr/>
          <p:nvPr/>
        </p:nvSpPr>
        <p:spPr>
          <a:xfrm>
            <a:off x="6286500" y="315810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9-cell376"/>
          <p:cNvSpPr/>
          <p:nvPr/>
        </p:nvSpPr>
        <p:spPr>
          <a:xfrm>
            <a:off x="5518404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9-cell377"/>
          <p:cNvSpPr/>
          <p:nvPr/>
        </p:nvSpPr>
        <p:spPr>
          <a:xfrm>
            <a:off x="5902452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9-cell378"/>
          <p:cNvSpPr/>
          <p:nvPr/>
        </p:nvSpPr>
        <p:spPr>
          <a:xfrm>
            <a:off x="6286500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9-figure379" descr="토끼가 그린 모양: 왼쪽부터 2칸, 3칸, 1칸 색칠"/>
          <p:cNvSpPr/>
          <p:nvPr/>
        </p:nvSpPr>
        <p:spPr>
          <a:xfrm>
            <a:off x="5518404" y="2774061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9-label380"/>
          <p:cNvSpPr txBox="1"/>
          <p:nvPr/>
        </p:nvSpPr>
        <p:spPr>
          <a:xfrm>
            <a:off x="4367784" y="4743450"/>
            <a:ext cx="3453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30" name="S09-chip381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31" name="S09-cell382"/>
          <p:cNvSpPr/>
          <p:nvPr/>
        </p:nvSpPr>
        <p:spPr>
          <a:xfrm>
            <a:off x="9337548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9-cell383"/>
          <p:cNvSpPr/>
          <p:nvPr/>
        </p:nvSpPr>
        <p:spPr>
          <a:xfrm>
            <a:off x="9721596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9-cell384"/>
          <p:cNvSpPr/>
          <p:nvPr/>
        </p:nvSpPr>
        <p:spPr>
          <a:xfrm>
            <a:off x="10105644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9-cell385"/>
          <p:cNvSpPr/>
          <p:nvPr/>
        </p:nvSpPr>
        <p:spPr>
          <a:xfrm>
            <a:off x="9337548" y="315810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cell386"/>
          <p:cNvSpPr/>
          <p:nvPr/>
        </p:nvSpPr>
        <p:spPr>
          <a:xfrm>
            <a:off x="9721596" y="315810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9-cell387"/>
          <p:cNvSpPr/>
          <p:nvPr/>
        </p:nvSpPr>
        <p:spPr>
          <a:xfrm>
            <a:off x="10105644" y="315810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9-cell388"/>
          <p:cNvSpPr/>
          <p:nvPr/>
        </p:nvSpPr>
        <p:spPr>
          <a:xfrm>
            <a:off x="9337548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9-cell389"/>
          <p:cNvSpPr/>
          <p:nvPr/>
        </p:nvSpPr>
        <p:spPr>
          <a:xfrm>
            <a:off x="9721596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9-cell390"/>
          <p:cNvSpPr/>
          <p:nvPr/>
        </p:nvSpPr>
        <p:spPr>
          <a:xfrm>
            <a:off x="10105644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9-figure391" descr="곰이 그린 모양: 왼쪽부터 1칸, 2칸, 1칸 색칠"/>
          <p:cNvSpPr/>
          <p:nvPr/>
        </p:nvSpPr>
        <p:spPr>
          <a:xfrm>
            <a:off x="9337548" y="2774061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9-label392"/>
          <p:cNvSpPr txBox="1"/>
          <p:nvPr/>
        </p:nvSpPr>
        <p:spPr>
          <a:xfrm>
            <a:off x="8186928" y="4743450"/>
            <a:ext cx="3453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모양으로 개수 구하기</a:t>
            </a:r>
            <a:endParaRPr lang="ko-KR" sz="4000" dirty="0"/>
          </a:p>
        </p:txBody>
      </p:sp>
      <p:sp>
        <p:nvSpPr>
          <p:cNvPr id="3" name="S10-text3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위·앞·옆에서 본 모양이에요.</a:t>
            </a:r>
            <a:endParaRPr lang="ko-KR" sz="2800" dirty="0"/>
          </a:p>
        </p:txBody>
      </p:sp>
      <p:sp>
        <p:nvSpPr>
          <p:cNvPr id="4" name="S10-card3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3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앞줄부터 정하고, 앞에서 본 모양으로 뒷줄을 정해요.</a:t>
            </a:r>
            <a:endParaRPr lang="ko-KR" sz="2800" dirty="0"/>
          </a:p>
        </p:txBody>
      </p:sp>
      <p:sp>
        <p:nvSpPr>
          <p:cNvPr id="6" name="S10-cell396"/>
          <p:cNvSpPr/>
          <p:nvPr/>
        </p:nvSpPr>
        <p:spPr>
          <a:xfrm>
            <a:off x="6488430" y="295694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cell397"/>
          <p:cNvSpPr/>
          <p:nvPr/>
        </p:nvSpPr>
        <p:spPr>
          <a:xfrm>
            <a:off x="6872478" y="295694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0-cell398"/>
          <p:cNvSpPr/>
          <p:nvPr/>
        </p:nvSpPr>
        <p:spPr>
          <a:xfrm>
            <a:off x="7256526" y="295694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0-cell399"/>
          <p:cNvSpPr/>
          <p:nvPr/>
        </p:nvSpPr>
        <p:spPr>
          <a:xfrm>
            <a:off x="6488430" y="334098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0-cell400"/>
          <p:cNvSpPr/>
          <p:nvPr/>
        </p:nvSpPr>
        <p:spPr>
          <a:xfrm>
            <a:off x="6872478" y="334098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0-cell401"/>
          <p:cNvSpPr/>
          <p:nvPr/>
        </p:nvSpPr>
        <p:spPr>
          <a:xfrm>
            <a:off x="7256526" y="334098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0-figure402" descr="위에서 본 모양: 뒷줄 왼쪽 2칸, 앞줄 3칸"/>
          <p:cNvSpPr/>
          <p:nvPr/>
        </p:nvSpPr>
        <p:spPr>
          <a:xfrm>
            <a:off x="6488430" y="2956941"/>
            <a:ext cx="1152144" cy="76809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0-label403"/>
          <p:cNvSpPr txBox="1"/>
          <p:nvPr/>
        </p:nvSpPr>
        <p:spPr>
          <a:xfrm>
            <a:off x="6277356" y="4743450"/>
            <a:ext cx="1574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2200" dirty="0"/>
          </a:p>
        </p:txBody>
      </p:sp>
      <p:sp>
        <p:nvSpPr>
          <p:cNvPr id="14" name="S10-cell404"/>
          <p:cNvSpPr/>
          <p:nvPr/>
        </p:nvSpPr>
        <p:spPr>
          <a:xfrm>
            <a:off x="8382762" y="276491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0-cell405"/>
          <p:cNvSpPr/>
          <p:nvPr/>
        </p:nvSpPr>
        <p:spPr>
          <a:xfrm>
            <a:off x="8766810" y="276491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0-cell406"/>
          <p:cNvSpPr/>
          <p:nvPr/>
        </p:nvSpPr>
        <p:spPr>
          <a:xfrm>
            <a:off x="9150858" y="276491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cell407"/>
          <p:cNvSpPr/>
          <p:nvPr/>
        </p:nvSpPr>
        <p:spPr>
          <a:xfrm>
            <a:off x="8382762" y="314896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0-cell408"/>
          <p:cNvSpPr/>
          <p:nvPr/>
        </p:nvSpPr>
        <p:spPr>
          <a:xfrm>
            <a:off x="8766810" y="314896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409"/>
          <p:cNvSpPr/>
          <p:nvPr/>
        </p:nvSpPr>
        <p:spPr>
          <a:xfrm>
            <a:off x="9150858" y="314896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410"/>
          <p:cNvSpPr/>
          <p:nvPr/>
        </p:nvSpPr>
        <p:spPr>
          <a:xfrm>
            <a:off x="8382762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cell411"/>
          <p:cNvSpPr/>
          <p:nvPr/>
        </p:nvSpPr>
        <p:spPr>
          <a:xfrm>
            <a:off x="8766810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0-cell412"/>
          <p:cNvSpPr/>
          <p:nvPr/>
        </p:nvSpPr>
        <p:spPr>
          <a:xfrm>
            <a:off x="9150858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0-figure413" descr="앞에서 본 모양: 왼쪽부터 3칸, 2칸, 1칸"/>
          <p:cNvSpPr/>
          <p:nvPr/>
        </p:nvSpPr>
        <p:spPr>
          <a:xfrm>
            <a:off x="8382762" y="2764917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0-label414"/>
          <p:cNvSpPr txBox="1"/>
          <p:nvPr/>
        </p:nvSpPr>
        <p:spPr>
          <a:xfrm>
            <a:off x="8171688" y="4743450"/>
            <a:ext cx="1574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25" name="S10-cell415"/>
          <p:cNvSpPr/>
          <p:nvPr/>
        </p:nvSpPr>
        <p:spPr>
          <a:xfrm>
            <a:off x="10469118" y="276491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0-cell416"/>
          <p:cNvSpPr/>
          <p:nvPr/>
        </p:nvSpPr>
        <p:spPr>
          <a:xfrm>
            <a:off x="10853166" y="276491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0-cell417"/>
          <p:cNvSpPr/>
          <p:nvPr/>
        </p:nvSpPr>
        <p:spPr>
          <a:xfrm>
            <a:off x="10469118" y="314896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0-cell418"/>
          <p:cNvSpPr/>
          <p:nvPr/>
        </p:nvSpPr>
        <p:spPr>
          <a:xfrm>
            <a:off x="10853166" y="314896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0-cell419"/>
          <p:cNvSpPr/>
          <p:nvPr/>
        </p:nvSpPr>
        <p:spPr>
          <a:xfrm>
            <a:off x="10469118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0-cell420"/>
          <p:cNvSpPr/>
          <p:nvPr/>
        </p:nvSpPr>
        <p:spPr>
          <a:xfrm>
            <a:off x="10853166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0-figure421" descr="옆에서 본 모양: 왼쪽(앞줄) 1칸, 오른쪽(뒷줄) 3칸"/>
          <p:cNvSpPr/>
          <p:nvPr/>
        </p:nvSpPr>
        <p:spPr>
          <a:xfrm>
            <a:off x="10469118" y="2764917"/>
            <a:ext cx="768096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10-label422"/>
          <p:cNvSpPr txBox="1"/>
          <p:nvPr/>
        </p:nvSpPr>
        <p:spPr>
          <a:xfrm>
            <a:off x="10066020" y="4743450"/>
            <a:ext cx="1574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33" name="S10-chip4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10-text42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옆을 보면 앞줄은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층인가요?</a:t>
            </a:r>
            <a:endParaRPr lang="ko-KR" sz="2800" dirty="0"/>
          </a:p>
        </p:txBody>
      </p:sp>
      <p:sp>
        <p:nvSpPr>
          <p:cNvPr id="35" name="S10-chip4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10-text42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뒷줄 왼쪽과 가운데에는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개씩 있나요?</a:t>
            </a:r>
            <a:endParaRPr lang="ko-KR" sz="2800" dirty="0"/>
          </a:p>
        </p:txBody>
      </p:sp>
      <p:sp>
        <p:nvSpPr>
          <p:cNvPr id="37" name="S10-chip4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10-text42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쌓기나무는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4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개수를 구하고, 어떻게 알았는지 말해요.</a:t>
            </a:r>
            <a:endParaRPr lang="ko-KR" sz="2800" dirty="0"/>
          </a:p>
        </p:txBody>
      </p:sp>
      <p:sp>
        <p:nvSpPr>
          <p:cNvPr id="4" name="S11-chip430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figure431" descr="쌓기나무를 쌓은 모양: 앞줄은 왼쪽부터 1층, 2층, 1층, 뒷줄은 가운데 2층, 오른쪽 1층이 보임"/>
          <p:cNvSpPr/>
          <p:nvPr/>
        </p:nvSpPr>
        <p:spPr>
          <a:xfrm>
            <a:off x="1953412" y="2269712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432"/>
          <p:cNvSpPr/>
          <p:nvPr/>
        </p:nvSpPr>
        <p:spPr>
          <a:xfrm>
            <a:off x="1953412" y="2443925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433"/>
          <p:cNvSpPr/>
          <p:nvPr/>
        </p:nvSpPr>
        <p:spPr>
          <a:xfrm>
            <a:off x="2255147" y="2443925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434"/>
          <p:cNvSpPr/>
          <p:nvPr/>
        </p:nvSpPr>
        <p:spPr>
          <a:xfrm>
            <a:off x="1651676" y="2443925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1-mark435"/>
          <p:cNvSpPr/>
          <p:nvPr/>
        </p:nvSpPr>
        <p:spPr>
          <a:xfrm>
            <a:off x="1651676" y="2618137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1-mark436"/>
          <p:cNvSpPr/>
          <p:nvPr/>
        </p:nvSpPr>
        <p:spPr>
          <a:xfrm>
            <a:off x="1953412" y="2618137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1-mark437"/>
          <p:cNvSpPr/>
          <p:nvPr/>
        </p:nvSpPr>
        <p:spPr>
          <a:xfrm>
            <a:off x="2255147" y="2443925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1-mark438"/>
          <p:cNvSpPr/>
          <p:nvPr/>
        </p:nvSpPr>
        <p:spPr>
          <a:xfrm>
            <a:off x="2255147" y="2618137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1-mark439"/>
          <p:cNvSpPr/>
          <p:nvPr/>
        </p:nvSpPr>
        <p:spPr>
          <a:xfrm>
            <a:off x="2556883" y="2618137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1-mark440"/>
          <p:cNvSpPr/>
          <p:nvPr/>
        </p:nvSpPr>
        <p:spPr>
          <a:xfrm>
            <a:off x="1953412" y="2618137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1-mark441"/>
          <p:cNvSpPr/>
          <p:nvPr/>
        </p:nvSpPr>
        <p:spPr>
          <a:xfrm>
            <a:off x="1953412" y="2792349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1-mark442"/>
          <p:cNvSpPr/>
          <p:nvPr/>
        </p:nvSpPr>
        <p:spPr>
          <a:xfrm>
            <a:off x="2255147" y="2792349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1-mark443"/>
          <p:cNvSpPr/>
          <p:nvPr/>
        </p:nvSpPr>
        <p:spPr>
          <a:xfrm>
            <a:off x="2556883" y="2618137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1-mark444"/>
          <p:cNvSpPr/>
          <p:nvPr/>
        </p:nvSpPr>
        <p:spPr>
          <a:xfrm>
            <a:off x="2556883" y="2792349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1-mark445"/>
          <p:cNvSpPr/>
          <p:nvPr/>
        </p:nvSpPr>
        <p:spPr>
          <a:xfrm>
            <a:off x="2858618" y="2792349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1-mark446"/>
          <p:cNvSpPr/>
          <p:nvPr/>
        </p:nvSpPr>
        <p:spPr>
          <a:xfrm>
            <a:off x="2255147" y="2095500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1-mark447"/>
          <p:cNvSpPr/>
          <p:nvPr/>
        </p:nvSpPr>
        <p:spPr>
          <a:xfrm>
            <a:off x="2255147" y="2269712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1-mark448"/>
          <p:cNvSpPr/>
          <p:nvPr/>
        </p:nvSpPr>
        <p:spPr>
          <a:xfrm>
            <a:off x="2556883" y="2269712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1-mark449"/>
          <p:cNvSpPr/>
          <p:nvPr/>
        </p:nvSpPr>
        <p:spPr>
          <a:xfrm>
            <a:off x="2255147" y="2792349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1-mark450"/>
          <p:cNvSpPr/>
          <p:nvPr/>
        </p:nvSpPr>
        <p:spPr>
          <a:xfrm>
            <a:off x="2255147" y="2966561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11-mark451"/>
          <p:cNvSpPr/>
          <p:nvPr/>
        </p:nvSpPr>
        <p:spPr>
          <a:xfrm>
            <a:off x="2556883" y="2966561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11-mark452"/>
          <p:cNvSpPr/>
          <p:nvPr/>
        </p:nvSpPr>
        <p:spPr>
          <a:xfrm>
            <a:off x="1953412" y="2269712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11-mark453"/>
          <p:cNvSpPr/>
          <p:nvPr/>
        </p:nvSpPr>
        <p:spPr>
          <a:xfrm>
            <a:off x="1953412" y="2443925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11-mark454"/>
          <p:cNvSpPr/>
          <p:nvPr/>
        </p:nvSpPr>
        <p:spPr>
          <a:xfrm>
            <a:off x="2255147" y="2443925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11-label455"/>
          <p:cNvSpPr txBox="1"/>
          <p:nvPr/>
        </p:nvSpPr>
        <p:spPr>
          <a:xfrm>
            <a:off x="1344168" y="3646170"/>
            <a:ext cx="212369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쌓은 모양</a:t>
            </a:r>
            <a:endParaRPr lang="ko-KR" sz="2200" dirty="0"/>
          </a:p>
        </p:txBody>
      </p:sp>
      <p:sp>
        <p:nvSpPr>
          <p:cNvPr id="30" name="S11-figure456" descr="위에서 본 모양: 앞줄 3칸, 뒷줄 3칸(여섯 칸 모두)"/>
          <p:cNvSpPr/>
          <p:nvPr/>
        </p:nvSpPr>
        <p:spPr>
          <a:xfrm>
            <a:off x="4273677" y="268673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1-mark457"/>
          <p:cNvSpPr/>
          <p:nvPr/>
        </p:nvSpPr>
        <p:spPr>
          <a:xfrm>
            <a:off x="4273677" y="230268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11-mark458"/>
          <p:cNvSpPr/>
          <p:nvPr/>
        </p:nvSpPr>
        <p:spPr>
          <a:xfrm>
            <a:off x="4657725" y="268673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11-mark459"/>
          <p:cNvSpPr/>
          <p:nvPr/>
        </p:nvSpPr>
        <p:spPr>
          <a:xfrm>
            <a:off x="4657725" y="230268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11-mark460"/>
          <p:cNvSpPr/>
          <p:nvPr/>
        </p:nvSpPr>
        <p:spPr>
          <a:xfrm>
            <a:off x="5041773" y="268673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11-mark461"/>
          <p:cNvSpPr/>
          <p:nvPr/>
        </p:nvSpPr>
        <p:spPr>
          <a:xfrm>
            <a:off x="5041773" y="230268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11-label463"/>
          <p:cNvSpPr txBox="1"/>
          <p:nvPr/>
        </p:nvSpPr>
        <p:spPr>
          <a:xfrm>
            <a:off x="4657979" y="310738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7" name="S11-label464"/>
          <p:cNvSpPr txBox="1"/>
          <p:nvPr/>
        </p:nvSpPr>
        <p:spPr>
          <a:xfrm>
            <a:off x="3787902" y="3646170"/>
            <a:ext cx="212369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</a:t>
            </a:r>
            <a:endParaRPr lang="ko-KR" sz="2200" dirty="0"/>
          </a:p>
        </p:txBody>
      </p:sp>
      <p:sp>
        <p:nvSpPr>
          <p:cNvPr id="38" name="S11-chip465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9" name="S11-figure466" descr="위에서 본 모양에 수를 씀: 뒷줄 2, 1, 2 / 앞줄 3, 1"/>
          <p:cNvSpPr/>
          <p:nvPr/>
        </p:nvSpPr>
        <p:spPr>
          <a:xfrm>
            <a:off x="8670798" y="28917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11-mark467"/>
          <p:cNvSpPr/>
          <p:nvPr/>
        </p:nvSpPr>
        <p:spPr>
          <a:xfrm>
            <a:off x="8670798" y="24345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11-mark468"/>
          <p:cNvSpPr/>
          <p:nvPr/>
        </p:nvSpPr>
        <p:spPr>
          <a:xfrm>
            <a:off x="9127998" y="28917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11-mark469"/>
          <p:cNvSpPr/>
          <p:nvPr/>
        </p:nvSpPr>
        <p:spPr>
          <a:xfrm>
            <a:off x="9127998" y="24345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11-mark470"/>
          <p:cNvSpPr/>
          <p:nvPr/>
        </p:nvSpPr>
        <p:spPr>
          <a:xfrm>
            <a:off x="9585198" y="24345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11-label472"/>
          <p:cNvSpPr txBox="1"/>
          <p:nvPr/>
        </p:nvSpPr>
        <p:spPr>
          <a:xfrm>
            <a:off x="8752332" y="29457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5" name="S11-label474"/>
          <p:cNvSpPr txBox="1"/>
          <p:nvPr/>
        </p:nvSpPr>
        <p:spPr>
          <a:xfrm>
            <a:off x="8752332" y="24885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6" name="S11-label476"/>
          <p:cNvSpPr txBox="1"/>
          <p:nvPr/>
        </p:nvSpPr>
        <p:spPr>
          <a:xfrm>
            <a:off x="9209532" y="29457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7" name="S11-label478"/>
          <p:cNvSpPr txBox="1"/>
          <p:nvPr/>
        </p:nvSpPr>
        <p:spPr>
          <a:xfrm>
            <a:off x="9209532" y="24885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8" name="S11-label480"/>
          <p:cNvSpPr txBox="1"/>
          <p:nvPr/>
        </p:nvSpPr>
        <p:spPr>
          <a:xfrm>
            <a:off x="9666732" y="24885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9" name="S11-label482"/>
          <p:cNvSpPr txBox="1"/>
          <p:nvPr/>
        </p:nvSpPr>
        <p:spPr>
          <a:xfrm>
            <a:off x="9164828" y="342582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50" name="S11-chip48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51" name="S11-cell484"/>
          <p:cNvSpPr/>
          <p:nvPr/>
        </p:nvSpPr>
        <p:spPr>
          <a:xfrm>
            <a:off x="1587246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1-cell485"/>
          <p:cNvSpPr/>
          <p:nvPr/>
        </p:nvSpPr>
        <p:spPr>
          <a:xfrm>
            <a:off x="1861566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11-cell486"/>
          <p:cNvSpPr/>
          <p:nvPr/>
        </p:nvSpPr>
        <p:spPr>
          <a:xfrm>
            <a:off x="2135886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11-cell487"/>
          <p:cNvSpPr/>
          <p:nvPr/>
        </p:nvSpPr>
        <p:spPr>
          <a:xfrm>
            <a:off x="1587246" y="498690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11-cell488"/>
          <p:cNvSpPr/>
          <p:nvPr/>
        </p:nvSpPr>
        <p:spPr>
          <a:xfrm>
            <a:off x="1861566" y="498690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11-cell489"/>
          <p:cNvSpPr/>
          <p:nvPr/>
        </p:nvSpPr>
        <p:spPr>
          <a:xfrm>
            <a:off x="2135886" y="498690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1-figure490" descr="1층 모양: 6칸 모두 색칠"/>
          <p:cNvSpPr/>
          <p:nvPr/>
        </p:nvSpPr>
        <p:spPr>
          <a:xfrm>
            <a:off x="1587246" y="4712589"/>
            <a:ext cx="822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8" name="S11-label491"/>
          <p:cNvSpPr txBox="1"/>
          <p:nvPr/>
        </p:nvSpPr>
        <p:spPr>
          <a:xfrm>
            <a:off x="1344168" y="5840730"/>
            <a:ext cx="13091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</a:t>
            </a:r>
            <a:endParaRPr lang="ko-KR" sz="2200" dirty="0"/>
          </a:p>
        </p:txBody>
      </p:sp>
      <p:sp>
        <p:nvSpPr>
          <p:cNvPr id="59" name="S11-cell492"/>
          <p:cNvSpPr/>
          <p:nvPr/>
        </p:nvSpPr>
        <p:spPr>
          <a:xfrm>
            <a:off x="3216402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11-cell493"/>
          <p:cNvSpPr/>
          <p:nvPr/>
        </p:nvSpPr>
        <p:spPr>
          <a:xfrm>
            <a:off x="3490722" y="471258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1-cell494"/>
          <p:cNvSpPr/>
          <p:nvPr/>
        </p:nvSpPr>
        <p:spPr>
          <a:xfrm>
            <a:off x="3765042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11-cell495"/>
          <p:cNvSpPr/>
          <p:nvPr/>
        </p:nvSpPr>
        <p:spPr>
          <a:xfrm>
            <a:off x="3216402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11-cell496"/>
          <p:cNvSpPr/>
          <p:nvPr/>
        </p:nvSpPr>
        <p:spPr>
          <a:xfrm>
            <a:off x="3490722" y="498690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1-cell497"/>
          <p:cNvSpPr/>
          <p:nvPr/>
        </p:nvSpPr>
        <p:spPr>
          <a:xfrm>
            <a:off x="3765042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11-figure498" descr="2층 모양: 앞줄 가운데, 뒷줄 왼쪽, 뒷줄 오른쪽 3칸 색칠"/>
          <p:cNvSpPr/>
          <p:nvPr/>
        </p:nvSpPr>
        <p:spPr>
          <a:xfrm>
            <a:off x="3216402" y="4712589"/>
            <a:ext cx="822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6" name="S11-label499"/>
          <p:cNvSpPr txBox="1"/>
          <p:nvPr/>
        </p:nvSpPr>
        <p:spPr>
          <a:xfrm>
            <a:off x="2973324" y="5840730"/>
            <a:ext cx="13091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</a:t>
            </a:r>
            <a:endParaRPr lang="ko-KR" sz="2200" dirty="0"/>
          </a:p>
        </p:txBody>
      </p:sp>
      <p:sp>
        <p:nvSpPr>
          <p:cNvPr id="67" name="S11-cell500"/>
          <p:cNvSpPr/>
          <p:nvPr/>
        </p:nvSpPr>
        <p:spPr>
          <a:xfrm>
            <a:off x="4845558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1-cell501"/>
          <p:cNvSpPr/>
          <p:nvPr/>
        </p:nvSpPr>
        <p:spPr>
          <a:xfrm>
            <a:off x="5119878" y="471258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11-cell502"/>
          <p:cNvSpPr/>
          <p:nvPr/>
        </p:nvSpPr>
        <p:spPr>
          <a:xfrm>
            <a:off x="5394198" y="471258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11-cell503"/>
          <p:cNvSpPr/>
          <p:nvPr/>
        </p:nvSpPr>
        <p:spPr>
          <a:xfrm>
            <a:off x="4845558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11-cell504"/>
          <p:cNvSpPr/>
          <p:nvPr/>
        </p:nvSpPr>
        <p:spPr>
          <a:xfrm>
            <a:off x="5119878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1-cell505"/>
          <p:cNvSpPr/>
          <p:nvPr/>
        </p:nvSpPr>
        <p:spPr>
          <a:xfrm>
            <a:off x="5394198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11-figure506" descr="3층 모양: 뒷줄 왼쪽 1칸 색칠"/>
          <p:cNvSpPr/>
          <p:nvPr/>
        </p:nvSpPr>
        <p:spPr>
          <a:xfrm>
            <a:off x="4845558" y="4712589"/>
            <a:ext cx="822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4" name="S11-label507"/>
          <p:cNvSpPr txBox="1"/>
          <p:nvPr/>
        </p:nvSpPr>
        <p:spPr>
          <a:xfrm>
            <a:off x="4602480" y="5840730"/>
            <a:ext cx="13091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</a:t>
            </a:r>
            <a:endParaRPr lang="ko-KR" sz="2200" dirty="0"/>
          </a:p>
        </p:txBody>
      </p:sp>
      <p:sp>
        <p:nvSpPr>
          <p:cNvPr id="75" name="S11-chip50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76" name="S11-text50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앞에서 보면 왼쪽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줄부터 몇 층씩 보이나요?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본 모양은?</a:t>
            </a:r>
            <a:endParaRPr lang="ko-KR" sz="4000" dirty="0"/>
          </a:p>
        </p:txBody>
      </p:sp>
      <p:sp>
        <p:nvSpPr>
          <p:cNvPr id="3" name="S13-card5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5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옆에서 본 모양을 고르고, 까닭을 말해요.</a:t>
            </a:r>
            <a:endParaRPr lang="ko-KR" sz="2800" dirty="0"/>
          </a:p>
        </p:txBody>
      </p:sp>
      <p:sp>
        <p:nvSpPr>
          <p:cNvPr id="5" name="S13-chip512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2800" dirty="0"/>
          </a:p>
        </p:txBody>
      </p:sp>
      <p:sp>
        <p:nvSpPr>
          <p:cNvPr id="6" name="S13-figure513" descr="위에서 본 모양에 수를 씀: 뒷줄 3, 2, 1 / 앞줄 2, 1"/>
          <p:cNvSpPr/>
          <p:nvPr/>
        </p:nvSpPr>
        <p:spPr>
          <a:xfrm>
            <a:off x="2955977" y="1857636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3-mark514"/>
          <p:cNvSpPr/>
          <p:nvPr/>
        </p:nvSpPr>
        <p:spPr>
          <a:xfrm>
            <a:off x="2955977" y="1409700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3-mark515"/>
          <p:cNvSpPr/>
          <p:nvPr/>
        </p:nvSpPr>
        <p:spPr>
          <a:xfrm>
            <a:off x="3403914" y="1857636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3-mark516"/>
          <p:cNvSpPr/>
          <p:nvPr/>
        </p:nvSpPr>
        <p:spPr>
          <a:xfrm>
            <a:off x="3403914" y="1409700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3-mark517"/>
          <p:cNvSpPr/>
          <p:nvPr/>
        </p:nvSpPr>
        <p:spPr>
          <a:xfrm>
            <a:off x="3851850" y="1409700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3-label519"/>
          <p:cNvSpPr txBox="1"/>
          <p:nvPr/>
        </p:nvSpPr>
        <p:spPr>
          <a:xfrm>
            <a:off x="3032880" y="190698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2" name="S13-label521"/>
          <p:cNvSpPr txBox="1"/>
          <p:nvPr/>
        </p:nvSpPr>
        <p:spPr>
          <a:xfrm>
            <a:off x="3032880" y="145904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13-label523"/>
          <p:cNvSpPr txBox="1"/>
          <p:nvPr/>
        </p:nvSpPr>
        <p:spPr>
          <a:xfrm>
            <a:off x="3480816" y="190698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3-label525"/>
          <p:cNvSpPr txBox="1"/>
          <p:nvPr/>
        </p:nvSpPr>
        <p:spPr>
          <a:xfrm>
            <a:off x="3480816" y="145904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5" name="S13-label527"/>
          <p:cNvSpPr txBox="1"/>
          <p:nvPr/>
        </p:nvSpPr>
        <p:spPr>
          <a:xfrm>
            <a:off x="3928752" y="145904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13-label529"/>
          <p:cNvSpPr txBox="1"/>
          <p:nvPr/>
        </p:nvSpPr>
        <p:spPr>
          <a:xfrm>
            <a:off x="3436112" y="237731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17" name="S13-label530"/>
          <p:cNvSpPr txBox="1"/>
          <p:nvPr/>
        </p:nvSpPr>
        <p:spPr>
          <a:xfrm>
            <a:off x="1344168" y="270891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위에서 본 모양</a:t>
            </a:r>
            <a:endParaRPr lang="ko-KR" sz="2200" dirty="0"/>
          </a:p>
        </p:txBody>
      </p:sp>
      <p:sp>
        <p:nvSpPr>
          <p:cNvPr id="18" name="S13-chip531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19" name="S13-cell532"/>
          <p:cNvSpPr/>
          <p:nvPr/>
        </p:nvSpPr>
        <p:spPr>
          <a:xfrm>
            <a:off x="8972550" y="1404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cell533"/>
          <p:cNvSpPr/>
          <p:nvPr/>
        </p:nvSpPr>
        <p:spPr>
          <a:xfrm>
            <a:off x="9356598" y="140474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cell534"/>
          <p:cNvSpPr/>
          <p:nvPr/>
        </p:nvSpPr>
        <p:spPr>
          <a:xfrm>
            <a:off x="8972550" y="1788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cell535"/>
          <p:cNvSpPr/>
          <p:nvPr/>
        </p:nvSpPr>
        <p:spPr>
          <a:xfrm>
            <a:off x="9356598" y="1788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536"/>
          <p:cNvSpPr/>
          <p:nvPr/>
        </p:nvSpPr>
        <p:spPr>
          <a:xfrm>
            <a:off x="8972550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537"/>
          <p:cNvSpPr/>
          <p:nvPr/>
        </p:nvSpPr>
        <p:spPr>
          <a:xfrm>
            <a:off x="9356598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figure538" descr="가: 왼쪽 3칸, 오른쪽 2칸 색칠"/>
          <p:cNvSpPr/>
          <p:nvPr/>
        </p:nvSpPr>
        <p:spPr>
          <a:xfrm>
            <a:off x="8972550" y="1404747"/>
            <a:ext cx="768096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13-label539"/>
          <p:cNvSpPr txBox="1"/>
          <p:nvPr/>
        </p:nvSpPr>
        <p:spPr>
          <a:xfrm>
            <a:off x="7072884" y="270891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27" name="S13-chip540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8" name="S13-cell541"/>
          <p:cNvSpPr/>
          <p:nvPr/>
        </p:nvSpPr>
        <p:spPr>
          <a:xfrm>
            <a:off x="3243834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3-cell542"/>
          <p:cNvSpPr/>
          <p:nvPr/>
        </p:nvSpPr>
        <p:spPr>
          <a:xfrm>
            <a:off x="3627882" y="343928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3-cell543"/>
          <p:cNvSpPr/>
          <p:nvPr/>
        </p:nvSpPr>
        <p:spPr>
          <a:xfrm>
            <a:off x="3243834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3-cell544"/>
          <p:cNvSpPr/>
          <p:nvPr/>
        </p:nvSpPr>
        <p:spPr>
          <a:xfrm>
            <a:off x="3627882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3-cell545"/>
          <p:cNvSpPr/>
          <p:nvPr/>
        </p:nvSpPr>
        <p:spPr>
          <a:xfrm>
            <a:off x="3243834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3-cell546"/>
          <p:cNvSpPr/>
          <p:nvPr/>
        </p:nvSpPr>
        <p:spPr>
          <a:xfrm>
            <a:off x="3627882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3-figure547" descr="나: 왼쪽 2칸, 오른쪽 3칸 색칠"/>
          <p:cNvSpPr/>
          <p:nvPr/>
        </p:nvSpPr>
        <p:spPr>
          <a:xfrm>
            <a:off x="3243834" y="3439287"/>
            <a:ext cx="768096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13-label548"/>
          <p:cNvSpPr txBox="1"/>
          <p:nvPr/>
        </p:nvSpPr>
        <p:spPr>
          <a:xfrm>
            <a:off x="1344168" y="474345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36" name="S13-chip54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37" name="S13-cell550"/>
          <p:cNvSpPr/>
          <p:nvPr/>
        </p:nvSpPr>
        <p:spPr>
          <a:xfrm>
            <a:off x="8780526" y="343928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3-cell551"/>
          <p:cNvSpPr/>
          <p:nvPr/>
        </p:nvSpPr>
        <p:spPr>
          <a:xfrm>
            <a:off x="9164574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3-cell552"/>
          <p:cNvSpPr/>
          <p:nvPr/>
        </p:nvSpPr>
        <p:spPr>
          <a:xfrm>
            <a:off x="9548622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3-cell553"/>
          <p:cNvSpPr/>
          <p:nvPr/>
        </p:nvSpPr>
        <p:spPr>
          <a:xfrm>
            <a:off x="8780526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3-cell554"/>
          <p:cNvSpPr/>
          <p:nvPr/>
        </p:nvSpPr>
        <p:spPr>
          <a:xfrm>
            <a:off x="9164574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3-cell555"/>
          <p:cNvSpPr/>
          <p:nvPr/>
        </p:nvSpPr>
        <p:spPr>
          <a:xfrm>
            <a:off x="9548622" y="382333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3-cell556"/>
          <p:cNvSpPr/>
          <p:nvPr/>
        </p:nvSpPr>
        <p:spPr>
          <a:xfrm>
            <a:off x="8780526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3-cell557"/>
          <p:cNvSpPr/>
          <p:nvPr/>
        </p:nvSpPr>
        <p:spPr>
          <a:xfrm>
            <a:off x="9164574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3-cell558"/>
          <p:cNvSpPr/>
          <p:nvPr/>
        </p:nvSpPr>
        <p:spPr>
          <a:xfrm>
            <a:off x="9548622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13-figure559" descr="다: 왼쪽부터 3칸, 2칸, 1칸 색칠"/>
          <p:cNvSpPr/>
          <p:nvPr/>
        </p:nvSpPr>
        <p:spPr>
          <a:xfrm>
            <a:off x="8780526" y="3439287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7" name="S13-label560"/>
          <p:cNvSpPr txBox="1"/>
          <p:nvPr/>
        </p:nvSpPr>
        <p:spPr>
          <a:xfrm>
            <a:off x="7072884" y="474345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56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56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앞·옆에서는 줄마다 가장 높은 층이 보여요. 숨은 쌓기나무는 위에서 본 모양으로 확인해요.</a:t>
            </a:r>
            <a:endParaRPr lang="ko-KR" sz="2800" dirty="0"/>
          </a:p>
        </p:txBody>
      </p:sp>
      <p:sp>
        <p:nvSpPr>
          <p:cNvPr id="5" name="S14-chip56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자리마다 수를 써서 더하기</a:t>
            </a:r>
            <a:endParaRPr lang="ko-KR" sz="2200" dirty="0"/>
          </a:p>
        </p:txBody>
      </p:sp>
      <p:sp>
        <p:nvSpPr>
          <p:cNvPr id="6" name="S14-chip56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줄의 수를 더해 앞모양 그리기</a:t>
            </a:r>
            <a:endParaRPr lang="ko-KR" sz="2200" dirty="0"/>
          </a:p>
        </p:txBody>
      </p:sp>
      <p:sp>
        <p:nvSpPr>
          <p:cNvPr id="7" name="S14-text56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56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위에서 본 모양에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2, 3, 1이 있으면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개?</a:t>
            </a:r>
            <a:endParaRPr lang="ko-KR" sz="2200" dirty="0"/>
          </a:p>
        </p:txBody>
      </p:sp>
      <p:sp>
        <p:nvSpPr>
          <p:cNvPr id="9" name="S14-text56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앞뒤로 1층과 3층이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줄을 앞에서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 몇 층?</a:t>
            </a:r>
            <a:endParaRPr lang="ko-KR" sz="2200" dirty="0"/>
          </a:p>
        </p:txBody>
      </p:sp>
      <p:sp>
        <p:nvSpPr>
          <p:cNvPr id="10" name="S14-text56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그림만으로 개수를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정할 수 없는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200" dirty="0"/>
          </a:p>
        </p:txBody>
      </p:sp>
      <p:sp>
        <p:nvSpPr>
          <p:cNvPr id="11" name="S14-text56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직육면체의 겉넓이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층별로 세기</a:t>
            </a:r>
            <a:endParaRPr lang="ko-KR" sz="4000" dirty="0"/>
          </a:p>
        </p:txBody>
      </p:sp>
      <p:sp>
        <p:nvSpPr>
          <p:cNvPr id="3" name="S15-card5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5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+ 1 = 6, 모두 6개예요.</a:t>
            </a:r>
            <a:endParaRPr lang="ko-KR" sz="2800" dirty="0"/>
          </a:p>
        </p:txBody>
      </p:sp>
      <p:sp>
        <p:nvSpPr>
          <p:cNvPr id="5" name="S15-figure572" descr="쌓기나무 6개를 한 줄로 계단처럼 쌓은 모양: 왼쪽부터 1층, 2층, 3층"/>
          <p:cNvSpPr/>
          <p:nvPr/>
        </p:nvSpPr>
        <p:spPr>
          <a:xfrm>
            <a:off x="1659575" y="231648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5-mark573"/>
          <p:cNvSpPr/>
          <p:nvPr/>
        </p:nvSpPr>
        <p:spPr>
          <a:xfrm>
            <a:off x="1659575" y="276987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5-mark574"/>
          <p:cNvSpPr/>
          <p:nvPr/>
        </p:nvSpPr>
        <p:spPr>
          <a:xfrm>
            <a:off x="2444847" y="276987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575"/>
          <p:cNvSpPr/>
          <p:nvPr/>
        </p:nvSpPr>
        <p:spPr>
          <a:xfrm>
            <a:off x="2444847" y="276987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5-mark576"/>
          <p:cNvSpPr/>
          <p:nvPr/>
        </p:nvSpPr>
        <p:spPr>
          <a:xfrm>
            <a:off x="2444847" y="322326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5-mark577"/>
          <p:cNvSpPr/>
          <p:nvPr/>
        </p:nvSpPr>
        <p:spPr>
          <a:xfrm>
            <a:off x="3230118" y="322326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5-mark578"/>
          <p:cNvSpPr/>
          <p:nvPr/>
        </p:nvSpPr>
        <p:spPr>
          <a:xfrm>
            <a:off x="3230118" y="322326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5-mark579"/>
          <p:cNvSpPr/>
          <p:nvPr/>
        </p:nvSpPr>
        <p:spPr>
          <a:xfrm>
            <a:off x="3230118" y="367665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5-mark580"/>
          <p:cNvSpPr/>
          <p:nvPr/>
        </p:nvSpPr>
        <p:spPr>
          <a:xfrm>
            <a:off x="4015389" y="367665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5-mark581"/>
          <p:cNvSpPr/>
          <p:nvPr/>
        </p:nvSpPr>
        <p:spPr>
          <a:xfrm>
            <a:off x="2444847" y="186309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5-mark582"/>
          <p:cNvSpPr/>
          <p:nvPr/>
        </p:nvSpPr>
        <p:spPr>
          <a:xfrm>
            <a:off x="2444847" y="231648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5-mark583"/>
          <p:cNvSpPr/>
          <p:nvPr/>
        </p:nvSpPr>
        <p:spPr>
          <a:xfrm>
            <a:off x="3230118" y="231648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5-mark584"/>
          <p:cNvSpPr/>
          <p:nvPr/>
        </p:nvSpPr>
        <p:spPr>
          <a:xfrm>
            <a:off x="3230118" y="231648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5-mark585"/>
          <p:cNvSpPr/>
          <p:nvPr/>
        </p:nvSpPr>
        <p:spPr>
          <a:xfrm>
            <a:off x="3230118" y="276987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5-mark586"/>
          <p:cNvSpPr/>
          <p:nvPr/>
        </p:nvSpPr>
        <p:spPr>
          <a:xfrm>
            <a:off x="4015389" y="276987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5-mark587"/>
          <p:cNvSpPr/>
          <p:nvPr/>
        </p:nvSpPr>
        <p:spPr>
          <a:xfrm>
            <a:off x="3230118" y="140970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5-mark588"/>
          <p:cNvSpPr/>
          <p:nvPr/>
        </p:nvSpPr>
        <p:spPr>
          <a:xfrm>
            <a:off x="3230118" y="186309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5-mark589"/>
          <p:cNvSpPr/>
          <p:nvPr/>
        </p:nvSpPr>
        <p:spPr>
          <a:xfrm>
            <a:off x="4015389" y="186309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5-card590"/>
          <p:cNvSpPr/>
          <p:nvPr/>
        </p:nvSpPr>
        <p:spPr>
          <a:xfrm>
            <a:off x="6277356" y="16916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15-cardtext591"/>
          <p:cNvSpPr txBox="1"/>
          <p:nvPr/>
        </p:nvSpPr>
        <p:spPr>
          <a:xfrm>
            <a:off x="6551676" y="18288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3개</a:t>
            </a:r>
            <a:endParaRPr lang="ko-KR" sz="2800" dirty="0"/>
          </a:p>
        </p:txBody>
      </p:sp>
      <p:sp>
        <p:nvSpPr>
          <p:cNvPr id="25" name="S15-card592"/>
          <p:cNvSpPr/>
          <p:nvPr/>
        </p:nvSpPr>
        <p:spPr>
          <a:xfrm>
            <a:off x="6277356" y="27889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5-cardtext593"/>
          <p:cNvSpPr txBox="1"/>
          <p:nvPr/>
        </p:nvSpPr>
        <p:spPr>
          <a:xfrm>
            <a:off x="6551676" y="29260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2층에 2개</a:t>
            </a:r>
            <a:endParaRPr lang="ko-KR" sz="2800" dirty="0"/>
          </a:p>
        </p:txBody>
      </p:sp>
      <p:sp>
        <p:nvSpPr>
          <p:cNvPr id="27" name="S15-card594"/>
          <p:cNvSpPr/>
          <p:nvPr/>
        </p:nvSpPr>
        <p:spPr>
          <a:xfrm>
            <a:off x="6277356" y="38862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15-cardtext595"/>
          <p:cNvSpPr txBox="1"/>
          <p:nvPr/>
        </p:nvSpPr>
        <p:spPr>
          <a:xfrm>
            <a:off x="6551676" y="40233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3층에 1개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쌓기나무와 공간 감각</dc:title>
  <dc:subject>KR22-G06-MAT-VIEWS-L01</dc:subject>
  <dc:creator>education-ppt</dc:creator>
  <cp:lastModifiedBy>education-ppt</cp:lastModifiedBy>
  <cp:revision>1</cp:revision>
  <dcterms:created xsi:type="dcterms:W3CDTF">2026-10-26T08:57:56Z</dcterms:created>
  <dcterms:modified xsi:type="dcterms:W3CDTF">2026-10-26T08:57:56Z</dcterms:modified>
</cp:coreProperties>
</file>