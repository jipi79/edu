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d34d525-b06b-cfa9-e88f-c363d47c3a4b}">
          <p14:sldIdLst>
            <p14:sldId id="256"/>
            <p14:sldId id="257"/>
          </p14:sldIdLst>
        </p14:section>
        <p14:section name="개념" id="{fba5c4a8-e06d-8519-7a16-d4b9a941fedc}">
          <p14:sldIdLst>
            <p14:sldId id="258"/>
            <p14:sldId id="259"/>
            <p14:sldId id="260"/>
            <p14:sldId id="263"/>
          </p14:sldIdLst>
        </p14:section>
        <p14:section name="연습" id="{2f6daa1f-f891-254f-9cc9-6cf26926e8d3}">
          <p14:sldIdLst>
            <p14:sldId id="261"/>
            <p14:sldId id="262"/>
            <p14:sldId id="264"/>
            <p14:sldId id="265"/>
          </p14:sldIdLst>
        </p14:section>
        <p14:section name="개념" id="{09cd873e-5c73-d0b0-d061-88f3fcdf373e}">
          <p14:sldIdLst/>
        </p14:section>
        <p14:section name="연습" id="{87e3b4bb-2807-005d-1871-2db005b60e62}">
          <p14:sldIdLst/>
        </p14:section>
        <p14:section name="확인" id="{b2676884-f3c9-6e59-68b5-25bf30326284}">
          <p14:sldIdLst>
            <p14:sldId id="266"/>
            <p14:sldId id="267"/>
          </p14:sldIdLst>
        </p14:section>
        <p14:section name="정리" id="{34452c63-4dde-adc9-e227-48524b02e448}">
          <p14:sldIdLst>
            <p14:sldId id="268"/>
          </p14:sldIdLst>
        </p14:section>
        <p14:section name="보충" id="{b0f9540c-ecdb-0567-04b8-7fe0813e1f29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입체와측정 · 5차시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직육면체의 부피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직육면체의 부피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수학 · 직육면체의 부피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직육면체의 부피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상자가 차지하는 공간의 크기를 어떻게 잴까?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한 모서리가 1 cm인 정육면체로 빈틈없이 채운 직육면체: 가로 4개, 세로 3개, 높이 2층"/>
          <p:cNvSpPr/>
          <p:nvPr/>
        </p:nvSpPr>
        <p:spPr>
          <a:xfrm>
            <a:off x="7764780" y="1557988"/>
            <a:ext cx="2295293" cy="1147646"/>
          </a:xfrm>
          <a:custGeom>
            <a:avLst/>
            <a:gdLst/>
            <a:ahLst/>
            <a:cxnLst/>
            <a:rect l="l" t="t" r="r" b="b"/>
            <a:pathLst>
              <a:path w="2295293" h="1147646">
                <a:moveTo>
                  <a:pt x="0" y="1147646"/>
                </a:moveTo>
                <a:lnTo>
                  <a:pt x="2295293" y="1147646"/>
                </a:lnTo>
                <a:lnTo>
                  <a:pt x="2295293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7764780" y="1041547"/>
            <a:ext cx="3018310" cy="516441"/>
          </a:xfrm>
          <a:custGeom>
            <a:avLst/>
            <a:gdLst/>
            <a:ahLst/>
            <a:cxnLst/>
            <a:rect l="l" t="t" r="r" b="b"/>
            <a:pathLst>
              <a:path w="3018310" h="516441">
                <a:moveTo>
                  <a:pt x="0" y="516441"/>
                </a:moveTo>
                <a:lnTo>
                  <a:pt x="2295293" y="516441"/>
                </a:lnTo>
                <a:lnTo>
                  <a:pt x="3018310" y="0"/>
                </a:lnTo>
                <a:lnTo>
                  <a:pt x="723017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10060073" y="1041547"/>
            <a:ext cx="723017" cy="1664087"/>
          </a:xfrm>
          <a:custGeom>
            <a:avLst/>
            <a:gdLst/>
            <a:ahLst/>
            <a:cxnLst/>
            <a:rect l="l" t="t" r="r" b="b"/>
            <a:pathLst>
              <a:path w="723017" h="1664087">
                <a:moveTo>
                  <a:pt x="0" y="1664087"/>
                </a:moveTo>
                <a:lnTo>
                  <a:pt x="723017" y="1147646"/>
                </a:lnTo>
                <a:lnTo>
                  <a:pt x="723017" y="0"/>
                </a:lnTo>
                <a:lnTo>
                  <a:pt x="0" y="516441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 flipV="1">
            <a:off x="8338603" y="1557988"/>
            <a:ext cx="0" cy="114764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 flipV="1">
            <a:off x="8338603" y="1041547"/>
            <a:ext cx="723017" cy="51644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 flipV="1">
            <a:off x="8912426" y="1557988"/>
            <a:ext cx="0" cy="114764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 flipV="1">
            <a:off x="8912426" y="1041547"/>
            <a:ext cx="723017" cy="51644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 flipV="1">
            <a:off x="9486250" y="1557988"/>
            <a:ext cx="0" cy="114764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 flipV="1">
            <a:off x="9486250" y="1041547"/>
            <a:ext cx="723017" cy="51644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>
            <a:off x="7764780" y="2131811"/>
            <a:ext cx="2295293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5" name="S01-mark12"/>
          <p:cNvSpPr/>
          <p:nvPr/>
        </p:nvSpPr>
        <p:spPr>
          <a:xfrm flipV="1">
            <a:off x="10060073" y="1615370"/>
            <a:ext cx="723017" cy="51644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6" name="S01-mark13"/>
          <p:cNvSpPr/>
          <p:nvPr/>
        </p:nvSpPr>
        <p:spPr>
          <a:xfrm>
            <a:off x="8005786" y="1385841"/>
            <a:ext cx="2295293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7" name="S01-mark14"/>
          <p:cNvSpPr/>
          <p:nvPr/>
        </p:nvSpPr>
        <p:spPr>
          <a:xfrm flipV="1">
            <a:off x="10301078" y="1385841"/>
            <a:ext cx="0" cy="114764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8" name="S01-mark15"/>
          <p:cNvSpPr/>
          <p:nvPr/>
        </p:nvSpPr>
        <p:spPr>
          <a:xfrm>
            <a:off x="8246791" y="1213694"/>
            <a:ext cx="2295293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9" name="S01-mark16"/>
          <p:cNvSpPr/>
          <p:nvPr/>
        </p:nvSpPr>
        <p:spPr>
          <a:xfrm flipV="1">
            <a:off x="10542084" y="1213694"/>
            <a:ext cx="0" cy="114764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0" name="S01-card17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21" name="S01-cardtext18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 cm³로 직육면체의 부피를 구해요.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 m³와 1 cm³의 관계를 알아요.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1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20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모서리가 3 cm인 정육면체의 겉넓이는?</a:t>
            </a:r>
            <a:endParaRPr lang="ko-KR" sz="2800" dirty="0"/>
          </a:p>
        </p:txBody>
      </p:sp>
      <p:sp>
        <p:nvSpPr>
          <p:cNvPr id="5" name="S02-chip21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eqtext22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3 × 2 = □</a:t>
            </a:r>
            <a:endParaRPr lang="ko-KR" sz="3200" dirty="0"/>
          </a:p>
        </p:txBody>
      </p:sp>
      <p:sp>
        <p:nvSpPr>
          <p:cNvPr id="7" name="S02-chip23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eqtext24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× 100 = □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상자가 더 클까요?</a:t>
            </a:r>
            <a:endParaRPr lang="ko-KR" sz="4000" dirty="0"/>
          </a:p>
        </p:txBody>
      </p:sp>
      <p:sp>
        <p:nvSpPr>
          <p:cNvPr id="3" name="S03-text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쌓기나무로 상자 가와 나를 빈틈없이 채웠어요.</a:t>
            </a:r>
            <a:endParaRPr lang="ko-KR" sz="2800" dirty="0"/>
          </a:p>
        </p:txBody>
      </p:sp>
      <p:sp>
        <p:nvSpPr>
          <p:cNvPr id="4" name="S03-card26"/>
          <p:cNvSpPr/>
          <p:nvPr/>
        </p:nvSpPr>
        <p:spPr>
          <a:xfrm>
            <a:off x="548640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3-cardtext27"/>
          <p:cNvSpPr txBox="1"/>
          <p:nvPr/>
        </p:nvSpPr>
        <p:spPr>
          <a:xfrm>
            <a:off x="822960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층에 4 × 2 = 8개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× 3 = 24개</a:t>
            </a:r>
            <a:endParaRPr lang="ko-KR" sz="2800" dirty="0"/>
          </a:p>
        </p:txBody>
      </p:sp>
      <p:sp>
        <p:nvSpPr>
          <p:cNvPr id="6" name="S03-card28"/>
          <p:cNvSpPr/>
          <p:nvPr/>
        </p:nvSpPr>
        <p:spPr>
          <a:xfrm>
            <a:off x="6208776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29"/>
          <p:cNvSpPr txBox="1"/>
          <p:nvPr/>
        </p:nvSpPr>
        <p:spPr>
          <a:xfrm>
            <a:off x="6483096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층에 3 × 3 = 9개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× 3 = 27개</a:t>
            </a:r>
            <a:endParaRPr lang="ko-KR" sz="2800" dirty="0"/>
          </a:p>
        </p:txBody>
      </p:sp>
      <p:sp>
        <p:nvSpPr>
          <p:cNvPr id="8" name="S03-figure30" descr="상자 가: 가로 4개, 세로 2개, 높이 3층으로 채운 직육면체"/>
          <p:cNvSpPr/>
          <p:nvPr/>
        </p:nvSpPr>
        <p:spPr>
          <a:xfrm>
            <a:off x="1958633" y="2346233"/>
            <a:ext cx="1671551" cy="1253663"/>
          </a:xfrm>
          <a:custGeom>
            <a:avLst/>
            <a:gdLst/>
            <a:ahLst/>
            <a:cxnLst/>
            <a:rect l="l" t="t" r="r" b="b"/>
            <a:pathLst>
              <a:path w="1671551" h="1253663">
                <a:moveTo>
                  <a:pt x="0" y="1253663"/>
                </a:moveTo>
                <a:lnTo>
                  <a:pt x="1671551" y="1253663"/>
                </a:lnTo>
                <a:lnTo>
                  <a:pt x="167155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3-mark31"/>
          <p:cNvSpPr/>
          <p:nvPr/>
        </p:nvSpPr>
        <p:spPr>
          <a:xfrm>
            <a:off x="1958633" y="2095500"/>
            <a:ext cx="2022577" cy="250733"/>
          </a:xfrm>
          <a:custGeom>
            <a:avLst/>
            <a:gdLst/>
            <a:ahLst/>
            <a:cxnLst/>
            <a:rect l="l" t="t" r="r" b="b"/>
            <a:pathLst>
              <a:path w="2022577" h="250733">
                <a:moveTo>
                  <a:pt x="0" y="250733"/>
                </a:moveTo>
                <a:lnTo>
                  <a:pt x="1671551" y="250733"/>
                </a:lnTo>
                <a:lnTo>
                  <a:pt x="2022577" y="0"/>
                </a:lnTo>
                <a:lnTo>
                  <a:pt x="351026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3-mark32"/>
          <p:cNvSpPr/>
          <p:nvPr/>
        </p:nvSpPr>
        <p:spPr>
          <a:xfrm>
            <a:off x="3630184" y="2095500"/>
            <a:ext cx="351026" cy="1504396"/>
          </a:xfrm>
          <a:custGeom>
            <a:avLst/>
            <a:gdLst/>
            <a:ahLst/>
            <a:cxnLst/>
            <a:rect l="l" t="t" r="r" b="b"/>
            <a:pathLst>
              <a:path w="351026" h="1504396">
                <a:moveTo>
                  <a:pt x="0" y="1504396"/>
                </a:moveTo>
                <a:lnTo>
                  <a:pt x="351026" y="1253663"/>
                </a:lnTo>
                <a:lnTo>
                  <a:pt x="351026" y="0"/>
                </a:lnTo>
                <a:lnTo>
                  <a:pt x="0" y="250733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3-mark33"/>
          <p:cNvSpPr/>
          <p:nvPr/>
        </p:nvSpPr>
        <p:spPr>
          <a:xfrm flipV="1">
            <a:off x="2376520" y="2346233"/>
            <a:ext cx="0" cy="125366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2" name="S03-mark34"/>
          <p:cNvSpPr/>
          <p:nvPr/>
        </p:nvSpPr>
        <p:spPr>
          <a:xfrm flipV="1">
            <a:off x="2376520" y="2095500"/>
            <a:ext cx="351026" cy="25073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3" name="S03-mark35"/>
          <p:cNvSpPr/>
          <p:nvPr/>
        </p:nvSpPr>
        <p:spPr>
          <a:xfrm flipV="1">
            <a:off x="2794408" y="2346233"/>
            <a:ext cx="0" cy="125366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4" name="S03-mark36"/>
          <p:cNvSpPr/>
          <p:nvPr/>
        </p:nvSpPr>
        <p:spPr>
          <a:xfrm flipV="1">
            <a:off x="2794408" y="2095500"/>
            <a:ext cx="351026" cy="25073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5" name="S03-mark37"/>
          <p:cNvSpPr/>
          <p:nvPr/>
        </p:nvSpPr>
        <p:spPr>
          <a:xfrm flipV="1">
            <a:off x="3212296" y="2346233"/>
            <a:ext cx="0" cy="125366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6" name="S03-mark38"/>
          <p:cNvSpPr/>
          <p:nvPr/>
        </p:nvSpPr>
        <p:spPr>
          <a:xfrm flipV="1">
            <a:off x="3212296" y="2095500"/>
            <a:ext cx="351026" cy="25073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7" name="S03-mark39"/>
          <p:cNvSpPr/>
          <p:nvPr/>
        </p:nvSpPr>
        <p:spPr>
          <a:xfrm>
            <a:off x="1958633" y="3182008"/>
            <a:ext cx="1671551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8" name="S03-mark40"/>
          <p:cNvSpPr/>
          <p:nvPr/>
        </p:nvSpPr>
        <p:spPr>
          <a:xfrm flipV="1">
            <a:off x="3630184" y="2931275"/>
            <a:ext cx="351026" cy="25073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9" name="S03-mark41"/>
          <p:cNvSpPr/>
          <p:nvPr/>
        </p:nvSpPr>
        <p:spPr>
          <a:xfrm>
            <a:off x="1958633" y="2764120"/>
            <a:ext cx="1671551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0" name="S03-mark42"/>
          <p:cNvSpPr/>
          <p:nvPr/>
        </p:nvSpPr>
        <p:spPr>
          <a:xfrm flipV="1">
            <a:off x="3630184" y="2513388"/>
            <a:ext cx="351026" cy="25073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1" name="S03-mark43"/>
          <p:cNvSpPr/>
          <p:nvPr/>
        </p:nvSpPr>
        <p:spPr>
          <a:xfrm>
            <a:off x="2134146" y="2220866"/>
            <a:ext cx="1671551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2" name="S03-mark44"/>
          <p:cNvSpPr/>
          <p:nvPr/>
        </p:nvSpPr>
        <p:spPr>
          <a:xfrm flipV="1">
            <a:off x="3805696" y="2220866"/>
            <a:ext cx="0" cy="125366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3" name="S03-label45"/>
          <p:cNvSpPr txBox="1"/>
          <p:nvPr/>
        </p:nvSpPr>
        <p:spPr>
          <a:xfrm>
            <a:off x="548640" y="4091178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24" name="S03-figure46" descr="상자 나: 가로 3개, 세로 3개, 높이 3층으로 채운 직육면체"/>
          <p:cNvSpPr/>
          <p:nvPr/>
        </p:nvSpPr>
        <p:spPr>
          <a:xfrm>
            <a:off x="7859829" y="2447593"/>
            <a:ext cx="1173642" cy="1173642"/>
          </a:xfrm>
          <a:custGeom>
            <a:avLst/>
            <a:gdLst/>
            <a:ahLst/>
            <a:cxnLst/>
            <a:rect l="l" t="t" r="r" b="b"/>
            <a:pathLst>
              <a:path w="1173642" h="1173642">
                <a:moveTo>
                  <a:pt x="0" y="1173642"/>
                </a:moveTo>
                <a:lnTo>
                  <a:pt x="1173642" y="1173642"/>
                </a:lnTo>
                <a:lnTo>
                  <a:pt x="117364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03-mark47"/>
          <p:cNvSpPr/>
          <p:nvPr/>
        </p:nvSpPr>
        <p:spPr>
          <a:xfrm>
            <a:off x="7859829" y="2095500"/>
            <a:ext cx="1666572" cy="352093"/>
          </a:xfrm>
          <a:custGeom>
            <a:avLst/>
            <a:gdLst/>
            <a:ahLst/>
            <a:cxnLst/>
            <a:rect l="l" t="t" r="r" b="b"/>
            <a:pathLst>
              <a:path w="1666572" h="352093">
                <a:moveTo>
                  <a:pt x="0" y="352093"/>
                </a:moveTo>
                <a:lnTo>
                  <a:pt x="1173642" y="352093"/>
                </a:lnTo>
                <a:lnTo>
                  <a:pt x="1666572" y="0"/>
                </a:lnTo>
                <a:lnTo>
                  <a:pt x="49293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6" name="S03-mark48"/>
          <p:cNvSpPr/>
          <p:nvPr/>
        </p:nvSpPr>
        <p:spPr>
          <a:xfrm>
            <a:off x="9033471" y="2095500"/>
            <a:ext cx="492930" cy="1525735"/>
          </a:xfrm>
          <a:custGeom>
            <a:avLst/>
            <a:gdLst/>
            <a:ahLst/>
            <a:cxnLst/>
            <a:rect l="l" t="t" r="r" b="b"/>
            <a:pathLst>
              <a:path w="492930" h="1525735">
                <a:moveTo>
                  <a:pt x="0" y="1525735"/>
                </a:moveTo>
                <a:lnTo>
                  <a:pt x="492930" y="1173642"/>
                </a:lnTo>
                <a:lnTo>
                  <a:pt x="492930" y="0"/>
                </a:lnTo>
                <a:lnTo>
                  <a:pt x="0" y="352093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7" name="S03-mark49"/>
          <p:cNvSpPr/>
          <p:nvPr/>
        </p:nvSpPr>
        <p:spPr>
          <a:xfrm flipV="1">
            <a:off x="8251043" y="2447593"/>
            <a:ext cx="0" cy="1173642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8" name="S03-mark50"/>
          <p:cNvSpPr/>
          <p:nvPr/>
        </p:nvSpPr>
        <p:spPr>
          <a:xfrm flipV="1">
            <a:off x="8251043" y="2095500"/>
            <a:ext cx="492930" cy="35209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9" name="S03-mark51"/>
          <p:cNvSpPr/>
          <p:nvPr/>
        </p:nvSpPr>
        <p:spPr>
          <a:xfrm flipV="1">
            <a:off x="8642257" y="2447593"/>
            <a:ext cx="0" cy="1173642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0" name="S03-mark52"/>
          <p:cNvSpPr/>
          <p:nvPr/>
        </p:nvSpPr>
        <p:spPr>
          <a:xfrm flipV="1">
            <a:off x="8642257" y="2095500"/>
            <a:ext cx="492930" cy="35209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1" name="S03-mark53"/>
          <p:cNvSpPr/>
          <p:nvPr/>
        </p:nvSpPr>
        <p:spPr>
          <a:xfrm>
            <a:off x="7859829" y="3230021"/>
            <a:ext cx="1173642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2" name="S03-mark54"/>
          <p:cNvSpPr/>
          <p:nvPr/>
        </p:nvSpPr>
        <p:spPr>
          <a:xfrm flipV="1">
            <a:off x="9033471" y="2877928"/>
            <a:ext cx="492930" cy="35209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3" name="S03-mark55"/>
          <p:cNvSpPr/>
          <p:nvPr/>
        </p:nvSpPr>
        <p:spPr>
          <a:xfrm>
            <a:off x="7859829" y="2838807"/>
            <a:ext cx="1173642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4" name="S03-mark56"/>
          <p:cNvSpPr/>
          <p:nvPr/>
        </p:nvSpPr>
        <p:spPr>
          <a:xfrm flipV="1">
            <a:off x="9033471" y="2486714"/>
            <a:ext cx="492930" cy="35209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5" name="S03-mark57"/>
          <p:cNvSpPr/>
          <p:nvPr/>
        </p:nvSpPr>
        <p:spPr>
          <a:xfrm>
            <a:off x="8024139" y="2330228"/>
            <a:ext cx="1173642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6" name="S03-mark58"/>
          <p:cNvSpPr/>
          <p:nvPr/>
        </p:nvSpPr>
        <p:spPr>
          <a:xfrm flipV="1">
            <a:off x="9197781" y="2330228"/>
            <a:ext cx="0" cy="1173642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7" name="S03-mark59"/>
          <p:cNvSpPr/>
          <p:nvPr/>
        </p:nvSpPr>
        <p:spPr>
          <a:xfrm>
            <a:off x="8188449" y="2212864"/>
            <a:ext cx="1173642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8" name="S03-mark60"/>
          <p:cNvSpPr/>
          <p:nvPr/>
        </p:nvSpPr>
        <p:spPr>
          <a:xfrm flipV="1">
            <a:off x="9362091" y="2212864"/>
            <a:ext cx="0" cy="1173642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9" name="S03-label61"/>
          <p:cNvSpPr txBox="1"/>
          <p:nvPr/>
        </p:nvSpPr>
        <p:spPr>
          <a:xfrm>
            <a:off x="6254496" y="4091178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부피의 단위 1 cm³</a:t>
            </a:r>
            <a:endParaRPr lang="ko-KR" sz="4000" dirty="0"/>
          </a:p>
        </p:txBody>
      </p:sp>
      <p:sp>
        <p:nvSpPr>
          <p:cNvPr id="3" name="S04-figure62" descr="한 모서리가 1 cm인 정육면체"/>
          <p:cNvSpPr/>
          <p:nvPr/>
        </p:nvSpPr>
        <p:spPr>
          <a:xfrm>
            <a:off x="1049325" y="2865008"/>
            <a:ext cx="1209189" cy="1209189"/>
          </a:xfrm>
          <a:custGeom>
            <a:avLst/>
            <a:gdLst/>
            <a:ahLst/>
            <a:cxnLst/>
            <a:rect l="l" t="t" r="r" b="b"/>
            <a:pathLst>
              <a:path w="1209189" h="1209189">
                <a:moveTo>
                  <a:pt x="0" y="1209189"/>
                </a:moveTo>
                <a:lnTo>
                  <a:pt x="1209189" y="1209189"/>
                </a:lnTo>
                <a:lnTo>
                  <a:pt x="1209189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" name="S04-mark63"/>
          <p:cNvSpPr/>
          <p:nvPr/>
        </p:nvSpPr>
        <p:spPr>
          <a:xfrm>
            <a:off x="1049325" y="2502251"/>
            <a:ext cx="1717049" cy="362757"/>
          </a:xfrm>
          <a:custGeom>
            <a:avLst/>
            <a:gdLst/>
            <a:ahLst/>
            <a:cxnLst/>
            <a:rect l="l" t="t" r="r" b="b"/>
            <a:pathLst>
              <a:path w="1717049" h="362757">
                <a:moveTo>
                  <a:pt x="0" y="362757"/>
                </a:moveTo>
                <a:lnTo>
                  <a:pt x="1209189" y="362757"/>
                </a:lnTo>
                <a:lnTo>
                  <a:pt x="1717049" y="0"/>
                </a:lnTo>
                <a:lnTo>
                  <a:pt x="50786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" name="S04-mark64"/>
          <p:cNvSpPr/>
          <p:nvPr/>
        </p:nvSpPr>
        <p:spPr>
          <a:xfrm>
            <a:off x="2258514" y="2502251"/>
            <a:ext cx="507860" cy="1571946"/>
          </a:xfrm>
          <a:custGeom>
            <a:avLst/>
            <a:gdLst/>
            <a:ahLst/>
            <a:cxnLst/>
            <a:rect l="l" t="t" r="r" b="b"/>
            <a:pathLst>
              <a:path w="507860" h="1571946">
                <a:moveTo>
                  <a:pt x="0" y="1571946"/>
                </a:moveTo>
                <a:lnTo>
                  <a:pt x="507860" y="1209189"/>
                </a:lnTo>
                <a:lnTo>
                  <a:pt x="507860" y="0"/>
                </a:lnTo>
                <a:lnTo>
                  <a:pt x="0" y="362757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4-mark65"/>
          <p:cNvSpPr/>
          <p:nvPr/>
        </p:nvSpPr>
        <p:spPr>
          <a:xfrm>
            <a:off x="1557184" y="3711441"/>
            <a:ext cx="1209189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7" name="S04-mark66"/>
          <p:cNvSpPr/>
          <p:nvPr/>
        </p:nvSpPr>
        <p:spPr>
          <a:xfrm flipV="1">
            <a:off x="1557184" y="2502251"/>
            <a:ext cx="0" cy="1209189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8" name="S04-mark67"/>
          <p:cNvSpPr/>
          <p:nvPr/>
        </p:nvSpPr>
        <p:spPr>
          <a:xfrm flipH="1">
            <a:off x="1049325" y="3711441"/>
            <a:ext cx="507860" cy="362757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9" name="S04-mark68"/>
          <p:cNvSpPr/>
          <p:nvPr/>
        </p:nvSpPr>
        <p:spPr>
          <a:xfrm>
            <a:off x="1049325" y="4074197"/>
            <a:ext cx="1209189" cy="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" name="S04-mark69"/>
          <p:cNvSpPr/>
          <p:nvPr/>
        </p:nvSpPr>
        <p:spPr>
          <a:xfrm flipV="1">
            <a:off x="2258514" y="3711441"/>
            <a:ext cx="507860" cy="362757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1" name="S04-mark70"/>
          <p:cNvSpPr/>
          <p:nvPr/>
        </p:nvSpPr>
        <p:spPr>
          <a:xfrm flipV="1">
            <a:off x="2766374" y="2502251"/>
            <a:ext cx="0" cy="1209189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2" name="S04-label72"/>
          <p:cNvSpPr txBox="1"/>
          <p:nvPr/>
        </p:nvSpPr>
        <p:spPr>
          <a:xfrm>
            <a:off x="1272158" y="4151032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</a:t>
            </a:r>
            <a:endParaRPr lang="ko-KR" sz="2200" dirty="0"/>
          </a:p>
        </p:txBody>
      </p:sp>
      <p:sp>
        <p:nvSpPr>
          <p:cNvPr id="13" name="S04-label74"/>
          <p:cNvSpPr txBox="1"/>
          <p:nvPr/>
        </p:nvSpPr>
        <p:spPr>
          <a:xfrm>
            <a:off x="2360634" y="4040126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</a:t>
            </a:r>
            <a:endParaRPr lang="ko-KR" sz="2200" dirty="0"/>
          </a:p>
        </p:txBody>
      </p:sp>
      <p:sp>
        <p:nvSpPr>
          <p:cNvPr id="14" name="S04-label76"/>
          <p:cNvSpPr txBox="1"/>
          <p:nvPr/>
        </p:nvSpPr>
        <p:spPr>
          <a:xfrm>
            <a:off x="2770184" y="2932221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</a:t>
            </a:r>
            <a:endParaRPr lang="ko-KR" sz="2200" dirty="0"/>
          </a:p>
        </p:txBody>
      </p:sp>
      <p:sp>
        <p:nvSpPr>
          <p:cNvPr id="15" name="S04-card77"/>
          <p:cNvSpPr/>
          <p:nvPr/>
        </p:nvSpPr>
        <p:spPr>
          <a:xfrm>
            <a:off x="5204765" y="1758442"/>
            <a:ext cx="6435547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04-cardtext78"/>
          <p:cNvSpPr txBox="1"/>
          <p:nvPr/>
        </p:nvSpPr>
        <p:spPr>
          <a:xfrm>
            <a:off x="5479085" y="1895602"/>
            <a:ext cx="5886907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cm³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모서리가 1 cm인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정육면체의 부피</a:t>
            </a:r>
            <a:endParaRPr lang="ko-KR" sz="2800" dirty="0"/>
          </a:p>
        </p:txBody>
      </p:sp>
      <p:sp>
        <p:nvSpPr>
          <p:cNvPr id="17" name="S04-card79"/>
          <p:cNvSpPr/>
          <p:nvPr/>
        </p:nvSpPr>
        <p:spPr>
          <a:xfrm>
            <a:off x="5204765" y="3507994"/>
            <a:ext cx="6435547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8" name="S04-cardtext80"/>
          <p:cNvSpPr txBox="1"/>
          <p:nvPr/>
        </p:nvSpPr>
        <p:spPr>
          <a:xfrm>
            <a:off x="5479085" y="3645154"/>
            <a:ext cx="5886907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세제곱센티미터</a:t>
            </a:r>
            <a:endParaRPr lang="ko-KR" sz="2800" dirty="0"/>
          </a:p>
        </p:txBody>
      </p:sp>
      <p:sp>
        <p:nvSpPr>
          <p:cNvPr id="19" name="S04-card81"/>
          <p:cNvSpPr/>
          <p:nvPr/>
        </p:nvSpPr>
        <p:spPr>
          <a:xfrm>
            <a:off x="5204765" y="4916678"/>
            <a:ext cx="6435547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0" name="S04-cardtext82"/>
          <p:cNvSpPr txBox="1"/>
          <p:nvPr/>
        </p:nvSpPr>
        <p:spPr>
          <a:xfrm>
            <a:off x="5479085" y="5053838"/>
            <a:ext cx="58869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쌓기나무 24개 → 24 cm³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부피 구하는 방법</a:t>
            </a:r>
            <a:endParaRPr lang="ko-KR" sz="4000" dirty="0"/>
          </a:p>
        </p:txBody>
      </p:sp>
      <p:sp>
        <p:nvSpPr>
          <p:cNvPr id="3" name="S05-card8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8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직육면체의 부피 = 가로 × 세로 × 높이</a:t>
            </a:r>
            <a:endParaRPr lang="ko-KR" sz="2800" dirty="0"/>
          </a:p>
        </p:txBody>
      </p:sp>
      <p:sp>
        <p:nvSpPr>
          <p:cNvPr id="5" name="S05-text85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4 cm, 세로 3 cm, 높이 2 cm</a:t>
            </a:r>
            <a:endParaRPr lang="ko-KR" sz="2800" dirty="0"/>
          </a:p>
        </p:txBody>
      </p:sp>
      <p:sp>
        <p:nvSpPr>
          <p:cNvPr id="6" name="S05-figure86" descr="가로 4 cm, 세로 3 cm, 높이 2 cm인 직육면체를 1 cm³ 쌓기나무로 채운 그림"/>
          <p:cNvSpPr/>
          <p:nvPr/>
        </p:nvSpPr>
        <p:spPr>
          <a:xfrm>
            <a:off x="7885523" y="3474808"/>
            <a:ext cx="1635925" cy="817962"/>
          </a:xfrm>
          <a:custGeom>
            <a:avLst/>
            <a:gdLst/>
            <a:ahLst/>
            <a:cxnLst/>
            <a:rect l="l" t="t" r="r" b="b"/>
            <a:pathLst>
              <a:path w="1635925" h="817962">
                <a:moveTo>
                  <a:pt x="0" y="817962"/>
                </a:moveTo>
                <a:lnTo>
                  <a:pt x="1635925" y="817962"/>
                </a:lnTo>
                <a:lnTo>
                  <a:pt x="16359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5-mark87"/>
          <p:cNvSpPr/>
          <p:nvPr/>
        </p:nvSpPr>
        <p:spPr>
          <a:xfrm>
            <a:off x="7885523" y="3106725"/>
            <a:ext cx="2151241" cy="368083"/>
          </a:xfrm>
          <a:custGeom>
            <a:avLst/>
            <a:gdLst/>
            <a:ahLst/>
            <a:cxnLst/>
            <a:rect l="l" t="t" r="r" b="b"/>
            <a:pathLst>
              <a:path w="2151241" h="368083">
                <a:moveTo>
                  <a:pt x="0" y="368083"/>
                </a:moveTo>
                <a:lnTo>
                  <a:pt x="1635925" y="368083"/>
                </a:lnTo>
                <a:lnTo>
                  <a:pt x="2151241" y="0"/>
                </a:lnTo>
                <a:lnTo>
                  <a:pt x="515316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5-mark88"/>
          <p:cNvSpPr/>
          <p:nvPr/>
        </p:nvSpPr>
        <p:spPr>
          <a:xfrm>
            <a:off x="9521448" y="3106725"/>
            <a:ext cx="515316" cy="1186045"/>
          </a:xfrm>
          <a:custGeom>
            <a:avLst/>
            <a:gdLst/>
            <a:ahLst/>
            <a:cxnLst/>
            <a:rect l="l" t="t" r="r" b="b"/>
            <a:pathLst>
              <a:path w="515316" h="1186045">
                <a:moveTo>
                  <a:pt x="0" y="1186045"/>
                </a:moveTo>
                <a:lnTo>
                  <a:pt x="515316" y="817962"/>
                </a:lnTo>
                <a:lnTo>
                  <a:pt x="515316" y="0"/>
                </a:lnTo>
                <a:lnTo>
                  <a:pt x="0" y="368083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5-mark89"/>
          <p:cNvSpPr/>
          <p:nvPr/>
        </p:nvSpPr>
        <p:spPr>
          <a:xfrm flipV="1">
            <a:off x="8294505" y="3474808"/>
            <a:ext cx="0" cy="817962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0" name="S05-mark90"/>
          <p:cNvSpPr/>
          <p:nvPr/>
        </p:nvSpPr>
        <p:spPr>
          <a:xfrm flipV="1">
            <a:off x="8294505" y="3106725"/>
            <a:ext cx="515316" cy="36808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1" name="S05-mark91"/>
          <p:cNvSpPr/>
          <p:nvPr/>
        </p:nvSpPr>
        <p:spPr>
          <a:xfrm flipV="1">
            <a:off x="8703486" y="3474808"/>
            <a:ext cx="0" cy="817962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2" name="S05-mark92"/>
          <p:cNvSpPr/>
          <p:nvPr/>
        </p:nvSpPr>
        <p:spPr>
          <a:xfrm flipV="1">
            <a:off x="8703486" y="3106725"/>
            <a:ext cx="515316" cy="36808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3" name="S05-mark93"/>
          <p:cNvSpPr/>
          <p:nvPr/>
        </p:nvSpPr>
        <p:spPr>
          <a:xfrm flipV="1">
            <a:off x="9112467" y="3474808"/>
            <a:ext cx="0" cy="817962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4" name="S05-mark94"/>
          <p:cNvSpPr/>
          <p:nvPr/>
        </p:nvSpPr>
        <p:spPr>
          <a:xfrm flipV="1">
            <a:off x="9112467" y="3106725"/>
            <a:ext cx="515316" cy="36808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5" name="S05-mark95"/>
          <p:cNvSpPr/>
          <p:nvPr/>
        </p:nvSpPr>
        <p:spPr>
          <a:xfrm>
            <a:off x="7885523" y="3883789"/>
            <a:ext cx="1635925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6" name="S05-mark96"/>
          <p:cNvSpPr/>
          <p:nvPr/>
        </p:nvSpPr>
        <p:spPr>
          <a:xfrm flipV="1">
            <a:off x="9521448" y="3515706"/>
            <a:ext cx="515316" cy="36808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7" name="S05-mark97"/>
          <p:cNvSpPr/>
          <p:nvPr/>
        </p:nvSpPr>
        <p:spPr>
          <a:xfrm>
            <a:off x="8057296" y="3352114"/>
            <a:ext cx="1635925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8" name="S05-mark98"/>
          <p:cNvSpPr/>
          <p:nvPr/>
        </p:nvSpPr>
        <p:spPr>
          <a:xfrm flipV="1">
            <a:off x="9693220" y="3352114"/>
            <a:ext cx="0" cy="817962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9" name="S05-mark99"/>
          <p:cNvSpPr/>
          <p:nvPr/>
        </p:nvSpPr>
        <p:spPr>
          <a:xfrm>
            <a:off x="8229068" y="3229419"/>
            <a:ext cx="1635925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0" name="S05-mark100"/>
          <p:cNvSpPr/>
          <p:nvPr/>
        </p:nvSpPr>
        <p:spPr>
          <a:xfrm flipV="1">
            <a:off x="9864992" y="3229419"/>
            <a:ext cx="0" cy="817962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1" name="S05-mark101"/>
          <p:cNvSpPr/>
          <p:nvPr/>
        </p:nvSpPr>
        <p:spPr>
          <a:xfrm>
            <a:off x="7885523" y="4292770"/>
            <a:ext cx="1635925" cy="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22" name="S05-mark102"/>
          <p:cNvSpPr/>
          <p:nvPr/>
        </p:nvSpPr>
        <p:spPr>
          <a:xfrm flipV="1">
            <a:off x="9521448" y="3924687"/>
            <a:ext cx="515316" cy="368083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23" name="S05-mark103"/>
          <p:cNvSpPr/>
          <p:nvPr/>
        </p:nvSpPr>
        <p:spPr>
          <a:xfrm flipV="1">
            <a:off x="10036765" y="3106725"/>
            <a:ext cx="0" cy="817962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24" name="S05-label105"/>
          <p:cNvSpPr txBox="1"/>
          <p:nvPr/>
        </p:nvSpPr>
        <p:spPr>
          <a:xfrm>
            <a:off x="8321724" y="436960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cm</a:t>
            </a:r>
            <a:endParaRPr lang="ko-KR" sz="2200" dirty="0"/>
          </a:p>
        </p:txBody>
      </p:sp>
      <p:sp>
        <p:nvSpPr>
          <p:cNvPr id="25" name="S05-label107"/>
          <p:cNvSpPr txBox="1"/>
          <p:nvPr/>
        </p:nvSpPr>
        <p:spPr>
          <a:xfrm>
            <a:off x="9627296" y="4256036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cm</a:t>
            </a:r>
            <a:endParaRPr lang="ko-KR" sz="2200" dirty="0"/>
          </a:p>
        </p:txBody>
      </p:sp>
      <p:sp>
        <p:nvSpPr>
          <p:cNvPr id="26" name="S05-label109"/>
          <p:cNvSpPr txBox="1"/>
          <p:nvPr/>
        </p:nvSpPr>
        <p:spPr>
          <a:xfrm>
            <a:off x="10040575" y="3341081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cm</a:t>
            </a:r>
            <a:endParaRPr lang="ko-KR" sz="2200" dirty="0"/>
          </a:p>
        </p:txBody>
      </p:sp>
      <p:sp>
        <p:nvSpPr>
          <p:cNvPr id="27" name="S05-stepno110"/>
          <p:cNvSpPr txBox="1"/>
          <p:nvPr/>
        </p:nvSpPr>
        <p:spPr>
          <a:xfrm>
            <a:off x="548640" y="2875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28" name="S05-text111"/>
          <p:cNvSpPr txBox="1"/>
          <p:nvPr/>
        </p:nvSpPr>
        <p:spPr>
          <a:xfrm>
            <a:off x="1325880" y="2875788"/>
            <a:ext cx="26443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층에</a:t>
            </a:r>
            <a:endParaRPr lang="ko-KR" sz="2800" dirty="0"/>
          </a:p>
        </p:txBody>
      </p:sp>
      <p:sp>
        <p:nvSpPr>
          <p:cNvPr id="29" name="S05-eqtext112"/>
          <p:cNvSpPr txBox="1"/>
          <p:nvPr/>
        </p:nvSpPr>
        <p:spPr>
          <a:xfrm>
            <a:off x="3970206" y="2875788"/>
            <a:ext cx="24776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3 = 12</a:t>
            </a:r>
            <a:endParaRPr lang="ko-KR" sz="2800" dirty="0"/>
          </a:p>
        </p:txBody>
      </p:sp>
      <p:sp>
        <p:nvSpPr>
          <p:cNvPr id="30" name="S05-stepno113"/>
          <p:cNvSpPr txBox="1"/>
          <p:nvPr/>
        </p:nvSpPr>
        <p:spPr>
          <a:xfrm>
            <a:off x="548640" y="3589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31" name="S05-text114"/>
          <p:cNvSpPr txBox="1"/>
          <p:nvPr/>
        </p:nvSpPr>
        <p:spPr>
          <a:xfrm>
            <a:off x="1325880" y="3589020"/>
            <a:ext cx="26443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높이만큼 2층</a:t>
            </a:r>
            <a:endParaRPr lang="ko-KR" sz="2800" dirty="0"/>
          </a:p>
        </p:txBody>
      </p:sp>
      <p:sp>
        <p:nvSpPr>
          <p:cNvPr id="32" name="S05-eqtext115"/>
          <p:cNvSpPr txBox="1"/>
          <p:nvPr/>
        </p:nvSpPr>
        <p:spPr>
          <a:xfrm>
            <a:off x="3970206" y="3589020"/>
            <a:ext cx="24776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× 2 = 24</a:t>
            </a:r>
            <a:endParaRPr lang="ko-KR" sz="2800" dirty="0"/>
          </a:p>
        </p:txBody>
      </p:sp>
      <p:sp>
        <p:nvSpPr>
          <p:cNvPr id="33" name="S05-stepno116"/>
          <p:cNvSpPr txBox="1"/>
          <p:nvPr/>
        </p:nvSpPr>
        <p:spPr>
          <a:xfrm>
            <a:off x="548640" y="43022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34" name="S05-text117"/>
          <p:cNvSpPr txBox="1"/>
          <p:nvPr/>
        </p:nvSpPr>
        <p:spPr>
          <a:xfrm>
            <a:off x="1325880" y="430225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부피는 24 cm³예요.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6-card11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11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쌓기나무(1 cm³)로 만든 두 직육면체예요.</a:t>
            </a:r>
            <a:endParaRPr lang="ko-KR" sz="2800" dirty="0"/>
          </a:p>
        </p:txBody>
      </p:sp>
      <p:sp>
        <p:nvSpPr>
          <p:cNvPr id="5" name="S06-card1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1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부피를 구해 말해요.</a:t>
            </a:r>
            <a:endParaRPr lang="ko-KR" sz="2800" dirty="0"/>
          </a:p>
        </p:txBody>
      </p:sp>
      <p:sp>
        <p:nvSpPr>
          <p:cNvPr id="7" name="S06-chip12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가가 더 커요</a:t>
            </a:r>
            <a:endParaRPr lang="ko-KR" sz="2200" dirty="0"/>
          </a:p>
        </p:txBody>
      </p:sp>
      <p:sp>
        <p:nvSpPr>
          <p:cNvPr id="8" name="S06-figure123" descr="가: 가로 8개, 세로 1개, 높이 1층으로 길게 놓은 직육면체"/>
          <p:cNvSpPr/>
          <p:nvPr/>
        </p:nvSpPr>
        <p:spPr>
          <a:xfrm>
            <a:off x="1363645" y="3633470"/>
            <a:ext cx="3072384" cy="384048"/>
          </a:xfrm>
          <a:custGeom>
            <a:avLst/>
            <a:gdLst/>
            <a:ahLst/>
            <a:cxnLst/>
            <a:rect l="l" t="t" r="r" b="b"/>
            <a:pathLst>
              <a:path w="3072384" h="384048">
                <a:moveTo>
                  <a:pt x="0" y="384048"/>
                </a:moveTo>
                <a:lnTo>
                  <a:pt x="3072384" y="384048"/>
                </a:lnTo>
                <a:lnTo>
                  <a:pt x="3072384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6-mark124"/>
          <p:cNvSpPr/>
          <p:nvPr/>
        </p:nvSpPr>
        <p:spPr>
          <a:xfrm>
            <a:off x="1363645" y="3518256"/>
            <a:ext cx="3233684" cy="115214"/>
          </a:xfrm>
          <a:custGeom>
            <a:avLst/>
            <a:gdLst/>
            <a:ahLst/>
            <a:cxnLst/>
            <a:rect l="l" t="t" r="r" b="b"/>
            <a:pathLst>
              <a:path w="3233684" h="115214">
                <a:moveTo>
                  <a:pt x="0" y="115214"/>
                </a:moveTo>
                <a:lnTo>
                  <a:pt x="3072384" y="115214"/>
                </a:lnTo>
                <a:lnTo>
                  <a:pt x="3233684" y="0"/>
                </a:lnTo>
                <a:lnTo>
                  <a:pt x="16130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6-mark125"/>
          <p:cNvSpPr/>
          <p:nvPr/>
        </p:nvSpPr>
        <p:spPr>
          <a:xfrm>
            <a:off x="4436029" y="3518256"/>
            <a:ext cx="161300" cy="499262"/>
          </a:xfrm>
          <a:custGeom>
            <a:avLst/>
            <a:gdLst/>
            <a:ahLst/>
            <a:cxnLst/>
            <a:rect l="l" t="t" r="r" b="b"/>
            <a:pathLst>
              <a:path w="161300" h="499262">
                <a:moveTo>
                  <a:pt x="0" y="499262"/>
                </a:moveTo>
                <a:lnTo>
                  <a:pt x="161300" y="384048"/>
                </a:lnTo>
                <a:lnTo>
                  <a:pt x="161300" y="0"/>
                </a:lnTo>
                <a:lnTo>
                  <a:pt x="0" y="115214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6-mark126"/>
          <p:cNvSpPr/>
          <p:nvPr/>
        </p:nvSpPr>
        <p:spPr>
          <a:xfrm flipV="1">
            <a:off x="1747693" y="3633470"/>
            <a:ext cx="0" cy="384048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2" name="S06-mark127"/>
          <p:cNvSpPr/>
          <p:nvPr/>
        </p:nvSpPr>
        <p:spPr>
          <a:xfrm flipV="1">
            <a:off x="1747693" y="3518256"/>
            <a:ext cx="161300" cy="11521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3" name="S06-mark128"/>
          <p:cNvSpPr/>
          <p:nvPr/>
        </p:nvSpPr>
        <p:spPr>
          <a:xfrm flipV="1">
            <a:off x="2131741" y="3633470"/>
            <a:ext cx="0" cy="384048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4" name="S06-mark129"/>
          <p:cNvSpPr/>
          <p:nvPr/>
        </p:nvSpPr>
        <p:spPr>
          <a:xfrm flipV="1">
            <a:off x="2131741" y="3518256"/>
            <a:ext cx="161300" cy="11521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5" name="S06-mark130"/>
          <p:cNvSpPr/>
          <p:nvPr/>
        </p:nvSpPr>
        <p:spPr>
          <a:xfrm flipV="1">
            <a:off x="2515789" y="3633470"/>
            <a:ext cx="0" cy="384048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6" name="S06-mark131"/>
          <p:cNvSpPr/>
          <p:nvPr/>
        </p:nvSpPr>
        <p:spPr>
          <a:xfrm flipV="1">
            <a:off x="2515789" y="3518256"/>
            <a:ext cx="161300" cy="11521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7" name="S06-mark132"/>
          <p:cNvSpPr/>
          <p:nvPr/>
        </p:nvSpPr>
        <p:spPr>
          <a:xfrm flipV="1">
            <a:off x="2899837" y="3633470"/>
            <a:ext cx="0" cy="384048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8" name="S06-mark133"/>
          <p:cNvSpPr/>
          <p:nvPr/>
        </p:nvSpPr>
        <p:spPr>
          <a:xfrm flipV="1">
            <a:off x="2899837" y="3518256"/>
            <a:ext cx="161300" cy="11521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9" name="S06-mark134"/>
          <p:cNvSpPr/>
          <p:nvPr/>
        </p:nvSpPr>
        <p:spPr>
          <a:xfrm flipV="1">
            <a:off x="3283885" y="3633470"/>
            <a:ext cx="0" cy="384048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0" name="S06-mark135"/>
          <p:cNvSpPr/>
          <p:nvPr/>
        </p:nvSpPr>
        <p:spPr>
          <a:xfrm flipV="1">
            <a:off x="3283885" y="3518256"/>
            <a:ext cx="161300" cy="11521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1" name="S06-mark136"/>
          <p:cNvSpPr/>
          <p:nvPr/>
        </p:nvSpPr>
        <p:spPr>
          <a:xfrm flipV="1">
            <a:off x="3667933" y="3633470"/>
            <a:ext cx="0" cy="384048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2" name="S06-mark137"/>
          <p:cNvSpPr/>
          <p:nvPr/>
        </p:nvSpPr>
        <p:spPr>
          <a:xfrm flipV="1">
            <a:off x="3667933" y="3518256"/>
            <a:ext cx="161300" cy="11521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3" name="S06-mark138"/>
          <p:cNvSpPr/>
          <p:nvPr/>
        </p:nvSpPr>
        <p:spPr>
          <a:xfrm flipV="1">
            <a:off x="4051981" y="3633470"/>
            <a:ext cx="0" cy="384048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4" name="S06-mark139"/>
          <p:cNvSpPr/>
          <p:nvPr/>
        </p:nvSpPr>
        <p:spPr>
          <a:xfrm flipV="1">
            <a:off x="4051981" y="3518256"/>
            <a:ext cx="161300" cy="11521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5" name="S06-text140"/>
          <p:cNvSpPr txBox="1"/>
          <p:nvPr/>
        </p:nvSpPr>
        <p:spPr>
          <a:xfrm>
            <a:off x="548640" y="4688332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“가는 길어서 더 커요.”</a:t>
            </a:r>
            <a:endParaRPr lang="ko-KR" sz="2200" dirty="0"/>
          </a:p>
        </p:txBody>
      </p:sp>
      <p:sp>
        <p:nvSpPr>
          <p:cNvPr id="26" name="S06-chip14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둘이 같아요</a:t>
            </a:r>
            <a:endParaRPr lang="ko-KR" sz="2200" dirty="0"/>
          </a:p>
        </p:txBody>
      </p:sp>
      <p:sp>
        <p:nvSpPr>
          <p:cNvPr id="27" name="S06-figure142" descr="나: 가로 2개, 세로 2개, 높이 2층인 정육면체"/>
          <p:cNvSpPr/>
          <p:nvPr/>
        </p:nvSpPr>
        <p:spPr>
          <a:xfrm>
            <a:off x="8163855" y="3499053"/>
            <a:ext cx="768096" cy="768096"/>
          </a:xfrm>
          <a:custGeom>
            <a:avLst/>
            <a:gdLst/>
            <a:ahLst/>
            <a:cxnLst/>
            <a:rect l="l" t="t" r="r" b="b"/>
            <a:pathLst>
              <a:path w="768096" h="768096">
                <a:moveTo>
                  <a:pt x="0" y="768096"/>
                </a:moveTo>
                <a:lnTo>
                  <a:pt x="768096" y="768096"/>
                </a:lnTo>
                <a:lnTo>
                  <a:pt x="76809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8" name="S06-mark143"/>
          <p:cNvSpPr/>
          <p:nvPr/>
        </p:nvSpPr>
        <p:spPr>
          <a:xfrm>
            <a:off x="8163855" y="3268624"/>
            <a:ext cx="1090696" cy="230429"/>
          </a:xfrm>
          <a:custGeom>
            <a:avLst/>
            <a:gdLst/>
            <a:ahLst/>
            <a:cxnLst/>
            <a:rect l="l" t="t" r="r" b="b"/>
            <a:pathLst>
              <a:path w="1090696" h="230429">
                <a:moveTo>
                  <a:pt x="0" y="230429"/>
                </a:moveTo>
                <a:lnTo>
                  <a:pt x="768096" y="230429"/>
                </a:lnTo>
                <a:lnTo>
                  <a:pt x="1090696" y="0"/>
                </a:lnTo>
                <a:lnTo>
                  <a:pt x="32260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9" name="S06-mark144"/>
          <p:cNvSpPr/>
          <p:nvPr/>
        </p:nvSpPr>
        <p:spPr>
          <a:xfrm>
            <a:off x="8931951" y="3268624"/>
            <a:ext cx="322600" cy="998525"/>
          </a:xfrm>
          <a:custGeom>
            <a:avLst/>
            <a:gdLst/>
            <a:ahLst/>
            <a:cxnLst/>
            <a:rect l="l" t="t" r="r" b="b"/>
            <a:pathLst>
              <a:path w="322600" h="998525">
                <a:moveTo>
                  <a:pt x="0" y="998525"/>
                </a:moveTo>
                <a:lnTo>
                  <a:pt x="322600" y="768096"/>
                </a:lnTo>
                <a:lnTo>
                  <a:pt x="322600" y="0"/>
                </a:lnTo>
                <a:lnTo>
                  <a:pt x="0" y="230429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0" name="S06-mark145"/>
          <p:cNvSpPr/>
          <p:nvPr/>
        </p:nvSpPr>
        <p:spPr>
          <a:xfrm flipV="1">
            <a:off x="8547903" y="3499053"/>
            <a:ext cx="0" cy="76809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1" name="S06-mark146"/>
          <p:cNvSpPr/>
          <p:nvPr/>
        </p:nvSpPr>
        <p:spPr>
          <a:xfrm flipV="1">
            <a:off x="8547903" y="3268624"/>
            <a:ext cx="322600" cy="230429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2" name="S06-mark147"/>
          <p:cNvSpPr/>
          <p:nvPr/>
        </p:nvSpPr>
        <p:spPr>
          <a:xfrm>
            <a:off x="8163855" y="3883101"/>
            <a:ext cx="768096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3" name="S06-mark148"/>
          <p:cNvSpPr/>
          <p:nvPr/>
        </p:nvSpPr>
        <p:spPr>
          <a:xfrm flipV="1">
            <a:off x="8931951" y="3652672"/>
            <a:ext cx="322600" cy="230429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4" name="S06-mark149"/>
          <p:cNvSpPr/>
          <p:nvPr/>
        </p:nvSpPr>
        <p:spPr>
          <a:xfrm>
            <a:off x="8325155" y="3383839"/>
            <a:ext cx="768096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5" name="S06-mark150"/>
          <p:cNvSpPr/>
          <p:nvPr/>
        </p:nvSpPr>
        <p:spPr>
          <a:xfrm flipV="1">
            <a:off x="9093251" y="3383839"/>
            <a:ext cx="0" cy="76809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6" name="S06-text151"/>
          <p:cNvSpPr txBox="1"/>
          <p:nvPr/>
        </p:nvSpPr>
        <p:spPr>
          <a:xfrm>
            <a:off x="6277356" y="4688332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“가도 나도 8 cm³예요.”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부피를 구해요</a:t>
            </a:r>
            <a:endParaRPr lang="ko-KR" sz="4000" dirty="0"/>
          </a:p>
        </p:txBody>
      </p:sp>
      <p:sp>
        <p:nvSpPr>
          <p:cNvPr id="3" name="S07-card1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7-cardtext1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× 세로 × 높이, 단위는 cm³</a:t>
            </a:r>
            <a:endParaRPr lang="ko-KR" sz="2800" dirty="0"/>
          </a:p>
        </p:txBody>
      </p:sp>
      <p:sp>
        <p:nvSpPr>
          <p:cNvPr id="5" name="S07-figure154" descr="가로 5 cm, 세로 4 cm, 높이 3 cm인 직육면체를 1 cm³ 쌓기나무로 채운 그림"/>
          <p:cNvSpPr/>
          <p:nvPr/>
        </p:nvSpPr>
        <p:spPr>
          <a:xfrm>
            <a:off x="6778041" y="2512726"/>
            <a:ext cx="2732824" cy="1639694"/>
          </a:xfrm>
          <a:custGeom>
            <a:avLst/>
            <a:gdLst/>
            <a:ahLst/>
            <a:cxnLst/>
            <a:rect l="l" t="t" r="r" b="b"/>
            <a:pathLst>
              <a:path w="2732824" h="1639694">
                <a:moveTo>
                  <a:pt x="0" y="1639694"/>
                </a:moveTo>
                <a:lnTo>
                  <a:pt x="2732824" y="1639694"/>
                </a:lnTo>
                <a:lnTo>
                  <a:pt x="2732824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7-mark155"/>
          <p:cNvSpPr/>
          <p:nvPr/>
        </p:nvSpPr>
        <p:spPr>
          <a:xfrm>
            <a:off x="6778041" y="1856848"/>
            <a:ext cx="3651052" cy="655878"/>
          </a:xfrm>
          <a:custGeom>
            <a:avLst/>
            <a:gdLst/>
            <a:ahLst/>
            <a:cxnLst/>
            <a:rect l="l" t="t" r="r" b="b"/>
            <a:pathLst>
              <a:path w="3651052" h="655878">
                <a:moveTo>
                  <a:pt x="0" y="655878"/>
                </a:moveTo>
                <a:lnTo>
                  <a:pt x="2732824" y="655878"/>
                </a:lnTo>
                <a:lnTo>
                  <a:pt x="3651052" y="0"/>
                </a:lnTo>
                <a:lnTo>
                  <a:pt x="918229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7-mark156"/>
          <p:cNvSpPr/>
          <p:nvPr/>
        </p:nvSpPr>
        <p:spPr>
          <a:xfrm>
            <a:off x="9510864" y="1856848"/>
            <a:ext cx="918229" cy="2295572"/>
          </a:xfrm>
          <a:custGeom>
            <a:avLst/>
            <a:gdLst/>
            <a:ahLst/>
            <a:cxnLst/>
            <a:rect l="l" t="t" r="r" b="b"/>
            <a:pathLst>
              <a:path w="918229" h="2295572">
                <a:moveTo>
                  <a:pt x="0" y="2295572"/>
                </a:moveTo>
                <a:lnTo>
                  <a:pt x="918229" y="1639694"/>
                </a:lnTo>
                <a:lnTo>
                  <a:pt x="918229" y="0"/>
                </a:lnTo>
                <a:lnTo>
                  <a:pt x="0" y="655878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7-mark157"/>
          <p:cNvSpPr/>
          <p:nvPr/>
        </p:nvSpPr>
        <p:spPr>
          <a:xfrm flipV="1">
            <a:off x="7324606" y="2512726"/>
            <a:ext cx="0" cy="163969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S07-mark158"/>
          <p:cNvSpPr/>
          <p:nvPr/>
        </p:nvSpPr>
        <p:spPr>
          <a:xfrm flipV="1">
            <a:off x="7324606" y="1856848"/>
            <a:ext cx="918229" cy="655878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0" name="S07-mark159"/>
          <p:cNvSpPr/>
          <p:nvPr/>
        </p:nvSpPr>
        <p:spPr>
          <a:xfrm flipV="1">
            <a:off x="7871170" y="2512726"/>
            <a:ext cx="0" cy="163969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1" name="S07-mark160"/>
          <p:cNvSpPr/>
          <p:nvPr/>
        </p:nvSpPr>
        <p:spPr>
          <a:xfrm flipV="1">
            <a:off x="7871170" y="1856848"/>
            <a:ext cx="918229" cy="655878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2" name="S07-mark161"/>
          <p:cNvSpPr/>
          <p:nvPr/>
        </p:nvSpPr>
        <p:spPr>
          <a:xfrm flipV="1">
            <a:off x="8417735" y="2512726"/>
            <a:ext cx="0" cy="163969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3" name="S07-mark162"/>
          <p:cNvSpPr/>
          <p:nvPr/>
        </p:nvSpPr>
        <p:spPr>
          <a:xfrm flipV="1">
            <a:off x="8417735" y="1856848"/>
            <a:ext cx="918229" cy="655878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4" name="S07-mark163"/>
          <p:cNvSpPr/>
          <p:nvPr/>
        </p:nvSpPr>
        <p:spPr>
          <a:xfrm flipV="1">
            <a:off x="8964300" y="2512726"/>
            <a:ext cx="0" cy="163969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5" name="S07-mark164"/>
          <p:cNvSpPr/>
          <p:nvPr/>
        </p:nvSpPr>
        <p:spPr>
          <a:xfrm flipV="1">
            <a:off x="8964300" y="1856848"/>
            <a:ext cx="918229" cy="655878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6" name="S07-mark165"/>
          <p:cNvSpPr/>
          <p:nvPr/>
        </p:nvSpPr>
        <p:spPr>
          <a:xfrm>
            <a:off x="6778041" y="3605855"/>
            <a:ext cx="2732824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7" name="S07-mark166"/>
          <p:cNvSpPr/>
          <p:nvPr/>
        </p:nvSpPr>
        <p:spPr>
          <a:xfrm flipV="1">
            <a:off x="9510864" y="2949978"/>
            <a:ext cx="918229" cy="655878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8" name="S07-mark167"/>
          <p:cNvSpPr/>
          <p:nvPr/>
        </p:nvSpPr>
        <p:spPr>
          <a:xfrm>
            <a:off x="6778041" y="3059291"/>
            <a:ext cx="2732824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9" name="S07-mark168"/>
          <p:cNvSpPr/>
          <p:nvPr/>
        </p:nvSpPr>
        <p:spPr>
          <a:xfrm flipV="1">
            <a:off x="9510864" y="2403413"/>
            <a:ext cx="918229" cy="655878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0" name="S07-mark169"/>
          <p:cNvSpPr/>
          <p:nvPr/>
        </p:nvSpPr>
        <p:spPr>
          <a:xfrm>
            <a:off x="7007598" y="2348756"/>
            <a:ext cx="2732824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1" name="S07-mark170"/>
          <p:cNvSpPr/>
          <p:nvPr/>
        </p:nvSpPr>
        <p:spPr>
          <a:xfrm flipV="1">
            <a:off x="9740422" y="2348756"/>
            <a:ext cx="0" cy="163969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2" name="S07-mark171"/>
          <p:cNvSpPr/>
          <p:nvPr/>
        </p:nvSpPr>
        <p:spPr>
          <a:xfrm>
            <a:off x="7237155" y="2184787"/>
            <a:ext cx="2732824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3" name="S07-mark172"/>
          <p:cNvSpPr/>
          <p:nvPr/>
        </p:nvSpPr>
        <p:spPr>
          <a:xfrm flipV="1">
            <a:off x="9969979" y="2184787"/>
            <a:ext cx="0" cy="163969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4" name="S07-mark173"/>
          <p:cNvSpPr/>
          <p:nvPr/>
        </p:nvSpPr>
        <p:spPr>
          <a:xfrm>
            <a:off x="7466712" y="2020818"/>
            <a:ext cx="2732824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5" name="S07-mark174"/>
          <p:cNvSpPr/>
          <p:nvPr/>
        </p:nvSpPr>
        <p:spPr>
          <a:xfrm flipV="1">
            <a:off x="10199536" y="2020818"/>
            <a:ext cx="0" cy="163969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6" name="S07-mark175"/>
          <p:cNvSpPr/>
          <p:nvPr/>
        </p:nvSpPr>
        <p:spPr>
          <a:xfrm>
            <a:off x="6778041" y="4152420"/>
            <a:ext cx="2732824" cy="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27" name="S07-mark176"/>
          <p:cNvSpPr/>
          <p:nvPr/>
        </p:nvSpPr>
        <p:spPr>
          <a:xfrm flipV="1">
            <a:off x="9510864" y="3496542"/>
            <a:ext cx="918229" cy="655878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28" name="S07-mark177"/>
          <p:cNvSpPr/>
          <p:nvPr/>
        </p:nvSpPr>
        <p:spPr>
          <a:xfrm flipV="1">
            <a:off x="10429093" y="1856848"/>
            <a:ext cx="0" cy="1639694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29" name="S07-label179"/>
          <p:cNvSpPr txBox="1"/>
          <p:nvPr/>
        </p:nvSpPr>
        <p:spPr>
          <a:xfrm>
            <a:off x="7762691" y="422925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cm</a:t>
            </a:r>
            <a:endParaRPr lang="ko-KR" sz="2200" dirty="0"/>
          </a:p>
        </p:txBody>
      </p:sp>
      <p:sp>
        <p:nvSpPr>
          <p:cNvPr id="30" name="S07-label181"/>
          <p:cNvSpPr txBox="1"/>
          <p:nvPr/>
        </p:nvSpPr>
        <p:spPr>
          <a:xfrm>
            <a:off x="9818169" y="3971789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cm</a:t>
            </a:r>
            <a:endParaRPr lang="ko-KR" sz="2200" dirty="0"/>
          </a:p>
        </p:txBody>
      </p:sp>
      <p:sp>
        <p:nvSpPr>
          <p:cNvPr id="31" name="S07-label183"/>
          <p:cNvSpPr txBox="1"/>
          <p:nvPr/>
        </p:nvSpPr>
        <p:spPr>
          <a:xfrm>
            <a:off x="10432903" y="2502070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cm</a:t>
            </a:r>
            <a:endParaRPr lang="ko-KR" sz="2200" dirty="0"/>
          </a:p>
        </p:txBody>
      </p:sp>
      <p:sp>
        <p:nvSpPr>
          <p:cNvPr id="32" name="S07-chip184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33" name="S07-text185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5 cm, 세로 4 cm,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 3 cm인 직육면체</a:t>
            </a:r>
            <a:endParaRPr lang="ko-KR" sz="2800" dirty="0"/>
          </a:p>
        </p:txBody>
      </p:sp>
      <p:sp>
        <p:nvSpPr>
          <p:cNvPr id="34" name="S07-chip186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35" name="S07-text187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모서리가 4 cm인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정육면체</a:t>
            </a:r>
            <a:endParaRPr lang="ko-KR" sz="2800" dirty="0"/>
          </a:p>
        </p:txBody>
      </p:sp>
      <p:sp>
        <p:nvSpPr>
          <p:cNvPr id="36" name="S07-chip188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7" name="S07-text189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밑면의 넓이가 20 cm²,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높이가 6 cm인 직육면체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부피의 단위 1 m³</a:t>
            </a:r>
            <a:endParaRPr lang="ko-KR" sz="4000" dirty="0"/>
          </a:p>
        </p:txBody>
      </p:sp>
      <p:sp>
        <p:nvSpPr>
          <p:cNvPr id="3" name="S08-figure190" descr="한 모서리가 1 m인 정육면체"/>
          <p:cNvSpPr/>
          <p:nvPr/>
        </p:nvSpPr>
        <p:spPr>
          <a:xfrm>
            <a:off x="980034" y="2826796"/>
            <a:ext cx="1260139" cy="1260139"/>
          </a:xfrm>
          <a:custGeom>
            <a:avLst/>
            <a:gdLst/>
            <a:ahLst/>
            <a:cxnLst/>
            <a:rect l="l" t="t" r="r" b="b"/>
            <a:pathLst>
              <a:path w="1260139" h="1260139">
                <a:moveTo>
                  <a:pt x="0" y="1260139"/>
                </a:moveTo>
                <a:lnTo>
                  <a:pt x="1260139" y="1260139"/>
                </a:lnTo>
                <a:lnTo>
                  <a:pt x="1260139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" name="S08-mark191"/>
          <p:cNvSpPr/>
          <p:nvPr/>
        </p:nvSpPr>
        <p:spPr>
          <a:xfrm>
            <a:off x="980034" y="2448754"/>
            <a:ext cx="1789397" cy="378042"/>
          </a:xfrm>
          <a:custGeom>
            <a:avLst/>
            <a:gdLst/>
            <a:ahLst/>
            <a:cxnLst/>
            <a:rect l="l" t="t" r="r" b="b"/>
            <a:pathLst>
              <a:path w="1789397" h="378042">
                <a:moveTo>
                  <a:pt x="0" y="378042"/>
                </a:moveTo>
                <a:lnTo>
                  <a:pt x="1260139" y="378042"/>
                </a:lnTo>
                <a:lnTo>
                  <a:pt x="1789397" y="0"/>
                </a:lnTo>
                <a:lnTo>
                  <a:pt x="529258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" name="S08-mark192"/>
          <p:cNvSpPr/>
          <p:nvPr/>
        </p:nvSpPr>
        <p:spPr>
          <a:xfrm>
            <a:off x="2240172" y="2448754"/>
            <a:ext cx="529258" cy="1638180"/>
          </a:xfrm>
          <a:custGeom>
            <a:avLst/>
            <a:gdLst/>
            <a:ahLst/>
            <a:cxnLst/>
            <a:rect l="l" t="t" r="r" b="b"/>
            <a:pathLst>
              <a:path w="529258" h="1638180">
                <a:moveTo>
                  <a:pt x="0" y="1638180"/>
                </a:moveTo>
                <a:lnTo>
                  <a:pt x="529258" y="1260139"/>
                </a:lnTo>
                <a:lnTo>
                  <a:pt x="529258" y="0"/>
                </a:lnTo>
                <a:lnTo>
                  <a:pt x="0" y="378042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8-mark193"/>
          <p:cNvSpPr/>
          <p:nvPr/>
        </p:nvSpPr>
        <p:spPr>
          <a:xfrm>
            <a:off x="1509292" y="3708893"/>
            <a:ext cx="1260139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7" name="S08-mark194"/>
          <p:cNvSpPr/>
          <p:nvPr/>
        </p:nvSpPr>
        <p:spPr>
          <a:xfrm flipV="1">
            <a:off x="1509292" y="2448754"/>
            <a:ext cx="0" cy="1260139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8" name="S08-mark195"/>
          <p:cNvSpPr/>
          <p:nvPr/>
        </p:nvSpPr>
        <p:spPr>
          <a:xfrm flipH="1">
            <a:off x="980034" y="3708893"/>
            <a:ext cx="529258" cy="378042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9" name="S08-mark196"/>
          <p:cNvSpPr/>
          <p:nvPr/>
        </p:nvSpPr>
        <p:spPr>
          <a:xfrm>
            <a:off x="980034" y="4086935"/>
            <a:ext cx="1260139" cy="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" name="S08-mark197"/>
          <p:cNvSpPr/>
          <p:nvPr/>
        </p:nvSpPr>
        <p:spPr>
          <a:xfrm flipV="1">
            <a:off x="2240172" y="3708893"/>
            <a:ext cx="529258" cy="378042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1" name="S08-mark198"/>
          <p:cNvSpPr/>
          <p:nvPr/>
        </p:nvSpPr>
        <p:spPr>
          <a:xfrm flipV="1">
            <a:off x="2769431" y="2448754"/>
            <a:ext cx="0" cy="1260139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2" name="S08-label200"/>
          <p:cNvSpPr txBox="1"/>
          <p:nvPr/>
        </p:nvSpPr>
        <p:spPr>
          <a:xfrm>
            <a:off x="1306573" y="4163770"/>
            <a:ext cx="60706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</a:t>
            </a:r>
            <a:endParaRPr lang="ko-KR" sz="2200" dirty="0"/>
          </a:p>
        </p:txBody>
      </p:sp>
      <p:sp>
        <p:nvSpPr>
          <p:cNvPr id="13" name="S08-label202"/>
          <p:cNvSpPr txBox="1"/>
          <p:nvPr/>
        </p:nvSpPr>
        <p:spPr>
          <a:xfrm>
            <a:off x="2401962" y="4004255"/>
            <a:ext cx="60706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</a:t>
            </a:r>
            <a:endParaRPr lang="ko-KR" sz="2200" dirty="0"/>
          </a:p>
        </p:txBody>
      </p:sp>
      <p:sp>
        <p:nvSpPr>
          <p:cNvPr id="14" name="S08-label204"/>
          <p:cNvSpPr txBox="1"/>
          <p:nvPr/>
        </p:nvSpPr>
        <p:spPr>
          <a:xfrm>
            <a:off x="2764859" y="2904199"/>
            <a:ext cx="60706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</a:t>
            </a:r>
            <a:endParaRPr lang="ko-KR" sz="2200" dirty="0"/>
          </a:p>
        </p:txBody>
      </p:sp>
      <p:sp>
        <p:nvSpPr>
          <p:cNvPr id="15" name="S08-card205"/>
          <p:cNvSpPr/>
          <p:nvPr/>
        </p:nvSpPr>
        <p:spPr>
          <a:xfrm>
            <a:off x="5204765" y="1588008"/>
            <a:ext cx="6435547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08-cardtext206"/>
          <p:cNvSpPr txBox="1"/>
          <p:nvPr/>
        </p:nvSpPr>
        <p:spPr>
          <a:xfrm>
            <a:off x="5479085" y="1725168"/>
            <a:ext cx="5886907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m³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모서리가 1 m인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정육면체의 부피</a:t>
            </a:r>
            <a:endParaRPr lang="ko-KR" sz="2800" dirty="0"/>
          </a:p>
        </p:txBody>
      </p:sp>
      <p:sp>
        <p:nvSpPr>
          <p:cNvPr id="17" name="S08-card207"/>
          <p:cNvSpPr/>
          <p:nvPr/>
        </p:nvSpPr>
        <p:spPr>
          <a:xfrm>
            <a:off x="5204765" y="3337560"/>
            <a:ext cx="6435547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8" name="S08-cardtext208"/>
          <p:cNvSpPr txBox="1"/>
          <p:nvPr/>
        </p:nvSpPr>
        <p:spPr>
          <a:xfrm>
            <a:off x="5479085" y="3474720"/>
            <a:ext cx="5886907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 = 100 cm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× 100 × 100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1000000</a:t>
            </a:r>
            <a:endParaRPr lang="ko-KR" sz="2800" dirty="0"/>
          </a:p>
        </p:txBody>
      </p:sp>
      <p:sp>
        <p:nvSpPr>
          <p:cNvPr id="19" name="S08-card209"/>
          <p:cNvSpPr/>
          <p:nvPr/>
        </p:nvSpPr>
        <p:spPr>
          <a:xfrm>
            <a:off x="5204765" y="5087112"/>
            <a:ext cx="6435547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0" name="S08-cardtext210"/>
          <p:cNvSpPr txBox="1"/>
          <p:nvPr/>
        </p:nvSpPr>
        <p:spPr>
          <a:xfrm>
            <a:off x="5479085" y="5224272"/>
            <a:ext cx="58869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m³ = 1000000 cm³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m³는 몇 cm³일까요?</a:t>
            </a:r>
            <a:endParaRPr lang="ko-KR" sz="4000" dirty="0"/>
          </a:p>
        </p:txBody>
      </p:sp>
      <p:sp>
        <p:nvSpPr>
          <p:cNvPr id="3" name="S09-card21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21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 = 100 cm예요. 그러면 1 m³는 몇 cm³일까요?</a:t>
            </a:r>
            <a:endParaRPr lang="ko-KR" sz="2800" dirty="0"/>
          </a:p>
        </p:txBody>
      </p:sp>
      <p:sp>
        <p:nvSpPr>
          <p:cNvPr id="5" name="S09-card21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21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쌓기나무로 설명해요.</a:t>
            </a:r>
            <a:endParaRPr lang="ko-KR" sz="2800" dirty="0"/>
          </a:p>
        </p:txBody>
      </p:sp>
      <p:sp>
        <p:nvSpPr>
          <p:cNvPr id="7" name="S09-chip21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100 cm³</a:t>
            </a:r>
            <a:endParaRPr lang="ko-KR" sz="2200" dirty="0"/>
          </a:p>
        </p:txBody>
      </p:sp>
      <p:sp>
        <p:nvSpPr>
          <p:cNvPr id="8" name="S09-text21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“1 m가 100 cm니까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m³도 100 cm³예요.”</a:t>
            </a:r>
            <a:endParaRPr lang="ko-KR" sz="2800" dirty="0"/>
          </a:p>
        </p:txBody>
      </p:sp>
      <p:sp>
        <p:nvSpPr>
          <p:cNvPr id="9" name="S09-chip21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1000000 cm³</a:t>
            </a:r>
            <a:endParaRPr lang="ko-KR" sz="2200" dirty="0"/>
          </a:p>
        </p:txBody>
      </p:sp>
      <p:sp>
        <p:nvSpPr>
          <p:cNvPr id="10" name="S09-text21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“한 줄 100개, 한 층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× 100개, 100층이에요.”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단위를 바꿔요</a:t>
            </a:r>
            <a:endParaRPr lang="ko-KR" sz="4000" dirty="0"/>
          </a:p>
        </p:txBody>
      </p:sp>
      <p:sp>
        <p:nvSpPr>
          <p:cNvPr id="3" name="S10-text2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□에 알맞은 수를 구해요.</a:t>
            </a:r>
            <a:endParaRPr lang="ko-KR" sz="2800" dirty="0"/>
          </a:p>
        </p:txBody>
      </p:sp>
      <p:sp>
        <p:nvSpPr>
          <p:cNvPr id="4" name="S10-card2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2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m³ = 1000000 cm³, 1 m = 100 cm</a:t>
            </a:r>
            <a:endParaRPr lang="ko-KR" sz="2800" dirty="0"/>
          </a:p>
        </p:txBody>
      </p:sp>
      <p:sp>
        <p:nvSpPr>
          <p:cNvPr id="6" name="S10-chip222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0-eqtext223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m³ = □ cm³</a:t>
            </a:r>
            <a:endParaRPr lang="ko-KR" sz="3200" dirty="0"/>
          </a:p>
        </p:txBody>
      </p:sp>
      <p:sp>
        <p:nvSpPr>
          <p:cNvPr id="8" name="S10-chip224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0-eqtext225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3000000 cm³ = □ m³</a:t>
            </a:r>
            <a:endParaRPr lang="ko-KR" sz="3200" dirty="0"/>
          </a:p>
        </p:txBody>
      </p:sp>
      <p:sp>
        <p:nvSpPr>
          <p:cNvPr id="10" name="S10-chip226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0-text227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2 m, 세로 1 m, 높이 50 cm인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직육면체의 부피는 몇 m³?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22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부피를 구하고, 어떻게 구했는지 말해요.</a:t>
            </a:r>
            <a:endParaRPr lang="ko-KR" sz="2800" dirty="0"/>
          </a:p>
        </p:txBody>
      </p:sp>
      <p:sp>
        <p:nvSpPr>
          <p:cNvPr id="4" name="S11-chip229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1-figure230" descr="1 cm³ 쌓기나무로 빈틈없이 채운 직육면체: 가로 5개, 세로 2개, 높이 3층"/>
          <p:cNvSpPr/>
          <p:nvPr/>
        </p:nvSpPr>
        <p:spPr>
          <a:xfrm>
            <a:off x="2131695" y="2346960"/>
            <a:ext cx="2095500" cy="1257300"/>
          </a:xfrm>
          <a:custGeom>
            <a:avLst/>
            <a:gdLst/>
            <a:ahLst/>
            <a:cxnLst/>
            <a:rect l="l" t="t" r="r" b="b"/>
            <a:pathLst>
              <a:path w="2095500" h="1257300">
                <a:moveTo>
                  <a:pt x="0" y="1257300"/>
                </a:moveTo>
                <a:lnTo>
                  <a:pt x="2095500" y="1257300"/>
                </a:lnTo>
                <a:lnTo>
                  <a:pt x="20955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11-mark231"/>
          <p:cNvSpPr/>
          <p:nvPr/>
        </p:nvSpPr>
        <p:spPr>
          <a:xfrm>
            <a:off x="2131695" y="2095500"/>
            <a:ext cx="2447544" cy="251460"/>
          </a:xfrm>
          <a:custGeom>
            <a:avLst/>
            <a:gdLst/>
            <a:ahLst/>
            <a:cxnLst/>
            <a:rect l="l" t="t" r="r" b="b"/>
            <a:pathLst>
              <a:path w="2447544" h="251460">
                <a:moveTo>
                  <a:pt x="0" y="251460"/>
                </a:moveTo>
                <a:lnTo>
                  <a:pt x="2095500" y="251460"/>
                </a:lnTo>
                <a:lnTo>
                  <a:pt x="2447544" y="0"/>
                </a:lnTo>
                <a:lnTo>
                  <a:pt x="352044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11-mark232"/>
          <p:cNvSpPr/>
          <p:nvPr/>
        </p:nvSpPr>
        <p:spPr>
          <a:xfrm>
            <a:off x="4227195" y="2095500"/>
            <a:ext cx="352044" cy="1508760"/>
          </a:xfrm>
          <a:custGeom>
            <a:avLst/>
            <a:gdLst/>
            <a:ahLst/>
            <a:cxnLst/>
            <a:rect l="l" t="t" r="r" b="b"/>
            <a:pathLst>
              <a:path w="352044" h="1508760">
                <a:moveTo>
                  <a:pt x="0" y="1508760"/>
                </a:moveTo>
                <a:lnTo>
                  <a:pt x="352044" y="1257300"/>
                </a:lnTo>
                <a:lnTo>
                  <a:pt x="352044" y="0"/>
                </a:lnTo>
                <a:lnTo>
                  <a:pt x="0" y="25146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11-mark233"/>
          <p:cNvSpPr/>
          <p:nvPr/>
        </p:nvSpPr>
        <p:spPr>
          <a:xfrm flipV="1">
            <a:off x="2550795" y="2346960"/>
            <a:ext cx="0" cy="125730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S11-mark234"/>
          <p:cNvSpPr/>
          <p:nvPr/>
        </p:nvSpPr>
        <p:spPr>
          <a:xfrm flipV="1">
            <a:off x="2550795" y="2095500"/>
            <a:ext cx="352044" cy="25146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0" name="S11-mark235"/>
          <p:cNvSpPr/>
          <p:nvPr/>
        </p:nvSpPr>
        <p:spPr>
          <a:xfrm flipV="1">
            <a:off x="2969895" y="2346960"/>
            <a:ext cx="0" cy="125730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1" name="S11-mark236"/>
          <p:cNvSpPr/>
          <p:nvPr/>
        </p:nvSpPr>
        <p:spPr>
          <a:xfrm flipV="1">
            <a:off x="2969895" y="2095500"/>
            <a:ext cx="352044" cy="25146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2" name="S11-mark237"/>
          <p:cNvSpPr/>
          <p:nvPr/>
        </p:nvSpPr>
        <p:spPr>
          <a:xfrm flipV="1">
            <a:off x="3388995" y="2346960"/>
            <a:ext cx="0" cy="125730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3" name="S11-mark238"/>
          <p:cNvSpPr/>
          <p:nvPr/>
        </p:nvSpPr>
        <p:spPr>
          <a:xfrm flipV="1">
            <a:off x="3388995" y="2095500"/>
            <a:ext cx="352044" cy="25146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4" name="S11-mark239"/>
          <p:cNvSpPr/>
          <p:nvPr/>
        </p:nvSpPr>
        <p:spPr>
          <a:xfrm flipV="1">
            <a:off x="3808095" y="2346960"/>
            <a:ext cx="0" cy="125730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5" name="S11-mark240"/>
          <p:cNvSpPr/>
          <p:nvPr/>
        </p:nvSpPr>
        <p:spPr>
          <a:xfrm flipV="1">
            <a:off x="3808095" y="2095500"/>
            <a:ext cx="352044" cy="25146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6" name="S11-mark241"/>
          <p:cNvSpPr/>
          <p:nvPr/>
        </p:nvSpPr>
        <p:spPr>
          <a:xfrm>
            <a:off x="2131695" y="3185160"/>
            <a:ext cx="209550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7" name="S11-mark242"/>
          <p:cNvSpPr/>
          <p:nvPr/>
        </p:nvSpPr>
        <p:spPr>
          <a:xfrm flipV="1">
            <a:off x="4227195" y="2933700"/>
            <a:ext cx="352044" cy="25146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8" name="S11-mark243"/>
          <p:cNvSpPr/>
          <p:nvPr/>
        </p:nvSpPr>
        <p:spPr>
          <a:xfrm>
            <a:off x="2131695" y="2766060"/>
            <a:ext cx="209550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9" name="S11-mark244"/>
          <p:cNvSpPr/>
          <p:nvPr/>
        </p:nvSpPr>
        <p:spPr>
          <a:xfrm flipV="1">
            <a:off x="4227195" y="2514600"/>
            <a:ext cx="352044" cy="25146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0" name="S11-mark245"/>
          <p:cNvSpPr/>
          <p:nvPr/>
        </p:nvSpPr>
        <p:spPr>
          <a:xfrm>
            <a:off x="2307717" y="2221230"/>
            <a:ext cx="209550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1" name="S11-mark246"/>
          <p:cNvSpPr/>
          <p:nvPr/>
        </p:nvSpPr>
        <p:spPr>
          <a:xfrm flipV="1">
            <a:off x="4403217" y="2221230"/>
            <a:ext cx="0" cy="125730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2" name="S11-chip247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3" name="S11-text248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6 cm, 세로 5 cm,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 4 cm인 직육면체</a:t>
            </a:r>
            <a:endParaRPr lang="ko-KR" sz="2800" dirty="0"/>
          </a:p>
        </p:txBody>
      </p:sp>
      <p:sp>
        <p:nvSpPr>
          <p:cNvPr id="24" name="S11-chip249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5" name="S11-text250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모서리가 3 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정육면체(m³로)</a:t>
            </a:r>
            <a:endParaRPr lang="ko-KR" sz="2800" dirty="0"/>
          </a:p>
        </p:txBody>
      </p:sp>
      <p:sp>
        <p:nvSpPr>
          <p:cNvPr id="26" name="S11-chip251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27" name="S11-eqtext252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m³ = □ cm³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부피가 가장 큰 것은?</a:t>
            </a:r>
            <a:endParaRPr lang="ko-KR" sz="4000" dirty="0"/>
          </a:p>
        </p:txBody>
      </p:sp>
      <p:sp>
        <p:nvSpPr>
          <p:cNvPr id="3" name="S13-card2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2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부피가 가장 큰 것을 고르고, 까닭을 말해요.</a:t>
            </a:r>
            <a:endParaRPr lang="ko-KR" sz="2800" dirty="0"/>
          </a:p>
        </p:txBody>
      </p:sp>
      <p:sp>
        <p:nvSpPr>
          <p:cNvPr id="5" name="S13-chip255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13-card256"/>
          <p:cNvSpPr/>
          <p:nvPr/>
        </p:nvSpPr>
        <p:spPr>
          <a:xfrm>
            <a:off x="548640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3-cardtext257"/>
          <p:cNvSpPr txBox="1"/>
          <p:nvPr/>
        </p:nvSpPr>
        <p:spPr>
          <a:xfrm>
            <a:off x="822960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3000000 cm³</a:t>
            </a:r>
            <a:endParaRPr lang="ko-KR" sz="2800" dirty="0"/>
          </a:p>
        </p:txBody>
      </p:sp>
      <p:sp>
        <p:nvSpPr>
          <p:cNvPr id="8" name="S13-chip258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9" name="S13-card259"/>
          <p:cNvSpPr/>
          <p:nvPr/>
        </p:nvSpPr>
        <p:spPr>
          <a:xfrm>
            <a:off x="4367784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3-cardtext260"/>
          <p:cNvSpPr txBox="1"/>
          <p:nvPr/>
        </p:nvSpPr>
        <p:spPr>
          <a:xfrm>
            <a:off x="4642104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2 m,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 2 m,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 1 m인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직육면체</a:t>
            </a:r>
            <a:endParaRPr lang="ko-KR" sz="2800" dirty="0"/>
          </a:p>
        </p:txBody>
      </p:sp>
      <p:sp>
        <p:nvSpPr>
          <p:cNvPr id="11" name="S13-chip261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2" name="S13-card262"/>
          <p:cNvSpPr/>
          <p:nvPr/>
        </p:nvSpPr>
        <p:spPr>
          <a:xfrm>
            <a:off x="8186928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3-cardtext263"/>
          <p:cNvSpPr txBox="1"/>
          <p:nvPr/>
        </p:nvSpPr>
        <p:spPr>
          <a:xfrm>
            <a:off x="8461248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모서리가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 cm인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정육면체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26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26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직육면체의 부피 = 가로 × 세로 × 높이, 1 m³ = 1000000 cm³</a:t>
            </a:r>
            <a:endParaRPr lang="ko-KR" sz="2800" dirty="0"/>
          </a:p>
        </p:txBody>
      </p:sp>
      <p:sp>
        <p:nvSpPr>
          <p:cNvPr id="5" name="S14-chip266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한 층의 개수 × 층 수로 생각하기</a:t>
            </a:r>
            <a:endParaRPr lang="ko-KR" sz="2200" dirty="0"/>
          </a:p>
        </p:txBody>
      </p:sp>
      <p:sp>
        <p:nvSpPr>
          <p:cNvPr id="6" name="S14-chip267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1 m³ = 100 cm³라고 하기</a:t>
            </a:r>
            <a:endParaRPr lang="ko-KR" sz="2200" dirty="0"/>
          </a:p>
        </p:txBody>
      </p:sp>
      <p:sp>
        <p:nvSpPr>
          <p:cNvPr id="7" name="S14-text268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269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가로 3 cm, 세로 2 cm,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 4 cm인 직육면체의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부피는?</a:t>
            </a:r>
            <a:endParaRPr lang="ko-KR" sz="2200" dirty="0"/>
          </a:p>
        </p:txBody>
      </p:sp>
      <p:sp>
        <p:nvSpPr>
          <p:cNvPr id="9" name="S14-text270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 m³는 몇 cm³?</a:t>
            </a:r>
            <a:endParaRPr lang="ko-KR" sz="2200" dirty="0"/>
          </a:p>
        </p:txBody>
      </p:sp>
      <p:sp>
        <p:nvSpPr>
          <p:cNvPr id="10" name="S14-text271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한 모서리가 5 cm인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정육면체의 부피는?</a:t>
            </a:r>
            <a:endParaRPr lang="ko-KR" sz="2200" dirty="0"/>
          </a:p>
        </p:txBody>
      </p:sp>
      <p:sp>
        <p:nvSpPr>
          <p:cNvPr id="11" name="S14-text27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원주와 원주율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층별로 세어 곱하기</a:t>
            </a:r>
            <a:endParaRPr lang="ko-KR" sz="4000" dirty="0"/>
          </a:p>
        </p:txBody>
      </p:sp>
      <p:sp>
        <p:nvSpPr>
          <p:cNvPr id="3" name="S15-card2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5-cardtext2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2 × 2 = 12</a:t>
            </a:r>
            <a:endParaRPr lang="ko-KR" sz="2800" dirty="0"/>
          </a:p>
        </p:txBody>
      </p:sp>
      <p:sp>
        <p:nvSpPr>
          <p:cNvPr id="5" name="S15-figure275" descr="1 cm³ 쌓기나무로 채운 직육면체: 가로 3개, 세로 2개, 높이 2층"/>
          <p:cNvSpPr/>
          <p:nvPr/>
        </p:nvSpPr>
        <p:spPr>
          <a:xfrm>
            <a:off x="880110" y="2217420"/>
            <a:ext cx="2743200" cy="1828800"/>
          </a:xfrm>
          <a:custGeom>
            <a:avLst/>
            <a:gdLst/>
            <a:ahLst/>
            <a:cxnLst/>
            <a:rect l="l" t="t" r="r" b="b"/>
            <a:pathLst>
              <a:path w="2743200" h="1828800">
                <a:moveTo>
                  <a:pt x="0" y="1828800"/>
                </a:moveTo>
                <a:lnTo>
                  <a:pt x="2743200" y="1828800"/>
                </a:lnTo>
                <a:lnTo>
                  <a:pt x="2743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15-mark276"/>
          <p:cNvSpPr/>
          <p:nvPr/>
        </p:nvSpPr>
        <p:spPr>
          <a:xfrm>
            <a:off x="880110" y="1668780"/>
            <a:ext cx="3511296" cy="548640"/>
          </a:xfrm>
          <a:custGeom>
            <a:avLst/>
            <a:gdLst/>
            <a:ahLst/>
            <a:cxnLst/>
            <a:rect l="l" t="t" r="r" b="b"/>
            <a:pathLst>
              <a:path w="3511296" h="548640">
                <a:moveTo>
                  <a:pt x="0" y="548640"/>
                </a:moveTo>
                <a:lnTo>
                  <a:pt x="2743200" y="548640"/>
                </a:lnTo>
                <a:lnTo>
                  <a:pt x="3511296" y="0"/>
                </a:lnTo>
                <a:lnTo>
                  <a:pt x="768096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15-mark277"/>
          <p:cNvSpPr/>
          <p:nvPr/>
        </p:nvSpPr>
        <p:spPr>
          <a:xfrm>
            <a:off x="3623310" y="1668780"/>
            <a:ext cx="768096" cy="2377440"/>
          </a:xfrm>
          <a:custGeom>
            <a:avLst/>
            <a:gdLst/>
            <a:ahLst/>
            <a:cxnLst/>
            <a:rect l="l" t="t" r="r" b="b"/>
            <a:pathLst>
              <a:path w="768096" h="2377440">
                <a:moveTo>
                  <a:pt x="0" y="2377440"/>
                </a:moveTo>
                <a:lnTo>
                  <a:pt x="768096" y="1828800"/>
                </a:lnTo>
                <a:lnTo>
                  <a:pt x="768096" y="0"/>
                </a:lnTo>
                <a:lnTo>
                  <a:pt x="0" y="54864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15-mark278"/>
          <p:cNvSpPr/>
          <p:nvPr/>
        </p:nvSpPr>
        <p:spPr>
          <a:xfrm flipV="1">
            <a:off x="1794510" y="2217420"/>
            <a:ext cx="0" cy="182880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S15-mark279"/>
          <p:cNvSpPr/>
          <p:nvPr/>
        </p:nvSpPr>
        <p:spPr>
          <a:xfrm flipV="1">
            <a:off x="1794510" y="1668780"/>
            <a:ext cx="768096" cy="54864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0" name="S15-mark280"/>
          <p:cNvSpPr/>
          <p:nvPr/>
        </p:nvSpPr>
        <p:spPr>
          <a:xfrm flipV="1">
            <a:off x="2708910" y="2217420"/>
            <a:ext cx="0" cy="182880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1" name="S15-mark281"/>
          <p:cNvSpPr/>
          <p:nvPr/>
        </p:nvSpPr>
        <p:spPr>
          <a:xfrm flipV="1">
            <a:off x="2708910" y="1668780"/>
            <a:ext cx="768096" cy="54864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2" name="S15-mark282"/>
          <p:cNvSpPr/>
          <p:nvPr/>
        </p:nvSpPr>
        <p:spPr>
          <a:xfrm>
            <a:off x="880110" y="3131820"/>
            <a:ext cx="274320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3" name="S15-mark283"/>
          <p:cNvSpPr/>
          <p:nvPr/>
        </p:nvSpPr>
        <p:spPr>
          <a:xfrm flipV="1">
            <a:off x="3623310" y="2583180"/>
            <a:ext cx="768096" cy="54864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4" name="S15-mark284"/>
          <p:cNvSpPr/>
          <p:nvPr/>
        </p:nvSpPr>
        <p:spPr>
          <a:xfrm>
            <a:off x="1264158" y="1943100"/>
            <a:ext cx="274320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5" name="S15-mark285"/>
          <p:cNvSpPr/>
          <p:nvPr/>
        </p:nvSpPr>
        <p:spPr>
          <a:xfrm flipV="1">
            <a:off x="4007358" y="1943100"/>
            <a:ext cx="0" cy="182880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6" name="S15-card286"/>
          <p:cNvSpPr/>
          <p:nvPr/>
        </p:nvSpPr>
        <p:spPr>
          <a:xfrm>
            <a:off x="6277356" y="1928876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15-cardtext287"/>
          <p:cNvSpPr txBox="1"/>
          <p:nvPr/>
        </p:nvSpPr>
        <p:spPr>
          <a:xfrm>
            <a:off x="6551676" y="2066036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층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2 = 6개</a:t>
            </a:r>
            <a:endParaRPr lang="ko-KR" sz="2800" dirty="0"/>
          </a:p>
        </p:txBody>
      </p:sp>
      <p:sp>
        <p:nvSpPr>
          <p:cNvPr id="18" name="S15-card288"/>
          <p:cNvSpPr/>
          <p:nvPr/>
        </p:nvSpPr>
        <p:spPr>
          <a:xfrm>
            <a:off x="6277356" y="3337560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9" name="S15-cardtext289"/>
          <p:cNvSpPr txBox="1"/>
          <p:nvPr/>
        </p:nvSpPr>
        <p:spPr>
          <a:xfrm>
            <a:off x="6551676" y="3474720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2층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2 = 12개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수학 직육면체의 부피</dc:title>
  <dc:subject>KR22-G06-MAT-VOLUME-L01</dc:subject>
  <dc:creator>education-ppt</dc:creator>
  <cp:lastModifiedBy>education-ppt</cp:lastModifiedBy>
  <cp:revision>1</cp:revision>
  <dcterms:created xsi:type="dcterms:W3CDTF">2026-10-26T09:27:56Z</dcterms:created>
  <dcterms:modified xsi:type="dcterms:W3CDTF">2026-10-26T09:27:56Z</dcterms:modified>
</cp:coreProperties>
</file>