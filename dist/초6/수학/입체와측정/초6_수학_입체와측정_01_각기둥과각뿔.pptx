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abfb629-7d31-fe74-9e61-e0563cd93e6a}">
          <p14:sldIdLst>
            <p14:sldId id="256"/>
            <p14:sldId id="257"/>
          </p14:sldIdLst>
        </p14:section>
        <p14:section name="개념" id="{8223a5d0-7e9c-1ea2-96da-53bb79fd8e75}">
          <p14:sldIdLst>
            <p14:sldId id="258"/>
            <p14:sldId id="259"/>
            <p14:sldId id="260"/>
            <p14:sldId id="262"/>
            <p14:sldId id="265"/>
          </p14:sldIdLst>
        </p14:section>
        <p14:section name="연습" id="{04871d46-a9de-4d99-4121-3ee9992fec3c}">
          <p14:sldIdLst>
            <p14:sldId id="261"/>
            <p14:sldId id="263"/>
            <p14:sldId id="264"/>
            <p14:sldId id="266"/>
          </p14:sldIdLst>
        </p14:section>
        <p14:section name="개념" id="{1ab7167d-e103-59bf-eea3-026fc710494f}">
          <p14:sldIdLst/>
        </p14:section>
        <p14:section name="연습" id="{4973d9e4-7e55-64d0-7559-63420400281d}">
          <p14:sldIdLst/>
        </p14:section>
        <p14:section name="개념" id="{942754d9-21fd-307e-6a30-749415ca4e9a}">
          <p14:sldIdLst/>
        </p14:section>
        <p14:section name="연습" id="{5462c0f8-2aa5-f167-7a22-62e6e1fe708e}">
          <p14:sldIdLst/>
        </p14:section>
        <p14:section name="확인" id="{6554377b-a43e-d63b-72c2-45986bc8cbd7}">
          <p14:sldIdLst>
            <p14:sldId id="267"/>
            <p14:sldId id="268"/>
            <p14:sldId id="269"/>
          </p14:sldIdLst>
        </p14:section>
        <p14:section name="정리" id="{f97ecdd8-bfed-fe04-c4ef-fb69851b4624}">
          <p14:sldIdLst>
            <p14:sldId id="270"/>
          </p14:sldIdLst>
        </p14:section>
        <p14:section name="보충" id="{e0cdb737-674a-b576-b7d4-c48c043195a2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직육면체와 비슷하지만 밑면 모양이 다른 입체도형이 있다는 것을 보여 주고 오늘 할 일을 알려 줍니다.
시간: 약 2분
이렇게 말해 보세요
- “오른쪽 입체도형은 직육면체와 무엇이 같고 무엇이 달라?”
- “이렇게 위아래에 똑같은 다각형이 있는 입체도형을 오늘 알아볼 거야.”
예상 답
- “옆은 직사각형이에요.” “위아래가 삼각형이에요.” “점선이 있어요.”
막히면
- 답을 확인하지 않고 넘어갑니다. 집에 있는 상자, 초콜릿 상자, 연필(육각기둥)을 보여 주어도 좋습니다.
주의
- 이름(삼각기둥)은 S03에서 알려 줍니다. 노란 면이 밑면, 점선은 보이지 않는 모서리입니다.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확인(직육면체)]
목적: 5학년의 직육면체(면·모서리·꼭짓점, 겨냥도의 점선, 평행한 면)를 기억하는지 확인합니다. 오늘 각기둥을 배울 때 그대로 씁니다.
시간: 약 3분
이렇게 말해 보세요
- “직육면체의 면, 모서리, 꼭짓점을 세어 볼래? 점선도 모서리야.”
- “겨냥도에서 점선은 무엇을 나타낼까?”
정답
- ① 면 6개, 모서리 12개, 꼭짓점 8개
- ② 3개 (보이지 않는 모서리)
- ③ 3쌍
막히면
- 두 개 이상 틀리면 S16(보충)을 먼저 합니다. 보충으로도 어려우면 초5 ‘직육면체와 정육면체’를 다시 합니다.
- 집에 있는 상자를 들고 직접 세어 보게 합니다.
주의
- ③의 ‘서로 평행한 면’은 오늘 각기둥의 밑면(서로 평행한 두 면)을 이해하는 데 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각기둥의 뜻, 밑면과 옆면, 이름]
목적: 서로 평행하고 합동인 두 다각형을 밑면으로 하는 입체도형을 각기둥이라 하고, 밑면과 옆면을 구별하며 밑면 모양으로 이름을 붙입니다.
시간: 약 3분
이렇게 말해 보세요
- “노란 두 면은 어떤 모양이야? 크기와 모양이 같지? 서로 마주 보고 평행해.”
- “이 두 면을 ‘밑면’, 두 밑면과 만나는 나머지 면을 ‘옆면’이라고 해. 옆면은 어떤 모양이야?”
- “밑면이 삼각형이면 삼각기둥, 오각형이면?”
예상 답
- “삼각형, 오각형이에요.” “옆면은 직사각형이에요.” “오각기둥이요.”
막히면
- 집에 있는 연필(육각기둥)이나 상자를 세워 위·아래 면을 손가락으로 짚어 봅니다.
주의
- 직육면체는 밑면이 사각형인 사각기둥입니다.
- ‘합동’은 모양과 크기가 같아서 포개면 꼭 맞는다는 뜻입니다(5학년).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모서리·꼭짓점·높이]
목적: 각기둥의 모서리, 꼭짓점, 높이의 뜻을 압니다.
시간: 약 2분
이렇게 말해 보세요
- “주황 선분처럼 면과 면이 만나는 선분을 모서리라고 해. 점은 꼭짓점이야.”
- “두 밑면 사이의 거리를 높이라고 해. 옆면의 세로 길이와 같지?”
예상 답
- 아이가 모서리, 꼭짓점, 높이를 그림에서 손가락으로 짚습니다.
막히면
- 직육면체에서 배운 모서리, 꼭짓점과 같은 뜻이라고 알려 줍니다.
주의
- 각기둥의 높이는 옆면의 모서리(밑면과 수직인 모서리)의 길이와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구성 요소의 수와 규칙]
목적: 각기둥의 면, 모서리, 꼭짓점의 수를 세어 한 밑면의 변의 수와의 관계를 찾습니다.
시간: 약 3분
이렇게 말해 보세요
- “면은 밑면 2개에 옆면이 몇 개 더 있어? 옆면의 수는 한 밑면의 변의 수와 같아.”
- “모서리는 위 밑면, 아래 밑면, 옆에 세로로 세 묶음이야. 그래서 변의 수 × 3.”
- “꼭짓점은 위에 몇 개, 아래에 몇 개? 육각기둥 칸을 채워 볼래?”
예상 답
- “육각기둥은 면 8개, 모서리 18개, 꼭짓점 12개예요.”
정답
- 육각기둥: 면 6 + 2 = 8, 모서리 6 × 3 = 18, 꼭짓점 6 × 2 = 12
막히면
- S03의 오각기둥 겨냥도에서 위 밑면의 모서리(5), 아래 밑면의 모서리(5), 세로 모서리(5)를 색연필로 나누어 셉니다.
주의
- 규칙을 외우기보다 ‘왜 × 3인지’(위·아래·옆 세 묶음)를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연습(각기둥의 구성 요소 수)]
목적: 도움을 받으며 각기둥의 구성 요소의 수를 구하고, 거꾸로 수에서 각기둥의 이름을 찾습니다.
시간: 약 3분
이렇게 말해 보세요
- “칠각기둥은 한 밑면의 변이 몇 개야? 모서리는 그 수의 몇 배?”
- “③은 꼭짓점이 16개면 위에 몇 개, 아래에 몇 개야?”
정답
- ① 21개 (7 × 3)
- ② 18개 (9 × 2)
- ③ 팔각기둥 (16 ÷ 2 = 8)
- ④ 칠각기둥 (9 − 2 = 7)
막히면
- S05의 표를 다시 보며 같은 줄의 규칙을 말해 봅니다.
주의
- ④를 구각기둥이라고 하면 면의 수를 변의 수로 착각한 것입니다. 면 = 밑면 2개 + 옆면임을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각뿔의 뜻과 구성 요소]
목적: 밑면이 다각형이고 옆면이 모두 삼각형인 입체도형을 각뿔이라 하고, 밑면·옆면·각뿔의 꼭짓점·높이를 압니다.
시간: 약 3분
이렇게 말해 보세요
- “이 입체도형의 밑면은 몇 개야? 각기둥과 어떻게 달라?”
- “옆면은 어떤 모양이야? 옆면이 모두 만나는 점을 ‘각뿔의 꼭짓점’이라고 해.”
- “밑면이 사각형이니까 이름은?”
예상 답
- “밑면이 1개예요.” “옆면은 삼각형이에요.” “사각뿔이요.”
막히면
- 종이로 고깔 모양을 만들어 보거나, 피라미드 사진 대신 손으로 모양을 만들어 설명합니다.
주의
- 각뿔의 높이는 각뿔의 꼭짓점에서 밑면에 수직으로 내린 선분의 길이입니다(그림의 파란 점선). 옆면의 모서리 길이와 다릅니다.
- 사각뿔은 면 5개, 모서리 8개, 꼭짓점 5개입니다(S08).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연습(각뿔의 구성 요소 수)]
목적: 도움을 받으며 각뿔의 면·모서리·꼭짓점의 수와 밑면의 변의 수 사이의 규칙을 찾습니다.
시간: 약 2분
이렇게 말해 보세요
- “면은 밑면 1개에 옆면이 몇 개 더 있어?”
- “모서리는 밑면에 몇 개, 꼭짓점으로 올라가는 것이 몇 개?”
- “꼭짓점은 밑면에 몇 개, 위에 몇 개?”
정답
- 오각뿔: 면 6, 모서리 10, 꼭짓점 6
- 육각뿔: 면 7, 모서리 12, 꼭짓점 7
- 규칙: 면 = 변의 수 + 1, 모서리 = 변의 수 × 2, 꼭짓점 = 변의 수 + 1
막히면
- S07의 사각뿔 겨냥도에서 밑면의 모서리(4)와 옆 모서리(4)를 다른 색으로 셉니다.
주의
- 각뿔은 면의 수와 꼭짓점의 수가 같습니다. 각기둥(면 + 2, 모서리 × 3, 꼭짓점 × 2)과 비교해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바로잡기(밑면은 아래에 있는 면?)]
목적: ‘밑면은 바닥에 닿은 면’이라는 오개념(M1)을 바로잡습니다. 밑면은 놓인 방향이 아니라 서로 평행하고 합동인 두 다각형입니다.
시간: 약 2분
이렇게 말해 보세요
- “가와 마주 보는 뒤쪽 면은 어떤 모양일까? 가와 합동이고 평행해?”
- “다는 바닥에 닿아 있지만 어떤 모양이야? 다와 합동이고 평행한 면이 있어?”
정답
- ① 삼각기둥
- ② 가(와 마주 보는 뒤쪽 삼각형)
- ③ 아니요. 다는 직사각형인 옆면입니다.
막히면
- 연필이나 상자를 눕혔다 세웠다 하며 ‘돌려도 밑면은 그대로’임을 봅니다.
주의
- 각기둥을 어떻게 놓아도 밑면은 서로 평행하고 합동인 두 면입니다. 직육면체는 어느 마주 보는 두 면이든 밑면이 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각기둥의 전개도]
목적: 각기둥의 모서리를 잘라 펼친 그림(전개도)에서 밑면과 옆면을 찾고, 접었을 때 만나는 선분의 길이가 같음을 압니다.
시간: 약 4분
이렇게 말해 보세요
- “삼각기둥을 모서리를 따라 잘라 펼치면 이런 그림이 돼. 이것을 전개도라고 해.”
- “밑면은 어느 것이고 몇 개야? 옆면은?”
- “파란 두 선분은 접으면 만나. 길이를 비교해 볼까?”
예상 답
- “주황 삼각형 2개가 밑면이에요.” “직사각형 3개가 옆면이에요.” “둘 다 5 cm예요.”
막히면
- 활동지나 종이에 이 전개도를 그대로 그려 오려서 접어 봅니다(모눈 한 칸 = 1 cm).
주의
- 옆면 3개의 가로(3 cm, 4 cm, 5 cm)는 밑면 삼각형의 세 변과 같습니다. 옆면의 세로는 모두 높이(2 cm)입니다.
- 지치면 S09 뒤에서 쉬고, 다음에 이 장부터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연습(전개도가 될 수 있는 것)]
목적: 도움을 받으며 전개도를 접었을 때 면이 겹치거나 빠지지 않는지 판단합니다.
시간: 약 3분
이렇게 말해 보세요
- “접었을 때 밑면 하나는 위, 하나는 아래로 가야 해. 나는 어때?”
- “다는 밑면이 서로 다른 옆면에 붙어 있어. 접으면 위아래로 갈까?”
정답
- 가, 다입니다.
- 나는 밑면 두 개가 모두 위쪽에 있어서 접으면 위에서 겹치고 아래는 비어 있습니다.
막히면
- S10의 전개도를 종이에 그려 오린 뒤, 밑면 하나를 떼어 다른 자리에 붙여 접어 봅니다.
주의
- 다처럼 밑면이 서로 다른 옆면에 붙어도, 위에 하나 아래에 하나이고 맞닿는 변의 길이가 같으면 전개도가 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각기둥·각뿔의 구성 요소의 수를 구하고(A), 전개도에서 접었을 때 만나는 선분의 길이를 찾는지(B) 확인합니다.
시간: 약 4분
이렇게 말해 보세요
- “이번에는 혼자 해 볼래? ④는 접었을 때 □ cm인 선분이 어느 선분과 만나는지 찾아 봐.”
정답
- ① 면 10개, 모서리 24개, 꼭짓점 16개
- ② 면 7개, 모서리 12개, 꼭짓점 7개
- ③ 삼각기둥
- ④ 5 cm (밑면 삼각형의 5 cm인 변과 만남)
막히면
- 바로 알려 주지 말고 “한 밑면의 변은 몇 개야?” 또는 “옆면 세 개의 가로는 밑면의 무엇과 같았지?”라고만 묻습니다.
- 도움을 받아 해결했다면 기록표에 ‘도움’으로 표시합니다.
주의
- ④에서 옆면 세 개의 가로가 밑면 삼각형의 세 변(3 cm, 4 cm, 5 cm)과 같다는 것을 말하면 목표 B를 이룬 것입니다. 정답 확인은 다음 장(S13)에서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각기둥과 각뿔의 규칙을 섞어 쓰거나 모서리와 꼭짓점을 바꾸는 실수를 바로잡습니다. 수업용에만 있는 장입니다.
시간: 약 2분
이렇게 말해 보세요
- “네 답과 같은지 볼까? ②는 각뿔이니까 밑면이 몇 개였지?”
정답
- ① 10, 24, 16 ② 7, 12, 7 ③ 삼각기둥 ④ 5 cm
막히면
- ①②가 틀리면 S05·S08로, ④가 틀리면 S10으로 돌아갑니다.
주의
-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확인(옳은 설명 고르기)]
목적: 각기둥과 각뿔의 성질, 전개도의 구성으로 문장이 옳은지 판단하고 틀린 문장을 고치는지 확인합니다.
시간: 약 2분
이렇게 말해 보세요
- “옳은 것을 모두 고르고, 틀린 것은 어떻게 고치면 옳은 문장이 될까?”
정답
- 나, 다가 옳습니다.
- 가: 각뿔의 밑면은 1개입니다(각기둥이 2개). 라: 삼각기둥의 전개도에는 밑면인 삼각형이 2개 있습니다.
막히면
- 문장 속 입체도형의 겨냥도를 S03·S07·S10에서 다시 보며 하나씩 따져 봅니다.
주의
- 틀린 두 문장을 바르게 고쳐 말하면 목표 A·B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“각기둥과 각뿔은 무엇이 같고 무엇이 달라?”
- “다음 수업을 시작할 때 이 세 문제를 먼저 풀 거야.”
예상 답
- “둘 다 밑면이 다각형이에요.” “각기둥은 밑면이 2개, 각뿔은 1개예요.” “옆면이 직사각형과 삼각형으로 달라요.”
정답
- ① 15개 ② 9개 ③ 6개
막히면
- S05와 S08의 표를 다시 보여 줍니다.
주의
- 다음 차시 ‘원기둥·원뿔·구’는 밑면이 원인 입체도형입니다. 오늘의 각기둥·각뿔과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보충(직육면체의 구성 요소와 겨냥도)]
목적: S02가 흔들리면 직육면체의 면·모서리·꼭짓점과 겨냥도의 점선을 다시 봅니다. 오늘 각기둥을 배울 때 그대로 씁니다.
시간: 약 5분
이렇게 말해 보세요
- “상자를 보며 면을 하나씩 짚어 셀까? 모서리는? 꼭짓점은?”
- “겨냥도에서 점선은 왜 점선일까? 상자를 이 방향에서 보면 보여?”
- “서로 마주 보는 면은 몇 쌍이야?”
정답
- 면 6개, 모서리 12개, 꼭짓점 8개
- 점선 3개는 뒤쪽에 있어 보이지 않는 모서리
- 평행한 면 3쌍
막히면
- 상자의 면에 스티커를 붙이며 셉니다. 모서리는 세 방향(가로·세로·높이)으로 4개씩 셉니다.
주의
- 보충으로도 어려우면 초5 ‘직육면체와 정육면체’를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각기둥과 각뿔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각기둥과 각뿔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각기둥과 각뿔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각기둥과 각뿔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직육면체와 닮았지만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밑면이 삼각형인 입체도형은?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삼각기둥의 겨냥도: 위아래 밑면(삼각형)을 색칠, 보이지 않는 모서리 3개는 점선"/>
          <p:cNvSpPr/>
          <p:nvPr/>
        </p:nvSpPr>
        <p:spPr>
          <a:xfrm>
            <a:off x="8468414" y="2933598"/>
            <a:ext cx="2357011" cy="548742"/>
          </a:xfrm>
          <a:custGeom>
            <a:avLst/>
            <a:gdLst/>
            <a:ahLst/>
            <a:cxnLst/>
            <a:rect l="l" t="t" r="r" b="b"/>
            <a:pathLst>
              <a:path w="2357011" h="548742">
                <a:moveTo>
                  <a:pt x="0" y="548742"/>
                </a:moveTo>
                <a:lnTo>
                  <a:pt x="2357011" y="548742"/>
                </a:lnTo>
                <a:lnTo>
                  <a:pt x="1585827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dash"/>
          </a:ln>
        </p:spPr>
      </p:sp>
      <p:sp>
        <p:nvSpPr>
          <p:cNvPr id="6" name="S01-mark3"/>
          <p:cNvSpPr/>
          <p:nvPr/>
        </p:nvSpPr>
        <p:spPr>
          <a:xfrm>
            <a:off x="8468414" y="723900"/>
            <a:ext cx="2357011" cy="548742"/>
          </a:xfrm>
          <a:custGeom>
            <a:avLst/>
            <a:gdLst/>
            <a:ahLst/>
            <a:cxnLst/>
            <a:rect l="l" t="t" r="r" b="b"/>
            <a:pathLst>
              <a:path w="2357011" h="548742">
                <a:moveTo>
                  <a:pt x="0" y="548742"/>
                </a:moveTo>
                <a:lnTo>
                  <a:pt x="2357011" y="548742"/>
                </a:lnTo>
                <a:lnTo>
                  <a:pt x="1585827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H="1" flipV="1">
            <a:off x="10054241" y="2933598"/>
            <a:ext cx="771185" cy="54874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1-mark5"/>
          <p:cNvSpPr/>
          <p:nvPr/>
        </p:nvSpPr>
        <p:spPr>
          <a:xfrm flipV="1">
            <a:off x="8468414" y="2933598"/>
            <a:ext cx="1585827" cy="54874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01-mark6"/>
          <p:cNvSpPr/>
          <p:nvPr/>
        </p:nvSpPr>
        <p:spPr>
          <a:xfrm flipV="1">
            <a:off x="10054241" y="723900"/>
            <a:ext cx="0" cy="220969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0" name="S01-mark7"/>
          <p:cNvSpPr/>
          <p:nvPr/>
        </p:nvSpPr>
        <p:spPr>
          <a:xfrm>
            <a:off x="8468414" y="3482340"/>
            <a:ext cx="235701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468414" y="1272642"/>
            <a:ext cx="235701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H="1" flipV="1">
            <a:off x="10054241" y="723900"/>
            <a:ext cx="771185" cy="5487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8468414" y="723900"/>
            <a:ext cx="1585827" cy="5487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10825426" y="1272642"/>
            <a:ext cx="0" cy="22096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V="1">
            <a:off x="8468414" y="1272642"/>
            <a:ext cx="0" cy="22096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1-card1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7" name="S01-cardtext1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각기둥과 각뿔의 구성 요소를 찾고 수를 세어요.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각기둥의 전개도를 알아보고 그려요.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 기억하기</a:t>
            </a:r>
            <a:endParaRPr lang="ko-KR" sz="4000" dirty="0"/>
          </a:p>
        </p:txBody>
      </p:sp>
      <p:sp>
        <p:nvSpPr>
          <p:cNvPr id="3" name="S02-card15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16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겨냥도</a:t>
            </a:r>
            <a:endParaRPr lang="ko-KR" sz="2800" dirty="0"/>
          </a:p>
        </p:txBody>
      </p:sp>
      <p:sp>
        <p:nvSpPr>
          <p:cNvPr id="5" name="S02-figure17" descr="직육면체의 겨냥도: 보이는 모서리 9개는 실선, 보이지 않는 모서리 3개는 점선"/>
          <p:cNvSpPr/>
          <p:nvPr/>
        </p:nvSpPr>
        <p:spPr>
          <a:xfrm flipH="1">
            <a:off x="7904074" y="4689958"/>
            <a:ext cx="27432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6" name="S02-mark18"/>
          <p:cNvSpPr/>
          <p:nvPr/>
        </p:nvSpPr>
        <p:spPr>
          <a:xfrm flipV="1">
            <a:off x="7270394" y="4689958"/>
            <a:ext cx="633679" cy="495605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7" name="S02-mark19"/>
          <p:cNvSpPr/>
          <p:nvPr/>
        </p:nvSpPr>
        <p:spPr>
          <a:xfrm flipV="1">
            <a:off x="7904074" y="2861158"/>
            <a:ext cx="0" cy="182880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2-mark20"/>
          <p:cNvSpPr/>
          <p:nvPr/>
        </p:nvSpPr>
        <p:spPr>
          <a:xfrm>
            <a:off x="7270394" y="518556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2-mark21"/>
          <p:cNvSpPr/>
          <p:nvPr/>
        </p:nvSpPr>
        <p:spPr>
          <a:xfrm flipV="1">
            <a:off x="10013594" y="468995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2-mark22"/>
          <p:cNvSpPr/>
          <p:nvPr/>
        </p:nvSpPr>
        <p:spPr>
          <a:xfrm>
            <a:off x="7270394" y="335676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2-mark23"/>
          <p:cNvSpPr/>
          <p:nvPr/>
        </p:nvSpPr>
        <p:spPr>
          <a:xfrm flipV="1">
            <a:off x="10013594" y="286115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2-mark24"/>
          <p:cNvSpPr/>
          <p:nvPr/>
        </p:nvSpPr>
        <p:spPr>
          <a:xfrm flipH="1">
            <a:off x="7904074" y="2861158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2-mark25"/>
          <p:cNvSpPr/>
          <p:nvPr/>
        </p:nvSpPr>
        <p:spPr>
          <a:xfrm flipV="1">
            <a:off x="7270394" y="286115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2-mark26"/>
          <p:cNvSpPr/>
          <p:nvPr/>
        </p:nvSpPr>
        <p:spPr>
          <a:xfrm flipV="1">
            <a:off x="10013594" y="3356762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2-mark27"/>
          <p:cNvSpPr/>
          <p:nvPr/>
        </p:nvSpPr>
        <p:spPr>
          <a:xfrm flipV="1">
            <a:off x="7270394" y="3356762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2-mark28"/>
          <p:cNvSpPr/>
          <p:nvPr/>
        </p:nvSpPr>
        <p:spPr>
          <a:xfrm flipV="1">
            <a:off x="10647274" y="2861158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2-chip2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2-text3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면, 모서리, 꼭짓점은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몇 개?</a:t>
            </a:r>
            <a:endParaRPr lang="ko-KR" sz="2800" dirty="0"/>
          </a:p>
        </p:txBody>
      </p:sp>
      <p:sp>
        <p:nvSpPr>
          <p:cNvPr id="19" name="S02-chip3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2-text3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점선으로 그린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모서리는 몇 개?</a:t>
            </a:r>
            <a:endParaRPr lang="ko-KR" sz="2800" dirty="0"/>
          </a:p>
        </p:txBody>
      </p:sp>
      <p:sp>
        <p:nvSpPr>
          <p:cNvPr id="21" name="S02-chip3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2-text3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평행한 면은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쌍?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</a:t>
            </a:r>
            <a:endParaRPr lang="ko-KR" sz="4000" dirty="0"/>
          </a:p>
        </p:txBody>
      </p:sp>
      <p:sp>
        <p:nvSpPr>
          <p:cNvPr id="3" name="S03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모양에 따라 삼각기둥, 사각기둥, 오각기둥 …이라고 해요.</a:t>
            </a:r>
            <a:endParaRPr lang="ko-KR" sz="2800" dirty="0"/>
          </a:p>
        </p:txBody>
      </p:sp>
      <p:sp>
        <p:nvSpPr>
          <p:cNvPr id="5" name="S03-card37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38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평행하고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두 면</a:t>
            </a:r>
            <a:endParaRPr lang="ko-KR" sz="2800" dirty="0"/>
          </a:p>
        </p:txBody>
      </p:sp>
      <p:sp>
        <p:nvSpPr>
          <p:cNvPr id="7" name="S03-card39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40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밑면과 만나는 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직사각형</a:t>
            </a:r>
            <a:endParaRPr lang="ko-KR" sz="2800" dirty="0"/>
          </a:p>
        </p:txBody>
      </p:sp>
      <p:sp>
        <p:nvSpPr>
          <p:cNvPr id="9" name="S03-figure41" descr="삼각기둥의 겨냥도: 위아래 밑면(삼각형)을 색칠, 보이지 않는 모서리 3개는 점선"/>
          <p:cNvSpPr/>
          <p:nvPr/>
        </p:nvSpPr>
        <p:spPr>
          <a:xfrm>
            <a:off x="2480608" y="2523270"/>
            <a:ext cx="1187808" cy="276537"/>
          </a:xfrm>
          <a:custGeom>
            <a:avLst/>
            <a:gdLst/>
            <a:ahLst/>
            <a:cxnLst/>
            <a:rect l="l" t="t" r="r" b="b"/>
            <a:pathLst>
              <a:path w="1187808" h="276537">
                <a:moveTo>
                  <a:pt x="0" y="276537"/>
                </a:moveTo>
                <a:lnTo>
                  <a:pt x="1187808" y="276537"/>
                </a:lnTo>
                <a:lnTo>
                  <a:pt x="799172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dash"/>
          </a:ln>
        </p:spPr>
      </p:sp>
      <p:sp>
        <p:nvSpPr>
          <p:cNvPr id="10" name="S03-mark42"/>
          <p:cNvSpPr/>
          <p:nvPr/>
        </p:nvSpPr>
        <p:spPr>
          <a:xfrm>
            <a:off x="2480608" y="1409700"/>
            <a:ext cx="1187808" cy="276537"/>
          </a:xfrm>
          <a:custGeom>
            <a:avLst/>
            <a:gdLst/>
            <a:ahLst/>
            <a:cxnLst/>
            <a:rect l="l" t="t" r="r" b="b"/>
            <a:pathLst>
              <a:path w="1187808" h="276537">
                <a:moveTo>
                  <a:pt x="0" y="276537"/>
                </a:moveTo>
                <a:lnTo>
                  <a:pt x="1187808" y="276537"/>
                </a:lnTo>
                <a:lnTo>
                  <a:pt x="799172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43"/>
          <p:cNvSpPr/>
          <p:nvPr/>
        </p:nvSpPr>
        <p:spPr>
          <a:xfrm flipH="1" flipV="1">
            <a:off x="3279781" y="2523270"/>
            <a:ext cx="388636" cy="276537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2" name="S03-mark44"/>
          <p:cNvSpPr/>
          <p:nvPr/>
        </p:nvSpPr>
        <p:spPr>
          <a:xfrm flipV="1">
            <a:off x="2480608" y="2523270"/>
            <a:ext cx="799172" cy="276537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3" name="S03-mark45"/>
          <p:cNvSpPr/>
          <p:nvPr/>
        </p:nvSpPr>
        <p:spPr>
          <a:xfrm flipV="1">
            <a:off x="3279781" y="1409700"/>
            <a:ext cx="0" cy="111357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4" name="S03-mark46"/>
          <p:cNvSpPr/>
          <p:nvPr/>
        </p:nvSpPr>
        <p:spPr>
          <a:xfrm>
            <a:off x="2480608" y="2799807"/>
            <a:ext cx="11878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3-mark47"/>
          <p:cNvSpPr/>
          <p:nvPr/>
        </p:nvSpPr>
        <p:spPr>
          <a:xfrm>
            <a:off x="2480608" y="1686237"/>
            <a:ext cx="11878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3-mark48"/>
          <p:cNvSpPr/>
          <p:nvPr/>
        </p:nvSpPr>
        <p:spPr>
          <a:xfrm flipH="1" flipV="1">
            <a:off x="3279781" y="1409700"/>
            <a:ext cx="388636" cy="27653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3-mark49"/>
          <p:cNvSpPr/>
          <p:nvPr/>
        </p:nvSpPr>
        <p:spPr>
          <a:xfrm flipV="1">
            <a:off x="2480608" y="1409700"/>
            <a:ext cx="799172" cy="27653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3-mark50"/>
          <p:cNvSpPr/>
          <p:nvPr/>
        </p:nvSpPr>
        <p:spPr>
          <a:xfrm flipV="1">
            <a:off x="3668417" y="1686237"/>
            <a:ext cx="0" cy="111357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3-mark51"/>
          <p:cNvSpPr/>
          <p:nvPr/>
        </p:nvSpPr>
        <p:spPr>
          <a:xfrm flipV="1">
            <a:off x="2480608" y="1686237"/>
            <a:ext cx="0" cy="111357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3-label53"/>
          <p:cNvSpPr txBox="1"/>
          <p:nvPr/>
        </p:nvSpPr>
        <p:spPr>
          <a:xfrm>
            <a:off x="3673812" y="13816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21" name="S03-label55"/>
          <p:cNvSpPr txBox="1"/>
          <p:nvPr/>
        </p:nvSpPr>
        <p:spPr>
          <a:xfrm>
            <a:off x="3673812" y="266230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22" name="S03-label57"/>
          <p:cNvSpPr txBox="1"/>
          <p:nvPr/>
        </p:nvSpPr>
        <p:spPr>
          <a:xfrm>
            <a:off x="2727277" y="206839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200" dirty="0"/>
          </a:p>
        </p:txBody>
      </p:sp>
      <p:sp>
        <p:nvSpPr>
          <p:cNvPr id="23" name="S03-label58"/>
          <p:cNvSpPr txBox="1"/>
          <p:nvPr/>
        </p:nvSpPr>
        <p:spPr>
          <a:xfrm>
            <a:off x="548640" y="299389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삼각기둥</a:t>
            </a:r>
            <a:endParaRPr lang="ko-KR" sz="2200" dirty="0"/>
          </a:p>
        </p:txBody>
      </p:sp>
      <p:sp>
        <p:nvSpPr>
          <p:cNvPr id="24" name="S03-figure59" descr="오각기둥의 겨냥도: 위아래 밑면(오각형)을 색칠, 보이지 않는 모서리 5개는 점선"/>
          <p:cNvSpPr/>
          <p:nvPr/>
        </p:nvSpPr>
        <p:spPr>
          <a:xfrm>
            <a:off x="8366831" y="2485498"/>
            <a:ext cx="1161145" cy="351428"/>
          </a:xfrm>
          <a:custGeom>
            <a:avLst/>
            <a:gdLst/>
            <a:ahLst/>
            <a:cxnLst/>
            <a:rect l="l" t="t" r="r" b="b"/>
            <a:pathLst>
              <a:path w="1161145" h="351428">
                <a:moveTo>
                  <a:pt x="787126" y="0"/>
                </a:moveTo>
                <a:lnTo>
                  <a:pt x="69927" y="134475"/>
                </a:lnTo>
                <a:lnTo>
                  <a:pt x="0" y="351428"/>
                </a:lnTo>
                <a:lnTo>
                  <a:pt x="674526" y="351428"/>
                </a:lnTo>
                <a:lnTo>
                  <a:pt x="1161145" y="134475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dash"/>
          </a:ln>
        </p:spPr>
      </p:sp>
      <p:sp>
        <p:nvSpPr>
          <p:cNvPr id="25" name="S03-mark60"/>
          <p:cNvSpPr/>
          <p:nvPr/>
        </p:nvSpPr>
        <p:spPr>
          <a:xfrm>
            <a:off x="8366831" y="1409700"/>
            <a:ext cx="1161145" cy="351428"/>
          </a:xfrm>
          <a:custGeom>
            <a:avLst/>
            <a:gdLst/>
            <a:ahLst/>
            <a:cxnLst/>
            <a:rect l="l" t="t" r="r" b="b"/>
            <a:pathLst>
              <a:path w="1161145" h="351428">
                <a:moveTo>
                  <a:pt x="787126" y="0"/>
                </a:moveTo>
                <a:lnTo>
                  <a:pt x="69927" y="134475"/>
                </a:lnTo>
                <a:lnTo>
                  <a:pt x="0" y="351428"/>
                </a:lnTo>
                <a:lnTo>
                  <a:pt x="674526" y="351428"/>
                </a:lnTo>
                <a:lnTo>
                  <a:pt x="1161145" y="134475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mark61"/>
          <p:cNvSpPr/>
          <p:nvPr/>
        </p:nvSpPr>
        <p:spPr>
          <a:xfrm flipH="1">
            <a:off x="8436758" y="2485498"/>
            <a:ext cx="717199" cy="134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7" name="S03-mark62"/>
          <p:cNvSpPr/>
          <p:nvPr/>
        </p:nvSpPr>
        <p:spPr>
          <a:xfrm flipH="1">
            <a:off x="8366831" y="2619973"/>
            <a:ext cx="69927" cy="216953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8" name="S03-mark63"/>
          <p:cNvSpPr/>
          <p:nvPr/>
        </p:nvSpPr>
        <p:spPr>
          <a:xfrm>
            <a:off x="9153957" y="2485498"/>
            <a:ext cx="374019" cy="134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9" name="S03-mark64"/>
          <p:cNvSpPr/>
          <p:nvPr/>
        </p:nvSpPr>
        <p:spPr>
          <a:xfrm flipV="1">
            <a:off x="8436758" y="1544175"/>
            <a:ext cx="0" cy="107579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30" name="S03-mark65"/>
          <p:cNvSpPr/>
          <p:nvPr/>
        </p:nvSpPr>
        <p:spPr>
          <a:xfrm flipV="1">
            <a:off x="9153957" y="1409700"/>
            <a:ext cx="0" cy="107579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31" name="S03-mark66"/>
          <p:cNvSpPr/>
          <p:nvPr/>
        </p:nvSpPr>
        <p:spPr>
          <a:xfrm>
            <a:off x="8366831" y="2836926"/>
            <a:ext cx="6745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03-mark67"/>
          <p:cNvSpPr/>
          <p:nvPr/>
        </p:nvSpPr>
        <p:spPr>
          <a:xfrm flipV="1">
            <a:off x="9041357" y="2619973"/>
            <a:ext cx="486620" cy="21695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03-mark68"/>
          <p:cNvSpPr/>
          <p:nvPr/>
        </p:nvSpPr>
        <p:spPr>
          <a:xfrm flipH="1">
            <a:off x="8436758" y="1409700"/>
            <a:ext cx="717199" cy="13447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4" name="S03-mark69"/>
          <p:cNvSpPr/>
          <p:nvPr/>
        </p:nvSpPr>
        <p:spPr>
          <a:xfrm flipH="1">
            <a:off x="8366831" y="1544175"/>
            <a:ext cx="69927" cy="21695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5" name="S03-mark70"/>
          <p:cNvSpPr/>
          <p:nvPr/>
        </p:nvSpPr>
        <p:spPr>
          <a:xfrm>
            <a:off x="8366831" y="1761128"/>
            <a:ext cx="6745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6" name="S03-mark71"/>
          <p:cNvSpPr/>
          <p:nvPr/>
        </p:nvSpPr>
        <p:spPr>
          <a:xfrm flipV="1">
            <a:off x="9041357" y="1544175"/>
            <a:ext cx="486620" cy="21695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3-mark72"/>
          <p:cNvSpPr/>
          <p:nvPr/>
        </p:nvSpPr>
        <p:spPr>
          <a:xfrm>
            <a:off x="9153957" y="1409700"/>
            <a:ext cx="374019" cy="13447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3-mark73"/>
          <p:cNvSpPr/>
          <p:nvPr/>
        </p:nvSpPr>
        <p:spPr>
          <a:xfrm flipV="1">
            <a:off x="8366831" y="1761128"/>
            <a:ext cx="0" cy="10757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3-mark74"/>
          <p:cNvSpPr/>
          <p:nvPr/>
        </p:nvSpPr>
        <p:spPr>
          <a:xfrm flipV="1">
            <a:off x="9041357" y="1761128"/>
            <a:ext cx="0" cy="10757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3-mark75"/>
          <p:cNvSpPr/>
          <p:nvPr/>
        </p:nvSpPr>
        <p:spPr>
          <a:xfrm flipV="1">
            <a:off x="9527977" y="1544175"/>
            <a:ext cx="0" cy="10757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03-label76"/>
          <p:cNvSpPr txBox="1"/>
          <p:nvPr/>
        </p:nvSpPr>
        <p:spPr>
          <a:xfrm>
            <a:off x="6254496" y="299389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오각기둥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모서리, 꼭짓점, 높이</a:t>
            </a:r>
            <a:endParaRPr lang="ko-KR" sz="4000" dirty="0"/>
          </a:p>
        </p:txBody>
      </p:sp>
      <p:sp>
        <p:nvSpPr>
          <p:cNvPr id="3" name="S04-figure77" descr="오각기둥: 꼭짓점 하나에 점, 모서리 하나를 굵게, 두 밑면 사이에 높이 화살표"/>
          <p:cNvSpPr/>
          <p:nvPr/>
        </p:nvSpPr>
        <p:spPr>
          <a:xfrm flipH="1">
            <a:off x="2001594" y="4678607"/>
            <a:ext cx="1795460" cy="336649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4" name="S04-mark78"/>
          <p:cNvSpPr/>
          <p:nvPr/>
        </p:nvSpPr>
        <p:spPr>
          <a:xfrm flipH="1">
            <a:off x="1826537" y="5015256"/>
            <a:ext cx="175057" cy="543127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5" name="S04-mark79"/>
          <p:cNvSpPr/>
          <p:nvPr/>
        </p:nvSpPr>
        <p:spPr>
          <a:xfrm>
            <a:off x="3797054" y="4678607"/>
            <a:ext cx="936332" cy="336649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6" name="S04-mark80"/>
          <p:cNvSpPr/>
          <p:nvPr/>
        </p:nvSpPr>
        <p:spPr>
          <a:xfrm flipV="1">
            <a:off x="2001594" y="2322066"/>
            <a:ext cx="0" cy="269319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7" name="S04-mark81"/>
          <p:cNvSpPr/>
          <p:nvPr/>
        </p:nvSpPr>
        <p:spPr>
          <a:xfrm flipV="1">
            <a:off x="3797054" y="1985417"/>
            <a:ext cx="0" cy="269319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4-mark82"/>
          <p:cNvSpPr/>
          <p:nvPr/>
        </p:nvSpPr>
        <p:spPr>
          <a:xfrm>
            <a:off x="1826537" y="5558383"/>
            <a:ext cx="168863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83"/>
          <p:cNvSpPr/>
          <p:nvPr/>
        </p:nvSpPr>
        <p:spPr>
          <a:xfrm flipV="1">
            <a:off x="3515167" y="5015256"/>
            <a:ext cx="1218220" cy="54312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84"/>
          <p:cNvSpPr/>
          <p:nvPr/>
        </p:nvSpPr>
        <p:spPr>
          <a:xfrm flipH="1">
            <a:off x="2001594" y="1985417"/>
            <a:ext cx="1795460" cy="336649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4-mark85"/>
          <p:cNvSpPr/>
          <p:nvPr/>
        </p:nvSpPr>
        <p:spPr>
          <a:xfrm flipH="1">
            <a:off x="1826537" y="2322066"/>
            <a:ext cx="175057" cy="54312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86"/>
          <p:cNvSpPr/>
          <p:nvPr/>
        </p:nvSpPr>
        <p:spPr>
          <a:xfrm>
            <a:off x="1826537" y="2865193"/>
            <a:ext cx="168863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4-mark87"/>
          <p:cNvSpPr/>
          <p:nvPr/>
        </p:nvSpPr>
        <p:spPr>
          <a:xfrm flipV="1">
            <a:off x="3515167" y="2322066"/>
            <a:ext cx="1218220" cy="54312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4-mark88"/>
          <p:cNvSpPr/>
          <p:nvPr/>
        </p:nvSpPr>
        <p:spPr>
          <a:xfrm>
            <a:off x="3797054" y="1985417"/>
            <a:ext cx="936332" cy="336649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4-mark89"/>
          <p:cNvSpPr/>
          <p:nvPr/>
        </p:nvSpPr>
        <p:spPr>
          <a:xfrm flipV="1">
            <a:off x="1826537" y="2865193"/>
            <a:ext cx="0" cy="26931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4-mark90"/>
          <p:cNvSpPr/>
          <p:nvPr/>
        </p:nvSpPr>
        <p:spPr>
          <a:xfrm flipV="1">
            <a:off x="3515167" y="2865193"/>
            <a:ext cx="0" cy="26931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91"/>
          <p:cNvSpPr/>
          <p:nvPr/>
        </p:nvSpPr>
        <p:spPr>
          <a:xfrm flipV="1">
            <a:off x="4733387" y="2322066"/>
            <a:ext cx="0" cy="26931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92"/>
          <p:cNvSpPr/>
          <p:nvPr/>
        </p:nvSpPr>
        <p:spPr>
          <a:xfrm flipV="1">
            <a:off x="1826537" y="2865193"/>
            <a:ext cx="0" cy="2693190"/>
          </a:xfrm>
          <a:prstGeom prst="line">
            <a:avLst/>
          </a:prstGeom>
          <a:noFill/>
          <a:ln w="63500">
            <a:solidFill>
              <a:srgbClr val="E9762B"/>
            </a:solidFill>
            <a:prstDash val="solid"/>
          </a:ln>
        </p:spPr>
      </p:sp>
      <p:sp>
        <p:nvSpPr>
          <p:cNvPr id="19" name="S04-mark93"/>
          <p:cNvSpPr/>
          <p:nvPr/>
        </p:nvSpPr>
        <p:spPr>
          <a:xfrm flipV="1">
            <a:off x="5361798" y="2471987"/>
            <a:ext cx="0" cy="269319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20" name="S04-label95"/>
          <p:cNvSpPr txBox="1"/>
          <p:nvPr/>
        </p:nvSpPr>
        <p:spPr>
          <a:xfrm>
            <a:off x="5390754" y="364395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21" name="S04-mark96"/>
          <p:cNvSpPr/>
          <p:nvPr/>
        </p:nvSpPr>
        <p:spPr>
          <a:xfrm>
            <a:off x="3455731" y="280575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label98"/>
          <p:cNvSpPr txBox="1"/>
          <p:nvPr/>
        </p:nvSpPr>
        <p:spPr>
          <a:xfrm>
            <a:off x="3229131" y="2196816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2200" dirty="0"/>
          </a:p>
        </p:txBody>
      </p:sp>
      <p:sp>
        <p:nvSpPr>
          <p:cNvPr id="23" name="S04-label100"/>
          <p:cNvSpPr txBox="1"/>
          <p:nvPr/>
        </p:nvSpPr>
        <p:spPr>
          <a:xfrm>
            <a:off x="418338" y="4037163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</a:t>
            </a:r>
            <a:endParaRPr lang="ko-KR" sz="2200" dirty="0"/>
          </a:p>
        </p:txBody>
      </p:sp>
      <p:sp>
        <p:nvSpPr>
          <p:cNvPr id="24" name="S04-card101"/>
          <p:cNvSpPr/>
          <p:nvPr/>
        </p:nvSpPr>
        <p:spPr>
          <a:xfrm>
            <a:off x="6062838" y="1602740"/>
            <a:ext cx="5577474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4-cardtext102"/>
          <p:cNvSpPr txBox="1"/>
          <p:nvPr/>
        </p:nvSpPr>
        <p:spPr>
          <a:xfrm>
            <a:off x="6337158" y="1739900"/>
            <a:ext cx="5028834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면과 면이 만나는 선분</a:t>
            </a:r>
            <a:endParaRPr lang="ko-KR" sz="2800" dirty="0"/>
          </a:p>
        </p:txBody>
      </p:sp>
      <p:sp>
        <p:nvSpPr>
          <p:cNvPr id="26" name="S04-card103"/>
          <p:cNvSpPr/>
          <p:nvPr/>
        </p:nvSpPr>
        <p:spPr>
          <a:xfrm>
            <a:off x="6062838" y="3011424"/>
            <a:ext cx="557747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4-cardtext104"/>
          <p:cNvSpPr txBox="1"/>
          <p:nvPr/>
        </p:nvSpPr>
        <p:spPr>
          <a:xfrm>
            <a:off x="6337158" y="3148584"/>
            <a:ext cx="502883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모서리와 모서리가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만나는 점</a:t>
            </a:r>
            <a:endParaRPr lang="ko-KR" sz="2800" dirty="0"/>
          </a:p>
        </p:txBody>
      </p:sp>
      <p:sp>
        <p:nvSpPr>
          <p:cNvPr id="28" name="S04-card105"/>
          <p:cNvSpPr/>
          <p:nvPr/>
        </p:nvSpPr>
        <p:spPr>
          <a:xfrm>
            <a:off x="6062838" y="4760976"/>
            <a:ext cx="5577474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S04-cardtext106"/>
          <p:cNvSpPr txBox="1"/>
          <p:nvPr/>
        </p:nvSpPr>
        <p:spPr>
          <a:xfrm>
            <a:off x="6337158" y="4898136"/>
            <a:ext cx="5028834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 사이의 거리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면, 모서리, 꼭짓점의 수</a:t>
            </a:r>
            <a:endParaRPr lang="ko-KR" sz="4000" dirty="0"/>
          </a:p>
        </p:txBody>
      </p:sp>
      <p:sp>
        <p:nvSpPr>
          <p:cNvPr id="3" name="S05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겨냥도를 보며 세고 규칙을 찾아요.</a:t>
            </a:r>
            <a:endParaRPr lang="ko-KR" sz="2800" dirty="0"/>
          </a:p>
        </p:txBody>
      </p:sp>
      <p:sp>
        <p:nvSpPr>
          <p:cNvPr id="4" name="S05-card10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0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 = (변의 수) + 2, 모서리 = (변의 수) ×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= (한 밑면의 변의 수) × 2</a:t>
            </a:r>
            <a:endParaRPr lang="ko-KR" sz="2800" dirty="0"/>
          </a:p>
        </p:txBody>
      </p:sp>
      <p:graphicFrame>
        <p:nvGraphicFramePr>
          <p:cNvPr id="6" name="S05-table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29028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1810512"/>
                <a:gridCol w="1810512"/>
                <a:gridCol w="1810512"/>
                <a:gridCol w="181051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삼각기둥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사각기둥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오각기둥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육각기둥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밑면의 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모서리의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꼭짓점의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 무엇일까요?</a:t>
            </a:r>
            <a:endParaRPr lang="ko-KR" sz="4000" dirty="0"/>
          </a:p>
        </p:txBody>
      </p:sp>
      <p:sp>
        <p:nvSpPr>
          <p:cNvPr id="3" name="S06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밑면의 변의 수를 먼저 찾아요.</a:t>
            </a:r>
            <a:endParaRPr lang="ko-KR" sz="2800" dirty="0"/>
          </a:p>
        </p:txBody>
      </p:sp>
      <p:sp>
        <p:nvSpPr>
          <p:cNvPr id="5" name="S06-chip1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6-text11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칠각기둥의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모서리의 수</a:t>
            </a:r>
            <a:endParaRPr lang="ko-KR" sz="2800" dirty="0"/>
          </a:p>
        </p:txBody>
      </p:sp>
      <p:sp>
        <p:nvSpPr>
          <p:cNvPr id="7" name="S06-chip11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6-text11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구각기둥의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꼭짓점의 수</a:t>
            </a:r>
            <a:endParaRPr lang="ko-KR" sz="2800" dirty="0"/>
          </a:p>
        </p:txBody>
      </p:sp>
      <p:sp>
        <p:nvSpPr>
          <p:cNvPr id="9" name="S06-chip11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6-text11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꼭짓점이 16개인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각기둥의 이름</a:t>
            </a:r>
            <a:endParaRPr lang="ko-KR" sz="2800" dirty="0"/>
          </a:p>
        </p:txBody>
      </p:sp>
      <p:sp>
        <p:nvSpPr>
          <p:cNvPr id="11" name="S06-chip11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6-text12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면이 9개인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각기둥의 이름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</a:t>
            </a:r>
            <a:endParaRPr lang="ko-KR" sz="4000" dirty="0"/>
          </a:p>
        </p:txBody>
      </p:sp>
      <p:sp>
        <p:nvSpPr>
          <p:cNvPr id="3" name="S07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모양에 따라 삼각뿔, 사각뿔, 오각뿔 …이라고 해요.</a:t>
            </a:r>
            <a:endParaRPr lang="ko-KR" sz="2800" dirty="0"/>
          </a:p>
        </p:txBody>
      </p:sp>
      <p:sp>
        <p:nvSpPr>
          <p:cNvPr id="5" name="S07-figure123" descr="사각뿔의 겨냥도: 밑면(사각형) 색칠, 앞 옆면(삼각형) 옅게 색칠, 꼭짓점에서 밑면까지 높이(점선)"/>
          <p:cNvSpPr/>
          <p:nvPr/>
        </p:nvSpPr>
        <p:spPr>
          <a:xfrm>
            <a:off x="1188355" y="4015340"/>
            <a:ext cx="3225453" cy="761782"/>
          </a:xfrm>
          <a:custGeom>
            <a:avLst/>
            <a:gdLst/>
            <a:ahLst/>
            <a:cxnLst/>
            <a:rect l="l" t="t" r="r" b="b"/>
            <a:pathLst>
              <a:path w="3225453" h="761782">
                <a:moveTo>
                  <a:pt x="0" y="761782"/>
                </a:moveTo>
                <a:lnTo>
                  <a:pt x="2250719" y="761782"/>
                </a:lnTo>
                <a:lnTo>
                  <a:pt x="3225453" y="0"/>
                </a:lnTo>
                <a:lnTo>
                  <a:pt x="974734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dash"/>
          </a:ln>
        </p:spPr>
      </p:sp>
      <p:sp>
        <p:nvSpPr>
          <p:cNvPr id="6" name="S07-mark124"/>
          <p:cNvSpPr/>
          <p:nvPr/>
        </p:nvSpPr>
        <p:spPr>
          <a:xfrm>
            <a:off x="1188355" y="1799247"/>
            <a:ext cx="2250719" cy="2977874"/>
          </a:xfrm>
          <a:custGeom>
            <a:avLst/>
            <a:gdLst/>
            <a:ahLst/>
            <a:cxnLst/>
            <a:rect l="l" t="t" r="r" b="b"/>
            <a:pathLst>
              <a:path w="2250719" h="2977874">
                <a:moveTo>
                  <a:pt x="0" y="2977874"/>
                </a:moveTo>
                <a:lnTo>
                  <a:pt x="2250719" y="2977874"/>
                </a:lnTo>
                <a:lnTo>
                  <a:pt x="161272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25"/>
          <p:cNvSpPr/>
          <p:nvPr/>
        </p:nvSpPr>
        <p:spPr>
          <a:xfrm flipH="1">
            <a:off x="2163089" y="4015340"/>
            <a:ext cx="2250719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7-mark126"/>
          <p:cNvSpPr/>
          <p:nvPr/>
        </p:nvSpPr>
        <p:spPr>
          <a:xfrm flipV="1">
            <a:off x="1188355" y="4015340"/>
            <a:ext cx="974734" cy="76178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07-mark127"/>
          <p:cNvSpPr/>
          <p:nvPr/>
        </p:nvSpPr>
        <p:spPr>
          <a:xfrm flipV="1">
            <a:off x="2163089" y="1799247"/>
            <a:ext cx="637992" cy="221609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0" name="S07-mark128"/>
          <p:cNvSpPr/>
          <p:nvPr/>
        </p:nvSpPr>
        <p:spPr>
          <a:xfrm>
            <a:off x="1188355" y="4777122"/>
            <a:ext cx="2250719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7-mark129"/>
          <p:cNvSpPr/>
          <p:nvPr/>
        </p:nvSpPr>
        <p:spPr>
          <a:xfrm flipV="1">
            <a:off x="3439074" y="4015340"/>
            <a:ext cx="974734" cy="76178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7-mark130"/>
          <p:cNvSpPr/>
          <p:nvPr/>
        </p:nvSpPr>
        <p:spPr>
          <a:xfrm flipH="1" flipV="1">
            <a:off x="2801082" y="1799247"/>
            <a:ext cx="637992" cy="297787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7-mark131"/>
          <p:cNvSpPr/>
          <p:nvPr/>
        </p:nvSpPr>
        <p:spPr>
          <a:xfrm flipV="1">
            <a:off x="1188355" y="1799247"/>
            <a:ext cx="1612727" cy="297787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7-mark132"/>
          <p:cNvSpPr/>
          <p:nvPr/>
        </p:nvSpPr>
        <p:spPr>
          <a:xfrm flipH="1" flipV="1">
            <a:off x="2801082" y="1799247"/>
            <a:ext cx="1612727" cy="221609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7-mark133"/>
          <p:cNvSpPr/>
          <p:nvPr/>
        </p:nvSpPr>
        <p:spPr>
          <a:xfrm>
            <a:off x="2801082" y="1799247"/>
            <a:ext cx="0" cy="2596983"/>
          </a:xfrm>
          <a:prstGeom prst="line">
            <a:avLst/>
          </a:prstGeom>
          <a:noFill/>
          <a:ln w="31750">
            <a:solidFill>
              <a:srgbClr val="3D5A80"/>
            </a:solidFill>
            <a:prstDash val="dash"/>
          </a:ln>
        </p:spPr>
      </p:sp>
      <p:sp>
        <p:nvSpPr>
          <p:cNvPr id="16" name="S07-mark134"/>
          <p:cNvSpPr/>
          <p:nvPr/>
        </p:nvSpPr>
        <p:spPr>
          <a:xfrm>
            <a:off x="2741646" y="173981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label136"/>
          <p:cNvSpPr txBox="1"/>
          <p:nvPr/>
        </p:nvSpPr>
        <p:spPr>
          <a:xfrm>
            <a:off x="1882872" y="1235075"/>
            <a:ext cx="18364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각뿔의 꼭짓점</a:t>
            </a:r>
            <a:endParaRPr lang="ko-KR" sz="2200" dirty="0"/>
          </a:p>
        </p:txBody>
      </p:sp>
      <p:sp>
        <p:nvSpPr>
          <p:cNvPr id="18" name="S07-label138"/>
          <p:cNvSpPr txBox="1"/>
          <p:nvPr/>
        </p:nvSpPr>
        <p:spPr>
          <a:xfrm>
            <a:off x="3009115" y="344251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9" name="S07-label140"/>
          <p:cNvSpPr txBox="1"/>
          <p:nvPr/>
        </p:nvSpPr>
        <p:spPr>
          <a:xfrm>
            <a:off x="3759644" y="48621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20" name="S07-label142"/>
          <p:cNvSpPr txBox="1"/>
          <p:nvPr/>
        </p:nvSpPr>
        <p:spPr>
          <a:xfrm>
            <a:off x="2147783" y="373943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200" dirty="0"/>
          </a:p>
        </p:txBody>
      </p:sp>
      <p:sp>
        <p:nvSpPr>
          <p:cNvPr id="21" name="S07-card143"/>
          <p:cNvSpPr/>
          <p:nvPr/>
        </p:nvSpPr>
        <p:spPr>
          <a:xfrm>
            <a:off x="5419283" y="1527556"/>
            <a:ext cx="6221029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07-cardtext144"/>
          <p:cNvSpPr txBox="1"/>
          <p:nvPr/>
        </p:nvSpPr>
        <p:spPr>
          <a:xfrm>
            <a:off x="5693603" y="1664716"/>
            <a:ext cx="56723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밑면: 아래에 있는 다각형 1개</a:t>
            </a:r>
            <a:endParaRPr lang="ko-KR" sz="2800" dirty="0"/>
          </a:p>
        </p:txBody>
      </p:sp>
      <p:sp>
        <p:nvSpPr>
          <p:cNvPr id="23" name="S07-card145"/>
          <p:cNvSpPr/>
          <p:nvPr/>
        </p:nvSpPr>
        <p:spPr>
          <a:xfrm>
            <a:off x="5419283" y="2624836"/>
            <a:ext cx="6221029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07-cardtext146"/>
          <p:cNvSpPr txBox="1"/>
          <p:nvPr/>
        </p:nvSpPr>
        <p:spPr>
          <a:xfrm>
            <a:off x="5693603" y="2761996"/>
            <a:ext cx="56723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옆면: 한 점에서 만나는 삼각형</a:t>
            </a:r>
            <a:endParaRPr lang="ko-KR" sz="2800" dirty="0"/>
          </a:p>
        </p:txBody>
      </p:sp>
      <p:sp>
        <p:nvSpPr>
          <p:cNvPr id="25" name="S07-card147"/>
          <p:cNvSpPr/>
          <p:nvPr/>
        </p:nvSpPr>
        <p:spPr>
          <a:xfrm>
            <a:off x="5419283" y="3722116"/>
            <a:ext cx="6221029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07-cardtext148"/>
          <p:cNvSpPr txBox="1"/>
          <p:nvPr/>
        </p:nvSpPr>
        <p:spPr>
          <a:xfrm>
            <a:off x="5693603" y="3859276"/>
            <a:ext cx="5672389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각뿔의 꼭짓점: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옆면이 모두 만나는 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각뿔의 수를 세어요</a:t>
            </a:r>
            <a:endParaRPr lang="ko-KR" sz="4000" dirty="0"/>
          </a:p>
        </p:txBody>
      </p:sp>
      <p:sp>
        <p:nvSpPr>
          <p:cNvPr id="3" name="S08-text1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 빈칸을 채워요.</a:t>
            </a:r>
            <a:endParaRPr lang="ko-KR" sz="2800" dirty="0"/>
          </a:p>
        </p:txBody>
      </p:sp>
      <p:sp>
        <p:nvSpPr>
          <p:cNvPr id="4" name="S08-card1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각기둥의 규칙과 무엇이 다른지 말해요.</a:t>
            </a:r>
            <a:endParaRPr lang="ko-KR" sz="2800" dirty="0"/>
          </a:p>
        </p:txBody>
      </p:sp>
      <p:graphicFrame>
        <p:nvGraphicFramePr>
          <p:cNvPr id="9" name="S08-table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284730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1810512"/>
                <a:gridCol w="1810512"/>
                <a:gridCol w="1810512"/>
                <a:gridCol w="181051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삼각뿔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사각뿔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오각뿔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육각뿔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밑면의 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모서리의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꼭짓점의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눕혀 놓은 각기둥</a:t>
            </a:r>
            <a:endParaRPr lang="ko-KR" sz="4000" dirty="0"/>
          </a:p>
        </p:txBody>
      </p:sp>
      <p:sp>
        <p:nvSpPr>
          <p:cNvPr id="3" name="S09-figure153" descr="눕혀 놓은 삼각기둥: 앞 삼각형 면 가(색칠), 오른쪽 위 직사각형 면 나, 바닥에 닿은 직사각형 면 다"/>
          <p:cNvSpPr/>
          <p:nvPr/>
        </p:nvSpPr>
        <p:spPr>
          <a:xfrm>
            <a:off x="6893662" y="3330702"/>
            <a:ext cx="2743200" cy="1463040"/>
          </a:xfrm>
          <a:custGeom>
            <a:avLst/>
            <a:gdLst/>
            <a:ahLst/>
            <a:cxnLst/>
            <a:rect l="l" t="t" r="r" b="b"/>
            <a:pathLst>
              <a:path w="2743200" h="1463040">
                <a:moveTo>
                  <a:pt x="0" y="1463040"/>
                </a:moveTo>
                <a:lnTo>
                  <a:pt x="2743200" y="1463040"/>
                </a:lnTo>
                <a:lnTo>
                  <a:pt x="219456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9-mark154"/>
          <p:cNvSpPr/>
          <p:nvPr/>
        </p:nvSpPr>
        <p:spPr>
          <a:xfrm>
            <a:off x="8280806" y="3710178"/>
            <a:ext cx="27432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5" name="S09-mark155"/>
          <p:cNvSpPr/>
          <p:nvPr/>
        </p:nvSpPr>
        <p:spPr>
          <a:xfrm>
            <a:off x="6893662" y="479374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9-mark156"/>
          <p:cNvSpPr/>
          <p:nvPr/>
        </p:nvSpPr>
        <p:spPr>
          <a:xfrm flipH="1" flipV="1">
            <a:off x="9088222" y="3330702"/>
            <a:ext cx="548640" cy="14630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157"/>
          <p:cNvSpPr/>
          <p:nvPr/>
        </p:nvSpPr>
        <p:spPr>
          <a:xfrm flipV="1">
            <a:off x="6893662" y="3330702"/>
            <a:ext cx="2194560" cy="14630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9-mark158"/>
          <p:cNvSpPr/>
          <p:nvPr/>
        </p:nvSpPr>
        <p:spPr>
          <a:xfrm flipH="1" flipV="1">
            <a:off x="10475366" y="2247138"/>
            <a:ext cx="548640" cy="14630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159"/>
          <p:cNvSpPr/>
          <p:nvPr/>
        </p:nvSpPr>
        <p:spPr>
          <a:xfrm flipV="1">
            <a:off x="8280806" y="2247138"/>
            <a:ext cx="2194560" cy="14630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9-mark160"/>
          <p:cNvSpPr/>
          <p:nvPr/>
        </p:nvSpPr>
        <p:spPr>
          <a:xfrm flipV="1">
            <a:off x="9636862" y="3710178"/>
            <a:ext cx="1387145" cy="108356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9-mark161"/>
          <p:cNvSpPr/>
          <p:nvPr/>
        </p:nvSpPr>
        <p:spPr>
          <a:xfrm flipV="1">
            <a:off x="6893662" y="3710178"/>
            <a:ext cx="1387145" cy="108356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9-mark162"/>
          <p:cNvSpPr/>
          <p:nvPr/>
        </p:nvSpPr>
        <p:spPr>
          <a:xfrm flipV="1">
            <a:off x="9088222" y="2247138"/>
            <a:ext cx="1387145" cy="108356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9-label164"/>
          <p:cNvSpPr txBox="1"/>
          <p:nvPr/>
        </p:nvSpPr>
        <p:spPr>
          <a:xfrm>
            <a:off x="8347812" y="413174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4" name="S09-label166"/>
          <p:cNvSpPr txBox="1"/>
          <p:nvPr/>
        </p:nvSpPr>
        <p:spPr>
          <a:xfrm>
            <a:off x="9863887" y="334535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5" name="S09-label168"/>
          <p:cNvSpPr txBox="1"/>
          <p:nvPr/>
        </p:nvSpPr>
        <p:spPr>
          <a:xfrm>
            <a:off x="7997800" y="5122037"/>
            <a:ext cx="12664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다(바닥)</a:t>
            </a:r>
            <a:endParaRPr lang="ko-KR" sz="2200" dirty="0"/>
          </a:p>
        </p:txBody>
      </p:sp>
      <p:sp>
        <p:nvSpPr>
          <p:cNvPr id="16" name="S09-chip16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7" name="S09-text17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입체도형의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이름은?</a:t>
            </a:r>
            <a:endParaRPr lang="ko-KR" sz="2800" dirty="0"/>
          </a:p>
        </p:txBody>
      </p:sp>
      <p:sp>
        <p:nvSpPr>
          <p:cNvPr id="18" name="S09-chip17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9" name="S09-text17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밑면은 가, 나, 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어느 것?</a:t>
            </a:r>
            <a:endParaRPr lang="ko-KR" sz="2800" dirty="0"/>
          </a:p>
        </p:txBody>
      </p:sp>
      <p:sp>
        <p:nvSpPr>
          <p:cNvPr id="20" name="S09-chip17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1" name="S09-text17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바닥에 닿은 다는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삼각기둥의 전개도</a:t>
            </a:r>
            <a:endParaRPr lang="ko-KR" sz="4000" dirty="0"/>
          </a:p>
        </p:txBody>
      </p:sp>
      <p:sp>
        <p:nvSpPr>
          <p:cNvPr id="3" name="S10-mark175"/>
          <p:cNvSpPr/>
          <p:nvPr/>
        </p:nvSpPr>
        <p:spPr>
          <a:xfrm>
            <a:off x="1257398" y="3398422"/>
            <a:ext cx="1120434" cy="746956"/>
          </a:xfrm>
          <a:custGeom>
            <a:avLst/>
            <a:gdLst/>
            <a:ahLst/>
            <a:cxnLst/>
            <a:rect l="l" t="t" r="r" b="b"/>
            <a:pathLst>
              <a:path w="1120434" h="746956">
                <a:moveTo>
                  <a:pt x="0" y="746956"/>
                </a:moveTo>
                <a:lnTo>
                  <a:pt x="1120434" y="746956"/>
                </a:lnTo>
                <a:lnTo>
                  <a:pt x="112043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10-mark176"/>
          <p:cNvSpPr/>
          <p:nvPr/>
        </p:nvSpPr>
        <p:spPr>
          <a:xfrm>
            <a:off x="2377832" y="3398422"/>
            <a:ext cx="1493912" cy="746956"/>
          </a:xfrm>
          <a:custGeom>
            <a:avLst/>
            <a:gdLst/>
            <a:ahLst/>
            <a:cxnLst/>
            <a:rect l="l" t="t" r="r" b="b"/>
            <a:pathLst>
              <a:path w="1493912" h="746956">
                <a:moveTo>
                  <a:pt x="0" y="746956"/>
                </a:moveTo>
                <a:lnTo>
                  <a:pt x="1493912" y="746956"/>
                </a:lnTo>
                <a:lnTo>
                  <a:pt x="1493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10-mark177"/>
          <p:cNvSpPr/>
          <p:nvPr/>
        </p:nvSpPr>
        <p:spPr>
          <a:xfrm>
            <a:off x="3871744" y="3398422"/>
            <a:ext cx="1867390" cy="746956"/>
          </a:xfrm>
          <a:custGeom>
            <a:avLst/>
            <a:gdLst/>
            <a:ahLst/>
            <a:cxnLst/>
            <a:rect l="l" t="t" r="r" b="b"/>
            <a:pathLst>
              <a:path w="1867390" h="746956">
                <a:moveTo>
                  <a:pt x="0" y="746956"/>
                </a:moveTo>
                <a:lnTo>
                  <a:pt x="1867390" y="746956"/>
                </a:lnTo>
                <a:lnTo>
                  <a:pt x="186739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10-mark178"/>
          <p:cNvSpPr/>
          <p:nvPr/>
        </p:nvSpPr>
        <p:spPr>
          <a:xfrm>
            <a:off x="2377832" y="2277988"/>
            <a:ext cx="1493912" cy="1120434"/>
          </a:xfrm>
          <a:custGeom>
            <a:avLst/>
            <a:gdLst/>
            <a:ahLst/>
            <a:cxnLst/>
            <a:rect l="l" t="t" r="r" b="b"/>
            <a:pathLst>
              <a:path w="1493912" h="1120434">
                <a:moveTo>
                  <a:pt x="0" y="1120434"/>
                </a:moveTo>
                <a:lnTo>
                  <a:pt x="1493912" y="1120434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/>
        </p:spPr>
      </p:sp>
      <p:sp>
        <p:nvSpPr>
          <p:cNvPr id="7" name="S10-mark179"/>
          <p:cNvSpPr/>
          <p:nvPr/>
        </p:nvSpPr>
        <p:spPr>
          <a:xfrm>
            <a:off x="2377832" y="4145378"/>
            <a:ext cx="1493912" cy="1120434"/>
          </a:xfrm>
          <a:custGeom>
            <a:avLst/>
            <a:gdLst/>
            <a:ahLst/>
            <a:cxnLst/>
            <a:rect l="l" t="t" r="r" b="b"/>
            <a:pathLst>
              <a:path w="1493912" h="1120434">
                <a:moveTo>
                  <a:pt x="0" y="0"/>
                </a:moveTo>
                <a:lnTo>
                  <a:pt x="1493912" y="0"/>
                </a:lnTo>
                <a:lnTo>
                  <a:pt x="0" y="1120434"/>
                </a:lnTo>
                <a:close/>
              </a:path>
            </a:pathLst>
          </a:custGeom>
          <a:solidFill>
            <a:srgbClr val="E9762B"/>
          </a:solidFill>
          <a:ln/>
        </p:spPr>
      </p:sp>
      <p:sp>
        <p:nvSpPr>
          <p:cNvPr id="8" name="S10-mark180"/>
          <p:cNvSpPr/>
          <p:nvPr/>
        </p:nvSpPr>
        <p:spPr>
          <a:xfrm flipV="1">
            <a:off x="883920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0-mark181"/>
          <p:cNvSpPr/>
          <p:nvPr/>
        </p:nvSpPr>
        <p:spPr>
          <a:xfrm flipV="1">
            <a:off x="1257398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0-mark182"/>
          <p:cNvSpPr/>
          <p:nvPr/>
        </p:nvSpPr>
        <p:spPr>
          <a:xfrm flipV="1">
            <a:off x="1630876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183"/>
          <p:cNvSpPr/>
          <p:nvPr/>
        </p:nvSpPr>
        <p:spPr>
          <a:xfrm flipV="1">
            <a:off x="2004354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184"/>
          <p:cNvSpPr/>
          <p:nvPr/>
        </p:nvSpPr>
        <p:spPr>
          <a:xfrm flipV="1">
            <a:off x="2377832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185"/>
          <p:cNvSpPr/>
          <p:nvPr/>
        </p:nvSpPr>
        <p:spPr>
          <a:xfrm flipV="1">
            <a:off x="2751310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186"/>
          <p:cNvSpPr/>
          <p:nvPr/>
        </p:nvSpPr>
        <p:spPr>
          <a:xfrm flipV="1">
            <a:off x="3124788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187"/>
          <p:cNvSpPr/>
          <p:nvPr/>
        </p:nvSpPr>
        <p:spPr>
          <a:xfrm flipV="1">
            <a:off x="3498266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188"/>
          <p:cNvSpPr/>
          <p:nvPr/>
        </p:nvSpPr>
        <p:spPr>
          <a:xfrm flipV="1">
            <a:off x="3871744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189"/>
          <p:cNvSpPr/>
          <p:nvPr/>
        </p:nvSpPr>
        <p:spPr>
          <a:xfrm flipV="1">
            <a:off x="4245222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190"/>
          <p:cNvSpPr/>
          <p:nvPr/>
        </p:nvSpPr>
        <p:spPr>
          <a:xfrm flipV="1">
            <a:off x="4618700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191"/>
          <p:cNvSpPr/>
          <p:nvPr/>
        </p:nvSpPr>
        <p:spPr>
          <a:xfrm flipV="1">
            <a:off x="4992178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192"/>
          <p:cNvSpPr/>
          <p:nvPr/>
        </p:nvSpPr>
        <p:spPr>
          <a:xfrm flipV="1">
            <a:off x="5365656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193"/>
          <p:cNvSpPr/>
          <p:nvPr/>
        </p:nvSpPr>
        <p:spPr>
          <a:xfrm flipV="1">
            <a:off x="5739134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194"/>
          <p:cNvSpPr/>
          <p:nvPr/>
        </p:nvSpPr>
        <p:spPr>
          <a:xfrm flipV="1">
            <a:off x="6112612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195"/>
          <p:cNvSpPr/>
          <p:nvPr/>
        </p:nvSpPr>
        <p:spPr>
          <a:xfrm>
            <a:off x="883920" y="5639290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196"/>
          <p:cNvSpPr/>
          <p:nvPr/>
        </p:nvSpPr>
        <p:spPr>
          <a:xfrm>
            <a:off x="883920" y="5265812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197"/>
          <p:cNvSpPr/>
          <p:nvPr/>
        </p:nvSpPr>
        <p:spPr>
          <a:xfrm>
            <a:off x="883920" y="4892334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198"/>
          <p:cNvSpPr/>
          <p:nvPr/>
        </p:nvSpPr>
        <p:spPr>
          <a:xfrm>
            <a:off x="883920" y="4518856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199"/>
          <p:cNvSpPr/>
          <p:nvPr/>
        </p:nvSpPr>
        <p:spPr>
          <a:xfrm>
            <a:off x="883920" y="4145378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200"/>
          <p:cNvSpPr/>
          <p:nvPr/>
        </p:nvSpPr>
        <p:spPr>
          <a:xfrm>
            <a:off x="883920" y="3771900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201"/>
          <p:cNvSpPr/>
          <p:nvPr/>
        </p:nvSpPr>
        <p:spPr>
          <a:xfrm>
            <a:off x="883920" y="3398422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202"/>
          <p:cNvSpPr/>
          <p:nvPr/>
        </p:nvSpPr>
        <p:spPr>
          <a:xfrm>
            <a:off x="883920" y="3024944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mark203"/>
          <p:cNvSpPr/>
          <p:nvPr/>
        </p:nvSpPr>
        <p:spPr>
          <a:xfrm>
            <a:off x="883920" y="2651466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0-mark204"/>
          <p:cNvSpPr/>
          <p:nvPr/>
        </p:nvSpPr>
        <p:spPr>
          <a:xfrm>
            <a:off x="883920" y="2277988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0-mark205"/>
          <p:cNvSpPr/>
          <p:nvPr/>
        </p:nvSpPr>
        <p:spPr>
          <a:xfrm>
            <a:off x="883920" y="1904510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0-figure206" descr="모눈 위 삼각기둥의 전개도: 가로 3 cm, 4 cm, 5 cm, 세로 2 cm인 직사각형 옆면 3개와 그 위아래에 세 변이 3 cm, 4 cm, 5 cm인 삼각형 밑면 2개. 접으면 만나는 두 선분을 파랗게 표시"/>
          <p:cNvSpPr/>
          <p:nvPr/>
        </p:nvSpPr>
        <p:spPr>
          <a:xfrm>
            <a:off x="1257398" y="3398422"/>
            <a:ext cx="1120434" cy="746956"/>
          </a:xfrm>
          <a:custGeom>
            <a:avLst/>
            <a:gdLst/>
            <a:ahLst/>
            <a:cxnLst/>
            <a:rect l="l" t="t" r="r" b="b"/>
            <a:pathLst>
              <a:path w="1120434" h="746956">
                <a:moveTo>
                  <a:pt x="0" y="746956"/>
                </a:moveTo>
                <a:lnTo>
                  <a:pt x="1120434" y="746956"/>
                </a:lnTo>
                <a:lnTo>
                  <a:pt x="112043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5" name="S10-mark207"/>
          <p:cNvSpPr/>
          <p:nvPr/>
        </p:nvSpPr>
        <p:spPr>
          <a:xfrm>
            <a:off x="2377832" y="3398422"/>
            <a:ext cx="1493912" cy="746956"/>
          </a:xfrm>
          <a:custGeom>
            <a:avLst/>
            <a:gdLst/>
            <a:ahLst/>
            <a:cxnLst/>
            <a:rect l="l" t="t" r="r" b="b"/>
            <a:pathLst>
              <a:path w="1493912" h="746956">
                <a:moveTo>
                  <a:pt x="0" y="746956"/>
                </a:moveTo>
                <a:lnTo>
                  <a:pt x="1493912" y="746956"/>
                </a:lnTo>
                <a:lnTo>
                  <a:pt x="1493912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6" name="S10-mark208"/>
          <p:cNvSpPr/>
          <p:nvPr/>
        </p:nvSpPr>
        <p:spPr>
          <a:xfrm>
            <a:off x="3871744" y="3398422"/>
            <a:ext cx="1867390" cy="746956"/>
          </a:xfrm>
          <a:custGeom>
            <a:avLst/>
            <a:gdLst/>
            <a:ahLst/>
            <a:cxnLst/>
            <a:rect l="l" t="t" r="r" b="b"/>
            <a:pathLst>
              <a:path w="1867390" h="746956">
                <a:moveTo>
                  <a:pt x="0" y="746956"/>
                </a:moveTo>
                <a:lnTo>
                  <a:pt x="1867390" y="746956"/>
                </a:lnTo>
                <a:lnTo>
                  <a:pt x="186739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10-mark209"/>
          <p:cNvSpPr/>
          <p:nvPr/>
        </p:nvSpPr>
        <p:spPr>
          <a:xfrm>
            <a:off x="2377832" y="2277988"/>
            <a:ext cx="1493912" cy="1120434"/>
          </a:xfrm>
          <a:custGeom>
            <a:avLst/>
            <a:gdLst/>
            <a:ahLst/>
            <a:cxnLst/>
            <a:rect l="l" t="t" r="r" b="b"/>
            <a:pathLst>
              <a:path w="1493912" h="1120434">
                <a:moveTo>
                  <a:pt x="0" y="1120434"/>
                </a:moveTo>
                <a:lnTo>
                  <a:pt x="1493912" y="1120434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10-mark210"/>
          <p:cNvSpPr/>
          <p:nvPr/>
        </p:nvSpPr>
        <p:spPr>
          <a:xfrm>
            <a:off x="2377832" y="4145378"/>
            <a:ext cx="1493912" cy="1120434"/>
          </a:xfrm>
          <a:custGeom>
            <a:avLst/>
            <a:gdLst/>
            <a:ahLst/>
            <a:cxnLst/>
            <a:rect l="l" t="t" r="r" b="b"/>
            <a:pathLst>
              <a:path w="1493912" h="1120434">
                <a:moveTo>
                  <a:pt x="0" y="0"/>
                </a:moveTo>
                <a:lnTo>
                  <a:pt x="1493912" y="0"/>
                </a:lnTo>
                <a:lnTo>
                  <a:pt x="0" y="1120434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10-mark211"/>
          <p:cNvSpPr/>
          <p:nvPr/>
        </p:nvSpPr>
        <p:spPr>
          <a:xfrm flipH="1" flipV="1">
            <a:off x="2377832" y="2277988"/>
            <a:ext cx="1493912" cy="1120434"/>
          </a:xfrm>
          <a:prstGeom prst="line">
            <a:avLst/>
          </a:prstGeom>
          <a:noFill/>
          <a:ln w="63500">
            <a:solidFill>
              <a:srgbClr val="3D5A80"/>
            </a:solidFill>
            <a:prstDash val="solid"/>
          </a:ln>
        </p:spPr>
      </p:sp>
      <p:sp>
        <p:nvSpPr>
          <p:cNvPr id="40" name="S10-mark212"/>
          <p:cNvSpPr/>
          <p:nvPr/>
        </p:nvSpPr>
        <p:spPr>
          <a:xfrm>
            <a:off x="3871744" y="3398422"/>
            <a:ext cx="1867390" cy="0"/>
          </a:xfrm>
          <a:prstGeom prst="line">
            <a:avLst/>
          </a:prstGeom>
          <a:noFill/>
          <a:ln w="63500">
            <a:solidFill>
              <a:srgbClr val="3D5A80"/>
            </a:solidFill>
            <a:prstDash val="solid"/>
          </a:ln>
        </p:spPr>
      </p:sp>
      <p:sp>
        <p:nvSpPr>
          <p:cNvPr id="41" name="S10-label214"/>
          <p:cNvSpPr txBox="1"/>
          <p:nvPr/>
        </p:nvSpPr>
        <p:spPr>
          <a:xfrm>
            <a:off x="1435853" y="42222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42" name="S10-label216"/>
          <p:cNvSpPr txBox="1"/>
          <p:nvPr/>
        </p:nvSpPr>
        <p:spPr>
          <a:xfrm>
            <a:off x="490064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200" dirty="0"/>
          </a:p>
        </p:txBody>
      </p:sp>
      <p:sp>
        <p:nvSpPr>
          <p:cNvPr id="43" name="S10-label218"/>
          <p:cNvSpPr txBox="1"/>
          <p:nvPr/>
        </p:nvSpPr>
        <p:spPr>
          <a:xfrm>
            <a:off x="2743026" y="42222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44" name="S10-label220"/>
          <p:cNvSpPr txBox="1"/>
          <p:nvPr/>
        </p:nvSpPr>
        <p:spPr>
          <a:xfrm>
            <a:off x="4423677" y="42222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45" name="S10-card221"/>
          <p:cNvSpPr/>
          <p:nvPr/>
        </p:nvSpPr>
        <p:spPr>
          <a:xfrm>
            <a:off x="6813652" y="1432306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6" name="S10-cardtext222"/>
          <p:cNvSpPr txBox="1"/>
          <p:nvPr/>
        </p:nvSpPr>
        <p:spPr>
          <a:xfrm>
            <a:off x="7087972" y="1569466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 2개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삼각형</a:t>
            </a:r>
            <a:endParaRPr lang="ko-KR" sz="2800" dirty="0"/>
          </a:p>
        </p:txBody>
      </p:sp>
      <p:sp>
        <p:nvSpPr>
          <p:cNvPr id="47" name="S10-card223"/>
          <p:cNvSpPr/>
          <p:nvPr/>
        </p:nvSpPr>
        <p:spPr>
          <a:xfrm>
            <a:off x="6813652" y="2840990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8" name="S10-cardtext224"/>
          <p:cNvSpPr txBox="1"/>
          <p:nvPr/>
        </p:nvSpPr>
        <p:spPr>
          <a:xfrm>
            <a:off x="7087972" y="2978150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 3개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(높이 2 cm)</a:t>
            </a:r>
            <a:endParaRPr lang="ko-KR" sz="2800" dirty="0"/>
          </a:p>
        </p:txBody>
      </p:sp>
      <p:sp>
        <p:nvSpPr>
          <p:cNvPr id="49" name="S10-card225"/>
          <p:cNvSpPr/>
          <p:nvPr/>
        </p:nvSpPr>
        <p:spPr>
          <a:xfrm>
            <a:off x="6813652" y="4590542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10-cardtext226"/>
          <p:cNvSpPr txBox="1"/>
          <p:nvPr/>
        </p:nvSpPr>
        <p:spPr>
          <a:xfrm>
            <a:off x="7087972" y="4727702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두 선분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접으면 만나요.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같아요.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전개도가 될 수 있는 것은?</a:t>
            </a:r>
            <a:endParaRPr lang="ko-KR" sz="4000" dirty="0"/>
          </a:p>
        </p:txBody>
      </p:sp>
      <p:sp>
        <p:nvSpPr>
          <p:cNvPr id="3" name="S11-card2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삼각기둥의 전개도가 될 수 있는 것을 모두 골라요.</a:t>
            </a:r>
            <a:endParaRPr lang="ko-KR" sz="2800" dirty="0"/>
          </a:p>
        </p:txBody>
      </p:sp>
      <p:sp>
        <p:nvSpPr>
          <p:cNvPr id="5" name="S11-chip229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1-figure230" descr="가: 밑면 두 개가 가운데 옆면의 위와 아래에 붙은 전개도"/>
          <p:cNvSpPr/>
          <p:nvPr/>
        </p:nvSpPr>
        <p:spPr>
          <a:xfrm>
            <a:off x="632460" y="3301492"/>
            <a:ext cx="821436" cy="547624"/>
          </a:xfrm>
          <a:custGeom>
            <a:avLst/>
            <a:gdLst/>
            <a:ahLst/>
            <a:cxnLst/>
            <a:rect l="l" t="t" r="r" b="b"/>
            <a:pathLst>
              <a:path w="821436" h="547624">
                <a:moveTo>
                  <a:pt x="0" y="547624"/>
                </a:moveTo>
                <a:lnTo>
                  <a:pt x="821436" y="547624"/>
                </a:lnTo>
                <a:lnTo>
                  <a:pt x="82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231"/>
          <p:cNvSpPr/>
          <p:nvPr/>
        </p:nvSpPr>
        <p:spPr>
          <a:xfrm>
            <a:off x="1453896" y="3301492"/>
            <a:ext cx="1095248" cy="547624"/>
          </a:xfrm>
          <a:custGeom>
            <a:avLst/>
            <a:gdLst/>
            <a:ahLst/>
            <a:cxnLst/>
            <a:rect l="l" t="t" r="r" b="b"/>
            <a:pathLst>
              <a:path w="1095248" h="547624">
                <a:moveTo>
                  <a:pt x="0" y="547624"/>
                </a:moveTo>
                <a:lnTo>
                  <a:pt x="1095248" y="547624"/>
                </a:lnTo>
                <a:lnTo>
                  <a:pt x="1095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232"/>
          <p:cNvSpPr/>
          <p:nvPr/>
        </p:nvSpPr>
        <p:spPr>
          <a:xfrm>
            <a:off x="2549144" y="3301492"/>
            <a:ext cx="1369060" cy="547624"/>
          </a:xfrm>
          <a:custGeom>
            <a:avLst/>
            <a:gdLst/>
            <a:ahLst/>
            <a:cxnLst/>
            <a:rect l="l" t="t" r="r" b="b"/>
            <a:pathLst>
              <a:path w="1369060" h="547624">
                <a:moveTo>
                  <a:pt x="0" y="547624"/>
                </a:moveTo>
                <a:lnTo>
                  <a:pt x="1369060" y="547624"/>
                </a:lnTo>
                <a:lnTo>
                  <a:pt x="1369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1-mark233"/>
          <p:cNvSpPr/>
          <p:nvPr/>
        </p:nvSpPr>
        <p:spPr>
          <a:xfrm>
            <a:off x="1453896" y="2480056"/>
            <a:ext cx="1095248" cy="821436"/>
          </a:xfrm>
          <a:custGeom>
            <a:avLst/>
            <a:gdLst/>
            <a:ahLst/>
            <a:cxnLst/>
            <a:rect l="l" t="t" r="r" b="b"/>
            <a:pathLst>
              <a:path w="1095248" h="821436">
                <a:moveTo>
                  <a:pt x="0" y="821436"/>
                </a:moveTo>
                <a:lnTo>
                  <a:pt x="1095248" y="821436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1-mark234"/>
          <p:cNvSpPr/>
          <p:nvPr/>
        </p:nvSpPr>
        <p:spPr>
          <a:xfrm>
            <a:off x="1453896" y="3849116"/>
            <a:ext cx="1095248" cy="821436"/>
          </a:xfrm>
          <a:custGeom>
            <a:avLst/>
            <a:gdLst/>
            <a:ahLst/>
            <a:cxnLst/>
            <a:rect l="l" t="t" r="r" b="b"/>
            <a:pathLst>
              <a:path w="1095248" h="821436">
                <a:moveTo>
                  <a:pt x="0" y="0"/>
                </a:moveTo>
                <a:lnTo>
                  <a:pt x="1095248" y="0"/>
                </a:lnTo>
                <a:lnTo>
                  <a:pt x="0" y="821436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1-chip235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2" name="S11-figure236" descr="나: 밑면 두 개가 모두 옆면들의 위쪽에 붙은 그림"/>
          <p:cNvSpPr/>
          <p:nvPr/>
        </p:nvSpPr>
        <p:spPr>
          <a:xfrm>
            <a:off x="4451604" y="3849116"/>
            <a:ext cx="821436" cy="547624"/>
          </a:xfrm>
          <a:custGeom>
            <a:avLst/>
            <a:gdLst/>
            <a:ahLst/>
            <a:cxnLst/>
            <a:rect l="l" t="t" r="r" b="b"/>
            <a:pathLst>
              <a:path w="821436" h="547624">
                <a:moveTo>
                  <a:pt x="0" y="547624"/>
                </a:moveTo>
                <a:lnTo>
                  <a:pt x="821436" y="547624"/>
                </a:lnTo>
                <a:lnTo>
                  <a:pt x="82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1-mark237"/>
          <p:cNvSpPr/>
          <p:nvPr/>
        </p:nvSpPr>
        <p:spPr>
          <a:xfrm>
            <a:off x="5273040" y="3849116"/>
            <a:ext cx="1095248" cy="547624"/>
          </a:xfrm>
          <a:custGeom>
            <a:avLst/>
            <a:gdLst/>
            <a:ahLst/>
            <a:cxnLst/>
            <a:rect l="l" t="t" r="r" b="b"/>
            <a:pathLst>
              <a:path w="1095248" h="547624">
                <a:moveTo>
                  <a:pt x="0" y="547624"/>
                </a:moveTo>
                <a:lnTo>
                  <a:pt x="1095248" y="547624"/>
                </a:lnTo>
                <a:lnTo>
                  <a:pt x="1095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1-mark238"/>
          <p:cNvSpPr/>
          <p:nvPr/>
        </p:nvSpPr>
        <p:spPr>
          <a:xfrm>
            <a:off x="6368288" y="3849116"/>
            <a:ext cx="1369060" cy="547624"/>
          </a:xfrm>
          <a:custGeom>
            <a:avLst/>
            <a:gdLst/>
            <a:ahLst/>
            <a:cxnLst/>
            <a:rect l="l" t="t" r="r" b="b"/>
            <a:pathLst>
              <a:path w="1369060" h="547624">
                <a:moveTo>
                  <a:pt x="0" y="547624"/>
                </a:moveTo>
                <a:lnTo>
                  <a:pt x="1369060" y="547624"/>
                </a:lnTo>
                <a:lnTo>
                  <a:pt x="1369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1-mark239"/>
          <p:cNvSpPr/>
          <p:nvPr/>
        </p:nvSpPr>
        <p:spPr>
          <a:xfrm>
            <a:off x="4451604" y="2753868"/>
            <a:ext cx="821436" cy="1095248"/>
          </a:xfrm>
          <a:custGeom>
            <a:avLst/>
            <a:gdLst/>
            <a:ahLst/>
            <a:cxnLst/>
            <a:rect l="l" t="t" r="r" b="b"/>
            <a:pathLst>
              <a:path w="821436" h="1095248">
                <a:moveTo>
                  <a:pt x="0" y="1095248"/>
                </a:moveTo>
                <a:lnTo>
                  <a:pt x="821436" y="1095248"/>
                </a:lnTo>
                <a:lnTo>
                  <a:pt x="821436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1-mark240"/>
          <p:cNvSpPr/>
          <p:nvPr/>
        </p:nvSpPr>
        <p:spPr>
          <a:xfrm>
            <a:off x="5273040" y="3027680"/>
            <a:ext cx="1095248" cy="821436"/>
          </a:xfrm>
          <a:custGeom>
            <a:avLst/>
            <a:gdLst/>
            <a:ahLst/>
            <a:cxnLst/>
            <a:rect l="l" t="t" r="r" b="b"/>
            <a:pathLst>
              <a:path w="1095248" h="821436">
                <a:moveTo>
                  <a:pt x="0" y="821436"/>
                </a:moveTo>
                <a:lnTo>
                  <a:pt x="1095248" y="821436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1-chip241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8" name="S11-figure242" descr="다: 밑면 하나는 왼쪽 옆면 위에, 하나는 가운데 옆면 아래에 붙은 전개도"/>
          <p:cNvSpPr/>
          <p:nvPr/>
        </p:nvSpPr>
        <p:spPr>
          <a:xfrm>
            <a:off x="8270748" y="3438398"/>
            <a:ext cx="821436" cy="547624"/>
          </a:xfrm>
          <a:custGeom>
            <a:avLst/>
            <a:gdLst/>
            <a:ahLst/>
            <a:cxnLst/>
            <a:rect l="l" t="t" r="r" b="b"/>
            <a:pathLst>
              <a:path w="821436" h="547624">
                <a:moveTo>
                  <a:pt x="0" y="547624"/>
                </a:moveTo>
                <a:lnTo>
                  <a:pt x="821436" y="547624"/>
                </a:lnTo>
                <a:lnTo>
                  <a:pt x="82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1-mark243"/>
          <p:cNvSpPr/>
          <p:nvPr/>
        </p:nvSpPr>
        <p:spPr>
          <a:xfrm>
            <a:off x="9092184" y="3438398"/>
            <a:ext cx="1095248" cy="547624"/>
          </a:xfrm>
          <a:custGeom>
            <a:avLst/>
            <a:gdLst/>
            <a:ahLst/>
            <a:cxnLst/>
            <a:rect l="l" t="t" r="r" b="b"/>
            <a:pathLst>
              <a:path w="1095248" h="547624">
                <a:moveTo>
                  <a:pt x="0" y="547624"/>
                </a:moveTo>
                <a:lnTo>
                  <a:pt x="1095248" y="547624"/>
                </a:lnTo>
                <a:lnTo>
                  <a:pt x="1095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1-mark244"/>
          <p:cNvSpPr/>
          <p:nvPr/>
        </p:nvSpPr>
        <p:spPr>
          <a:xfrm>
            <a:off x="10187432" y="3438398"/>
            <a:ext cx="1369060" cy="547624"/>
          </a:xfrm>
          <a:custGeom>
            <a:avLst/>
            <a:gdLst/>
            <a:ahLst/>
            <a:cxnLst/>
            <a:rect l="l" t="t" r="r" b="b"/>
            <a:pathLst>
              <a:path w="1369060" h="547624">
                <a:moveTo>
                  <a:pt x="0" y="547624"/>
                </a:moveTo>
                <a:lnTo>
                  <a:pt x="1369060" y="547624"/>
                </a:lnTo>
                <a:lnTo>
                  <a:pt x="1369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1-mark245"/>
          <p:cNvSpPr/>
          <p:nvPr/>
        </p:nvSpPr>
        <p:spPr>
          <a:xfrm>
            <a:off x="8270748" y="2343150"/>
            <a:ext cx="821436" cy="1095248"/>
          </a:xfrm>
          <a:custGeom>
            <a:avLst/>
            <a:gdLst/>
            <a:ahLst/>
            <a:cxnLst/>
            <a:rect l="l" t="t" r="r" b="b"/>
            <a:pathLst>
              <a:path w="821436" h="1095248">
                <a:moveTo>
                  <a:pt x="0" y="1095248"/>
                </a:moveTo>
                <a:lnTo>
                  <a:pt x="821436" y="1095248"/>
                </a:lnTo>
                <a:lnTo>
                  <a:pt x="821436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1-mark246"/>
          <p:cNvSpPr/>
          <p:nvPr/>
        </p:nvSpPr>
        <p:spPr>
          <a:xfrm>
            <a:off x="9092184" y="3986022"/>
            <a:ext cx="1095248" cy="821436"/>
          </a:xfrm>
          <a:custGeom>
            <a:avLst/>
            <a:gdLst/>
            <a:ahLst/>
            <a:cxnLst/>
            <a:rect l="l" t="t" r="r" b="b"/>
            <a:pathLst>
              <a:path w="1095248" h="821436">
                <a:moveTo>
                  <a:pt x="0" y="0"/>
                </a:moveTo>
                <a:lnTo>
                  <a:pt x="1095248" y="0"/>
                </a:lnTo>
                <a:lnTo>
                  <a:pt x="0" y="821436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figure247" descr="삼각기둥의 전개도: 옆면의 가로 3 cm, 4 cm, □ cm, 밑면 삼각형의 한 변 5 cm"/>
          <p:cNvSpPr/>
          <p:nvPr/>
        </p:nvSpPr>
        <p:spPr>
          <a:xfrm>
            <a:off x="6612636" y="3380867"/>
            <a:ext cx="1173099" cy="1173099"/>
          </a:xfrm>
          <a:custGeom>
            <a:avLst/>
            <a:gdLst/>
            <a:ahLst/>
            <a:cxnLst/>
            <a:rect l="l" t="t" r="r" b="b"/>
            <a:pathLst>
              <a:path w="1173099" h="1173099">
                <a:moveTo>
                  <a:pt x="0" y="1173099"/>
                </a:moveTo>
                <a:lnTo>
                  <a:pt x="1173099" y="1173099"/>
                </a:lnTo>
                <a:lnTo>
                  <a:pt x="1173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12-mark248"/>
          <p:cNvSpPr/>
          <p:nvPr/>
        </p:nvSpPr>
        <p:spPr>
          <a:xfrm>
            <a:off x="7785735" y="3380867"/>
            <a:ext cx="1564132" cy="1173099"/>
          </a:xfrm>
          <a:custGeom>
            <a:avLst/>
            <a:gdLst/>
            <a:ahLst/>
            <a:cxnLst/>
            <a:rect l="l" t="t" r="r" b="b"/>
            <a:pathLst>
              <a:path w="1564132" h="1173099">
                <a:moveTo>
                  <a:pt x="0" y="1173099"/>
                </a:moveTo>
                <a:lnTo>
                  <a:pt x="1564132" y="1173099"/>
                </a:lnTo>
                <a:lnTo>
                  <a:pt x="15641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12-mark249"/>
          <p:cNvSpPr/>
          <p:nvPr/>
        </p:nvSpPr>
        <p:spPr>
          <a:xfrm>
            <a:off x="9349867" y="3380867"/>
            <a:ext cx="1955165" cy="1173099"/>
          </a:xfrm>
          <a:custGeom>
            <a:avLst/>
            <a:gdLst/>
            <a:ahLst/>
            <a:cxnLst/>
            <a:rect l="l" t="t" r="r" b="b"/>
            <a:pathLst>
              <a:path w="1955165" h="1173099">
                <a:moveTo>
                  <a:pt x="0" y="1173099"/>
                </a:moveTo>
                <a:lnTo>
                  <a:pt x="1955165" y="1173099"/>
                </a:lnTo>
                <a:lnTo>
                  <a:pt x="195516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2-mark250"/>
          <p:cNvSpPr/>
          <p:nvPr/>
        </p:nvSpPr>
        <p:spPr>
          <a:xfrm>
            <a:off x="6612636" y="1816735"/>
            <a:ext cx="1173099" cy="1564132"/>
          </a:xfrm>
          <a:custGeom>
            <a:avLst/>
            <a:gdLst/>
            <a:ahLst/>
            <a:cxnLst/>
            <a:rect l="l" t="t" r="r" b="b"/>
            <a:pathLst>
              <a:path w="1173099" h="1564132">
                <a:moveTo>
                  <a:pt x="0" y="1564132"/>
                </a:moveTo>
                <a:lnTo>
                  <a:pt x="1173099" y="1564132"/>
                </a:lnTo>
                <a:lnTo>
                  <a:pt x="1173099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2-mark251"/>
          <p:cNvSpPr/>
          <p:nvPr/>
        </p:nvSpPr>
        <p:spPr>
          <a:xfrm>
            <a:off x="7785735" y="4553966"/>
            <a:ext cx="1564132" cy="1173099"/>
          </a:xfrm>
          <a:custGeom>
            <a:avLst/>
            <a:gdLst/>
            <a:ahLst/>
            <a:cxnLst/>
            <a:rect l="l" t="t" r="r" b="b"/>
            <a:pathLst>
              <a:path w="1564132" h="1173099">
                <a:moveTo>
                  <a:pt x="0" y="0"/>
                </a:moveTo>
                <a:lnTo>
                  <a:pt x="1564132" y="0"/>
                </a:lnTo>
                <a:lnTo>
                  <a:pt x="0" y="1173099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2-label253"/>
          <p:cNvSpPr txBox="1"/>
          <p:nvPr/>
        </p:nvSpPr>
        <p:spPr>
          <a:xfrm>
            <a:off x="6817424" y="463080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9" name="S12-label255"/>
          <p:cNvSpPr txBox="1"/>
          <p:nvPr/>
        </p:nvSpPr>
        <p:spPr>
          <a:xfrm>
            <a:off x="8186039" y="463080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0" name="S12-label257"/>
          <p:cNvSpPr txBox="1"/>
          <p:nvPr/>
        </p:nvSpPr>
        <p:spPr>
          <a:xfrm>
            <a:off x="9900984" y="4630801"/>
            <a:ext cx="8529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cm</a:t>
            </a:r>
            <a:endParaRPr lang="ko-KR" sz="2200" dirty="0"/>
          </a:p>
        </p:txBody>
      </p:sp>
      <p:sp>
        <p:nvSpPr>
          <p:cNvPr id="11" name="S12-label259"/>
          <p:cNvSpPr txBox="1"/>
          <p:nvPr/>
        </p:nvSpPr>
        <p:spPr>
          <a:xfrm>
            <a:off x="6476779" y="216869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12" name="S12-chip260"/>
          <p:cNvSpPr txBox="1"/>
          <p:nvPr/>
        </p:nvSpPr>
        <p:spPr>
          <a:xfrm>
            <a:off x="548640" y="158534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2-text261"/>
          <p:cNvSpPr txBox="1"/>
          <p:nvPr/>
        </p:nvSpPr>
        <p:spPr>
          <a:xfrm>
            <a:off x="1344168" y="132588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팔각기둥의 면, 모서리,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꼭짓점의 수</a:t>
            </a:r>
            <a:endParaRPr lang="ko-KR" sz="2800" dirty="0"/>
          </a:p>
        </p:txBody>
      </p:sp>
      <p:sp>
        <p:nvSpPr>
          <p:cNvPr id="14" name="S12-chip262"/>
          <p:cNvSpPr txBox="1"/>
          <p:nvPr/>
        </p:nvSpPr>
        <p:spPr>
          <a:xfrm>
            <a:off x="548640" y="285407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2-text263"/>
          <p:cNvSpPr txBox="1"/>
          <p:nvPr/>
        </p:nvSpPr>
        <p:spPr>
          <a:xfrm>
            <a:off x="1344168" y="259461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육각뿔의 면, 모서리,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꼭짓점의 수</a:t>
            </a:r>
            <a:endParaRPr lang="ko-KR" sz="2800" dirty="0"/>
          </a:p>
        </p:txBody>
      </p:sp>
      <p:sp>
        <p:nvSpPr>
          <p:cNvPr id="16" name="S12-chip264"/>
          <p:cNvSpPr txBox="1"/>
          <p:nvPr/>
        </p:nvSpPr>
        <p:spPr>
          <a:xfrm>
            <a:off x="548640" y="412280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2-text265"/>
          <p:cNvSpPr txBox="1"/>
          <p:nvPr/>
        </p:nvSpPr>
        <p:spPr>
          <a:xfrm>
            <a:off x="1344168" y="386334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전개도를 접으면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입체도형?</a:t>
            </a:r>
            <a:endParaRPr lang="ko-KR" sz="2800" dirty="0"/>
          </a:p>
        </p:txBody>
      </p:sp>
      <p:sp>
        <p:nvSpPr>
          <p:cNvPr id="18" name="S12-chip266"/>
          <p:cNvSpPr txBox="1"/>
          <p:nvPr/>
        </p:nvSpPr>
        <p:spPr>
          <a:xfrm>
            <a:off x="548640" y="539153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9" name="S12-text267"/>
          <p:cNvSpPr txBox="1"/>
          <p:nvPr/>
        </p:nvSpPr>
        <p:spPr>
          <a:xfrm>
            <a:off x="1344168" y="513207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□는 몇 cm인가요?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2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겨냥도를 그려 직접 세어 보게 하세요.</a:t>
            </a:r>
            <a:endParaRPr lang="ko-KR" sz="2800" dirty="0"/>
          </a:p>
        </p:txBody>
      </p:sp>
      <p:sp>
        <p:nvSpPr>
          <p:cNvPr id="5" name="S13-chip27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3-text271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10, 24, 16</a:t>
            </a:r>
            <a:endParaRPr lang="ko-KR" sz="2800" dirty="0"/>
          </a:p>
        </p:txBody>
      </p:sp>
      <p:sp>
        <p:nvSpPr>
          <p:cNvPr id="7" name="S13-text272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8개</a:t>
            </a:r>
            <a:endParaRPr lang="ko-KR" sz="2200" dirty="0"/>
          </a:p>
        </p:txBody>
      </p:sp>
      <p:sp>
        <p:nvSpPr>
          <p:cNvPr id="8" name="S13-text273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7, 12, 7</a:t>
            </a:r>
            <a:endParaRPr lang="ko-KR" sz="2800" dirty="0"/>
          </a:p>
        </p:txBody>
      </p:sp>
      <p:sp>
        <p:nvSpPr>
          <p:cNvPr id="9" name="S13-text274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6개</a:t>
            </a:r>
            <a:endParaRPr lang="ko-KR" sz="2200" dirty="0"/>
          </a:p>
        </p:txBody>
      </p:sp>
      <p:sp>
        <p:nvSpPr>
          <p:cNvPr id="10" name="S13-text275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삼각기둥</a:t>
            </a:r>
            <a:endParaRPr lang="ko-KR" sz="2800" dirty="0"/>
          </a:p>
        </p:txBody>
      </p:sp>
      <p:sp>
        <p:nvSpPr>
          <p:cNvPr id="11" name="S13-text276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밑면이 삼각형</a:t>
            </a:r>
            <a:endParaRPr lang="ko-KR" sz="2200" dirty="0"/>
          </a:p>
        </p:txBody>
      </p:sp>
      <p:sp>
        <p:nvSpPr>
          <p:cNvPr id="12" name="S13-text277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5 cm</a:t>
            </a:r>
            <a:endParaRPr lang="ko-KR" sz="2800" dirty="0"/>
          </a:p>
        </p:txBody>
      </p:sp>
      <p:sp>
        <p:nvSpPr>
          <p:cNvPr id="13" name="S13-text278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빗변과 만남</a:t>
            </a:r>
            <a:endParaRPr lang="ko-KR" sz="2200" dirty="0"/>
          </a:p>
        </p:txBody>
      </p:sp>
      <p:sp>
        <p:nvSpPr>
          <p:cNvPr id="14" name="S13-chip27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3-text28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10, 16, 24</a:t>
            </a:r>
            <a:endParaRPr lang="ko-KR" sz="2800" dirty="0"/>
          </a:p>
        </p:txBody>
      </p:sp>
      <p:sp>
        <p:nvSpPr>
          <p:cNvPr id="16" name="S13-text28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모서리·꼭짓점 바꿈</a:t>
            </a:r>
            <a:endParaRPr lang="ko-KR" sz="2200" dirty="0"/>
          </a:p>
        </p:txBody>
      </p:sp>
      <p:sp>
        <p:nvSpPr>
          <p:cNvPr id="17" name="S13-text28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8, 18, 12</a:t>
            </a:r>
            <a:endParaRPr lang="ko-KR" sz="2800" dirty="0"/>
          </a:p>
        </p:txBody>
      </p:sp>
      <p:sp>
        <p:nvSpPr>
          <p:cNvPr id="18" name="S13-text28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 규칙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 것을 모두 골라요</a:t>
            </a:r>
            <a:endParaRPr lang="ko-KR" sz="4000" dirty="0"/>
          </a:p>
        </p:txBody>
      </p:sp>
      <p:sp>
        <p:nvSpPr>
          <p:cNvPr id="3" name="S14-card2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2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것은 바르게 고쳐 말해요.</a:t>
            </a:r>
            <a:endParaRPr lang="ko-KR" sz="2800" dirty="0"/>
          </a:p>
        </p:txBody>
      </p:sp>
      <p:sp>
        <p:nvSpPr>
          <p:cNvPr id="5" name="S14-chip28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4-card287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288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각뿔의 밑면은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2개예요.</a:t>
            </a:r>
            <a:endParaRPr lang="ko-KR" sz="2800" dirty="0"/>
          </a:p>
        </p:txBody>
      </p:sp>
      <p:sp>
        <p:nvSpPr>
          <p:cNvPr id="8" name="S14-chip28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4-card290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91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각기둥의 옆면은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직사각형이에요.</a:t>
            </a:r>
            <a:endParaRPr lang="ko-KR" sz="2800" dirty="0"/>
          </a:p>
        </p:txBody>
      </p:sp>
      <p:sp>
        <p:nvSpPr>
          <p:cNvPr id="11" name="S14-chip29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4-card293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294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오각뿔의 꼭짓점은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6개예요.</a:t>
            </a:r>
            <a:endParaRPr lang="ko-KR" sz="2800" dirty="0"/>
          </a:p>
        </p:txBody>
      </p:sp>
      <p:sp>
        <p:nvSpPr>
          <p:cNvPr id="14" name="S14-chip29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4-card296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97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삼각기둥의 전개도에는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삼각형이 1개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29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9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각기둥은 밑면 2개와 직사각형 옆면, 각뿔은 밑면 1개와 삼각형 옆면으로 되어 있어요.</a:t>
            </a:r>
            <a:endParaRPr lang="ko-KR" sz="2800" dirty="0"/>
          </a:p>
        </p:txBody>
      </p:sp>
      <p:sp>
        <p:nvSpPr>
          <p:cNvPr id="5" name="S15-chip30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밑면의 변의 수로 세기</a:t>
            </a:r>
            <a:endParaRPr lang="ko-KR" sz="2200" dirty="0"/>
          </a:p>
        </p:txBody>
      </p:sp>
      <p:sp>
        <p:nvSpPr>
          <p:cNvPr id="6" name="S15-chip30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바닥에 닿은 면만 밑면이라 하기</a:t>
            </a:r>
            <a:endParaRPr lang="ko-KR" sz="2200" dirty="0"/>
          </a:p>
        </p:txBody>
      </p:sp>
      <p:sp>
        <p:nvSpPr>
          <p:cNvPr id="7" name="S15-text30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30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오각기둥의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모서리의 수</a:t>
            </a:r>
            <a:endParaRPr lang="ko-KR" sz="2200" dirty="0"/>
          </a:p>
        </p:txBody>
      </p:sp>
      <p:sp>
        <p:nvSpPr>
          <p:cNvPr id="9" name="S15-text30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팔각뿔의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꼭짓점의 수</a:t>
            </a:r>
            <a:endParaRPr lang="ko-KR" sz="2200" dirty="0"/>
          </a:p>
        </p:txBody>
      </p:sp>
      <p:sp>
        <p:nvSpPr>
          <p:cNvPr id="10" name="S15-text30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육각기둥 전개도의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수</a:t>
            </a:r>
            <a:endParaRPr lang="ko-KR" sz="2200" dirty="0"/>
          </a:p>
        </p:txBody>
      </p:sp>
      <p:sp>
        <p:nvSpPr>
          <p:cNvPr id="11" name="S15-text3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원기둥·원뿔·구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직육면체 다시 보기</a:t>
            </a:r>
            <a:endParaRPr lang="ko-KR" sz="4000" dirty="0"/>
          </a:p>
        </p:txBody>
      </p:sp>
      <p:sp>
        <p:nvSpPr>
          <p:cNvPr id="3" name="S16-figure307" descr="직육면체의 겨냥도: 보이는 모서리 9개는 실선, 보이지 않는 모서리 3개는 점선"/>
          <p:cNvSpPr/>
          <p:nvPr/>
        </p:nvSpPr>
        <p:spPr>
          <a:xfrm flipH="1">
            <a:off x="2175358" y="4438498"/>
            <a:ext cx="27432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4" name="S16-mark308"/>
          <p:cNvSpPr/>
          <p:nvPr/>
        </p:nvSpPr>
        <p:spPr>
          <a:xfrm flipV="1">
            <a:off x="1541678" y="4438498"/>
            <a:ext cx="633679" cy="495605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5" name="S16-mark309"/>
          <p:cNvSpPr/>
          <p:nvPr/>
        </p:nvSpPr>
        <p:spPr>
          <a:xfrm flipV="1">
            <a:off x="2175358" y="2609698"/>
            <a:ext cx="0" cy="182880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6" name="S16-mark310"/>
          <p:cNvSpPr/>
          <p:nvPr/>
        </p:nvSpPr>
        <p:spPr>
          <a:xfrm>
            <a:off x="1541678" y="493410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6-mark311"/>
          <p:cNvSpPr/>
          <p:nvPr/>
        </p:nvSpPr>
        <p:spPr>
          <a:xfrm flipV="1">
            <a:off x="4284878" y="443849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6-mark312"/>
          <p:cNvSpPr/>
          <p:nvPr/>
        </p:nvSpPr>
        <p:spPr>
          <a:xfrm>
            <a:off x="1541678" y="310530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16-mark313"/>
          <p:cNvSpPr/>
          <p:nvPr/>
        </p:nvSpPr>
        <p:spPr>
          <a:xfrm flipV="1">
            <a:off x="4284878" y="260969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16-mark314"/>
          <p:cNvSpPr/>
          <p:nvPr/>
        </p:nvSpPr>
        <p:spPr>
          <a:xfrm flipH="1">
            <a:off x="2175358" y="2609698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6-mark315"/>
          <p:cNvSpPr/>
          <p:nvPr/>
        </p:nvSpPr>
        <p:spPr>
          <a:xfrm flipV="1">
            <a:off x="1541678" y="260969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16-mark316"/>
          <p:cNvSpPr/>
          <p:nvPr/>
        </p:nvSpPr>
        <p:spPr>
          <a:xfrm flipV="1">
            <a:off x="4284878" y="3105302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16-mark317"/>
          <p:cNvSpPr/>
          <p:nvPr/>
        </p:nvSpPr>
        <p:spPr>
          <a:xfrm flipV="1">
            <a:off x="1541678" y="3105302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16-mark318"/>
          <p:cNvSpPr/>
          <p:nvPr/>
        </p:nvSpPr>
        <p:spPr>
          <a:xfrm flipV="1">
            <a:off x="4918558" y="2609698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16-card319"/>
          <p:cNvSpPr/>
          <p:nvPr/>
        </p:nvSpPr>
        <p:spPr>
          <a:xfrm>
            <a:off x="6277356" y="230708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6-cardtext320"/>
          <p:cNvSpPr txBox="1"/>
          <p:nvPr/>
        </p:nvSpPr>
        <p:spPr>
          <a:xfrm>
            <a:off x="6551676" y="244424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 6, 모서리 12, 꼭짓점 8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상자를 들고 세어 봐요.</a:t>
            </a:r>
            <a:endParaRPr lang="ko-KR" sz="2800" dirty="0"/>
          </a:p>
        </p:txBody>
      </p:sp>
      <p:sp>
        <p:nvSpPr>
          <p:cNvPr id="17" name="S16-card321"/>
          <p:cNvSpPr/>
          <p:nvPr/>
        </p:nvSpPr>
        <p:spPr>
          <a:xfrm>
            <a:off x="6277356" y="371576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16-cardtext322"/>
          <p:cNvSpPr txBox="1"/>
          <p:nvPr/>
        </p:nvSpPr>
        <p:spPr>
          <a:xfrm>
            <a:off x="6551676" y="385292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모서리는 실선,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모서리는 점선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각기둥과 각뿔</dc:title>
  <dc:subject>KR22-G06-MAT-PRISM-L01</dc:subject>
  <dc:creator>education-ppt</dc:creator>
  <cp:lastModifiedBy>education-ppt</cp:lastModifiedBy>
  <cp:revision>1</cp:revision>
  <dcterms:created xsi:type="dcterms:W3CDTF">2026-10-26T08:59:22Z</dcterms:created>
  <dcterms:modified xsi:type="dcterms:W3CDTF">2026-10-26T08:59:22Z</dcterms:modified>
</cp:coreProperties>
</file>