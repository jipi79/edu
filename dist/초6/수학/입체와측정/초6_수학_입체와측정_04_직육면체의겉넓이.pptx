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f2740f7-daab-ceac-0702-54446cfd449f}">
          <p14:sldIdLst>
            <p14:sldId id="256"/>
            <p14:sldId id="257"/>
          </p14:sldIdLst>
        </p14:section>
        <p14:section name="개념" id="{51cf1616-b1a9-1a73-f991-caf2830c2ffe}">
          <p14:sldIdLst>
            <p14:sldId id="258"/>
            <p14:sldId id="259"/>
            <p14:sldId id="260"/>
            <p14:sldId id="263"/>
          </p14:sldIdLst>
        </p14:section>
        <p14:section name="연습" id="{d3962990-2062-313a-77f0-4c35e246a192}">
          <p14:sldIdLst>
            <p14:sldId id="261"/>
            <p14:sldId id="262"/>
            <p14:sldId id="264"/>
          </p14:sldIdLst>
        </p14:section>
        <p14:section name="개념" id="{f69b4dcb-4dac-567f-dd49-f2d0f924a79f}">
          <p14:sldIdLst/>
        </p14:section>
        <p14:section name="연습" id="{077fe257-302f-0271-0a6b-09eacfb7f27f}">
          <p14:sldIdLst/>
        </p14:section>
        <p14:section name="확인" id="{32b018a7-b334-9049-71af-c44bdb0cc450}">
          <p14:sldIdLst>
            <p14:sldId id="265"/>
            <p14:sldId id="266"/>
            <p14:sldId id="267"/>
          </p14:sldIdLst>
        </p14:section>
        <p14:section name="정리" id="{62aec8b1-68b1-dddd-453f-f96a46c7a939}">
          <p14:sldIdLst>
            <p14:sldId id="268"/>
          </p14:sldIdLst>
        </p14:section>
        <p14:section name="보충" id="{4a583811-4acd-9b28-9bfa-ed39a763deb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상자를 포장하는 상황으로 겉넓이를 구할 필요를 느끼게 하고 오늘 할 일을 알려 줍니다.
시간: 약 2분
이렇게 말해 보세요
- “이 상자를 종이로 빈틈없이 싸려면 종이가 적어도 얼마나 필요할까?”
- “상자의 겉면을 모두 합한 넓이를 알면 되겠지? 오늘은 그 넓이를 구해 보자.”
예상 답
- “상자보다 조금 큰 종이요.” “면의 넓이를 다 더해요.”
막히면
- 집에 있는 상자를 손으로 감싸 보며 ‘겉면’이 어디인지 짚어 봅니다.
주의
- 준비물: 작은 상자(과자 상자 등)와 자, 가위, 모눈종이(1 cm 칸). 상자는 S03에서 모서리를 잘라 펼쳐 봅니다.
- 포장지가 겹치는 부분은 생각하지 않고, 겉면의 넓이만 생각한다고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확인(직사각형의 넓이, 직육면체의 면)]
목적: 오늘 계산에 꼭 필요한 직사각형·정사각형의 넓이와 직육면체의 면(마주 보는 면은 합동)을 확인합니다.
시간: 약 3분
이렇게 말해 보세요
- “①②는 넓이를 구해 볼래? 단위도 말해 줘.”
- “③은 오른쪽 직육면체를 봐. 같은 색으로 칠한 면끼리 모양과 크기가 같아. 몇 쌍이야?”
정답
- ① 15 cm² (5 × 3 = 15)
- ② 16 cm² (4 × 4 = 16)
- ③ 3쌍(마주 보는 면끼리 합동)
막히면
- ①②가 어려우면 S14(보충)에서 모눈을 세어 넓이를 다시 익힙니다. 보충으로도 어려우면 초5 ‘직사각형의 넓이’를 먼저 다시 합니다.
- ③은 상자를 들고 마주 보는 두 면을 손바닥으로 동시에 짚어 보게 합니다.
주의
- 넓이의 단위 cm²(제곱센티미터)를 꼭 함께 말하게 합니다.
- 그림의 점선은 보이지 않는 모서리입니다.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겉넓이의 뜻(전개도의 넓이)]
목적: 직육면체의 겉넓이는 여섯 면의 넓이의 합이고, 전개도의 넓이와 같다는 것을 압니다.
시간: 약 4분
이렇게 말해 보세요
- “상자의 모서리를 가위로 잘라 펼쳐 볼까? 이렇게 펼친 그림이 전개도였지?”
- “전개도에서 면은 몇 개야? 면마다 모눈이 몇 칸인지 세어 볼까?”
- “여섯 면의 넓이를 모두 더한 것을 ‘직육면체의 겉넓이’라고 해. 모두 몇 cm²야?”
예상 답
- “면이 6개예요.”
- “12, 8, 6, 8, 6, 12를 더하면 52 cm²예요.”
막히면
- 모눈을 하나씩 세어도 됩니다. 그다음 ‘가로 × 세로’로 세면 빠르다는 것을 보여 줍니다(4 × 3 = 12).
주의
- 숫자는 면의 넓이(cm²)입니다. 같은 색 면은 마주 보는 면이라 넓이가 같습니다.
- 상자를 펼칠 때 가위는 부모가 함께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방법 1: 합동인 세 쌍 × 2]
목적: 합동인 면이 2개씩 3쌍이므로, 한 꼭짓점에서 만나는 세 면의 넓이를 더해 2배 하면 겉넓이가 된다는 것을 압니다.
시간: 약 3분
이렇게 말해 보세요
- “같은 색 면이 두 개씩 있지? 넓이가 같은 면이 몇 쌍이야?”
- “그러면 서로 다른 세 면만 구해서 더하고 2배 하면 되지 않을까?”
- “S03에서 하나씩 더한 답과 같은지 확인해 볼까?”
예상 답
- “3쌍이에요.” “(12 + 8 + 6) × 2 = 52, 같아요.”
막히면
- 상자를 들고 위·아래, 앞·뒤, 양옆을 짝지어 짚습니다.
주의
- 괄호를 먼저 계산합니다: 12 + 8 + 6 = 26, 26 × 2 = 52.
- 세 면만 더하고 2배를 잊는 실수가 많습니다(S06).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방법 2: 두 밑면 + 옆면]
목적: 옆면 네 개를 이으면 가로가 밑면의 둘레, 세로가 높이인 직사각형이 되므로 (한 밑면의 넓이) × 2 + (옆면의 넓이)로도 겉넓이를 구할 수 있음을 압니다.
시간: 약 3분
이렇게 말해 보세요
- “노란 옆면 네 개를 붙여 보면 어떤 모양이야? 가로는 몇 cm야?”
- “가로 14 cm는 밑면의 무엇과 같을까? 지난 원기둥 전개도에서도 비슷한 걸 봤지?”
- “두 밑면과 옆면을 더하면? S04의 답과 같아?”
예상 답
- “가로 14 cm, 세로 2 cm인 직사각형이에요.”
- “밑면을 한 바퀴 돈 길이(둘레)예요.”
- “24 + 28 = 52, 같아요.”
막히면
- 상자를 펼친 전개도에서 옆면 네 개를 손가락으로 이어 따라가 봅니다.
주의
- 세 가지 방법(하나씩 더하기, 세 면 × 2, 두 밑면 + 옆면)의 답이 모두 같아야 합니다. 아이가 편한 방법을 고르게 합니다.
- 원기둥의 전개도에서 옆면의 가로가 밑면의 둘레였던 것과 같은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비교(세 면만 더하기)]
목적: 세 면의 넓이만 더하고 2배 하지 않는 실수(M1)를 찾고, 면이 여섯 개라는 것으로 설명합니다.
시간: 약 2분
이렇게 말해 보세요
- “토끼는 면을 몇 개 더했을까? 직육면체의 면은 몇 개야?”
예상 답
- “곰이요. 토끼는 세 면만 더했어요. 마주 보는 면이 하나씩 더 있어요.”
정답
- 곰이 맞습니다. 직육면체는 면이 6개이고, 넓이가 같은 면이 2개씩 3쌍이므로 세 면의 합에 2를 곱해야 합니다.
- 토끼의 26 cm²는 겉넓이의 절반입니다.
막히면
- 상자에서 토끼가 더한 세 면(위, 앞, 오른쪽)에 스티커를 붙이고, 스티커가 없는 면을 세어 봅니다.
주의
- ‘4 × 3 × 2 = 24’처럼 세 길이를 모두 곱하는 실수도 있습니다. 그것은 겉넓이가 아니라 다음 시간에 배울 부피를 구하는 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연습(직육면체의 겉넓이)]
목적: 도움을 받으며 직육면체의 겉넓이를 두 가지 방법으로 구하고 답이 같은지 확인합니다.
시간: 약 4분
이렇게 말해 보세요
- “①은 위, 앞, 옆면의 넓이를 하나씩 구해 볼래?”
- “②는 세 면의 넓이를 어떻게 하면 겉넓이가 될까?”
- “③은 S05처럼 밑면 두 개와 옆면으로 구해 보자. 밑면의 둘레는 얼마야?”
정답
- ① 위 5 × 4 = 20 cm², 앞 5 × 3 = 15 cm², 옆 4 × 3 = 12 cm²
- ② (20 + 15 + 12) × 2 = 94, 94 cm²
- ③ 밑면 20 × 2 = 40, 옆면 (5 + 4 + 5 + 4) × 3 = 18 × 3 = 54, 40 + 54 = 94, 94 cm²
막히면
- 공책에 전개도를 대충 그리고 면마다 가로와 세로를 써 넣게 합니다.
- 곱셈이 막히면 계산기 대신 세로셈을 함께 합니다.
주의
- ②와 ③의 답이 같으면 바르게 구한 것입니다. 다르면 어느 면을 빠뜨렸는지 함께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정육면체의 겉넓이]
목적: 정육면체는 여섯 면이 모두 합동인 정사각형이므로 겉넓이는 (한 면의 넓이) × 6임을 압니다.
시간: 약 2분
이렇게 말해 보세요
- “정육면체의 면은 모두 어떤 모양이야? 크기는?”
- “한 면의 넓이는 얼마야? 그런 면이 몇 개야?”
예상 답
- “모두 같은 정사각형이에요.”
- “9 cm²짜리가 6개라서 54 cm²예요.”
막히면
- 주사위를 보여 주고 여섯 면을 하나씩 세어 봅니다.
주의
- 정육면체도 직육면체이므로 S04의 방법((9 + 9 + 9) × 2)으로 구해도 같은 답입니다.
- 여기까지가 설명입니다. 지치면 쉬고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연습(정육면체와 직육면체)]
목적: 도움을 받으며 정육면체와 직육면체의 겉넓이를 알맞은 방법으로 구합니다.
시간: 약 3분
이렇게 말해 보세요
- “①은 한 면의 넓이부터 구해 볼래?”
- “②는 서로 다른 세 면의 넓이를 먼저 구하자.”
- “③은 한 면의 넓이를 이미 알아. 겉넓이는?”
정답
- ① 5 × 5 × 6 = 150, 150 cm²
- ② (60 + 40 + 24) × 2 = 248, 248 cm² (10 × 6 = 60, 10 × 4 = 40, 6 × 4 = 24)
- ③ 16 × 6 = 96, 96 cm²
막히면
- ②는 S07의 방법을 그대로 따라 하게 합니다. 세 면의 가로·세로를 공책에 먼저 씁니다.
주의
- 답에 cm²를 붙이게 합니다. 길이(cm)와 넓이(cm²)의 단위가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전개도(목표 ①)와 길이(목표 ②)로 겉넓이를 구하고 방법을 말하는지 봅니다.
시간: 약 5분
이렇게 말해 보세요
- “이번에는 혼자 해 볼래? 다 하면 어떤 방법으로 구했는지 말해 줘.”
정답
- ① 62 cm² ((10 + 15 + 6) × 2 = 62; 면의 넓이 5 × 2 = 10, 5 × 3 = 15, 2 × 3 = 6)
- ② 6 × 6 × 6 = 216, 216 cm²
- ③ (40 + 16 + 10) × 2 = 132, 132 cm² (8 × 5 = 40, 8 × 2 = 16, 5 × 2 = 10)
막히면
- 바로 알려 주지 말고 “넓이가 같은 면은 몇 쌍이었지?”라고만 묻습니다.
- 도움을 받아 해결했다면 기록표에 ‘도움’으로 표시합니다.
주의
- ①은 모눈 칸을 세어 면의 가로와 세로를 먼저 찾아야 합니다. 칸을 모두 세어 62칸을 찾아도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어느 면을 빠뜨렸는지 같이 찾아보자.”
정답
- ① 62 cm² ② 216 cm² ③ 132 cm²
막히면
- 세 면만 더했으면 S06, 정육면체가 틀렸으면 S08을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확인(겉넓이를 구하는 식)]
목적: 처음 보는 식에서 겉넓이를 구하는 식을 판단하고, 식의 각 부분이 어떤 면의 넓이인지 설명하는지 확인합니다.
시간: 약 2분
이렇게 말해 보세요
- “바른 식을 모두 골라 볼래? 다의 4 × 3 × 2는 무엇을 뜻할까?”
정답
- 가, 다
- 가: 서로 다른 세 면의 넓이의 합 × 2 = 52
- 다: 두 밑면(4 × 3을 2개) + 옆면(밑면의 둘레 14 × 높이 2) = 24 + 28 = 52
- 나: 세 길이를 곱한 것(24)으로 겉넓이가 아님
- 라: 세 면만 더한 것(26)
막히면
- 식마다 계산해 S03의 답 52와 같은지 보게 합니다.
주의
- 다의 ‘4 × 3 × 2’는 밑면 두 개의 넓이로, 나와 모양은 같지만 뜻이 다릅니다. 이 차이를 말하면 목표 ①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“직육면체의 겉넓이를 구하는 방법을 두 가지 말해 볼래? 정육면체는?”
예상 답
- “세 면의 넓이를 더해서 2배 해요. 두 밑면과 옆면을 더해도 돼요.” “정육면체는 한 면 × 6이에요.”
정답
- ① 2 × 2 × 6 = 24, 24 cm²
- ② (10 + 5 + 2) × 2 = 34, 34 cm²
- ③ 3쌍
막히면
- S04와 S08을 다시 보여 줍니다.
주의
- 복습 세 문제는 다음 수업을 시작할 때 활동지 마지막 쪽과 함께 풉니다.
- 다음 차시 ‘직육면체의 부피’에서는 정육면체 블록(쌓기나무) 24개쯤과 작은 상자를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보충(직사각형의 넓이)]
목적: S02에서 넓이가 흔들리면, 오늘 내용 전에 1 cm² 칸을 세어 직사각형의 넓이 = 가로 × 세로를 다시 익힙니다.
시간: 약 5분
이렇게 말해 보세요
- “한 칸이 1 cm²야. 한 줄에 몇 칸이고 몇 줄이야? 모두 몇 칸이야?”
- “한 줄에 5칸씩 3줄이니까 5 × 3 = 15. 그래서 넓이는 15 cm²야.”
정답
- 15칸, 15 cm²
막히면
- 모눈종이에 가로 4칸, 세로 2칸 직사각형을 직접 그리고 칸을 셉니다(8 cm²).
- 정사각형은 한 변 × 한 변(4 × 4 = 16)입니다.
주의
- 보충으로도 어려우면 초5 ‘직사각형의 넓이’를 먼저 다시 합니다. 이 차시 바로 앞의 계획 차시는 ‘쌓기나무와 공간 감각’입니다.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겉넓이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겉넓이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직육면체의 겉넓이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겉넓이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빈틈없이 싸려면 종이가 얼마나 필요할까?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가로 4 cm, 세로 3 cm, 높이 2 cm인 직육면체"/>
          <p:cNvSpPr/>
          <p:nvPr/>
        </p:nvSpPr>
        <p:spPr>
          <a:xfrm>
            <a:off x="8181645" y="1796694"/>
            <a:ext cx="2228555" cy="1114278"/>
          </a:xfrm>
          <a:custGeom>
            <a:avLst/>
            <a:gdLst/>
            <a:ahLst/>
            <a:cxnLst/>
            <a:rect l="l" t="t" r="r" b="b"/>
            <a:pathLst>
              <a:path w="2228555" h="1114278">
                <a:moveTo>
                  <a:pt x="0" y="1114278"/>
                </a:moveTo>
                <a:lnTo>
                  <a:pt x="2228555" y="1114278"/>
                </a:lnTo>
                <a:lnTo>
                  <a:pt x="22285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81645" y="1295269"/>
            <a:ext cx="2930550" cy="501425"/>
          </a:xfrm>
          <a:custGeom>
            <a:avLst/>
            <a:gdLst/>
            <a:ahLst/>
            <a:cxnLst/>
            <a:rect l="l" t="t" r="r" b="b"/>
            <a:pathLst>
              <a:path w="2930550" h="501425">
                <a:moveTo>
                  <a:pt x="0" y="501425"/>
                </a:moveTo>
                <a:lnTo>
                  <a:pt x="2228555" y="501425"/>
                </a:lnTo>
                <a:lnTo>
                  <a:pt x="2930550" y="0"/>
                </a:lnTo>
                <a:lnTo>
                  <a:pt x="701995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410200" y="1295269"/>
            <a:ext cx="701995" cy="1615703"/>
          </a:xfrm>
          <a:custGeom>
            <a:avLst/>
            <a:gdLst/>
            <a:ahLst/>
            <a:cxnLst/>
            <a:rect l="l" t="t" r="r" b="b"/>
            <a:pathLst>
              <a:path w="701995" h="1615703">
                <a:moveTo>
                  <a:pt x="0" y="1615703"/>
                </a:moveTo>
                <a:lnTo>
                  <a:pt x="701995" y="1114278"/>
                </a:lnTo>
                <a:lnTo>
                  <a:pt x="701995" y="0"/>
                </a:lnTo>
                <a:lnTo>
                  <a:pt x="0" y="501425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883640" y="2409546"/>
            <a:ext cx="222855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 flipV="1">
            <a:off x="8883640" y="1295269"/>
            <a:ext cx="0" cy="111427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 flipH="1">
            <a:off x="8181645" y="2409546"/>
            <a:ext cx="701995" cy="501425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1-mark8"/>
          <p:cNvSpPr/>
          <p:nvPr/>
        </p:nvSpPr>
        <p:spPr>
          <a:xfrm>
            <a:off x="8181645" y="2910971"/>
            <a:ext cx="2228555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0410200" y="2409546"/>
            <a:ext cx="701995" cy="501425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1112195" y="1295269"/>
            <a:ext cx="0" cy="1114278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01-label12"/>
          <p:cNvSpPr txBox="1"/>
          <p:nvPr/>
        </p:nvSpPr>
        <p:spPr>
          <a:xfrm>
            <a:off x="8914161" y="298780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5" name="S01-label14"/>
          <p:cNvSpPr txBox="1"/>
          <p:nvPr/>
        </p:nvSpPr>
        <p:spPr>
          <a:xfrm>
            <a:off x="10609388" y="280756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6" name="S01-label16"/>
          <p:cNvSpPr txBox="1"/>
          <p:nvPr/>
        </p:nvSpPr>
        <p:spPr>
          <a:xfrm>
            <a:off x="11116005" y="167778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17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8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전개도로 겉넓이 구하는 방법을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직육면체와 정육면체의 겉넓이를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19" descr="직육면체: 보이는 세 면(앞, 위, 오른쪽)을 서로 다른 색으로 칠함. 보이지 않는 모서리는 점선"/>
          <p:cNvSpPr/>
          <p:nvPr/>
        </p:nvSpPr>
        <p:spPr>
          <a:xfrm>
            <a:off x="6553962" y="326898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3657600" y="18288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20"/>
          <p:cNvSpPr/>
          <p:nvPr/>
        </p:nvSpPr>
        <p:spPr>
          <a:xfrm>
            <a:off x="6553962" y="2446020"/>
            <a:ext cx="4809744" cy="822960"/>
          </a:xfrm>
          <a:custGeom>
            <a:avLst/>
            <a:gdLst/>
            <a:ahLst/>
            <a:cxnLst/>
            <a:rect l="l" t="t" r="r" b="b"/>
            <a:pathLst>
              <a:path w="4809744" h="822960">
                <a:moveTo>
                  <a:pt x="0" y="822960"/>
                </a:moveTo>
                <a:lnTo>
                  <a:pt x="3657600" y="822960"/>
                </a:lnTo>
                <a:lnTo>
                  <a:pt x="4809744" y="0"/>
                </a:lnTo>
                <a:lnTo>
                  <a:pt x="115214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2-mark21"/>
          <p:cNvSpPr/>
          <p:nvPr/>
        </p:nvSpPr>
        <p:spPr>
          <a:xfrm>
            <a:off x="10211562" y="2446020"/>
            <a:ext cx="1152144" cy="2651760"/>
          </a:xfrm>
          <a:custGeom>
            <a:avLst/>
            <a:gdLst/>
            <a:ahLst/>
            <a:cxnLst/>
            <a:rect l="l" t="t" r="r" b="b"/>
            <a:pathLst>
              <a:path w="1152144" h="2651760">
                <a:moveTo>
                  <a:pt x="0" y="2651760"/>
                </a:moveTo>
                <a:lnTo>
                  <a:pt x="1152144" y="1828800"/>
                </a:lnTo>
                <a:lnTo>
                  <a:pt x="1152144" y="0"/>
                </a:lnTo>
                <a:lnTo>
                  <a:pt x="0" y="822960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22"/>
          <p:cNvSpPr/>
          <p:nvPr/>
        </p:nvSpPr>
        <p:spPr>
          <a:xfrm>
            <a:off x="7706106" y="427482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2-mark23"/>
          <p:cNvSpPr/>
          <p:nvPr/>
        </p:nvSpPr>
        <p:spPr>
          <a:xfrm flipV="1">
            <a:off x="7706106" y="2446020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2-mark24"/>
          <p:cNvSpPr/>
          <p:nvPr/>
        </p:nvSpPr>
        <p:spPr>
          <a:xfrm flipH="1">
            <a:off x="6553962" y="4274820"/>
            <a:ext cx="1152144" cy="82296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2-mark25"/>
          <p:cNvSpPr/>
          <p:nvPr/>
        </p:nvSpPr>
        <p:spPr>
          <a:xfrm>
            <a:off x="6553962" y="5097780"/>
            <a:ext cx="36576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02-mark26"/>
          <p:cNvSpPr/>
          <p:nvPr/>
        </p:nvSpPr>
        <p:spPr>
          <a:xfrm flipV="1">
            <a:off x="10211562" y="4274820"/>
            <a:ext cx="1152144" cy="82296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02-mark27"/>
          <p:cNvSpPr/>
          <p:nvPr/>
        </p:nvSpPr>
        <p:spPr>
          <a:xfrm flipV="1">
            <a:off x="11363706" y="2446020"/>
            <a:ext cx="0" cy="18288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2-chip2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02-text2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 cm, 세로 3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넓이는?</a:t>
            </a:r>
            <a:endParaRPr lang="ko-KR" sz="2800" dirty="0"/>
          </a:p>
        </p:txBody>
      </p:sp>
      <p:sp>
        <p:nvSpPr>
          <p:cNvPr id="14" name="S02-chip3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2-text3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4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넓이는?</a:t>
            </a:r>
            <a:endParaRPr lang="ko-KR" sz="2800" dirty="0"/>
          </a:p>
        </p:txBody>
      </p:sp>
      <p:sp>
        <p:nvSpPr>
          <p:cNvPr id="16" name="S02-chip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02-text3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직육면체에서 서로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면은 몇 쌍?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겉넓이는 여섯 면의 합</a:t>
            </a:r>
            <a:endParaRPr lang="ko-KR" sz="4000" dirty="0"/>
          </a:p>
        </p:txBody>
      </p:sp>
      <p:sp>
        <p:nvSpPr>
          <p:cNvPr id="3" name="S03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직육면체를 펼쳤어요. 모눈 한 칸은 1 cm²예요.</a:t>
            </a:r>
            <a:endParaRPr lang="ko-KR" sz="2800" dirty="0"/>
          </a:p>
        </p:txBody>
      </p:sp>
      <p:sp>
        <p:nvSpPr>
          <p:cNvPr id="4" name="S03-mark35"/>
          <p:cNvSpPr/>
          <p:nvPr/>
        </p:nvSpPr>
        <p:spPr>
          <a:xfrm>
            <a:off x="104665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3-mark36"/>
          <p:cNvSpPr/>
          <p:nvPr/>
        </p:nvSpPr>
        <p:spPr>
          <a:xfrm>
            <a:off x="266209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6"/>
          </a:solidFill>
          <a:ln/>
        </p:spPr>
      </p:sp>
      <p:sp>
        <p:nvSpPr>
          <p:cNvPr id="6" name="S03-mark37"/>
          <p:cNvSpPr/>
          <p:nvPr/>
        </p:nvSpPr>
        <p:spPr>
          <a:xfrm>
            <a:off x="387367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3-mark38"/>
          <p:cNvSpPr/>
          <p:nvPr/>
        </p:nvSpPr>
        <p:spPr>
          <a:xfrm>
            <a:off x="548911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6"/>
          </a:solidFill>
          <a:ln/>
        </p:spPr>
      </p:sp>
      <p:sp>
        <p:nvSpPr>
          <p:cNvPr id="8" name="S03-mark39"/>
          <p:cNvSpPr/>
          <p:nvPr/>
        </p:nvSpPr>
        <p:spPr>
          <a:xfrm>
            <a:off x="1046653" y="24993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3-mark40"/>
          <p:cNvSpPr/>
          <p:nvPr/>
        </p:nvSpPr>
        <p:spPr>
          <a:xfrm>
            <a:off x="1046653" y="45186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03-mark41"/>
          <p:cNvSpPr/>
          <p:nvPr/>
        </p:nvSpPr>
        <p:spPr>
          <a:xfrm flipV="1">
            <a:off x="6427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42"/>
          <p:cNvSpPr/>
          <p:nvPr/>
        </p:nvSpPr>
        <p:spPr>
          <a:xfrm flipV="1">
            <a:off x="10466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43"/>
          <p:cNvSpPr/>
          <p:nvPr/>
        </p:nvSpPr>
        <p:spPr>
          <a:xfrm flipV="1">
            <a:off x="145051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44"/>
          <p:cNvSpPr/>
          <p:nvPr/>
        </p:nvSpPr>
        <p:spPr>
          <a:xfrm flipV="1">
            <a:off x="185437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45"/>
          <p:cNvSpPr/>
          <p:nvPr/>
        </p:nvSpPr>
        <p:spPr>
          <a:xfrm flipV="1">
            <a:off x="225823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46"/>
          <p:cNvSpPr/>
          <p:nvPr/>
        </p:nvSpPr>
        <p:spPr>
          <a:xfrm flipV="1">
            <a:off x="26620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47"/>
          <p:cNvSpPr/>
          <p:nvPr/>
        </p:nvSpPr>
        <p:spPr>
          <a:xfrm flipV="1">
            <a:off x="30659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48"/>
          <p:cNvSpPr/>
          <p:nvPr/>
        </p:nvSpPr>
        <p:spPr>
          <a:xfrm flipV="1">
            <a:off x="346981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49"/>
          <p:cNvSpPr/>
          <p:nvPr/>
        </p:nvSpPr>
        <p:spPr>
          <a:xfrm flipV="1">
            <a:off x="387367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50"/>
          <p:cNvSpPr/>
          <p:nvPr/>
        </p:nvSpPr>
        <p:spPr>
          <a:xfrm flipV="1">
            <a:off x="427753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51"/>
          <p:cNvSpPr/>
          <p:nvPr/>
        </p:nvSpPr>
        <p:spPr>
          <a:xfrm flipV="1">
            <a:off x="46813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52"/>
          <p:cNvSpPr/>
          <p:nvPr/>
        </p:nvSpPr>
        <p:spPr>
          <a:xfrm flipV="1">
            <a:off x="50852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53"/>
          <p:cNvSpPr/>
          <p:nvPr/>
        </p:nvSpPr>
        <p:spPr>
          <a:xfrm flipV="1">
            <a:off x="548911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54"/>
          <p:cNvSpPr/>
          <p:nvPr/>
        </p:nvSpPr>
        <p:spPr>
          <a:xfrm flipV="1">
            <a:off x="589297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mark55"/>
          <p:cNvSpPr/>
          <p:nvPr/>
        </p:nvSpPr>
        <p:spPr>
          <a:xfrm flipV="1">
            <a:off x="629683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3-mark56"/>
          <p:cNvSpPr/>
          <p:nvPr/>
        </p:nvSpPr>
        <p:spPr>
          <a:xfrm flipV="1">
            <a:off x="67006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3-mark57"/>
          <p:cNvSpPr/>
          <p:nvPr/>
        </p:nvSpPr>
        <p:spPr>
          <a:xfrm flipV="1">
            <a:off x="71045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3-mark58"/>
          <p:cNvSpPr/>
          <p:nvPr/>
        </p:nvSpPr>
        <p:spPr>
          <a:xfrm>
            <a:off x="642793" y="613410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3-mark59"/>
          <p:cNvSpPr/>
          <p:nvPr/>
        </p:nvSpPr>
        <p:spPr>
          <a:xfrm>
            <a:off x="642793" y="573024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3-mark60"/>
          <p:cNvSpPr/>
          <p:nvPr/>
        </p:nvSpPr>
        <p:spPr>
          <a:xfrm>
            <a:off x="642793" y="532638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3-mark61"/>
          <p:cNvSpPr/>
          <p:nvPr/>
        </p:nvSpPr>
        <p:spPr>
          <a:xfrm>
            <a:off x="642793" y="492252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3-mark62"/>
          <p:cNvSpPr/>
          <p:nvPr/>
        </p:nvSpPr>
        <p:spPr>
          <a:xfrm>
            <a:off x="642793" y="451866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3-mark63"/>
          <p:cNvSpPr/>
          <p:nvPr/>
        </p:nvSpPr>
        <p:spPr>
          <a:xfrm>
            <a:off x="642793" y="411480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3-mark64"/>
          <p:cNvSpPr/>
          <p:nvPr/>
        </p:nvSpPr>
        <p:spPr>
          <a:xfrm>
            <a:off x="642793" y="371094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3-mark65"/>
          <p:cNvSpPr/>
          <p:nvPr/>
        </p:nvSpPr>
        <p:spPr>
          <a:xfrm>
            <a:off x="642793" y="330708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3-mark66"/>
          <p:cNvSpPr/>
          <p:nvPr/>
        </p:nvSpPr>
        <p:spPr>
          <a:xfrm>
            <a:off x="642793" y="290322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3-mark67"/>
          <p:cNvSpPr/>
          <p:nvPr/>
        </p:nvSpPr>
        <p:spPr>
          <a:xfrm>
            <a:off x="642793" y="249936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3-mark68"/>
          <p:cNvSpPr/>
          <p:nvPr/>
        </p:nvSpPr>
        <p:spPr>
          <a:xfrm>
            <a:off x="642793" y="209550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3-figure69" descr="가로 4 cm, 세로 3 cm, 높이 2 cm인 직육면체의 전개도(모눈 위). 넓이 12인 면 2개, 8인 면 2개, 6인 면 2개. 같은 넓이의 면은 같은 색"/>
          <p:cNvSpPr/>
          <p:nvPr/>
        </p:nvSpPr>
        <p:spPr>
          <a:xfrm>
            <a:off x="104665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3-mark70"/>
          <p:cNvSpPr/>
          <p:nvPr/>
        </p:nvSpPr>
        <p:spPr>
          <a:xfrm>
            <a:off x="266209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3-mark71"/>
          <p:cNvSpPr/>
          <p:nvPr/>
        </p:nvSpPr>
        <p:spPr>
          <a:xfrm>
            <a:off x="387367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3-mark72"/>
          <p:cNvSpPr/>
          <p:nvPr/>
        </p:nvSpPr>
        <p:spPr>
          <a:xfrm>
            <a:off x="548911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03-mark73"/>
          <p:cNvSpPr/>
          <p:nvPr/>
        </p:nvSpPr>
        <p:spPr>
          <a:xfrm>
            <a:off x="1046653" y="24993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3-mark74"/>
          <p:cNvSpPr/>
          <p:nvPr/>
        </p:nvSpPr>
        <p:spPr>
          <a:xfrm>
            <a:off x="1046653" y="45186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4" name="S03-label76"/>
          <p:cNvSpPr txBox="1"/>
          <p:nvPr/>
        </p:nvSpPr>
        <p:spPr>
          <a:xfrm>
            <a:off x="170730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45" name="S03-label78"/>
          <p:cNvSpPr txBox="1"/>
          <p:nvPr/>
        </p:nvSpPr>
        <p:spPr>
          <a:xfrm>
            <a:off x="312081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46" name="S03-label80"/>
          <p:cNvSpPr txBox="1"/>
          <p:nvPr/>
        </p:nvSpPr>
        <p:spPr>
          <a:xfrm>
            <a:off x="453432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47" name="S03-label82"/>
          <p:cNvSpPr txBox="1"/>
          <p:nvPr/>
        </p:nvSpPr>
        <p:spPr>
          <a:xfrm>
            <a:off x="594783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48" name="S03-label84"/>
          <p:cNvSpPr txBox="1"/>
          <p:nvPr/>
        </p:nvSpPr>
        <p:spPr>
          <a:xfrm>
            <a:off x="1615105" y="293052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49" name="S03-label86"/>
          <p:cNvSpPr txBox="1"/>
          <p:nvPr/>
        </p:nvSpPr>
        <p:spPr>
          <a:xfrm>
            <a:off x="1615105" y="494982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50" name="S03-card87"/>
          <p:cNvSpPr/>
          <p:nvPr/>
        </p:nvSpPr>
        <p:spPr>
          <a:xfrm>
            <a:off x="7564465" y="2812034"/>
            <a:ext cx="4075847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1" name="S03-cardtext88"/>
          <p:cNvSpPr txBox="1"/>
          <p:nvPr/>
        </p:nvSpPr>
        <p:spPr>
          <a:xfrm>
            <a:off x="7838785" y="2949194"/>
            <a:ext cx="3527207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면의 넓이의 합</a:t>
            </a:r>
            <a:endParaRPr lang="ko-KR" sz="2800" dirty="0"/>
          </a:p>
        </p:txBody>
      </p:sp>
      <p:sp>
        <p:nvSpPr>
          <p:cNvPr id="52" name="S03-card89"/>
          <p:cNvSpPr/>
          <p:nvPr/>
        </p:nvSpPr>
        <p:spPr>
          <a:xfrm>
            <a:off x="7564465" y="4220718"/>
            <a:ext cx="40758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3" name="S03-cardtext90"/>
          <p:cNvSpPr txBox="1"/>
          <p:nvPr/>
        </p:nvSpPr>
        <p:spPr>
          <a:xfrm>
            <a:off x="7838785" y="4357878"/>
            <a:ext cx="35272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+ 8 + 6 + 8 + 6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+ 12 = 52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쌍이니까 × 2</a:t>
            </a:r>
            <a:endParaRPr lang="ko-KR" sz="4000" dirty="0"/>
          </a:p>
        </p:txBody>
      </p:sp>
      <p:sp>
        <p:nvSpPr>
          <p:cNvPr id="3" name="S04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 면의 넓이의 합) × 2 = 52 cm²</a:t>
            </a:r>
            <a:endParaRPr lang="ko-KR" sz="2800" dirty="0"/>
          </a:p>
        </p:txBody>
      </p:sp>
      <p:sp>
        <p:nvSpPr>
          <p:cNvPr id="5" name="S04-figure93" descr="가로 4 cm, 세로 3 cm, 높이 2 cm인 직육면체: 위·아래 면, 앞·뒤 면, 양옆 면을 서로 다른 색으로 칠함"/>
          <p:cNvSpPr/>
          <p:nvPr/>
        </p:nvSpPr>
        <p:spPr>
          <a:xfrm>
            <a:off x="7850632" y="2879354"/>
            <a:ext cx="2501137" cy="1250569"/>
          </a:xfrm>
          <a:custGeom>
            <a:avLst/>
            <a:gdLst/>
            <a:ahLst/>
            <a:cxnLst/>
            <a:rect l="l" t="t" r="r" b="b"/>
            <a:pathLst>
              <a:path w="2501137" h="1250569">
                <a:moveTo>
                  <a:pt x="0" y="1250569"/>
                </a:moveTo>
                <a:lnTo>
                  <a:pt x="2501137" y="1250569"/>
                </a:lnTo>
                <a:lnTo>
                  <a:pt x="250113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94"/>
          <p:cNvSpPr/>
          <p:nvPr/>
        </p:nvSpPr>
        <p:spPr>
          <a:xfrm>
            <a:off x="7850632" y="2316598"/>
            <a:ext cx="3288995" cy="562756"/>
          </a:xfrm>
          <a:custGeom>
            <a:avLst/>
            <a:gdLst/>
            <a:ahLst/>
            <a:cxnLst/>
            <a:rect l="l" t="t" r="r" b="b"/>
            <a:pathLst>
              <a:path w="3288995" h="562756">
                <a:moveTo>
                  <a:pt x="0" y="562756"/>
                </a:moveTo>
                <a:lnTo>
                  <a:pt x="2501137" y="562756"/>
                </a:lnTo>
                <a:lnTo>
                  <a:pt x="3288995" y="0"/>
                </a:lnTo>
                <a:lnTo>
                  <a:pt x="787858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95"/>
          <p:cNvSpPr/>
          <p:nvPr/>
        </p:nvSpPr>
        <p:spPr>
          <a:xfrm>
            <a:off x="10351769" y="2316598"/>
            <a:ext cx="787858" cy="1813324"/>
          </a:xfrm>
          <a:custGeom>
            <a:avLst/>
            <a:gdLst/>
            <a:ahLst/>
            <a:cxnLst/>
            <a:rect l="l" t="t" r="r" b="b"/>
            <a:pathLst>
              <a:path w="787858" h="1813324">
                <a:moveTo>
                  <a:pt x="0" y="1813324"/>
                </a:moveTo>
                <a:lnTo>
                  <a:pt x="787858" y="1250569"/>
                </a:lnTo>
                <a:lnTo>
                  <a:pt x="787858" y="0"/>
                </a:lnTo>
                <a:lnTo>
                  <a:pt x="0" y="562756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96"/>
          <p:cNvSpPr/>
          <p:nvPr/>
        </p:nvSpPr>
        <p:spPr>
          <a:xfrm>
            <a:off x="8638490" y="3567166"/>
            <a:ext cx="2501137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97"/>
          <p:cNvSpPr/>
          <p:nvPr/>
        </p:nvSpPr>
        <p:spPr>
          <a:xfrm flipV="1">
            <a:off x="8638490" y="2316598"/>
            <a:ext cx="0" cy="125056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4-mark98"/>
          <p:cNvSpPr/>
          <p:nvPr/>
        </p:nvSpPr>
        <p:spPr>
          <a:xfrm flipH="1">
            <a:off x="7850632" y="3567166"/>
            <a:ext cx="787858" cy="56275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4-mark99"/>
          <p:cNvSpPr/>
          <p:nvPr/>
        </p:nvSpPr>
        <p:spPr>
          <a:xfrm>
            <a:off x="7850632" y="4129922"/>
            <a:ext cx="2501137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4-mark100"/>
          <p:cNvSpPr/>
          <p:nvPr/>
        </p:nvSpPr>
        <p:spPr>
          <a:xfrm flipV="1">
            <a:off x="10351769" y="3567166"/>
            <a:ext cx="787858" cy="562756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04-mark101"/>
          <p:cNvSpPr/>
          <p:nvPr/>
        </p:nvSpPr>
        <p:spPr>
          <a:xfrm flipV="1">
            <a:off x="11139627" y="2316598"/>
            <a:ext cx="0" cy="1250569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04-label103"/>
          <p:cNvSpPr txBox="1"/>
          <p:nvPr/>
        </p:nvSpPr>
        <p:spPr>
          <a:xfrm>
            <a:off x="8719439" y="4206757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5" name="S04-label105"/>
          <p:cNvSpPr txBox="1"/>
          <p:nvPr/>
        </p:nvSpPr>
        <p:spPr>
          <a:xfrm>
            <a:off x="10593888" y="399585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6" name="S04-label107"/>
          <p:cNvSpPr txBox="1"/>
          <p:nvPr/>
        </p:nvSpPr>
        <p:spPr>
          <a:xfrm>
            <a:off x="11143437" y="2767257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17" name="S04-stepno108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04-text109"/>
          <p:cNvSpPr txBox="1"/>
          <p:nvPr/>
        </p:nvSpPr>
        <p:spPr>
          <a:xfrm>
            <a:off x="1325880" y="1879092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위·아래</a:t>
            </a:r>
            <a:endParaRPr lang="ko-KR" sz="2800" dirty="0"/>
          </a:p>
        </p:txBody>
      </p:sp>
      <p:sp>
        <p:nvSpPr>
          <p:cNvPr id="19" name="S04-eqtext110"/>
          <p:cNvSpPr txBox="1"/>
          <p:nvPr/>
        </p:nvSpPr>
        <p:spPr>
          <a:xfrm>
            <a:off x="4281257" y="1879092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800" dirty="0"/>
          </a:p>
        </p:txBody>
      </p:sp>
      <p:sp>
        <p:nvSpPr>
          <p:cNvPr id="20" name="S04-stepno11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1" name="S04-text112"/>
          <p:cNvSpPr txBox="1"/>
          <p:nvPr/>
        </p:nvSpPr>
        <p:spPr>
          <a:xfrm>
            <a:off x="1325880" y="2592324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앞·뒤</a:t>
            </a:r>
            <a:endParaRPr lang="ko-KR" sz="2800" dirty="0"/>
          </a:p>
        </p:txBody>
      </p:sp>
      <p:sp>
        <p:nvSpPr>
          <p:cNvPr id="22" name="S04-eqtext113"/>
          <p:cNvSpPr txBox="1"/>
          <p:nvPr/>
        </p:nvSpPr>
        <p:spPr>
          <a:xfrm>
            <a:off x="4281257" y="2592324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</a:t>
            </a:r>
            <a:endParaRPr lang="ko-KR" sz="2800" dirty="0"/>
          </a:p>
        </p:txBody>
      </p:sp>
      <p:sp>
        <p:nvSpPr>
          <p:cNvPr id="23" name="S04-stepno11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04-text115"/>
          <p:cNvSpPr txBox="1"/>
          <p:nvPr/>
        </p:nvSpPr>
        <p:spPr>
          <a:xfrm>
            <a:off x="1325880" y="3305556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양옆</a:t>
            </a:r>
            <a:endParaRPr lang="ko-KR" sz="2800" dirty="0"/>
          </a:p>
        </p:txBody>
      </p:sp>
      <p:sp>
        <p:nvSpPr>
          <p:cNvPr id="25" name="S04-eqtext116"/>
          <p:cNvSpPr txBox="1"/>
          <p:nvPr/>
        </p:nvSpPr>
        <p:spPr>
          <a:xfrm>
            <a:off x="4281257" y="3305556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= 6</a:t>
            </a:r>
            <a:endParaRPr lang="ko-KR" sz="2800" dirty="0"/>
          </a:p>
        </p:txBody>
      </p:sp>
      <p:sp>
        <p:nvSpPr>
          <p:cNvPr id="26" name="S04-stepno11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7" name="S04-text118"/>
          <p:cNvSpPr txBox="1"/>
          <p:nvPr/>
        </p:nvSpPr>
        <p:spPr>
          <a:xfrm>
            <a:off x="1325880" y="4018788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</a:t>
            </a:r>
            <a:endParaRPr lang="ko-KR" sz="2800" dirty="0"/>
          </a:p>
        </p:txBody>
      </p:sp>
      <p:sp>
        <p:nvSpPr>
          <p:cNvPr id="28" name="S04-eqtext119"/>
          <p:cNvSpPr txBox="1"/>
          <p:nvPr/>
        </p:nvSpPr>
        <p:spPr>
          <a:xfrm>
            <a:off x="4281257" y="4018788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(12 + 8 + 6) × 2 = 52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밑면과 옆면으로</a:t>
            </a:r>
            <a:endParaRPr lang="ko-KR" sz="4000" dirty="0"/>
          </a:p>
        </p:txBody>
      </p:sp>
      <p:sp>
        <p:nvSpPr>
          <p:cNvPr id="3" name="S05-mark120"/>
          <p:cNvSpPr/>
          <p:nvPr/>
        </p:nvSpPr>
        <p:spPr>
          <a:xfrm>
            <a:off x="102420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" name="S05-mark121"/>
          <p:cNvSpPr/>
          <p:nvPr/>
        </p:nvSpPr>
        <p:spPr>
          <a:xfrm>
            <a:off x="2591181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5-mark122"/>
          <p:cNvSpPr/>
          <p:nvPr/>
        </p:nvSpPr>
        <p:spPr>
          <a:xfrm>
            <a:off x="376641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5-mark123"/>
          <p:cNvSpPr/>
          <p:nvPr/>
        </p:nvSpPr>
        <p:spPr>
          <a:xfrm>
            <a:off x="5333390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5-mark124"/>
          <p:cNvSpPr/>
          <p:nvPr/>
        </p:nvSpPr>
        <p:spPr>
          <a:xfrm>
            <a:off x="1024204" y="2204923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5-mark125"/>
          <p:cNvSpPr/>
          <p:nvPr/>
        </p:nvSpPr>
        <p:spPr>
          <a:xfrm>
            <a:off x="1024204" y="4163644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5-mark126"/>
          <p:cNvSpPr/>
          <p:nvPr/>
        </p:nvSpPr>
        <p:spPr>
          <a:xfrm flipV="1">
            <a:off x="632460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27"/>
          <p:cNvSpPr/>
          <p:nvPr/>
        </p:nvSpPr>
        <p:spPr>
          <a:xfrm flipV="1">
            <a:off x="1024204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28"/>
          <p:cNvSpPr/>
          <p:nvPr/>
        </p:nvSpPr>
        <p:spPr>
          <a:xfrm flipV="1">
            <a:off x="1415948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29"/>
          <p:cNvSpPr/>
          <p:nvPr/>
        </p:nvSpPr>
        <p:spPr>
          <a:xfrm flipV="1">
            <a:off x="1807693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30"/>
          <p:cNvSpPr/>
          <p:nvPr/>
        </p:nvSpPr>
        <p:spPr>
          <a:xfrm flipV="1">
            <a:off x="2199437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31"/>
          <p:cNvSpPr/>
          <p:nvPr/>
        </p:nvSpPr>
        <p:spPr>
          <a:xfrm flipV="1">
            <a:off x="2591181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32"/>
          <p:cNvSpPr/>
          <p:nvPr/>
        </p:nvSpPr>
        <p:spPr>
          <a:xfrm flipV="1">
            <a:off x="2982925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33"/>
          <p:cNvSpPr/>
          <p:nvPr/>
        </p:nvSpPr>
        <p:spPr>
          <a:xfrm flipV="1">
            <a:off x="3374669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34"/>
          <p:cNvSpPr/>
          <p:nvPr/>
        </p:nvSpPr>
        <p:spPr>
          <a:xfrm flipV="1">
            <a:off x="3766414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35"/>
          <p:cNvSpPr/>
          <p:nvPr/>
        </p:nvSpPr>
        <p:spPr>
          <a:xfrm flipV="1">
            <a:off x="4158158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36"/>
          <p:cNvSpPr/>
          <p:nvPr/>
        </p:nvSpPr>
        <p:spPr>
          <a:xfrm flipV="1">
            <a:off x="4549902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37"/>
          <p:cNvSpPr/>
          <p:nvPr/>
        </p:nvSpPr>
        <p:spPr>
          <a:xfrm flipV="1">
            <a:off x="4941646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38"/>
          <p:cNvSpPr/>
          <p:nvPr/>
        </p:nvSpPr>
        <p:spPr>
          <a:xfrm flipV="1">
            <a:off x="5333390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39"/>
          <p:cNvSpPr/>
          <p:nvPr/>
        </p:nvSpPr>
        <p:spPr>
          <a:xfrm flipV="1">
            <a:off x="5725135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40"/>
          <p:cNvSpPr/>
          <p:nvPr/>
        </p:nvSpPr>
        <p:spPr>
          <a:xfrm flipV="1">
            <a:off x="6116879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41"/>
          <p:cNvSpPr/>
          <p:nvPr/>
        </p:nvSpPr>
        <p:spPr>
          <a:xfrm flipV="1">
            <a:off x="6508623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42"/>
          <p:cNvSpPr/>
          <p:nvPr/>
        </p:nvSpPr>
        <p:spPr>
          <a:xfrm flipV="1">
            <a:off x="6900367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43"/>
          <p:cNvSpPr/>
          <p:nvPr/>
        </p:nvSpPr>
        <p:spPr>
          <a:xfrm>
            <a:off x="632460" y="5730621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144"/>
          <p:cNvSpPr/>
          <p:nvPr/>
        </p:nvSpPr>
        <p:spPr>
          <a:xfrm>
            <a:off x="632460" y="5338877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145"/>
          <p:cNvSpPr/>
          <p:nvPr/>
        </p:nvSpPr>
        <p:spPr>
          <a:xfrm>
            <a:off x="632460" y="4947133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46"/>
          <p:cNvSpPr/>
          <p:nvPr/>
        </p:nvSpPr>
        <p:spPr>
          <a:xfrm>
            <a:off x="632460" y="4555388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47"/>
          <p:cNvSpPr/>
          <p:nvPr/>
        </p:nvSpPr>
        <p:spPr>
          <a:xfrm>
            <a:off x="632460" y="4163644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48"/>
          <p:cNvSpPr/>
          <p:nvPr/>
        </p:nvSpPr>
        <p:spPr>
          <a:xfrm>
            <a:off x="632460" y="3771900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49"/>
          <p:cNvSpPr/>
          <p:nvPr/>
        </p:nvSpPr>
        <p:spPr>
          <a:xfrm>
            <a:off x="632460" y="3380156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50"/>
          <p:cNvSpPr/>
          <p:nvPr/>
        </p:nvSpPr>
        <p:spPr>
          <a:xfrm>
            <a:off x="632460" y="2988412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51"/>
          <p:cNvSpPr/>
          <p:nvPr/>
        </p:nvSpPr>
        <p:spPr>
          <a:xfrm>
            <a:off x="632460" y="2596667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mark152"/>
          <p:cNvSpPr/>
          <p:nvPr/>
        </p:nvSpPr>
        <p:spPr>
          <a:xfrm>
            <a:off x="632460" y="2204923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5-mark153"/>
          <p:cNvSpPr/>
          <p:nvPr/>
        </p:nvSpPr>
        <p:spPr>
          <a:xfrm>
            <a:off x="632460" y="1813179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5-figure154" descr="전개도에서 옆면 네 개를 이으면 가로 14 cm(4 + 3 + 4 + 3), 세로 2 cm인 직사각형 하나가 됨. 위아래의 밑면은 4 cm × 3 cm"/>
          <p:cNvSpPr/>
          <p:nvPr/>
        </p:nvSpPr>
        <p:spPr>
          <a:xfrm>
            <a:off x="102420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55"/>
          <p:cNvSpPr/>
          <p:nvPr/>
        </p:nvSpPr>
        <p:spPr>
          <a:xfrm>
            <a:off x="2591181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5-mark156"/>
          <p:cNvSpPr/>
          <p:nvPr/>
        </p:nvSpPr>
        <p:spPr>
          <a:xfrm>
            <a:off x="376641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mark157"/>
          <p:cNvSpPr/>
          <p:nvPr/>
        </p:nvSpPr>
        <p:spPr>
          <a:xfrm>
            <a:off x="5333390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5-mark158"/>
          <p:cNvSpPr/>
          <p:nvPr/>
        </p:nvSpPr>
        <p:spPr>
          <a:xfrm>
            <a:off x="1024204" y="2204923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05-mark159"/>
          <p:cNvSpPr/>
          <p:nvPr/>
        </p:nvSpPr>
        <p:spPr>
          <a:xfrm>
            <a:off x="1024204" y="4163644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5-mark160"/>
          <p:cNvSpPr/>
          <p:nvPr/>
        </p:nvSpPr>
        <p:spPr>
          <a:xfrm>
            <a:off x="1024204" y="3380156"/>
            <a:ext cx="5484419" cy="783488"/>
          </a:xfrm>
          <a:custGeom>
            <a:avLst/>
            <a:gdLst/>
            <a:ahLst/>
            <a:cxnLst/>
            <a:rect l="l" t="t" r="r" b="b"/>
            <a:pathLst>
              <a:path w="5484419" h="783488">
                <a:moveTo>
                  <a:pt x="0" y="783488"/>
                </a:moveTo>
                <a:lnTo>
                  <a:pt x="5484419" y="783488"/>
                </a:lnTo>
                <a:lnTo>
                  <a:pt x="5484419" y="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44" name="S05-mark161"/>
          <p:cNvSpPr/>
          <p:nvPr/>
        </p:nvSpPr>
        <p:spPr>
          <a:xfrm>
            <a:off x="1024204" y="3184284"/>
            <a:ext cx="5484419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45" name="S05-label163"/>
          <p:cNvSpPr txBox="1"/>
          <p:nvPr/>
        </p:nvSpPr>
        <p:spPr>
          <a:xfrm>
            <a:off x="1479017" y="261791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46" name="S05-label165"/>
          <p:cNvSpPr txBox="1"/>
          <p:nvPr/>
        </p:nvSpPr>
        <p:spPr>
          <a:xfrm>
            <a:off x="1479017" y="457663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47" name="S05-label167"/>
          <p:cNvSpPr txBox="1"/>
          <p:nvPr/>
        </p:nvSpPr>
        <p:spPr>
          <a:xfrm>
            <a:off x="4221226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48" name="S05-label169"/>
          <p:cNvSpPr txBox="1"/>
          <p:nvPr/>
        </p:nvSpPr>
        <p:spPr>
          <a:xfrm>
            <a:off x="3361258" y="2774612"/>
            <a:ext cx="31607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+ 3 + 4 + 3 = 14 (cm)</a:t>
            </a:r>
            <a:endParaRPr lang="ko-KR" sz="2200" dirty="0"/>
          </a:p>
        </p:txBody>
      </p:sp>
      <p:sp>
        <p:nvSpPr>
          <p:cNvPr id="49" name="S05-card170"/>
          <p:cNvSpPr/>
          <p:nvPr/>
        </p:nvSpPr>
        <p:spPr>
          <a:xfrm>
            <a:off x="7349947" y="160274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5-cardtext171"/>
          <p:cNvSpPr txBox="1"/>
          <p:nvPr/>
        </p:nvSpPr>
        <p:spPr>
          <a:xfrm>
            <a:off x="7624267" y="173990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밑면의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2 = 28</a:t>
            </a:r>
            <a:endParaRPr lang="ko-KR" sz="2800" dirty="0"/>
          </a:p>
        </p:txBody>
      </p:sp>
      <p:sp>
        <p:nvSpPr>
          <p:cNvPr id="51" name="S05-card172"/>
          <p:cNvSpPr/>
          <p:nvPr/>
        </p:nvSpPr>
        <p:spPr>
          <a:xfrm>
            <a:off x="7349947" y="3352292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2" name="S05-cardtext173"/>
          <p:cNvSpPr txBox="1"/>
          <p:nvPr/>
        </p:nvSpPr>
        <p:spPr>
          <a:xfrm>
            <a:off x="7624267" y="3489452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2 = 24</a:t>
            </a:r>
            <a:endParaRPr lang="ko-KR" sz="2800" dirty="0"/>
          </a:p>
        </p:txBody>
      </p:sp>
      <p:sp>
        <p:nvSpPr>
          <p:cNvPr id="53" name="S05-card174"/>
          <p:cNvSpPr/>
          <p:nvPr/>
        </p:nvSpPr>
        <p:spPr>
          <a:xfrm>
            <a:off x="7349947" y="4760976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4" name="S05-cardtext175"/>
          <p:cNvSpPr txBox="1"/>
          <p:nvPr/>
        </p:nvSpPr>
        <p:spPr>
          <a:xfrm>
            <a:off x="7624267" y="4898136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+ 28 = 52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4 cm, 세로 3 cm, 높이 2 cm인 직육면체의 겉넓이는?</a:t>
            </a:r>
            <a:endParaRPr lang="ko-KR" sz="2800" dirty="0"/>
          </a:p>
        </p:txBody>
      </p:sp>
      <p:sp>
        <p:nvSpPr>
          <p:cNvPr id="5" name="S06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토끼는 무엇을 빠뜨렸나요?</a:t>
            </a:r>
            <a:endParaRPr lang="ko-KR" sz="2800" dirty="0"/>
          </a:p>
        </p:txBody>
      </p:sp>
      <p:sp>
        <p:nvSpPr>
          <p:cNvPr id="7" name="S06-chip1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26 cm²</a:t>
            </a:r>
            <a:endParaRPr lang="ko-KR" sz="2200" dirty="0"/>
          </a:p>
        </p:txBody>
      </p:sp>
      <p:sp>
        <p:nvSpPr>
          <p:cNvPr id="8" name="S06-text1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“12 + 8 + 6 = 26이에요.”</a:t>
            </a:r>
            <a:endParaRPr lang="ko-KR" sz="2800" dirty="0"/>
          </a:p>
        </p:txBody>
      </p:sp>
      <p:sp>
        <p:nvSpPr>
          <p:cNvPr id="9" name="S06-chip1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52 cm²</a:t>
            </a:r>
            <a:endParaRPr lang="ko-KR" sz="2200" dirty="0"/>
          </a:p>
        </p:txBody>
      </p:sp>
      <p:sp>
        <p:nvSpPr>
          <p:cNvPr id="10" name="S06-text1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“(12 + 8 + 6) × 2 = 52예요.”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구해 봐요</a:t>
            </a:r>
            <a:endParaRPr lang="ko-KR" sz="4000" dirty="0"/>
          </a:p>
        </p:txBody>
      </p:sp>
      <p:sp>
        <p:nvSpPr>
          <p:cNvPr id="3" name="S07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같은 면이 2개씩 3쌍이에요.</a:t>
            </a:r>
            <a:endParaRPr lang="ko-KR" sz="2800" dirty="0"/>
          </a:p>
        </p:txBody>
      </p:sp>
      <p:sp>
        <p:nvSpPr>
          <p:cNvPr id="5" name="S07-figure186" descr="가로 5 cm, 세로 4 cm, 높이 3 cm인 직육면체"/>
          <p:cNvSpPr/>
          <p:nvPr/>
        </p:nvSpPr>
        <p:spPr>
          <a:xfrm>
            <a:off x="6778041" y="2635621"/>
            <a:ext cx="3264660" cy="1958796"/>
          </a:xfrm>
          <a:custGeom>
            <a:avLst/>
            <a:gdLst/>
            <a:ahLst/>
            <a:cxnLst/>
            <a:rect l="l" t="t" r="r" b="b"/>
            <a:pathLst>
              <a:path w="3264660" h="1958796">
                <a:moveTo>
                  <a:pt x="0" y="1958796"/>
                </a:moveTo>
                <a:lnTo>
                  <a:pt x="3264660" y="1958796"/>
                </a:lnTo>
                <a:lnTo>
                  <a:pt x="32646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87"/>
          <p:cNvSpPr/>
          <p:nvPr/>
        </p:nvSpPr>
        <p:spPr>
          <a:xfrm>
            <a:off x="6778041" y="1852103"/>
            <a:ext cx="4361586" cy="783519"/>
          </a:xfrm>
          <a:custGeom>
            <a:avLst/>
            <a:gdLst/>
            <a:ahLst/>
            <a:cxnLst/>
            <a:rect l="l" t="t" r="r" b="b"/>
            <a:pathLst>
              <a:path w="4361586" h="783519">
                <a:moveTo>
                  <a:pt x="0" y="783519"/>
                </a:moveTo>
                <a:lnTo>
                  <a:pt x="3264660" y="783519"/>
                </a:lnTo>
                <a:lnTo>
                  <a:pt x="4361586" y="0"/>
                </a:lnTo>
                <a:lnTo>
                  <a:pt x="109692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88"/>
          <p:cNvSpPr/>
          <p:nvPr/>
        </p:nvSpPr>
        <p:spPr>
          <a:xfrm>
            <a:off x="10042701" y="1852103"/>
            <a:ext cx="1096926" cy="2742315"/>
          </a:xfrm>
          <a:custGeom>
            <a:avLst/>
            <a:gdLst/>
            <a:ahLst/>
            <a:cxnLst/>
            <a:rect l="l" t="t" r="r" b="b"/>
            <a:pathLst>
              <a:path w="1096926" h="2742315">
                <a:moveTo>
                  <a:pt x="0" y="2742315"/>
                </a:moveTo>
                <a:lnTo>
                  <a:pt x="1096926" y="1958796"/>
                </a:lnTo>
                <a:lnTo>
                  <a:pt x="1096926" y="0"/>
                </a:lnTo>
                <a:lnTo>
                  <a:pt x="0" y="783519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189"/>
          <p:cNvSpPr/>
          <p:nvPr/>
        </p:nvSpPr>
        <p:spPr>
          <a:xfrm>
            <a:off x="7874967" y="3810899"/>
            <a:ext cx="32646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7-mark190"/>
          <p:cNvSpPr/>
          <p:nvPr/>
        </p:nvSpPr>
        <p:spPr>
          <a:xfrm flipV="1">
            <a:off x="7874967" y="1852103"/>
            <a:ext cx="0" cy="19587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7-mark191"/>
          <p:cNvSpPr/>
          <p:nvPr/>
        </p:nvSpPr>
        <p:spPr>
          <a:xfrm flipH="1">
            <a:off x="6778041" y="3810899"/>
            <a:ext cx="1096926" cy="78351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7-mark192"/>
          <p:cNvSpPr/>
          <p:nvPr/>
        </p:nvSpPr>
        <p:spPr>
          <a:xfrm>
            <a:off x="6778041" y="4594417"/>
            <a:ext cx="326466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7-mark193"/>
          <p:cNvSpPr/>
          <p:nvPr/>
        </p:nvSpPr>
        <p:spPr>
          <a:xfrm flipV="1">
            <a:off x="10042701" y="3810899"/>
            <a:ext cx="1096926" cy="783519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07-mark194"/>
          <p:cNvSpPr/>
          <p:nvPr/>
        </p:nvSpPr>
        <p:spPr>
          <a:xfrm flipV="1">
            <a:off x="11139627" y="1852103"/>
            <a:ext cx="0" cy="1958796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07-label196"/>
          <p:cNvSpPr txBox="1"/>
          <p:nvPr/>
        </p:nvSpPr>
        <p:spPr>
          <a:xfrm>
            <a:off x="8028609" y="467125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15" name="S07-label198"/>
          <p:cNvSpPr txBox="1"/>
          <p:nvPr/>
        </p:nvSpPr>
        <p:spPr>
          <a:xfrm>
            <a:off x="10439354" y="434996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6" name="S07-label200"/>
          <p:cNvSpPr txBox="1"/>
          <p:nvPr/>
        </p:nvSpPr>
        <p:spPr>
          <a:xfrm>
            <a:off x="11143437" y="265687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7" name="S07-chip20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7-text202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세 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각각?</a:t>
            </a:r>
            <a:endParaRPr lang="ko-KR" sz="2800" dirty="0"/>
          </a:p>
        </p:txBody>
      </p:sp>
      <p:sp>
        <p:nvSpPr>
          <p:cNvPr id="19" name="S07-chip20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7-text204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겉넓이는?</a:t>
            </a:r>
            <a:endParaRPr lang="ko-KR" sz="2800" dirty="0"/>
          </a:p>
        </p:txBody>
      </p:sp>
      <p:sp>
        <p:nvSpPr>
          <p:cNvPr id="21" name="S07-chip20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7-text206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둘레를 이용해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구해 보면?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겉넓이</a:t>
            </a:r>
            <a:endParaRPr lang="ko-KR" sz="4000" dirty="0"/>
          </a:p>
        </p:txBody>
      </p:sp>
      <p:sp>
        <p:nvSpPr>
          <p:cNvPr id="3" name="S08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3 cm인 정육면체의 전개도예요.</a:t>
            </a:r>
            <a:endParaRPr lang="ko-KR" sz="2800" dirty="0"/>
          </a:p>
        </p:txBody>
      </p:sp>
      <p:sp>
        <p:nvSpPr>
          <p:cNvPr id="4" name="S08-mark208"/>
          <p:cNvSpPr/>
          <p:nvPr/>
        </p:nvSpPr>
        <p:spPr>
          <a:xfrm>
            <a:off x="2396829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8-mark209"/>
          <p:cNvSpPr/>
          <p:nvPr/>
        </p:nvSpPr>
        <p:spPr>
          <a:xfrm>
            <a:off x="2396829" y="2462645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8-mark210"/>
          <p:cNvSpPr/>
          <p:nvPr/>
        </p:nvSpPr>
        <p:spPr>
          <a:xfrm>
            <a:off x="2396829" y="4665518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8-mark211"/>
          <p:cNvSpPr/>
          <p:nvPr/>
        </p:nvSpPr>
        <p:spPr>
          <a:xfrm>
            <a:off x="1295393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8-mark212"/>
          <p:cNvSpPr/>
          <p:nvPr/>
        </p:nvSpPr>
        <p:spPr>
          <a:xfrm>
            <a:off x="3498266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8-mark213"/>
          <p:cNvSpPr/>
          <p:nvPr/>
        </p:nvSpPr>
        <p:spPr>
          <a:xfrm>
            <a:off x="4599702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08-mark214"/>
          <p:cNvSpPr/>
          <p:nvPr/>
        </p:nvSpPr>
        <p:spPr>
          <a:xfrm flipV="1">
            <a:off x="928248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15"/>
          <p:cNvSpPr/>
          <p:nvPr/>
        </p:nvSpPr>
        <p:spPr>
          <a:xfrm flipV="1">
            <a:off x="12953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16"/>
          <p:cNvSpPr/>
          <p:nvPr/>
        </p:nvSpPr>
        <p:spPr>
          <a:xfrm flipV="1">
            <a:off x="1662539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17"/>
          <p:cNvSpPr/>
          <p:nvPr/>
        </p:nvSpPr>
        <p:spPr>
          <a:xfrm flipV="1">
            <a:off x="2029684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18"/>
          <p:cNvSpPr/>
          <p:nvPr/>
        </p:nvSpPr>
        <p:spPr>
          <a:xfrm flipV="1">
            <a:off x="2396829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19"/>
          <p:cNvSpPr/>
          <p:nvPr/>
        </p:nvSpPr>
        <p:spPr>
          <a:xfrm flipV="1">
            <a:off x="2763975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20"/>
          <p:cNvSpPr/>
          <p:nvPr/>
        </p:nvSpPr>
        <p:spPr>
          <a:xfrm flipV="1">
            <a:off x="3131120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21"/>
          <p:cNvSpPr/>
          <p:nvPr/>
        </p:nvSpPr>
        <p:spPr>
          <a:xfrm flipV="1">
            <a:off x="3498266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22"/>
          <p:cNvSpPr/>
          <p:nvPr/>
        </p:nvSpPr>
        <p:spPr>
          <a:xfrm flipV="1">
            <a:off x="3865411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23"/>
          <p:cNvSpPr/>
          <p:nvPr/>
        </p:nvSpPr>
        <p:spPr>
          <a:xfrm flipV="1">
            <a:off x="4232557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24"/>
          <p:cNvSpPr/>
          <p:nvPr/>
        </p:nvSpPr>
        <p:spPr>
          <a:xfrm flipV="1">
            <a:off x="4599702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225"/>
          <p:cNvSpPr/>
          <p:nvPr/>
        </p:nvSpPr>
        <p:spPr>
          <a:xfrm flipV="1">
            <a:off x="4966848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226"/>
          <p:cNvSpPr/>
          <p:nvPr/>
        </p:nvSpPr>
        <p:spPr>
          <a:xfrm flipV="1">
            <a:off x="53339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227"/>
          <p:cNvSpPr/>
          <p:nvPr/>
        </p:nvSpPr>
        <p:spPr>
          <a:xfrm flipV="1">
            <a:off x="5701139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228"/>
          <p:cNvSpPr/>
          <p:nvPr/>
        </p:nvSpPr>
        <p:spPr>
          <a:xfrm flipV="1">
            <a:off x="6068284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229"/>
          <p:cNvSpPr/>
          <p:nvPr/>
        </p:nvSpPr>
        <p:spPr>
          <a:xfrm>
            <a:off x="928248" y="6134100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230"/>
          <p:cNvSpPr/>
          <p:nvPr/>
        </p:nvSpPr>
        <p:spPr>
          <a:xfrm>
            <a:off x="928248" y="5766955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mark231"/>
          <p:cNvSpPr/>
          <p:nvPr/>
        </p:nvSpPr>
        <p:spPr>
          <a:xfrm>
            <a:off x="928248" y="5399809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8-mark232"/>
          <p:cNvSpPr/>
          <p:nvPr/>
        </p:nvSpPr>
        <p:spPr>
          <a:xfrm>
            <a:off x="928248" y="5032664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8-mark233"/>
          <p:cNvSpPr/>
          <p:nvPr/>
        </p:nvSpPr>
        <p:spPr>
          <a:xfrm>
            <a:off x="928248" y="4665518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8-mark234"/>
          <p:cNvSpPr/>
          <p:nvPr/>
        </p:nvSpPr>
        <p:spPr>
          <a:xfrm>
            <a:off x="928248" y="4298373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8-mark235"/>
          <p:cNvSpPr/>
          <p:nvPr/>
        </p:nvSpPr>
        <p:spPr>
          <a:xfrm>
            <a:off x="928248" y="3931227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8-mark236"/>
          <p:cNvSpPr/>
          <p:nvPr/>
        </p:nvSpPr>
        <p:spPr>
          <a:xfrm>
            <a:off x="928248" y="3564082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8-mark237"/>
          <p:cNvSpPr/>
          <p:nvPr/>
        </p:nvSpPr>
        <p:spPr>
          <a:xfrm>
            <a:off x="928248" y="3196936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8-mark238"/>
          <p:cNvSpPr/>
          <p:nvPr/>
        </p:nvSpPr>
        <p:spPr>
          <a:xfrm>
            <a:off x="928248" y="2829791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8-mark239"/>
          <p:cNvSpPr/>
          <p:nvPr/>
        </p:nvSpPr>
        <p:spPr>
          <a:xfrm>
            <a:off x="928248" y="2462645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8-mark240"/>
          <p:cNvSpPr/>
          <p:nvPr/>
        </p:nvSpPr>
        <p:spPr>
          <a:xfrm>
            <a:off x="928248" y="2095500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8-figure241" descr="한 모서리가 3 cm인 정육면체의 전개도(모눈 위): 넓이 9 cm²인 정사각형 6개"/>
          <p:cNvSpPr/>
          <p:nvPr/>
        </p:nvSpPr>
        <p:spPr>
          <a:xfrm>
            <a:off x="2396829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8-mark242"/>
          <p:cNvSpPr/>
          <p:nvPr/>
        </p:nvSpPr>
        <p:spPr>
          <a:xfrm>
            <a:off x="2396829" y="2462645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8-mark243"/>
          <p:cNvSpPr/>
          <p:nvPr/>
        </p:nvSpPr>
        <p:spPr>
          <a:xfrm>
            <a:off x="2396829" y="4665518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8-mark244"/>
          <p:cNvSpPr/>
          <p:nvPr/>
        </p:nvSpPr>
        <p:spPr>
          <a:xfrm>
            <a:off x="1295393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8-mark245"/>
          <p:cNvSpPr/>
          <p:nvPr/>
        </p:nvSpPr>
        <p:spPr>
          <a:xfrm>
            <a:off x="3498266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08-mark246"/>
          <p:cNvSpPr/>
          <p:nvPr/>
        </p:nvSpPr>
        <p:spPr>
          <a:xfrm>
            <a:off x="4599702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8-label248"/>
          <p:cNvSpPr txBox="1"/>
          <p:nvPr/>
        </p:nvSpPr>
        <p:spPr>
          <a:xfrm>
            <a:off x="2800482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4" name="S08-label250"/>
          <p:cNvSpPr txBox="1"/>
          <p:nvPr/>
        </p:nvSpPr>
        <p:spPr>
          <a:xfrm>
            <a:off x="2800482" y="283873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5" name="S08-label252"/>
          <p:cNvSpPr txBox="1"/>
          <p:nvPr/>
        </p:nvSpPr>
        <p:spPr>
          <a:xfrm>
            <a:off x="2800482" y="504161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6" name="S08-label254"/>
          <p:cNvSpPr txBox="1"/>
          <p:nvPr/>
        </p:nvSpPr>
        <p:spPr>
          <a:xfrm>
            <a:off x="1699045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7" name="S08-label256"/>
          <p:cNvSpPr txBox="1"/>
          <p:nvPr/>
        </p:nvSpPr>
        <p:spPr>
          <a:xfrm>
            <a:off x="3901918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8" name="S08-label258"/>
          <p:cNvSpPr txBox="1"/>
          <p:nvPr/>
        </p:nvSpPr>
        <p:spPr>
          <a:xfrm>
            <a:off x="5003354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9" name="S08-card259"/>
          <p:cNvSpPr/>
          <p:nvPr/>
        </p:nvSpPr>
        <p:spPr>
          <a:xfrm>
            <a:off x="6813652" y="2976118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8-cardtext260"/>
          <p:cNvSpPr txBox="1"/>
          <p:nvPr/>
        </p:nvSpPr>
        <p:spPr>
          <a:xfrm>
            <a:off x="7087972" y="3113278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면이 모두 합동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면의 넓이 × 6</a:t>
            </a:r>
            <a:endParaRPr lang="ko-KR" sz="2800" dirty="0"/>
          </a:p>
        </p:txBody>
      </p:sp>
      <p:sp>
        <p:nvSpPr>
          <p:cNvPr id="51" name="S08-card261"/>
          <p:cNvSpPr/>
          <p:nvPr/>
        </p:nvSpPr>
        <p:spPr>
          <a:xfrm>
            <a:off x="6813652" y="4384802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2" name="S08-cardtext262"/>
          <p:cNvSpPr txBox="1"/>
          <p:nvPr/>
        </p:nvSpPr>
        <p:spPr>
          <a:xfrm>
            <a:off x="7087972" y="4521962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3 × 6 = 54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 구하기</a:t>
            </a:r>
            <a:endParaRPr lang="ko-KR" sz="4000" dirty="0"/>
          </a:p>
        </p:txBody>
      </p:sp>
      <p:sp>
        <p:nvSpPr>
          <p:cNvPr id="3" name="S09-text2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겉넓이를 구해요.</a:t>
            </a:r>
            <a:endParaRPr lang="ko-KR" sz="2800" dirty="0"/>
          </a:p>
        </p:txBody>
      </p:sp>
      <p:sp>
        <p:nvSpPr>
          <p:cNvPr id="4" name="S09-card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정육면체는 한 면 × 6, 직육면체는 세 면의 합 × 2</a:t>
            </a:r>
            <a:endParaRPr lang="ko-KR" sz="2800" dirty="0"/>
          </a:p>
        </p:txBody>
      </p:sp>
      <p:sp>
        <p:nvSpPr>
          <p:cNvPr id="6" name="S09-chip2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26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5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8" name="S09-chip26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26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10 cm, 세로 6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4 cm인 직육면체</a:t>
            </a:r>
            <a:endParaRPr lang="ko-KR" sz="2800" dirty="0"/>
          </a:p>
        </p:txBody>
      </p:sp>
      <p:sp>
        <p:nvSpPr>
          <p:cNvPr id="10" name="S09-chip2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27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면의 넓이가 16 cm²인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겉넓이를 구하고, 어떻게 구했는지 말해요.</a:t>
            </a:r>
            <a:endParaRPr lang="ko-KR" sz="2800" dirty="0"/>
          </a:p>
        </p:txBody>
      </p:sp>
      <p:sp>
        <p:nvSpPr>
          <p:cNvPr id="4" name="S10-mark273"/>
          <p:cNvSpPr/>
          <p:nvPr/>
        </p:nvSpPr>
        <p:spPr>
          <a:xfrm>
            <a:off x="6685883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10-mark274"/>
          <p:cNvSpPr/>
          <p:nvPr/>
        </p:nvSpPr>
        <p:spPr>
          <a:xfrm>
            <a:off x="830942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6"/>
          </a:solidFill>
          <a:ln/>
        </p:spPr>
      </p:sp>
      <p:sp>
        <p:nvSpPr>
          <p:cNvPr id="6" name="S10-mark275"/>
          <p:cNvSpPr/>
          <p:nvPr/>
        </p:nvSpPr>
        <p:spPr>
          <a:xfrm>
            <a:off x="8958834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10-mark276"/>
          <p:cNvSpPr/>
          <p:nvPr/>
        </p:nvSpPr>
        <p:spPr>
          <a:xfrm>
            <a:off x="1058237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6"/>
          </a:solidFill>
          <a:ln/>
        </p:spPr>
      </p:sp>
      <p:sp>
        <p:nvSpPr>
          <p:cNvPr id="8" name="S10-mark277"/>
          <p:cNvSpPr/>
          <p:nvPr/>
        </p:nvSpPr>
        <p:spPr>
          <a:xfrm>
            <a:off x="6685883" y="2978325"/>
            <a:ext cx="1623536" cy="649415"/>
          </a:xfrm>
          <a:custGeom>
            <a:avLst/>
            <a:gdLst/>
            <a:ahLst/>
            <a:cxnLst/>
            <a:rect l="l" t="t" r="r" b="b"/>
            <a:pathLst>
              <a:path w="1623536" h="649415">
                <a:moveTo>
                  <a:pt x="0" y="649415"/>
                </a:moveTo>
                <a:lnTo>
                  <a:pt x="1623536" y="649415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10-mark278"/>
          <p:cNvSpPr/>
          <p:nvPr/>
        </p:nvSpPr>
        <p:spPr>
          <a:xfrm>
            <a:off x="6685883" y="4601861"/>
            <a:ext cx="1623536" cy="649414"/>
          </a:xfrm>
          <a:custGeom>
            <a:avLst/>
            <a:gdLst/>
            <a:ahLst/>
            <a:cxnLst/>
            <a:rect l="l" t="t" r="r" b="b"/>
            <a:pathLst>
              <a:path w="1623536" h="649414">
                <a:moveTo>
                  <a:pt x="0" y="649414"/>
                </a:moveTo>
                <a:lnTo>
                  <a:pt x="1623536" y="649414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10-mark279"/>
          <p:cNvSpPr/>
          <p:nvPr/>
        </p:nvSpPr>
        <p:spPr>
          <a:xfrm flipV="1">
            <a:off x="6361176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280"/>
          <p:cNvSpPr/>
          <p:nvPr/>
        </p:nvSpPr>
        <p:spPr>
          <a:xfrm flipV="1">
            <a:off x="6685883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281"/>
          <p:cNvSpPr/>
          <p:nvPr/>
        </p:nvSpPr>
        <p:spPr>
          <a:xfrm flipV="1">
            <a:off x="7010591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282"/>
          <p:cNvSpPr/>
          <p:nvPr/>
        </p:nvSpPr>
        <p:spPr>
          <a:xfrm flipV="1">
            <a:off x="7335298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283"/>
          <p:cNvSpPr/>
          <p:nvPr/>
        </p:nvSpPr>
        <p:spPr>
          <a:xfrm flipV="1">
            <a:off x="7660005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284"/>
          <p:cNvSpPr/>
          <p:nvPr/>
        </p:nvSpPr>
        <p:spPr>
          <a:xfrm flipV="1">
            <a:off x="7984712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285"/>
          <p:cNvSpPr/>
          <p:nvPr/>
        </p:nvSpPr>
        <p:spPr>
          <a:xfrm flipV="1">
            <a:off x="8309420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286"/>
          <p:cNvSpPr/>
          <p:nvPr/>
        </p:nvSpPr>
        <p:spPr>
          <a:xfrm flipV="1">
            <a:off x="8634127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287"/>
          <p:cNvSpPr/>
          <p:nvPr/>
        </p:nvSpPr>
        <p:spPr>
          <a:xfrm flipV="1">
            <a:off x="8958834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288"/>
          <p:cNvSpPr/>
          <p:nvPr/>
        </p:nvSpPr>
        <p:spPr>
          <a:xfrm flipV="1">
            <a:off x="9283541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289"/>
          <p:cNvSpPr/>
          <p:nvPr/>
        </p:nvSpPr>
        <p:spPr>
          <a:xfrm flipV="1">
            <a:off x="9608249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290"/>
          <p:cNvSpPr/>
          <p:nvPr/>
        </p:nvSpPr>
        <p:spPr>
          <a:xfrm flipV="1">
            <a:off x="9932956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291"/>
          <p:cNvSpPr/>
          <p:nvPr/>
        </p:nvSpPr>
        <p:spPr>
          <a:xfrm flipV="1">
            <a:off x="10257663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292"/>
          <p:cNvSpPr/>
          <p:nvPr/>
        </p:nvSpPr>
        <p:spPr>
          <a:xfrm flipV="1">
            <a:off x="10582370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293"/>
          <p:cNvSpPr/>
          <p:nvPr/>
        </p:nvSpPr>
        <p:spPr>
          <a:xfrm flipV="1">
            <a:off x="10907078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294"/>
          <p:cNvSpPr/>
          <p:nvPr/>
        </p:nvSpPr>
        <p:spPr>
          <a:xfrm flipV="1">
            <a:off x="11231785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295"/>
          <p:cNvSpPr/>
          <p:nvPr/>
        </p:nvSpPr>
        <p:spPr>
          <a:xfrm flipV="1">
            <a:off x="11556492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296"/>
          <p:cNvSpPr/>
          <p:nvPr/>
        </p:nvSpPr>
        <p:spPr>
          <a:xfrm>
            <a:off x="6361176" y="5575983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97"/>
          <p:cNvSpPr/>
          <p:nvPr/>
        </p:nvSpPr>
        <p:spPr>
          <a:xfrm>
            <a:off x="6361176" y="5251275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98"/>
          <p:cNvSpPr/>
          <p:nvPr/>
        </p:nvSpPr>
        <p:spPr>
          <a:xfrm>
            <a:off x="6361176" y="4926568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299"/>
          <p:cNvSpPr/>
          <p:nvPr/>
        </p:nvSpPr>
        <p:spPr>
          <a:xfrm>
            <a:off x="6361176" y="4601861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mark300"/>
          <p:cNvSpPr/>
          <p:nvPr/>
        </p:nvSpPr>
        <p:spPr>
          <a:xfrm>
            <a:off x="6361176" y="4277154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mark301"/>
          <p:cNvSpPr/>
          <p:nvPr/>
        </p:nvSpPr>
        <p:spPr>
          <a:xfrm>
            <a:off x="6361176" y="3952446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0-mark302"/>
          <p:cNvSpPr/>
          <p:nvPr/>
        </p:nvSpPr>
        <p:spPr>
          <a:xfrm>
            <a:off x="6361176" y="3627739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0-mark303"/>
          <p:cNvSpPr/>
          <p:nvPr/>
        </p:nvSpPr>
        <p:spPr>
          <a:xfrm>
            <a:off x="6361176" y="3303032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0-mark304"/>
          <p:cNvSpPr/>
          <p:nvPr/>
        </p:nvSpPr>
        <p:spPr>
          <a:xfrm>
            <a:off x="6361176" y="2978325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0-mark305"/>
          <p:cNvSpPr/>
          <p:nvPr/>
        </p:nvSpPr>
        <p:spPr>
          <a:xfrm>
            <a:off x="6361176" y="2653617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0-figure306" descr="모눈 위 직육면체의 전개도: 가로 5칸·세로 2칸인 면 2개, 가로 5칸·세로 3칸인 면 2개, 가로 2칸·세로 3칸인 면 2개"/>
          <p:cNvSpPr/>
          <p:nvPr/>
        </p:nvSpPr>
        <p:spPr>
          <a:xfrm>
            <a:off x="6685883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10-mark307"/>
          <p:cNvSpPr/>
          <p:nvPr/>
        </p:nvSpPr>
        <p:spPr>
          <a:xfrm>
            <a:off x="830942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10-mark308"/>
          <p:cNvSpPr/>
          <p:nvPr/>
        </p:nvSpPr>
        <p:spPr>
          <a:xfrm>
            <a:off x="8958834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10-mark309"/>
          <p:cNvSpPr/>
          <p:nvPr/>
        </p:nvSpPr>
        <p:spPr>
          <a:xfrm>
            <a:off x="1058237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10-mark310"/>
          <p:cNvSpPr/>
          <p:nvPr/>
        </p:nvSpPr>
        <p:spPr>
          <a:xfrm>
            <a:off x="6685883" y="2978325"/>
            <a:ext cx="1623536" cy="649415"/>
          </a:xfrm>
          <a:custGeom>
            <a:avLst/>
            <a:gdLst/>
            <a:ahLst/>
            <a:cxnLst/>
            <a:rect l="l" t="t" r="r" b="b"/>
            <a:pathLst>
              <a:path w="1623536" h="649415">
                <a:moveTo>
                  <a:pt x="0" y="649415"/>
                </a:moveTo>
                <a:lnTo>
                  <a:pt x="1623536" y="649415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10-mark311"/>
          <p:cNvSpPr/>
          <p:nvPr/>
        </p:nvSpPr>
        <p:spPr>
          <a:xfrm>
            <a:off x="6685883" y="4601861"/>
            <a:ext cx="1623536" cy="649414"/>
          </a:xfrm>
          <a:custGeom>
            <a:avLst/>
            <a:gdLst/>
            <a:ahLst/>
            <a:cxnLst/>
            <a:rect l="l" t="t" r="r" b="b"/>
            <a:pathLst>
              <a:path w="1623536" h="649414">
                <a:moveTo>
                  <a:pt x="0" y="649414"/>
                </a:moveTo>
                <a:lnTo>
                  <a:pt x="1623536" y="649414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10-chip31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4" name="S10-text31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전개도로 만든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직육면체(한 칸 1 cm²)</a:t>
            </a:r>
            <a:endParaRPr lang="ko-KR" sz="2800" dirty="0"/>
          </a:p>
        </p:txBody>
      </p:sp>
      <p:sp>
        <p:nvSpPr>
          <p:cNvPr id="45" name="S10-chip31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6" name="S10-text31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6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47" name="S10-chip31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8" name="S10-text31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8 cm, 세로 5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2 cm인 직육면체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3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전개도를 그려 면이 여섯 개인지 확인하게 하세요.</a:t>
            </a:r>
            <a:endParaRPr lang="ko-KR" sz="2800" dirty="0"/>
          </a:p>
        </p:txBody>
      </p:sp>
      <p:sp>
        <p:nvSpPr>
          <p:cNvPr id="5" name="S11-chip32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321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62 cm²</a:t>
            </a:r>
            <a:endParaRPr lang="ko-KR" sz="2800" dirty="0"/>
          </a:p>
        </p:txBody>
      </p:sp>
      <p:sp>
        <p:nvSpPr>
          <p:cNvPr id="7" name="S11-text322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(10 + 15 + 6) × 2</a:t>
            </a:r>
            <a:endParaRPr lang="ko-KR" sz="2200" dirty="0"/>
          </a:p>
        </p:txBody>
      </p:sp>
      <p:sp>
        <p:nvSpPr>
          <p:cNvPr id="8" name="S11-text32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216 cm²</a:t>
            </a:r>
            <a:endParaRPr lang="ko-KR" sz="2800" dirty="0"/>
          </a:p>
        </p:txBody>
      </p:sp>
      <p:sp>
        <p:nvSpPr>
          <p:cNvPr id="9" name="S11-text32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× 6</a:t>
            </a:r>
            <a:endParaRPr lang="ko-KR" sz="2200" dirty="0"/>
          </a:p>
        </p:txBody>
      </p:sp>
      <p:sp>
        <p:nvSpPr>
          <p:cNvPr id="10" name="S11-text32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132 cm²</a:t>
            </a:r>
            <a:endParaRPr lang="ko-KR" sz="2800" dirty="0"/>
          </a:p>
        </p:txBody>
      </p:sp>
      <p:sp>
        <p:nvSpPr>
          <p:cNvPr id="11" name="S11-text32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(40 + 16 + 10) × 2</a:t>
            </a:r>
            <a:endParaRPr lang="ko-KR" sz="2200" dirty="0"/>
          </a:p>
        </p:txBody>
      </p:sp>
      <p:sp>
        <p:nvSpPr>
          <p:cNvPr id="12" name="S11-chip32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32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66 cm²</a:t>
            </a:r>
            <a:endParaRPr lang="ko-KR" sz="2800" dirty="0"/>
          </a:p>
        </p:txBody>
      </p:sp>
      <p:sp>
        <p:nvSpPr>
          <p:cNvPr id="14" name="S11-text32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면만 더함</a:t>
            </a:r>
            <a:endParaRPr lang="ko-KR" sz="2200" dirty="0"/>
          </a:p>
        </p:txBody>
      </p:sp>
      <p:sp>
        <p:nvSpPr>
          <p:cNvPr id="15" name="S11-text33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80 cm²</a:t>
            </a:r>
            <a:endParaRPr lang="ko-KR" sz="2800" dirty="0"/>
          </a:p>
        </p:txBody>
      </p:sp>
      <p:sp>
        <p:nvSpPr>
          <p:cNvPr id="16" name="S11-text33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5 × 2(부피의 식)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식을 모두 골라요</a:t>
            </a:r>
            <a:endParaRPr lang="ko-KR" sz="4000" dirty="0"/>
          </a:p>
        </p:txBody>
      </p:sp>
      <p:sp>
        <p:nvSpPr>
          <p:cNvPr id="3" name="S12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4 cm, 세로 3 cm, 높이 2 cm인 직육면체의 겉넓이</a:t>
            </a:r>
            <a:endParaRPr lang="ko-KR" sz="2800" dirty="0"/>
          </a:p>
        </p:txBody>
      </p:sp>
      <p:sp>
        <p:nvSpPr>
          <p:cNvPr id="4" name="S12-card3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식을 모두 고르고, 그 식이 무엇을 구하는지 말해요.</a:t>
            </a:r>
            <a:endParaRPr lang="ko-KR" sz="2800" dirty="0"/>
          </a:p>
        </p:txBody>
      </p:sp>
      <p:sp>
        <p:nvSpPr>
          <p:cNvPr id="6" name="S12-chip335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336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337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 × 3 + 4 × 2 + 3 × 2)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</a:t>
            </a:r>
            <a:endParaRPr lang="ko-KR" sz="2200" dirty="0"/>
          </a:p>
        </p:txBody>
      </p:sp>
      <p:sp>
        <p:nvSpPr>
          <p:cNvPr id="9" name="S12-chip338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339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340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× 2</a:t>
            </a:r>
            <a:endParaRPr lang="ko-KR" sz="2800" dirty="0"/>
          </a:p>
        </p:txBody>
      </p:sp>
      <p:sp>
        <p:nvSpPr>
          <p:cNvPr id="12" name="S12-chip341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342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343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× 2 +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 + 3 + 4 + 3) × 2</a:t>
            </a:r>
            <a:endParaRPr lang="ko-KR" sz="2800" dirty="0"/>
          </a:p>
        </p:txBody>
      </p:sp>
      <p:sp>
        <p:nvSpPr>
          <p:cNvPr id="15" name="S12-chip344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345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346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+ 4 × 2 + 3 ×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4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4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겉넓이는 여섯 면의 넓이의 합이에요. (세 면의 합) × 2, 정육면체는 (한 면) × 6</a:t>
            </a:r>
            <a:endParaRPr lang="ko-KR" sz="2800" dirty="0"/>
          </a:p>
        </p:txBody>
      </p:sp>
      <p:sp>
        <p:nvSpPr>
          <p:cNvPr id="5" name="S13-chip34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합동인 면 세 쌍을 짝짓기</a:t>
            </a:r>
            <a:endParaRPr lang="ko-KR" sz="2200" dirty="0"/>
          </a:p>
        </p:txBody>
      </p:sp>
      <p:sp>
        <p:nvSpPr>
          <p:cNvPr id="6" name="S13-chip35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세 면만 더하고 끝내기</a:t>
            </a:r>
            <a:endParaRPr lang="ko-KR" sz="2200" dirty="0"/>
          </a:p>
        </p:txBody>
      </p:sp>
      <p:sp>
        <p:nvSpPr>
          <p:cNvPr id="7" name="S13-text35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35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모서리가 2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겉넓이는?</a:t>
            </a:r>
            <a:endParaRPr lang="ko-KR" sz="2200" dirty="0"/>
          </a:p>
        </p:txBody>
      </p:sp>
      <p:sp>
        <p:nvSpPr>
          <p:cNvPr id="9" name="S13-text35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가로 5 cm, 세로 2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1 cm인 직육면체의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겉넓이는?</a:t>
            </a:r>
            <a:endParaRPr lang="ko-KR" sz="2200" dirty="0"/>
          </a:p>
        </p:txBody>
      </p:sp>
      <p:sp>
        <p:nvSpPr>
          <p:cNvPr id="10" name="S13-text35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직육면체에서 합동인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면은 몇 쌍인가요?</a:t>
            </a:r>
            <a:endParaRPr lang="ko-KR" sz="2200" dirty="0"/>
          </a:p>
        </p:txBody>
      </p:sp>
      <p:sp>
        <p:nvSpPr>
          <p:cNvPr id="11" name="S13-text3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직육면체의 부피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직사각형의 넓이</a:t>
            </a:r>
            <a:endParaRPr lang="ko-KR" sz="4000" dirty="0"/>
          </a:p>
        </p:txBody>
      </p:sp>
      <p:sp>
        <p:nvSpPr>
          <p:cNvPr id="3" name="S14-text3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1 cm²예요.</a:t>
            </a:r>
            <a:endParaRPr lang="ko-KR" sz="2800" dirty="0"/>
          </a:p>
        </p:txBody>
      </p:sp>
      <p:sp>
        <p:nvSpPr>
          <p:cNvPr id="4" name="S14-cell357"/>
          <p:cNvSpPr/>
          <p:nvPr/>
        </p:nvSpPr>
        <p:spPr>
          <a:xfrm>
            <a:off x="15156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4-cell358"/>
          <p:cNvSpPr/>
          <p:nvPr/>
        </p:nvSpPr>
        <p:spPr>
          <a:xfrm>
            <a:off x="22014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cell359"/>
          <p:cNvSpPr/>
          <p:nvPr/>
        </p:nvSpPr>
        <p:spPr>
          <a:xfrm>
            <a:off x="28872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cell360"/>
          <p:cNvSpPr/>
          <p:nvPr/>
        </p:nvSpPr>
        <p:spPr>
          <a:xfrm>
            <a:off x="35730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cell361"/>
          <p:cNvSpPr/>
          <p:nvPr/>
        </p:nvSpPr>
        <p:spPr>
          <a:xfrm>
            <a:off x="42588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cell362"/>
          <p:cNvSpPr/>
          <p:nvPr/>
        </p:nvSpPr>
        <p:spPr>
          <a:xfrm>
            <a:off x="15156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cell363"/>
          <p:cNvSpPr/>
          <p:nvPr/>
        </p:nvSpPr>
        <p:spPr>
          <a:xfrm>
            <a:off x="22014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364"/>
          <p:cNvSpPr/>
          <p:nvPr/>
        </p:nvSpPr>
        <p:spPr>
          <a:xfrm>
            <a:off x="28872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365"/>
          <p:cNvSpPr/>
          <p:nvPr/>
        </p:nvSpPr>
        <p:spPr>
          <a:xfrm>
            <a:off x="35730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366"/>
          <p:cNvSpPr/>
          <p:nvPr/>
        </p:nvSpPr>
        <p:spPr>
          <a:xfrm>
            <a:off x="42588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367"/>
          <p:cNvSpPr/>
          <p:nvPr/>
        </p:nvSpPr>
        <p:spPr>
          <a:xfrm>
            <a:off x="15156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368"/>
          <p:cNvSpPr/>
          <p:nvPr/>
        </p:nvSpPr>
        <p:spPr>
          <a:xfrm>
            <a:off x="22014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cell369"/>
          <p:cNvSpPr/>
          <p:nvPr/>
        </p:nvSpPr>
        <p:spPr>
          <a:xfrm>
            <a:off x="28872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cell370"/>
          <p:cNvSpPr/>
          <p:nvPr/>
        </p:nvSpPr>
        <p:spPr>
          <a:xfrm>
            <a:off x="35730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cell371"/>
          <p:cNvSpPr/>
          <p:nvPr/>
        </p:nvSpPr>
        <p:spPr>
          <a:xfrm>
            <a:off x="42588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figure372" descr="가로 5칸, 세로 3칸인 직사각형: 15칸 모두 색칠"/>
          <p:cNvSpPr/>
          <p:nvPr/>
        </p:nvSpPr>
        <p:spPr>
          <a:xfrm>
            <a:off x="1515618" y="3086100"/>
            <a:ext cx="34290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4-card373"/>
          <p:cNvSpPr/>
          <p:nvPr/>
        </p:nvSpPr>
        <p:spPr>
          <a:xfrm>
            <a:off x="6277356" y="26499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14-cardtext374"/>
          <p:cNvSpPr txBox="1"/>
          <p:nvPr/>
        </p:nvSpPr>
        <p:spPr>
          <a:xfrm>
            <a:off x="6551676" y="27871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줄에 5칸씩 3줄</a:t>
            </a:r>
            <a:endParaRPr lang="ko-KR" sz="2800" dirty="0"/>
          </a:p>
        </p:txBody>
      </p:sp>
      <p:sp>
        <p:nvSpPr>
          <p:cNvPr id="22" name="S14-card375"/>
          <p:cNvSpPr/>
          <p:nvPr/>
        </p:nvSpPr>
        <p:spPr>
          <a:xfrm>
            <a:off x="6277356" y="40586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4-cardtext376"/>
          <p:cNvSpPr txBox="1"/>
          <p:nvPr/>
        </p:nvSpPr>
        <p:spPr>
          <a:xfrm>
            <a:off x="6551676" y="41958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× 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직육면체의 겉넓이</dc:title>
  <dc:subject>KR22-G06-MAT-SURFACE-L01</dc:subject>
  <dc:creator>education-ppt</dc:creator>
  <cp:lastModifiedBy>education-ppt</cp:lastModifiedBy>
  <cp:revision>1</cp:revision>
  <dcterms:created xsi:type="dcterms:W3CDTF">2026-10-26T09:12:51Z</dcterms:created>
  <dcterms:modified xsi:type="dcterms:W3CDTF">2026-10-26T09:12:51Z</dcterms:modified>
</cp:coreProperties>
</file>