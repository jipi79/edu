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6a1c3da-633a-106e-7228-153e59bc8beb}">
          <p14:sldIdLst>
            <p14:sldId id="256"/>
            <p14:sldId id="257"/>
          </p14:sldIdLst>
        </p14:section>
        <p14:section name="개념" id="{d5d3fba4-6f93-3080-fbd7-6332dc30a599}">
          <p14:sldIdLst>
            <p14:sldId id="258"/>
            <p14:sldId id="259"/>
            <p14:sldId id="260"/>
            <p14:sldId id="263"/>
          </p14:sldIdLst>
        </p14:section>
        <p14:section name="연습" id="{41b79f43-7579-0f88-e9fe-b237f9e868b2}">
          <p14:sldIdLst>
            <p14:sldId id="261"/>
            <p14:sldId id="262"/>
            <p14:sldId id="264"/>
            <p14:sldId id="265"/>
          </p14:sldIdLst>
        </p14:section>
        <p14:section name="개념" id="{e08f1d58-a1e7-6ccd-f174-9386f187a71d}">
          <p14:sldIdLst/>
        </p14:section>
        <p14:section name="연습" id="{505c8238-378c-4836-7c46-1112cb87d0a5}">
          <p14:sldIdLst/>
        </p14:section>
        <p14:section name="확인" id="{308343b2-e630-89b7-08dd-d3c036e03248}">
          <p14:sldIdLst>
            <p14:sldId id="266"/>
            <p14:sldId id="267"/>
            <p14:sldId id="268"/>
          </p14:sldIdLst>
        </p14:section>
        <p14:section name="정리" id="{e42e4094-dc55-5bcc-d2b6-8b2aee7dca4e}">
          <p14:sldIdLst>
            <p14:sldId id="269"/>
          </p14:sldIdLst>
        </p14:section>
        <p14:section name="보충" id="{617bfa7d-9892-be3a-e8b1-09cf8ee69c9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물건이 공간에서 차지하는 크기(부피)를 재는 방법이 필요하다는 것을 느끼게 하고 오늘 할 일을 알려 줍니다.
시간: 약 2분
이렇게 말해 보세요
- “지난 시간에는 상자의 겉면 넓이를 구했지? 오늘은 상자가 차지하는 공간의 크기, 즉 ‘부피’를 알아볼 거야.”
- “그림의 상자는 작은 정육면체 몇 개로 채웠을까? 먼저 예상해 봐.”
예상 답
- “20개쯤이요.” “24개요.”
막히면
- 예상만 듣고 넘어갑니다. S05에서 함께 셉니다.
주의
- 준비물: 크기가 같은 정육면체 블록(쌓기나무, 각설탕) 24개쯤, 작은 상자 두 개, 자. 1 m 길이를 보여 줄 줄자나 신문지가 있으면 S08에서 씁니다.
- ‘부피’는 물건이 차지하는 공간의 크기라고 쉬운 말로 먼저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확인(겉넓이, 세 수의 곱셈, 100 × 100)]
목적: 지난 차시의 겉넓이와, 오늘 부피를 구할 때 쓰는 세 수의 곱셈, 100 × 100을 확인합니다.
시간: 약 3분
이렇게 말해 보세요
- “①은 지난 시간에 배운 정육면체의 겉넓이야. 한 면의 넓이는 얼마지?”
- “②③은 계산해 볼래? 세 수를 곱할 때는 앞에서부터 차례로 곱하면 돼.”
정답
- ① 3 × 3 × 6 = 54, 54 cm²
- ② 24 (4 × 3 = 12, 12 × 2 = 24)
- ③ 10000
막히면
- ②가 어려우면 S15(보충)에서 블록을 층별로 세며 곱셈을 다시 익힙니다.
- ①이 틀리면 지난 차시 ‘직육면체의 겉넓이’에서 정육면체의 겉넓이(한 면의 넓이 × 6)를 다시 봅니다. 보충으로도 어려우면 초5 ‘직육면체와 정육면체’부터 다시 합니다.
주의
- ③의 100 × 100은 S08에서 1 m³를 cm³로 바꿀 때 씁니다(0이 몇 개인지 세게 합니다).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쌓기나무로 부피 비교]
목적: 모양이 다른 두 상자의 부피를 비교하려면 같은 크기의 단위(쌓기나무)로 채워 개수를 세면 된다는 것을 압니다.
시간: 약 3분
이렇게 말해 보세요
- “가와 나 중 어느 상자에 더 많이 들어갈까? 눈으로 보면 알 수 있을까?”
- “같은 쌓기나무로 채우고 개수를 세면 비교할 수 있어. 한 층에 몇 개씩, 몇 층이야?”
예상 답
- “가는 8개씩 3층이라 24개, 나는 9개씩 3층이라 27개예요. 나가 더 커요.”
막히면
- 블록으로 한 층만 직접 깔아 보고, 그 층을 몇 번 쌓는지 셉니다.
주의
- 상자는 쌓기나무로 빈틈없이 채웠다고 봅니다. 그림에서 보이지 않는 안쪽에도 쌓기나무가 꽉 차 있습니다(지난 시간과 다른 점).
- 쌓기나무의 크기가 다르면 개수로 비교할 수 없습니다. 그래서 크기를 정한 단위가 필요합니다(S04).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부피의 단위 1 cm³]
목적: 한 모서리가 1 cm인 정육면체의 부피를 1 cm³(1 세제곱센티미터)라고 하고, 부피는 1 cm³가 몇 개인지로 나타낸다는 것을 압니다.
시간: 약 3분
이렇게 말해 보세요
- “한 모서리가 1 cm인 정육면체의 부피를 ‘1 cm³’라고 쓰고 ‘1 세제곱센티미터’라고 읽어.”
- “S03의 상자 가에 1 cm³ 쌓기나무가 24개 들어갔다면 부피는 얼마일까?”
예상 답
- “24 cm³요.”
막히면
- 자로 각설탕이나 블록의 모서리를 재어 보고 ‘한 모서리가 1 cm라면’이라고 상상하게 합니다(집 블록은 보통 1 cm보다 큽니다).
주의
- 길이는 cm, 넓이는 cm², 부피는 cm³입니다. 작은 숫자 3을 오른쪽 위에 씁니다.
- 공책에 cm³를 세 번 따라 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부피 = 가로 × 세로 × 높이]
목적: 쌓기나무를 한 층의 개수(가로 × 세로) × 층 수(높이)로 세어, 직육면체의 부피 = 가로 × 세로 × 높이임을 압니다.
시간: 약 3분
이렇게 말해 보세요
- “한 층에는 쌓기나무가 몇 개야? 가로로 4개씩 3줄이지?”
- “몇 층으로 쌓았어? 그러면 모두 몇 개야?”
- “그러면 가로, 세로, 높이만 알면 쌓기나무를 세지 않고도 부피를 구할 수 있겠지?”
예상 답
- “한 층에 12개, 2층이라 24개, 24 cm³예요.”
막히면
- 블록 12개로 한 층을 깔고 그 위에 한 층을 더 쌓아 봅니다.
주의
- 가로 × 세로는 밑면의 넓이와 같습니다. 그래서 부피 = (밑면의 넓이) × (높이)로도 말할 수 있습니다.
- 정육면체는 가로, 세로, 높이가 같으므로 부피 = 한 모서리 × 한 모서리 × 한 모서리입니다.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비교(길쭉하면 부피가 더 크다)]
목적: 모양(길이)만 보고 부피를 판단하지 않고, 1 cm³가 몇 개인지로 비교해야 함을 압니다.
시간: 약 2분
이렇게 말해 보세요
- “왼쪽 가는 길고, 오른쪽 나는 작아 보여. 부피는 정말 다를까? 각각 쌓기나무가 몇 개야?”
예상 답
- “곰이요. 가는 8 × 1 × 1 = 8, 나는 2 × 2 × 2 = 8이에요.”
정답
- 곰이 맞습니다. 가 8 × 1 × 1 = 8 cm³, 나 2 × 2 × 2 = 8 cm³로 부피가 같습니다.
- 길이가 길어도 부피가 더 크다고 할 수 없습니다. 쌓기나무 8개를 다르게 놓았을 뿐입니다.
막히면
- 블록 8개로 한 줄을 만들었다가 그대로 2 × 2 × 2로 다시 쌓아 봅니다. 블록 수는 그대로입니다.
주의
- 더 알아보기: 두 직육면체의 겉넓이는 다릅니다(가 34 cm², 나 24 cm²). 부피가 같아도 겉넓이는 다를 수 있습니다(활동지 5번).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연습(부피 구하기)]
목적: 도움을 받으며 직육면체와 정육면체의 부피를 식으로 구하고 단위 cm³를 씁니다.
시간: 약 3분
이렇게 말해 보세요
- “①은 오른쪽 그림이야. 한 층에 몇 개, 몇 층이야?”
- “②는 가로, 세로, 높이가 모두 4 cm야.”
- “③은 밑면의 넓이를 이미 알아. 가로 × 세로가 밑면의 넓이였지?”
정답
- ① 5 × 4 × 3 = 60, 60 cm³
- ② 4 × 4 × 4 = 64, 64 cm³
- ③ 20 × 6 = 120, 120 cm³
막히면
- ①은 한 층(5 × 4 = 20개)을 먼저 구하고 층 수를 곱하게 합니다.
주의
- 단위를 cm²로 쓰면 “넓이야, 부피야?”라고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1 m³와 1 cm³의 관계]
목적: 한 모서리가 1 m인 정육면체의 부피 1 m³(1 세제곱미터)를 알고, 1 m³ = 1000000 cm³임을 쌓기나무의 개수로 설명합니다.
시간: 약 4분
이렇게 말해 보세요
- “방이나 창고처럼 큰 것의 부피는 1 cm³로 세면 수가 너무 커져. 그래서 한 모서리가 1 m인 정육면체의 부피를 1 m³라고 하고 ‘1 세제곱미터’라고 읽어.”
- “1 m는 몇 cm지? 그러면 1 m³ 상자에 1 cm³ 쌓기나무를 채우면 한 줄에 몇 개, 한 층에 몇 개, 몇 층일까?”
예상 답
- “한 줄에 100개, 한 층에 100 × 100 = 10000개, 100층이라 1000000개예요.”
막히면
- 줄자로 바닥에 1 m를 재고, 신문지를 붙여 1 m × 1 m 바닥을 만들어 크기를 느껴 봅니다.
- 1000000은 ‘백만’이라고 읽고 0이 6개라고 함께 셉니다.
주의
- 1 m³는 100 cm³가 아닙니다. 가로, 세로, 높이가 모두 100배이므로 100 × 100 × 100 = 1000000배입니다(S09).
- 여기까지가 설명입니다. 지치면 쉬고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비교(1 m³ = 100 cm³)]
목적: 길이의 단위 관계(1 m = 100 cm)를 부피에 그대로 쓰는 실수(M3)를 찾고, 가로·세로·높이가 모두 100배라는 것으로 설명합니다.
시간: 약 2분
이렇게 말해 보세요
- “토끼 말대로 100 cm³라면 1 cm³ 쌓기나무가 100개야. 그걸로 1 m³ 상자를 채울 수 있을까?”
- “곰은 어떻게 셌지? 한 줄, 한 층, 몇 층?”
예상 답
- “곰이요. 100개는 한 줄밖에 안 돼요.”
정답
- 곰이 맞습니다. 1 m³ = 100 × 100 × 100 = 1000000 cm³입니다.
- 토끼의 100 cm³는 쌓기나무 100개, 겨우 한 줄입니다.
막히면
- 블록 10개로 한 줄, 10 × 10 = 100개로 한 층을 상상하게 하고(10 cm 크기로 축소한 모형), 층을 쌓으면 1000개가 된다는 것을 먼저 보여 줍니다.
주의
- 넓이도 같은 원리입니다: 1 m² = 100 × 100 = 10000 cm².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연습(m³와 cm³ 바꾸기)]
목적: 도움을 받으며 m³와 cm³ 사이의 단위를 바꾸고, 단위가 섞인 직육면체의 부피를 구합니다.
시간: 약 3분
이렇게 말해 보세요
- “①은 1 m³가 1000000 cm³였지? 2 m³는?”
- “②는 거꾸로야. 1000000 cm³가 몇 개 있어?”
- “③은 단위가 섞여 있어. 모두 cm로 바꾸어 구해 볼까?”
정답
- ① 2000000
- ② 3
- ③ 200 × 100 × 50 = 1000000 cm³ = 1 m³ (m로 바꾸면 2 × 1 × 0.5 = 1)
막히면
- ①②는 1000000을 쓰고 그 앞의 수만 바꾼다고 생각하게 합니다.
- ③은 2 m = 200 cm, 1 m = 100 cm로 먼저 바꿉니다.
주의
- 0의 개수를 셀 때 세 자리마다 쉼표를 찍어 보아도 좋습니다(1,000,000).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쌓기나무 그림(①)과 길이(②③)로 부피를 구하고(목표 ①), m³를 cm³로 바꾸는지(목표 ②) 봅니다.
시간: 약 5분
이렇게 말해 보세요
- “이번에는 혼자 해 볼래? ①은 1 cm³ 쌓기나무로 빈틈없이 채운 직육면체야. 다 하면 어떻게 구했는지 말해 줘.”
정답
- ① 30 cm³ (5 × 2 × 3 = 30)
- ② 120 cm³ (6 × 5 × 4 = 120)
- ③ 27 m³ (3 × 3 × 3 = 27)
- ④ 5000000
막히면
- 바로 알려 주지 말고 “한 층에 몇 개, 몇 층이었지?”, “1 m³는 몇 cm³였지?”라고만 묻습니다.
- 도움을 받아 해결했다면 기록표에 ‘도움’으로 표시합니다.
주의
- ①에서 보이는 쌓기나무만 세면 안 됩니다. 빈틈없이 채웠으므로 가로 × 세로 × 높이로 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어디서 달라졌는지 같이 찾아보자.”
정답
- ① 30 cm³ ② 120 cm³ ③ 27 m³ ④ 5000000
막히면
- ①②③이 틀렸으면 S05, ④가 틀렸으면 S08·S09를 다시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확인(단위가 다른 부피 비교)]
목적: 처음 보는 문제에서 단위가 다른 부피를 같은 단위로 바꾸어 비교하는지 확인합니다.
시간: 약 2분
이렇게 말해 보세요
- “단위가 서로 달라. 어떻게 비교하면 좋을까? 모두 m³로 바꿔 볼까?”
정답
- 나. 가 = 3 m³, 나 = 2 × 2 × 1 = 4 m³, 다 = 150 × 150 × 150 = 3375000 cm³ = 3.375 m³이므로 나가 가장 큽니다.
막히면
- 다는 1.5 m로 바꾸어 1.5 × 1.5 × 1.5 = 3.375로 계산해도 됩니다. 계산이 어려우면 “다는 4 m³보다 클까, 작을까?”만 따져도 됩니다(150 cm는 2 m보다 짧음).
주의
- 가를 고르면 ‘숫자가 크다’만 본 것입니다. 단위를 같게 해야 비교할 수 있다는 것을 다시 말해 줍니다.
- 까닭까지 말하면 목표 ②까지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“직육면체의 부피는 어떻게 구하지? 왜 그렇게 곱하는지도 말해 볼래?”
- “1 m³는 몇 cm³였지?”
예상 답
- “가로 × 세로 × 높이요. 한 층의 개수에 층 수를 곱하는 거예요.” “1000000 cm³요.”
정답
- ① 24 cm³ (3 × 2 × 4)
- ② 1000000 cm³
- ③ 125 cm³ (5 × 5 × 5)
막히면
- S05와 S08을 다시 보여 줍니다.
주의
- 복습 세 문제는 다음 수업을 시작할 때 활동지 마지막 쪽과 함께 풉니다.
- 다음 차시 ‘원주와 원주율’에서는 컵이나 접시처럼 둥근 물건, 끈(종이 띠), 자를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보충(층별로 세어 곱하기)]
목적: S02에서 세 수의 곱셈이 흔들리면, 블록을 층별로 세면서 두 번 곱하는 방법을 다시 익힙니다.
시간: 약 5분
이렇게 말해 보세요
- “블록으로 한 층을 깔아 볼까? 가로 3개씩 2줄이면 몇 개야?”
- “그 위에 한 층을 더 쌓으면 모두 몇 개야? 6이 두 번이니까 6 × 2.”
정답
- 한 층 6개, 2층 12개
막히면
- 한 층을 깔 때마다 개수를 종이에 적고 더해 봅니다(6 + 6 = 12). 그다음 곱셈으로 바꿉니다.
주의
- 보충으로도 어려우면 직육면체의 면과 모서리부터 다시 봅니다(초5 ‘직육면체와 정육면체’). 이 차시 바로 앞의 계획 차시는 ‘직육면체의 겉넓이’입니다.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입체와측정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직육면체의 부피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직육면체의 부피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직육면체의 부피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직육면체의 부피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상자가 차지하는 공간의 크기를 어떻게 잴까?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한 모서리가 1 cm인 정육면체로 빈틈없이 채운 직육면체: 가로 4개, 세로 3개, 높이 2층"/>
          <p:cNvSpPr/>
          <p:nvPr/>
        </p:nvSpPr>
        <p:spPr>
          <a:xfrm>
            <a:off x="7764780" y="1557988"/>
            <a:ext cx="2295293" cy="1147646"/>
          </a:xfrm>
          <a:custGeom>
            <a:avLst/>
            <a:gdLst/>
            <a:ahLst/>
            <a:cxnLst/>
            <a:rect l="l" t="t" r="r" b="b"/>
            <a:pathLst>
              <a:path w="2295293" h="1147646">
                <a:moveTo>
                  <a:pt x="0" y="1147646"/>
                </a:moveTo>
                <a:lnTo>
                  <a:pt x="2295293" y="1147646"/>
                </a:lnTo>
                <a:lnTo>
                  <a:pt x="2295293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764780" y="1041547"/>
            <a:ext cx="3018310" cy="516441"/>
          </a:xfrm>
          <a:custGeom>
            <a:avLst/>
            <a:gdLst/>
            <a:ahLst/>
            <a:cxnLst/>
            <a:rect l="l" t="t" r="r" b="b"/>
            <a:pathLst>
              <a:path w="3018310" h="516441">
                <a:moveTo>
                  <a:pt x="0" y="516441"/>
                </a:moveTo>
                <a:lnTo>
                  <a:pt x="2295293" y="516441"/>
                </a:lnTo>
                <a:lnTo>
                  <a:pt x="3018310" y="0"/>
                </a:lnTo>
                <a:lnTo>
                  <a:pt x="723017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10060073" y="1041547"/>
            <a:ext cx="723017" cy="1664087"/>
          </a:xfrm>
          <a:custGeom>
            <a:avLst/>
            <a:gdLst/>
            <a:ahLst/>
            <a:cxnLst/>
            <a:rect l="l" t="t" r="r" b="b"/>
            <a:pathLst>
              <a:path w="723017" h="1664087">
                <a:moveTo>
                  <a:pt x="0" y="1664087"/>
                </a:moveTo>
                <a:lnTo>
                  <a:pt x="723017" y="1147646"/>
                </a:lnTo>
                <a:lnTo>
                  <a:pt x="723017" y="0"/>
                </a:lnTo>
                <a:lnTo>
                  <a:pt x="0" y="516441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V="1">
            <a:off x="8338603" y="1557988"/>
            <a:ext cx="0" cy="114764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8338603" y="1041547"/>
            <a:ext cx="723017" cy="51644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V="1">
            <a:off x="8912426" y="1557988"/>
            <a:ext cx="0" cy="114764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V="1">
            <a:off x="8912426" y="1041547"/>
            <a:ext cx="723017" cy="51644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V="1">
            <a:off x="9486250" y="1557988"/>
            <a:ext cx="0" cy="114764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V="1">
            <a:off x="9486250" y="1041547"/>
            <a:ext cx="723017" cy="51644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7764780" y="2131811"/>
            <a:ext cx="2295293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 flipV="1">
            <a:off x="10060073" y="1615370"/>
            <a:ext cx="723017" cy="51644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8005786" y="1385841"/>
            <a:ext cx="2295293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 flipV="1">
            <a:off x="10301078" y="1385841"/>
            <a:ext cx="0" cy="114764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8246791" y="1213694"/>
            <a:ext cx="2295293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 flipV="1">
            <a:off x="10542084" y="1213694"/>
            <a:ext cx="0" cy="114764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1-card17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1" name="S01-cardtext18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 cm³로 직육면체의 부피를 구해요.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 m³와 1 cm³의 관계를 알아요.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2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 3 cm인 정육면체의 겉넓이는?</a:t>
            </a:r>
            <a:endParaRPr lang="ko-KR" sz="2800" dirty="0"/>
          </a:p>
        </p:txBody>
      </p:sp>
      <p:sp>
        <p:nvSpPr>
          <p:cNvPr id="5" name="S02-chip2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eqtext2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× 2 = □</a:t>
            </a:r>
            <a:endParaRPr lang="ko-KR" sz="3200" dirty="0"/>
          </a:p>
        </p:txBody>
      </p:sp>
      <p:sp>
        <p:nvSpPr>
          <p:cNvPr id="7" name="S02-chip2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eqtext2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× 100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상자가 더 클까요?</a:t>
            </a:r>
            <a:endParaRPr lang="ko-KR" sz="4000" dirty="0"/>
          </a:p>
        </p:txBody>
      </p:sp>
      <p:sp>
        <p:nvSpPr>
          <p:cNvPr id="3" name="S03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쌓기나무로 상자 가와 나를 빈틈없이 채웠어요.</a:t>
            </a:r>
            <a:endParaRPr lang="ko-KR" sz="2800" dirty="0"/>
          </a:p>
        </p:txBody>
      </p:sp>
      <p:sp>
        <p:nvSpPr>
          <p:cNvPr id="4" name="S03-card26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27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층에 4 × 2 = 8개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3 = 24개</a:t>
            </a:r>
            <a:endParaRPr lang="ko-KR" sz="2800" dirty="0"/>
          </a:p>
        </p:txBody>
      </p:sp>
      <p:sp>
        <p:nvSpPr>
          <p:cNvPr id="6" name="S03-card28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29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층에 3 × 3 = 9개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3 = 27개</a:t>
            </a:r>
            <a:endParaRPr lang="ko-KR" sz="2800" dirty="0"/>
          </a:p>
        </p:txBody>
      </p:sp>
      <p:sp>
        <p:nvSpPr>
          <p:cNvPr id="8" name="S03-figure30" descr="상자 가: 가로 4개, 세로 2개, 높이 3층으로 채운 직육면체"/>
          <p:cNvSpPr/>
          <p:nvPr/>
        </p:nvSpPr>
        <p:spPr>
          <a:xfrm>
            <a:off x="1958633" y="2346233"/>
            <a:ext cx="1671551" cy="1253663"/>
          </a:xfrm>
          <a:custGeom>
            <a:avLst/>
            <a:gdLst/>
            <a:ahLst/>
            <a:cxnLst/>
            <a:rect l="l" t="t" r="r" b="b"/>
            <a:pathLst>
              <a:path w="1671551" h="1253663">
                <a:moveTo>
                  <a:pt x="0" y="1253663"/>
                </a:moveTo>
                <a:lnTo>
                  <a:pt x="1671551" y="1253663"/>
                </a:lnTo>
                <a:lnTo>
                  <a:pt x="167155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3-mark31"/>
          <p:cNvSpPr/>
          <p:nvPr/>
        </p:nvSpPr>
        <p:spPr>
          <a:xfrm>
            <a:off x="1958633" y="2095500"/>
            <a:ext cx="2022577" cy="250733"/>
          </a:xfrm>
          <a:custGeom>
            <a:avLst/>
            <a:gdLst/>
            <a:ahLst/>
            <a:cxnLst/>
            <a:rect l="l" t="t" r="r" b="b"/>
            <a:pathLst>
              <a:path w="2022577" h="250733">
                <a:moveTo>
                  <a:pt x="0" y="250733"/>
                </a:moveTo>
                <a:lnTo>
                  <a:pt x="1671551" y="250733"/>
                </a:lnTo>
                <a:lnTo>
                  <a:pt x="2022577" y="0"/>
                </a:lnTo>
                <a:lnTo>
                  <a:pt x="351026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3-mark32"/>
          <p:cNvSpPr/>
          <p:nvPr/>
        </p:nvSpPr>
        <p:spPr>
          <a:xfrm>
            <a:off x="3630184" y="2095500"/>
            <a:ext cx="351026" cy="1504396"/>
          </a:xfrm>
          <a:custGeom>
            <a:avLst/>
            <a:gdLst/>
            <a:ahLst/>
            <a:cxnLst/>
            <a:rect l="l" t="t" r="r" b="b"/>
            <a:pathLst>
              <a:path w="351026" h="1504396">
                <a:moveTo>
                  <a:pt x="0" y="1504396"/>
                </a:moveTo>
                <a:lnTo>
                  <a:pt x="351026" y="1253663"/>
                </a:lnTo>
                <a:lnTo>
                  <a:pt x="351026" y="0"/>
                </a:lnTo>
                <a:lnTo>
                  <a:pt x="0" y="250733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3-mark33"/>
          <p:cNvSpPr/>
          <p:nvPr/>
        </p:nvSpPr>
        <p:spPr>
          <a:xfrm flipV="1">
            <a:off x="2376520" y="2346233"/>
            <a:ext cx="0" cy="125366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3-mark34"/>
          <p:cNvSpPr/>
          <p:nvPr/>
        </p:nvSpPr>
        <p:spPr>
          <a:xfrm flipV="1">
            <a:off x="2376520" y="2095500"/>
            <a:ext cx="351026" cy="25073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3-mark35"/>
          <p:cNvSpPr/>
          <p:nvPr/>
        </p:nvSpPr>
        <p:spPr>
          <a:xfrm flipV="1">
            <a:off x="2794408" y="2346233"/>
            <a:ext cx="0" cy="125366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3-mark36"/>
          <p:cNvSpPr/>
          <p:nvPr/>
        </p:nvSpPr>
        <p:spPr>
          <a:xfrm flipV="1">
            <a:off x="2794408" y="2095500"/>
            <a:ext cx="351026" cy="25073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3-mark37"/>
          <p:cNvSpPr/>
          <p:nvPr/>
        </p:nvSpPr>
        <p:spPr>
          <a:xfrm flipV="1">
            <a:off x="3212296" y="2346233"/>
            <a:ext cx="0" cy="125366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3-mark38"/>
          <p:cNvSpPr/>
          <p:nvPr/>
        </p:nvSpPr>
        <p:spPr>
          <a:xfrm flipV="1">
            <a:off x="3212296" y="2095500"/>
            <a:ext cx="351026" cy="25073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3-mark39"/>
          <p:cNvSpPr/>
          <p:nvPr/>
        </p:nvSpPr>
        <p:spPr>
          <a:xfrm>
            <a:off x="1958633" y="3182008"/>
            <a:ext cx="1671551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3-mark40"/>
          <p:cNvSpPr/>
          <p:nvPr/>
        </p:nvSpPr>
        <p:spPr>
          <a:xfrm flipV="1">
            <a:off x="3630184" y="2931275"/>
            <a:ext cx="351026" cy="25073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3-mark41"/>
          <p:cNvSpPr/>
          <p:nvPr/>
        </p:nvSpPr>
        <p:spPr>
          <a:xfrm>
            <a:off x="1958633" y="2764120"/>
            <a:ext cx="1671551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3-mark42"/>
          <p:cNvSpPr/>
          <p:nvPr/>
        </p:nvSpPr>
        <p:spPr>
          <a:xfrm flipV="1">
            <a:off x="3630184" y="2513388"/>
            <a:ext cx="351026" cy="25073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3-mark43"/>
          <p:cNvSpPr/>
          <p:nvPr/>
        </p:nvSpPr>
        <p:spPr>
          <a:xfrm>
            <a:off x="2134146" y="2220866"/>
            <a:ext cx="1671551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3-mark44"/>
          <p:cNvSpPr/>
          <p:nvPr/>
        </p:nvSpPr>
        <p:spPr>
          <a:xfrm flipV="1">
            <a:off x="3805696" y="2220866"/>
            <a:ext cx="0" cy="125366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03-label45"/>
          <p:cNvSpPr txBox="1"/>
          <p:nvPr/>
        </p:nvSpPr>
        <p:spPr>
          <a:xfrm>
            <a:off x="548640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24" name="S03-figure46" descr="상자 나: 가로 3개, 세로 3개, 높이 3층으로 채운 직육면체"/>
          <p:cNvSpPr/>
          <p:nvPr/>
        </p:nvSpPr>
        <p:spPr>
          <a:xfrm>
            <a:off x="7859829" y="2447593"/>
            <a:ext cx="1173642" cy="1173642"/>
          </a:xfrm>
          <a:custGeom>
            <a:avLst/>
            <a:gdLst/>
            <a:ahLst/>
            <a:cxnLst/>
            <a:rect l="l" t="t" r="r" b="b"/>
            <a:pathLst>
              <a:path w="1173642" h="1173642">
                <a:moveTo>
                  <a:pt x="0" y="1173642"/>
                </a:moveTo>
                <a:lnTo>
                  <a:pt x="1173642" y="1173642"/>
                </a:lnTo>
                <a:lnTo>
                  <a:pt x="11736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3-mark47"/>
          <p:cNvSpPr/>
          <p:nvPr/>
        </p:nvSpPr>
        <p:spPr>
          <a:xfrm>
            <a:off x="7859829" y="2095500"/>
            <a:ext cx="1666572" cy="352093"/>
          </a:xfrm>
          <a:custGeom>
            <a:avLst/>
            <a:gdLst/>
            <a:ahLst/>
            <a:cxnLst/>
            <a:rect l="l" t="t" r="r" b="b"/>
            <a:pathLst>
              <a:path w="1666572" h="352093">
                <a:moveTo>
                  <a:pt x="0" y="352093"/>
                </a:moveTo>
                <a:lnTo>
                  <a:pt x="1173642" y="352093"/>
                </a:lnTo>
                <a:lnTo>
                  <a:pt x="1666572" y="0"/>
                </a:lnTo>
                <a:lnTo>
                  <a:pt x="49293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3-mark48"/>
          <p:cNvSpPr/>
          <p:nvPr/>
        </p:nvSpPr>
        <p:spPr>
          <a:xfrm>
            <a:off x="9033471" y="2095500"/>
            <a:ext cx="492930" cy="1525735"/>
          </a:xfrm>
          <a:custGeom>
            <a:avLst/>
            <a:gdLst/>
            <a:ahLst/>
            <a:cxnLst/>
            <a:rect l="l" t="t" r="r" b="b"/>
            <a:pathLst>
              <a:path w="492930" h="1525735">
                <a:moveTo>
                  <a:pt x="0" y="1525735"/>
                </a:moveTo>
                <a:lnTo>
                  <a:pt x="492930" y="1173642"/>
                </a:lnTo>
                <a:lnTo>
                  <a:pt x="492930" y="0"/>
                </a:lnTo>
                <a:lnTo>
                  <a:pt x="0" y="352093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3-mark49"/>
          <p:cNvSpPr/>
          <p:nvPr/>
        </p:nvSpPr>
        <p:spPr>
          <a:xfrm flipV="1">
            <a:off x="8251043" y="2447593"/>
            <a:ext cx="0" cy="117364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S03-mark50"/>
          <p:cNvSpPr/>
          <p:nvPr/>
        </p:nvSpPr>
        <p:spPr>
          <a:xfrm flipV="1">
            <a:off x="8251043" y="2095500"/>
            <a:ext cx="492930" cy="35209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9" name="S03-mark51"/>
          <p:cNvSpPr/>
          <p:nvPr/>
        </p:nvSpPr>
        <p:spPr>
          <a:xfrm flipV="1">
            <a:off x="8642257" y="2447593"/>
            <a:ext cx="0" cy="117364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0" name="S03-mark52"/>
          <p:cNvSpPr/>
          <p:nvPr/>
        </p:nvSpPr>
        <p:spPr>
          <a:xfrm flipV="1">
            <a:off x="8642257" y="2095500"/>
            <a:ext cx="492930" cy="35209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1" name="S03-mark53"/>
          <p:cNvSpPr/>
          <p:nvPr/>
        </p:nvSpPr>
        <p:spPr>
          <a:xfrm>
            <a:off x="7859829" y="3230021"/>
            <a:ext cx="1173642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2" name="S03-mark54"/>
          <p:cNvSpPr/>
          <p:nvPr/>
        </p:nvSpPr>
        <p:spPr>
          <a:xfrm flipV="1">
            <a:off x="9033471" y="2877928"/>
            <a:ext cx="492930" cy="35209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3" name="S03-mark55"/>
          <p:cNvSpPr/>
          <p:nvPr/>
        </p:nvSpPr>
        <p:spPr>
          <a:xfrm>
            <a:off x="7859829" y="2838807"/>
            <a:ext cx="1173642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4" name="S03-mark56"/>
          <p:cNvSpPr/>
          <p:nvPr/>
        </p:nvSpPr>
        <p:spPr>
          <a:xfrm flipV="1">
            <a:off x="9033471" y="2486714"/>
            <a:ext cx="492930" cy="35209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5" name="S03-mark57"/>
          <p:cNvSpPr/>
          <p:nvPr/>
        </p:nvSpPr>
        <p:spPr>
          <a:xfrm>
            <a:off x="8024139" y="2330228"/>
            <a:ext cx="1173642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6" name="S03-mark58"/>
          <p:cNvSpPr/>
          <p:nvPr/>
        </p:nvSpPr>
        <p:spPr>
          <a:xfrm flipV="1">
            <a:off x="9197781" y="2330228"/>
            <a:ext cx="0" cy="117364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7" name="S03-mark59"/>
          <p:cNvSpPr/>
          <p:nvPr/>
        </p:nvSpPr>
        <p:spPr>
          <a:xfrm>
            <a:off x="8188449" y="2212864"/>
            <a:ext cx="1173642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8" name="S03-mark60"/>
          <p:cNvSpPr/>
          <p:nvPr/>
        </p:nvSpPr>
        <p:spPr>
          <a:xfrm flipV="1">
            <a:off x="9362091" y="2212864"/>
            <a:ext cx="0" cy="117364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9" name="S03-label61"/>
          <p:cNvSpPr txBox="1"/>
          <p:nvPr/>
        </p:nvSpPr>
        <p:spPr>
          <a:xfrm>
            <a:off x="6254496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부피의 단위 1 cm³</a:t>
            </a:r>
            <a:endParaRPr lang="ko-KR" sz="4000" dirty="0"/>
          </a:p>
        </p:txBody>
      </p:sp>
      <p:sp>
        <p:nvSpPr>
          <p:cNvPr id="3" name="S04-figure62" descr="한 모서리가 1 cm인 정육면체"/>
          <p:cNvSpPr/>
          <p:nvPr/>
        </p:nvSpPr>
        <p:spPr>
          <a:xfrm>
            <a:off x="1049325" y="2865008"/>
            <a:ext cx="1209189" cy="1209189"/>
          </a:xfrm>
          <a:custGeom>
            <a:avLst/>
            <a:gdLst/>
            <a:ahLst/>
            <a:cxnLst/>
            <a:rect l="l" t="t" r="r" b="b"/>
            <a:pathLst>
              <a:path w="1209189" h="1209189">
                <a:moveTo>
                  <a:pt x="0" y="1209189"/>
                </a:moveTo>
                <a:lnTo>
                  <a:pt x="1209189" y="1209189"/>
                </a:lnTo>
                <a:lnTo>
                  <a:pt x="120918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4-mark63"/>
          <p:cNvSpPr/>
          <p:nvPr/>
        </p:nvSpPr>
        <p:spPr>
          <a:xfrm>
            <a:off x="1049325" y="2502251"/>
            <a:ext cx="1717049" cy="362757"/>
          </a:xfrm>
          <a:custGeom>
            <a:avLst/>
            <a:gdLst/>
            <a:ahLst/>
            <a:cxnLst/>
            <a:rect l="l" t="t" r="r" b="b"/>
            <a:pathLst>
              <a:path w="1717049" h="362757">
                <a:moveTo>
                  <a:pt x="0" y="362757"/>
                </a:moveTo>
                <a:lnTo>
                  <a:pt x="1209189" y="362757"/>
                </a:lnTo>
                <a:lnTo>
                  <a:pt x="1717049" y="0"/>
                </a:lnTo>
                <a:lnTo>
                  <a:pt x="50786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4-mark64"/>
          <p:cNvSpPr/>
          <p:nvPr/>
        </p:nvSpPr>
        <p:spPr>
          <a:xfrm>
            <a:off x="2258514" y="2502251"/>
            <a:ext cx="507860" cy="1571946"/>
          </a:xfrm>
          <a:custGeom>
            <a:avLst/>
            <a:gdLst/>
            <a:ahLst/>
            <a:cxnLst/>
            <a:rect l="l" t="t" r="r" b="b"/>
            <a:pathLst>
              <a:path w="507860" h="1571946">
                <a:moveTo>
                  <a:pt x="0" y="1571946"/>
                </a:moveTo>
                <a:lnTo>
                  <a:pt x="507860" y="1209189"/>
                </a:lnTo>
                <a:lnTo>
                  <a:pt x="507860" y="0"/>
                </a:lnTo>
                <a:lnTo>
                  <a:pt x="0" y="36275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4-mark65"/>
          <p:cNvSpPr/>
          <p:nvPr/>
        </p:nvSpPr>
        <p:spPr>
          <a:xfrm>
            <a:off x="1557184" y="3711441"/>
            <a:ext cx="1209189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4-mark66"/>
          <p:cNvSpPr/>
          <p:nvPr/>
        </p:nvSpPr>
        <p:spPr>
          <a:xfrm flipV="1">
            <a:off x="1557184" y="2502251"/>
            <a:ext cx="0" cy="120918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4-mark67"/>
          <p:cNvSpPr/>
          <p:nvPr/>
        </p:nvSpPr>
        <p:spPr>
          <a:xfrm flipH="1">
            <a:off x="1049325" y="3711441"/>
            <a:ext cx="507860" cy="362757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4-mark68"/>
          <p:cNvSpPr/>
          <p:nvPr/>
        </p:nvSpPr>
        <p:spPr>
          <a:xfrm>
            <a:off x="1049325" y="4074197"/>
            <a:ext cx="1209189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" name="S04-mark69"/>
          <p:cNvSpPr/>
          <p:nvPr/>
        </p:nvSpPr>
        <p:spPr>
          <a:xfrm flipV="1">
            <a:off x="2258514" y="3711441"/>
            <a:ext cx="507860" cy="362757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04-mark70"/>
          <p:cNvSpPr/>
          <p:nvPr/>
        </p:nvSpPr>
        <p:spPr>
          <a:xfrm flipV="1">
            <a:off x="2766374" y="2502251"/>
            <a:ext cx="0" cy="1209189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04-label72"/>
          <p:cNvSpPr txBox="1"/>
          <p:nvPr/>
        </p:nvSpPr>
        <p:spPr>
          <a:xfrm>
            <a:off x="1272158" y="415103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</a:t>
            </a:r>
            <a:endParaRPr lang="ko-KR" sz="2200" dirty="0"/>
          </a:p>
        </p:txBody>
      </p:sp>
      <p:sp>
        <p:nvSpPr>
          <p:cNvPr id="13" name="S04-label74"/>
          <p:cNvSpPr txBox="1"/>
          <p:nvPr/>
        </p:nvSpPr>
        <p:spPr>
          <a:xfrm>
            <a:off x="2360634" y="404012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</a:t>
            </a:r>
            <a:endParaRPr lang="ko-KR" sz="2200" dirty="0"/>
          </a:p>
        </p:txBody>
      </p:sp>
      <p:sp>
        <p:nvSpPr>
          <p:cNvPr id="14" name="S04-label76"/>
          <p:cNvSpPr txBox="1"/>
          <p:nvPr/>
        </p:nvSpPr>
        <p:spPr>
          <a:xfrm>
            <a:off x="2770184" y="2932221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</a:t>
            </a:r>
            <a:endParaRPr lang="ko-KR" sz="2200" dirty="0"/>
          </a:p>
        </p:txBody>
      </p:sp>
      <p:sp>
        <p:nvSpPr>
          <p:cNvPr id="15" name="S04-card77"/>
          <p:cNvSpPr/>
          <p:nvPr/>
        </p:nvSpPr>
        <p:spPr>
          <a:xfrm>
            <a:off x="5204765" y="1758442"/>
            <a:ext cx="6435547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4-cardtext78"/>
          <p:cNvSpPr txBox="1"/>
          <p:nvPr/>
        </p:nvSpPr>
        <p:spPr>
          <a:xfrm>
            <a:off x="5479085" y="1895602"/>
            <a:ext cx="5886907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cm³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 1 cm인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정육면체의 부피</a:t>
            </a:r>
            <a:endParaRPr lang="ko-KR" sz="2800" dirty="0"/>
          </a:p>
        </p:txBody>
      </p:sp>
      <p:sp>
        <p:nvSpPr>
          <p:cNvPr id="17" name="S04-card79"/>
          <p:cNvSpPr/>
          <p:nvPr/>
        </p:nvSpPr>
        <p:spPr>
          <a:xfrm>
            <a:off x="5204765" y="3507994"/>
            <a:ext cx="6435547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04-cardtext80"/>
          <p:cNvSpPr txBox="1"/>
          <p:nvPr/>
        </p:nvSpPr>
        <p:spPr>
          <a:xfrm>
            <a:off x="5479085" y="3645154"/>
            <a:ext cx="5886907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세제곱센티미터</a:t>
            </a:r>
            <a:endParaRPr lang="ko-KR" sz="2800" dirty="0"/>
          </a:p>
        </p:txBody>
      </p:sp>
      <p:sp>
        <p:nvSpPr>
          <p:cNvPr id="19" name="S04-card81"/>
          <p:cNvSpPr/>
          <p:nvPr/>
        </p:nvSpPr>
        <p:spPr>
          <a:xfrm>
            <a:off x="5204765" y="4916678"/>
            <a:ext cx="6435547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04-cardtext82"/>
          <p:cNvSpPr txBox="1"/>
          <p:nvPr/>
        </p:nvSpPr>
        <p:spPr>
          <a:xfrm>
            <a:off x="5479085" y="5053838"/>
            <a:ext cx="58869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 24개 → 24 cm³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 구하는 방법</a:t>
            </a:r>
            <a:endParaRPr lang="ko-KR" sz="4000" dirty="0"/>
          </a:p>
        </p:txBody>
      </p:sp>
      <p:sp>
        <p:nvSpPr>
          <p:cNvPr id="3" name="S05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직육면체의 부피 = 가로 × 세로 × 높이</a:t>
            </a:r>
            <a:endParaRPr lang="ko-KR" sz="2800" dirty="0"/>
          </a:p>
        </p:txBody>
      </p:sp>
      <p:sp>
        <p:nvSpPr>
          <p:cNvPr id="5" name="S05-text85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4 cm, 세로 3 cm, 높이 2 cm</a:t>
            </a:r>
            <a:endParaRPr lang="ko-KR" sz="2800" dirty="0"/>
          </a:p>
        </p:txBody>
      </p:sp>
      <p:sp>
        <p:nvSpPr>
          <p:cNvPr id="6" name="S05-figure86" descr="가로 4 cm, 세로 3 cm, 높이 2 cm인 직육면체를 1 cm³ 쌓기나무로 채운 그림"/>
          <p:cNvSpPr/>
          <p:nvPr/>
        </p:nvSpPr>
        <p:spPr>
          <a:xfrm>
            <a:off x="7885523" y="3474808"/>
            <a:ext cx="1635925" cy="817962"/>
          </a:xfrm>
          <a:custGeom>
            <a:avLst/>
            <a:gdLst/>
            <a:ahLst/>
            <a:cxnLst/>
            <a:rect l="l" t="t" r="r" b="b"/>
            <a:pathLst>
              <a:path w="1635925" h="817962">
                <a:moveTo>
                  <a:pt x="0" y="817962"/>
                </a:moveTo>
                <a:lnTo>
                  <a:pt x="1635925" y="817962"/>
                </a:lnTo>
                <a:lnTo>
                  <a:pt x="16359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5-mark87"/>
          <p:cNvSpPr/>
          <p:nvPr/>
        </p:nvSpPr>
        <p:spPr>
          <a:xfrm>
            <a:off x="7885523" y="3106725"/>
            <a:ext cx="2151241" cy="368083"/>
          </a:xfrm>
          <a:custGeom>
            <a:avLst/>
            <a:gdLst/>
            <a:ahLst/>
            <a:cxnLst/>
            <a:rect l="l" t="t" r="r" b="b"/>
            <a:pathLst>
              <a:path w="2151241" h="368083">
                <a:moveTo>
                  <a:pt x="0" y="368083"/>
                </a:moveTo>
                <a:lnTo>
                  <a:pt x="1635925" y="368083"/>
                </a:lnTo>
                <a:lnTo>
                  <a:pt x="2151241" y="0"/>
                </a:lnTo>
                <a:lnTo>
                  <a:pt x="515316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5-mark88"/>
          <p:cNvSpPr/>
          <p:nvPr/>
        </p:nvSpPr>
        <p:spPr>
          <a:xfrm>
            <a:off x="9521448" y="3106725"/>
            <a:ext cx="515316" cy="1186045"/>
          </a:xfrm>
          <a:custGeom>
            <a:avLst/>
            <a:gdLst/>
            <a:ahLst/>
            <a:cxnLst/>
            <a:rect l="l" t="t" r="r" b="b"/>
            <a:pathLst>
              <a:path w="515316" h="1186045">
                <a:moveTo>
                  <a:pt x="0" y="1186045"/>
                </a:moveTo>
                <a:lnTo>
                  <a:pt x="515316" y="817962"/>
                </a:lnTo>
                <a:lnTo>
                  <a:pt x="515316" y="0"/>
                </a:lnTo>
                <a:lnTo>
                  <a:pt x="0" y="368083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5-mark89"/>
          <p:cNvSpPr/>
          <p:nvPr/>
        </p:nvSpPr>
        <p:spPr>
          <a:xfrm flipV="1">
            <a:off x="8294505" y="3474808"/>
            <a:ext cx="0" cy="81796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5-mark90"/>
          <p:cNvSpPr/>
          <p:nvPr/>
        </p:nvSpPr>
        <p:spPr>
          <a:xfrm flipV="1">
            <a:off x="8294505" y="3106725"/>
            <a:ext cx="515316" cy="36808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5-mark91"/>
          <p:cNvSpPr/>
          <p:nvPr/>
        </p:nvSpPr>
        <p:spPr>
          <a:xfrm flipV="1">
            <a:off x="8703486" y="3474808"/>
            <a:ext cx="0" cy="81796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5-mark92"/>
          <p:cNvSpPr/>
          <p:nvPr/>
        </p:nvSpPr>
        <p:spPr>
          <a:xfrm flipV="1">
            <a:off x="8703486" y="3106725"/>
            <a:ext cx="515316" cy="36808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5-mark93"/>
          <p:cNvSpPr/>
          <p:nvPr/>
        </p:nvSpPr>
        <p:spPr>
          <a:xfrm flipV="1">
            <a:off x="9112467" y="3474808"/>
            <a:ext cx="0" cy="81796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5-mark94"/>
          <p:cNvSpPr/>
          <p:nvPr/>
        </p:nvSpPr>
        <p:spPr>
          <a:xfrm flipV="1">
            <a:off x="9112467" y="3106725"/>
            <a:ext cx="515316" cy="36808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5-mark95"/>
          <p:cNvSpPr/>
          <p:nvPr/>
        </p:nvSpPr>
        <p:spPr>
          <a:xfrm>
            <a:off x="7885523" y="3883789"/>
            <a:ext cx="1635925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5-mark96"/>
          <p:cNvSpPr/>
          <p:nvPr/>
        </p:nvSpPr>
        <p:spPr>
          <a:xfrm flipV="1">
            <a:off x="9521448" y="3515706"/>
            <a:ext cx="515316" cy="36808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5-mark97"/>
          <p:cNvSpPr/>
          <p:nvPr/>
        </p:nvSpPr>
        <p:spPr>
          <a:xfrm>
            <a:off x="8057296" y="3352114"/>
            <a:ext cx="1635925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5-mark98"/>
          <p:cNvSpPr/>
          <p:nvPr/>
        </p:nvSpPr>
        <p:spPr>
          <a:xfrm flipV="1">
            <a:off x="9693220" y="3352114"/>
            <a:ext cx="0" cy="81796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5-mark99"/>
          <p:cNvSpPr/>
          <p:nvPr/>
        </p:nvSpPr>
        <p:spPr>
          <a:xfrm>
            <a:off x="8229068" y="3229419"/>
            <a:ext cx="1635925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5-mark100"/>
          <p:cNvSpPr/>
          <p:nvPr/>
        </p:nvSpPr>
        <p:spPr>
          <a:xfrm flipV="1">
            <a:off x="9864992" y="3229419"/>
            <a:ext cx="0" cy="81796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5-mark101"/>
          <p:cNvSpPr/>
          <p:nvPr/>
        </p:nvSpPr>
        <p:spPr>
          <a:xfrm>
            <a:off x="7885523" y="4292770"/>
            <a:ext cx="1635925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22" name="S05-mark102"/>
          <p:cNvSpPr/>
          <p:nvPr/>
        </p:nvSpPr>
        <p:spPr>
          <a:xfrm flipV="1">
            <a:off x="9521448" y="3924687"/>
            <a:ext cx="515316" cy="368083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23" name="S05-mark103"/>
          <p:cNvSpPr/>
          <p:nvPr/>
        </p:nvSpPr>
        <p:spPr>
          <a:xfrm flipV="1">
            <a:off x="10036765" y="3106725"/>
            <a:ext cx="0" cy="817962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24" name="S05-label105"/>
          <p:cNvSpPr txBox="1"/>
          <p:nvPr/>
        </p:nvSpPr>
        <p:spPr>
          <a:xfrm>
            <a:off x="8321724" y="436960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200" dirty="0"/>
          </a:p>
        </p:txBody>
      </p:sp>
      <p:sp>
        <p:nvSpPr>
          <p:cNvPr id="25" name="S05-label107"/>
          <p:cNvSpPr txBox="1"/>
          <p:nvPr/>
        </p:nvSpPr>
        <p:spPr>
          <a:xfrm>
            <a:off x="9627296" y="425603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200" dirty="0"/>
          </a:p>
        </p:txBody>
      </p:sp>
      <p:sp>
        <p:nvSpPr>
          <p:cNvPr id="26" name="S05-label109"/>
          <p:cNvSpPr txBox="1"/>
          <p:nvPr/>
        </p:nvSpPr>
        <p:spPr>
          <a:xfrm>
            <a:off x="10040575" y="3341081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cm</a:t>
            </a:r>
            <a:endParaRPr lang="ko-KR" sz="2200" dirty="0"/>
          </a:p>
        </p:txBody>
      </p:sp>
      <p:sp>
        <p:nvSpPr>
          <p:cNvPr id="27" name="S05-stepno110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8" name="S05-text111"/>
          <p:cNvSpPr txBox="1"/>
          <p:nvPr/>
        </p:nvSpPr>
        <p:spPr>
          <a:xfrm>
            <a:off x="1325880" y="2875788"/>
            <a:ext cx="26443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층에</a:t>
            </a:r>
            <a:endParaRPr lang="ko-KR" sz="2800" dirty="0"/>
          </a:p>
        </p:txBody>
      </p:sp>
      <p:sp>
        <p:nvSpPr>
          <p:cNvPr id="29" name="S05-eqtext112"/>
          <p:cNvSpPr txBox="1"/>
          <p:nvPr/>
        </p:nvSpPr>
        <p:spPr>
          <a:xfrm>
            <a:off x="3970206" y="2875788"/>
            <a:ext cx="2477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</a:t>
            </a:r>
            <a:endParaRPr lang="ko-KR" sz="2800" dirty="0"/>
          </a:p>
        </p:txBody>
      </p:sp>
      <p:sp>
        <p:nvSpPr>
          <p:cNvPr id="30" name="S05-stepno113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1" name="S05-text114"/>
          <p:cNvSpPr txBox="1"/>
          <p:nvPr/>
        </p:nvSpPr>
        <p:spPr>
          <a:xfrm>
            <a:off x="1325880" y="3589020"/>
            <a:ext cx="26443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높이만큼 2층</a:t>
            </a:r>
            <a:endParaRPr lang="ko-KR" sz="2800" dirty="0"/>
          </a:p>
        </p:txBody>
      </p:sp>
      <p:sp>
        <p:nvSpPr>
          <p:cNvPr id="32" name="S05-eqtext115"/>
          <p:cNvSpPr txBox="1"/>
          <p:nvPr/>
        </p:nvSpPr>
        <p:spPr>
          <a:xfrm>
            <a:off x="3970206" y="3589020"/>
            <a:ext cx="2477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2 = 24</a:t>
            </a:r>
            <a:endParaRPr lang="ko-KR" sz="2800" dirty="0"/>
          </a:p>
        </p:txBody>
      </p:sp>
      <p:sp>
        <p:nvSpPr>
          <p:cNvPr id="33" name="S05-stepno116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4" name="S05-text117"/>
          <p:cNvSpPr txBox="1"/>
          <p:nvPr/>
        </p:nvSpPr>
        <p:spPr>
          <a:xfrm>
            <a:off x="1325880" y="4302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부피는 24 cm³예요.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6-card11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1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쌓기나무(1 cm³)로 만든 두 직육면체예요.</a:t>
            </a:r>
            <a:endParaRPr lang="ko-KR" sz="2800" dirty="0"/>
          </a:p>
        </p:txBody>
      </p:sp>
      <p:sp>
        <p:nvSpPr>
          <p:cNvPr id="5" name="S06-card1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부피를 구해 말해요.</a:t>
            </a:r>
            <a:endParaRPr lang="ko-KR" sz="2800" dirty="0"/>
          </a:p>
        </p:txBody>
      </p:sp>
      <p:sp>
        <p:nvSpPr>
          <p:cNvPr id="7" name="S06-chip12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가가 더 커요</a:t>
            </a:r>
            <a:endParaRPr lang="ko-KR" sz="2200" dirty="0"/>
          </a:p>
        </p:txBody>
      </p:sp>
      <p:sp>
        <p:nvSpPr>
          <p:cNvPr id="8" name="S06-figure123" descr="가: 가로 8개, 세로 1개, 높이 1층으로 길게 놓은 직육면체"/>
          <p:cNvSpPr/>
          <p:nvPr/>
        </p:nvSpPr>
        <p:spPr>
          <a:xfrm>
            <a:off x="1363645" y="3633470"/>
            <a:ext cx="3072384" cy="384048"/>
          </a:xfrm>
          <a:custGeom>
            <a:avLst/>
            <a:gdLst/>
            <a:ahLst/>
            <a:cxnLst/>
            <a:rect l="l" t="t" r="r" b="b"/>
            <a:pathLst>
              <a:path w="3072384" h="384048">
                <a:moveTo>
                  <a:pt x="0" y="384048"/>
                </a:moveTo>
                <a:lnTo>
                  <a:pt x="3072384" y="384048"/>
                </a:lnTo>
                <a:lnTo>
                  <a:pt x="307238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6-mark124"/>
          <p:cNvSpPr/>
          <p:nvPr/>
        </p:nvSpPr>
        <p:spPr>
          <a:xfrm>
            <a:off x="1363645" y="3518256"/>
            <a:ext cx="3233684" cy="115214"/>
          </a:xfrm>
          <a:custGeom>
            <a:avLst/>
            <a:gdLst/>
            <a:ahLst/>
            <a:cxnLst/>
            <a:rect l="l" t="t" r="r" b="b"/>
            <a:pathLst>
              <a:path w="3233684" h="115214">
                <a:moveTo>
                  <a:pt x="0" y="115214"/>
                </a:moveTo>
                <a:lnTo>
                  <a:pt x="3072384" y="115214"/>
                </a:lnTo>
                <a:lnTo>
                  <a:pt x="3233684" y="0"/>
                </a:lnTo>
                <a:lnTo>
                  <a:pt x="16130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6-mark125"/>
          <p:cNvSpPr/>
          <p:nvPr/>
        </p:nvSpPr>
        <p:spPr>
          <a:xfrm>
            <a:off x="4436029" y="3518256"/>
            <a:ext cx="161300" cy="499262"/>
          </a:xfrm>
          <a:custGeom>
            <a:avLst/>
            <a:gdLst/>
            <a:ahLst/>
            <a:cxnLst/>
            <a:rect l="l" t="t" r="r" b="b"/>
            <a:pathLst>
              <a:path w="161300" h="499262">
                <a:moveTo>
                  <a:pt x="0" y="499262"/>
                </a:moveTo>
                <a:lnTo>
                  <a:pt x="161300" y="384048"/>
                </a:lnTo>
                <a:lnTo>
                  <a:pt x="161300" y="0"/>
                </a:lnTo>
                <a:lnTo>
                  <a:pt x="0" y="11521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6-mark126"/>
          <p:cNvSpPr/>
          <p:nvPr/>
        </p:nvSpPr>
        <p:spPr>
          <a:xfrm flipV="1">
            <a:off x="1747693" y="3633470"/>
            <a:ext cx="0" cy="38404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6-mark127"/>
          <p:cNvSpPr/>
          <p:nvPr/>
        </p:nvSpPr>
        <p:spPr>
          <a:xfrm flipV="1">
            <a:off x="1747693" y="3518256"/>
            <a:ext cx="161300" cy="115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6-mark128"/>
          <p:cNvSpPr/>
          <p:nvPr/>
        </p:nvSpPr>
        <p:spPr>
          <a:xfrm flipV="1">
            <a:off x="2131741" y="3633470"/>
            <a:ext cx="0" cy="38404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6-mark129"/>
          <p:cNvSpPr/>
          <p:nvPr/>
        </p:nvSpPr>
        <p:spPr>
          <a:xfrm flipV="1">
            <a:off x="2131741" y="3518256"/>
            <a:ext cx="161300" cy="115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6-mark130"/>
          <p:cNvSpPr/>
          <p:nvPr/>
        </p:nvSpPr>
        <p:spPr>
          <a:xfrm flipV="1">
            <a:off x="2515789" y="3633470"/>
            <a:ext cx="0" cy="38404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6-mark131"/>
          <p:cNvSpPr/>
          <p:nvPr/>
        </p:nvSpPr>
        <p:spPr>
          <a:xfrm flipV="1">
            <a:off x="2515789" y="3518256"/>
            <a:ext cx="161300" cy="115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6-mark132"/>
          <p:cNvSpPr/>
          <p:nvPr/>
        </p:nvSpPr>
        <p:spPr>
          <a:xfrm flipV="1">
            <a:off x="2899837" y="3633470"/>
            <a:ext cx="0" cy="38404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6-mark133"/>
          <p:cNvSpPr/>
          <p:nvPr/>
        </p:nvSpPr>
        <p:spPr>
          <a:xfrm flipV="1">
            <a:off x="2899837" y="3518256"/>
            <a:ext cx="161300" cy="115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6-mark134"/>
          <p:cNvSpPr/>
          <p:nvPr/>
        </p:nvSpPr>
        <p:spPr>
          <a:xfrm flipV="1">
            <a:off x="3283885" y="3633470"/>
            <a:ext cx="0" cy="38404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6-mark135"/>
          <p:cNvSpPr/>
          <p:nvPr/>
        </p:nvSpPr>
        <p:spPr>
          <a:xfrm flipV="1">
            <a:off x="3283885" y="3518256"/>
            <a:ext cx="161300" cy="115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6-mark136"/>
          <p:cNvSpPr/>
          <p:nvPr/>
        </p:nvSpPr>
        <p:spPr>
          <a:xfrm flipV="1">
            <a:off x="3667933" y="3633470"/>
            <a:ext cx="0" cy="38404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6-mark137"/>
          <p:cNvSpPr/>
          <p:nvPr/>
        </p:nvSpPr>
        <p:spPr>
          <a:xfrm flipV="1">
            <a:off x="3667933" y="3518256"/>
            <a:ext cx="161300" cy="115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06-mark138"/>
          <p:cNvSpPr/>
          <p:nvPr/>
        </p:nvSpPr>
        <p:spPr>
          <a:xfrm flipV="1">
            <a:off x="4051981" y="3633470"/>
            <a:ext cx="0" cy="38404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6-mark139"/>
          <p:cNvSpPr/>
          <p:nvPr/>
        </p:nvSpPr>
        <p:spPr>
          <a:xfrm flipV="1">
            <a:off x="4051981" y="3518256"/>
            <a:ext cx="161300" cy="115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6-text140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“가는 길어서 더 커요.”</a:t>
            </a:r>
            <a:endParaRPr lang="ko-KR" sz="2200" dirty="0"/>
          </a:p>
        </p:txBody>
      </p:sp>
      <p:sp>
        <p:nvSpPr>
          <p:cNvPr id="26" name="S06-chip14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둘이 같아요</a:t>
            </a:r>
            <a:endParaRPr lang="ko-KR" sz="2200" dirty="0"/>
          </a:p>
        </p:txBody>
      </p:sp>
      <p:sp>
        <p:nvSpPr>
          <p:cNvPr id="27" name="S06-figure142" descr="나: 가로 2개, 세로 2개, 높이 2층인 정육면체"/>
          <p:cNvSpPr/>
          <p:nvPr/>
        </p:nvSpPr>
        <p:spPr>
          <a:xfrm>
            <a:off x="8163855" y="3499053"/>
            <a:ext cx="768096" cy="768096"/>
          </a:xfrm>
          <a:custGeom>
            <a:avLst/>
            <a:gdLst/>
            <a:ahLst/>
            <a:cxnLst/>
            <a:rect l="l" t="t" r="r" b="b"/>
            <a:pathLst>
              <a:path w="768096" h="768096">
                <a:moveTo>
                  <a:pt x="0" y="768096"/>
                </a:moveTo>
                <a:lnTo>
                  <a:pt x="768096" y="768096"/>
                </a:lnTo>
                <a:lnTo>
                  <a:pt x="76809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6-mark143"/>
          <p:cNvSpPr/>
          <p:nvPr/>
        </p:nvSpPr>
        <p:spPr>
          <a:xfrm>
            <a:off x="8163855" y="3268624"/>
            <a:ext cx="1090696" cy="230429"/>
          </a:xfrm>
          <a:custGeom>
            <a:avLst/>
            <a:gdLst/>
            <a:ahLst/>
            <a:cxnLst/>
            <a:rect l="l" t="t" r="r" b="b"/>
            <a:pathLst>
              <a:path w="1090696" h="230429">
                <a:moveTo>
                  <a:pt x="0" y="230429"/>
                </a:moveTo>
                <a:lnTo>
                  <a:pt x="768096" y="230429"/>
                </a:lnTo>
                <a:lnTo>
                  <a:pt x="1090696" y="0"/>
                </a:lnTo>
                <a:lnTo>
                  <a:pt x="32260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6-mark144"/>
          <p:cNvSpPr/>
          <p:nvPr/>
        </p:nvSpPr>
        <p:spPr>
          <a:xfrm>
            <a:off x="8931951" y="3268624"/>
            <a:ext cx="322600" cy="998525"/>
          </a:xfrm>
          <a:custGeom>
            <a:avLst/>
            <a:gdLst/>
            <a:ahLst/>
            <a:cxnLst/>
            <a:rect l="l" t="t" r="r" b="b"/>
            <a:pathLst>
              <a:path w="322600" h="998525">
                <a:moveTo>
                  <a:pt x="0" y="998525"/>
                </a:moveTo>
                <a:lnTo>
                  <a:pt x="322600" y="768096"/>
                </a:lnTo>
                <a:lnTo>
                  <a:pt x="322600" y="0"/>
                </a:lnTo>
                <a:lnTo>
                  <a:pt x="0" y="230429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6-mark145"/>
          <p:cNvSpPr/>
          <p:nvPr/>
        </p:nvSpPr>
        <p:spPr>
          <a:xfrm flipV="1">
            <a:off x="8547903" y="3499053"/>
            <a:ext cx="0" cy="76809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1" name="S06-mark146"/>
          <p:cNvSpPr/>
          <p:nvPr/>
        </p:nvSpPr>
        <p:spPr>
          <a:xfrm flipV="1">
            <a:off x="8547903" y="3268624"/>
            <a:ext cx="322600" cy="23042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2" name="S06-mark147"/>
          <p:cNvSpPr/>
          <p:nvPr/>
        </p:nvSpPr>
        <p:spPr>
          <a:xfrm>
            <a:off x="8163855" y="3883101"/>
            <a:ext cx="768096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3" name="S06-mark148"/>
          <p:cNvSpPr/>
          <p:nvPr/>
        </p:nvSpPr>
        <p:spPr>
          <a:xfrm flipV="1">
            <a:off x="8931951" y="3652672"/>
            <a:ext cx="322600" cy="23042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4" name="S06-mark149"/>
          <p:cNvSpPr/>
          <p:nvPr/>
        </p:nvSpPr>
        <p:spPr>
          <a:xfrm>
            <a:off x="8325155" y="3383839"/>
            <a:ext cx="768096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5" name="S06-mark150"/>
          <p:cNvSpPr/>
          <p:nvPr/>
        </p:nvSpPr>
        <p:spPr>
          <a:xfrm flipV="1">
            <a:off x="9093251" y="3383839"/>
            <a:ext cx="0" cy="76809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6" name="S06-text151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“가도 나도 8 cm³예요.”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부피를 구해요</a:t>
            </a:r>
            <a:endParaRPr lang="ko-KR" sz="4000" dirty="0"/>
          </a:p>
        </p:txBody>
      </p:sp>
      <p:sp>
        <p:nvSpPr>
          <p:cNvPr id="3" name="S07-card1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× 세로 × 높이, 단위는 cm³</a:t>
            </a:r>
            <a:endParaRPr lang="ko-KR" sz="2800" dirty="0"/>
          </a:p>
        </p:txBody>
      </p:sp>
      <p:sp>
        <p:nvSpPr>
          <p:cNvPr id="5" name="S07-figure154" descr="가로 5 cm, 세로 4 cm, 높이 3 cm인 직육면체를 1 cm³ 쌓기나무로 채운 그림"/>
          <p:cNvSpPr/>
          <p:nvPr/>
        </p:nvSpPr>
        <p:spPr>
          <a:xfrm>
            <a:off x="6778041" y="2512726"/>
            <a:ext cx="2732824" cy="1639694"/>
          </a:xfrm>
          <a:custGeom>
            <a:avLst/>
            <a:gdLst/>
            <a:ahLst/>
            <a:cxnLst/>
            <a:rect l="l" t="t" r="r" b="b"/>
            <a:pathLst>
              <a:path w="2732824" h="1639694">
                <a:moveTo>
                  <a:pt x="0" y="1639694"/>
                </a:moveTo>
                <a:lnTo>
                  <a:pt x="2732824" y="1639694"/>
                </a:lnTo>
                <a:lnTo>
                  <a:pt x="273282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7-mark155"/>
          <p:cNvSpPr/>
          <p:nvPr/>
        </p:nvSpPr>
        <p:spPr>
          <a:xfrm>
            <a:off x="6778041" y="1856848"/>
            <a:ext cx="3651052" cy="655878"/>
          </a:xfrm>
          <a:custGeom>
            <a:avLst/>
            <a:gdLst/>
            <a:ahLst/>
            <a:cxnLst/>
            <a:rect l="l" t="t" r="r" b="b"/>
            <a:pathLst>
              <a:path w="3651052" h="655878">
                <a:moveTo>
                  <a:pt x="0" y="655878"/>
                </a:moveTo>
                <a:lnTo>
                  <a:pt x="2732824" y="655878"/>
                </a:lnTo>
                <a:lnTo>
                  <a:pt x="3651052" y="0"/>
                </a:lnTo>
                <a:lnTo>
                  <a:pt x="918229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156"/>
          <p:cNvSpPr/>
          <p:nvPr/>
        </p:nvSpPr>
        <p:spPr>
          <a:xfrm>
            <a:off x="9510864" y="1856848"/>
            <a:ext cx="918229" cy="2295572"/>
          </a:xfrm>
          <a:custGeom>
            <a:avLst/>
            <a:gdLst/>
            <a:ahLst/>
            <a:cxnLst/>
            <a:rect l="l" t="t" r="r" b="b"/>
            <a:pathLst>
              <a:path w="918229" h="2295572">
                <a:moveTo>
                  <a:pt x="0" y="2295572"/>
                </a:moveTo>
                <a:lnTo>
                  <a:pt x="918229" y="1639694"/>
                </a:lnTo>
                <a:lnTo>
                  <a:pt x="918229" y="0"/>
                </a:lnTo>
                <a:lnTo>
                  <a:pt x="0" y="65587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7-mark157"/>
          <p:cNvSpPr/>
          <p:nvPr/>
        </p:nvSpPr>
        <p:spPr>
          <a:xfrm flipV="1">
            <a:off x="7324606" y="2512726"/>
            <a:ext cx="0" cy="163969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07-mark158"/>
          <p:cNvSpPr/>
          <p:nvPr/>
        </p:nvSpPr>
        <p:spPr>
          <a:xfrm flipV="1">
            <a:off x="7324606" y="1856848"/>
            <a:ext cx="918229" cy="6558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7-mark159"/>
          <p:cNvSpPr/>
          <p:nvPr/>
        </p:nvSpPr>
        <p:spPr>
          <a:xfrm flipV="1">
            <a:off x="7871170" y="2512726"/>
            <a:ext cx="0" cy="163969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7-mark160"/>
          <p:cNvSpPr/>
          <p:nvPr/>
        </p:nvSpPr>
        <p:spPr>
          <a:xfrm flipV="1">
            <a:off x="7871170" y="1856848"/>
            <a:ext cx="918229" cy="6558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7-mark161"/>
          <p:cNvSpPr/>
          <p:nvPr/>
        </p:nvSpPr>
        <p:spPr>
          <a:xfrm flipV="1">
            <a:off x="8417735" y="2512726"/>
            <a:ext cx="0" cy="163969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7-mark162"/>
          <p:cNvSpPr/>
          <p:nvPr/>
        </p:nvSpPr>
        <p:spPr>
          <a:xfrm flipV="1">
            <a:off x="8417735" y="1856848"/>
            <a:ext cx="918229" cy="6558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7-mark163"/>
          <p:cNvSpPr/>
          <p:nvPr/>
        </p:nvSpPr>
        <p:spPr>
          <a:xfrm flipV="1">
            <a:off x="8964300" y="2512726"/>
            <a:ext cx="0" cy="163969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7-mark164"/>
          <p:cNvSpPr/>
          <p:nvPr/>
        </p:nvSpPr>
        <p:spPr>
          <a:xfrm flipV="1">
            <a:off x="8964300" y="1856848"/>
            <a:ext cx="918229" cy="6558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7-mark165"/>
          <p:cNvSpPr/>
          <p:nvPr/>
        </p:nvSpPr>
        <p:spPr>
          <a:xfrm>
            <a:off x="6778041" y="3605855"/>
            <a:ext cx="2732824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7-mark166"/>
          <p:cNvSpPr/>
          <p:nvPr/>
        </p:nvSpPr>
        <p:spPr>
          <a:xfrm flipV="1">
            <a:off x="9510864" y="2949978"/>
            <a:ext cx="918229" cy="6558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7-mark167"/>
          <p:cNvSpPr/>
          <p:nvPr/>
        </p:nvSpPr>
        <p:spPr>
          <a:xfrm>
            <a:off x="6778041" y="3059291"/>
            <a:ext cx="2732824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7-mark168"/>
          <p:cNvSpPr/>
          <p:nvPr/>
        </p:nvSpPr>
        <p:spPr>
          <a:xfrm flipV="1">
            <a:off x="9510864" y="2403413"/>
            <a:ext cx="918229" cy="6558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7-mark169"/>
          <p:cNvSpPr/>
          <p:nvPr/>
        </p:nvSpPr>
        <p:spPr>
          <a:xfrm>
            <a:off x="7007598" y="2348756"/>
            <a:ext cx="2732824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7-mark170"/>
          <p:cNvSpPr/>
          <p:nvPr/>
        </p:nvSpPr>
        <p:spPr>
          <a:xfrm flipV="1">
            <a:off x="9740422" y="2348756"/>
            <a:ext cx="0" cy="163969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7-mark171"/>
          <p:cNvSpPr/>
          <p:nvPr/>
        </p:nvSpPr>
        <p:spPr>
          <a:xfrm>
            <a:off x="7237155" y="2184787"/>
            <a:ext cx="2732824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07-mark172"/>
          <p:cNvSpPr/>
          <p:nvPr/>
        </p:nvSpPr>
        <p:spPr>
          <a:xfrm flipV="1">
            <a:off x="9969979" y="2184787"/>
            <a:ext cx="0" cy="163969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7-mark173"/>
          <p:cNvSpPr/>
          <p:nvPr/>
        </p:nvSpPr>
        <p:spPr>
          <a:xfrm>
            <a:off x="7466712" y="2020818"/>
            <a:ext cx="2732824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7-mark174"/>
          <p:cNvSpPr/>
          <p:nvPr/>
        </p:nvSpPr>
        <p:spPr>
          <a:xfrm flipV="1">
            <a:off x="10199536" y="2020818"/>
            <a:ext cx="0" cy="163969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6" name="S07-mark175"/>
          <p:cNvSpPr/>
          <p:nvPr/>
        </p:nvSpPr>
        <p:spPr>
          <a:xfrm>
            <a:off x="6778041" y="4152420"/>
            <a:ext cx="2732824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27" name="S07-mark176"/>
          <p:cNvSpPr/>
          <p:nvPr/>
        </p:nvSpPr>
        <p:spPr>
          <a:xfrm flipV="1">
            <a:off x="9510864" y="3496542"/>
            <a:ext cx="918229" cy="655878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28" name="S07-mark177"/>
          <p:cNvSpPr/>
          <p:nvPr/>
        </p:nvSpPr>
        <p:spPr>
          <a:xfrm flipV="1">
            <a:off x="10429093" y="1856848"/>
            <a:ext cx="0" cy="1639694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29" name="S07-label179"/>
          <p:cNvSpPr txBox="1"/>
          <p:nvPr/>
        </p:nvSpPr>
        <p:spPr>
          <a:xfrm>
            <a:off x="7762691" y="422925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200" dirty="0"/>
          </a:p>
        </p:txBody>
      </p:sp>
      <p:sp>
        <p:nvSpPr>
          <p:cNvPr id="30" name="S07-label181"/>
          <p:cNvSpPr txBox="1"/>
          <p:nvPr/>
        </p:nvSpPr>
        <p:spPr>
          <a:xfrm>
            <a:off x="9818169" y="3971789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200" dirty="0"/>
          </a:p>
        </p:txBody>
      </p:sp>
      <p:sp>
        <p:nvSpPr>
          <p:cNvPr id="31" name="S07-label183"/>
          <p:cNvSpPr txBox="1"/>
          <p:nvPr/>
        </p:nvSpPr>
        <p:spPr>
          <a:xfrm>
            <a:off x="10432903" y="2502070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200" dirty="0"/>
          </a:p>
        </p:txBody>
      </p:sp>
      <p:sp>
        <p:nvSpPr>
          <p:cNvPr id="32" name="S07-chip184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3" name="S07-text185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5 cm, 세로 4 cm,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3 cm인 직육면체</a:t>
            </a:r>
            <a:endParaRPr lang="ko-KR" sz="2800" dirty="0"/>
          </a:p>
        </p:txBody>
      </p:sp>
      <p:sp>
        <p:nvSpPr>
          <p:cNvPr id="34" name="S07-chip186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5" name="S07-text187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 4 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</a:t>
            </a:r>
            <a:endParaRPr lang="ko-KR" sz="2800" dirty="0"/>
          </a:p>
        </p:txBody>
      </p:sp>
      <p:sp>
        <p:nvSpPr>
          <p:cNvPr id="36" name="S07-chip188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7" name="S07-text189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밑면의 넓이가 20 cm²,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높이가 6 cm인 직육면체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부피의 단위 1 m³</a:t>
            </a:r>
            <a:endParaRPr lang="ko-KR" sz="4000" dirty="0"/>
          </a:p>
        </p:txBody>
      </p:sp>
      <p:sp>
        <p:nvSpPr>
          <p:cNvPr id="3" name="S08-figure190" descr="한 모서리가 1 m인 정육면체"/>
          <p:cNvSpPr/>
          <p:nvPr/>
        </p:nvSpPr>
        <p:spPr>
          <a:xfrm>
            <a:off x="980034" y="2826796"/>
            <a:ext cx="1260139" cy="1260139"/>
          </a:xfrm>
          <a:custGeom>
            <a:avLst/>
            <a:gdLst/>
            <a:ahLst/>
            <a:cxnLst/>
            <a:rect l="l" t="t" r="r" b="b"/>
            <a:pathLst>
              <a:path w="1260139" h="1260139">
                <a:moveTo>
                  <a:pt x="0" y="1260139"/>
                </a:moveTo>
                <a:lnTo>
                  <a:pt x="1260139" y="1260139"/>
                </a:lnTo>
                <a:lnTo>
                  <a:pt x="12601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8-mark191"/>
          <p:cNvSpPr/>
          <p:nvPr/>
        </p:nvSpPr>
        <p:spPr>
          <a:xfrm>
            <a:off x="980034" y="2448754"/>
            <a:ext cx="1789397" cy="378042"/>
          </a:xfrm>
          <a:custGeom>
            <a:avLst/>
            <a:gdLst/>
            <a:ahLst/>
            <a:cxnLst/>
            <a:rect l="l" t="t" r="r" b="b"/>
            <a:pathLst>
              <a:path w="1789397" h="378042">
                <a:moveTo>
                  <a:pt x="0" y="378042"/>
                </a:moveTo>
                <a:lnTo>
                  <a:pt x="1260139" y="378042"/>
                </a:lnTo>
                <a:lnTo>
                  <a:pt x="1789397" y="0"/>
                </a:lnTo>
                <a:lnTo>
                  <a:pt x="529258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8-mark192"/>
          <p:cNvSpPr/>
          <p:nvPr/>
        </p:nvSpPr>
        <p:spPr>
          <a:xfrm>
            <a:off x="2240172" y="2448754"/>
            <a:ext cx="529258" cy="1638180"/>
          </a:xfrm>
          <a:custGeom>
            <a:avLst/>
            <a:gdLst/>
            <a:ahLst/>
            <a:cxnLst/>
            <a:rect l="l" t="t" r="r" b="b"/>
            <a:pathLst>
              <a:path w="529258" h="1638180">
                <a:moveTo>
                  <a:pt x="0" y="1638180"/>
                </a:moveTo>
                <a:lnTo>
                  <a:pt x="529258" y="1260139"/>
                </a:lnTo>
                <a:lnTo>
                  <a:pt x="529258" y="0"/>
                </a:lnTo>
                <a:lnTo>
                  <a:pt x="0" y="37804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8-mark193"/>
          <p:cNvSpPr/>
          <p:nvPr/>
        </p:nvSpPr>
        <p:spPr>
          <a:xfrm>
            <a:off x="1509292" y="3708893"/>
            <a:ext cx="1260139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8-mark194"/>
          <p:cNvSpPr/>
          <p:nvPr/>
        </p:nvSpPr>
        <p:spPr>
          <a:xfrm flipV="1">
            <a:off x="1509292" y="2448754"/>
            <a:ext cx="0" cy="126013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8-mark195"/>
          <p:cNvSpPr/>
          <p:nvPr/>
        </p:nvSpPr>
        <p:spPr>
          <a:xfrm flipH="1">
            <a:off x="980034" y="3708893"/>
            <a:ext cx="529258" cy="37804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8-mark196"/>
          <p:cNvSpPr/>
          <p:nvPr/>
        </p:nvSpPr>
        <p:spPr>
          <a:xfrm>
            <a:off x="980034" y="4086935"/>
            <a:ext cx="1260139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" name="S08-mark197"/>
          <p:cNvSpPr/>
          <p:nvPr/>
        </p:nvSpPr>
        <p:spPr>
          <a:xfrm flipV="1">
            <a:off x="2240172" y="3708893"/>
            <a:ext cx="529258" cy="378042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08-mark198"/>
          <p:cNvSpPr/>
          <p:nvPr/>
        </p:nvSpPr>
        <p:spPr>
          <a:xfrm flipV="1">
            <a:off x="2769431" y="2448754"/>
            <a:ext cx="0" cy="1260139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08-label200"/>
          <p:cNvSpPr txBox="1"/>
          <p:nvPr/>
        </p:nvSpPr>
        <p:spPr>
          <a:xfrm>
            <a:off x="1306573" y="4163770"/>
            <a:ext cx="6070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</a:t>
            </a:r>
            <a:endParaRPr lang="ko-KR" sz="2200" dirty="0"/>
          </a:p>
        </p:txBody>
      </p:sp>
      <p:sp>
        <p:nvSpPr>
          <p:cNvPr id="13" name="S08-label202"/>
          <p:cNvSpPr txBox="1"/>
          <p:nvPr/>
        </p:nvSpPr>
        <p:spPr>
          <a:xfrm>
            <a:off x="2401962" y="4004255"/>
            <a:ext cx="6070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</a:t>
            </a:r>
            <a:endParaRPr lang="ko-KR" sz="2200" dirty="0"/>
          </a:p>
        </p:txBody>
      </p:sp>
      <p:sp>
        <p:nvSpPr>
          <p:cNvPr id="14" name="S08-label204"/>
          <p:cNvSpPr txBox="1"/>
          <p:nvPr/>
        </p:nvSpPr>
        <p:spPr>
          <a:xfrm>
            <a:off x="2764859" y="2904199"/>
            <a:ext cx="6070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</a:t>
            </a:r>
            <a:endParaRPr lang="ko-KR" sz="2200" dirty="0"/>
          </a:p>
        </p:txBody>
      </p:sp>
      <p:sp>
        <p:nvSpPr>
          <p:cNvPr id="15" name="S08-card205"/>
          <p:cNvSpPr/>
          <p:nvPr/>
        </p:nvSpPr>
        <p:spPr>
          <a:xfrm>
            <a:off x="5204765" y="1588008"/>
            <a:ext cx="6435547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8-cardtext206"/>
          <p:cNvSpPr txBox="1"/>
          <p:nvPr/>
        </p:nvSpPr>
        <p:spPr>
          <a:xfrm>
            <a:off x="5479085" y="1725168"/>
            <a:ext cx="5886907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m³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 1 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정육면체의 부피</a:t>
            </a:r>
            <a:endParaRPr lang="ko-KR" sz="2800" dirty="0"/>
          </a:p>
        </p:txBody>
      </p:sp>
      <p:sp>
        <p:nvSpPr>
          <p:cNvPr id="17" name="S08-card207"/>
          <p:cNvSpPr/>
          <p:nvPr/>
        </p:nvSpPr>
        <p:spPr>
          <a:xfrm>
            <a:off x="5204765" y="3337560"/>
            <a:ext cx="6435547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08-cardtext208"/>
          <p:cNvSpPr txBox="1"/>
          <p:nvPr/>
        </p:nvSpPr>
        <p:spPr>
          <a:xfrm>
            <a:off x="5479085" y="3474720"/>
            <a:ext cx="5886907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= 100 cm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× 100 × 100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1000000</a:t>
            </a:r>
            <a:endParaRPr lang="ko-KR" sz="2800" dirty="0"/>
          </a:p>
        </p:txBody>
      </p:sp>
      <p:sp>
        <p:nvSpPr>
          <p:cNvPr id="19" name="S08-card209"/>
          <p:cNvSpPr/>
          <p:nvPr/>
        </p:nvSpPr>
        <p:spPr>
          <a:xfrm>
            <a:off x="5204765" y="5087112"/>
            <a:ext cx="6435547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08-cardtext210"/>
          <p:cNvSpPr txBox="1"/>
          <p:nvPr/>
        </p:nvSpPr>
        <p:spPr>
          <a:xfrm>
            <a:off x="5479085" y="5224272"/>
            <a:ext cx="58869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m³ = 1000000 cm³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m³는 몇 cm³일까요?</a:t>
            </a:r>
            <a:endParaRPr lang="ko-KR" sz="4000" dirty="0"/>
          </a:p>
        </p:txBody>
      </p:sp>
      <p:sp>
        <p:nvSpPr>
          <p:cNvPr id="3" name="S09-card21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21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= 100 cm예요. 그러면 1 m³는 몇 cm³일까요?</a:t>
            </a:r>
            <a:endParaRPr lang="ko-KR" sz="2800" dirty="0"/>
          </a:p>
        </p:txBody>
      </p:sp>
      <p:sp>
        <p:nvSpPr>
          <p:cNvPr id="5" name="S09-card2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2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쌓기나무로 설명해요.</a:t>
            </a:r>
            <a:endParaRPr lang="ko-KR" sz="2800" dirty="0"/>
          </a:p>
        </p:txBody>
      </p:sp>
      <p:sp>
        <p:nvSpPr>
          <p:cNvPr id="7" name="S09-chip21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100 cm³</a:t>
            </a:r>
            <a:endParaRPr lang="ko-KR" sz="2200" dirty="0"/>
          </a:p>
        </p:txBody>
      </p:sp>
      <p:sp>
        <p:nvSpPr>
          <p:cNvPr id="8" name="S09-text21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 m가 100 cm니까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m³도 100 cm³예요.”</a:t>
            </a:r>
            <a:endParaRPr lang="ko-KR" sz="2800" dirty="0"/>
          </a:p>
        </p:txBody>
      </p:sp>
      <p:sp>
        <p:nvSpPr>
          <p:cNvPr id="9" name="S09-chip21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1000000 cm³</a:t>
            </a:r>
            <a:endParaRPr lang="ko-KR" sz="2200" dirty="0"/>
          </a:p>
        </p:txBody>
      </p:sp>
      <p:sp>
        <p:nvSpPr>
          <p:cNvPr id="10" name="S09-text21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“한 줄 100개, 한 층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× 100개, 100층이에요.”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단위를 바꿔요</a:t>
            </a:r>
            <a:endParaRPr lang="ko-KR" sz="4000" dirty="0"/>
          </a:p>
        </p:txBody>
      </p:sp>
      <p:sp>
        <p:nvSpPr>
          <p:cNvPr id="3" name="S10-text2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구해요.</a:t>
            </a:r>
            <a:endParaRPr lang="ko-KR" sz="2800" dirty="0"/>
          </a:p>
        </p:txBody>
      </p:sp>
      <p:sp>
        <p:nvSpPr>
          <p:cNvPr id="4" name="S10-card2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2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m³ = 1000000 cm³, 1 m = 100 cm</a:t>
            </a:r>
            <a:endParaRPr lang="ko-KR" sz="2800" dirty="0"/>
          </a:p>
        </p:txBody>
      </p:sp>
      <p:sp>
        <p:nvSpPr>
          <p:cNvPr id="6" name="S10-chip22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eqtext22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m³ = □ cm³</a:t>
            </a:r>
            <a:endParaRPr lang="ko-KR" sz="3200" dirty="0"/>
          </a:p>
        </p:txBody>
      </p:sp>
      <p:sp>
        <p:nvSpPr>
          <p:cNvPr id="8" name="S10-chip22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eqtext22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3000000 cm³ = □ m³</a:t>
            </a:r>
            <a:endParaRPr lang="ko-KR" sz="3200" dirty="0"/>
          </a:p>
        </p:txBody>
      </p:sp>
      <p:sp>
        <p:nvSpPr>
          <p:cNvPr id="10" name="S10-chip22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22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2 m, 세로 1 m, 높이 50 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직육면체의 부피는 몇 m³?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부피를 구하고, 어떻게 구했는지 말해요.</a:t>
            </a:r>
            <a:endParaRPr lang="ko-KR" sz="2800" dirty="0"/>
          </a:p>
        </p:txBody>
      </p:sp>
      <p:sp>
        <p:nvSpPr>
          <p:cNvPr id="4" name="S11-chip229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figure230" descr="1 cm³ 쌓기나무로 빈틈없이 채운 직육면체: 가로 5개, 세로 2개, 높이 3층"/>
          <p:cNvSpPr/>
          <p:nvPr/>
        </p:nvSpPr>
        <p:spPr>
          <a:xfrm>
            <a:off x="2131695" y="2346960"/>
            <a:ext cx="2095500" cy="1257300"/>
          </a:xfrm>
          <a:custGeom>
            <a:avLst/>
            <a:gdLst/>
            <a:ahLst/>
            <a:cxnLst/>
            <a:rect l="l" t="t" r="r" b="b"/>
            <a:pathLst>
              <a:path w="2095500" h="1257300">
                <a:moveTo>
                  <a:pt x="0" y="1257300"/>
                </a:moveTo>
                <a:lnTo>
                  <a:pt x="2095500" y="1257300"/>
                </a:lnTo>
                <a:lnTo>
                  <a:pt x="20955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1-mark231"/>
          <p:cNvSpPr/>
          <p:nvPr/>
        </p:nvSpPr>
        <p:spPr>
          <a:xfrm>
            <a:off x="2131695" y="2095500"/>
            <a:ext cx="2447544" cy="251460"/>
          </a:xfrm>
          <a:custGeom>
            <a:avLst/>
            <a:gdLst/>
            <a:ahLst/>
            <a:cxnLst/>
            <a:rect l="l" t="t" r="r" b="b"/>
            <a:pathLst>
              <a:path w="2447544" h="251460">
                <a:moveTo>
                  <a:pt x="0" y="251460"/>
                </a:moveTo>
                <a:lnTo>
                  <a:pt x="2095500" y="251460"/>
                </a:lnTo>
                <a:lnTo>
                  <a:pt x="2447544" y="0"/>
                </a:lnTo>
                <a:lnTo>
                  <a:pt x="352044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1-mark232"/>
          <p:cNvSpPr/>
          <p:nvPr/>
        </p:nvSpPr>
        <p:spPr>
          <a:xfrm>
            <a:off x="4227195" y="2095500"/>
            <a:ext cx="352044" cy="1508760"/>
          </a:xfrm>
          <a:custGeom>
            <a:avLst/>
            <a:gdLst/>
            <a:ahLst/>
            <a:cxnLst/>
            <a:rect l="l" t="t" r="r" b="b"/>
            <a:pathLst>
              <a:path w="352044" h="1508760">
                <a:moveTo>
                  <a:pt x="0" y="1508760"/>
                </a:moveTo>
                <a:lnTo>
                  <a:pt x="352044" y="1257300"/>
                </a:lnTo>
                <a:lnTo>
                  <a:pt x="352044" y="0"/>
                </a:lnTo>
                <a:lnTo>
                  <a:pt x="0" y="25146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1-mark233"/>
          <p:cNvSpPr/>
          <p:nvPr/>
        </p:nvSpPr>
        <p:spPr>
          <a:xfrm flipV="1">
            <a:off x="2550795" y="2346960"/>
            <a:ext cx="0" cy="12573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11-mark234"/>
          <p:cNvSpPr/>
          <p:nvPr/>
        </p:nvSpPr>
        <p:spPr>
          <a:xfrm flipV="1">
            <a:off x="2550795" y="2095500"/>
            <a:ext cx="352044" cy="25146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11-mark235"/>
          <p:cNvSpPr/>
          <p:nvPr/>
        </p:nvSpPr>
        <p:spPr>
          <a:xfrm flipV="1">
            <a:off x="2969895" y="2346960"/>
            <a:ext cx="0" cy="12573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11-mark236"/>
          <p:cNvSpPr/>
          <p:nvPr/>
        </p:nvSpPr>
        <p:spPr>
          <a:xfrm flipV="1">
            <a:off x="2969895" y="2095500"/>
            <a:ext cx="352044" cy="25146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11-mark237"/>
          <p:cNvSpPr/>
          <p:nvPr/>
        </p:nvSpPr>
        <p:spPr>
          <a:xfrm flipV="1">
            <a:off x="3388995" y="2346960"/>
            <a:ext cx="0" cy="12573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11-mark238"/>
          <p:cNvSpPr/>
          <p:nvPr/>
        </p:nvSpPr>
        <p:spPr>
          <a:xfrm flipV="1">
            <a:off x="3388995" y="2095500"/>
            <a:ext cx="352044" cy="25146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11-mark239"/>
          <p:cNvSpPr/>
          <p:nvPr/>
        </p:nvSpPr>
        <p:spPr>
          <a:xfrm flipV="1">
            <a:off x="3808095" y="2346960"/>
            <a:ext cx="0" cy="12573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11-mark240"/>
          <p:cNvSpPr/>
          <p:nvPr/>
        </p:nvSpPr>
        <p:spPr>
          <a:xfrm flipV="1">
            <a:off x="3808095" y="2095500"/>
            <a:ext cx="352044" cy="25146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11-mark241"/>
          <p:cNvSpPr/>
          <p:nvPr/>
        </p:nvSpPr>
        <p:spPr>
          <a:xfrm>
            <a:off x="2131695" y="3185160"/>
            <a:ext cx="20955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11-mark242"/>
          <p:cNvSpPr/>
          <p:nvPr/>
        </p:nvSpPr>
        <p:spPr>
          <a:xfrm flipV="1">
            <a:off x="4227195" y="2933700"/>
            <a:ext cx="352044" cy="25146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11-mark243"/>
          <p:cNvSpPr/>
          <p:nvPr/>
        </p:nvSpPr>
        <p:spPr>
          <a:xfrm>
            <a:off x="2131695" y="2766060"/>
            <a:ext cx="20955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11-mark244"/>
          <p:cNvSpPr/>
          <p:nvPr/>
        </p:nvSpPr>
        <p:spPr>
          <a:xfrm flipV="1">
            <a:off x="4227195" y="2514600"/>
            <a:ext cx="352044" cy="25146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11-mark245"/>
          <p:cNvSpPr/>
          <p:nvPr/>
        </p:nvSpPr>
        <p:spPr>
          <a:xfrm>
            <a:off x="2307717" y="2221230"/>
            <a:ext cx="20955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11-mark246"/>
          <p:cNvSpPr/>
          <p:nvPr/>
        </p:nvSpPr>
        <p:spPr>
          <a:xfrm flipV="1">
            <a:off x="4403217" y="2221230"/>
            <a:ext cx="0" cy="12573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11-chip24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3" name="S11-text24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6 cm, 세로 5 cm,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4 cm인 직육면체</a:t>
            </a:r>
            <a:endParaRPr lang="ko-KR" sz="2800" dirty="0"/>
          </a:p>
        </p:txBody>
      </p:sp>
      <p:sp>
        <p:nvSpPr>
          <p:cNvPr id="24" name="S11-chip24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5" name="S11-text25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 3 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정육면체(m³로)</a:t>
            </a:r>
            <a:endParaRPr lang="ko-KR" sz="2800" dirty="0"/>
          </a:p>
        </p:txBody>
      </p:sp>
      <p:sp>
        <p:nvSpPr>
          <p:cNvPr id="26" name="S11-chip25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27" name="S11-eqtext25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m³ = □ cm³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25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5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쌓기나무를 한 층씩 세는 그림으로 다시 확인하게 하세요.</a:t>
            </a:r>
            <a:endParaRPr lang="ko-KR" sz="2800" dirty="0"/>
          </a:p>
        </p:txBody>
      </p:sp>
      <p:sp>
        <p:nvSpPr>
          <p:cNvPr id="5" name="S12-chip25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256"/>
          <p:cNvSpPr txBox="1"/>
          <p:nvPr/>
        </p:nvSpPr>
        <p:spPr>
          <a:xfrm>
            <a:off x="548640" y="2057400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30 cm³</a:t>
            </a:r>
            <a:endParaRPr lang="ko-KR" sz="2800" dirty="0"/>
          </a:p>
        </p:txBody>
      </p:sp>
      <p:sp>
        <p:nvSpPr>
          <p:cNvPr id="7" name="S12-text257"/>
          <p:cNvSpPr txBox="1"/>
          <p:nvPr/>
        </p:nvSpPr>
        <p:spPr>
          <a:xfrm>
            <a:off x="548640" y="2775458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120 cm³</a:t>
            </a:r>
            <a:endParaRPr lang="ko-KR" sz="2800" dirty="0"/>
          </a:p>
        </p:txBody>
      </p:sp>
      <p:sp>
        <p:nvSpPr>
          <p:cNvPr id="8" name="S12-text258"/>
          <p:cNvSpPr txBox="1"/>
          <p:nvPr/>
        </p:nvSpPr>
        <p:spPr>
          <a:xfrm>
            <a:off x="548640" y="3493516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27 m³</a:t>
            </a:r>
            <a:endParaRPr lang="ko-KR" sz="2800" dirty="0"/>
          </a:p>
        </p:txBody>
      </p:sp>
      <p:sp>
        <p:nvSpPr>
          <p:cNvPr id="9" name="S12-text259"/>
          <p:cNvSpPr txBox="1"/>
          <p:nvPr/>
        </p:nvSpPr>
        <p:spPr>
          <a:xfrm>
            <a:off x="548640" y="4211574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5000000</a:t>
            </a:r>
            <a:endParaRPr lang="ko-KR" sz="2800" dirty="0"/>
          </a:p>
        </p:txBody>
      </p:sp>
      <p:sp>
        <p:nvSpPr>
          <p:cNvPr id="10" name="S12-chip26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2-text26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148 cm²</a:t>
            </a:r>
            <a:endParaRPr lang="ko-KR" sz="2800" dirty="0"/>
          </a:p>
        </p:txBody>
      </p:sp>
      <p:sp>
        <p:nvSpPr>
          <p:cNvPr id="12" name="S12-text26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겉넓이를 구함</a:t>
            </a:r>
            <a:endParaRPr lang="ko-KR" sz="2200" dirty="0"/>
          </a:p>
        </p:txBody>
      </p:sp>
      <p:sp>
        <p:nvSpPr>
          <p:cNvPr id="13" name="S12-text26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500</a:t>
            </a:r>
            <a:endParaRPr lang="ko-KR" sz="2800" dirty="0"/>
          </a:p>
        </p:txBody>
      </p:sp>
      <p:sp>
        <p:nvSpPr>
          <p:cNvPr id="14" name="S12-text26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100을 곱함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부피가 가장 큰 것은?</a:t>
            </a:r>
            <a:endParaRPr lang="ko-KR" sz="4000" dirty="0"/>
          </a:p>
        </p:txBody>
      </p:sp>
      <p:sp>
        <p:nvSpPr>
          <p:cNvPr id="3" name="S13-card2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2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부피가 가장 큰 것을 고르고, 까닭을 말해요.</a:t>
            </a:r>
            <a:endParaRPr lang="ko-KR" sz="2800" dirty="0"/>
          </a:p>
        </p:txBody>
      </p:sp>
      <p:sp>
        <p:nvSpPr>
          <p:cNvPr id="5" name="S13-chip267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3-card268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269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3000000 cm³</a:t>
            </a:r>
            <a:endParaRPr lang="ko-KR" sz="2800" dirty="0"/>
          </a:p>
        </p:txBody>
      </p:sp>
      <p:sp>
        <p:nvSpPr>
          <p:cNvPr id="8" name="S13-chip270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card271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272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2 m,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2 m,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1 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</a:t>
            </a:r>
            <a:endParaRPr lang="ko-KR" sz="2800" dirty="0"/>
          </a:p>
        </p:txBody>
      </p:sp>
      <p:sp>
        <p:nvSpPr>
          <p:cNvPr id="11" name="S13-chip273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3-card274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275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 cm인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7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7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직육면체의 부피 = 가로 × 세로 × 높이, 1 m³ = 1000000 cm³</a:t>
            </a:r>
            <a:endParaRPr lang="ko-KR" sz="2800" dirty="0"/>
          </a:p>
        </p:txBody>
      </p:sp>
      <p:sp>
        <p:nvSpPr>
          <p:cNvPr id="5" name="S14-chip27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한 층의 개수 × 층 수로 생각하기</a:t>
            </a:r>
            <a:endParaRPr lang="ko-KR" sz="2200" dirty="0"/>
          </a:p>
        </p:txBody>
      </p:sp>
      <p:sp>
        <p:nvSpPr>
          <p:cNvPr id="6" name="S14-chip27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 m³ = 100 cm³라고 하기</a:t>
            </a:r>
            <a:endParaRPr lang="ko-KR" sz="2200" dirty="0"/>
          </a:p>
        </p:txBody>
      </p:sp>
      <p:sp>
        <p:nvSpPr>
          <p:cNvPr id="7" name="S14-text28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28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가로 3 cm, 세로 2 cm,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4 cm인 직육면체의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부피는?</a:t>
            </a:r>
            <a:endParaRPr lang="ko-KR" sz="2200" dirty="0"/>
          </a:p>
        </p:txBody>
      </p:sp>
      <p:sp>
        <p:nvSpPr>
          <p:cNvPr id="9" name="S14-text28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 m³는 몇 cm³?</a:t>
            </a:r>
            <a:endParaRPr lang="ko-KR" sz="2200" dirty="0"/>
          </a:p>
        </p:txBody>
      </p:sp>
      <p:sp>
        <p:nvSpPr>
          <p:cNvPr id="10" name="S14-text28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한 모서리가 5 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정육면체의 부피는?</a:t>
            </a:r>
            <a:endParaRPr lang="ko-KR" sz="2200" dirty="0"/>
          </a:p>
        </p:txBody>
      </p:sp>
      <p:sp>
        <p:nvSpPr>
          <p:cNvPr id="11" name="S14-text28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원주와 원주율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층별로 세어 곱하기</a:t>
            </a:r>
            <a:endParaRPr lang="ko-KR" sz="4000" dirty="0"/>
          </a:p>
        </p:txBody>
      </p:sp>
      <p:sp>
        <p:nvSpPr>
          <p:cNvPr id="3" name="S15-card2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2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 × 2 = 12</a:t>
            </a:r>
            <a:endParaRPr lang="ko-KR" sz="2800" dirty="0"/>
          </a:p>
        </p:txBody>
      </p:sp>
      <p:sp>
        <p:nvSpPr>
          <p:cNvPr id="5" name="S15-figure287" descr="1 cm³ 쌓기나무로 채운 직육면체: 가로 3개, 세로 2개, 높이 2층"/>
          <p:cNvSpPr/>
          <p:nvPr/>
        </p:nvSpPr>
        <p:spPr>
          <a:xfrm>
            <a:off x="880110" y="2217420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5-mark288"/>
          <p:cNvSpPr/>
          <p:nvPr/>
        </p:nvSpPr>
        <p:spPr>
          <a:xfrm>
            <a:off x="880110" y="1668780"/>
            <a:ext cx="3511296" cy="548640"/>
          </a:xfrm>
          <a:custGeom>
            <a:avLst/>
            <a:gdLst/>
            <a:ahLst/>
            <a:cxnLst/>
            <a:rect l="l" t="t" r="r" b="b"/>
            <a:pathLst>
              <a:path w="3511296" h="548640">
                <a:moveTo>
                  <a:pt x="0" y="548640"/>
                </a:moveTo>
                <a:lnTo>
                  <a:pt x="2743200" y="548640"/>
                </a:lnTo>
                <a:lnTo>
                  <a:pt x="3511296" y="0"/>
                </a:lnTo>
                <a:lnTo>
                  <a:pt x="768096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5-mark289"/>
          <p:cNvSpPr/>
          <p:nvPr/>
        </p:nvSpPr>
        <p:spPr>
          <a:xfrm>
            <a:off x="3623310" y="1668780"/>
            <a:ext cx="768096" cy="2377440"/>
          </a:xfrm>
          <a:custGeom>
            <a:avLst/>
            <a:gdLst/>
            <a:ahLst/>
            <a:cxnLst/>
            <a:rect l="l" t="t" r="r" b="b"/>
            <a:pathLst>
              <a:path w="768096" h="2377440">
                <a:moveTo>
                  <a:pt x="0" y="2377440"/>
                </a:moveTo>
                <a:lnTo>
                  <a:pt x="768096" y="1828800"/>
                </a:lnTo>
                <a:lnTo>
                  <a:pt x="768096" y="0"/>
                </a:lnTo>
                <a:lnTo>
                  <a:pt x="0" y="54864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5-mark290"/>
          <p:cNvSpPr/>
          <p:nvPr/>
        </p:nvSpPr>
        <p:spPr>
          <a:xfrm flipV="1">
            <a:off x="1794510" y="2217420"/>
            <a:ext cx="0" cy="18288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15-mark291"/>
          <p:cNvSpPr/>
          <p:nvPr/>
        </p:nvSpPr>
        <p:spPr>
          <a:xfrm flipV="1">
            <a:off x="1794510" y="1668780"/>
            <a:ext cx="768096" cy="54864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15-mark292"/>
          <p:cNvSpPr/>
          <p:nvPr/>
        </p:nvSpPr>
        <p:spPr>
          <a:xfrm flipV="1">
            <a:off x="2708910" y="2217420"/>
            <a:ext cx="0" cy="18288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15-mark293"/>
          <p:cNvSpPr/>
          <p:nvPr/>
        </p:nvSpPr>
        <p:spPr>
          <a:xfrm flipV="1">
            <a:off x="2708910" y="1668780"/>
            <a:ext cx="768096" cy="54864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15-mark294"/>
          <p:cNvSpPr/>
          <p:nvPr/>
        </p:nvSpPr>
        <p:spPr>
          <a:xfrm>
            <a:off x="880110" y="3131820"/>
            <a:ext cx="27432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15-mark295"/>
          <p:cNvSpPr/>
          <p:nvPr/>
        </p:nvSpPr>
        <p:spPr>
          <a:xfrm flipV="1">
            <a:off x="3623310" y="2583180"/>
            <a:ext cx="768096" cy="54864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15-mark296"/>
          <p:cNvSpPr/>
          <p:nvPr/>
        </p:nvSpPr>
        <p:spPr>
          <a:xfrm>
            <a:off x="1264158" y="1943100"/>
            <a:ext cx="27432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15-mark297"/>
          <p:cNvSpPr/>
          <p:nvPr/>
        </p:nvSpPr>
        <p:spPr>
          <a:xfrm flipV="1">
            <a:off x="4007358" y="1943100"/>
            <a:ext cx="0" cy="18288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15-card298"/>
          <p:cNvSpPr/>
          <p:nvPr/>
        </p:nvSpPr>
        <p:spPr>
          <a:xfrm>
            <a:off x="6277356" y="1928876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5-cardtext299"/>
          <p:cNvSpPr txBox="1"/>
          <p:nvPr/>
        </p:nvSpPr>
        <p:spPr>
          <a:xfrm>
            <a:off x="6551676" y="2066036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층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 = 6개</a:t>
            </a:r>
            <a:endParaRPr lang="ko-KR" sz="2800" dirty="0"/>
          </a:p>
        </p:txBody>
      </p:sp>
      <p:sp>
        <p:nvSpPr>
          <p:cNvPr id="18" name="S15-card300"/>
          <p:cNvSpPr/>
          <p:nvPr/>
        </p:nvSpPr>
        <p:spPr>
          <a:xfrm>
            <a:off x="6277356" y="3337560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15-cardtext301"/>
          <p:cNvSpPr txBox="1"/>
          <p:nvPr/>
        </p:nvSpPr>
        <p:spPr>
          <a:xfrm>
            <a:off x="6551676" y="3474720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2 = 12개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직육면체의 부피</dc:title>
  <dc:subject>KR22-G06-MAT-VOLUME-L01</dc:subject>
  <dc:creator>education-ppt</dc:creator>
  <cp:lastModifiedBy>education-ppt</cp:lastModifiedBy>
  <cp:revision>1</cp:revision>
  <dcterms:created xsi:type="dcterms:W3CDTF">2026-10-26T09:27:56Z</dcterms:created>
  <dcterms:modified xsi:type="dcterms:W3CDTF">2026-10-26T09:27:56Z</dcterms:modified>
</cp:coreProperties>
</file>