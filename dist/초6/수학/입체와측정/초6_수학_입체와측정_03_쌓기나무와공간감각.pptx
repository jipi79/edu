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811248e-460f-974b-c90e-efc5187f4392}">
          <p14:sldIdLst>
            <p14:sldId id="256"/>
            <p14:sldId id="257"/>
          </p14:sldIdLst>
        </p14:section>
        <p14:section name="개념" id="{d73c0cec-7901-6c19-4e5d-6e9384e34ab9}">
          <p14:sldIdLst>
            <p14:sldId id="258"/>
            <p14:sldId id="260"/>
            <p14:sldId id="261"/>
            <p14:sldId id="262"/>
          </p14:sldIdLst>
        </p14:section>
        <p14:section name="연습" id="{4279b225-af4d-eaa3-995a-7fe35cdb5141}">
          <p14:sldIdLst>
            <p14:sldId id="259"/>
            <p14:sldId id="263"/>
            <p14:sldId id="264"/>
            <p14:sldId id="265"/>
          </p14:sldIdLst>
        </p14:section>
        <p14:section name="개념" id="{a1f83bc6-89f8-ac9c-025a-32a7d2c54005}">
          <p14:sldIdLst/>
        </p14:section>
        <p14:section name="연습" id="{a7eb34ab-8d7f-efbc-1b55-3531b567d2bd}">
          <p14:sldIdLst/>
        </p14:section>
        <p14:section name="확인" id="{07d56c02-5bf9-a13d-3628-a4b1c70bc05c}">
          <p14:sldIdLst>
            <p14:sldId id="266"/>
            <p14:sldId id="267"/>
            <p14:sldId id="268"/>
          </p14:sldIdLst>
        </p14:section>
        <p14:section name="정리" id="{4e679eec-a05d-5ba4-343d-83fde6ee9b52}">
          <p14:sldIdLst>
            <p14:sldId id="269"/>
          </p14:sldIdLst>
        </p14:section>
        <p14:section name="보충" id="{be133607-d352-ca46-9a22-d1175245ba4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그림에서 보이지 않는 쌓기나무가 있을 수 있다는 질문으로 궁금하게 합니다.
시간: 약 2분
이렇게 말해 보세요
- “그림의 쌓기나무는 몇 개일까? 먼저 예상만 해 봐.”
- “그림 뒤쪽에 보이지 않는 쌓기나무가 있다면 어떻게 셀 수 있을까? 오늘 그 방법을 알아보자.”
예상 답
- “7개요.” “8개요.” “모르겠어요.”
막히면
- 예상만 듣고 넘어갑니다. S03에서 같은 모양을 다시 봅니다.
주의
- 준비물: 정육면체 블록 10개쯤(쌓기나무, 주사위, 각설탕, 레고 1칸짜리 블록 등 크기가 같은 정육면체), 모눈종이, 색연필.
- 블록으로 그림과 같은 모양을 직접 쌓으며 수업하면 훨씬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확인(층별로 세기, 원기둥)]
목적: 쌓기나무를 층별로 세는 방법(초2)과 지난 시간에 본 ‘위·앞에서 본 모양’을 확인합니다.
시간: 약 3분
이렇게 말해 보세요
- “①과 ②는 1층과 2층으로 나누어 세어 볼래?”
- “③은 지난 시간에 배운 입체도형이야. 위에서 보면 원, 앞에서 보면 직사각형인 것은?”
정답
- ① 4개(1층 3개 + 2층 1개)
- ② 1개
- ③ 원기둥
막히면
- 블록 4개로 그림과 똑같이 쌓아 보고 층마다 손가락으로 셉니다.
- ①②가 어려우면 S15(보충)를 먼저 합니다. 보충으로도 어려우면 초2 ‘쌓기나무’를 먼저 다시 합니다.
주의
- 오늘 그림은 모두 크기가 같은 정육면체 쌓기나무입니다. 2층 쌓기나무 아래에는 반드시 1층 쌓기나무가 있습니다(떠 있는 쌓기나무는 없습니다).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위·앞·옆에서 본 모양]
목적: 쌓은 모양을 위, 앞, 옆(오른쪽)에서 본 모양을 알고, 앞·옆에서 보면 줄마다 가장 높은 층만 보인다는 것을 압니다.
시간: 약 3분
이렇게 말해 보세요
- “블록으로 똑같이 쌓아 보자. 의자 위에 올라가 위에서 내려다보면 어떤 모양이야?”
- “이제 눈을 식탁 높이에 맞추고 앞에서 볼까? 왼쪽 줄은 몇 층으로 보여? 앞에 2층이 있는데 왜 3층으로 보일까?”
- “오른쪽 옆으로 가서 보자. 앞줄은 왼쪽, 뒷줄은 오른쪽에 보이지?”
예상 답
- “앞에서 보면 뒤에 있는 3층이 보여요. 앞의 2층에 가려도 위로 1칸이 더 보여요.”
막히면
- 색칠한 칸 하나가 쌓기나무의 한 면 하나라고 말해 줍니다. 앞에서 보면 같은 줄에서 겹치는 쌓기나무는 한 칸으로 보입니다.
주의
- 이 차시에서 ‘옆’은 오른쪽 옆에서 본 모양입니다. 위에서 본 모양은 아래쪽이 앞이 되게 그립니다.
- 앞에서 본 모양의 칸 수는 쌓기나무의 개수가 아닙니다. 줄마다 가장 높은 층 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안내받는 연습(앞·옆에서 본 모양 고르기)]
목적: 도움을 받으며 쌓은 모양을 앞과 옆(오른쪽)에서 본 모양을 고르고 까닭을 말합니다.
시간: 약 3분
이렇게 말해 보세요
- “앞에서 보면 왼쪽 줄은 몇 층이야? 가운데 줄은? 오른쪽 줄은?”
- “옆에서 보면 줄이 몇 개 보여? 앞줄은 왼쪽, 뒷줄은 오른쪽이었지?”
정답
- 앞에서 본 모양: 가(왼쪽부터 1층, 2층, 3층)
- 옆에서 본 모양: 나(앞줄 2층, 뒷줄 3층)
- 다는 뒤에서 본 모양입니다(왼쪽과 오른쪽이 바뀜).
막히면
- 블록으로 똑같이 쌓고 아이가 직접 앞과 옆으로 가서 보게 합니다.
주의
- 다를 고르면 오른쪽과 왼쪽을 바꾸어 본 것입니다. 아이가 ‘앞’ 화살표 쪽에 서서 보는지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보이지 않는 쌓기나무]
목적: 쌓은 모양 그림만으로는 뒤에 숨은 쌓기나무가 있는지 알 수 없고, 위에서 본 모양을 함께 보면 개수를 정할 수 있음을 압니다.
시간: 약 3분
이렇게 말해 보세요
- “그림에 보이는 쌓기나무는 몇 개야?”
- “위에서 본 모양이 ①이면 몇 개일까? ②이면?”
- “②에서 뒷줄 왼쪽에 있는 쌓기나무는 왜 그림에 안 보일까?”
예상 답
- “①이면 4개, ②이면 5개예요.”
- “앞의 쌓기나무와 2층 쌓기나무에 가려서요.”
정답
- 위에서 본 모양 ①: 4개(1층 3개 + 2층 1개)
- 위에서 본 모양 ②: 5개(1층 4개 + 2층 1개). 뒷줄 왼쪽 쌓기나무는 앞, 오른쪽, 위가 모두 가려 보이지 않습니다.
막히면
- 블록 5개로 ②를 쌓고, 아이 눈을 그림처럼 오른쪽 앞 위에 두게 해서 뒷줄 왼쪽 블록이 안 보이는 것을 확인합니다. 그다음 그 블록을 빼도 똑같이 보이는지 봅니다.
주의
- 그림만 보고 개수를 물을 때는 ‘보이지 않는 쌓기나무는 없다’는 조건이 있어야 답이 하나입니다. 이 차시의 문제는 위에서 본 모양을 함께 주거나 그 조건을 적었습니다.
- 위에서 본 모양의 색칠한 칸은 바닥(1층)에 놓인 쌓기나무의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위에서 본 모양에 수 쓰기]
목적: 위에서 본 모양의 각 자리에 쌓은 쌓기나무의 수를 쓰면, 개수는 수의 합이고 앞·옆에서 본 모양은 줄마다 가장 큰 수로 알 수 있음을 압니다.
시간: 약 3분
이렇게 말해 보세요
- “위에서 본 모양의 칸마다 그 자리에 몇 개를 쌓았는지 쓴 거야. 모두 몇 개야?”
- “앞에서 보면 왼쪽 줄은 몇 층으로 보일까? 그 줄의 1과 2 중에서 큰 수만 보이지?”
- “오른쪽 옆에서 보면 앞줄은 몇 층, 뒷줄은 몇 층일까?”
예상 답
- “2 + 3 + 1 + 2 + 1 = 9, 9개예요.”
- “앞에서 보면 왼쪽부터 2층, 3층, 1층이에요.”
- “옆에서 보면 앞줄 2층, 뒷줄 3층이에요.”
막히면
- 블록으로 칸마다 적힌 수만큼 쌓아 보고 그림과 같은지 비교합니다.
주의
- 이 방법을 쓰면 보이지 않는 쌓기나무도 빠짐없이 셀 수 있습니다.
- 앞에서 본 모양: 위에서 본 모양의 세로줄(왼쪽, 가운데, 오른쪽)마다 가장 큰 수. 옆에서 본 모양: 가로줄(앞줄, 뒷줄)마다 가장 큰 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층별로 나타낸 모양]
목적: 쌓은 모양을 층별로 나누어 위에서 본 모양처럼 나타내고, 층마다 칸 수를 더해 개수를 구합니다.
시간: 약 2분
이렇게 말해 보세요
- “1층에 놓인 쌓기나무를 위에서 보면 어떤 모양이야? 2층만 보면? 3층만 보면?”
- “층마다 몇 개야? 모두 몇 개야?”
예상 답
- “1층 5개, 2층 2개, 3층 1개, 모두 8개예요.”
막히면
- 블록을 3층부터 한 층씩 내려놓으며 층마다 모양을 종이에 그려 봅니다.
주의
- 위층 칸 아래에는 반드시 아래층 칸이 있어야 합니다. 2층 모양의 색칠한 칸은 1층 모양에서도 색칠되어 있습니다(떠 있는 쌓기나무는 없음).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연습(수를 쓴 모양으로 개수와 앞·옆 모양)]
목적: 도움을 받으며 위에서 본 모양에 쓴 수로 개수와 앞·옆에서 본 모양을 알아냅니다.
시간: 약 3분
이렇게 말해 보세요
- “①은 수를 모두 더해 볼래?”
- “②는 왼쪽 줄에 2와 3이 있어. 앞에서 보면 몇 층으로 보일까?”
- “③에서 앞줄은 2, 1, 1이야. 오른쪽 옆에서 보면 몇 층으로 보일까?”
정답
- ① 10개 (3 + 1 + 2 + 2 + 1 + 1 = 10)
- ② 3층, 1층, 2층
- ③ 앞줄 2층, 뒷줄 3층
막히면
- 블록 10개로 칸마다 수만큼 쌓아 직접 앞과 옆에서 봅니다.
- ②를 5층(2 + 3)이라고 하면 S09로 가서 비교합니다.
주의
- ②③을 공책에 모눈 칸을 색칠해 그려 보게 하면 활동지 2번 연습이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비교(앞에서 본 모양에 수를 더해 그리기)]
목적: 앞에서 본 모양을 그릴 때 줄의 수를 더하는 실수(M2)를 찾고, 줄마다 가장 높은 층만 보인다는 것으로 설명합니다.
시간: 약 2분
이렇게 말해 보세요
- “토끼와 곰이 오른쪽 모양을 앞에서 본 모양을 그렸어. 왼쪽 줄에는 앞에 1개, 뒤에 1개가 있어. 앞에서 보면 몇 층으로 보일까?”
- “토끼는 어떻게 그렸을까?”
정답
- 곰(나)이 맞습니다. 앞에서 보면 앞뒤로 겹친 쌓기나무는 한 칸으로 보이므로 줄마다 가장 큰 수(1, 2, 1)만큼 색칠합니다.
- 토끼(가)는 줄마다 수를 더해(1 + 1, 2 + 1, 1) 그렸습니다.
막히면
- 블록 두 개를 앞뒤로 놓고 앞에서 보게 합니다. “몇 개로 보여? 몇 층으로 보여?”
주의
- 여기까지 하고 지치면 쉬고, 다음에 S10부터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연습(위·앞·옆 모양으로 개수 구하기)]
목적: 도움을 받으며 위·앞·옆에서 본 모양을 함께 써서 자리마다 쌓은 개수를 정하고 전체 개수를 구합니다.
시간: 약 3분
이렇게 말해 보세요
- “위에서 보면 쌓기나무가 놓인 자리는 몇 곳이야? 앞줄 3곳, 뒷줄 2곳이지?”
- “옆에서 보면 앞줄은 1층뿐이야. 그러면 앞줄 세 자리에는 몇 개씩 있을까?”
- “앞에서 보면 왼쪽 줄이 3층이야. 앞줄이 1층이면 3층은 어디에 있을까?”
정답
- ① 1층(앞줄 세 자리 모두 1개씩)
- ② 뒷줄 왼쪽 3개, 뒷줄 가운데 2개(앞에서 본 왼쪽 줄 3층, 가운데 줄 2층)
- ③ 8개 (1 + 1 + 1 + 3 + 2 = 8)
막히면
- 위에서 본 모양을 공책에 그리고, 정해진 자리부터 수를 하나씩 써 넣게 합니다(앞줄 1, 1, 1 → 뒷줄 3, 2).
주의
- 이 문제는 세 모양으로 개수가 하나로 정해지도록 만들었습니다. 위·앞·옆 모양만으로 개수가 하나로 정해지지 않는 경우도 있습니다(예: 2 × 2 자리에서 세 모양이 모두 2층이면 6개, 7개, 8개가 모두 가능).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위에서 본 모양(①), 수를 쓴 모양(②), 층별 모양(③)으로 개수를 구하고(목표 ②), 앞에서 본 모양을 알아내는지(목표 ①) 봅니다.
시간: 약 5분
이렇게 말해 보세요
- “이번에는 혼자 해 볼래? ①~③은 쌓기나무의 개수, ④는 앞에서 본 모양이야. 다 하면 어떻게 알았는지 말해 줘.”
정답
- ① 8개(위에서 본 모양을 보면 뒷줄 왼쪽에도 쌓기나무가 있으므로 그림만 보고 센 7개보다 1개 많음: 1층 6개 + 2층 2개)
- ② 9개 (3 + 1 + 2 + 1 + 2 = 9)
- ③ 10개 (1층 6개 + 2층 3개 + 3층 1개)
- ④ 3층, 1층, 2층
막히면
- 바로 알려 주지 말고 ①은 S05, ②④는 S06, ③은 S07을 떠올리게 “어떤 방법을 썼었지?”라고만 묻습니다.
- 도움을 받아 해결했다면 기록표에 ‘도움’으로 표시합니다.
주의
- ①을 7개라고 하면 보이지 않는 쌓기나무를 빠뜨린 것입니다. 위에서 본 모양의 칸 수(6)와 그림의 1층 수를 비교하게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블록으로 쌓아 보며 같이 다시 생각해 보자.”
정답
- ① 8개 ② 9개 ③ 10개 ④ 3층, 1층, 2층
막히면
- ①이 틀렸으면 S05, ②④는 S06·S09, ③은 S07을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확인(옆에서 본 모양)]
목적: 처음 보는 문제에서 수를 쓴 위에서 본 모양으로 옆(오른쪽)에서 본 모양을 고르고 까닭을 말하는지 확인합니다.
시간: 약 2분
이렇게 말해 보세요
- “오른쪽 옆에서 보면 줄이 몇 개 보일까? 앞줄은 왼쪽과 오른쪽 중 어디에 보이지?”
정답
- 나. 앞줄(2, 1)에서 가장 높은 2층이 왼쪽, 뒷줄(3, 2, 1)에서 가장 높은 3층이 오른쪽에 보입니다.
- 가는 앞줄과 뒷줄의 위치를 바꾼 것, 다는 앞에서 본 모양입니다.
막히면
- 블록으로 쌓고 오른쪽 옆으로 가서 직접 보게 합니다.
주의
- 까닭까지 말하면 목표 ① 확인 완료입니다. 가를 고르면 S03의 ‘앞줄이 왼쪽에 보여요’를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“앞에서 본 모양은 어떻게 알 수 있었지? 쌓기나무의 개수를 빠짐없이 세려면 무엇을 보면 될까?”
예상 답
- “줄마다 가장 높은 층만큼이요.”
- “위에서 본 모양에 수를 써서 더해요.”
정답
- ① 6개 (2 + 3 + 1 = 6)
- ② 3층
- ③ 뒤에 가려 보이지 않는 쌓기나무가 있을 수 있기 때문입니다.
막히면
- S06과 S05를 다시 보여 줍니다.
주의
- 복습 세 문제는 다음 수업을 시작할 때 활동지 마지막 쪽과 함께 풉니다.
- 다음 차시 ‘직육면체의 겉넓이’에서는 상자(과자 상자 등) 하나와 자를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보충(층별로 세기)]
목적: S02에서 층별로 세기가 흔들리면, 오늘 내용 전에 블록을 층마다 나누어 세는 방법을 다시 익힙니다.
시간: 약 5분
이렇게 말해 보세요
- “블록 6개로 계단을 쌓아 볼까? 바닥에 닿은 1층은 몇 개야? 그 위 2층은? 맨 위 3층은?”
- “층마다 센 수를 더하면 모두 몇 개야?”
정답
- 1층 3개, 2층 2개, 3층 1개, 모두 6개
막히면
- 맨 위층부터 블록을 하나씩 내려 층마다 따로 줄을 세워 봅니다.
주의
- 보충으로도 어려우면 초2 ‘쌓기나무’를 먼저 다시 합니다. 이 차시 바로 앞의 계획 차시는 ‘원기둥·원뿔·구’입니다.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입체와측정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쌓기나무와 공간 감각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쌓기나무와 공간 감각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쌓기나무와 공간 감각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쌓기나무와 공간 감각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보이지 않는 쌓기나무까지 셀 수 있을까?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쌓기나무 8개로 쌓은 모양: 왼쪽 뒤가 3층, 왼쪽 앞이 2층, 나머지는 1층"/>
          <p:cNvSpPr/>
          <p:nvPr/>
        </p:nvSpPr>
        <p:spPr>
          <a:xfrm>
            <a:off x="9212591" y="1726969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212591" y="1977736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646920" y="1977736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778262" y="1977736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8778262" y="2228504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212591" y="2228504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9646920" y="1977736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9646920" y="2228504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10081249" y="2228504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9212591" y="1225435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9212591" y="1476202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9646920" y="1476202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9212591" y="2228504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9212591" y="2479271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9646920" y="2479271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8778262" y="1476202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>
            <a:off x="8778262" y="1726969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9212591" y="1726969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>
            <a:off x="9212591" y="723900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>
            <a:off x="9212591" y="974667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9646920" y="974667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1-mark23"/>
          <p:cNvSpPr/>
          <p:nvPr/>
        </p:nvSpPr>
        <p:spPr>
          <a:xfrm>
            <a:off x="9646920" y="2479271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1-mark24"/>
          <p:cNvSpPr/>
          <p:nvPr/>
        </p:nvSpPr>
        <p:spPr>
          <a:xfrm>
            <a:off x="9646920" y="2730038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1-mark25"/>
          <p:cNvSpPr/>
          <p:nvPr/>
        </p:nvSpPr>
        <p:spPr>
          <a:xfrm>
            <a:off x="10081249" y="2730038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1-card2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0" name="S01-cardtext2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위·앞·옆에서 본 모양을 알아내요.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쌓기나무의 개수를 정확히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figure28" descr="쌓기나무 4개를 한 줄로 쌓은 모양: 1층에 3개, 맨 왼쪽 쌓기나무 위에 1개"/>
          <p:cNvSpPr/>
          <p:nvPr/>
        </p:nvSpPr>
        <p:spPr>
          <a:xfrm>
            <a:off x="7375093" y="2857500"/>
            <a:ext cx="1583741" cy="914400"/>
          </a:xfrm>
          <a:custGeom>
            <a:avLst/>
            <a:gdLst/>
            <a:ahLst/>
            <a:cxnLst/>
            <a:rect l="l" t="t" r="r" b="b"/>
            <a:pathLst>
              <a:path w="1583741" h="914400">
                <a:moveTo>
                  <a:pt x="0" y="457200"/>
                </a:moveTo>
                <a:lnTo>
                  <a:pt x="791870" y="914400"/>
                </a:lnTo>
                <a:lnTo>
                  <a:pt x="1583741" y="457200"/>
                </a:lnTo>
                <a:lnTo>
                  <a:pt x="7918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2-mark29"/>
          <p:cNvSpPr/>
          <p:nvPr/>
        </p:nvSpPr>
        <p:spPr>
          <a:xfrm>
            <a:off x="7375093" y="33147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914400"/>
                </a:moveTo>
                <a:lnTo>
                  <a:pt x="791870" y="1371600"/>
                </a:lnTo>
                <a:lnTo>
                  <a:pt x="79187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2-mark30"/>
          <p:cNvSpPr/>
          <p:nvPr/>
        </p:nvSpPr>
        <p:spPr>
          <a:xfrm>
            <a:off x="8166964" y="33147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1371600"/>
                </a:moveTo>
                <a:lnTo>
                  <a:pt x="791870" y="914400"/>
                </a:lnTo>
                <a:lnTo>
                  <a:pt x="791870" y="0"/>
                </a:lnTo>
                <a:lnTo>
                  <a:pt x="0" y="45720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2-mark31"/>
          <p:cNvSpPr/>
          <p:nvPr/>
        </p:nvSpPr>
        <p:spPr>
          <a:xfrm>
            <a:off x="8166964" y="3314700"/>
            <a:ext cx="1583741" cy="914400"/>
          </a:xfrm>
          <a:custGeom>
            <a:avLst/>
            <a:gdLst/>
            <a:ahLst/>
            <a:cxnLst/>
            <a:rect l="l" t="t" r="r" b="b"/>
            <a:pathLst>
              <a:path w="1583741" h="914400">
                <a:moveTo>
                  <a:pt x="0" y="457200"/>
                </a:moveTo>
                <a:lnTo>
                  <a:pt x="791870" y="914400"/>
                </a:lnTo>
                <a:lnTo>
                  <a:pt x="1583741" y="457200"/>
                </a:lnTo>
                <a:lnTo>
                  <a:pt x="7918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2-mark32"/>
          <p:cNvSpPr/>
          <p:nvPr/>
        </p:nvSpPr>
        <p:spPr>
          <a:xfrm>
            <a:off x="8166964" y="37719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914400"/>
                </a:moveTo>
                <a:lnTo>
                  <a:pt x="791870" y="1371600"/>
                </a:lnTo>
                <a:lnTo>
                  <a:pt x="79187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2-mark33"/>
          <p:cNvSpPr/>
          <p:nvPr/>
        </p:nvSpPr>
        <p:spPr>
          <a:xfrm>
            <a:off x="8958834" y="37719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1371600"/>
                </a:moveTo>
                <a:lnTo>
                  <a:pt x="791870" y="914400"/>
                </a:lnTo>
                <a:lnTo>
                  <a:pt x="791870" y="0"/>
                </a:lnTo>
                <a:lnTo>
                  <a:pt x="0" y="45720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2-mark34"/>
          <p:cNvSpPr/>
          <p:nvPr/>
        </p:nvSpPr>
        <p:spPr>
          <a:xfrm>
            <a:off x="7375093" y="1943100"/>
            <a:ext cx="1583741" cy="914400"/>
          </a:xfrm>
          <a:custGeom>
            <a:avLst/>
            <a:gdLst/>
            <a:ahLst/>
            <a:cxnLst/>
            <a:rect l="l" t="t" r="r" b="b"/>
            <a:pathLst>
              <a:path w="1583741" h="914400">
                <a:moveTo>
                  <a:pt x="0" y="457200"/>
                </a:moveTo>
                <a:lnTo>
                  <a:pt x="791870" y="914400"/>
                </a:lnTo>
                <a:lnTo>
                  <a:pt x="1583741" y="457200"/>
                </a:lnTo>
                <a:lnTo>
                  <a:pt x="7918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2-mark35"/>
          <p:cNvSpPr/>
          <p:nvPr/>
        </p:nvSpPr>
        <p:spPr>
          <a:xfrm>
            <a:off x="7375093" y="24003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914400"/>
                </a:moveTo>
                <a:lnTo>
                  <a:pt x="791870" y="1371600"/>
                </a:lnTo>
                <a:lnTo>
                  <a:pt x="79187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2-mark36"/>
          <p:cNvSpPr/>
          <p:nvPr/>
        </p:nvSpPr>
        <p:spPr>
          <a:xfrm>
            <a:off x="8166964" y="24003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1371600"/>
                </a:moveTo>
                <a:lnTo>
                  <a:pt x="791870" y="914400"/>
                </a:lnTo>
                <a:lnTo>
                  <a:pt x="791870" y="0"/>
                </a:lnTo>
                <a:lnTo>
                  <a:pt x="0" y="45720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2-mark37"/>
          <p:cNvSpPr/>
          <p:nvPr/>
        </p:nvSpPr>
        <p:spPr>
          <a:xfrm>
            <a:off x="8958834" y="3771900"/>
            <a:ext cx="1583741" cy="914400"/>
          </a:xfrm>
          <a:custGeom>
            <a:avLst/>
            <a:gdLst/>
            <a:ahLst/>
            <a:cxnLst/>
            <a:rect l="l" t="t" r="r" b="b"/>
            <a:pathLst>
              <a:path w="1583741" h="914400">
                <a:moveTo>
                  <a:pt x="0" y="457200"/>
                </a:moveTo>
                <a:lnTo>
                  <a:pt x="791870" y="914400"/>
                </a:lnTo>
                <a:lnTo>
                  <a:pt x="1583741" y="457200"/>
                </a:lnTo>
                <a:lnTo>
                  <a:pt x="7918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2-mark38"/>
          <p:cNvSpPr/>
          <p:nvPr/>
        </p:nvSpPr>
        <p:spPr>
          <a:xfrm>
            <a:off x="8958834" y="42291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914400"/>
                </a:moveTo>
                <a:lnTo>
                  <a:pt x="791870" y="1371600"/>
                </a:lnTo>
                <a:lnTo>
                  <a:pt x="79187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2-mark39"/>
          <p:cNvSpPr/>
          <p:nvPr/>
        </p:nvSpPr>
        <p:spPr>
          <a:xfrm>
            <a:off x="9750704" y="42291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1371600"/>
                </a:moveTo>
                <a:lnTo>
                  <a:pt x="791870" y="914400"/>
                </a:lnTo>
                <a:lnTo>
                  <a:pt x="791870" y="0"/>
                </a:lnTo>
                <a:lnTo>
                  <a:pt x="0" y="45720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2-chip4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6" name="S02-text4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쌓기나무는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2800" dirty="0"/>
          </a:p>
        </p:txBody>
      </p:sp>
      <p:sp>
        <p:nvSpPr>
          <p:cNvPr id="17" name="S02-chip4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8" name="S02-text43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2층에 있는 쌓기나무는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2800" dirty="0"/>
          </a:p>
        </p:txBody>
      </p:sp>
      <p:sp>
        <p:nvSpPr>
          <p:cNvPr id="19" name="S02-chip4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0" name="S02-text45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보면 원, 앞에서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보면 직사각형인 도형은?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위·앞·옆에서 본 모양</a:t>
            </a:r>
            <a:endParaRPr lang="ko-KR" sz="4000" dirty="0"/>
          </a:p>
        </p:txBody>
      </p:sp>
      <p:sp>
        <p:nvSpPr>
          <p:cNvPr id="3" name="S03-card46"/>
          <p:cNvSpPr/>
          <p:nvPr/>
        </p:nvSpPr>
        <p:spPr>
          <a:xfrm>
            <a:off x="548640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47"/>
          <p:cNvSpPr txBox="1"/>
          <p:nvPr/>
        </p:nvSpPr>
        <p:spPr>
          <a:xfrm>
            <a:off x="822960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아래쪽이 앞이에요.</a:t>
            </a:r>
            <a:endParaRPr lang="ko-KR" sz="2800" dirty="0"/>
          </a:p>
        </p:txBody>
      </p:sp>
      <p:sp>
        <p:nvSpPr>
          <p:cNvPr id="5" name="S03-card48"/>
          <p:cNvSpPr/>
          <p:nvPr/>
        </p:nvSpPr>
        <p:spPr>
          <a:xfrm>
            <a:off x="4322064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49"/>
          <p:cNvSpPr txBox="1"/>
          <p:nvPr/>
        </p:nvSpPr>
        <p:spPr>
          <a:xfrm>
            <a:off x="4596384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줄마다 가장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층만큼</a:t>
            </a:r>
            <a:endParaRPr lang="ko-KR" sz="2800" dirty="0"/>
          </a:p>
        </p:txBody>
      </p:sp>
      <p:sp>
        <p:nvSpPr>
          <p:cNvPr id="7" name="S03-card50"/>
          <p:cNvSpPr/>
          <p:nvPr/>
        </p:nvSpPr>
        <p:spPr>
          <a:xfrm>
            <a:off x="8095488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51"/>
          <p:cNvSpPr txBox="1"/>
          <p:nvPr/>
        </p:nvSpPr>
        <p:spPr>
          <a:xfrm>
            <a:off x="8369808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옆(오른쪽)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앞줄이 왼쪽에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보여요.</a:t>
            </a:r>
            <a:endParaRPr lang="ko-KR" sz="2800" dirty="0"/>
          </a:p>
        </p:txBody>
      </p:sp>
      <p:sp>
        <p:nvSpPr>
          <p:cNvPr id="9" name="S03-figure52" descr="쌓기나무 8개로 쌓은 모양과 앞, 옆(오른쪽)을 가리키는 화살표: 앞줄은 왼쪽부터 2층, 1층, 1층, 뒷줄은 왼쪽부터 3층, 1층"/>
          <p:cNvSpPr/>
          <p:nvPr/>
        </p:nvSpPr>
        <p:spPr>
          <a:xfrm>
            <a:off x="1066423" y="2521290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3-mark53"/>
          <p:cNvSpPr/>
          <p:nvPr/>
        </p:nvSpPr>
        <p:spPr>
          <a:xfrm>
            <a:off x="1066423" y="2771846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3-mark54"/>
          <p:cNvSpPr/>
          <p:nvPr/>
        </p:nvSpPr>
        <p:spPr>
          <a:xfrm>
            <a:off x="1500386" y="2771846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3-mark55"/>
          <p:cNvSpPr/>
          <p:nvPr/>
        </p:nvSpPr>
        <p:spPr>
          <a:xfrm>
            <a:off x="632460" y="2771846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3-mark56"/>
          <p:cNvSpPr/>
          <p:nvPr/>
        </p:nvSpPr>
        <p:spPr>
          <a:xfrm>
            <a:off x="632460" y="302240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3-mark57"/>
          <p:cNvSpPr/>
          <p:nvPr/>
        </p:nvSpPr>
        <p:spPr>
          <a:xfrm>
            <a:off x="1066423" y="302240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3-mark58"/>
          <p:cNvSpPr/>
          <p:nvPr/>
        </p:nvSpPr>
        <p:spPr>
          <a:xfrm>
            <a:off x="1500386" y="2771846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3-mark59"/>
          <p:cNvSpPr/>
          <p:nvPr/>
        </p:nvSpPr>
        <p:spPr>
          <a:xfrm>
            <a:off x="1500386" y="302240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3-mark60"/>
          <p:cNvSpPr/>
          <p:nvPr/>
        </p:nvSpPr>
        <p:spPr>
          <a:xfrm>
            <a:off x="1934349" y="302240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3-mark61"/>
          <p:cNvSpPr/>
          <p:nvPr/>
        </p:nvSpPr>
        <p:spPr>
          <a:xfrm>
            <a:off x="1066423" y="2020178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3-mark62"/>
          <p:cNvSpPr/>
          <p:nvPr/>
        </p:nvSpPr>
        <p:spPr>
          <a:xfrm>
            <a:off x="1066423" y="2270734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3-mark63"/>
          <p:cNvSpPr/>
          <p:nvPr/>
        </p:nvSpPr>
        <p:spPr>
          <a:xfrm>
            <a:off x="1500386" y="2270734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3-mark64"/>
          <p:cNvSpPr/>
          <p:nvPr/>
        </p:nvSpPr>
        <p:spPr>
          <a:xfrm>
            <a:off x="1066423" y="3022402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3-mark65"/>
          <p:cNvSpPr/>
          <p:nvPr/>
        </p:nvSpPr>
        <p:spPr>
          <a:xfrm>
            <a:off x="1066423" y="3272958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3-mark66"/>
          <p:cNvSpPr/>
          <p:nvPr/>
        </p:nvSpPr>
        <p:spPr>
          <a:xfrm>
            <a:off x="1500386" y="3272958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3-mark67"/>
          <p:cNvSpPr/>
          <p:nvPr/>
        </p:nvSpPr>
        <p:spPr>
          <a:xfrm>
            <a:off x="632460" y="2270734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3-mark68"/>
          <p:cNvSpPr/>
          <p:nvPr/>
        </p:nvSpPr>
        <p:spPr>
          <a:xfrm>
            <a:off x="632460" y="2521290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3-mark69"/>
          <p:cNvSpPr/>
          <p:nvPr/>
        </p:nvSpPr>
        <p:spPr>
          <a:xfrm>
            <a:off x="1066423" y="2521290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3-mark70"/>
          <p:cNvSpPr/>
          <p:nvPr/>
        </p:nvSpPr>
        <p:spPr>
          <a:xfrm>
            <a:off x="1066423" y="1519066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3-mark71"/>
          <p:cNvSpPr/>
          <p:nvPr/>
        </p:nvSpPr>
        <p:spPr>
          <a:xfrm>
            <a:off x="1066423" y="176962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3-mark72"/>
          <p:cNvSpPr/>
          <p:nvPr/>
        </p:nvSpPr>
        <p:spPr>
          <a:xfrm>
            <a:off x="1500386" y="176962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3-mark73"/>
          <p:cNvSpPr/>
          <p:nvPr/>
        </p:nvSpPr>
        <p:spPr>
          <a:xfrm>
            <a:off x="1500386" y="3272958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3-mark74"/>
          <p:cNvSpPr/>
          <p:nvPr/>
        </p:nvSpPr>
        <p:spPr>
          <a:xfrm>
            <a:off x="1500386" y="3523514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3-mark75"/>
          <p:cNvSpPr/>
          <p:nvPr/>
        </p:nvSpPr>
        <p:spPr>
          <a:xfrm>
            <a:off x="1934349" y="3523514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03-mark76"/>
          <p:cNvSpPr/>
          <p:nvPr/>
        </p:nvSpPr>
        <p:spPr>
          <a:xfrm flipV="1">
            <a:off x="805845" y="3723959"/>
            <a:ext cx="347271" cy="200445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4" name="S03-mark77"/>
          <p:cNvSpPr/>
          <p:nvPr/>
        </p:nvSpPr>
        <p:spPr>
          <a:xfrm flipH="1" flipV="1">
            <a:off x="2498601" y="3849237"/>
            <a:ext cx="347271" cy="200445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3-label79"/>
          <p:cNvSpPr txBox="1"/>
          <p:nvPr/>
        </p:nvSpPr>
        <p:spPr>
          <a:xfrm>
            <a:off x="462238" y="383747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6" name="S03-label81"/>
          <p:cNvSpPr txBox="1"/>
          <p:nvPr/>
        </p:nvSpPr>
        <p:spPr>
          <a:xfrm>
            <a:off x="2805938" y="396275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37" name="S03-cell82"/>
          <p:cNvSpPr/>
          <p:nvPr/>
        </p:nvSpPr>
        <p:spPr>
          <a:xfrm>
            <a:off x="3982212" y="22147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83"/>
          <p:cNvSpPr/>
          <p:nvPr/>
        </p:nvSpPr>
        <p:spPr>
          <a:xfrm>
            <a:off x="4439412" y="22147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84"/>
          <p:cNvSpPr/>
          <p:nvPr/>
        </p:nvSpPr>
        <p:spPr>
          <a:xfrm>
            <a:off x="4896612" y="22147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cell85"/>
          <p:cNvSpPr/>
          <p:nvPr/>
        </p:nvSpPr>
        <p:spPr>
          <a:xfrm>
            <a:off x="3982212" y="26719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cell86"/>
          <p:cNvSpPr/>
          <p:nvPr/>
        </p:nvSpPr>
        <p:spPr>
          <a:xfrm>
            <a:off x="4439412" y="26719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3-cell87"/>
          <p:cNvSpPr/>
          <p:nvPr/>
        </p:nvSpPr>
        <p:spPr>
          <a:xfrm>
            <a:off x="4896612" y="26719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3-figure88" descr="위에서 본 모양: 뒷줄 왼쪽 2칸, 앞줄 3칸 색칠"/>
          <p:cNvSpPr/>
          <p:nvPr/>
        </p:nvSpPr>
        <p:spPr>
          <a:xfrm>
            <a:off x="3982212" y="2214753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03-label89"/>
          <p:cNvSpPr txBox="1"/>
          <p:nvPr/>
        </p:nvSpPr>
        <p:spPr>
          <a:xfrm>
            <a:off x="3401568" y="4091178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endParaRPr lang="ko-KR" sz="2200" dirty="0"/>
          </a:p>
        </p:txBody>
      </p:sp>
      <p:sp>
        <p:nvSpPr>
          <p:cNvPr id="45" name="S03-cell90"/>
          <p:cNvSpPr/>
          <p:nvPr/>
        </p:nvSpPr>
        <p:spPr>
          <a:xfrm>
            <a:off x="6835140" y="19861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cell91"/>
          <p:cNvSpPr/>
          <p:nvPr/>
        </p:nvSpPr>
        <p:spPr>
          <a:xfrm>
            <a:off x="7292340" y="19861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3-cell92"/>
          <p:cNvSpPr/>
          <p:nvPr/>
        </p:nvSpPr>
        <p:spPr>
          <a:xfrm>
            <a:off x="7749540" y="19861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3-cell93"/>
          <p:cNvSpPr/>
          <p:nvPr/>
        </p:nvSpPr>
        <p:spPr>
          <a:xfrm>
            <a:off x="6835140" y="24433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3-cell94"/>
          <p:cNvSpPr/>
          <p:nvPr/>
        </p:nvSpPr>
        <p:spPr>
          <a:xfrm>
            <a:off x="7292340" y="24433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3-cell95"/>
          <p:cNvSpPr/>
          <p:nvPr/>
        </p:nvSpPr>
        <p:spPr>
          <a:xfrm>
            <a:off x="7749540" y="24433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3-cell96"/>
          <p:cNvSpPr/>
          <p:nvPr/>
        </p:nvSpPr>
        <p:spPr>
          <a:xfrm>
            <a:off x="6835140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3-cell97"/>
          <p:cNvSpPr/>
          <p:nvPr/>
        </p:nvSpPr>
        <p:spPr>
          <a:xfrm>
            <a:off x="7292340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3-cell98"/>
          <p:cNvSpPr/>
          <p:nvPr/>
        </p:nvSpPr>
        <p:spPr>
          <a:xfrm>
            <a:off x="7749540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3-figure99" descr="앞에서 본 모양: 왼쪽 줄 3칸, 가운데 줄 1칸, 오른쪽 줄 1칸 색칠"/>
          <p:cNvSpPr/>
          <p:nvPr/>
        </p:nvSpPr>
        <p:spPr>
          <a:xfrm>
            <a:off x="6835140" y="1986153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5" name="S03-label100"/>
          <p:cNvSpPr txBox="1"/>
          <p:nvPr/>
        </p:nvSpPr>
        <p:spPr>
          <a:xfrm>
            <a:off x="6254496" y="4091178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56" name="S03-cell101"/>
          <p:cNvSpPr/>
          <p:nvPr/>
        </p:nvSpPr>
        <p:spPr>
          <a:xfrm>
            <a:off x="9916668" y="19861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3-cell102"/>
          <p:cNvSpPr/>
          <p:nvPr/>
        </p:nvSpPr>
        <p:spPr>
          <a:xfrm>
            <a:off x="10373868" y="19861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3-cell103"/>
          <p:cNvSpPr/>
          <p:nvPr/>
        </p:nvSpPr>
        <p:spPr>
          <a:xfrm>
            <a:off x="9916668" y="24433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3-cell104"/>
          <p:cNvSpPr/>
          <p:nvPr/>
        </p:nvSpPr>
        <p:spPr>
          <a:xfrm>
            <a:off x="10373868" y="24433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3-cell105"/>
          <p:cNvSpPr/>
          <p:nvPr/>
        </p:nvSpPr>
        <p:spPr>
          <a:xfrm>
            <a:off x="9916668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3-cell106"/>
          <p:cNvSpPr/>
          <p:nvPr/>
        </p:nvSpPr>
        <p:spPr>
          <a:xfrm>
            <a:off x="10373868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3-figure107" descr="오른쪽 옆에서 본 모양: 왼쪽(앞줄) 2칸, 오른쪽(뒷줄) 3칸 색칠"/>
          <p:cNvSpPr/>
          <p:nvPr/>
        </p:nvSpPr>
        <p:spPr>
          <a:xfrm>
            <a:off x="9916668" y="1986153"/>
            <a:ext cx="9144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3" name="S03-label108"/>
          <p:cNvSpPr txBox="1"/>
          <p:nvPr/>
        </p:nvSpPr>
        <p:spPr>
          <a:xfrm>
            <a:off x="9107424" y="4091178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앞과 옆에서 본 모양 찾기</a:t>
            </a:r>
            <a:endParaRPr lang="ko-KR" sz="4000" dirty="0"/>
          </a:p>
        </p:txBody>
      </p:sp>
      <p:sp>
        <p:nvSpPr>
          <p:cNvPr id="3" name="S04-text10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앞과 옆(오른쪽)에서 본 모양을 골라요.</a:t>
            </a:r>
            <a:endParaRPr lang="ko-KR" sz="2800" dirty="0"/>
          </a:p>
        </p:txBody>
      </p:sp>
      <p:sp>
        <p:nvSpPr>
          <p:cNvPr id="4" name="S04-figure110" descr="쌓기나무 9개로 쌓은 모양: 앞줄은 왼쪽부터 1층, 1층, 2층, 뒷줄은 가운데 2층, 오른쪽 3층"/>
          <p:cNvSpPr/>
          <p:nvPr/>
        </p:nvSpPr>
        <p:spPr>
          <a:xfrm>
            <a:off x="6840813" y="3441700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4-mark111"/>
          <p:cNvSpPr/>
          <p:nvPr/>
        </p:nvSpPr>
        <p:spPr>
          <a:xfrm>
            <a:off x="6840813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4-mark112"/>
          <p:cNvSpPr/>
          <p:nvPr/>
        </p:nvSpPr>
        <p:spPr>
          <a:xfrm>
            <a:off x="7618019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4-mark113"/>
          <p:cNvSpPr/>
          <p:nvPr/>
        </p:nvSpPr>
        <p:spPr>
          <a:xfrm>
            <a:off x="8395225" y="3441700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4-mark114"/>
          <p:cNvSpPr/>
          <p:nvPr/>
        </p:nvSpPr>
        <p:spPr>
          <a:xfrm>
            <a:off x="8395225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4-mark115"/>
          <p:cNvSpPr/>
          <p:nvPr/>
        </p:nvSpPr>
        <p:spPr>
          <a:xfrm>
            <a:off x="9172431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4-mark116"/>
          <p:cNvSpPr/>
          <p:nvPr/>
        </p:nvSpPr>
        <p:spPr>
          <a:xfrm>
            <a:off x="7618019" y="3890433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4-mark117"/>
          <p:cNvSpPr/>
          <p:nvPr/>
        </p:nvSpPr>
        <p:spPr>
          <a:xfrm>
            <a:off x="7618019" y="43391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4-mark118"/>
          <p:cNvSpPr/>
          <p:nvPr/>
        </p:nvSpPr>
        <p:spPr>
          <a:xfrm>
            <a:off x="8395225" y="43391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4-mark119"/>
          <p:cNvSpPr/>
          <p:nvPr/>
        </p:nvSpPr>
        <p:spPr>
          <a:xfrm>
            <a:off x="9172431" y="3890433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4-mark120"/>
          <p:cNvSpPr/>
          <p:nvPr/>
        </p:nvSpPr>
        <p:spPr>
          <a:xfrm>
            <a:off x="9172431" y="43391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4-mark121"/>
          <p:cNvSpPr/>
          <p:nvPr/>
        </p:nvSpPr>
        <p:spPr>
          <a:xfrm>
            <a:off x="9949637" y="43391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4-mark122"/>
          <p:cNvSpPr/>
          <p:nvPr/>
        </p:nvSpPr>
        <p:spPr>
          <a:xfrm>
            <a:off x="8395225" y="2544233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4-mark123"/>
          <p:cNvSpPr/>
          <p:nvPr/>
        </p:nvSpPr>
        <p:spPr>
          <a:xfrm>
            <a:off x="8395225" y="29929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4-mark124"/>
          <p:cNvSpPr/>
          <p:nvPr/>
        </p:nvSpPr>
        <p:spPr>
          <a:xfrm>
            <a:off x="9172431" y="29929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mark125"/>
          <p:cNvSpPr/>
          <p:nvPr/>
        </p:nvSpPr>
        <p:spPr>
          <a:xfrm>
            <a:off x="8395225" y="4339167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4-mark126"/>
          <p:cNvSpPr/>
          <p:nvPr/>
        </p:nvSpPr>
        <p:spPr>
          <a:xfrm>
            <a:off x="8395225" y="4787900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4-mark127"/>
          <p:cNvSpPr/>
          <p:nvPr/>
        </p:nvSpPr>
        <p:spPr>
          <a:xfrm>
            <a:off x="9172431" y="4787900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4-mark128"/>
          <p:cNvSpPr/>
          <p:nvPr/>
        </p:nvSpPr>
        <p:spPr>
          <a:xfrm>
            <a:off x="9172431" y="2992967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4-mark129"/>
          <p:cNvSpPr/>
          <p:nvPr/>
        </p:nvSpPr>
        <p:spPr>
          <a:xfrm>
            <a:off x="9172431" y="3441700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4-mark130"/>
          <p:cNvSpPr/>
          <p:nvPr/>
        </p:nvSpPr>
        <p:spPr>
          <a:xfrm>
            <a:off x="9949637" y="3441700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4-mark131"/>
          <p:cNvSpPr/>
          <p:nvPr/>
        </p:nvSpPr>
        <p:spPr>
          <a:xfrm>
            <a:off x="8395225" y="3441700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4-mark132"/>
          <p:cNvSpPr/>
          <p:nvPr/>
        </p:nvSpPr>
        <p:spPr>
          <a:xfrm>
            <a:off x="8395225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4-mark133"/>
          <p:cNvSpPr/>
          <p:nvPr/>
        </p:nvSpPr>
        <p:spPr>
          <a:xfrm>
            <a:off x="9172431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4-mark134"/>
          <p:cNvSpPr/>
          <p:nvPr/>
        </p:nvSpPr>
        <p:spPr>
          <a:xfrm>
            <a:off x="9172431" y="2095500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4-mark135"/>
          <p:cNvSpPr/>
          <p:nvPr/>
        </p:nvSpPr>
        <p:spPr>
          <a:xfrm>
            <a:off x="9172431" y="25442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4-mark136"/>
          <p:cNvSpPr/>
          <p:nvPr/>
        </p:nvSpPr>
        <p:spPr>
          <a:xfrm>
            <a:off x="9949637" y="25442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4-mark137"/>
          <p:cNvSpPr/>
          <p:nvPr/>
        </p:nvSpPr>
        <p:spPr>
          <a:xfrm flipV="1">
            <a:off x="7151336" y="5146887"/>
            <a:ext cx="621944" cy="35898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2" name="S04-mark138"/>
          <p:cNvSpPr/>
          <p:nvPr/>
        </p:nvSpPr>
        <p:spPr>
          <a:xfrm flipH="1" flipV="1">
            <a:off x="10182979" y="5371253"/>
            <a:ext cx="621944" cy="35898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4-label140"/>
          <p:cNvSpPr txBox="1"/>
          <p:nvPr/>
        </p:nvSpPr>
        <p:spPr>
          <a:xfrm>
            <a:off x="6687634" y="548830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4" name="S04-label142"/>
          <p:cNvSpPr txBox="1"/>
          <p:nvPr/>
        </p:nvSpPr>
        <p:spPr>
          <a:xfrm>
            <a:off x="10885085" y="571267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35" name="S04-chip14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36" name="S04-cell144"/>
          <p:cNvSpPr/>
          <p:nvPr/>
        </p:nvSpPr>
        <p:spPr>
          <a:xfrm>
            <a:off x="3079242" y="21031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cell145"/>
          <p:cNvSpPr/>
          <p:nvPr/>
        </p:nvSpPr>
        <p:spPr>
          <a:xfrm>
            <a:off x="3445002" y="21031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4-cell146"/>
          <p:cNvSpPr/>
          <p:nvPr/>
        </p:nvSpPr>
        <p:spPr>
          <a:xfrm>
            <a:off x="3810762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4-cell147"/>
          <p:cNvSpPr/>
          <p:nvPr/>
        </p:nvSpPr>
        <p:spPr>
          <a:xfrm>
            <a:off x="3079242" y="246888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4-cell148"/>
          <p:cNvSpPr/>
          <p:nvPr/>
        </p:nvSpPr>
        <p:spPr>
          <a:xfrm>
            <a:off x="3445002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4-cell149"/>
          <p:cNvSpPr/>
          <p:nvPr/>
        </p:nvSpPr>
        <p:spPr>
          <a:xfrm>
            <a:off x="3810762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4-cell150"/>
          <p:cNvSpPr/>
          <p:nvPr/>
        </p:nvSpPr>
        <p:spPr>
          <a:xfrm>
            <a:off x="307924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4-cell151"/>
          <p:cNvSpPr/>
          <p:nvPr/>
        </p:nvSpPr>
        <p:spPr>
          <a:xfrm>
            <a:off x="344500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4-cell152"/>
          <p:cNvSpPr/>
          <p:nvPr/>
        </p:nvSpPr>
        <p:spPr>
          <a:xfrm>
            <a:off x="381076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4-figure153" descr="가: 왼쪽부터 1칸, 2칸, 3칸 색칠(3줄)"/>
          <p:cNvSpPr/>
          <p:nvPr/>
        </p:nvSpPr>
        <p:spPr>
          <a:xfrm>
            <a:off x="3079242" y="210312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4-chip15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47" name="S04-cell155"/>
          <p:cNvSpPr/>
          <p:nvPr/>
        </p:nvSpPr>
        <p:spPr>
          <a:xfrm>
            <a:off x="3262122" y="35661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4-cell156"/>
          <p:cNvSpPr/>
          <p:nvPr/>
        </p:nvSpPr>
        <p:spPr>
          <a:xfrm>
            <a:off x="3627882" y="35661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4-cell157"/>
          <p:cNvSpPr/>
          <p:nvPr/>
        </p:nvSpPr>
        <p:spPr>
          <a:xfrm>
            <a:off x="3262122" y="39319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4-cell158"/>
          <p:cNvSpPr/>
          <p:nvPr/>
        </p:nvSpPr>
        <p:spPr>
          <a:xfrm>
            <a:off x="3627882" y="39319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4-cell159"/>
          <p:cNvSpPr/>
          <p:nvPr/>
        </p:nvSpPr>
        <p:spPr>
          <a:xfrm>
            <a:off x="3262122" y="42976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4-cell160"/>
          <p:cNvSpPr/>
          <p:nvPr/>
        </p:nvSpPr>
        <p:spPr>
          <a:xfrm>
            <a:off x="3627882" y="42976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4-figure161" descr="나: 왼쪽 2칸, 오른쪽 3칸 색칠(2줄)"/>
          <p:cNvSpPr/>
          <p:nvPr/>
        </p:nvSpPr>
        <p:spPr>
          <a:xfrm>
            <a:off x="3262122" y="3566160"/>
            <a:ext cx="7315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4" name="S04-chip16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55" name="S04-cell163"/>
          <p:cNvSpPr/>
          <p:nvPr/>
        </p:nvSpPr>
        <p:spPr>
          <a:xfrm>
            <a:off x="3079242" y="50292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4-cell164"/>
          <p:cNvSpPr/>
          <p:nvPr/>
        </p:nvSpPr>
        <p:spPr>
          <a:xfrm>
            <a:off x="3445002" y="5029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4-cell165"/>
          <p:cNvSpPr/>
          <p:nvPr/>
        </p:nvSpPr>
        <p:spPr>
          <a:xfrm>
            <a:off x="3810762" y="5029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4-cell166"/>
          <p:cNvSpPr/>
          <p:nvPr/>
        </p:nvSpPr>
        <p:spPr>
          <a:xfrm>
            <a:off x="3079242" y="53949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4-cell167"/>
          <p:cNvSpPr/>
          <p:nvPr/>
        </p:nvSpPr>
        <p:spPr>
          <a:xfrm>
            <a:off x="3445002" y="53949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4-cell168"/>
          <p:cNvSpPr/>
          <p:nvPr/>
        </p:nvSpPr>
        <p:spPr>
          <a:xfrm>
            <a:off x="3810762" y="5394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4-cell169"/>
          <p:cNvSpPr/>
          <p:nvPr/>
        </p:nvSpPr>
        <p:spPr>
          <a:xfrm>
            <a:off x="307924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4-cell170"/>
          <p:cNvSpPr/>
          <p:nvPr/>
        </p:nvSpPr>
        <p:spPr>
          <a:xfrm>
            <a:off x="344500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4-cell171"/>
          <p:cNvSpPr/>
          <p:nvPr/>
        </p:nvSpPr>
        <p:spPr>
          <a:xfrm>
            <a:off x="381076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4-figure172" descr="다: 왼쪽부터 3칸, 2칸, 1칸 색칠(3줄)"/>
          <p:cNvSpPr/>
          <p:nvPr/>
        </p:nvSpPr>
        <p:spPr>
          <a:xfrm>
            <a:off x="3079242" y="502920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보이지 않는 쌓기나무</a:t>
            </a:r>
            <a:endParaRPr lang="ko-KR" sz="4000" dirty="0"/>
          </a:p>
        </p:txBody>
      </p:sp>
      <p:sp>
        <p:nvSpPr>
          <p:cNvPr id="3" name="S05-card173"/>
          <p:cNvSpPr/>
          <p:nvPr/>
        </p:nvSpPr>
        <p:spPr>
          <a:xfrm>
            <a:off x="548640" y="5021072"/>
            <a:ext cx="543153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174"/>
          <p:cNvSpPr txBox="1"/>
          <p:nvPr/>
        </p:nvSpPr>
        <p:spPr>
          <a:xfrm>
            <a:off x="822960" y="5158232"/>
            <a:ext cx="488289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숨은 쌓기나무가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있을 수 있어요.</a:t>
            </a:r>
            <a:endParaRPr lang="ko-KR" sz="2800" dirty="0"/>
          </a:p>
        </p:txBody>
      </p:sp>
      <p:sp>
        <p:nvSpPr>
          <p:cNvPr id="5" name="S05-card175"/>
          <p:cNvSpPr/>
          <p:nvPr/>
        </p:nvSpPr>
        <p:spPr>
          <a:xfrm>
            <a:off x="6208776" y="5021072"/>
            <a:ext cx="543153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76"/>
          <p:cNvSpPr txBox="1"/>
          <p:nvPr/>
        </p:nvSpPr>
        <p:spPr>
          <a:xfrm>
            <a:off x="6483096" y="5158232"/>
            <a:ext cx="488289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모양을 보면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개수가 정해져요.</a:t>
            </a:r>
            <a:endParaRPr lang="ko-KR" sz="2800" dirty="0"/>
          </a:p>
        </p:txBody>
      </p:sp>
      <p:sp>
        <p:nvSpPr>
          <p:cNvPr id="7" name="S05-figure177" descr="쌓기나무를 쌓은 모양: 앞줄은 왼쪽 1층, 오른쪽 2층, 뒷줄 오른쪽 1층이 보임. 뒷줄 왼쪽은 가려져 보이지 않음"/>
          <p:cNvSpPr/>
          <p:nvPr/>
        </p:nvSpPr>
        <p:spPr>
          <a:xfrm>
            <a:off x="937203" y="2277785"/>
            <a:ext cx="1353369" cy="781391"/>
          </a:xfrm>
          <a:custGeom>
            <a:avLst/>
            <a:gdLst/>
            <a:ahLst/>
            <a:cxnLst/>
            <a:rect l="l" t="t" r="r" b="b"/>
            <a:pathLst>
              <a:path w="1353369" h="781391">
                <a:moveTo>
                  <a:pt x="0" y="390696"/>
                </a:moveTo>
                <a:lnTo>
                  <a:pt x="676685" y="781391"/>
                </a:lnTo>
                <a:lnTo>
                  <a:pt x="1353369" y="390696"/>
                </a:lnTo>
                <a:lnTo>
                  <a:pt x="67668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5-mark178"/>
          <p:cNvSpPr/>
          <p:nvPr/>
        </p:nvSpPr>
        <p:spPr>
          <a:xfrm>
            <a:off x="937203" y="2668480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781391"/>
                </a:moveTo>
                <a:lnTo>
                  <a:pt x="676685" y="1172087"/>
                </a:lnTo>
                <a:lnTo>
                  <a:pt x="676685" y="39069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5-mark179"/>
          <p:cNvSpPr/>
          <p:nvPr/>
        </p:nvSpPr>
        <p:spPr>
          <a:xfrm>
            <a:off x="1613887" y="2668480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1172087"/>
                </a:moveTo>
                <a:lnTo>
                  <a:pt x="676685" y="781391"/>
                </a:lnTo>
                <a:lnTo>
                  <a:pt x="676685" y="0"/>
                </a:lnTo>
                <a:lnTo>
                  <a:pt x="0" y="39069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5-mark180"/>
          <p:cNvSpPr/>
          <p:nvPr/>
        </p:nvSpPr>
        <p:spPr>
          <a:xfrm>
            <a:off x="2290572" y="2277785"/>
            <a:ext cx="1353369" cy="781391"/>
          </a:xfrm>
          <a:custGeom>
            <a:avLst/>
            <a:gdLst/>
            <a:ahLst/>
            <a:cxnLst/>
            <a:rect l="l" t="t" r="r" b="b"/>
            <a:pathLst>
              <a:path w="1353369" h="781391">
                <a:moveTo>
                  <a:pt x="0" y="390696"/>
                </a:moveTo>
                <a:lnTo>
                  <a:pt x="676685" y="781391"/>
                </a:lnTo>
                <a:lnTo>
                  <a:pt x="1353369" y="390696"/>
                </a:lnTo>
                <a:lnTo>
                  <a:pt x="67668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5-mark181"/>
          <p:cNvSpPr/>
          <p:nvPr/>
        </p:nvSpPr>
        <p:spPr>
          <a:xfrm>
            <a:off x="2290572" y="2668480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781391"/>
                </a:moveTo>
                <a:lnTo>
                  <a:pt x="676685" y="1172087"/>
                </a:lnTo>
                <a:lnTo>
                  <a:pt x="676685" y="39069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5-mark182"/>
          <p:cNvSpPr/>
          <p:nvPr/>
        </p:nvSpPr>
        <p:spPr>
          <a:xfrm>
            <a:off x="2967257" y="2668480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1172087"/>
                </a:moveTo>
                <a:lnTo>
                  <a:pt x="676685" y="781391"/>
                </a:lnTo>
                <a:lnTo>
                  <a:pt x="676685" y="0"/>
                </a:lnTo>
                <a:lnTo>
                  <a:pt x="0" y="39069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5-mark183"/>
          <p:cNvSpPr/>
          <p:nvPr/>
        </p:nvSpPr>
        <p:spPr>
          <a:xfrm>
            <a:off x="1613887" y="2668480"/>
            <a:ext cx="1353369" cy="781391"/>
          </a:xfrm>
          <a:custGeom>
            <a:avLst/>
            <a:gdLst/>
            <a:ahLst/>
            <a:cxnLst/>
            <a:rect l="l" t="t" r="r" b="b"/>
            <a:pathLst>
              <a:path w="1353369" h="781391">
                <a:moveTo>
                  <a:pt x="0" y="390696"/>
                </a:moveTo>
                <a:lnTo>
                  <a:pt x="676685" y="781391"/>
                </a:lnTo>
                <a:lnTo>
                  <a:pt x="1353369" y="390696"/>
                </a:lnTo>
                <a:lnTo>
                  <a:pt x="67668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5-mark184"/>
          <p:cNvSpPr/>
          <p:nvPr/>
        </p:nvSpPr>
        <p:spPr>
          <a:xfrm>
            <a:off x="1613887" y="3059176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781391"/>
                </a:moveTo>
                <a:lnTo>
                  <a:pt x="676685" y="1172087"/>
                </a:lnTo>
                <a:lnTo>
                  <a:pt x="676685" y="39069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5-mark185"/>
          <p:cNvSpPr/>
          <p:nvPr/>
        </p:nvSpPr>
        <p:spPr>
          <a:xfrm>
            <a:off x="2290572" y="3059176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1172087"/>
                </a:moveTo>
                <a:lnTo>
                  <a:pt x="676685" y="781391"/>
                </a:lnTo>
                <a:lnTo>
                  <a:pt x="676685" y="0"/>
                </a:lnTo>
                <a:lnTo>
                  <a:pt x="0" y="39069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5-mark186"/>
          <p:cNvSpPr/>
          <p:nvPr/>
        </p:nvSpPr>
        <p:spPr>
          <a:xfrm>
            <a:off x="1613887" y="1887089"/>
            <a:ext cx="1353369" cy="781391"/>
          </a:xfrm>
          <a:custGeom>
            <a:avLst/>
            <a:gdLst/>
            <a:ahLst/>
            <a:cxnLst/>
            <a:rect l="l" t="t" r="r" b="b"/>
            <a:pathLst>
              <a:path w="1353369" h="781391">
                <a:moveTo>
                  <a:pt x="0" y="390696"/>
                </a:moveTo>
                <a:lnTo>
                  <a:pt x="676685" y="781391"/>
                </a:lnTo>
                <a:lnTo>
                  <a:pt x="1353369" y="390696"/>
                </a:lnTo>
                <a:lnTo>
                  <a:pt x="67668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5-mark187"/>
          <p:cNvSpPr/>
          <p:nvPr/>
        </p:nvSpPr>
        <p:spPr>
          <a:xfrm>
            <a:off x="1613887" y="2277785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781391"/>
                </a:moveTo>
                <a:lnTo>
                  <a:pt x="676685" y="1172087"/>
                </a:lnTo>
                <a:lnTo>
                  <a:pt x="676685" y="39069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5-mark188"/>
          <p:cNvSpPr/>
          <p:nvPr/>
        </p:nvSpPr>
        <p:spPr>
          <a:xfrm>
            <a:off x="2290572" y="2277785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1172087"/>
                </a:moveTo>
                <a:lnTo>
                  <a:pt x="676685" y="781391"/>
                </a:lnTo>
                <a:lnTo>
                  <a:pt x="676685" y="0"/>
                </a:lnTo>
                <a:lnTo>
                  <a:pt x="0" y="39069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5-mark189"/>
          <p:cNvSpPr/>
          <p:nvPr/>
        </p:nvSpPr>
        <p:spPr>
          <a:xfrm flipV="1">
            <a:off x="869222" y="3567080"/>
            <a:ext cx="541504" cy="312556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5-mark190"/>
          <p:cNvSpPr/>
          <p:nvPr/>
        </p:nvSpPr>
        <p:spPr>
          <a:xfrm flipH="1" flipV="1">
            <a:off x="3170418" y="3567080"/>
            <a:ext cx="541504" cy="312556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05-label192"/>
          <p:cNvSpPr txBox="1"/>
          <p:nvPr/>
        </p:nvSpPr>
        <p:spPr>
          <a:xfrm>
            <a:off x="440690" y="384175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22" name="S05-label194"/>
          <p:cNvSpPr txBox="1"/>
          <p:nvPr/>
        </p:nvSpPr>
        <p:spPr>
          <a:xfrm>
            <a:off x="3756914" y="384175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23" name="S05-figure195" descr="위에서 본 모양 ①: 앞줄 2칸, 뒷줄 오른쪽 1칸"/>
          <p:cNvSpPr/>
          <p:nvPr/>
        </p:nvSpPr>
        <p:spPr>
          <a:xfrm>
            <a:off x="5545836" y="268312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5-mark196"/>
          <p:cNvSpPr/>
          <p:nvPr/>
        </p:nvSpPr>
        <p:spPr>
          <a:xfrm>
            <a:off x="6094476" y="268312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5-mark197"/>
          <p:cNvSpPr/>
          <p:nvPr/>
        </p:nvSpPr>
        <p:spPr>
          <a:xfrm>
            <a:off x="6094476" y="213448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5-label199"/>
          <p:cNvSpPr txBox="1"/>
          <p:nvPr/>
        </p:nvSpPr>
        <p:spPr>
          <a:xfrm>
            <a:off x="5902706" y="335889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27" name="S05-label200"/>
          <p:cNvSpPr txBox="1"/>
          <p:nvPr/>
        </p:nvSpPr>
        <p:spPr>
          <a:xfrm>
            <a:off x="4352544" y="4415282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 ①</a:t>
            </a:r>
            <a:endParaRPr lang="ko-KR" sz="2200" dirty="0"/>
          </a:p>
        </p:txBody>
      </p:sp>
      <p:sp>
        <p:nvSpPr>
          <p:cNvPr id="28" name="S05-figure201" descr="위에서 본 모양 ②: 앞줄 2칸, 뒷줄 2칸(네 칸 모두)"/>
          <p:cNvSpPr/>
          <p:nvPr/>
        </p:nvSpPr>
        <p:spPr>
          <a:xfrm>
            <a:off x="9349740" y="268312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5-mark202"/>
          <p:cNvSpPr/>
          <p:nvPr/>
        </p:nvSpPr>
        <p:spPr>
          <a:xfrm>
            <a:off x="9349740" y="213448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5-mark203"/>
          <p:cNvSpPr/>
          <p:nvPr/>
        </p:nvSpPr>
        <p:spPr>
          <a:xfrm>
            <a:off x="9898380" y="268312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5-mark204"/>
          <p:cNvSpPr/>
          <p:nvPr/>
        </p:nvSpPr>
        <p:spPr>
          <a:xfrm>
            <a:off x="9898380" y="213448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5-label206"/>
          <p:cNvSpPr txBox="1"/>
          <p:nvPr/>
        </p:nvSpPr>
        <p:spPr>
          <a:xfrm>
            <a:off x="9706610" y="335889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3" name="S05-label207"/>
          <p:cNvSpPr txBox="1"/>
          <p:nvPr/>
        </p:nvSpPr>
        <p:spPr>
          <a:xfrm>
            <a:off x="8156448" y="4415282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 ②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모양에 수 쓰기</a:t>
            </a:r>
            <a:endParaRPr lang="ko-KR" sz="4000" dirty="0"/>
          </a:p>
        </p:txBody>
      </p:sp>
      <p:sp>
        <p:nvSpPr>
          <p:cNvPr id="3" name="S06-card208"/>
          <p:cNvSpPr/>
          <p:nvPr/>
        </p:nvSpPr>
        <p:spPr>
          <a:xfrm>
            <a:off x="548640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209"/>
          <p:cNvSpPr txBox="1"/>
          <p:nvPr/>
        </p:nvSpPr>
        <p:spPr>
          <a:xfrm>
            <a:off x="822960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수를 모두 더해요.</a:t>
            </a:r>
            <a:endParaRPr lang="ko-KR" sz="2800" dirty="0"/>
          </a:p>
        </p:txBody>
      </p:sp>
      <p:sp>
        <p:nvSpPr>
          <p:cNvPr id="5" name="S06-card210"/>
          <p:cNvSpPr/>
          <p:nvPr/>
        </p:nvSpPr>
        <p:spPr>
          <a:xfrm>
            <a:off x="6208776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211"/>
          <p:cNvSpPr txBox="1"/>
          <p:nvPr/>
        </p:nvSpPr>
        <p:spPr>
          <a:xfrm>
            <a:off x="6483096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앞·옆에서 본 모양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줄마다 가장 큰 수만큼</a:t>
            </a:r>
            <a:endParaRPr lang="ko-KR" sz="2800" dirty="0"/>
          </a:p>
        </p:txBody>
      </p:sp>
      <p:sp>
        <p:nvSpPr>
          <p:cNvPr id="7" name="S06-figure212" descr="쌓기나무 9개로 쌓은 모양: 앞줄은 왼쪽부터 1층, 2층, 1층, 뒷줄은 왼쪽부터 2층, 3층"/>
          <p:cNvSpPr/>
          <p:nvPr/>
        </p:nvSpPr>
        <p:spPr>
          <a:xfrm>
            <a:off x="2250812" y="2404415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6-mark213"/>
          <p:cNvSpPr/>
          <p:nvPr/>
        </p:nvSpPr>
        <p:spPr>
          <a:xfrm>
            <a:off x="2250812" y="2735986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mark214"/>
          <p:cNvSpPr/>
          <p:nvPr/>
        </p:nvSpPr>
        <p:spPr>
          <a:xfrm>
            <a:off x="2825094" y="2735986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6-mark215"/>
          <p:cNvSpPr/>
          <p:nvPr/>
        </p:nvSpPr>
        <p:spPr>
          <a:xfrm>
            <a:off x="1676530" y="2735986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6-mark216"/>
          <p:cNvSpPr/>
          <p:nvPr/>
        </p:nvSpPr>
        <p:spPr>
          <a:xfrm>
            <a:off x="1676530" y="3067558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6-mark217"/>
          <p:cNvSpPr/>
          <p:nvPr/>
        </p:nvSpPr>
        <p:spPr>
          <a:xfrm>
            <a:off x="2250812" y="3067558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6-mark218"/>
          <p:cNvSpPr/>
          <p:nvPr/>
        </p:nvSpPr>
        <p:spPr>
          <a:xfrm>
            <a:off x="2825094" y="2735986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6-mark219"/>
          <p:cNvSpPr/>
          <p:nvPr/>
        </p:nvSpPr>
        <p:spPr>
          <a:xfrm>
            <a:off x="2825094" y="3067558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6-mark220"/>
          <p:cNvSpPr/>
          <p:nvPr/>
        </p:nvSpPr>
        <p:spPr>
          <a:xfrm>
            <a:off x="3399376" y="3067558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6-mark221"/>
          <p:cNvSpPr/>
          <p:nvPr/>
        </p:nvSpPr>
        <p:spPr>
          <a:xfrm>
            <a:off x="2250812" y="1741272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6-mark222"/>
          <p:cNvSpPr/>
          <p:nvPr/>
        </p:nvSpPr>
        <p:spPr>
          <a:xfrm>
            <a:off x="2250812" y="2072843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6-mark223"/>
          <p:cNvSpPr/>
          <p:nvPr/>
        </p:nvSpPr>
        <p:spPr>
          <a:xfrm>
            <a:off x="2825094" y="2072843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mark224"/>
          <p:cNvSpPr/>
          <p:nvPr/>
        </p:nvSpPr>
        <p:spPr>
          <a:xfrm>
            <a:off x="2250812" y="3067558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6-mark225"/>
          <p:cNvSpPr/>
          <p:nvPr/>
        </p:nvSpPr>
        <p:spPr>
          <a:xfrm>
            <a:off x="2250812" y="3399130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6-mark226"/>
          <p:cNvSpPr/>
          <p:nvPr/>
        </p:nvSpPr>
        <p:spPr>
          <a:xfrm>
            <a:off x="2825094" y="3399130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6-mark227"/>
          <p:cNvSpPr/>
          <p:nvPr/>
        </p:nvSpPr>
        <p:spPr>
          <a:xfrm>
            <a:off x="2825094" y="2072843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6-mark228"/>
          <p:cNvSpPr/>
          <p:nvPr/>
        </p:nvSpPr>
        <p:spPr>
          <a:xfrm>
            <a:off x="2825094" y="2404415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6-mark229"/>
          <p:cNvSpPr/>
          <p:nvPr/>
        </p:nvSpPr>
        <p:spPr>
          <a:xfrm>
            <a:off x="3399376" y="2404415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6-mark230"/>
          <p:cNvSpPr/>
          <p:nvPr/>
        </p:nvSpPr>
        <p:spPr>
          <a:xfrm>
            <a:off x="2825094" y="3399130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6-mark231"/>
          <p:cNvSpPr/>
          <p:nvPr/>
        </p:nvSpPr>
        <p:spPr>
          <a:xfrm>
            <a:off x="2825094" y="3730701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6-mark232"/>
          <p:cNvSpPr/>
          <p:nvPr/>
        </p:nvSpPr>
        <p:spPr>
          <a:xfrm>
            <a:off x="3399376" y="3730701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6-mark233"/>
          <p:cNvSpPr/>
          <p:nvPr/>
        </p:nvSpPr>
        <p:spPr>
          <a:xfrm>
            <a:off x="2250812" y="2404415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6-mark234"/>
          <p:cNvSpPr/>
          <p:nvPr/>
        </p:nvSpPr>
        <p:spPr>
          <a:xfrm>
            <a:off x="2250812" y="2735986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6-mark235"/>
          <p:cNvSpPr/>
          <p:nvPr/>
        </p:nvSpPr>
        <p:spPr>
          <a:xfrm>
            <a:off x="2825094" y="2735986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6-mark236"/>
          <p:cNvSpPr/>
          <p:nvPr/>
        </p:nvSpPr>
        <p:spPr>
          <a:xfrm>
            <a:off x="2825094" y="1409700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6-mark237"/>
          <p:cNvSpPr/>
          <p:nvPr/>
        </p:nvSpPr>
        <p:spPr>
          <a:xfrm>
            <a:off x="2825094" y="1741272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06-mark238"/>
          <p:cNvSpPr/>
          <p:nvPr/>
        </p:nvSpPr>
        <p:spPr>
          <a:xfrm>
            <a:off x="3399376" y="1741272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06-mark239"/>
          <p:cNvSpPr/>
          <p:nvPr/>
        </p:nvSpPr>
        <p:spPr>
          <a:xfrm flipV="1">
            <a:off x="1905978" y="3995958"/>
            <a:ext cx="459558" cy="26525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6-mark240"/>
          <p:cNvSpPr/>
          <p:nvPr/>
        </p:nvSpPr>
        <p:spPr>
          <a:xfrm flipH="1" flipV="1">
            <a:off x="4146075" y="4161744"/>
            <a:ext cx="459558" cy="26525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6-label242"/>
          <p:cNvSpPr txBox="1"/>
          <p:nvPr/>
        </p:nvSpPr>
        <p:spPr>
          <a:xfrm>
            <a:off x="1513275" y="420264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7" name="S06-label244"/>
          <p:cNvSpPr txBox="1"/>
          <p:nvPr/>
        </p:nvSpPr>
        <p:spPr>
          <a:xfrm>
            <a:off x="4614796" y="436842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38" name="S06-figure245" descr="위에서 본 모양에 수를 씀: 뒷줄 2, 3 / 앞줄 1, 2, 1"/>
          <p:cNvSpPr/>
          <p:nvPr/>
        </p:nvSpPr>
        <p:spPr>
          <a:xfrm>
            <a:off x="7575804" y="25909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9" name="S06-mark246"/>
          <p:cNvSpPr/>
          <p:nvPr/>
        </p:nvSpPr>
        <p:spPr>
          <a:xfrm>
            <a:off x="7575804" y="16765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6-mark247"/>
          <p:cNvSpPr/>
          <p:nvPr/>
        </p:nvSpPr>
        <p:spPr>
          <a:xfrm>
            <a:off x="8490204" y="25909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6-mark248"/>
          <p:cNvSpPr/>
          <p:nvPr/>
        </p:nvSpPr>
        <p:spPr>
          <a:xfrm>
            <a:off x="8490204" y="16765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6-mark249"/>
          <p:cNvSpPr/>
          <p:nvPr/>
        </p:nvSpPr>
        <p:spPr>
          <a:xfrm>
            <a:off x="9404604" y="25909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06-label251"/>
          <p:cNvSpPr txBox="1"/>
          <p:nvPr/>
        </p:nvSpPr>
        <p:spPr>
          <a:xfrm>
            <a:off x="7885938" y="28735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4" name="S06-label253"/>
          <p:cNvSpPr txBox="1"/>
          <p:nvPr/>
        </p:nvSpPr>
        <p:spPr>
          <a:xfrm>
            <a:off x="7885938" y="19591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5" name="S06-label255"/>
          <p:cNvSpPr txBox="1"/>
          <p:nvPr/>
        </p:nvSpPr>
        <p:spPr>
          <a:xfrm>
            <a:off x="8800338" y="28735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6" name="S06-label257"/>
          <p:cNvSpPr txBox="1"/>
          <p:nvPr/>
        </p:nvSpPr>
        <p:spPr>
          <a:xfrm>
            <a:off x="8800338" y="19591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7" name="S06-label259"/>
          <p:cNvSpPr txBox="1"/>
          <p:nvPr/>
        </p:nvSpPr>
        <p:spPr>
          <a:xfrm>
            <a:off x="9714738" y="28735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8" name="S06-label261"/>
          <p:cNvSpPr txBox="1"/>
          <p:nvPr/>
        </p:nvSpPr>
        <p:spPr>
          <a:xfrm>
            <a:off x="8755634" y="383362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49" name="S06-label262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자리마다 쌓은 개수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층별로 나타낸 모양</a:t>
            </a:r>
            <a:endParaRPr lang="ko-KR" sz="4000" dirty="0"/>
          </a:p>
        </p:txBody>
      </p:sp>
      <p:sp>
        <p:nvSpPr>
          <p:cNvPr id="3" name="S07-card2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층마다 색칠한 칸을 세어 더해요. 5 + 2 + 1 = 8</a:t>
            </a:r>
            <a:endParaRPr lang="ko-KR" sz="2800" dirty="0"/>
          </a:p>
        </p:txBody>
      </p:sp>
      <p:sp>
        <p:nvSpPr>
          <p:cNvPr id="5" name="S07-figure265" descr="쌓기나무 8개로 쌓은 모양: 앞줄은 왼쪽부터 3층, 1층, 1층, 뒷줄은 왼쪽부터 2층, 1층"/>
          <p:cNvSpPr/>
          <p:nvPr/>
        </p:nvSpPr>
        <p:spPr>
          <a:xfrm>
            <a:off x="1324124" y="2656332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mark266"/>
          <p:cNvSpPr/>
          <p:nvPr/>
        </p:nvSpPr>
        <p:spPr>
          <a:xfrm>
            <a:off x="1324124" y="2939796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267"/>
          <p:cNvSpPr/>
          <p:nvPr/>
        </p:nvSpPr>
        <p:spPr>
          <a:xfrm>
            <a:off x="1815084" y="2939796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7-mark268"/>
          <p:cNvSpPr/>
          <p:nvPr/>
        </p:nvSpPr>
        <p:spPr>
          <a:xfrm>
            <a:off x="833165" y="2939796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7-mark269"/>
          <p:cNvSpPr/>
          <p:nvPr/>
        </p:nvSpPr>
        <p:spPr>
          <a:xfrm>
            <a:off x="833165" y="3223260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7-mark270"/>
          <p:cNvSpPr/>
          <p:nvPr/>
        </p:nvSpPr>
        <p:spPr>
          <a:xfrm>
            <a:off x="1324124" y="3223260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7-mark271"/>
          <p:cNvSpPr/>
          <p:nvPr/>
        </p:nvSpPr>
        <p:spPr>
          <a:xfrm>
            <a:off x="1815084" y="2939796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7-mark272"/>
          <p:cNvSpPr/>
          <p:nvPr/>
        </p:nvSpPr>
        <p:spPr>
          <a:xfrm>
            <a:off x="1815084" y="3223260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7-mark273"/>
          <p:cNvSpPr/>
          <p:nvPr/>
        </p:nvSpPr>
        <p:spPr>
          <a:xfrm>
            <a:off x="2306044" y="3223260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7-mark274"/>
          <p:cNvSpPr/>
          <p:nvPr/>
        </p:nvSpPr>
        <p:spPr>
          <a:xfrm>
            <a:off x="1324124" y="2089404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7-mark275"/>
          <p:cNvSpPr/>
          <p:nvPr/>
        </p:nvSpPr>
        <p:spPr>
          <a:xfrm>
            <a:off x="1324124" y="2372868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7-mark276"/>
          <p:cNvSpPr/>
          <p:nvPr/>
        </p:nvSpPr>
        <p:spPr>
          <a:xfrm>
            <a:off x="1815084" y="2372868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7-mark277"/>
          <p:cNvSpPr/>
          <p:nvPr/>
        </p:nvSpPr>
        <p:spPr>
          <a:xfrm>
            <a:off x="1324124" y="3223260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7-mark278"/>
          <p:cNvSpPr/>
          <p:nvPr/>
        </p:nvSpPr>
        <p:spPr>
          <a:xfrm>
            <a:off x="1324124" y="3506724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7-mark279"/>
          <p:cNvSpPr/>
          <p:nvPr/>
        </p:nvSpPr>
        <p:spPr>
          <a:xfrm>
            <a:off x="1815084" y="3506724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7-mark280"/>
          <p:cNvSpPr/>
          <p:nvPr/>
        </p:nvSpPr>
        <p:spPr>
          <a:xfrm>
            <a:off x="833165" y="2372868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7-mark281"/>
          <p:cNvSpPr/>
          <p:nvPr/>
        </p:nvSpPr>
        <p:spPr>
          <a:xfrm>
            <a:off x="833165" y="2656332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7-mark282"/>
          <p:cNvSpPr/>
          <p:nvPr/>
        </p:nvSpPr>
        <p:spPr>
          <a:xfrm>
            <a:off x="1324124" y="2656332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7-mark283"/>
          <p:cNvSpPr/>
          <p:nvPr/>
        </p:nvSpPr>
        <p:spPr>
          <a:xfrm>
            <a:off x="1815084" y="3506724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7-mark284"/>
          <p:cNvSpPr/>
          <p:nvPr/>
        </p:nvSpPr>
        <p:spPr>
          <a:xfrm>
            <a:off x="1815084" y="3790188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7-mark285"/>
          <p:cNvSpPr/>
          <p:nvPr/>
        </p:nvSpPr>
        <p:spPr>
          <a:xfrm>
            <a:off x="2306044" y="3790188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7-mark286"/>
          <p:cNvSpPr/>
          <p:nvPr/>
        </p:nvSpPr>
        <p:spPr>
          <a:xfrm>
            <a:off x="833165" y="1805940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7-mark287"/>
          <p:cNvSpPr/>
          <p:nvPr/>
        </p:nvSpPr>
        <p:spPr>
          <a:xfrm>
            <a:off x="833165" y="2089404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7-mark288"/>
          <p:cNvSpPr/>
          <p:nvPr/>
        </p:nvSpPr>
        <p:spPr>
          <a:xfrm>
            <a:off x="1324124" y="2089404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7-cell289"/>
          <p:cNvSpPr/>
          <p:nvPr/>
        </p:nvSpPr>
        <p:spPr>
          <a:xfrm>
            <a:off x="3982212" y="25408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cell290"/>
          <p:cNvSpPr/>
          <p:nvPr/>
        </p:nvSpPr>
        <p:spPr>
          <a:xfrm>
            <a:off x="4439412" y="25408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7-cell291"/>
          <p:cNvSpPr/>
          <p:nvPr/>
        </p:nvSpPr>
        <p:spPr>
          <a:xfrm>
            <a:off x="4896612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7-cell292"/>
          <p:cNvSpPr/>
          <p:nvPr/>
        </p:nvSpPr>
        <p:spPr>
          <a:xfrm>
            <a:off x="3982212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cell293"/>
          <p:cNvSpPr/>
          <p:nvPr/>
        </p:nvSpPr>
        <p:spPr>
          <a:xfrm>
            <a:off x="4439412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cell294"/>
          <p:cNvSpPr/>
          <p:nvPr/>
        </p:nvSpPr>
        <p:spPr>
          <a:xfrm>
            <a:off x="4896612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7-figure295" descr="1층 모양: 앞줄 3칸, 뒷줄 왼쪽 2칸, 모두 5칸 색칠"/>
          <p:cNvSpPr/>
          <p:nvPr/>
        </p:nvSpPr>
        <p:spPr>
          <a:xfrm>
            <a:off x="3982212" y="2540889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07-label296"/>
          <p:cNvSpPr txBox="1"/>
          <p:nvPr/>
        </p:nvSpPr>
        <p:spPr>
          <a:xfrm>
            <a:off x="3401568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</a:t>
            </a:r>
            <a:endParaRPr lang="ko-KR" sz="2200" dirty="0"/>
          </a:p>
        </p:txBody>
      </p:sp>
      <p:sp>
        <p:nvSpPr>
          <p:cNvPr id="37" name="S07-cell297"/>
          <p:cNvSpPr/>
          <p:nvPr/>
        </p:nvSpPr>
        <p:spPr>
          <a:xfrm>
            <a:off x="6835140" y="25408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7-cell298"/>
          <p:cNvSpPr/>
          <p:nvPr/>
        </p:nvSpPr>
        <p:spPr>
          <a:xfrm>
            <a:off x="7292340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cell299"/>
          <p:cNvSpPr/>
          <p:nvPr/>
        </p:nvSpPr>
        <p:spPr>
          <a:xfrm>
            <a:off x="7749540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7-cell300"/>
          <p:cNvSpPr/>
          <p:nvPr/>
        </p:nvSpPr>
        <p:spPr>
          <a:xfrm>
            <a:off x="6835140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7-cell301"/>
          <p:cNvSpPr/>
          <p:nvPr/>
        </p:nvSpPr>
        <p:spPr>
          <a:xfrm>
            <a:off x="7292340" y="29980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7-cell302"/>
          <p:cNvSpPr/>
          <p:nvPr/>
        </p:nvSpPr>
        <p:spPr>
          <a:xfrm>
            <a:off x="7749540" y="29980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7-figure303" descr="2층 모양: 앞줄 왼쪽 1칸, 뒷줄 왼쪽 1칸, 모두 2칸 색칠"/>
          <p:cNvSpPr/>
          <p:nvPr/>
        </p:nvSpPr>
        <p:spPr>
          <a:xfrm>
            <a:off x="6835140" y="2540889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07-label304"/>
          <p:cNvSpPr txBox="1"/>
          <p:nvPr/>
        </p:nvSpPr>
        <p:spPr>
          <a:xfrm>
            <a:off x="6254496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</a:t>
            </a:r>
            <a:endParaRPr lang="ko-KR" sz="2200" dirty="0"/>
          </a:p>
        </p:txBody>
      </p:sp>
      <p:sp>
        <p:nvSpPr>
          <p:cNvPr id="45" name="S07-cell305"/>
          <p:cNvSpPr/>
          <p:nvPr/>
        </p:nvSpPr>
        <p:spPr>
          <a:xfrm>
            <a:off x="9688068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7-cell306"/>
          <p:cNvSpPr/>
          <p:nvPr/>
        </p:nvSpPr>
        <p:spPr>
          <a:xfrm>
            <a:off x="10145268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7-cell307"/>
          <p:cNvSpPr/>
          <p:nvPr/>
        </p:nvSpPr>
        <p:spPr>
          <a:xfrm>
            <a:off x="10602468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7-cell308"/>
          <p:cNvSpPr/>
          <p:nvPr/>
        </p:nvSpPr>
        <p:spPr>
          <a:xfrm>
            <a:off x="9688068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7-cell309"/>
          <p:cNvSpPr/>
          <p:nvPr/>
        </p:nvSpPr>
        <p:spPr>
          <a:xfrm>
            <a:off x="10145268" y="29980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7-cell310"/>
          <p:cNvSpPr/>
          <p:nvPr/>
        </p:nvSpPr>
        <p:spPr>
          <a:xfrm>
            <a:off x="10602468" y="29980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7-figure311" descr="3층 모양: 앞줄 왼쪽 1칸 색칠"/>
          <p:cNvSpPr/>
          <p:nvPr/>
        </p:nvSpPr>
        <p:spPr>
          <a:xfrm>
            <a:off x="9688068" y="2540889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2" name="S07-label312"/>
          <p:cNvSpPr txBox="1"/>
          <p:nvPr/>
        </p:nvSpPr>
        <p:spPr>
          <a:xfrm>
            <a:off x="9107424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수를 보고 알아내기</a:t>
            </a:r>
            <a:endParaRPr lang="ko-KR" sz="4000" dirty="0"/>
          </a:p>
        </p:txBody>
      </p:sp>
      <p:sp>
        <p:nvSpPr>
          <p:cNvPr id="3" name="S08-text3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모양에 쌓은 개수를 썼어요.</a:t>
            </a:r>
            <a:endParaRPr lang="ko-KR" sz="2800" dirty="0"/>
          </a:p>
        </p:txBody>
      </p:sp>
      <p:sp>
        <p:nvSpPr>
          <p:cNvPr id="4" name="S08-card3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3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앞·옆에서는 줄마다 가장 큰 수만 보여요.</a:t>
            </a:r>
            <a:endParaRPr lang="ko-KR" sz="2800" dirty="0"/>
          </a:p>
        </p:txBody>
      </p:sp>
      <p:sp>
        <p:nvSpPr>
          <p:cNvPr id="6" name="S08-figure316" descr="위에서 본 모양에 수를 씀: 뒷줄 3, 1, 2 / 앞줄 2, 1, 1"/>
          <p:cNvSpPr/>
          <p:nvPr/>
        </p:nvSpPr>
        <p:spPr>
          <a:xfrm>
            <a:off x="75872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8-mark317"/>
          <p:cNvSpPr/>
          <p:nvPr/>
        </p:nvSpPr>
        <p:spPr>
          <a:xfrm>
            <a:off x="75872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8-mark318"/>
          <p:cNvSpPr/>
          <p:nvPr/>
        </p:nvSpPr>
        <p:spPr>
          <a:xfrm>
            <a:off x="85016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8-mark319"/>
          <p:cNvSpPr/>
          <p:nvPr/>
        </p:nvSpPr>
        <p:spPr>
          <a:xfrm>
            <a:off x="85016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8-mark320"/>
          <p:cNvSpPr/>
          <p:nvPr/>
        </p:nvSpPr>
        <p:spPr>
          <a:xfrm>
            <a:off x="94160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8-mark321"/>
          <p:cNvSpPr/>
          <p:nvPr/>
        </p:nvSpPr>
        <p:spPr>
          <a:xfrm>
            <a:off x="94160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8-label323"/>
          <p:cNvSpPr txBox="1"/>
          <p:nvPr/>
        </p:nvSpPr>
        <p:spPr>
          <a:xfrm>
            <a:off x="78973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3" name="S08-label325"/>
          <p:cNvSpPr txBox="1"/>
          <p:nvPr/>
        </p:nvSpPr>
        <p:spPr>
          <a:xfrm>
            <a:off x="78973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4" name="S08-label327"/>
          <p:cNvSpPr txBox="1"/>
          <p:nvPr/>
        </p:nvSpPr>
        <p:spPr>
          <a:xfrm>
            <a:off x="88117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5" name="S08-label329"/>
          <p:cNvSpPr txBox="1"/>
          <p:nvPr/>
        </p:nvSpPr>
        <p:spPr>
          <a:xfrm>
            <a:off x="88117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6" name="S08-label331"/>
          <p:cNvSpPr txBox="1"/>
          <p:nvPr/>
        </p:nvSpPr>
        <p:spPr>
          <a:xfrm>
            <a:off x="97261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7" name="S08-label333"/>
          <p:cNvSpPr txBox="1"/>
          <p:nvPr/>
        </p:nvSpPr>
        <p:spPr>
          <a:xfrm>
            <a:off x="97261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8" name="S08-label335"/>
          <p:cNvSpPr txBox="1"/>
          <p:nvPr/>
        </p:nvSpPr>
        <p:spPr>
          <a:xfrm>
            <a:off x="8767064" y="455739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19" name="S08-chip33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0" name="S08-text337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쌓기나무는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2800" dirty="0"/>
          </a:p>
        </p:txBody>
      </p:sp>
      <p:sp>
        <p:nvSpPr>
          <p:cNvPr id="21" name="S08-chip33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2" name="S08-text339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보면 왼쪽 줄부터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층씩 보이나요?</a:t>
            </a:r>
            <a:endParaRPr lang="ko-KR" sz="2800" dirty="0"/>
          </a:p>
        </p:txBody>
      </p:sp>
      <p:sp>
        <p:nvSpPr>
          <p:cNvPr id="23" name="S08-chip34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4" name="S08-text341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 보면 앞줄부터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층씩 보이나요?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맞게 그렸을까요?</a:t>
            </a:r>
            <a:endParaRPr lang="ko-KR" sz="4000" dirty="0"/>
          </a:p>
        </p:txBody>
      </p:sp>
      <p:sp>
        <p:nvSpPr>
          <p:cNvPr id="3" name="S09-text3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모양을 앞에서 본 모양을 그렸어요.</a:t>
            </a:r>
            <a:endParaRPr lang="ko-KR" sz="2800" dirty="0"/>
          </a:p>
        </p:txBody>
      </p:sp>
      <p:sp>
        <p:nvSpPr>
          <p:cNvPr id="4" name="S09-card3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3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토끼는 가, 곰은 나처럼 그렸어요. 누가 맞을까요?</a:t>
            </a:r>
            <a:endParaRPr lang="ko-KR" sz="2800" dirty="0"/>
          </a:p>
        </p:txBody>
      </p:sp>
      <p:sp>
        <p:nvSpPr>
          <p:cNvPr id="6" name="S09-figure345" descr="위에서 본 모양에 수를 씀: 뒷줄 1, 1, 1 / 앞줄 1, 2"/>
          <p:cNvSpPr/>
          <p:nvPr/>
        </p:nvSpPr>
        <p:spPr>
          <a:xfrm>
            <a:off x="75872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9-mark346"/>
          <p:cNvSpPr/>
          <p:nvPr/>
        </p:nvSpPr>
        <p:spPr>
          <a:xfrm>
            <a:off x="75872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9-mark347"/>
          <p:cNvSpPr/>
          <p:nvPr/>
        </p:nvSpPr>
        <p:spPr>
          <a:xfrm>
            <a:off x="85016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9-mark348"/>
          <p:cNvSpPr/>
          <p:nvPr/>
        </p:nvSpPr>
        <p:spPr>
          <a:xfrm>
            <a:off x="85016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9-mark349"/>
          <p:cNvSpPr/>
          <p:nvPr/>
        </p:nvSpPr>
        <p:spPr>
          <a:xfrm>
            <a:off x="94160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9-label351"/>
          <p:cNvSpPr txBox="1"/>
          <p:nvPr/>
        </p:nvSpPr>
        <p:spPr>
          <a:xfrm>
            <a:off x="78973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9-label353"/>
          <p:cNvSpPr txBox="1"/>
          <p:nvPr/>
        </p:nvSpPr>
        <p:spPr>
          <a:xfrm>
            <a:off x="78973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3" name="S09-label355"/>
          <p:cNvSpPr txBox="1"/>
          <p:nvPr/>
        </p:nvSpPr>
        <p:spPr>
          <a:xfrm>
            <a:off x="88117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9-label357"/>
          <p:cNvSpPr txBox="1"/>
          <p:nvPr/>
        </p:nvSpPr>
        <p:spPr>
          <a:xfrm>
            <a:off x="88117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5" name="S09-label359"/>
          <p:cNvSpPr txBox="1"/>
          <p:nvPr/>
        </p:nvSpPr>
        <p:spPr>
          <a:xfrm>
            <a:off x="97261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6" name="S09-label361"/>
          <p:cNvSpPr txBox="1"/>
          <p:nvPr/>
        </p:nvSpPr>
        <p:spPr>
          <a:xfrm>
            <a:off x="8767064" y="455739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17" name="S09-chip36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8" name="S09-cell363"/>
          <p:cNvSpPr/>
          <p:nvPr/>
        </p:nvSpPr>
        <p:spPr>
          <a:xfrm>
            <a:off x="3079242" y="21945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364"/>
          <p:cNvSpPr/>
          <p:nvPr/>
        </p:nvSpPr>
        <p:spPr>
          <a:xfrm>
            <a:off x="3445002" y="21945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cell365"/>
          <p:cNvSpPr/>
          <p:nvPr/>
        </p:nvSpPr>
        <p:spPr>
          <a:xfrm>
            <a:off x="3810762" y="21945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9-cell366"/>
          <p:cNvSpPr/>
          <p:nvPr/>
        </p:nvSpPr>
        <p:spPr>
          <a:xfrm>
            <a:off x="3079242" y="25603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cell367"/>
          <p:cNvSpPr/>
          <p:nvPr/>
        </p:nvSpPr>
        <p:spPr>
          <a:xfrm>
            <a:off x="3445002" y="25603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9-cell368"/>
          <p:cNvSpPr/>
          <p:nvPr/>
        </p:nvSpPr>
        <p:spPr>
          <a:xfrm>
            <a:off x="3810762" y="25603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9-cell369"/>
          <p:cNvSpPr/>
          <p:nvPr/>
        </p:nvSpPr>
        <p:spPr>
          <a:xfrm>
            <a:off x="3079242" y="29260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9-cell370"/>
          <p:cNvSpPr/>
          <p:nvPr/>
        </p:nvSpPr>
        <p:spPr>
          <a:xfrm>
            <a:off x="3445002" y="29260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9-cell371"/>
          <p:cNvSpPr/>
          <p:nvPr/>
        </p:nvSpPr>
        <p:spPr>
          <a:xfrm>
            <a:off x="3810762" y="29260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9-figure372" descr="가(토끼): 왼쪽부터 2칸, 3칸, 1칸 색칠"/>
          <p:cNvSpPr/>
          <p:nvPr/>
        </p:nvSpPr>
        <p:spPr>
          <a:xfrm>
            <a:off x="3079242" y="219456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9-chip37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9" name="S09-cell374"/>
          <p:cNvSpPr/>
          <p:nvPr/>
        </p:nvSpPr>
        <p:spPr>
          <a:xfrm>
            <a:off x="3079242" y="384048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9-cell375"/>
          <p:cNvSpPr/>
          <p:nvPr/>
        </p:nvSpPr>
        <p:spPr>
          <a:xfrm>
            <a:off x="3445002" y="384048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9-cell376"/>
          <p:cNvSpPr/>
          <p:nvPr/>
        </p:nvSpPr>
        <p:spPr>
          <a:xfrm>
            <a:off x="3810762" y="384048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cell377"/>
          <p:cNvSpPr/>
          <p:nvPr/>
        </p:nvSpPr>
        <p:spPr>
          <a:xfrm>
            <a:off x="3079242" y="42062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9-cell378"/>
          <p:cNvSpPr/>
          <p:nvPr/>
        </p:nvSpPr>
        <p:spPr>
          <a:xfrm>
            <a:off x="3445002" y="42062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9-cell379"/>
          <p:cNvSpPr/>
          <p:nvPr/>
        </p:nvSpPr>
        <p:spPr>
          <a:xfrm>
            <a:off x="3810762" y="42062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cell380"/>
          <p:cNvSpPr/>
          <p:nvPr/>
        </p:nvSpPr>
        <p:spPr>
          <a:xfrm>
            <a:off x="3079242" y="45720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9-cell381"/>
          <p:cNvSpPr/>
          <p:nvPr/>
        </p:nvSpPr>
        <p:spPr>
          <a:xfrm>
            <a:off x="3445002" y="45720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9-cell382"/>
          <p:cNvSpPr/>
          <p:nvPr/>
        </p:nvSpPr>
        <p:spPr>
          <a:xfrm>
            <a:off x="3810762" y="45720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9-figure383" descr="나(곰): 왼쪽부터 1칸, 2칸, 1칸 색칠"/>
          <p:cNvSpPr/>
          <p:nvPr/>
        </p:nvSpPr>
        <p:spPr>
          <a:xfrm>
            <a:off x="3079242" y="384048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모양으로 개수 구하기</a:t>
            </a:r>
            <a:endParaRPr lang="ko-KR" sz="4000" dirty="0"/>
          </a:p>
        </p:txBody>
      </p:sp>
      <p:sp>
        <p:nvSpPr>
          <p:cNvPr id="3" name="S10-text3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위·앞·옆에서 본 모양이에요.</a:t>
            </a:r>
            <a:endParaRPr lang="ko-KR" sz="2800" dirty="0"/>
          </a:p>
        </p:txBody>
      </p:sp>
      <p:sp>
        <p:nvSpPr>
          <p:cNvPr id="4" name="S10-card3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3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앞줄부터 정하고, 앞에서 본 모양으로 뒷줄을 정해요.</a:t>
            </a:r>
            <a:endParaRPr lang="ko-KR" sz="2800" dirty="0"/>
          </a:p>
        </p:txBody>
      </p:sp>
      <p:sp>
        <p:nvSpPr>
          <p:cNvPr id="6" name="S10-cell387"/>
          <p:cNvSpPr/>
          <p:nvPr/>
        </p:nvSpPr>
        <p:spPr>
          <a:xfrm>
            <a:off x="6488430" y="295694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cell388"/>
          <p:cNvSpPr/>
          <p:nvPr/>
        </p:nvSpPr>
        <p:spPr>
          <a:xfrm>
            <a:off x="6872478" y="295694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0-cell389"/>
          <p:cNvSpPr/>
          <p:nvPr/>
        </p:nvSpPr>
        <p:spPr>
          <a:xfrm>
            <a:off x="7256526" y="295694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0-cell390"/>
          <p:cNvSpPr/>
          <p:nvPr/>
        </p:nvSpPr>
        <p:spPr>
          <a:xfrm>
            <a:off x="6488430" y="334098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cell391"/>
          <p:cNvSpPr/>
          <p:nvPr/>
        </p:nvSpPr>
        <p:spPr>
          <a:xfrm>
            <a:off x="6872478" y="334098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0-cell392"/>
          <p:cNvSpPr/>
          <p:nvPr/>
        </p:nvSpPr>
        <p:spPr>
          <a:xfrm>
            <a:off x="7256526" y="334098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figure393" descr="위에서 본 모양: 뒷줄 왼쪽 2칸, 앞줄 3칸"/>
          <p:cNvSpPr/>
          <p:nvPr/>
        </p:nvSpPr>
        <p:spPr>
          <a:xfrm>
            <a:off x="6488430" y="2956941"/>
            <a:ext cx="1152144" cy="76809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0-label394"/>
          <p:cNvSpPr txBox="1"/>
          <p:nvPr/>
        </p:nvSpPr>
        <p:spPr>
          <a:xfrm>
            <a:off x="6277356" y="4743450"/>
            <a:ext cx="157429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endParaRPr lang="ko-KR" sz="2200" dirty="0"/>
          </a:p>
        </p:txBody>
      </p:sp>
      <p:sp>
        <p:nvSpPr>
          <p:cNvPr id="14" name="S10-cell395"/>
          <p:cNvSpPr/>
          <p:nvPr/>
        </p:nvSpPr>
        <p:spPr>
          <a:xfrm>
            <a:off x="8382762" y="276491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0-cell396"/>
          <p:cNvSpPr/>
          <p:nvPr/>
        </p:nvSpPr>
        <p:spPr>
          <a:xfrm>
            <a:off x="8766810" y="276491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0-cell397"/>
          <p:cNvSpPr/>
          <p:nvPr/>
        </p:nvSpPr>
        <p:spPr>
          <a:xfrm>
            <a:off x="9150858" y="276491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398"/>
          <p:cNvSpPr/>
          <p:nvPr/>
        </p:nvSpPr>
        <p:spPr>
          <a:xfrm>
            <a:off x="8382762" y="314896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399"/>
          <p:cNvSpPr/>
          <p:nvPr/>
        </p:nvSpPr>
        <p:spPr>
          <a:xfrm>
            <a:off x="8766810" y="314896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400"/>
          <p:cNvSpPr/>
          <p:nvPr/>
        </p:nvSpPr>
        <p:spPr>
          <a:xfrm>
            <a:off x="9150858" y="314896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401"/>
          <p:cNvSpPr/>
          <p:nvPr/>
        </p:nvSpPr>
        <p:spPr>
          <a:xfrm>
            <a:off x="8382762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402"/>
          <p:cNvSpPr/>
          <p:nvPr/>
        </p:nvSpPr>
        <p:spPr>
          <a:xfrm>
            <a:off x="8766810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cell403"/>
          <p:cNvSpPr/>
          <p:nvPr/>
        </p:nvSpPr>
        <p:spPr>
          <a:xfrm>
            <a:off x="9150858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0-figure404" descr="앞에서 본 모양: 왼쪽부터 3칸, 2칸, 1칸"/>
          <p:cNvSpPr/>
          <p:nvPr/>
        </p:nvSpPr>
        <p:spPr>
          <a:xfrm>
            <a:off x="8382762" y="2764917"/>
            <a:ext cx="1152144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0-label405"/>
          <p:cNvSpPr txBox="1"/>
          <p:nvPr/>
        </p:nvSpPr>
        <p:spPr>
          <a:xfrm>
            <a:off x="8171688" y="4743450"/>
            <a:ext cx="157429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25" name="S10-cell406"/>
          <p:cNvSpPr/>
          <p:nvPr/>
        </p:nvSpPr>
        <p:spPr>
          <a:xfrm>
            <a:off x="10469118" y="276491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407"/>
          <p:cNvSpPr/>
          <p:nvPr/>
        </p:nvSpPr>
        <p:spPr>
          <a:xfrm>
            <a:off x="10853166" y="276491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408"/>
          <p:cNvSpPr/>
          <p:nvPr/>
        </p:nvSpPr>
        <p:spPr>
          <a:xfrm>
            <a:off x="10469118" y="314896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cell409"/>
          <p:cNvSpPr/>
          <p:nvPr/>
        </p:nvSpPr>
        <p:spPr>
          <a:xfrm>
            <a:off x="10853166" y="314896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0-cell410"/>
          <p:cNvSpPr/>
          <p:nvPr/>
        </p:nvSpPr>
        <p:spPr>
          <a:xfrm>
            <a:off x="10469118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0-cell411"/>
          <p:cNvSpPr/>
          <p:nvPr/>
        </p:nvSpPr>
        <p:spPr>
          <a:xfrm>
            <a:off x="10853166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0-figure412" descr="옆에서 본 모양: 왼쪽(앞줄) 1칸, 오른쪽(뒷줄) 3칸"/>
          <p:cNvSpPr/>
          <p:nvPr/>
        </p:nvSpPr>
        <p:spPr>
          <a:xfrm>
            <a:off x="10469118" y="2764917"/>
            <a:ext cx="768096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10-label413"/>
          <p:cNvSpPr txBox="1"/>
          <p:nvPr/>
        </p:nvSpPr>
        <p:spPr>
          <a:xfrm>
            <a:off x="10066020" y="4743450"/>
            <a:ext cx="157429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33" name="S10-chip41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4" name="S10-text41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옆을 보면 앞줄은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층인가요?</a:t>
            </a:r>
            <a:endParaRPr lang="ko-KR" sz="2800" dirty="0"/>
          </a:p>
        </p:txBody>
      </p:sp>
      <p:sp>
        <p:nvSpPr>
          <p:cNvPr id="35" name="S10-chip4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6" name="S10-text41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뒷줄 왼쪽과 가운데에는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개씩 있나요?</a:t>
            </a:r>
            <a:endParaRPr lang="ko-KR" sz="2800" dirty="0"/>
          </a:p>
        </p:txBody>
      </p:sp>
      <p:sp>
        <p:nvSpPr>
          <p:cNvPr id="37" name="S10-chip41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8" name="S10-text419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쌓기나무는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4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개수를 구하고, 어떻게 알았는지 말해요.</a:t>
            </a:r>
            <a:endParaRPr lang="ko-KR" sz="2800" dirty="0"/>
          </a:p>
        </p:txBody>
      </p:sp>
      <p:sp>
        <p:nvSpPr>
          <p:cNvPr id="4" name="S11-chip421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figure422" descr="쌓기나무를 쌓은 모양: 앞줄은 왼쪽부터 1층, 2층, 1층, 뒷줄은 가운데 2층, 오른쪽 1층이 보임"/>
          <p:cNvSpPr/>
          <p:nvPr/>
        </p:nvSpPr>
        <p:spPr>
          <a:xfrm>
            <a:off x="1953412" y="2269712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1-mark423"/>
          <p:cNvSpPr/>
          <p:nvPr/>
        </p:nvSpPr>
        <p:spPr>
          <a:xfrm>
            <a:off x="1953412" y="2443925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1-mark424"/>
          <p:cNvSpPr/>
          <p:nvPr/>
        </p:nvSpPr>
        <p:spPr>
          <a:xfrm>
            <a:off x="2255147" y="2443925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1-mark425"/>
          <p:cNvSpPr/>
          <p:nvPr/>
        </p:nvSpPr>
        <p:spPr>
          <a:xfrm>
            <a:off x="1651676" y="2443925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1-mark426"/>
          <p:cNvSpPr/>
          <p:nvPr/>
        </p:nvSpPr>
        <p:spPr>
          <a:xfrm>
            <a:off x="1651676" y="2618137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1-mark427"/>
          <p:cNvSpPr/>
          <p:nvPr/>
        </p:nvSpPr>
        <p:spPr>
          <a:xfrm>
            <a:off x="1953412" y="2618137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1-mark428"/>
          <p:cNvSpPr/>
          <p:nvPr/>
        </p:nvSpPr>
        <p:spPr>
          <a:xfrm>
            <a:off x="2255147" y="2443925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1-mark429"/>
          <p:cNvSpPr/>
          <p:nvPr/>
        </p:nvSpPr>
        <p:spPr>
          <a:xfrm>
            <a:off x="2255147" y="2618137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1-mark430"/>
          <p:cNvSpPr/>
          <p:nvPr/>
        </p:nvSpPr>
        <p:spPr>
          <a:xfrm>
            <a:off x="2556883" y="2618137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1-mark431"/>
          <p:cNvSpPr/>
          <p:nvPr/>
        </p:nvSpPr>
        <p:spPr>
          <a:xfrm>
            <a:off x="1953412" y="2618137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1-mark432"/>
          <p:cNvSpPr/>
          <p:nvPr/>
        </p:nvSpPr>
        <p:spPr>
          <a:xfrm>
            <a:off x="1953412" y="2792349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1-mark433"/>
          <p:cNvSpPr/>
          <p:nvPr/>
        </p:nvSpPr>
        <p:spPr>
          <a:xfrm>
            <a:off x="2255147" y="2792349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1-mark434"/>
          <p:cNvSpPr/>
          <p:nvPr/>
        </p:nvSpPr>
        <p:spPr>
          <a:xfrm>
            <a:off x="2556883" y="2618137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1-mark435"/>
          <p:cNvSpPr/>
          <p:nvPr/>
        </p:nvSpPr>
        <p:spPr>
          <a:xfrm>
            <a:off x="2556883" y="2792349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1-mark436"/>
          <p:cNvSpPr/>
          <p:nvPr/>
        </p:nvSpPr>
        <p:spPr>
          <a:xfrm>
            <a:off x="2858618" y="2792349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1-mark437"/>
          <p:cNvSpPr/>
          <p:nvPr/>
        </p:nvSpPr>
        <p:spPr>
          <a:xfrm>
            <a:off x="2255147" y="2095500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1-mark438"/>
          <p:cNvSpPr/>
          <p:nvPr/>
        </p:nvSpPr>
        <p:spPr>
          <a:xfrm>
            <a:off x="2255147" y="2269712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1-mark439"/>
          <p:cNvSpPr/>
          <p:nvPr/>
        </p:nvSpPr>
        <p:spPr>
          <a:xfrm>
            <a:off x="2556883" y="2269712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1-mark440"/>
          <p:cNvSpPr/>
          <p:nvPr/>
        </p:nvSpPr>
        <p:spPr>
          <a:xfrm>
            <a:off x="2255147" y="2792349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1-mark441"/>
          <p:cNvSpPr/>
          <p:nvPr/>
        </p:nvSpPr>
        <p:spPr>
          <a:xfrm>
            <a:off x="2255147" y="2966561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11-mark442"/>
          <p:cNvSpPr/>
          <p:nvPr/>
        </p:nvSpPr>
        <p:spPr>
          <a:xfrm>
            <a:off x="2556883" y="2966561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11-mark443"/>
          <p:cNvSpPr/>
          <p:nvPr/>
        </p:nvSpPr>
        <p:spPr>
          <a:xfrm>
            <a:off x="1953412" y="2269712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11-mark444"/>
          <p:cNvSpPr/>
          <p:nvPr/>
        </p:nvSpPr>
        <p:spPr>
          <a:xfrm>
            <a:off x="1953412" y="2443925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11-mark445"/>
          <p:cNvSpPr/>
          <p:nvPr/>
        </p:nvSpPr>
        <p:spPr>
          <a:xfrm>
            <a:off x="2255147" y="2443925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11-label446"/>
          <p:cNvSpPr txBox="1"/>
          <p:nvPr/>
        </p:nvSpPr>
        <p:spPr>
          <a:xfrm>
            <a:off x="1344168" y="3646170"/>
            <a:ext cx="212369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쌓은 모양</a:t>
            </a:r>
            <a:endParaRPr lang="ko-KR" sz="2200" dirty="0"/>
          </a:p>
        </p:txBody>
      </p:sp>
      <p:sp>
        <p:nvSpPr>
          <p:cNvPr id="30" name="S11-figure447" descr="위에서 본 모양: 앞줄 3칸, 뒷줄 3칸(여섯 칸 모두)"/>
          <p:cNvSpPr/>
          <p:nvPr/>
        </p:nvSpPr>
        <p:spPr>
          <a:xfrm>
            <a:off x="4232529" y="267919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1-mark448"/>
          <p:cNvSpPr/>
          <p:nvPr/>
        </p:nvSpPr>
        <p:spPr>
          <a:xfrm>
            <a:off x="4232529" y="226771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11-mark449"/>
          <p:cNvSpPr/>
          <p:nvPr/>
        </p:nvSpPr>
        <p:spPr>
          <a:xfrm>
            <a:off x="4644009" y="267919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11-mark450"/>
          <p:cNvSpPr/>
          <p:nvPr/>
        </p:nvSpPr>
        <p:spPr>
          <a:xfrm>
            <a:off x="4644009" y="226771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11-mark451"/>
          <p:cNvSpPr/>
          <p:nvPr/>
        </p:nvSpPr>
        <p:spPr>
          <a:xfrm>
            <a:off x="5055489" y="267919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11-mark452"/>
          <p:cNvSpPr/>
          <p:nvPr/>
        </p:nvSpPr>
        <p:spPr>
          <a:xfrm>
            <a:off x="5055489" y="226771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11-label454"/>
          <p:cNvSpPr txBox="1"/>
          <p:nvPr/>
        </p:nvSpPr>
        <p:spPr>
          <a:xfrm>
            <a:off x="4657979" y="314236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7" name="S11-label455"/>
          <p:cNvSpPr txBox="1"/>
          <p:nvPr/>
        </p:nvSpPr>
        <p:spPr>
          <a:xfrm>
            <a:off x="3787902" y="3646170"/>
            <a:ext cx="212369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</a:t>
            </a:r>
            <a:endParaRPr lang="ko-KR" sz="2200" dirty="0"/>
          </a:p>
        </p:txBody>
      </p:sp>
      <p:sp>
        <p:nvSpPr>
          <p:cNvPr id="38" name="S11-chip456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9" name="S11-figure457" descr="위에서 본 모양에 수를 씀: 뒷줄 2, 1, 2 / 앞줄 3, 1"/>
          <p:cNvSpPr/>
          <p:nvPr/>
        </p:nvSpPr>
        <p:spPr>
          <a:xfrm>
            <a:off x="8271869" y="2818653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11-mark458"/>
          <p:cNvSpPr/>
          <p:nvPr/>
        </p:nvSpPr>
        <p:spPr>
          <a:xfrm>
            <a:off x="8271869" y="2095500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11-mark459"/>
          <p:cNvSpPr/>
          <p:nvPr/>
        </p:nvSpPr>
        <p:spPr>
          <a:xfrm>
            <a:off x="8995022" y="2818653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11-mark460"/>
          <p:cNvSpPr/>
          <p:nvPr/>
        </p:nvSpPr>
        <p:spPr>
          <a:xfrm>
            <a:off x="8995022" y="2095500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11-mark461"/>
          <p:cNvSpPr/>
          <p:nvPr/>
        </p:nvSpPr>
        <p:spPr>
          <a:xfrm>
            <a:off x="9718174" y="2095500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11-label463"/>
          <p:cNvSpPr txBox="1"/>
          <p:nvPr/>
        </p:nvSpPr>
        <p:spPr>
          <a:xfrm>
            <a:off x="8486379" y="300560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5" name="S11-label465"/>
          <p:cNvSpPr txBox="1"/>
          <p:nvPr/>
        </p:nvSpPr>
        <p:spPr>
          <a:xfrm>
            <a:off x="8486379" y="228245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6" name="S11-label467"/>
          <p:cNvSpPr txBox="1"/>
          <p:nvPr/>
        </p:nvSpPr>
        <p:spPr>
          <a:xfrm>
            <a:off x="9209532" y="300560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7" name="S11-label469"/>
          <p:cNvSpPr txBox="1"/>
          <p:nvPr/>
        </p:nvSpPr>
        <p:spPr>
          <a:xfrm>
            <a:off x="9209532" y="228245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8" name="S11-label471"/>
          <p:cNvSpPr txBox="1"/>
          <p:nvPr/>
        </p:nvSpPr>
        <p:spPr>
          <a:xfrm>
            <a:off x="9932685" y="228245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9" name="S11-label473"/>
          <p:cNvSpPr txBox="1"/>
          <p:nvPr/>
        </p:nvSpPr>
        <p:spPr>
          <a:xfrm>
            <a:off x="9164828" y="376491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50" name="S11-chip474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51" name="S11-cell475"/>
          <p:cNvSpPr/>
          <p:nvPr/>
        </p:nvSpPr>
        <p:spPr>
          <a:xfrm>
            <a:off x="1450086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1-cell476"/>
          <p:cNvSpPr/>
          <p:nvPr/>
        </p:nvSpPr>
        <p:spPr>
          <a:xfrm>
            <a:off x="1815846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11-cell477"/>
          <p:cNvSpPr/>
          <p:nvPr/>
        </p:nvSpPr>
        <p:spPr>
          <a:xfrm>
            <a:off x="2181606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11-cell478"/>
          <p:cNvSpPr/>
          <p:nvPr/>
        </p:nvSpPr>
        <p:spPr>
          <a:xfrm>
            <a:off x="1450086" y="498690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11-cell479"/>
          <p:cNvSpPr/>
          <p:nvPr/>
        </p:nvSpPr>
        <p:spPr>
          <a:xfrm>
            <a:off x="1815846" y="498690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11-cell480"/>
          <p:cNvSpPr/>
          <p:nvPr/>
        </p:nvSpPr>
        <p:spPr>
          <a:xfrm>
            <a:off x="2181606" y="498690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1-figure481" descr="1층 모양: 6칸 모두 색칠"/>
          <p:cNvSpPr/>
          <p:nvPr/>
        </p:nvSpPr>
        <p:spPr>
          <a:xfrm>
            <a:off x="1450086" y="4621149"/>
            <a:ext cx="109728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8" name="S11-label482"/>
          <p:cNvSpPr txBox="1"/>
          <p:nvPr/>
        </p:nvSpPr>
        <p:spPr>
          <a:xfrm>
            <a:off x="1344168" y="5840730"/>
            <a:ext cx="13091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</a:t>
            </a:r>
            <a:endParaRPr lang="ko-KR" sz="2200" dirty="0"/>
          </a:p>
        </p:txBody>
      </p:sp>
      <p:sp>
        <p:nvSpPr>
          <p:cNvPr id="59" name="S11-cell483"/>
          <p:cNvSpPr/>
          <p:nvPr/>
        </p:nvSpPr>
        <p:spPr>
          <a:xfrm>
            <a:off x="3079242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1-cell484"/>
          <p:cNvSpPr/>
          <p:nvPr/>
        </p:nvSpPr>
        <p:spPr>
          <a:xfrm>
            <a:off x="3445002" y="462114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1-cell485"/>
          <p:cNvSpPr/>
          <p:nvPr/>
        </p:nvSpPr>
        <p:spPr>
          <a:xfrm>
            <a:off x="3810762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1-cell486"/>
          <p:cNvSpPr/>
          <p:nvPr/>
        </p:nvSpPr>
        <p:spPr>
          <a:xfrm>
            <a:off x="3079242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11-cell487"/>
          <p:cNvSpPr/>
          <p:nvPr/>
        </p:nvSpPr>
        <p:spPr>
          <a:xfrm>
            <a:off x="3445002" y="498690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11-cell488"/>
          <p:cNvSpPr/>
          <p:nvPr/>
        </p:nvSpPr>
        <p:spPr>
          <a:xfrm>
            <a:off x="3810762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11-figure489" descr="2층 모양: 앞줄 가운데, 뒷줄 왼쪽, 뒷줄 오른쪽 3칸 색칠"/>
          <p:cNvSpPr/>
          <p:nvPr/>
        </p:nvSpPr>
        <p:spPr>
          <a:xfrm>
            <a:off x="3079242" y="4621149"/>
            <a:ext cx="109728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6" name="S11-label490"/>
          <p:cNvSpPr txBox="1"/>
          <p:nvPr/>
        </p:nvSpPr>
        <p:spPr>
          <a:xfrm>
            <a:off x="2973324" y="5840730"/>
            <a:ext cx="13091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</a:t>
            </a:r>
            <a:endParaRPr lang="ko-KR" sz="2200" dirty="0"/>
          </a:p>
        </p:txBody>
      </p:sp>
      <p:sp>
        <p:nvSpPr>
          <p:cNvPr id="67" name="S11-cell491"/>
          <p:cNvSpPr/>
          <p:nvPr/>
        </p:nvSpPr>
        <p:spPr>
          <a:xfrm>
            <a:off x="4708398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1-cell492"/>
          <p:cNvSpPr/>
          <p:nvPr/>
        </p:nvSpPr>
        <p:spPr>
          <a:xfrm>
            <a:off x="5074158" y="462114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11-cell493"/>
          <p:cNvSpPr/>
          <p:nvPr/>
        </p:nvSpPr>
        <p:spPr>
          <a:xfrm>
            <a:off x="5439918" y="462114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11-cell494"/>
          <p:cNvSpPr/>
          <p:nvPr/>
        </p:nvSpPr>
        <p:spPr>
          <a:xfrm>
            <a:off x="4708398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11-cell495"/>
          <p:cNvSpPr/>
          <p:nvPr/>
        </p:nvSpPr>
        <p:spPr>
          <a:xfrm>
            <a:off x="5074158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1-cell496"/>
          <p:cNvSpPr/>
          <p:nvPr/>
        </p:nvSpPr>
        <p:spPr>
          <a:xfrm>
            <a:off x="5439918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11-figure497" descr="3층 모양: 뒷줄 왼쪽 1칸 색칠"/>
          <p:cNvSpPr/>
          <p:nvPr/>
        </p:nvSpPr>
        <p:spPr>
          <a:xfrm>
            <a:off x="4708398" y="4621149"/>
            <a:ext cx="109728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4" name="S11-label498"/>
          <p:cNvSpPr txBox="1"/>
          <p:nvPr/>
        </p:nvSpPr>
        <p:spPr>
          <a:xfrm>
            <a:off x="4602480" y="5840730"/>
            <a:ext cx="13091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</a:t>
            </a:r>
            <a:endParaRPr lang="ko-KR" sz="2200" dirty="0"/>
          </a:p>
        </p:txBody>
      </p:sp>
      <p:sp>
        <p:nvSpPr>
          <p:cNvPr id="75" name="S11-chip49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76" name="S11-text50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앞에서 보면 왼쪽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줄부터 몇 층씩 보이나요?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5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5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블록으로 똑같이 쌓아 보며 확인하게 하세요.</a:t>
            </a:r>
            <a:endParaRPr lang="ko-KR" sz="2800" dirty="0"/>
          </a:p>
        </p:txBody>
      </p:sp>
      <p:sp>
        <p:nvSpPr>
          <p:cNvPr id="5" name="S12-chip50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504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8개</a:t>
            </a:r>
            <a:endParaRPr lang="ko-KR" sz="2800" dirty="0"/>
          </a:p>
        </p:txBody>
      </p:sp>
      <p:sp>
        <p:nvSpPr>
          <p:cNvPr id="7" name="S12-text505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9개</a:t>
            </a:r>
            <a:endParaRPr lang="ko-KR" sz="2800" dirty="0"/>
          </a:p>
        </p:txBody>
      </p:sp>
      <p:sp>
        <p:nvSpPr>
          <p:cNvPr id="8" name="S12-text506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10개</a:t>
            </a:r>
            <a:endParaRPr lang="ko-KR" sz="2800" dirty="0"/>
          </a:p>
        </p:txBody>
      </p:sp>
      <p:sp>
        <p:nvSpPr>
          <p:cNvPr id="9" name="S12-text507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3층, 1층, 2층</a:t>
            </a:r>
            <a:endParaRPr lang="ko-KR" sz="2800" dirty="0"/>
          </a:p>
        </p:txBody>
      </p:sp>
      <p:sp>
        <p:nvSpPr>
          <p:cNvPr id="10" name="S12-chip50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50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7개</a:t>
            </a:r>
            <a:endParaRPr lang="ko-KR" sz="2800" dirty="0"/>
          </a:p>
        </p:txBody>
      </p:sp>
      <p:sp>
        <p:nvSpPr>
          <p:cNvPr id="12" name="S12-text51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숨은 1개를 빠뜨림</a:t>
            </a:r>
            <a:endParaRPr lang="ko-KR" sz="2200" dirty="0"/>
          </a:p>
        </p:txBody>
      </p:sp>
      <p:sp>
        <p:nvSpPr>
          <p:cNvPr id="13" name="S12-text511"/>
          <p:cNvSpPr txBox="1"/>
          <p:nvPr/>
        </p:nvSpPr>
        <p:spPr>
          <a:xfrm>
            <a:off x="6277356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5층, 2층, 2층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(줄의 수를 더함)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 본 모양은?</a:t>
            </a:r>
            <a:endParaRPr lang="ko-KR" sz="4000" dirty="0"/>
          </a:p>
        </p:txBody>
      </p:sp>
      <p:sp>
        <p:nvSpPr>
          <p:cNvPr id="3" name="S13-text5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옆에서 본 모양을 고르고, 까닭을 말해요.</a:t>
            </a:r>
            <a:endParaRPr lang="ko-KR" sz="2800" dirty="0"/>
          </a:p>
        </p:txBody>
      </p:sp>
      <p:sp>
        <p:nvSpPr>
          <p:cNvPr id="4" name="S13-figure513" descr="위에서 본 모양에 수를 씀: 뒷줄 3, 2, 1 / 앞줄 2, 1"/>
          <p:cNvSpPr/>
          <p:nvPr/>
        </p:nvSpPr>
        <p:spPr>
          <a:xfrm>
            <a:off x="7587234" y="38633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13-mark514"/>
          <p:cNvSpPr/>
          <p:nvPr/>
        </p:nvSpPr>
        <p:spPr>
          <a:xfrm>
            <a:off x="7587234" y="29489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3-mark515"/>
          <p:cNvSpPr/>
          <p:nvPr/>
        </p:nvSpPr>
        <p:spPr>
          <a:xfrm>
            <a:off x="8501634" y="38633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3-mark516"/>
          <p:cNvSpPr/>
          <p:nvPr/>
        </p:nvSpPr>
        <p:spPr>
          <a:xfrm>
            <a:off x="8501634" y="29489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3-mark517"/>
          <p:cNvSpPr/>
          <p:nvPr/>
        </p:nvSpPr>
        <p:spPr>
          <a:xfrm>
            <a:off x="9416034" y="29489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3-label519"/>
          <p:cNvSpPr txBox="1"/>
          <p:nvPr/>
        </p:nvSpPr>
        <p:spPr>
          <a:xfrm>
            <a:off x="7897368" y="41459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13-label521"/>
          <p:cNvSpPr txBox="1"/>
          <p:nvPr/>
        </p:nvSpPr>
        <p:spPr>
          <a:xfrm>
            <a:off x="7897368" y="32315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13-label523"/>
          <p:cNvSpPr txBox="1"/>
          <p:nvPr/>
        </p:nvSpPr>
        <p:spPr>
          <a:xfrm>
            <a:off x="8811768" y="41459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13-label525"/>
          <p:cNvSpPr txBox="1"/>
          <p:nvPr/>
        </p:nvSpPr>
        <p:spPr>
          <a:xfrm>
            <a:off x="8811768" y="32315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3" name="S13-label527"/>
          <p:cNvSpPr txBox="1"/>
          <p:nvPr/>
        </p:nvSpPr>
        <p:spPr>
          <a:xfrm>
            <a:off x="9726168" y="32315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13-label529"/>
          <p:cNvSpPr txBox="1"/>
          <p:nvPr/>
        </p:nvSpPr>
        <p:spPr>
          <a:xfrm>
            <a:off x="8767064" y="51060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15" name="S13-chip53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6" name="S13-cell531"/>
          <p:cNvSpPr/>
          <p:nvPr/>
        </p:nvSpPr>
        <p:spPr>
          <a:xfrm>
            <a:off x="3262122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532"/>
          <p:cNvSpPr/>
          <p:nvPr/>
        </p:nvSpPr>
        <p:spPr>
          <a:xfrm>
            <a:off x="3627882" y="21031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533"/>
          <p:cNvSpPr/>
          <p:nvPr/>
        </p:nvSpPr>
        <p:spPr>
          <a:xfrm>
            <a:off x="3262122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cell534"/>
          <p:cNvSpPr/>
          <p:nvPr/>
        </p:nvSpPr>
        <p:spPr>
          <a:xfrm>
            <a:off x="3627882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cell535"/>
          <p:cNvSpPr/>
          <p:nvPr/>
        </p:nvSpPr>
        <p:spPr>
          <a:xfrm>
            <a:off x="326212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cell536"/>
          <p:cNvSpPr/>
          <p:nvPr/>
        </p:nvSpPr>
        <p:spPr>
          <a:xfrm>
            <a:off x="362788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figure537" descr="가: 왼쪽 3칸, 오른쪽 2칸 색칠"/>
          <p:cNvSpPr/>
          <p:nvPr/>
        </p:nvSpPr>
        <p:spPr>
          <a:xfrm>
            <a:off x="3262122" y="2103120"/>
            <a:ext cx="7315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3-chip53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4" name="S13-cell539"/>
          <p:cNvSpPr/>
          <p:nvPr/>
        </p:nvSpPr>
        <p:spPr>
          <a:xfrm>
            <a:off x="3262122" y="35661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540"/>
          <p:cNvSpPr/>
          <p:nvPr/>
        </p:nvSpPr>
        <p:spPr>
          <a:xfrm>
            <a:off x="3627882" y="35661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cell541"/>
          <p:cNvSpPr/>
          <p:nvPr/>
        </p:nvSpPr>
        <p:spPr>
          <a:xfrm>
            <a:off x="3262122" y="39319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cell542"/>
          <p:cNvSpPr/>
          <p:nvPr/>
        </p:nvSpPr>
        <p:spPr>
          <a:xfrm>
            <a:off x="3627882" y="39319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3-cell543"/>
          <p:cNvSpPr/>
          <p:nvPr/>
        </p:nvSpPr>
        <p:spPr>
          <a:xfrm>
            <a:off x="3262122" y="42976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3-cell544"/>
          <p:cNvSpPr/>
          <p:nvPr/>
        </p:nvSpPr>
        <p:spPr>
          <a:xfrm>
            <a:off x="3627882" y="42976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3-figure545" descr="나: 왼쪽 2칸, 오른쪽 3칸 색칠"/>
          <p:cNvSpPr/>
          <p:nvPr/>
        </p:nvSpPr>
        <p:spPr>
          <a:xfrm>
            <a:off x="3262122" y="3566160"/>
            <a:ext cx="7315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3-chip54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32" name="S13-cell547"/>
          <p:cNvSpPr/>
          <p:nvPr/>
        </p:nvSpPr>
        <p:spPr>
          <a:xfrm>
            <a:off x="3079242" y="50292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3-cell548"/>
          <p:cNvSpPr/>
          <p:nvPr/>
        </p:nvSpPr>
        <p:spPr>
          <a:xfrm>
            <a:off x="3445002" y="5029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3-cell549"/>
          <p:cNvSpPr/>
          <p:nvPr/>
        </p:nvSpPr>
        <p:spPr>
          <a:xfrm>
            <a:off x="3810762" y="5029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3-cell550"/>
          <p:cNvSpPr/>
          <p:nvPr/>
        </p:nvSpPr>
        <p:spPr>
          <a:xfrm>
            <a:off x="3079242" y="53949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3-cell551"/>
          <p:cNvSpPr/>
          <p:nvPr/>
        </p:nvSpPr>
        <p:spPr>
          <a:xfrm>
            <a:off x="3445002" y="53949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cell552"/>
          <p:cNvSpPr/>
          <p:nvPr/>
        </p:nvSpPr>
        <p:spPr>
          <a:xfrm>
            <a:off x="3810762" y="5394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3-cell553"/>
          <p:cNvSpPr/>
          <p:nvPr/>
        </p:nvSpPr>
        <p:spPr>
          <a:xfrm>
            <a:off x="307924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3-cell554"/>
          <p:cNvSpPr/>
          <p:nvPr/>
        </p:nvSpPr>
        <p:spPr>
          <a:xfrm>
            <a:off x="344500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3-cell555"/>
          <p:cNvSpPr/>
          <p:nvPr/>
        </p:nvSpPr>
        <p:spPr>
          <a:xfrm>
            <a:off x="381076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3-figure556" descr="다: 왼쪽부터 3칸, 2칸, 1칸 색칠"/>
          <p:cNvSpPr/>
          <p:nvPr/>
        </p:nvSpPr>
        <p:spPr>
          <a:xfrm>
            <a:off x="3079242" y="502920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55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55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앞·옆에서는 줄마다 가장 높은 층이 보여요. 숨은 쌓기나무는 위에서 본 모양으로 확인해요.</a:t>
            </a:r>
            <a:endParaRPr lang="ko-KR" sz="2800" dirty="0"/>
          </a:p>
        </p:txBody>
      </p:sp>
      <p:sp>
        <p:nvSpPr>
          <p:cNvPr id="5" name="S14-chip559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자리마다 수를 써서 더하기</a:t>
            </a:r>
            <a:endParaRPr lang="ko-KR" sz="2200" dirty="0"/>
          </a:p>
        </p:txBody>
      </p:sp>
      <p:sp>
        <p:nvSpPr>
          <p:cNvPr id="6" name="S14-chip560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줄의 수를 더해 앞모양 그리기</a:t>
            </a:r>
            <a:endParaRPr lang="ko-KR" sz="2200" dirty="0"/>
          </a:p>
        </p:txBody>
      </p:sp>
      <p:sp>
        <p:nvSpPr>
          <p:cNvPr id="7" name="S14-text561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562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위에서 본 모양에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2, 3, 1이 있으면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개?</a:t>
            </a:r>
            <a:endParaRPr lang="ko-KR" sz="2200" dirty="0"/>
          </a:p>
        </p:txBody>
      </p:sp>
      <p:sp>
        <p:nvSpPr>
          <p:cNvPr id="9" name="S14-text563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앞뒤로 1층과 3층이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줄을 앞에서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보면 몇 층?</a:t>
            </a:r>
            <a:endParaRPr lang="ko-KR" sz="2200" dirty="0"/>
          </a:p>
        </p:txBody>
      </p:sp>
      <p:sp>
        <p:nvSpPr>
          <p:cNvPr id="10" name="S14-text564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그림만으로 개수를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정할 수 없는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까닭은?</a:t>
            </a:r>
            <a:endParaRPr lang="ko-KR" sz="2200" dirty="0"/>
          </a:p>
        </p:txBody>
      </p:sp>
      <p:sp>
        <p:nvSpPr>
          <p:cNvPr id="11" name="S14-text56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직육면체의 겉넓이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층별로 세기</a:t>
            </a:r>
            <a:endParaRPr lang="ko-KR" sz="4000" dirty="0"/>
          </a:p>
        </p:txBody>
      </p:sp>
      <p:sp>
        <p:nvSpPr>
          <p:cNvPr id="3" name="S15-card5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5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+ 1 = 6, 모두 6개예요.</a:t>
            </a:r>
            <a:endParaRPr lang="ko-KR" sz="2800" dirty="0"/>
          </a:p>
        </p:txBody>
      </p:sp>
      <p:sp>
        <p:nvSpPr>
          <p:cNvPr id="5" name="S15-figure568" descr="쌓기나무 6개를 한 줄로 계단처럼 쌓은 모양: 왼쪽부터 1층, 2층, 3층"/>
          <p:cNvSpPr/>
          <p:nvPr/>
        </p:nvSpPr>
        <p:spPr>
          <a:xfrm>
            <a:off x="1659575" y="231648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5-mark569"/>
          <p:cNvSpPr/>
          <p:nvPr/>
        </p:nvSpPr>
        <p:spPr>
          <a:xfrm>
            <a:off x="1659575" y="276987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5-mark570"/>
          <p:cNvSpPr/>
          <p:nvPr/>
        </p:nvSpPr>
        <p:spPr>
          <a:xfrm>
            <a:off x="2444847" y="276987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5-mark571"/>
          <p:cNvSpPr/>
          <p:nvPr/>
        </p:nvSpPr>
        <p:spPr>
          <a:xfrm>
            <a:off x="2444847" y="276987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5-mark572"/>
          <p:cNvSpPr/>
          <p:nvPr/>
        </p:nvSpPr>
        <p:spPr>
          <a:xfrm>
            <a:off x="2444847" y="322326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5-mark573"/>
          <p:cNvSpPr/>
          <p:nvPr/>
        </p:nvSpPr>
        <p:spPr>
          <a:xfrm>
            <a:off x="3230118" y="322326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5-mark574"/>
          <p:cNvSpPr/>
          <p:nvPr/>
        </p:nvSpPr>
        <p:spPr>
          <a:xfrm>
            <a:off x="3230118" y="322326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5-mark575"/>
          <p:cNvSpPr/>
          <p:nvPr/>
        </p:nvSpPr>
        <p:spPr>
          <a:xfrm>
            <a:off x="3230118" y="367665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5-mark576"/>
          <p:cNvSpPr/>
          <p:nvPr/>
        </p:nvSpPr>
        <p:spPr>
          <a:xfrm>
            <a:off x="4015389" y="367665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5-mark577"/>
          <p:cNvSpPr/>
          <p:nvPr/>
        </p:nvSpPr>
        <p:spPr>
          <a:xfrm>
            <a:off x="2444847" y="186309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5-mark578"/>
          <p:cNvSpPr/>
          <p:nvPr/>
        </p:nvSpPr>
        <p:spPr>
          <a:xfrm>
            <a:off x="2444847" y="231648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5-mark579"/>
          <p:cNvSpPr/>
          <p:nvPr/>
        </p:nvSpPr>
        <p:spPr>
          <a:xfrm>
            <a:off x="3230118" y="231648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5-mark580"/>
          <p:cNvSpPr/>
          <p:nvPr/>
        </p:nvSpPr>
        <p:spPr>
          <a:xfrm>
            <a:off x="3230118" y="231648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5-mark581"/>
          <p:cNvSpPr/>
          <p:nvPr/>
        </p:nvSpPr>
        <p:spPr>
          <a:xfrm>
            <a:off x="3230118" y="276987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5-mark582"/>
          <p:cNvSpPr/>
          <p:nvPr/>
        </p:nvSpPr>
        <p:spPr>
          <a:xfrm>
            <a:off x="4015389" y="276987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5-mark583"/>
          <p:cNvSpPr/>
          <p:nvPr/>
        </p:nvSpPr>
        <p:spPr>
          <a:xfrm>
            <a:off x="3230118" y="140970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5-mark584"/>
          <p:cNvSpPr/>
          <p:nvPr/>
        </p:nvSpPr>
        <p:spPr>
          <a:xfrm>
            <a:off x="3230118" y="186309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5-mark585"/>
          <p:cNvSpPr/>
          <p:nvPr/>
        </p:nvSpPr>
        <p:spPr>
          <a:xfrm>
            <a:off x="4015389" y="186309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5-card586"/>
          <p:cNvSpPr/>
          <p:nvPr/>
        </p:nvSpPr>
        <p:spPr>
          <a:xfrm>
            <a:off x="6277356" y="16916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15-cardtext587"/>
          <p:cNvSpPr txBox="1"/>
          <p:nvPr/>
        </p:nvSpPr>
        <p:spPr>
          <a:xfrm>
            <a:off x="6551676" y="18288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3개</a:t>
            </a:r>
            <a:endParaRPr lang="ko-KR" sz="2800" dirty="0"/>
          </a:p>
        </p:txBody>
      </p:sp>
      <p:sp>
        <p:nvSpPr>
          <p:cNvPr id="25" name="S15-card588"/>
          <p:cNvSpPr/>
          <p:nvPr/>
        </p:nvSpPr>
        <p:spPr>
          <a:xfrm>
            <a:off x="6277356" y="27889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5-cardtext589"/>
          <p:cNvSpPr txBox="1"/>
          <p:nvPr/>
        </p:nvSpPr>
        <p:spPr>
          <a:xfrm>
            <a:off x="6551676" y="29260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2층에 2개</a:t>
            </a:r>
            <a:endParaRPr lang="ko-KR" sz="2800" dirty="0"/>
          </a:p>
        </p:txBody>
      </p:sp>
      <p:sp>
        <p:nvSpPr>
          <p:cNvPr id="27" name="S15-card590"/>
          <p:cNvSpPr/>
          <p:nvPr/>
        </p:nvSpPr>
        <p:spPr>
          <a:xfrm>
            <a:off x="6277356" y="38862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15-cardtext591"/>
          <p:cNvSpPr txBox="1"/>
          <p:nvPr/>
        </p:nvSpPr>
        <p:spPr>
          <a:xfrm>
            <a:off x="6551676" y="40233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3층에 1개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쌓기나무와 공간 감각</dc:title>
  <dc:subject>KR22-G06-MAT-VIEWS-L01</dc:subject>
  <dc:creator>education-ppt</dc:creator>
  <cp:lastModifiedBy>education-ppt</cp:lastModifiedBy>
  <cp:revision>1</cp:revision>
  <dcterms:created xsi:type="dcterms:W3CDTF">2026-10-26T09:09:11Z</dcterms:created>
  <dcterms:modified xsi:type="dcterms:W3CDTF">2026-10-26T09:09:11Z</dcterms:modified>
</cp:coreProperties>
</file>