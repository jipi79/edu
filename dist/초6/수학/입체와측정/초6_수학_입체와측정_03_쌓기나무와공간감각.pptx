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9720da64-de03-0767-ec08-0ffc013d19f6}">
          <p14:sldIdLst>
            <p14:sldId id="256"/>
            <p14:sldId id="257"/>
          </p14:sldIdLst>
        </p14:section>
        <p14:section name="개념" id="{2cd22bcd-6ef3-52f9-27ca-b5c5032e5d81}">
          <p14:sldIdLst>
            <p14:sldId id="258"/>
            <p14:sldId id="260"/>
            <p14:sldId id="261"/>
            <p14:sldId id="262"/>
          </p14:sldIdLst>
        </p14:section>
        <p14:section name="연습" id="{55c83795-49e9-797b-93be-3dc23edaf85b}">
          <p14:sldIdLst>
            <p14:sldId id="259"/>
            <p14:sldId id="263"/>
            <p14:sldId id="264"/>
            <p14:sldId id="265"/>
          </p14:sldIdLst>
        </p14:section>
        <p14:section name="개념" id="{24e59063-d340-dee2-e56d-a9a373da819f}">
          <p14:sldIdLst/>
        </p14:section>
        <p14:section name="연습" id="{57f31e6a-8b43-be84-3761-57cbfc3dc325}">
          <p14:sldIdLst/>
        </p14:section>
        <p14:section name="확인" id="{1a43d2e4-b7c2-a4a7-f3b0-3d79671a1523}">
          <p14:sldIdLst>
            <p14:sldId id="266"/>
            <p14:sldId id="267"/>
            <p14:sldId id="268"/>
          </p14:sldIdLst>
        </p14:section>
        <p14:section name="정리" id="{9259e834-6bce-5945-7e9a-4a58ae9e08df}">
          <p14:sldIdLst>
            <p14:sldId id="269"/>
          </p14:sldIdLst>
        </p14:section>
        <p14:section name="보충" id="{e86a5029-24a4-8712-a67d-0a4e881e3c6f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그림에서 보이지 않는 쌓기나무가 있을 수 있다는 질문으로 궁금하게 합니다.
시간: 약 2분
이렇게 말해 보세요
- “그림의 쌓기나무는 몇 개일까? 먼저 예상만 해 봐.”
- “그림 뒤쪽에 보이지 않는 쌓기나무가 있다면 어떻게 셀 수 있을까? 오늘 그 방법을 알아보자.”
예상 답
- “7개요.” “8개요.” “모르겠어요.”
막히면
- 예상만 듣고 넘어갑니다. S03에서 같은 모양을 다시 봅니다.
주의
- 준비물: 정육면체 블록 10개쯤(쌓기나무, 주사위, 각설탕, 레고 1칸짜리 블록 등 크기가 같은 정육면체), 모눈종이, 색연필.
- 블록으로 그림과 같은 모양을 직접 쌓으며 수업하면 훨씬 쉽습니다.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확인(층별로 세기, 원기둥)]
목적: 쌓기나무를 층별로 세는 방법(초2)과 지난 시간에 본 ‘위·앞에서 본 모양’을 확인합니다.
시간: 약 3분
이렇게 말해 보세요
- “①과 ②는 1층과 2층으로 나누어 세어 볼래?”
- “③은 지난 시간에 배운 입체도형이야. 위에서 보면 원, 앞에서 보면 직사각형인 것은?”
정답
- ① 4개(1층 3개 + 2층 1개)
- ② 1개
- ③ 원기둥
막히면
- 블록 4개로 그림과 똑같이 쌓아 보고 층마다 손가락으로 셉니다.
- ①②가 어려우면 S15(보충)를 먼저 합니다. 보충으로도 어려우면 초2 ‘쌓기나무’를 먼저 다시 합니다.
주의
- 오늘 그림은 모두 크기가 같은 정육면체 쌓기나무입니다. 2층 쌓기나무 아래에는 반드시 1층 쌓기나무가 있습니다(떠 있는 쌓기나무는 없습니다).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위·앞·옆에서 본 모양]
목적: 쌓은 모양을 위, 앞, 옆(오른쪽)에서 본 모양을 알고, 앞·옆에서 보면 줄마다 가장 높은 층만 보인다는 것을 압니다.
시간: 약 3분
이렇게 말해 보세요
- “블록으로 똑같이 쌓아 보자. 의자 위에 올라가 위에서 내려다보면 어떤 모양이야?”
- “이제 눈을 식탁 높이에 맞추고 앞에서 볼까? 왼쪽 줄은 몇 층으로 보여? 앞에 2층이 있는데 왜 3층으로 보일까?”
- “오른쪽 옆으로 가서 보자. 앞줄은 왼쪽, 뒷줄은 오른쪽에 보이지?”
예상 답
- “앞에서 보면 뒤에 있는 3층이 보여요. 앞의 2층에 가려도 위로 1칸이 더 보여요.”
막히면
- 색칠한 칸 하나가 쌓기나무의 한 면 하나라고 말해 줍니다. 앞에서 보면 같은 줄에서 겹치는 쌓기나무는 한 칸으로 보입니다.
주의
- 이 차시에서 ‘옆’은 오른쪽 옆에서 본 모양입니다. 위에서 본 모양은 아래쪽이 앞이 되게 그립니다.
- 앞에서 본 모양의 칸 수는 쌓기나무의 개수가 아닙니다. 줄마다 가장 높은 층 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안내받는 연습(앞·옆에서 본 모양 고르기)]
목적: 도움을 받으며 쌓은 모양을 앞과 옆(오른쪽)에서 본 모양을 고르고 까닭을 말합니다.
시간: 약 3분
이렇게 말해 보세요
- “앞에서 보면 왼쪽 줄은 몇 층이야? 가운데 줄은? 오른쪽 줄은?”
- “옆에서 보면 줄이 몇 개 보여? 앞줄은 왼쪽, 뒷줄은 오른쪽이었지?”
정답
- 앞에서 본 모양: 가(왼쪽부터 1층, 2층, 3층)
- 옆에서 본 모양: 나(앞줄 2층, 뒷줄 3층)
- 다는 뒤에서 본 모양입니다(왼쪽과 오른쪽이 바뀜).
막히면
- 블록으로 똑같이 쌓고 아이가 직접 앞과 옆으로 가서 보게 합니다.
주의
- 다를 고르면 오른쪽과 왼쪽을 바꾸어 본 것입니다. 아이가 ‘앞’ 화살표 쪽에 서서 보는지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보이지 않는 쌓기나무]
목적: 쌓은 모양 그림만으로는 뒤에 숨은 쌓기나무가 있는지 알 수 없고, 위에서 본 모양을 함께 보면 개수를 정할 수 있음을 압니다.
시간: 약 3분
이렇게 말해 보세요
- “그림에 보이는 쌓기나무는 몇 개야?”
- “위에서 본 모양이 ①이면 몇 개일까? ②이면?”
- “②에서 뒷줄 왼쪽에 있는 쌓기나무는 왜 그림에 안 보일까?”
예상 답
- “①이면 4개, ②이면 5개예요.”
- “앞의 쌓기나무와 2층 쌓기나무에 가려서요.”
정답
- 위에서 본 모양 ①: 4개(1층 3개 + 2층 1개)
- 위에서 본 모양 ②: 5개(1층 4개 + 2층 1개). 뒷줄 왼쪽 쌓기나무는 앞, 오른쪽, 위가 모두 가려 보이지 않습니다.
막히면
- 블록 5개로 ②를 쌓고, 아이 눈을 그림처럼 오른쪽 앞 위에 두게 해서 뒷줄 왼쪽 블록이 안 보이는 것을 확인합니다. 그다음 그 블록을 빼도 똑같이 보이는지 봅니다.
주의
- 그림만 보고 개수를 물을 때는 ‘보이지 않는 쌓기나무는 없다’는 조건이 있어야 답이 하나입니다. 이 차시의 문제는 위에서 본 모양을 함께 주거나 그 조건을 적었습니다.
- 위에서 본 모양의 색칠한 칸은 바닥(1층)에 놓인 쌓기나무의 자리입니다.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위에서 본 모양에 수 쓰기]
목적: 위에서 본 모양의 각 자리에 쌓은 쌓기나무의 수를 쓰면, 개수는 수의 합이고 앞·옆에서 본 모양은 줄마다 가장 큰 수로 알 수 있음을 압니다.
시간: 약 3분
이렇게 말해 보세요
- “위에서 본 모양의 칸마다 그 자리에 몇 개를 쌓았는지 쓴 거야. 모두 몇 개야?”
- “앞에서 보면 왼쪽 줄은 몇 층으로 보일까? 그 줄의 1과 2 중에서 큰 수만 보이지?”
- “오른쪽 옆에서 보면 앞줄은 몇 층, 뒷줄은 몇 층일까?”
예상 답
- “2 + 3 + 1 + 2 + 1 = 9, 9개예요.”
- “앞에서 보면 왼쪽부터 2층, 3층, 1층이에요.”
- “옆에서 보면 앞줄 2층, 뒷줄 3층이에요.”
막히면
- 블록으로 칸마다 적힌 수만큼 쌓아 보고 그림과 같은지 비교합니다.
주의
- 이 방법을 쓰면 보이지 않는 쌓기나무도 빠짐없이 셀 수 있습니다.
- 앞에서 본 모양: 위에서 본 모양의 세로줄(왼쪽, 가운데, 오른쪽)마다 가장 큰 수. 옆에서 본 모양: 가로줄(앞줄, 뒷줄)마다 가장 큰 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층별로 나타낸 모양]
목적: 쌓은 모양을 층별로 나누어 위에서 본 모양처럼 나타내고, 층마다 칸 수를 더해 개수를 구합니다.
시간: 약 2분
이렇게 말해 보세요
- “1층에 놓인 쌓기나무를 위에서 보면 어떤 모양이야? 2층만 보면? 3층만 보면?”
- “층마다 몇 개야? 모두 몇 개야?”
예상 답
- “1층 5개, 2층 2개, 3층 1개, 모두 8개예요.”
막히면
- 블록을 3층부터 한 층씩 내려놓으며 층마다 모양을 종이에 그려 봅니다.
주의
- 위층 칸 아래에는 반드시 아래층 칸이 있어야 합니다. 2층 모양의 색칠한 칸은 1층 모양에서도 색칠되어 있습니다(떠 있는 쌓기나무는 없음).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안내받는 연습(수를 쓴 모양으로 개수와 앞·옆 모양)]
목적: 도움을 받으며 위에서 본 모양에 쓴 수로 개수와 앞·옆에서 본 모양을 알아냅니다.
시간: 약 3분
이렇게 말해 보세요
- “①은 수를 모두 더해 볼래?”
- “②는 왼쪽 줄에 2와 3이 있어. 앞에서 보면 몇 층으로 보일까?”
- “③에서 앞줄은 2, 1, 1이야. 오른쪽 옆에서 보면 몇 층으로 보일까?”
정답
- ① 10개 (3 + 1 + 2 + 2 + 1 + 1 = 10)
- ② 3층, 1층, 2층
- ③ 앞줄 2층, 뒷줄 3층
막히면
- 블록 10개로 칸마다 수만큼 쌓아 직접 앞과 옆에서 봅니다.
- ②를 5층(2 + 3)이라고 하면 S09로 가서 비교합니다.
주의
- ②③을 공책에 모눈 칸을 색칠해 그려 보게 하면 활동지 2번 연습이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오개념 비교(앞에서 본 모양에 수를 더해 그리기)]
목적: 앞에서 본 모양을 그릴 때 줄의 수를 더하는 실수(M2)를 찾고, 줄마다 가장 높은 층만 보인다는 것으로 설명합니다.
시간: 약 2분
이렇게 말해 보세요
- “토끼와 곰이 ★을 앞에서 본 모양을 그렸어. 왼쪽 줄에는 앞에 1개, 뒤에 1개가 있어. 앞에서 보면 몇 층으로 보일까?”
- “토끼는 어떻게 그렸을까?”
정답
- 곰(나)이 맞습니다. 앞에서 보면 앞뒤로 겹친 쌓기나무는 한 칸으로 보이므로 줄마다 가장 큰 수(1, 2, 1)만큼 색칠합니다.
- 토끼(가)는 줄마다 수를 더해(1 + 1, 2 + 1, 1) 그렸습니다.
막히면
- 블록 두 개를 앞뒤로 놓고 앞에서 보게 합니다. “몇 개로 보여? 몇 층으로 보여?”
주의
- 여기까지 하고 지치면 쉬고, 다음에 S10부터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안내받는 연습(위·앞·옆 모양으로 개수 구하기)]
목적: 도움을 받으며 위·앞·옆에서 본 모양을 함께 써서 자리마다 쌓은 개수를 정하고 전체 개수를 구합니다.
시간: 약 3분
이렇게 말해 보세요
- “위에서 보면 쌓기나무가 놓인 자리는 몇 곳이야? 앞줄 3곳, 뒷줄 2곳이지?”
- “옆에서 보면 앞줄은 1층뿐이야. 그러면 앞줄 세 자리에는 몇 개씩 있을까?”
- “앞에서 보면 왼쪽 줄이 3층이야. 앞줄이 1층이면 3층은 어디에 있을까?”
정답
- ① 1층(앞줄 세 자리 모두 1개씩)
- ② 뒷줄 왼쪽 3개, 뒷줄 가운데 2개(앞에서 본 왼쪽 줄 3층, 가운데 줄 2층)
- ③ 8개 (1 + 1 + 1 + 3 + 2 = 8)
막히면
- 위에서 본 모양을 공책에 그리고, 정해진 자리부터 수를 하나씩 써 넣게 합니다(앞줄 1, 1, 1 → 뒷줄 3, 2).
주의
- 이 문제는 세 모양으로 개수가 하나로 정해지도록 만들었습니다. 위·앞·옆 모양만으로 개수가 하나로 정해지지 않는 경우도 있습니다(예: 2 × 2 자리에서 세 모양이 모두 2층이면 6개, 7개, 8개가 모두 가능).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해결]
목적: 도움 없이 위에서 본 모양(①), 수를 쓴 모양(②), 층별 모양(③)으로 개수를 구하고(목표 ②), 앞에서 본 모양을 알아내는지(목표 ①) 봅니다.
시간: 약 5분
이렇게 말해 보세요
- “이번에는 혼자 해 볼래? ①~③은 쌓기나무의 개수, ④는 앞에서 본 모양이야. 다 하면 어떻게 알았는지 말해 줘.”
정답
- ① 8개(위에서 본 모양을 보면 뒷줄 왼쪽에도 쌓기나무가 있으므로 그림만 보고 센 7개보다 1개 많음: 1층 6개 + 2층 2개)
- ② 9개 (3 + 1 + 2 + 1 + 2 = 9)
- ③ 10개 (1층 6개 + 2층 3개 + 3층 1개)
- ④ 3층, 1층, 2층
막히면
- 바로 알려 주지 말고 ①은 S05, ②④는 S06, ③은 S07을 떠올리게 “어떤 방법을 썼었지?”라고만 묻습니다.
- 도움을 받아 해결했다면 기록표에 ‘도움’으로 표시합니다.
주의
- ①을 7개라고 하면 보이지 않는 쌓기나무를 빠뜨린 것입니다. 위에서 본 모양의 칸 수(6)와 그림의 1층 수를 비교하게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함께 확인하고 흔한 실수를 바로잡습니다. 수업용에만 있는 장입니다.
시간: 약 2분
이렇게 말해 보세요
- “네 답과 같은지 볼까? 다르면 블록으로 쌓아 보며 같이 다시 생각해 보자.”
정답
- ① 8개 ② 9개 ③ 10개 ④ 3층, 1층, 2층
막히면
- ①이 틀렸으면 S05, ②④는 S06·S09, ③은 S07을 다시 봅니다.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확인(옆에서 본 모양)]
목적: 처음 보는 문제에서 수를 쓴 위에서 본 모양으로 옆(오른쪽)에서 본 모양을 고르고 까닭을 말하는지 확인합니다.
시간: 약 2분
이렇게 말해 보세요
- “오른쪽 옆에서 보면 줄이 몇 개 보일까? 앞줄은 왼쪽과 오른쪽 중 어디에 보이지?”
정답
- 나. 앞줄(2, 1)에서 가장 높은 2층이 왼쪽, 뒷줄(3, 2, 1)에서 가장 높은 3층이 오른쪽에 보입니다.
- 가는 앞줄과 뒷줄의 위치를 바꾼 것, 다는 앞에서 본 모양입니다.
막히면
- 블록으로 쌓고 오른쪽 옆으로 가서 직접 보게 합니다.
주의
- 까닭까지 말하면 목표 ① 확인 완료입니다. 가를 고르면 S03의 ‘앞줄이 왼쪽에 보여요’를 다시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정리와 다음 수업 복습]
목적: 핵심을 정리하고 다음 수업 첫 5분에 풀 복습 문제를 알려 줍니다.
시간: 약 2분
이렇게 말해 보세요
- “앞에서 본 모양은 어떻게 알 수 있었지? 쌓기나무의 개수를 빠짐없이 세려면 무엇을 보면 될까?”
예상 답
- “줄마다 가장 높은 층만큼이요.”
- “위에서 본 모양에 수를 써서 더해요.”
정답
- ① 6개 (2 + 3 + 1 = 6)
- ② 3층
- ③ 뒤에 가려 보이지 않는 쌓기나무가 있을 수 있기 때문입니다.
막히면
- S06과 S05를 다시 보여 줍니다.
주의
- 복습 세 문제는 다음 수업을 시작할 때 활동지 마지막 쪽과 함께 풉니다.
- 다음 차시 ‘직육면체의 겉넓이’에서는 상자(과자 상자 등) 하나와 자를 준비합니다.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선수 학습 보충(층별로 세기)]
목적: S02에서 층별로 세기가 흔들리면, 오늘 내용 전에 블록을 층마다 나누어 세는 방법을 다시 익힙니다.
시간: 약 5분
이렇게 말해 보세요
- “블록 6개로 계단을 쌓아 볼까? 바닥에 닿은 1층은 몇 개야? 그 위 2층은? 맨 위 3층은?”
- “층마다 센 수를 더하면 모두 몇 개야?”
정답
- 1층 3개, 2층 2개, 3층 1개, 모두 6개
막히면
- 맨 위층부터 블록을 하나씩 내려 층마다 따로 줄을 세워 봅니다.
주의
- 보충으로도 어려우면 초2 ‘쌓기나무’를 먼저 다시 합니다. 이 차시 바로 앞의 계획 차시는 ‘원기둥·원뿔·구’입니다.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입체와측정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쌓기나무와 공간 감각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쌓기나무와 공간 감각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수학 · 쌓기나무와 공간 감각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쌓기나무와 공간 감각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보이지 않는 쌓기나무까지 셀 수 있을까?</a:t>
            </a:r>
            <a:endParaRPr lang="ko-KR" sz="28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쌓기나무 8개로 쌓은 모양: 왼쪽 뒤가 3층, 왼쪽 앞이 2층, 나머지는 1층"/>
          <p:cNvSpPr/>
          <p:nvPr/>
        </p:nvSpPr>
        <p:spPr>
          <a:xfrm>
            <a:off x="9212591" y="1726969"/>
            <a:ext cx="868658" cy="501535"/>
          </a:xfrm>
          <a:custGeom>
            <a:avLst/>
            <a:gdLst/>
            <a:ahLst/>
            <a:cxnLst/>
            <a:rect l="l" t="t" r="r" b="b"/>
            <a:pathLst>
              <a:path w="868658" h="501535">
                <a:moveTo>
                  <a:pt x="0" y="250767"/>
                </a:moveTo>
                <a:lnTo>
                  <a:pt x="434329" y="501535"/>
                </a:lnTo>
                <a:lnTo>
                  <a:pt x="868658" y="250767"/>
                </a:lnTo>
                <a:lnTo>
                  <a:pt x="434329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9212591" y="1977736"/>
            <a:ext cx="434329" cy="752302"/>
          </a:xfrm>
          <a:custGeom>
            <a:avLst/>
            <a:gdLst/>
            <a:ahLst/>
            <a:cxnLst/>
            <a:rect l="l" t="t" r="r" b="b"/>
            <a:pathLst>
              <a:path w="434329" h="752302">
                <a:moveTo>
                  <a:pt x="0" y="501535"/>
                </a:moveTo>
                <a:lnTo>
                  <a:pt x="434329" y="752302"/>
                </a:lnTo>
                <a:lnTo>
                  <a:pt x="434329" y="250767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9646920" y="1977736"/>
            <a:ext cx="434329" cy="752302"/>
          </a:xfrm>
          <a:custGeom>
            <a:avLst/>
            <a:gdLst/>
            <a:ahLst/>
            <a:cxnLst/>
            <a:rect l="l" t="t" r="r" b="b"/>
            <a:pathLst>
              <a:path w="434329" h="752302">
                <a:moveTo>
                  <a:pt x="0" y="752302"/>
                </a:moveTo>
                <a:lnTo>
                  <a:pt x="434329" y="501535"/>
                </a:lnTo>
                <a:lnTo>
                  <a:pt x="434329" y="0"/>
                </a:lnTo>
                <a:lnTo>
                  <a:pt x="0" y="250767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>
            <a:off x="8778262" y="1977736"/>
            <a:ext cx="868658" cy="501535"/>
          </a:xfrm>
          <a:custGeom>
            <a:avLst/>
            <a:gdLst/>
            <a:ahLst/>
            <a:cxnLst/>
            <a:rect l="l" t="t" r="r" b="b"/>
            <a:pathLst>
              <a:path w="868658" h="501535">
                <a:moveTo>
                  <a:pt x="0" y="250767"/>
                </a:moveTo>
                <a:lnTo>
                  <a:pt x="434329" y="501535"/>
                </a:lnTo>
                <a:lnTo>
                  <a:pt x="868658" y="250767"/>
                </a:lnTo>
                <a:lnTo>
                  <a:pt x="434329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1-mark6"/>
          <p:cNvSpPr/>
          <p:nvPr/>
        </p:nvSpPr>
        <p:spPr>
          <a:xfrm>
            <a:off x="8778262" y="2228504"/>
            <a:ext cx="434329" cy="752302"/>
          </a:xfrm>
          <a:custGeom>
            <a:avLst/>
            <a:gdLst/>
            <a:ahLst/>
            <a:cxnLst/>
            <a:rect l="l" t="t" r="r" b="b"/>
            <a:pathLst>
              <a:path w="434329" h="752302">
                <a:moveTo>
                  <a:pt x="0" y="501535"/>
                </a:moveTo>
                <a:lnTo>
                  <a:pt x="434329" y="752302"/>
                </a:lnTo>
                <a:lnTo>
                  <a:pt x="434329" y="250767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01-mark7"/>
          <p:cNvSpPr/>
          <p:nvPr/>
        </p:nvSpPr>
        <p:spPr>
          <a:xfrm>
            <a:off x="9212591" y="2228504"/>
            <a:ext cx="434329" cy="752302"/>
          </a:xfrm>
          <a:custGeom>
            <a:avLst/>
            <a:gdLst/>
            <a:ahLst/>
            <a:cxnLst/>
            <a:rect l="l" t="t" r="r" b="b"/>
            <a:pathLst>
              <a:path w="434329" h="752302">
                <a:moveTo>
                  <a:pt x="0" y="752302"/>
                </a:moveTo>
                <a:lnTo>
                  <a:pt x="434329" y="501535"/>
                </a:lnTo>
                <a:lnTo>
                  <a:pt x="434329" y="0"/>
                </a:lnTo>
                <a:lnTo>
                  <a:pt x="0" y="250767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01-mark8"/>
          <p:cNvSpPr/>
          <p:nvPr/>
        </p:nvSpPr>
        <p:spPr>
          <a:xfrm>
            <a:off x="9646920" y="1977736"/>
            <a:ext cx="868658" cy="501535"/>
          </a:xfrm>
          <a:custGeom>
            <a:avLst/>
            <a:gdLst/>
            <a:ahLst/>
            <a:cxnLst/>
            <a:rect l="l" t="t" r="r" b="b"/>
            <a:pathLst>
              <a:path w="868658" h="501535">
                <a:moveTo>
                  <a:pt x="0" y="250767"/>
                </a:moveTo>
                <a:lnTo>
                  <a:pt x="434329" y="501535"/>
                </a:lnTo>
                <a:lnTo>
                  <a:pt x="868658" y="250767"/>
                </a:lnTo>
                <a:lnTo>
                  <a:pt x="434329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2" name="S01-mark9"/>
          <p:cNvSpPr/>
          <p:nvPr/>
        </p:nvSpPr>
        <p:spPr>
          <a:xfrm>
            <a:off x="9646920" y="2228504"/>
            <a:ext cx="434329" cy="752302"/>
          </a:xfrm>
          <a:custGeom>
            <a:avLst/>
            <a:gdLst/>
            <a:ahLst/>
            <a:cxnLst/>
            <a:rect l="l" t="t" r="r" b="b"/>
            <a:pathLst>
              <a:path w="434329" h="752302">
                <a:moveTo>
                  <a:pt x="0" y="501535"/>
                </a:moveTo>
                <a:lnTo>
                  <a:pt x="434329" y="752302"/>
                </a:lnTo>
                <a:lnTo>
                  <a:pt x="434329" y="250767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01-mark10"/>
          <p:cNvSpPr/>
          <p:nvPr/>
        </p:nvSpPr>
        <p:spPr>
          <a:xfrm>
            <a:off x="10081249" y="2228504"/>
            <a:ext cx="434329" cy="752302"/>
          </a:xfrm>
          <a:custGeom>
            <a:avLst/>
            <a:gdLst/>
            <a:ahLst/>
            <a:cxnLst/>
            <a:rect l="l" t="t" r="r" b="b"/>
            <a:pathLst>
              <a:path w="434329" h="752302">
                <a:moveTo>
                  <a:pt x="0" y="752302"/>
                </a:moveTo>
                <a:lnTo>
                  <a:pt x="434329" y="501535"/>
                </a:lnTo>
                <a:lnTo>
                  <a:pt x="434329" y="0"/>
                </a:lnTo>
                <a:lnTo>
                  <a:pt x="0" y="250767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4" name="S01-mark11"/>
          <p:cNvSpPr/>
          <p:nvPr/>
        </p:nvSpPr>
        <p:spPr>
          <a:xfrm>
            <a:off x="9212591" y="1225435"/>
            <a:ext cx="868658" cy="501535"/>
          </a:xfrm>
          <a:custGeom>
            <a:avLst/>
            <a:gdLst/>
            <a:ahLst/>
            <a:cxnLst/>
            <a:rect l="l" t="t" r="r" b="b"/>
            <a:pathLst>
              <a:path w="868658" h="501535">
                <a:moveTo>
                  <a:pt x="0" y="250767"/>
                </a:moveTo>
                <a:lnTo>
                  <a:pt x="434329" y="501535"/>
                </a:lnTo>
                <a:lnTo>
                  <a:pt x="868658" y="250767"/>
                </a:lnTo>
                <a:lnTo>
                  <a:pt x="434329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01-mark12"/>
          <p:cNvSpPr/>
          <p:nvPr/>
        </p:nvSpPr>
        <p:spPr>
          <a:xfrm>
            <a:off x="9212591" y="1476202"/>
            <a:ext cx="434329" cy="752302"/>
          </a:xfrm>
          <a:custGeom>
            <a:avLst/>
            <a:gdLst/>
            <a:ahLst/>
            <a:cxnLst/>
            <a:rect l="l" t="t" r="r" b="b"/>
            <a:pathLst>
              <a:path w="434329" h="752302">
                <a:moveTo>
                  <a:pt x="0" y="501535"/>
                </a:moveTo>
                <a:lnTo>
                  <a:pt x="434329" y="752302"/>
                </a:lnTo>
                <a:lnTo>
                  <a:pt x="434329" y="250767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6" name="S01-mark13"/>
          <p:cNvSpPr/>
          <p:nvPr/>
        </p:nvSpPr>
        <p:spPr>
          <a:xfrm>
            <a:off x="9646920" y="1476202"/>
            <a:ext cx="434329" cy="752302"/>
          </a:xfrm>
          <a:custGeom>
            <a:avLst/>
            <a:gdLst/>
            <a:ahLst/>
            <a:cxnLst/>
            <a:rect l="l" t="t" r="r" b="b"/>
            <a:pathLst>
              <a:path w="434329" h="752302">
                <a:moveTo>
                  <a:pt x="0" y="752302"/>
                </a:moveTo>
                <a:lnTo>
                  <a:pt x="434329" y="501535"/>
                </a:lnTo>
                <a:lnTo>
                  <a:pt x="434329" y="0"/>
                </a:lnTo>
                <a:lnTo>
                  <a:pt x="0" y="250767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7" name="S01-mark14"/>
          <p:cNvSpPr/>
          <p:nvPr/>
        </p:nvSpPr>
        <p:spPr>
          <a:xfrm>
            <a:off x="9212591" y="2228504"/>
            <a:ext cx="868658" cy="501535"/>
          </a:xfrm>
          <a:custGeom>
            <a:avLst/>
            <a:gdLst/>
            <a:ahLst/>
            <a:cxnLst/>
            <a:rect l="l" t="t" r="r" b="b"/>
            <a:pathLst>
              <a:path w="868658" h="501535">
                <a:moveTo>
                  <a:pt x="0" y="250767"/>
                </a:moveTo>
                <a:lnTo>
                  <a:pt x="434329" y="501535"/>
                </a:lnTo>
                <a:lnTo>
                  <a:pt x="868658" y="250767"/>
                </a:lnTo>
                <a:lnTo>
                  <a:pt x="434329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8" name="S01-mark15"/>
          <p:cNvSpPr/>
          <p:nvPr/>
        </p:nvSpPr>
        <p:spPr>
          <a:xfrm>
            <a:off x="9212591" y="2479271"/>
            <a:ext cx="434329" cy="752302"/>
          </a:xfrm>
          <a:custGeom>
            <a:avLst/>
            <a:gdLst/>
            <a:ahLst/>
            <a:cxnLst/>
            <a:rect l="l" t="t" r="r" b="b"/>
            <a:pathLst>
              <a:path w="434329" h="752302">
                <a:moveTo>
                  <a:pt x="0" y="501535"/>
                </a:moveTo>
                <a:lnTo>
                  <a:pt x="434329" y="752302"/>
                </a:lnTo>
                <a:lnTo>
                  <a:pt x="434329" y="250767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9" name="S01-mark16"/>
          <p:cNvSpPr/>
          <p:nvPr/>
        </p:nvSpPr>
        <p:spPr>
          <a:xfrm>
            <a:off x="9646920" y="2479271"/>
            <a:ext cx="434329" cy="752302"/>
          </a:xfrm>
          <a:custGeom>
            <a:avLst/>
            <a:gdLst/>
            <a:ahLst/>
            <a:cxnLst/>
            <a:rect l="l" t="t" r="r" b="b"/>
            <a:pathLst>
              <a:path w="434329" h="752302">
                <a:moveTo>
                  <a:pt x="0" y="752302"/>
                </a:moveTo>
                <a:lnTo>
                  <a:pt x="434329" y="501535"/>
                </a:lnTo>
                <a:lnTo>
                  <a:pt x="434329" y="0"/>
                </a:lnTo>
                <a:lnTo>
                  <a:pt x="0" y="250767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0" name="S01-mark17"/>
          <p:cNvSpPr/>
          <p:nvPr/>
        </p:nvSpPr>
        <p:spPr>
          <a:xfrm>
            <a:off x="8778262" y="1476202"/>
            <a:ext cx="868658" cy="501535"/>
          </a:xfrm>
          <a:custGeom>
            <a:avLst/>
            <a:gdLst/>
            <a:ahLst/>
            <a:cxnLst/>
            <a:rect l="l" t="t" r="r" b="b"/>
            <a:pathLst>
              <a:path w="868658" h="501535">
                <a:moveTo>
                  <a:pt x="0" y="250767"/>
                </a:moveTo>
                <a:lnTo>
                  <a:pt x="434329" y="501535"/>
                </a:lnTo>
                <a:lnTo>
                  <a:pt x="868658" y="250767"/>
                </a:lnTo>
                <a:lnTo>
                  <a:pt x="434329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1" name="S01-mark18"/>
          <p:cNvSpPr/>
          <p:nvPr/>
        </p:nvSpPr>
        <p:spPr>
          <a:xfrm>
            <a:off x="8778262" y="1726969"/>
            <a:ext cx="434329" cy="752302"/>
          </a:xfrm>
          <a:custGeom>
            <a:avLst/>
            <a:gdLst/>
            <a:ahLst/>
            <a:cxnLst/>
            <a:rect l="l" t="t" r="r" b="b"/>
            <a:pathLst>
              <a:path w="434329" h="752302">
                <a:moveTo>
                  <a:pt x="0" y="501535"/>
                </a:moveTo>
                <a:lnTo>
                  <a:pt x="434329" y="752302"/>
                </a:lnTo>
                <a:lnTo>
                  <a:pt x="434329" y="250767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2" name="S01-mark19"/>
          <p:cNvSpPr/>
          <p:nvPr/>
        </p:nvSpPr>
        <p:spPr>
          <a:xfrm>
            <a:off x="9212591" y="1726969"/>
            <a:ext cx="434329" cy="752302"/>
          </a:xfrm>
          <a:custGeom>
            <a:avLst/>
            <a:gdLst/>
            <a:ahLst/>
            <a:cxnLst/>
            <a:rect l="l" t="t" r="r" b="b"/>
            <a:pathLst>
              <a:path w="434329" h="752302">
                <a:moveTo>
                  <a:pt x="0" y="752302"/>
                </a:moveTo>
                <a:lnTo>
                  <a:pt x="434329" y="501535"/>
                </a:lnTo>
                <a:lnTo>
                  <a:pt x="434329" y="0"/>
                </a:lnTo>
                <a:lnTo>
                  <a:pt x="0" y="250767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3" name="S01-mark20"/>
          <p:cNvSpPr/>
          <p:nvPr/>
        </p:nvSpPr>
        <p:spPr>
          <a:xfrm>
            <a:off x="9212591" y="723900"/>
            <a:ext cx="868658" cy="501535"/>
          </a:xfrm>
          <a:custGeom>
            <a:avLst/>
            <a:gdLst/>
            <a:ahLst/>
            <a:cxnLst/>
            <a:rect l="l" t="t" r="r" b="b"/>
            <a:pathLst>
              <a:path w="868658" h="501535">
                <a:moveTo>
                  <a:pt x="0" y="250767"/>
                </a:moveTo>
                <a:lnTo>
                  <a:pt x="434329" y="501535"/>
                </a:lnTo>
                <a:lnTo>
                  <a:pt x="868658" y="250767"/>
                </a:lnTo>
                <a:lnTo>
                  <a:pt x="434329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4" name="S01-mark21"/>
          <p:cNvSpPr/>
          <p:nvPr/>
        </p:nvSpPr>
        <p:spPr>
          <a:xfrm>
            <a:off x="9212591" y="974667"/>
            <a:ext cx="434329" cy="752302"/>
          </a:xfrm>
          <a:custGeom>
            <a:avLst/>
            <a:gdLst/>
            <a:ahLst/>
            <a:cxnLst/>
            <a:rect l="l" t="t" r="r" b="b"/>
            <a:pathLst>
              <a:path w="434329" h="752302">
                <a:moveTo>
                  <a:pt x="0" y="501535"/>
                </a:moveTo>
                <a:lnTo>
                  <a:pt x="434329" y="752302"/>
                </a:lnTo>
                <a:lnTo>
                  <a:pt x="434329" y="250767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01-mark22"/>
          <p:cNvSpPr/>
          <p:nvPr/>
        </p:nvSpPr>
        <p:spPr>
          <a:xfrm>
            <a:off x="9646920" y="974667"/>
            <a:ext cx="434329" cy="752302"/>
          </a:xfrm>
          <a:custGeom>
            <a:avLst/>
            <a:gdLst/>
            <a:ahLst/>
            <a:cxnLst/>
            <a:rect l="l" t="t" r="r" b="b"/>
            <a:pathLst>
              <a:path w="434329" h="752302">
                <a:moveTo>
                  <a:pt x="0" y="752302"/>
                </a:moveTo>
                <a:lnTo>
                  <a:pt x="434329" y="501535"/>
                </a:lnTo>
                <a:lnTo>
                  <a:pt x="434329" y="0"/>
                </a:lnTo>
                <a:lnTo>
                  <a:pt x="0" y="250767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6" name="S01-mark23"/>
          <p:cNvSpPr/>
          <p:nvPr/>
        </p:nvSpPr>
        <p:spPr>
          <a:xfrm>
            <a:off x="9646920" y="2479271"/>
            <a:ext cx="868658" cy="501535"/>
          </a:xfrm>
          <a:custGeom>
            <a:avLst/>
            <a:gdLst/>
            <a:ahLst/>
            <a:cxnLst/>
            <a:rect l="l" t="t" r="r" b="b"/>
            <a:pathLst>
              <a:path w="868658" h="501535">
                <a:moveTo>
                  <a:pt x="0" y="250767"/>
                </a:moveTo>
                <a:lnTo>
                  <a:pt x="434329" y="501535"/>
                </a:lnTo>
                <a:lnTo>
                  <a:pt x="868658" y="250767"/>
                </a:lnTo>
                <a:lnTo>
                  <a:pt x="434329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7" name="S01-mark24"/>
          <p:cNvSpPr/>
          <p:nvPr/>
        </p:nvSpPr>
        <p:spPr>
          <a:xfrm>
            <a:off x="9646920" y="2730038"/>
            <a:ext cx="434329" cy="752302"/>
          </a:xfrm>
          <a:custGeom>
            <a:avLst/>
            <a:gdLst/>
            <a:ahLst/>
            <a:cxnLst/>
            <a:rect l="l" t="t" r="r" b="b"/>
            <a:pathLst>
              <a:path w="434329" h="752302">
                <a:moveTo>
                  <a:pt x="0" y="501535"/>
                </a:moveTo>
                <a:lnTo>
                  <a:pt x="434329" y="752302"/>
                </a:lnTo>
                <a:lnTo>
                  <a:pt x="434329" y="250767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8" name="S01-mark25"/>
          <p:cNvSpPr/>
          <p:nvPr/>
        </p:nvSpPr>
        <p:spPr>
          <a:xfrm>
            <a:off x="10081249" y="2730038"/>
            <a:ext cx="434329" cy="752302"/>
          </a:xfrm>
          <a:custGeom>
            <a:avLst/>
            <a:gdLst/>
            <a:ahLst/>
            <a:cxnLst/>
            <a:rect l="l" t="t" r="r" b="b"/>
            <a:pathLst>
              <a:path w="434329" h="752302">
                <a:moveTo>
                  <a:pt x="0" y="752302"/>
                </a:moveTo>
                <a:lnTo>
                  <a:pt x="434329" y="501535"/>
                </a:lnTo>
                <a:lnTo>
                  <a:pt x="434329" y="0"/>
                </a:lnTo>
                <a:lnTo>
                  <a:pt x="0" y="250767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9" name="S01-card26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30" name="S01-cardtext27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위·앞·옆에서 본 모양을 알아내요.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쌓기나무의 개수를 정확히 구해요.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figure28" descr="쌓기나무 4개를 한 줄로 쌓은 모양: 1층에 3개, 맨 왼쪽 쌓기나무 위에 1개"/>
          <p:cNvSpPr/>
          <p:nvPr/>
        </p:nvSpPr>
        <p:spPr>
          <a:xfrm>
            <a:off x="7375093" y="2857500"/>
            <a:ext cx="1583741" cy="914400"/>
          </a:xfrm>
          <a:custGeom>
            <a:avLst/>
            <a:gdLst/>
            <a:ahLst/>
            <a:cxnLst/>
            <a:rect l="l" t="t" r="r" b="b"/>
            <a:pathLst>
              <a:path w="1583741" h="914400">
                <a:moveTo>
                  <a:pt x="0" y="457200"/>
                </a:moveTo>
                <a:lnTo>
                  <a:pt x="791870" y="914400"/>
                </a:lnTo>
                <a:lnTo>
                  <a:pt x="1583741" y="457200"/>
                </a:lnTo>
                <a:lnTo>
                  <a:pt x="79187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" name="S02-mark29"/>
          <p:cNvSpPr/>
          <p:nvPr/>
        </p:nvSpPr>
        <p:spPr>
          <a:xfrm>
            <a:off x="7375093" y="3314700"/>
            <a:ext cx="791870" cy="1371600"/>
          </a:xfrm>
          <a:custGeom>
            <a:avLst/>
            <a:gdLst/>
            <a:ahLst/>
            <a:cxnLst/>
            <a:rect l="l" t="t" r="r" b="b"/>
            <a:pathLst>
              <a:path w="791870" h="1371600">
                <a:moveTo>
                  <a:pt x="0" y="914400"/>
                </a:moveTo>
                <a:lnTo>
                  <a:pt x="791870" y="1371600"/>
                </a:lnTo>
                <a:lnTo>
                  <a:pt x="79187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5" name="S02-mark30"/>
          <p:cNvSpPr/>
          <p:nvPr/>
        </p:nvSpPr>
        <p:spPr>
          <a:xfrm>
            <a:off x="8166964" y="3314700"/>
            <a:ext cx="791870" cy="1371600"/>
          </a:xfrm>
          <a:custGeom>
            <a:avLst/>
            <a:gdLst/>
            <a:ahLst/>
            <a:cxnLst/>
            <a:rect l="l" t="t" r="r" b="b"/>
            <a:pathLst>
              <a:path w="791870" h="1371600">
                <a:moveTo>
                  <a:pt x="0" y="1371600"/>
                </a:moveTo>
                <a:lnTo>
                  <a:pt x="791870" y="914400"/>
                </a:lnTo>
                <a:lnTo>
                  <a:pt x="79187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2-mark31"/>
          <p:cNvSpPr/>
          <p:nvPr/>
        </p:nvSpPr>
        <p:spPr>
          <a:xfrm>
            <a:off x="8166964" y="3314700"/>
            <a:ext cx="1583741" cy="914400"/>
          </a:xfrm>
          <a:custGeom>
            <a:avLst/>
            <a:gdLst/>
            <a:ahLst/>
            <a:cxnLst/>
            <a:rect l="l" t="t" r="r" b="b"/>
            <a:pathLst>
              <a:path w="1583741" h="914400">
                <a:moveTo>
                  <a:pt x="0" y="457200"/>
                </a:moveTo>
                <a:lnTo>
                  <a:pt x="791870" y="914400"/>
                </a:lnTo>
                <a:lnTo>
                  <a:pt x="1583741" y="457200"/>
                </a:lnTo>
                <a:lnTo>
                  <a:pt x="79187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2-mark32"/>
          <p:cNvSpPr/>
          <p:nvPr/>
        </p:nvSpPr>
        <p:spPr>
          <a:xfrm>
            <a:off x="8166964" y="3771900"/>
            <a:ext cx="791870" cy="1371600"/>
          </a:xfrm>
          <a:custGeom>
            <a:avLst/>
            <a:gdLst/>
            <a:ahLst/>
            <a:cxnLst/>
            <a:rect l="l" t="t" r="r" b="b"/>
            <a:pathLst>
              <a:path w="791870" h="1371600">
                <a:moveTo>
                  <a:pt x="0" y="914400"/>
                </a:moveTo>
                <a:lnTo>
                  <a:pt x="791870" y="1371600"/>
                </a:lnTo>
                <a:lnTo>
                  <a:pt x="79187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2-mark33"/>
          <p:cNvSpPr/>
          <p:nvPr/>
        </p:nvSpPr>
        <p:spPr>
          <a:xfrm>
            <a:off x="8958834" y="3771900"/>
            <a:ext cx="791870" cy="1371600"/>
          </a:xfrm>
          <a:custGeom>
            <a:avLst/>
            <a:gdLst/>
            <a:ahLst/>
            <a:cxnLst/>
            <a:rect l="l" t="t" r="r" b="b"/>
            <a:pathLst>
              <a:path w="791870" h="1371600">
                <a:moveTo>
                  <a:pt x="0" y="1371600"/>
                </a:moveTo>
                <a:lnTo>
                  <a:pt x="791870" y="914400"/>
                </a:lnTo>
                <a:lnTo>
                  <a:pt x="79187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2-mark34"/>
          <p:cNvSpPr/>
          <p:nvPr/>
        </p:nvSpPr>
        <p:spPr>
          <a:xfrm>
            <a:off x="7375093" y="1943100"/>
            <a:ext cx="1583741" cy="914400"/>
          </a:xfrm>
          <a:custGeom>
            <a:avLst/>
            <a:gdLst/>
            <a:ahLst/>
            <a:cxnLst/>
            <a:rect l="l" t="t" r="r" b="b"/>
            <a:pathLst>
              <a:path w="1583741" h="914400">
                <a:moveTo>
                  <a:pt x="0" y="457200"/>
                </a:moveTo>
                <a:lnTo>
                  <a:pt x="791870" y="914400"/>
                </a:lnTo>
                <a:lnTo>
                  <a:pt x="1583741" y="457200"/>
                </a:lnTo>
                <a:lnTo>
                  <a:pt x="79187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02-mark35"/>
          <p:cNvSpPr/>
          <p:nvPr/>
        </p:nvSpPr>
        <p:spPr>
          <a:xfrm>
            <a:off x="7375093" y="2400300"/>
            <a:ext cx="791870" cy="1371600"/>
          </a:xfrm>
          <a:custGeom>
            <a:avLst/>
            <a:gdLst/>
            <a:ahLst/>
            <a:cxnLst/>
            <a:rect l="l" t="t" r="r" b="b"/>
            <a:pathLst>
              <a:path w="791870" h="1371600">
                <a:moveTo>
                  <a:pt x="0" y="914400"/>
                </a:moveTo>
                <a:lnTo>
                  <a:pt x="791870" y="1371600"/>
                </a:lnTo>
                <a:lnTo>
                  <a:pt x="79187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02-mark36"/>
          <p:cNvSpPr/>
          <p:nvPr/>
        </p:nvSpPr>
        <p:spPr>
          <a:xfrm>
            <a:off x="8166964" y="2400300"/>
            <a:ext cx="791870" cy="1371600"/>
          </a:xfrm>
          <a:custGeom>
            <a:avLst/>
            <a:gdLst/>
            <a:ahLst/>
            <a:cxnLst/>
            <a:rect l="l" t="t" r="r" b="b"/>
            <a:pathLst>
              <a:path w="791870" h="1371600">
                <a:moveTo>
                  <a:pt x="0" y="1371600"/>
                </a:moveTo>
                <a:lnTo>
                  <a:pt x="791870" y="914400"/>
                </a:lnTo>
                <a:lnTo>
                  <a:pt x="79187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2" name="S02-mark37"/>
          <p:cNvSpPr/>
          <p:nvPr/>
        </p:nvSpPr>
        <p:spPr>
          <a:xfrm>
            <a:off x="8958834" y="3771900"/>
            <a:ext cx="1583741" cy="914400"/>
          </a:xfrm>
          <a:custGeom>
            <a:avLst/>
            <a:gdLst/>
            <a:ahLst/>
            <a:cxnLst/>
            <a:rect l="l" t="t" r="r" b="b"/>
            <a:pathLst>
              <a:path w="1583741" h="914400">
                <a:moveTo>
                  <a:pt x="0" y="457200"/>
                </a:moveTo>
                <a:lnTo>
                  <a:pt x="791870" y="914400"/>
                </a:lnTo>
                <a:lnTo>
                  <a:pt x="1583741" y="457200"/>
                </a:lnTo>
                <a:lnTo>
                  <a:pt x="79187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02-mark38"/>
          <p:cNvSpPr/>
          <p:nvPr/>
        </p:nvSpPr>
        <p:spPr>
          <a:xfrm>
            <a:off x="8958834" y="4229100"/>
            <a:ext cx="791870" cy="1371600"/>
          </a:xfrm>
          <a:custGeom>
            <a:avLst/>
            <a:gdLst/>
            <a:ahLst/>
            <a:cxnLst/>
            <a:rect l="l" t="t" r="r" b="b"/>
            <a:pathLst>
              <a:path w="791870" h="1371600">
                <a:moveTo>
                  <a:pt x="0" y="914400"/>
                </a:moveTo>
                <a:lnTo>
                  <a:pt x="791870" y="1371600"/>
                </a:lnTo>
                <a:lnTo>
                  <a:pt x="79187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4" name="S02-mark39"/>
          <p:cNvSpPr/>
          <p:nvPr/>
        </p:nvSpPr>
        <p:spPr>
          <a:xfrm>
            <a:off x="9750704" y="4229100"/>
            <a:ext cx="791870" cy="1371600"/>
          </a:xfrm>
          <a:custGeom>
            <a:avLst/>
            <a:gdLst/>
            <a:ahLst/>
            <a:cxnLst/>
            <a:rect l="l" t="t" r="r" b="b"/>
            <a:pathLst>
              <a:path w="791870" h="1371600">
                <a:moveTo>
                  <a:pt x="0" y="1371600"/>
                </a:moveTo>
                <a:lnTo>
                  <a:pt x="791870" y="914400"/>
                </a:lnTo>
                <a:lnTo>
                  <a:pt x="79187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02-chip40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16" name="S02-text41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쌓기나무는 모두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개인가요?</a:t>
            </a:r>
            <a:endParaRPr lang="ko-KR" sz="2800" dirty="0"/>
          </a:p>
        </p:txBody>
      </p:sp>
      <p:sp>
        <p:nvSpPr>
          <p:cNvPr id="17" name="S02-chip42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8" name="S02-text43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2층에 있는 쌓기나무는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개인가요?</a:t>
            </a:r>
            <a:endParaRPr lang="ko-KR" sz="2800" dirty="0"/>
          </a:p>
        </p:txBody>
      </p:sp>
      <p:sp>
        <p:nvSpPr>
          <p:cNvPr id="19" name="S02-chip44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0" name="S02-text45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위에서 보면 원, 앞에서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보면 직사각형인 도형은?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위·앞·옆에서 본 모양</a:t>
            </a:r>
            <a:endParaRPr lang="ko-KR" sz="4000" dirty="0"/>
          </a:p>
        </p:txBody>
      </p:sp>
      <p:sp>
        <p:nvSpPr>
          <p:cNvPr id="3" name="S03-card46"/>
          <p:cNvSpPr/>
          <p:nvPr/>
        </p:nvSpPr>
        <p:spPr>
          <a:xfrm>
            <a:off x="548640" y="4696968"/>
            <a:ext cx="3544824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3-cardtext47"/>
          <p:cNvSpPr txBox="1"/>
          <p:nvPr/>
        </p:nvSpPr>
        <p:spPr>
          <a:xfrm>
            <a:off x="822960" y="4834128"/>
            <a:ext cx="2996184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아래쪽이 앞이에요.</a:t>
            </a:r>
            <a:endParaRPr lang="ko-KR" sz="2800" dirty="0"/>
          </a:p>
        </p:txBody>
      </p:sp>
      <p:sp>
        <p:nvSpPr>
          <p:cNvPr id="5" name="S03-card48"/>
          <p:cNvSpPr/>
          <p:nvPr/>
        </p:nvSpPr>
        <p:spPr>
          <a:xfrm>
            <a:off x="4322064" y="4696968"/>
            <a:ext cx="3544824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49"/>
          <p:cNvSpPr txBox="1"/>
          <p:nvPr/>
        </p:nvSpPr>
        <p:spPr>
          <a:xfrm>
            <a:off x="4596384" y="4834128"/>
            <a:ext cx="2996184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줄마다 가장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높은 층만큼</a:t>
            </a:r>
            <a:endParaRPr lang="ko-KR" sz="2800" dirty="0"/>
          </a:p>
        </p:txBody>
      </p:sp>
      <p:sp>
        <p:nvSpPr>
          <p:cNvPr id="7" name="S03-card50"/>
          <p:cNvSpPr/>
          <p:nvPr/>
        </p:nvSpPr>
        <p:spPr>
          <a:xfrm>
            <a:off x="8095488" y="4696968"/>
            <a:ext cx="3544824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51"/>
          <p:cNvSpPr txBox="1"/>
          <p:nvPr/>
        </p:nvSpPr>
        <p:spPr>
          <a:xfrm>
            <a:off x="8369808" y="4834128"/>
            <a:ext cx="2996184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옆(오른쪽)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앞줄이 왼쪽에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보여요.</a:t>
            </a:r>
            <a:endParaRPr lang="ko-KR" sz="2800" dirty="0"/>
          </a:p>
        </p:txBody>
      </p:sp>
      <p:sp>
        <p:nvSpPr>
          <p:cNvPr id="9" name="S03-figure52" descr="쌓기나무 8개로 쌓은 모양과 앞, 옆(오른쪽)을 가리키는 화살표: 앞줄은 왼쪽부터 2층, 1층, 1층, 뒷줄은 왼쪽부터 3층, 1층"/>
          <p:cNvSpPr/>
          <p:nvPr/>
        </p:nvSpPr>
        <p:spPr>
          <a:xfrm>
            <a:off x="1168407" y="2577092"/>
            <a:ext cx="739060" cy="426709"/>
          </a:xfrm>
          <a:custGeom>
            <a:avLst/>
            <a:gdLst/>
            <a:ahLst/>
            <a:cxnLst/>
            <a:rect l="l" t="t" r="r" b="b"/>
            <a:pathLst>
              <a:path w="739060" h="426709">
                <a:moveTo>
                  <a:pt x="0" y="213355"/>
                </a:moveTo>
                <a:lnTo>
                  <a:pt x="369530" y="426709"/>
                </a:lnTo>
                <a:lnTo>
                  <a:pt x="739060" y="213355"/>
                </a:lnTo>
                <a:lnTo>
                  <a:pt x="36953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03-mark53"/>
          <p:cNvSpPr/>
          <p:nvPr/>
        </p:nvSpPr>
        <p:spPr>
          <a:xfrm>
            <a:off x="1168407" y="2790447"/>
            <a:ext cx="369530" cy="640064"/>
          </a:xfrm>
          <a:custGeom>
            <a:avLst/>
            <a:gdLst/>
            <a:ahLst/>
            <a:cxnLst/>
            <a:rect l="l" t="t" r="r" b="b"/>
            <a:pathLst>
              <a:path w="369530" h="640064">
                <a:moveTo>
                  <a:pt x="0" y="426709"/>
                </a:moveTo>
                <a:lnTo>
                  <a:pt x="369530" y="640064"/>
                </a:lnTo>
                <a:lnTo>
                  <a:pt x="369530" y="213355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03-mark54"/>
          <p:cNvSpPr/>
          <p:nvPr/>
        </p:nvSpPr>
        <p:spPr>
          <a:xfrm>
            <a:off x="1537937" y="2790447"/>
            <a:ext cx="369530" cy="640064"/>
          </a:xfrm>
          <a:custGeom>
            <a:avLst/>
            <a:gdLst/>
            <a:ahLst/>
            <a:cxnLst/>
            <a:rect l="l" t="t" r="r" b="b"/>
            <a:pathLst>
              <a:path w="369530" h="640064">
                <a:moveTo>
                  <a:pt x="0" y="640064"/>
                </a:moveTo>
                <a:lnTo>
                  <a:pt x="369530" y="426709"/>
                </a:lnTo>
                <a:lnTo>
                  <a:pt x="369530" y="0"/>
                </a:lnTo>
                <a:lnTo>
                  <a:pt x="0" y="213355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2" name="S03-mark55"/>
          <p:cNvSpPr/>
          <p:nvPr/>
        </p:nvSpPr>
        <p:spPr>
          <a:xfrm>
            <a:off x="798877" y="2790447"/>
            <a:ext cx="739060" cy="426709"/>
          </a:xfrm>
          <a:custGeom>
            <a:avLst/>
            <a:gdLst/>
            <a:ahLst/>
            <a:cxnLst/>
            <a:rect l="l" t="t" r="r" b="b"/>
            <a:pathLst>
              <a:path w="739060" h="426709">
                <a:moveTo>
                  <a:pt x="0" y="213355"/>
                </a:moveTo>
                <a:lnTo>
                  <a:pt x="369530" y="426709"/>
                </a:lnTo>
                <a:lnTo>
                  <a:pt x="739060" y="213355"/>
                </a:lnTo>
                <a:lnTo>
                  <a:pt x="36953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03-mark56"/>
          <p:cNvSpPr/>
          <p:nvPr/>
        </p:nvSpPr>
        <p:spPr>
          <a:xfrm>
            <a:off x="798877" y="3003801"/>
            <a:ext cx="369530" cy="640064"/>
          </a:xfrm>
          <a:custGeom>
            <a:avLst/>
            <a:gdLst/>
            <a:ahLst/>
            <a:cxnLst/>
            <a:rect l="l" t="t" r="r" b="b"/>
            <a:pathLst>
              <a:path w="369530" h="640064">
                <a:moveTo>
                  <a:pt x="0" y="426709"/>
                </a:moveTo>
                <a:lnTo>
                  <a:pt x="369530" y="640064"/>
                </a:lnTo>
                <a:lnTo>
                  <a:pt x="369530" y="213355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4" name="S03-mark57"/>
          <p:cNvSpPr/>
          <p:nvPr/>
        </p:nvSpPr>
        <p:spPr>
          <a:xfrm>
            <a:off x="1168407" y="3003801"/>
            <a:ext cx="369530" cy="640064"/>
          </a:xfrm>
          <a:custGeom>
            <a:avLst/>
            <a:gdLst/>
            <a:ahLst/>
            <a:cxnLst/>
            <a:rect l="l" t="t" r="r" b="b"/>
            <a:pathLst>
              <a:path w="369530" h="640064">
                <a:moveTo>
                  <a:pt x="0" y="640064"/>
                </a:moveTo>
                <a:lnTo>
                  <a:pt x="369530" y="426709"/>
                </a:lnTo>
                <a:lnTo>
                  <a:pt x="369530" y="0"/>
                </a:lnTo>
                <a:lnTo>
                  <a:pt x="0" y="213355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03-mark58"/>
          <p:cNvSpPr/>
          <p:nvPr/>
        </p:nvSpPr>
        <p:spPr>
          <a:xfrm>
            <a:off x="1537937" y="2790447"/>
            <a:ext cx="739060" cy="426709"/>
          </a:xfrm>
          <a:custGeom>
            <a:avLst/>
            <a:gdLst/>
            <a:ahLst/>
            <a:cxnLst/>
            <a:rect l="l" t="t" r="r" b="b"/>
            <a:pathLst>
              <a:path w="739060" h="426709">
                <a:moveTo>
                  <a:pt x="0" y="213355"/>
                </a:moveTo>
                <a:lnTo>
                  <a:pt x="369530" y="426709"/>
                </a:lnTo>
                <a:lnTo>
                  <a:pt x="739060" y="213355"/>
                </a:lnTo>
                <a:lnTo>
                  <a:pt x="36953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6" name="S03-mark59"/>
          <p:cNvSpPr/>
          <p:nvPr/>
        </p:nvSpPr>
        <p:spPr>
          <a:xfrm>
            <a:off x="1537937" y="3003801"/>
            <a:ext cx="369530" cy="640064"/>
          </a:xfrm>
          <a:custGeom>
            <a:avLst/>
            <a:gdLst/>
            <a:ahLst/>
            <a:cxnLst/>
            <a:rect l="l" t="t" r="r" b="b"/>
            <a:pathLst>
              <a:path w="369530" h="640064">
                <a:moveTo>
                  <a:pt x="0" y="426709"/>
                </a:moveTo>
                <a:lnTo>
                  <a:pt x="369530" y="640064"/>
                </a:lnTo>
                <a:lnTo>
                  <a:pt x="369530" y="213355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7" name="S03-mark60"/>
          <p:cNvSpPr/>
          <p:nvPr/>
        </p:nvSpPr>
        <p:spPr>
          <a:xfrm>
            <a:off x="1907466" y="3003801"/>
            <a:ext cx="369530" cy="640064"/>
          </a:xfrm>
          <a:custGeom>
            <a:avLst/>
            <a:gdLst/>
            <a:ahLst/>
            <a:cxnLst/>
            <a:rect l="l" t="t" r="r" b="b"/>
            <a:pathLst>
              <a:path w="369530" h="640064">
                <a:moveTo>
                  <a:pt x="0" y="640064"/>
                </a:moveTo>
                <a:lnTo>
                  <a:pt x="369530" y="426709"/>
                </a:lnTo>
                <a:lnTo>
                  <a:pt x="369530" y="0"/>
                </a:lnTo>
                <a:lnTo>
                  <a:pt x="0" y="213355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8" name="S03-mark61"/>
          <p:cNvSpPr/>
          <p:nvPr/>
        </p:nvSpPr>
        <p:spPr>
          <a:xfrm>
            <a:off x="1168407" y="2150383"/>
            <a:ext cx="739060" cy="426709"/>
          </a:xfrm>
          <a:custGeom>
            <a:avLst/>
            <a:gdLst/>
            <a:ahLst/>
            <a:cxnLst/>
            <a:rect l="l" t="t" r="r" b="b"/>
            <a:pathLst>
              <a:path w="739060" h="426709">
                <a:moveTo>
                  <a:pt x="0" y="213355"/>
                </a:moveTo>
                <a:lnTo>
                  <a:pt x="369530" y="426709"/>
                </a:lnTo>
                <a:lnTo>
                  <a:pt x="739060" y="213355"/>
                </a:lnTo>
                <a:lnTo>
                  <a:pt x="36953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9" name="S03-mark62"/>
          <p:cNvSpPr/>
          <p:nvPr/>
        </p:nvSpPr>
        <p:spPr>
          <a:xfrm>
            <a:off x="1168407" y="2363738"/>
            <a:ext cx="369530" cy="640064"/>
          </a:xfrm>
          <a:custGeom>
            <a:avLst/>
            <a:gdLst/>
            <a:ahLst/>
            <a:cxnLst/>
            <a:rect l="l" t="t" r="r" b="b"/>
            <a:pathLst>
              <a:path w="369530" h="640064">
                <a:moveTo>
                  <a:pt x="0" y="426709"/>
                </a:moveTo>
                <a:lnTo>
                  <a:pt x="369530" y="640064"/>
                </a:lnTo>
                <a:lnTo>
                  <a:pt x="369530" y="213355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0" name="S03-mark63"/>
          <p:cNvSpPr/>
          <p:nvPr/>
        </p:nvSpPr>
        <p:spPr>
          <a:xfrm>
            <a:off x="1537937" y="2363738"/>
            <a:ext cx="369530" cy="640064"/>
          </a:xfrm>
          <a:custGeom>
            <a:avLst/>
            <a:gdLst/>
            <a:ahLst/>
            <a:cxnLst/>
            <a:rect l="l" t="t" r="r" b="b"/>
            <a:pathLst>
              <a:path w="369530" h="640064">
                <a:moveTo>
                  <a:pt x="0" y="640064"/>
                </a:moveTo>
                <a:lnTo>
                  <a:pt x="369530" y="426709"/>
                </a:lnTo>
                <a:lnTo>
                  <a:pt x="369530" y="0"/>
                </a:lnTo>
                <a:lnTo>
                  <a:pt x="0" y="213355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1" name="S03-mark64"/>
          <p:cNvSpPr/>
          <p:nvPr/>
        </p:nvSpPr>
        <p:spPr>
          <a:xfrm>
            <a:off x="1168407" y="3003801"/>
            <a:ext cx="739060" cy="426709"/>
          </a:xfrm>
          <a:custGeom>
            <a:avLst/>
            <a:gdLst/>
            <a:ahLst/>
            <a:cxnLst/>
            <a:rect l="l" t="t" r="r" b="b"/>
            <a:pathLst>
              <a:path w="739060" h="426709">
                <a:moveTo>
                  <a:pt x="0" y="213355"/>
                </a:moveTo>
                <a:lnTo>
                  <a:pt x="369530" y="426709"/>
                </a:lnTo>
                <a:lnTo>
                  <a:pt x="739060" y="213355"/>
                </a:lnTo>
                <a:lnTo>
                  <a:pt x="36953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2" name="S03-mark65"/>
          <p:cNvSpPr/>
          <p:nvPr/>
        </p:nvSpPr>
        <p:spPr>
          <a:xfrm>
            <a:off x="1168407" y="3217156"/>
            <a:ext cx="369530" cy="640064"/>
          </a:xfrm>
          <a:custGeom>
            <a:avLst/>
            <a:gdLst/>
            <a:ahLst/>
            <a:cxnLst/>
            <a:rect l="l" t="t" r="r" b="b"/>
            <a:pathLst>
              <a:path w="369530" h="640064">
                <a:moveTo>
                  <a:pt x="0" y="426709"/>
                </a:moveTo>
                <a:lnTo>
                  <a:pt x="369530" y="640064"/>
                </a:lnTo>
                <a:lnTo>
                  <a:pt x="369530" y="213355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3" name="S03-mark66"/>
          <p:cNvSpPr/>
          <p:nvPr/>
        </p:nvSpPr>
        <p:spPr>
          <a:xfrm>
            <a:off x="1537937" y="3217156"/>
            <a:ext cx="369530" cy="640064"/>
          </a:xfrm>
          <a:custGeom>
            <a:avLst/>
            <a:gdLst/>
            <a:ahLst/>
            <a:cxnLst/>
            <a:rect l="l" t="t" r="r" b="b"/>
            <a:pathLst>
              <a:path w="369530" h="640064">
                <a:moveTo>
                  <a:pt x="0" y="640064"/>
                </a:moveTo>
                <a:lnTo>
                  <a:pt x="369530" y="426709"/>
                </a:lnTo>
                <a:lnTo>
                  <a:pt x="369530" y="0"/>
                </a:lnTo>
                <a:lnTo>
                  <a:pt x="0" y="213355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4" name="S03-mark67"/>
          <p:cNvSpPr/>
          <p:nvPr/>
        </p:nvSpPr>
        <p:spPr>
          <a:xfrm>
            <a:off x="798877" y="2363738"/>
            <a:ext cx="739060" cy="426709"/>
          </a:xfrm>
          <a:custGeom>
            <a:avLst/>
            <a:gdLst/>
            <a:ahLst/>
            <a:cxnLst/>
            <a:rect l="l" t="t" r="r" b="b"/>
            <a:pathLst>
              <a:path w="739060" h="426709">
                <a:moveTo>
                  <a:pt x="0" y="213355"/>
                </a:moveTo>
                <a:lnTo>
                  <a:pt x="369530" y="426709"/>
                </a:lnTo>
                <a:lnTo>
                  <a:pt x="739060" y="213355"/>
                </a:lnTo>
                <a:lnTo>
                  <a:pt x="36953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03-mark68"/>
          <p:cNvSpPr/>
          <p:nvPr/>
        </p:nvSpPr>
        <p:spPr>
          <a:xfrm>
            <a:off x="798877" y="2577092"/>
            <a:ext cx="369530" cy="640064"/>
          </a:xfrm>
          <a:custGeom>
            <a:avLst/>
            <a:gdLst/>
            <a:ahLst/>
            <a:cxnLst/>
            <a:rect l="l" t="t" r="r" b="b"/>
            <a:pathLst>
              <a:path w="369530" h="640064">
                <a:moveTo>
                  <a:pt x="0" y="426709"/>
                </a:moveTo>
                <a:lnTo>
                  <a:pt x="369530" y="640064"/>
                </a:lnTo>
                <a:lnTo>
                  <a:pt x="369530" y="213355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6" name="S03-mark69"/>
          <p:cNvSpPr/>
          <p:nvPr/>
        </p:nvSpPr>
        <p:spPr>
          <a:xfrm>
            <a:off x="1168407" y="2577092"/>
            <a:ext cx="369530" cy="640064"/>
          </a:xfrm>
          <a:custGeom>
            <a:avLst/>
            <a:gdLst/>
            <a:ahLst/>
            <a:cxnLst/>
            <a:rect l="l" t="t" r="r" b="b"/>
            <a:pathLst>
              <a:path w="369530" h="640064">
                <a:moveTo>
                  <a:pt x="0" y="640064"/>
                </a:moveTo>
                <a:lnTo>
                  <a:pt x="369530" y="426709"/>
                </a:lnTo>
                <a:lnTo>
                  <a:pt x="369530" y="0"/>
                </a:lnTo>
                <a:lnTo>
                  <a:pt x="0" y="213355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7" name="S03-mark70"/>
          <p:cNvSpPr/>
          <p:nvPr/>
        </p:nvSpPr>
        <p:spPr>
          <a:xfrm>
            <a:off x="1168407" y="1723674"/>
            <a:ext cx="739060" cy="426709"/>
          </a:xfrm>
          <a:custGeom>
            <a:avLst/>
            <a:gdLst/>
            <a:ahLst/>
            <a:cxnLst/>
            <a:rect l="l" t="t" r="r" b="b"/>
            <a:pathLst>
              <a:path w="739060" h="426709">
                <a:moveTo>
                  <a:pt x="0" y="213355"/>
                </a:moveTo>
                <a:lnTo>
                  <a:pt x="369530" y="426709"/>
                </a:lnTo>
                <a:lnTo>
                  <a:pt x="739060" y="213355"/>
                </a:lnTo>
                <a:lnTo>
                  <a:pt x="36953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8" name="S03-mark71"/>
          <p:cNvSpPr/>
          <p:nvPr/>
        </p:nvSpPr>
        <p:spPr>
          <a:xfrm>
            <a:off x="1168407" y="1937029"/>
            <a:ext cx="369530" cy="640064"/>
          </a:xfrm>
          <a:custGeom>
            <a:avLst/>
            <a:gdLst/>
            <a:ahLst/>
            <a:cxnLst/>
            <a:rect l="l" t="t" r="r" b="b"/>
            <a:pathLst>
              <a:path w="369530" h="640064">
                <a:moveTo>
                  <a:pt x="0" y="426709"/>
                </a:moveTo>
                <a:lnTo>
                  <a:pt x="369530" y="640064"/>
                </a:lnTo>
                <a:lnTo>
                  <a:pt x="369530" y="213355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9" name="S03-mark72"/>
          <p:cNvSpPr/>
          <p:nvPr/>
        </p:nvSpPr>
        <p:spPr>
          <a:xfrm>
            <a:off x="1537937" y="1937029"/>
            <a:ext cx="369530" cy="640064"/>
          </a:xfrm>
          <a:custGeom>
            <a:avLst/>
            <a:gdLst/>
            <a:ahLst/>
            <a:cxnLst/>
            <a:rect l="l" t="t" r="r" b="b"/>
            <a:pathLst>
              <a:path w="369530" h="640064">
                <a:moveTo>
                  <a:pt x="0" y="640064"/>
                </a:moveTo>
                <a:lnTo>
                  <a:pt x="369530" y="426709"/>
                </a:lnTo>
                <a:lnTo>
                  <a:pt x="369530" y="0"/>
                </a:lnTo>
                <a:lnTo>
                  <a:pt x="0" y="213355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0" name="S03-mark73"/>
          <p:cNvSpPr/>
          <p:nvPr/>
        </p:nvSpPr>
        <p:spPr>
          <a:xfrm>
            <a:off x="1537937" y="3217156"/>
            <a:ext cx="739060" cy="426709"/>
          </a:xfrm>
          <a:custGeom>
            <a:avLst/>
            <a:gdLst/>
            <a:ahLst/>
            <a:cxnLst/>
            <a:rect l="l" t="t" r="r" b="b"/>
            <a:pathLst>
              <a:path w="739060" h="426709">
                <a:moveTo>
                  <a:pt x="0" y="213355"/>
                </a:moveTo>
                <a:lnTo>
                  <a:pt x="369530" y="426709"/>
                </a:lnTo>
                <a:lnTo>
                  <a:pt x="739060" y="213355"/>
                </a:lnTo>
                <a:lnTo>
                  <a:pt x="36953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1" name="S03-mark74"/>
          <p:cNvSpPr/>
          <p:nvPr/>
        </p:nvSpPr>
        <p:spPr>
          <a:xfrm>
            <a:off x="1537937" y="3430510"/>
            <a:ext cx="369530" cy="640064"/>
          </a:xfrm>
          <a:custGeom>
            <a:avLst/>
            <a:gdLst/>
            <a:ahLst/>
            <a:cxnLst/>
            <a:rect l="l" t="t" r="r" b="b"/>
            <a:pathLst>
              <a:path w="369530" h="640064">
                <a:moveTo>
                  <a:pt x="0" y="426709"/>
                </a:moveTo>
                <a:lnTo>
                  <a:pt x="369530" y="640064"/>
                </a:lnTo>
                <a:lnTo>
                  <a:pt x="369530" y="213355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2" name="S03-mark75"/>
          <p:cNvSpPr/>
          <p:nvPr/>
        </p:nvSpPr>
        <p:spPr>
          <a:xfrm>
            <a:off x="1907466" y="3430510"/>
            <a:ext cx="369530" cy="640064"/>
          </a:xfrm>
          <a:custGeom>
            <a:avLst/>
            <a:gdLst/>
            <a:ahLst/>
            <a:cxnLst/>
            <a:rect l="l" t="t" r="r" b="b"/>
            <a:pathLst>
              <a:path w="369530" h="640064">
                <a:moveTo>
                  <a:pt x="0" y="640064"/>
                </a:moveTo>
                <a:lnTo>
                  <a:pt x="369530" y="426709"/>
                </a:lnTo>
                <a:lnTo>
                  <a:pt x="369530" y="0"/>
                </a:lnTo>
                <a:lnTo>
                  <a:pt x="0" y="213355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3" name="S03-mark76"/>
          <p:cNvSpPr/>
          <p:nvPr/>
        </p:nvSpPr>
        <p:spPr>
          <a:xfrm flipV="1">
            <a:off x="798877" y="3601194"/>
            <a:ext cx="443351" cy="256025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4" name="S03-mark77"/>
          <p:cNvSpPr/>
          <p:nvPr/>
        </p:nvSpPr>
        <p:spPr>
          <a:xfrm flipH="1" flipV="1">
            <a:off x="2387941" y="3707871"/>
            <a:ext cx="443351" cy="256025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5" name="S03-label79"/>
          <p:cNvSpPr txBox="1"/>
          <p:nvPr/>
        </p:nvSpPr>
        <p:spPr>
          <a:xfrm>
            <a:off x="440690" y="3778604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</a:t>
            </a:r>
            <a:endParaRPr lang="ko-KR" sz="2200" dirty="0"/>
          </a:p>
        </p:txBody>
      </p:sp>
      <p:sp>
        <p:nvSpPr>
          <p:cNvPr id="36" name="S03-label81"/>
          <p:cNvSpPr txBox="1"/>
          <p:nvPr/>
        </p:nvSpPr>
        <p:spPr>
          <a:xfrm>
            <a:off x="2805938" y="3885281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</a:t>
            </a:r>
            <a:endParaRPr lang="ko-KR" sz="2200" dirty="0"/>
          </a:p>
        </p:txBody>
      </p:sp>
      <p:sp>
        <p:nvSpPr>
          <p:cNvPr id="37" name="S03-cell82"/>
          <p:cNvSpPr/>
          <p:nvPr/>
        </p:nvSpPr>
        <p:spPr>
          <a:xfrm>
            <a:off x="3982212" y="2214753"/>
            <a:ext cx="45720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03-cell83"/>
          <p:cNvSpPr/>
          <p:nvPr/>
        </p:nvSpPr>
        <p:spPr>
          <a:xfrm>
            <a:off x="4439412" y="2214753"/>
            <a:ext cx="45720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3-cell84"/>
          <p:cNvSpPr/>
          <p:nvPr/>
        </p:nvSpPr>
        <p:spPr>
          <a:xfrm>
            <a:off x="4896612" y="2214753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03-cell85"/>
          <p:cNvSpPr/>
          <p:nvPr/>
        </p:nvSpPr>
        <p:spPr>
          <a:xfrm>
            <a:off x="3982212" y="2671953"/>
            <a:ext cx="45720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03-cell86"/>
          <p:cNvSpPr/>
          <p:nvPr/>
        </p:nvSpPr>
        <p:spPr>
          <a:xfrm>
            <a:off x="4439412" y="2671953"/>
            <a:ext cx="45720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2" name="S03-cell87"/>
          <p:cNvSpPr/>
          <p:nvPr/>
        </p:nvSpPr>
        <p:spPr>
          <a:xfrm>
            <a:off x="4896612" y="2671953"/>
            <a:ext cx="45720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3" name="S03-figure88" descr="위에서 본 모양: 뒷줄 왼쪽 2칸, 앞줄 3칸 색칠"/>
          <p:cNvSpPr/>
          <p:nvPr/>
        </p:nvSpPr>
        <p:spPr>
          <a:xfrm>
            <a:off x="3982212" y="2214753"/>
            <a:ext cx="137160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4" name="S03-label89"/>
          <p:cNvSpPr txBox="1"/>
          <p:nvPr/>
        </p:nvSpPr>
        <p:spPr>
          <a:xfrm>
            <a:off x="3401568" y="4091178"/>
            <a:ext cx="2532888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</a:t>
            </a:r>
            <a:endParaRPr lang="ko-KR" sz="2200" dirty="0"/>
          </a:p>
        </p:txBody>
      </p:sp>
      <p:sp>
        <p:nvSpPr>
          <p:cNvPr id="45" name="S03-cell90"/>
          <p:cNvSpPr/>
          <p:nvPr/>
        </p:nvSpPr>
        <p:spPr>
          <a:xfrm>
            <a:off x="6835140" y="1986153"/>
            <a:ext cx="45720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6" name="S03-cell91"/>
          <p:cNvSpPr/>
          <p:nvPr/>
        </p:nvSpPr>
        <p:spPr>
          <a:xfrm>
            <a:off x="7292340" y="1986153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7" name="S03-cell92"/>
          <p:cNvSpPr/>
          <p:nvPr/>
        </p:nvSpPr>
        <p:spPr>
          <a:xfrm>
            <a:off x="7749540" y="1986153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8" name="S03-cell93"/>
          <p:cNvSpPr/>
          <p:nvPr/>
        </p:nvSpPr>
        <p:spPr>
          <a:xfrm>
            <a:off x="6835140" y="2443353"/>
            <a:ext cx="45720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9" name="S03-cell94"/>
          <p:cNvSpPr/>
          <p:nvPr/>
        </p:nvSpPr>
        <p:spPr>
          <a:xfrm>
            <a:off x="7292340" y="2443353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0" name="S03-cell95"/>
          <p:cNvSpPr/>
          <p:nvPr/>
        </p:nvSpPr>
        <p:spPr>
          <a:xfrm>
            <a:off x="7749540" y="2443353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1" name="S03-cell96"/>
          <p:cNvSpPr/>
          <p:nvPr/>
        </p:nvSpPr>
        <p:spPr>
          <a:xfrm>
            <a:off x="6835140" y="2900553"/>
            <a:ext cx="45720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2" name="S03-cell97"/>
          <p:cNvSpPr/>
          <p:nvPr/>
        </p:nvSpPr>
        <p:spPr>
          <a:xfrm>
            <a:off x="7292340" y="2900553"/>
            <a:ext cx="45720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3" name="S03-cell98"/>
          <p:cNvSpPr/>
          <p:nvPr/>
        </p:nvSpPr>
        <p:spPr>
          <a:xfrm>
            <a:off x="7749540" y="2900553"/>
            <a:ext cx="45720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4" name="S03-figure99" descr="앞에서 본 모양: 왼쪽 줄 3칸, 가운데 줄 1칸, 오른쪽 줄 1칸 색칠"/>
          <p:cNvSpPr/>
          <p:nvPr/>
        </p:nvSpPr>
        <p:spPr>
          <a:xfrm>
            <a:off x="6835140" y="1986153"/>
            <a:ext cx="1371600" cy="13716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55" name="S03-label100"/>
          <p:cNvSpPr txBox="1"/>
          <p:nvPr/>
        </p:nvSpPr>
        <p:spPr>
          <a:xfrm>
            <a:off x="6254496" y="4091178"/>
            <a:ext cx="2532888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</a:t>
            </a:r>
            <a:endParaRPr lang="ko-KR" sz="2200" dirty="0"/>
          </a:p>
        </p:txBody>
      </p:sp>
      <p:sp>
        <p:nvSpPr>
          <p:cNvPr id="56" name="S03-cell101"/>
          <p:cNvSpPr/>
          <p:nvPr/>
        </p:nvSpPr>
        <p:spPr>
          <a:xfrm>
            <a:off x="9916668" y="1986153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7" name="S03-cell102"/>
          <p:cNvSpPr/>
          <p:nvPr/>
        </p:nvSpPr>
        <p:spPr>
          <a:xfrm>
            <a:off x="10373868" y="1986153"/>
            <a:ext cx="45720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8" name="S03-cell103"/>
          <p:cNvSpPr/>
          <p:nvPr/>
        </p:nvSpPr>
        <p:spPr>
          <a:xfrm>
            <a:off x="9916668" y="2443353"/>
            <a:ext cx="45720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9" name="S03-cell104"/>
          <p:cNvSpPr/>
          <p:nvPr/>
        </p:nvSpPr>
        <p:spPr>
          <a:xfrm>
            <a:off x="10373868" y="2443353"/>
            <a:ext cx="45720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0" name="S03-cell105"/>
          <p:cNvSpPr/>
          <p:nvPr/>
        </p:nvSpPr>
        <p:spPr>
          <a:xfrm>
            <a:off x="9916668" y="2900553"/>
            <a:ext cx="45720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1" name="S03-cell106"/>
          <p:cNvSpPr/>
          <p:nvPr/>
        </p:nvSpPr>
        <p:spPr>
          <a:xfrm>
            <a:off x="10373868" y="2900553"/>
            <a:ext cx="45720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2" name="S03-figure107" descr="오른쪽 옆에서 본 모양: 왼쪽(앞줄) 2칸, 오른쪽(뒷줄) 3칸 색칠"/>
          <p:cNvSpPr/>
          <p:nvPr/>
        </p:nvSpPr>
        <p:spPr>
          <a:xfrm>
            <a:off x="9916668" y="1986153"/>
            <a:ext cx="914400" cy="13716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3" name="S03-label108"/>
          <p:cNvSpPr txBox="1"/>
          <p:nvPr/>
        </p:nvSpPr>
        <p:spPr>
          <a:xfrm>
            <a:off x="9107424" y="4091178"/>
            <a:ext cx="2532888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앞과 옆에서 본 모양 찾기</a:t>
            </a:r>
            <a:endParaRPr lang="ko-KR" sz="4000" dirty="0"/>
          </a:p>
        </p:txBody>
      </p:sp>
      <p:sp>
        <p:nvSpPr>
          <p:cNvPr id="3" name="S04-card10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4-cardtext1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앞에서 본 모양과 옆에서 본 모양을 각각 골라요.</a:t>
            </a:r>
            <a:endParaRPr lang="ko-KR" sz="2800" dirty="0"/>
          </a:p>
        </p:txBody>
      </p:sp>
      <p:sp>
        <p:nvSpPr>
          <p:cNvPr id="5" name="S04-chip111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</a:t>
            </a:r>
            <a:endParaRPr lang="ko-KR" sz="2800" dirty="0"/>
          </a:p>
        </p:txBody>
      </p:sp>
      <p:sp>
        <p:nvSpPr>
          <p:cNvPr id="6" name="S04-figure112" descr="쌓기나무 9개로 쌓은 모양: 앞줄은 왼쪽부터 1층, 1층, 2층, 뒷줄은 가운데 2층, 오른쪽 3층"/>
          <p:cNvSpPr/>
          <p:nvPr/>
        </p:nvSpPr>
        <p:spPr>
          <a:xfrm>
            <a:off x="3023384" y="1790446"/>
            <a:ext cx="439635" cy="253831"/>
          </a:xfrm>
          <a:custGeom>
            <a:avLst/>
            <a:gdLst/>
            <a:ahLst/>
            <a:cxnLst/>
            <a:rect l="l" t="t" r="r" b="b"/>
            <a:pathLst>
              <a:path w="439635" h="253831">
                <a:moveTo>
                  <a:pt x="0" y="126915"/>
                </a:moveTo>
                <a:lnTo>
                  <a:pt x="219817" y="253831"/>
                </a:lnTo>
                <a:lnTo>
                  <a:pt x="439635" y="126915"/>
                </a:lnTo>
                <a:lnTo>
                  <a:pt x="219817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4-mark113"/>
          <p:cNvSpPr/>
          <p:nvPr/>
        </p:nvSpPr>
        <p:spPr>
          <a:xfrm>
            <a:off x="3023384" y="1917361"/>
            <a:ext cx="219817" cy="380746"/>
          </a:xfrm>
          <a:custGeom>
            <a:avLst/>
            <a:gdLst/>
            <a:ahLst/>
            <a:cxnLst/>
            <a:rect l="l" t="t" r="r" b="b"/>
            <a:pathLst>
              <a:path w="219817" h="380746">
                <a:moveTo>
                  <a:pt x="0" y="253831"/>
                </a:moveTo>
                <a:lnTo>
                  <a:pt x="219817" y="380746"/>
                </a:lnTo>
                <a:lnTo>
                  <a:pt x="219817" y="126915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4-mark114"/>
          <p:cNvSpPr/>
          <p:nvPr/>
        </p:nvSpPr>
        <p:spPr>
          <a:xfrm>
            <a:off x="3243202" y="1917361"/>
            <a:ext cx="219817" cy="380746"/>
          </a:xfrm>
          <a:custGeom>
            <a:avLst/>
            <a:gdLst/>
            <a:ahLst/>
            <a:cxnLst/>
            <a:rect l="l" t="t" r="r" b="b"/>
            <a:pathLst>
              <a:path w="219817" h="380746">
                <a:moveTo>
                  <a:pt x="0" y="380746"/>
                </a:moveTo>
                <a:lnTo>
                  <a:pt x="219817" y="253831"/>
                </a:lnTo>
                <a:lnTo>
                  <a:pt x="219817" y="0"/>
                </a:lnTo>
                <a:lnTo>
                  <a:pt x="0" y="126915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4-mark115"/>
          <p:cNvSpPr/>
          <p:nvPr/>
        </p:nvSpPr>
        <p:spPr>
          <a:xfrm>
            <a:off x="3463019" y="1790446"/>
            <a:ext cx="439635" cy="253831"/>
          </a:xfrm>
          <a:custGeom>
            <a:avLst/>
            <a:gdLst/>
            <a:ahLst/>
            <a:cxnLst/>
            <a:rect l="l" t="t" r="r" b="b"/>
            <a:pathLst>
              <a:path w="439635" h="253831">
                <a:moveTo>
                  <a:pt x="0" y="126915"/>
                </a:moveTo>
                <a:lnTo>
                  <a:pt x="219817" y="253831"/>
                </a:lnTo>
                <a:lnTo>
                  <a:pt x="439635" y="126915"/>
                </a:lnTo>
                <a:lnTo>
                  <a:pt x="219817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04-mark116"/>
          <p:cNvSpPr/>
          <p:nvPr/>
        </p:nvSpPr>
        <p:spPr>
          <a:xfrm>
            <a:off x="3463019" y="1917361"/>
            <a:ext cx="219817" cy="380746"/>
          </a:xfrm>
          <a:custGeom>
            <a:avLst/>
            <a:gdLst/>
            <a:ahLst/>
            <a:cxnLst/>
            <a:rect l="l" t="t" r="r" b="b"/>
            <a:pathLst>
              <a:path w="219817" h="380746">
                <a:moveTo>
                  <a:pt x="0" y="253831"/>
                </a:moveTo>
                <a:lnTo>
                  <a:pt x="219817" y="380746"/>
                </a:lnTo>
                <a:lnTo>
                  <a:pt x="219817" y="126915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04-mark117"/>
          <p:cNvSpPr/>
          <p:nvPr/>
        </p:nvSpPr>
        <p:spPr>
          <a:xfrm>
            <a:off x="3682836" y="1917361"/>
            <a:ext cx="219817" cy="380746"/>
          </a:xfrm>
          <a:custGeom>
            <a:avLst/>
            <a:gdLst/>
            <a:ahLst/>
            <a:cxnLst/>
            <a:rect l="l" t="t" r="r" b="b"/>
            <a:pathLst>
              <a:path w="219817" h="380746">
                <a:moveTo>
                  <a:pt x="0" y="380746"/>
                </a:moveTo>
                <a:lnTo>
                  <a:pt x="219817" y="253831"/>
                </a:lnTo>
                <a:lnTo>
                  <a:pt x="219817" y="0"/>
                </a:lnTo>
                <a:lnTo>
                  <a:pt x="0" y="126915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2" name="S04-mark118"/>
          <p:cNvSpPr/>
          <p:nvPr/>
        </p:nvSpPr>
        <p:spPr>
          <a:xfrm>
            <a:off x="3243202" y="1917361"/>
            <a:ext cx="439635" cy="253831"/>
          </a:xfrm>
          <a:custGeom>
            <a:avLst/>
            <a:gdLst/>
            <a:ahLst/>
            <a:cxnLst/>
            <a:rect l="l" t="t" r="r" b="b"/>
            <a:pathLst>
              <a:path w="439635" h="253831">
                <a:moveTo>
                  <a:pt x="0" y="126915"/>
                </a:moveTo>
                <a:lnTo>
                  <a:pt x="219817" y="253831"/>
                </a:lnTo>
                <a:lnTo>
                  <a:pt x="439635" y="126915"/>
                </a:lnTo>
                <a:lnTo>
                  <a:pt x="219817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04-mark119"/>
          <p:cNvSpPr/>
          <p:nvPr/>
        </p:nvSpPr>
        <p:spPr>
          <a:xfrm>
            <a:off x="3243202" y="2044277"/>
            <a:ext cx="219817" cy="380746"/>
          </a:xfrm>
          <a:custGeom>
            <a:avLst/>
            <a:gdLst/>
            <a:ahLst/>
            <a:cxnLst/>
            <a:rect l="l" t="t" r="r" b="b"/>
            <a:pathLst>
              <a:path w="219817" h="380746">
                <a:moveTo>
                  <a:pt x="0" y="253831"/>
                </a:moveTo>
                <a:lnTo>
                  <a:pt x="219817" y="380746"/>
                </a:lnTo>
                <a:lnTo>
                  <a:pt x="219817" y="126915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4" name="S04-mark120"/>
          <p:cNvSpPr/>
          <p:nvPr/>
        </p:nvSpPr>
        <p:spPr>
          <a:xfrm>
            <a:off x="3463019" y="2044277"/>
            <a:ext cx="219817" cy="380746"/>
          </a:xfrm>
          <a:custGeom>
            <a:avLst/>
            <a:gdLst/>
            <a:ahLst/>
            <a:cxnLst/>
            <a:rect l="l" t="t" r="r" b="b"/>
            <a:pathLst>
              <a:path w="219817" h="380746">
                <a:moveTo>
                  <a:pt x="0" y="380746"/>
                </a:moveTo>
                <a:lnTo>
                  <a:pt x="219817" y="253831"/>
                </a:lnTo>
                <a:lnTo>
                  <a:pt x="219817" y="0"/>
                </a:lnTo>
                <a:lnTo>
                  <a:pt x="0" y="126915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04-mark121"/>
          <p:cNvSpPr/>
          <p:nvPr/>
        </p:nvSpPr>
        <p:spPr>
          <a:xfrm>
            <a:off x="3682836" y="1917361"/>
            <a:ext cx="439635" cy="253831"/>
          </a:xfrm>
          <a:custGeom>
            <a:avLst/>
            <a:gdLst/>
            <a:ahLst/>
            <a:cxnLst/>
            <a:rect l="l" t="t" r="r" b="b"/>
            <a:pathLst>
              <a:path w="439635" h="253831">
                <a:moveTo>
                  <a:pt x="0" y="126915"/>
                </a:moveTo>
                <a:lnTo>
                  <a:pt x="219817" y="253831"/>
                </a:lnTo>
                <a:lnTo>
                  <a:pt x="439635" y="126915"/>
                </a:lnTo>
                <a:lnTo>
                  <a:pt x="219817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6" name="S04-mark122"/>
          <p:cNvSpPr/>
          <p:nvPr/>
        </p:nvSpPr>
        <p:spPr>
          <a:xfrm>
            <a:off x="3682836" y="2044277"/>
            <a:ext cx="219817" cy="380746"/>
          </a:xfrm>
          <a:custGeom>
            <a:avLst/>
            <a:gdLst/>
            <a:ahLst/>
            <a:cxnLst/>
            <a:rect l="l" t="t" r="r" b="b"/>
            <a:pathLst>
              <a:path w="219817" h="380746">
                <a:moveTo>
                  <a:pt x="0" y="253831"/>
                </a:moveTo>
                <a:lnTo>
                  <a:pt x="219817" y="380746"/>
                </a:lnTo>
                <a:lnTo>
                  <a:pt x="219817" y="126915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7" name="S04-mark123"/>
          <p:cNvSpPr/>
          <p:nvPr/>
        </p:nvSpPr>
        <p:spPr>
          <a:xfrm>
            <a:off x="3902654" y="2044277"/>
            <a:ext cx="219817" cy="380746"/>
          </a:xfrm>
          <a:custGeom>
            <a:avLst/>
            <a:gdLst/>
            <a:ahLst/>
            <a:cxnLst/>
            <a:rect l="l" t="t" r="r" b="b"/>
            <a:pathLst>
              <a:path w="219817" h="380746">
                <a:moveTo>
                  <a:pt x="0" y="380746"/>
                </a:moveTo>
                <a:lnTo>
                  <a:pt x="219817" y="253831"/>
                </a:lnTo>
                <a:lnTo>
                  <a:pt x="219817" y="0"/>
                </a:lnTo>
                <a:lnTo>
                  <a:pt x="0" y="126915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8" name="S04-mark124"/>
          <p:cNvSpPr/>
          <p:nvPr/>
        </p:nvSpPr>
        <p:spPr>
          <a:xfrm>
            <a:off x="3463019" y="1536615"/>
            <a:ext cx="439635" cy="253831"/>
          </a:xfrm>
          <a:custGeom>
            <a:avLst/>
            <a:gdLst/>
            <a:ahLst/>
            <a:cxnLst/>
            <a:rect l="l" t="t" r="r" b="b"/>
            <a:pathLst>
              <a:path w="439635" h="253831">
                <a:moveTo>
                  <a:pt x="0" y="126915"/>
                </a:moveTo>
                <a:lnTo>
                  <a:pt x="219817" y="253831"/>
                </a:lnTo>
                <a:lnTo>
                  <a:pt x="439635" y="126915"/>
                </a:lnTo>
                <a:lnTo>
                  <a:pt x="219817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9" name="S04-mark125"/>
          <p:cNvSpPr/>
          <p:nvPr/>
        </p:nvSpPr>
        <p:spPr>
          <a:xfrm>
            <a:off x="3463019" y="1663531"/>
            <a:ext cx="219817" cy="380746"/>
          </a:xfrm>
          <a:custGeom>
            <a:avLst/>
            <a:gdLst/>
            <a:ahLst/>
            <a:cxnLst/>
            <a:rect l="l" t="t" r="r" b="b"/>
            <a:pathLst>
              <a:path w="219817" h="380746">
                <a:moveTo>
                  <a:pt x="0" y="253831"/>
                </a:moveTo>
                <a:lnTo>
                  <a:pt x="219817" y="380746"/>
                </a:lnTo>
                <a:lnTo>
                  <a:pt x="219817" y="126915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0" name="S04-mark126"/>
          <p:cNvSpPr/>
          <p:nvPr/>
        </p:nvSpPr>
        <p:spPr>
          <a:xfrm>
            <a:off x="3682836" y="1663531"/>
            <a:ext cx="219817" cy="380746"/>
          </a:xfrm>
          <a:custGeom>
            <a:avLst/>
            <a:gdLst/>
            <a:ahLst/>
            <a:cxnLst/>
            <a:rect l="l" t="t" r="r" b="b"/>
            <a:pathLst>
              <a:path w="219817" h="380746">
                <a:moveTo>
                  <a:pt x="0" y="380746"/>
                </a:moveTo>
                <a:lnTo>
                  <a:pt x="219817" y="253831"/>
                </a:lnTo>
                <a:lnTo>
                  <a:pt x="219817" y="0"/>
                </a:lnTo>
                <a:lnTo>
                  <a:pt x="0" y="126915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1" name="S04-mark127"/>
          <p:cNvSpPr/>
          <p:nvPr/>
        </p:nvSpPr>
        <p:spPr>
          <a:xfrm>
            <a:off x="3463019" y="2044277"/>
            <a:ext cx="439635" cy="253831"/>
          </a:xfrm>
          <a:custGeom>
            <a:avLst/>
            <a:gdLst/>
            <a:ahLst/>
            <a:cxnLst/>
            <a:rect l="l" t="t" r="r" b="b"/>
            <a:pathLst>
              <a:path w="439635" h="253831">
                <a:moveTo>
                  <a:pt x="0" y="126915"/>
                </a:moveTo>
                <a:lnTo>
                  <a:pt x="219817" y="253831"/>
                </a:lnTo>
                <a:lnTo>
                  <a:pt x="439635" y="126915"/>
                </a:lnTo>
                <a:lnTo>
                  <a:pt x="219817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2" name="S04-mark128"/>
          <p:cNvSpPr/>
          <p:nvPr/>
        </p:nvSpPr>
        <p:spPr>
          <a:xfrm>
            <a:off x="3463019" y="2171192"/>
            <a:ext cx="219817" cy="380746"/>
          </a:xfrm>
          <a:custGeom>
            <a:avLst/>
            <a:gdLst/>
            <a:ahLst/>
            <a:cxnLst/>
            <a:rect l="l" t="t" r="r" b="b"/>
            <a:pathLst>
              <a:path w="219817" h="380746">
                <a:moveTo>
                  <a:pt x="0" y="253831"/>
                </a:moveTo>
                <a:lnTo>
                  <a:pt x="219817" y="380746"/>
                </a:lnTo>
                <a:lnTo>
                  <a:pt x="219817" y="126915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3" name="S04-mark129"/>
          <p:cNvSpPr/>
          <p:nvPr/>
        </p:nvSpPr>
        <p:spPr>
          <a:xfrm>
            <a:off x="3682836" y="2171192"/>
            <a:ext cx="219817" cy="380746"/>
          </a:xfrm>
          <a:custGeom>
            <a:avLst/>
            <a:gdLst/>
            <a:ahLst/>
            <a:cxnLst/>
            <a:rect l="l" t="t" r="r" b="b"/>
            <a:pathLst>
              <a:path w="219817" h="380746">
                <a:moveTo>
                  <a:pt x="0" y="380746"/>
                </a:moveTo>
                <a:lnTo>
                  <a:pt x="219817" y="253831"/>
                </a:lnTo>
                <a:lnTo>
                  <a:pt x="219817" y="0"/>
                </a:lnTo>
                <a:lnTo>
                  <a:pt x="0" y="126915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4" name="S04-mark130"/>
          <p:cNvSpPr/>
          <p:nvPr/>
        </p:nvSpPr>
        <p:spPr>
          <a:xfrm>
            <a:off x="3682836" y="1663531"/>
            <a:ext cx="439635" cy="253831"/>
          </a:xfrm>
          <a:custGeom>
            <a:avLst/>
            <a:gdLst/>
            <a:ahLst/>
            <a:cxnLst/>
            <a:rect l="l" t="t" r="r" b="b"/>
            <a:pathLst>
              <a:path w="439635" h="253831">
                <a:moveTo>
                  <a:pt x="0" y="126915"/>
                </a:moveTo>
                <a:lnTo>
                  <a:pt x="219817" y="253831"/>
                </a:lnTo>
                <a:lnTo>
                  <a:pt x="439635" y="126915"/>
                </a:lnTo>
                <a:lnTo>
                  <a:pt x="219817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04-mark131"/>
          <p:cNvSpPr/>
          <p:nvPr/>
        </p:nvSpPr>
        <p:spPr>
          <a:xfrm>
            <a:off x="3682836" y="1790446"/>
            <a:ext cx="219817" cy="380746"/>
          </a:xfrm>
          <a:custGeom>
            <a:avLst/>
            <a:gdLst/>
            <a:ahLst/>
            <a:cxnLst/>
            <a:rect l="l" t="t" r="r" b="b"/>
            <a:pathLst>
              <a:path w="219817" h="380746">
                <a:moveTo>
                  <a:pt x="0" y="253831"/>
                </a:moveTo>
                <a:lnTo>
                  <a:pt x="219817" y="380746"/>
                </a:lnTo>
                <a:lnTo>
                  <a:pt x="219817" y="126915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6" name="S04-mark132"/>
          <p:cNvSpPr/>
          <p:nvPr/>
        </p:nvSpPr>
        <p:spPr>
          <a:xfrm>
            <a:off x="3902654" y="1790446"/>
            <a:ext cx="219817" cy="380746"/>
          </a:xfrm>
          <a:custGeom>
            <a:avLst/>
            <a:gdLst/>
            <a:ahLst/>
            <a:cxnLst/>
            <a:rect l="l" t="t" r="r" b="b"/>
            <a:pathLst>
              <a:path w="219817" h="380746">
                <a:moveTo>
                  <a:pt x="0" y="380746"/>
                </a:moveTo>
                <a:lnTo>
                  <a:pt x="219817" y="253831"/>
                </a:lnTo>
                <a:lnTo>
                  <a:pt x="219817" y="0"/>
                </a:lnTo>
                <a:lnTo>
                  <a:pt x="0" y="126915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7" name="S04-mark133"/>
          <p:cNvSpPr/>
          <p:nvPr/>
        </p:nvSpPr>
        <p:spPr>
          <a:xfrm>
            <a:off x="3463019" y="1790446"/>
            <a:ext cx="439635" cy="253831"/>
          </a:xfrm>
          <a:custGeom>
            <a:avLst/>
            <a:gdLst/>
            <a:ahLst/>
            <a:cxnLst/>
            <a:rect l="l" t="t" r="r" b="b"/>
            <a:pathLst>
              <a:path w="439635" h="253831">
                <a:moveTo>
                  <a:pt x="0" y="126915"/>
                </a:moveTo>
                <a:lnTo>
                  <a:pt x="219817" y="253831"/>
                </a:lnTo>
                <a:lnTo>
                  <a:pt x="439635" y="126915"/>
                </a:lnTo>
                <a:lnTo>
                  <a:pt x="219817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8" name="S04-mark134"/>
          <p:cNvSpPr/>
          <p:nvPr/>
        </p:nvSpPr>
        <p:spPr>
          <a:xfrm>
            <a:off x="3463019" y="1917361"/>
            <a:ext cx="219817" cy="380746"/>
          </a:xfrm>
          <a:custGeom>
            <a:avLst/>
            <a:gdLst/>
            <a:ahLst/>
            <a:cxnLst/>
            <a:rect l="l" t="t" r="r" b="b"/>
            <a:pathLst>
              <a:path w="219817" h="380746">
                <a:moveTo>
                  <a:pt x="0" y="253831"/>
                </a:moveTo>
                <a:lnTo>
                  <a:pt x="219817" y="380746"/>
                </a:lnTo>
                <a:lnTo>
                  <a:pt x="219817" y="126915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9" name="S04-mark135"/>
          <p:cNvSpPr/>
          <p:nvPr/>
        </p:nvSpPr>
        <p:spPr>
          <a:xfrm>
            <a:off x="3682836" y="1917361"/>
            <a:ext cx="219817" cy="380746"/>
          </a:xfrm>
          <a:custGeom>
            <a:avLst/>
            <a:gdLst/>
            <a:ahLst/>
            <a:cxnLst/>
            <a:rect l="l" t="t" r="r" b="b"/>
            <a:pathLst>
              <a:path w="219817" h="380746">
                <a:moveTo>
                  <a:pt x="0" y="380746"/>
                </a:moveTo>
                <a:lnTo>
                  <a:pt x="219817" y="253831"/>
                </a:lnTo>
                <a:lnTo>
                  <a:pt x="219817" y="0"/>
                </a:lnTo>
                <a:lnTo>
                  <a:pt x="0" y="126915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0" name="S04-mark136"/>
          <p:cNvSpPr/>
          <p:nvPr/>
        </p:nvSpPr>
        <p:spPr>
          <a:xfrm>
            <a:off x="3682836" y="1409700"/>
            <a:ext cx="439635" cy="253831"/>
          </a:xfrm>
          <a:custGeom>
            <a:avLst/>
            <a:gdLst/>
            <a:ahLst/>
            <a:cxnLst/>
            <a:rect l="l" t="t" r="r" b="b"/>
            <a:pathLst>
              <a:path w="439635" h="253831">
                <a:moveTo>
                  <a:pt x="0" y="126915"/>
                </a:moveTo>
                <a:lnTo>
                  <a:pt x="219817" y="253831"/>
                </a:lnTo>
                <a:lnTo>
                  <a:pt x="439635" y="126915"/>
                </a:lnTo>
                <a:lnTo>
                  <a:pt x="219817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1" name="S04-mark137"/>
          <p:cNvSpPr/>
          <p:nvPr/>
        </p:nvSpPr>
        <p:spPr>
          <a:xfrm>
            <a:off x="3682836" y="1536615"/>
            <a:ext cx="219817" cy="380746"/>
          </a:xfrm>
          <a:custGeom>
            <a:avLst/>
            <a:gdLst/>
            <a:ahLst/>
            <a:cxnLst/>
            <a:rect l="l" t="t" r="r" b="b"/>
            <a:pathLst>
              <a:path w="219817" h="380746">
                <a:moveTo>
                  <a:pt x="0" y="253831"/>
                </a:moveTo>
                <a:lnTo>
                  <a:pt x="219817" y="380746"/>
                </a:lnTo>
                <a:lnTo>
                  <a:pt x="219817" y="126915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2" name="S04-mark138"/>
          <p:cNvSpPr/>
          <p:nvPr/>
        </p:nvSpPr>
        <p:spPr>
          <a:xfrm>
            <a:off x="3902654" y="1536615"/>
            <a:ext cx="219817" cy="380746"/>
          </a:xfrm>
          <a:custGeom>
            <a:avLst/>
            <a:gdLst/>
            <a:ahLst/>
            <a:cxnLst/>
            <a:rect l="l" t="t" r="r" b="b"/>
            <a:pathLst>
              <a:path w="219817" h="380746">
                <a:moveTo>
                  <a:pt x="0" y="380746"/>
                </a:moveTo>
                <a:lnTo>
                  <a:pt x="219817" y="253831"/>
                </a:lnTo>
                <a:lnTo>
                  <a:pt x="219817" y="0"/>
                </a:lnTo>
                <a:lnTo>
                  <a:pt x="0" y="126915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3" name="S04-mark139"/>
          <p:cNvSpPr/>
          <p:nvPr/>
        </p:nvSpPr>
        <p:spPr>
          <a:xfrm flipV="1">
            <a:off x="3023384" y="2272724"/>
            <a:ext cx="263730" cy="152298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4" name="S04-mark140"/>
          <p:cNvSpPr/>
          <p:nvPr/>
        </p:nvSpPr>
        <p:spPr>
          <a:xfrm flipH="1" flipV="1">
            <a:off x="3968650" y="2336182"/>
            <a:ext cx="263730" cy="152298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5" name="S04-label142"/>
          <p:cNvSpPr txBox="1"/>
          <p:nvPr/>
        </p:nvSpPr>
        <p:spPr>
          <a:xfrm>
            <a:off x="2732620" y="2307510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</a:t>
            </a:r>
            <a:endParaRPr lang="ko-KR" sz="2200" dirty="0"/>
          </a:p>
        </p:txBody>
      </p:sp>
      <p:sp>
        <p:nvSpPr>
          <p:cNvPr id="36" name="S04-label144"/>
          <p:cNvSpPr txBox="1"/>
          <p:nvPr/>
        </p:nvSpPr>
        <p:spPr>
          <a:xfrm>
            <a:off x="4139604" y="2370967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</a:t>
            </a:r>
            <a:endParaRPr lang="ko-KR" sz="2200" dirty="0"/>
          </a:p>
        </p:txBody>
      </p:sp>
      <p:sp>
        <p:nvSpPr>
          <p:cNvPr id="37" name="S04-label145"/>
          <p:cNvSpPr txBox="1"/>
          <p:nvPr/>
        </p:nvSpPr>
        <p:spPr>
          <a:xfrm>
            <a:off x="1344168" y="2708910"/>
            <a:ext cx="4567428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쌓은 모양</a:t>
            </a:r>
            <a:endParaRPr lang="ko-KR" sz="2200" dirty="0"/>
          </a:p>
        </p:txBody>
      </p:sp>
      <p:sp>
        <p:nvSpPr>
          <p:cNvPr id="38" name="S04-chip146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39" name="S04-cell147"/>
          <p:cNvSpPr/>
          <p:nvPr/>
        </p:nvSpPr>
        <p:spPr>
          <a:xfrm>
            <a:off x="8780526" y="1404747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04-cell148"/>
          <p:cNvSpPr/>
          <p:nvPr/>
        </p:nvSpPr>
        <p:spPr>
          <a:xfrm>
            <a:off x="9164574" y="1404747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04-cell149"/>
          <p:cNvSpPr/>
          <p:nvPr/>
        </p:nvSpPr>
        <p:spPr>
          <a:xfrm>
            <a:off x="9548622" y="1404747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2" name="S04-cell150"/>
          <p:cNvSpPr/>
          <p:nvPr/>
        </p:nvSpPr>
        <p:spPr>
          <a:xfrm>
            <a:off x="8780526" y="1788795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3" name="S04-cell151"/>
          <p:cNvSpPr/>
          <p:nvPr/>
        </p:nvSpPr>
        <p:spPr>
          <a:xfrm>
            <a:off x="9164574" y="1788795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4" name="S04-cell152"/>
          <p:cNvSpPr/>
          <p:nvPr/>
        </p:nvSpPr>
        <p:spPr>
          <a:xfrm>
            <a:off x="9548622" y="1788795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5" name="S04-cell153"/>
          <p:cNvSpPr/>
          <p:nvPr/>
        </p:nvSpPr>
        <p:spPr>
          <a:xfrm>
            <a:off x="8780526" y="2172843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6" name="S04-cell154"/>
          <p:cNvSpPr/>
          <p:nvPr/>
        </p:nvSpPr>
        <p:spPr>
          <a:xfrm>
            <a:off x="9164574" y="2172843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7" name="S04-cell155"/>
          <p:cNvSpPr/>
          <p:nvPr/>
        </p:nvSpPr>
        <p:spPr>
          <a:xfrm>
            <a:off x="9548622" y="2172843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8" name="S04-figure156" descr="가: 왼쪽부터 1칸, 2칸, 3칸 색칠(3줄)"/>
          <p:cNvSpPr/>
          <p:nvPr/>
        </p:nvSpPr>
        <p:spPr>
          <a:xfrm>
            <a:off x="8780526" y="1404747"/>
            <a:ext cx="1152144" cy="1152144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9" name="S04-label157"/>
          <p:cNvSpPr txBox="1"/>
          <p:nvPr/>
        </p:nvSpPr>
        <p:spPr>
          <a:xfrm>
            <a:off x="7072884" y="2708910"/>
            <a:ext cx="4567428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ko-KR" sz="2200" dirty="0"/>
          </a:p>
        </p:txBody>
      </p:sp>
      <p:sp>
        <p:nvSpPr>
          <p:cNvPr id="50" name="S04-chip158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51" name="S04-cell159"/>
          <p:cNvSpPr/>
          <p:nvPr/>
        </p:nvSpPr>
        <p:spPr>
          <a:xfrm>
            <a:off x="3243834" y="3439287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2" name="S04-cell160"/>
          <p:cNvSpPr/>
          <p:nvPr/>
        </p:nvSpPr>
        <p:spPr>
          <a:xfrm>
            <a:off x="3627882" y="3439287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3" name="S04-cell161"/>
          <p:cNvSpPr/>
          <p:nvPr/>
        </p:nvSpPr>
        <p:spPr>
          <a:xfrm>
            <a:off x="3243834" y="3823335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4" name="S04-cell162"/>
          <p:cNvSpPr/>
          <p:nvPr/>
        </p:nvSpPr>
        <p:spPr>
          <a:xfrm>
            <a:off x="3627882" y="3823335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5" name="S04-cell163"/>
          <p:cNvSpPr/>
          <p:nvPr/>
        </p:nvSpPr>
        <p:spPr>
          <a:xfrm>
            <a:off x="3243834" y="4207383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6" name="S04-cell164"/>
          <p:cNvSpPr/>
          <p:nvPr/>
        </p:nvSpPr>
        <p:spPr>
          <a:xfrm>
            <a:off x="3627882" y="4207383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7" name="S04-figure165" descr="나: 왼쪽 2칸, 오른쪽 3칸 색칠(2줄)"/>
          <p:cNvSpPr/>
          <p:nvPr/>
        </p:nvSpPr>
        <p:spPr>
          <a:xfrm>
            <a:off x="3243834" y="3439287"/>
            <a:ext cx="768096" cy="1152144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58" name="S04-label166"/>
          <p:cNvSpPr txBox="1"/>
          <p:nvPr/>
        </p:nvSpPr>
        <p:spPr>
          <a:xfrm>
            <a:off x="1344168" y="4743450"/>
            <a:ext cx="4567428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ko-KR" sz="2200" dirty="0"/>
          </a:p>
        </p:txBody>
      </p:sp>
      <p:sp>
        <p:nvSpPr>
          <p:cNvPr id="59" name="S04-chip167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60" name="S04-cell168"/>
          <p:cNvSpPr/>
          <p:nvPr/>
        </p:nvSpPr>
        <p:spPr>
          <a:xfrm>
            <a:off x="8780526" y="3439287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1" name="S04-cell169"/>
          <p:cNvSpPr/>
          <p:nvPr/>
        </p:nvSpPr>
        <p:spPr>
          <a:xfrm>
            <a:off x="9164574" y="3439287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2" name="S04-cell170"/>
          <p:cNvSpPr/>
          <p:nvPr/>
        </p:nvSpPr>
        <p:spPr>
          <a:xfrm>
            <a:off x="9548622" y="3439287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3" name="S04-cell171"/>
          <p:cNvSpPr/>
          <p:nvPr/>
        </p:nvSpPr>
        <p:spPr>
          <a:xfrm>
            <a:off x="8780526" y="3823335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4" name="S04-cell172"/>
          <p:cNvSpPr/>
          <p:nvPr/>
        </p:nvSpPr>
        <p:spPr>
          <a:xfrm>
            <a:off x="9164574" y="3823335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5" name="S04-cell173"/>
          <p:cNvSpPr/>
          <p:nvPr/>
        </p:nvSpPr>
        <p:spPr>
          <a:xfrm>
            <a:off x="9548622" y="3823335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6" name="S04-cell174"/>
          <p:cNvSpPr/>
          <p:nvPr/>
        </p:nvSpPr>
        <p:spPr>
          <a:xfrm>
            <a:off x="8780526" y="4207383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7" name="S04-cell175"/>
          <p:cNvSpPr/>
          <p:nvPr/>
        </p:nvSpPr>
        <p:spPr>
          <a:xfrm>
            <a:off x="9164574" y="4207383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8" name="S04-cell176"/>
          <p:cNvSpPr/>
          <p:nvPr/>
        </p:nvSpPr>
        <p:spPr>
          <a:xfrm>
            <a:off x="9548622" y="4207383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9" name="S04-figure177" descr="다: 왼쪽부터 3칸, 2칸, 1칸 색칠(3줄)"/>
          <p:cNvSpPr/>
          <p:nvPr/>
        </p:nvSpPr>
        <p:spPr>
          <a:xfrm>
            <a:off x="8780526" y="3439287"/>
            <a:ext cx="1152144" cy="1152144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0" name="S04-label178"/>
          <p:cNvSpPr txBox="1"/>
          <p:nvPr/>
        </p:nvSpPr>
        <p:spPr>
          <a:xfrm>
            <a:off x="7072884" y="4743450"/>
            <a:ext cx="4567428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보이지 않는 쌓기나무</a:t>
            </a:r>
            <a:endParaRPr lang="ko-KR" sz="4000" dirty="0"/>
          </a:p>
        </p:txBody>
      </p:sp>
      <p:sp>
        <p:nvSpPr>
          <p:cNvPr id="3" name="S05-card179"/>
          <p:cNvSpPr/>
          <p:nvPr/>
        </p:nvSpPr>
        <p:spPr>
          <a:xfrm>
            <a:off x="548640" y="5021072"/>
            <a:ext cx="5431536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180"/>
          <p:cNvSpPr txBox="1"/>
          <p:nvPr/>
        </p:nvSpPr>
        <p:spPr>
          <a:xfrm>
            <a:off x="822960" y="5158232"/>
            <a:ext cx="4882896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뒤에 숨은 쌓기나무가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있을 수 있어요.</a:t>
            </a:r>
            <a:endParaRPr lang="ko-KR" sz="2800" dirty="0"/>
          </a:p>
        </p:txBody>
      </p:sp>
      <p:sp>
        <p:nvSpPr>
          <p:cNvPr id="5" name="S05-card181"/>
          <p:cNvSpPr/>
          <p:nvPr/>
        </p:nvSpPr>
        <p:spPr>
          <a:xfrm>
            <a:off x="6208776" y="5021072"/>
            <a:ext cx="5431536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5-cardtext182"/>
          <p:cNvSpPr txBox="1"/>
          <p:nvPr/>
        </p:nvSpPr>
        <p:spPr>
          <a:xfrm>
            <a:off x="6483096" y="5158232"/>
            <a:ext cx="4882896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위에서 본 모양을 보면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개수가 정해져요.</a:t>
            </a:r>
            <a:endParaRPr lang="ko-KR" sz="2800" dirty="0"/>
          </a:p>
        </p:txBody>
      </p:sp>
      <p:sp>
        <p:nvSpPr>
          <p:cNvPr id="7" name="S05-figure183" descr="쌓기나무를 쌓은 모양: 앞줄은 왼쪽 1층, 오른쪽 2층, 뒷줄 오른쪽 1층이 보임. 뒷줄 왼쪽은 가려져 보이지 않음"/>
          <p:cNvSpPr/>
          <p:nvPr/>
        </p:nvSpPr>
        <p:spPr>
          <a:xfrm>
            <a:off x="1166560" y="2410208"/>
            <a:ext cx="1124012" cy="648968"/>
          </a:xfrm>
          <a:custGeom>
            <a:avLst/>
            <a:gdLst/>
            <a:ahLst/>
            <a:cxnLst/>
            <a:rect l="l" t="t" r="r" b="b"/>
            <a:pathLst>
              <a:path w="1124012" h="648968">
                <a:moveTo>
                  <a:pt x="0" y="324484"/>
                </a:moveTo>
                <a:lnTo>
                  <a:pt x="562006" y="648968"/>
                </a:lnTo>
                <a:lnTo>
                  <a:pt x="1124012" y="324484"/>
                </a:lnTo>
                <a:lnTo>
                  <a:pt x="562006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5-mark184"/>
          <p:cNvSpPr/>
          <p:nvPr/>
        </p:nvSpPr>
        <p:spPr>
          <a:xfrm>
            <a:off x="1166560" y="2734692"/>
            <a:ext cx="562006" cy="973451"/>
          </a:xfrm>
          <a:custGeom>
            <a:avLst/>
            <a:gdLst/>
            <a:ahLst/>
            <a:cxnLst/>
            <a:rect l="l" t="t" r="r" b="b"/>
            <a:pathLst>
              <a:path w="562006" h="973451">
                <a:moveTo>
                  <a:pt x="0" y="648968"/>
                </a:moveTo>
                <a:lnTo>
                  <a:pt x="562006" y="973451"/>
                </a:lnTo>
                <a:lnTo>
                  <a:pt x="562006" y="324484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5-mark185"/>
          <p:cNvSpPr/>
          <p:nvPr/>
        </p:nvSpPr>
        <p:spPr>
          <a:xfrm>
            <a:off x="1728566" y="2734692"/>
            <a:ext cx="562006" cy="973451"/>
          </a:xfrm>
          <a:custGeom>
            <a:avLst/>
            <a:gdLst/>
            <a:ahLst/>
            <a:cxnLst/>
            <a:rect l="l" t="t" r="r" b="b"/>
            <a:pathLst>
              <a:path w="562006" h="973451">
                <a:moveTo>
                  <a:pt x="0" y="973451"/>
                </a:moveTo>
                <a:lnTo>
                  <a:pt x="562006" y="648968"/>
                </a:lnTo>
                <a:lnTo>
                  <a:pt x="562006" y="0"/>
                </a:lnTo>
                <a:lnTo>
                  <a:pt x="0" y="324484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05-mark186"/>
          <p:cNvSpPr/>
          <p:nvPr/>
        </p:nvSpPr>
        <p:spPr>
          <a:xfrm>
            <a:off x="2290572" y="2410208"/>
            <a:ext cx="1124012" cy="648968"/>
          </a:xfrm>
          <a:custGeom>
            <a:avLst/>
            <a:gdLst/>
            <a:ahLst/>
            <a:cxnLst/>
            <a:rect l="l" t="t" r="r" b="b"/>
            <a:pathLst>
              <a:path w="1124012" h="648968">
                <a:moveTo>
                  <a:pt x="0" y="324484"/>
                </a:moveTo>
                <a:lnTo>
                  <a:pt x="562006" y="648968"/>
                </a:lnTo>
                <a:lnTo>
                  <a:pt x="1124012" y="324484"/>
                </a:lnTo>
                <a:lnTo>
                  <a:pt x="562006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05-mark187"/>
          <p:cNvSpPr/>
          <p:nvPr/>
        </p:nvSpPr>
        <p:spPr>
          <a:xfrm>
            <a:off x="2290572" y="2734692"/>
            <a:ext cx="562006" cy="973451"/>
          </a:xfrm>
          <a:custGeom>
            <a:avLst/>
            <a:gdLst/>
            <a:ahLst/>
            <a:cxnLst/>
            <a:rect l="l" t="t" r="r" b="b"/>
            <a:pathLst>
              <a:path w="562006" h="973451">
                <a:moveTo>
                  <a:pt x="0" y="648968"/>
                </a:moveTo>
                <a:lnTo>
                  <a:pt x="562006" y="973451"/>
                </a:lnTo>
                <a:lnTo>
                  <a:pt x="562006" y="324484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2" name="S05-mark188"/>
          <p:cNvSpPr/>
          <p:nvPr/>
        </p:nvSpPr>
        <p:spPr>
          <a:xfrm>
            <a:off x="2852578" y="2734692"/>
            <a:ext cx="562006" cy="973451"/>
          </a:xfrm>
          <a:custGeom>
            <a:avLst/>
            <a:gdLst/>
            <a:ahLst/>
            <a:cxnLst/>
            <a:rect l="l" t="t" r="r" b="b"/>
            <a:pathLst>
              <a:path w="562006" h="973451">
                <a:moveTo>
                  <a:pt x="0" y="973451"/>
                </a:moveTo>
                <a:lnTo>
                  <a:pt x="562006" y="648968"/>
                </a:lnTo>
                <a:lnTo>
                  <a:pt x="562006" y="0"/>
                </a:lnTo>
                <a:lnTo>
                  <a:pt x="0" y="324484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05-mark189"/>
          <p:cNvSpPr/>
          <p:nvPr/>
        </p:nvSpPr>
        <p:spPr>
          <a:xfrm>
            <a:off x="1728566" y="2734692"/>
            <a:ext cx="1124012" cy="648968"/>
          </a:xfrm>
          <a:custGeom>
            <a:avLst/>
            <a:gdLst/>
            <a:ahLst/>
            <a:cxnLst/>
            <a:rect l="l" t="t" r="r" b="b"/>
            <a:pathLst>
              <a:path w="1124012" h="648968">
                <a:moveTo>
                  <a:pt x="0" y="324484"/>
                </a:moveTo>
                <a:lnTo>
                  <a:pt x="562006" y="648968"/>
                </a:lnTo>
                <a:lnTo>
                  <a:pt x="1124012" y="324484"/>
                </a:lnTo>
                <a:lnTo>
                  <a:pt x="562006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4" name="S05-mark190"/>
          <p:cNvSpPr/>
          <p:nvPr/>
        </p:nvSpPr>
        <p:spPr>
          <a:xfrm>
            <a:off x="1728566" y="3059176"/>
            <a:ext cx="562006" cy="973451"/>
          </a:xfrm>
          <a:custGeom>
            <a:avLst/>
            <a:gdLst/>
            <a:ahLst/>
            <a:cxnLst/>
            <a:rect l="l" t="t" r="r" b="b"/>
            <a:pathLst>
              <a:path w="562006" h="973451">
                <a:moveTo>
                  <a:pt x="0" y="648968"/>
                </a:moveTo>
                <a:lnTo>
                  <a:pt x="562006" y="973451"/>
                </a:lnTo>
                <a:lnTo>
                  <a:pt x="562006" y="324484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05-mark191"/>
          <p:cNvSpPr/>
          <p:nvPr/>
        </p:nvSpPr>
        <p:spPr>
          <a:xfrm>
            <a:off x="2290572" y="3059176"/>
            <a:ext cx="562006" cy="973451"/>
          </a:xfrm>
          <a:custGeom>
            <a:avLst/>
            <a:gdLst/>
            <a:ahLst/>
            <a:cxnLst/>
            <a:rect l="l" t="t" r="r" b="b"/>
            <a:pathLst>
              <a:path w="562006" h="973451">
                <a:moveTo>
                  <a:pt x="0" y="973451"/>
                </a:moveTo>
                <a:lnTo>
                  <a:pt x="562006" y="648968"/>
                </a:lnTo>
                <a:lnTo>
                  <a:pt x="562006" y="0"/>
                </a:lnTo>
                <a:lnTo>
                  <a:pt x="0" y="324484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6" name="S05-mark192"/>
          <p:cNvSpPr/>
          <p:nvPr/>
        </p:nvSpPr>
        <p:spPr>
          <a:xfrm>
            <a:off x="1728566" y="2085725"/>
            <a:ext cx="1124012" cy="648968"/>
          </a:xfrm>
          <a:custGeom>
            <a:avLst/>
            <a:gdLst/>
            <a:ahLst/>
            <a:cxnLst/>
            <a:rect l="l" t="t" r="r" b="b"/>
            <a:pathLst>
              <a:path w="1124012" h="648968">
                <a:moveTo>
                  <a:pt x="0" y="324484"/>
                </a:moveTo>
                <a:lnTo>
                  <a:pt x="562006" y="648968"/>
                </a:lnTo>
                <a:lnTo>
                  <a:pt x="1124012" y="324484"/>
                </a:lnTo>
                <a:lnTo>
                  <a:pt x="562006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7" name="S05-mark193"/>
          <p:cNvSpPr/>
          <p:nvPr/>
        </p:nvSpPr>
        <p:spPr>
          <a:xfrm>
            <a:off x="1728566" y="2410208"/>
            <a:ext cx="562006" cy="973451"/>
          </a:xfrm>
          <a:custGeom>
            <a:avLst/>
            <a:gdLst/>
            <a:ahLst/>
            <a:cxnLst/>
            <a:rect l="l" t="t" r="r" b="b"/>
            <a:pathLst>
              <a:path w="562006" h="973451">
                <a:moveTo>
                  <a:pt x="0" y="648968"/>
                </a:moveTo>
                <a:lnTo>
                  <a:pt x="562006" y="973451"/>
                </a:lnTo>
                <a:lnTo>
                  <a:pt x="562006" y="324484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8" name="S05-mark194"/>
          <p:cNvSpPr/>
          <p:nvPr/>
        </p:nvSpPr>
        <p:spPr>
          <a:xfrm>
            <a:off x="2290572" y="2410208"/>
            <a:ext cx="562006" cy="973451"/>
          </a:xfrm>
          <a:custGeom>
            <a:avLst/>
            <a:gdLst/>
            <a:ahLst/>
            <a:cxnLst/>
            <a:rect l="l" t="t" r="r" b="b"/>
            <a:pathLst>
              <a:path w="562006" h="973451">
                <a:moveTo>
                  <a:pt x="0" y="973451"/>
                </a:moveTo>
                <a:lnTo>
                  <a:pt x="562006" y="648968"/>
                </a:lnTo>
                <a:lnTo>
                  <a:pt x="562006" y="0"/>
                </a:lnTo>
                <a:lnTo>
                  <a:pt x="0" y="324484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9" name="S05-mark195"/>
          <p:cNvSpPr/>
          <p:nvPr/>
        </p:nvSpPr>
        <p:spPr>
          <a:xfrm flipV="1">
            <a:off x="885557" y="3481005"/>
            <a:ext cx="674277" cy="389381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0" name="S05-mark196"/>
          <p:cNvSpPr/>
          <p:nvPr/>
        </p:nvSpPr>
        <p:spPr>
          <a:xfrm flipH="1" flipV="1">
            <a:off x="3021309" y="3481005"/>
            <a:ext cx="674277" cy="389381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1" name="S05-label198"/>
          <p:cNvSpPr txBox="1"/>
          <p:nvPr/>
        </p:nvSpPr>
        <p:spPr>
          <a:xfrm>
            <a:off x="440690" y="3841778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</a:t>
            </a:r>
            <a:endParaRPr lang="ko-KR" sz="2200" dirty="0"/>
          </a:p>
        </p:txBody>
      </p:sp>
      <p:sp>
        <p:nvSpPr>
          <p:cNvPr id="22" name="S05-label200"/>
          <p:cNvSpPr txBox="1"/>
          <p:nvPr/>
        </p:nvSpPr>
        <p:spPr>
          <a:xfrm>
            <a:off x="3756914" y="3841778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</a:t>
            </a:r>
            <a:endParaRPr lang="ko-KR" sz="2200" dirty="0"/>
          </a:p>
        </p:txBody>
      </p:sp>
      <p:sp>
        <p:nvSpPr>
          <p:cNvPr id="23" name="S05-figure201" descr="위에서 본 모양 ①: 앞줄 2칸, 뒷줄 오른쪽 1칸"/>
          <p:cNvSpPr/>
          <p:nvPr/>
        </p:nvSpPr>
        <p:spPr>
          <a:xfrm>
            <a:off x="5545836" y="2683129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40">
                <a:moveTo>
                  <a:pt x="0" y="548640"/>
                </a:moveTo>
                <a:lnTo>
                  <a:pt x="548640" y="548640"/>
                </a:lnTo>
                <a:lnTo>
                  <a:pt x="54864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4" name="S05-mark202"/>
          <p:cNvSpPr/>
          <p:nvPr/>
        </p:nvSpPr>
        <p:spPr>
          <a:xfrm>
            <a:off x="6094476" y="2683129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40">
                <a:moveTo>
                  <a:pt x="0" y="548640"/>
                </a:moveTo>
                <a:lnTo>
                  <a:pt x="548640" y="548640"/>
                </a:lnTo>
                <a:lnTo>
                  <a:pt x="54864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05-mark203"/>
          <p:cNvSpPr/>
          <p:nvPr/>
        </p:nvSpPr>
        <p:spPr>
          <a:xfrm>
            <a:off x="6094476" y="2134489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40">
                <a:moveTo>
                  <a:pt x="0" y="548640"/>
                </a:moveTo>
                <a:lnTo>
                  <a:pt x="548640" y="548640"/>
                </a:lnTo>
                <a:lnTo>
                  <a:pt x="54864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6" name="S05-label205"/>
          <p:cNvSpPr txBox="1"/>
          <p:nvPr/>
        </p:nvSpPr>
        <p:spPr>
          <a:xfrm>
            <a:off x="5902706" y="3358896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</a:t>
            </a:r>
            <a:endParaRPr lang="ko-KR" sz="2200" dirty="0"/>
          </a:p>
        </p:txBody>
      </p:sp>
      <p:sp>
        <p:nvSpPr>
          <p:cNvPr id="27" name="S05-label206"/>
          <p:cNvSpPr txBox="1"/>
          <p:nvPr/>
        </p:nvSpPr>
        <p:spPr>
          <a:xfrm>
            <a:off x="4352544" y="4415282"/>
            <a:ext cx="348386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위에서 본 모양 ①</a:t>
            </a:r>
            <a:endParaRPr lang="ko-KR" sz="2200" dirty="0"/>
          </a:p>
        </p:txBody>
      </p:sp>
      <p:sp>
        <p:nvSpPr>
          <p:cNvPr id="28" name="S05-figure207" descr="위에서 본 모양 ②: 앞줄 2칸, 뒷줄 2칸(네 칸 모두)"/>
          <p:cNvSpPr/>
          <p:nvPr/>
        </p:nvSpPr>
        <p:spPr>
          <a:xfrm>
            <a:off x="9349740" y="2683129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40">
                <a:moveTo>
                  <a:pt x="0" y="548640"/>
                </a:moveTo>
                <a:lnTo>
                  <a:pt x="548640" y="548640"/>
                </a:lnTo>
                <a:lnTo>
                  <a:pt x="54864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9" name="S05-mark208"/>
          <p:cNvSpPr/>
          <p:nvPr/>
        </p:nvSpPr>
        <p:spPr>
          <a:xfrm>
            <a:off x="9349740" y="2134489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40">
                <a:moveTo>
                  <a:pt x="0" y="548640"/>
                </a:moveTo>
                <a:lnTo>
                  <a:pt x="548640" y="548640"/>
                </a:lnTo>
                <a:lnTo>
                  <a:pt x="54864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0" name="S05-mark209"/>
          <p:cNvSpPr/>
          <p:nvPr/>
        </p:nvSpPr>
        <p:spPr>
          <a:xfrm>
            <a:off x="9898380" y="2683129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40">
                <a:moveTo>
                  <a:pt x="0" y="548640"/>
                </a:moveTo>
                <a:lnTo>
                  <a:pt x="548640" y="548640"/>
                </a:lnTo>
                <a:lnTo>
                  <a:pt x="54864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1" name="S05-mark210"/>
          <p:cNvSpPr/>
          <p:nvPr/>
        </p:nvSpPr>
        <p:spPr>
          <a:xfrm>
            <a:off x="9898380" y="2134489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40">
                <a:moveTo>
                  <a:pt x="0" y="548640"/>
                </a:moveTo>
                <a:lnTo>
                  <a:pt x="548640" y="548640"/>
                </a:lnTo>
                <a:lnTo>
                  <a:pt x="54864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2" name="S05-label212"/>
          <p:cNvSpPr txBox="1"/>
          <p:nvPr/>
        </p:nvSpPr>
        <p:spPr>
          <a:xfrm>
            <a:off x="9706610" y="3358896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</a:t>
            </a:r>
            <a:endParaRPr lang="ko-KR" sz="2200" dirty="0"/>
          </a:p>
        </p:txBody>
      </p:sp>
      <p:sp>
        <p:nvSpPr>
          <p:cNvPr id="33" name="S05-label213"/>
          <p:cNvSpPr txBox="1"/>
          <p:nvPr/>
        </p:nvSpPr>
        <p:spPr>
          <a:xfrm>
            <a:off x="8156448" y="4415282"/>
            <a:ext cx="348386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위에서 본 모양 ②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위에서 본 모양에 수 쓰기</a:t>
            </a:r>
            <a:endParaRPr lang="ko-KR" sz="4000" dirty="0"/>
          </a:p>
        </p:txBody>
      </p:sp>
      <p:sp>
        <p:nvSpPr>
          <p:cNvPr id="3" name="S06-card214"/>
          <p:cNvSpPr/>
          <p:nvPr/>
        </p:nvSpPr>
        <p:spPr>
          <a:xfrm>
            <a:off x="548640" y="5037836"/>
            <a:ext cx="543153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215"/>
          <p:cNvSpPr txBox="1"/>
          <p:nvPr/>
        </p:nvSpPr>
        <p:spPr>
          <a:xfrm>
            <a:off x="822960" y="5174996"/>
            <a:ext cx="488289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수를 모두 더해요.</a:t>
            </a:r>
            <a:endParaRPr lang="ko-KR" sz="2800" dirty="0"/>
          </a:p>
        </p:txBody>
      </p:sp>
      <p:sp>
        <p:nvSpPr>
          <p:cNvPr id="5" name="S06-card216"/>
          <p:cNvSpPr/>
          <p:nvPr/>
        </p:nvSpPr>
        <p:spPr>
          <a:xfrm>
            <a:off x="6208776" y="5037836"/>
            <a:ext cx="543153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6-cardtext217"/>
          <p:cNvSpPr txBox="1"/>
          <p:nvPr/>
        </p:nvSpPr>
        <p:spPr>
          <a:xfrm>
            <a:off x="6483096" y="5174996"/>
            <a:ext cx="488289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앞·옆에서 본 모양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줄마다 가장 큰 수만큼</a:t>
            </a:r>
            <a:endParaRPr lang="ko-KR" sz="2800" dirty="0"/>
          </a:p>
        </p:txBody>
      </p:sp>
      <p:sp>
        <p:nvSpPr>
          <p:cNvPr id="7" name="S06-figure218" descr="쌓기나무 9개로 쌓은 모양: 앞줄은 왼쪽부터 1층, 2층, 1층, 뒷줄은 왼쪽부터 2층, 3층"/>
          <p:cNvSpPr/>
          <p:nvPr/>
        </p:nvSpPr>
        <p:spPr>
          <a:xfrm>
            <a:off x="2236554" y="2404415"/>
            <a:ext cx="1148564" cy="663143"/>
          </a:xfrm>
          <a:custGeom>
            <a:avLst/>
            <a:gdLst/>
            <a:ahLst/>
            <a:cxnLst/>
            <a:rect l="l" t="t" r="r" b="b"/>
            <a:pathLst>
              <a:path w="1148564" h="663143">
                <a:moveTo>
                  <a:pt x="0" y="331572"/>
                </a:moveTo>
                <a:lnTo>
                  <a:pt x="574282" y="663143"/>
                </a:lnTo>
                <a:lnTo>
                  <a:pt x="1148564" y="331572"/>
                </a:lnTo>
                <a:lnTo>
                  <a:pt x="574282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6-mark219"/>
          <p:cNvSpPr/>
          <p:nvPr/>
        </p:nvSpPr>
        <p:spPr>
          <a:xfrm>
            <a:off x="2236554" y="2735986"/>
            <a:ext cx="574282" cy="994715"/>
          </a:xfrm>
          <a:custGeom>
            <a:avLst/>
            <a:gdLst/>
            <a:ahLst/>
            <a:cxnLst/>
            <a:rect l="l" t="t" r="r" b="b"/>
            <a:pathLst>
              <a:path w="574282" h="994715">
                <a:moveTo>
                  <a:pt x="0" y="663143"/>
                </a:moveTo>
                <a:lnTo>
                  <a:pt x="574282" y="994715"/>
                </a:lnTo>
                <a:lnTo>
                  <a:pt x="574282" y="331572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6-mark220"/>
          <p:cNvSpPr/>
          <p:nvPr/>
        </p:nvSpPr>
        <p:spPr>
          <a:xfrm>
            <a:off x="2810836" y="2735986"/>
            <a:ext cx="574282" cy="994715"/>
          </a:xfrm>
          <a:custGeom>
            <a:avLst/>
            <a:gdLst/>
            <a:ahLst/>
            <a:cxnLst/>
            <a:rect l="l" t="t" r="r" b="b"/>
            <a:pathLst>
              <a:path w="574282" h="994715">
                <a:moveTo>
                  <a:pt x="0" y="994715"/>
                </a:moveTo>
                <a:lnTo>
                  <a:pt x="574282" y="663143"/>
                </a:lnTo>
                <a:lnTo>
                  <a:pt x="574282" y="0"/>
                </a:lnTo>
                <a:lnTo>
                  <a:pt x="0" y="331572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06-mark221"/>
          <p:cNvSpPr/>
          <p:nvPr/>
        </p:nvSpPr>
        <p:spPr>
          <a:xfrm>
            <a:off x="1662272" y="2735986"/>
            <a:ext cx="1148564" cy="663143"/>
          </a:xfrm>
          <a:custGeom>
            <a:avLst/>
            <a:gdLst/>
            <a:ahLst/>
            <a:cxnLst/>
            <a:rect l="l" t="t" r="r" b="b"/>
            <a:pathLst>
              <a:path w="1148564" h="663143">
                <a:moveTo>
                  <a:pt x="0" y="331572"/>
                </a:moveTo>
                <a:lnTo>
                  <a:pt x="574282" y="663143"/>
                </a:lnTo>
                <a:lnTo>
                  <a:pt x="1148564" y="331572"/>
                </a:lnTo>
                <a:lnTo>
                  <a:pt x="574282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06-mark222"/>
          <p:cNvSpPr/>
          <p:nvPr/>
        </p:nvSpPr>
        <p:spPr>
          <a:xfrm>
            <a:off x="1662272" y="3067558"/>
            <a:ext cx="574282" cy="994715"/>
          </a:xfrm>
          <a:custGeom>
            <a:avLst/>
            <a:gdLst/>
            <a:ahLst/>
            <a:cxnLst/>
            <a:rect l="l" t="t" r="r" b="b"/>
            <a:pathLst>
              <a:path w="574282" h="994715">
                <a:moveTo>
                  <a:pt x="0" y="663143"/>
                </a:moveTo>
                <a:lnTo>
                  <a:pt x="574282" y="994715"/>
                </a:lnTo>
                <a:lnTo>
                  <a:pt x="574282" y="331572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2" name="S06-mark223"/>
          <p:cNvSpPr/>
          <p:nvPr/>
        </p:nvSpPr>
        <p:spPr>
          <a:xfrm>
            <a:off x="2236554" y="3067558"/>
            <a:ext cx="574282" cy="994715"/>
          </a:xfrm>
          <a:custGeom>
            <a:avLst/>
            <a:gdLst/>
            <a:ahLst/>
            <a:cxnLst/>
            <a:rect l="l" t="t" r="r" b="b"/>
            <a:pathLst>
              <a:path w="574282" h="994715">
                <a:moveTo>
                  <a:pt x="0" y="994715"/>
                </a:moveTo>
                <a:lnTo>
                  <a:pt x="574282" y="663143"/>
                </a:lnTo>
                <a:lnTo>
                  <a:pt x="574282" y="0"/>
                </a:lnTo>
                <a:lnTo>
                  <a:pt x="0" y="331572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06-mark224"/>
          <p:cNvSpPr/>
          <p:nvPr/>
        </p:nvSpPr>
        <p:spPr>
          <a:xfrm>
            <a:off x="2810836" y="2735986"/>
            <a:ext cx="1148564" cy="663143"/>
          </a:xfrm>
          <a:custGeom>
            <a:avLst/>
            <a:gdLst/>
            <a:ahLst/>
            <a:cxnLst/>
            <a:rect l="l" t="t" r="r" b="b"/>
            <a:pathLst>
              <a:path w="1148564" h="663143">
                <a:moveTo>
                  <a:pt x="0" y="331572"/>
                </a:moveTo>
                <a:lnTo>
                  <a:pt x="574282" y="663143"/>
                </a:lnTo>
                <a:lnTo>
                  <a:pt x="1148564" y="331572"/>
                </a:lnTo>
                <a:lnTo>
                  <a:pt x="574282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4" name="S06-mark225"/>
          <p:cNvSpPr/>
          <p:nvPr/>
        </p:nvSpPr>
        <p:spPr>
          <a:xfrm>
            <a:off x="2810836" y="3067558"/>
            <a:ext cx="574282" cy="994715"/>
          </a:xfrm>
          <a:custGeom>
            <a:avLst/>
            <a:gdLst/>
            <a:ahLst/>
            <a:cxnLst/>
            <a:rect l="l" t="t" r="r" b="b"/>
            <a:pathLst>
              <a:path w="574282" h="994715">
                <a:moveTo>
                  <a:pt x="0" y="663143"/>
                </a:moveTo>
                <a:lnTo>
                  <a:pt x="574282" y="994715"/>
                </a:lnTo>
                <a:lnTo>
                  <a:pt x="574282" y="331572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06-mark226"/>
          <p:cNvSpPr/>
          <p:nvPr/>
        </p:nvSpPr>
        <p:spPr>
          <a:xfrm>
            <a:off x="3385119" y="3067558"/>
            <a:ext cx="574282" cy="994715"/>
          </a:xfrm>
          <a:custGeom>
            <a:avLst/>
            <a:gdLst/>
            <a:ahLst/>
            <a:cxnLst/>
            <a:rect l="l" t="t" r="r" b="b"/>
            <a:pathLst>
              <a:path w="574282" h="994715">
                <a:moveTo>
                  <a:pt x="0" y="994715"/>
                </a:moveTo>
                <a:lnTo>
                  <a:pt x="574282" y="663143"/>
                </a:lnTo>
                <a:lnTo>
                  <a:pt x="574282" y="0"/>
                </a:lnTo>
                <a:lnTo>
                  <a:pt x="0" y="331572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6" name="S06-mark227"/>
          <p:cNvSpPr/>
          <p:nvPr/>
        </p:nvSpPr>
        <p:spPr>
          <a:xfrm>
            <a:off x="2236554" y="1741272"/>
            <a:ext cx="1148564" cy="663143"/>
          </a:xfrm>
          <a:custGeom>
            <a:avLst/>
            <a:gdLst/>
            <a:ahLst/>
            <a:cxnLst/>
            <a:rect l="l" t="t" r="r" b="b"/>
            <a:pathLst>
              <a:path w="1148564" h="663143">
                <a:moveTo>
                  <a:pt x="0" y="331572"/>
                </a:moveTo>
                <a:lnTo>
                  <a:pt x="574282" y="663143"/>
                </a:lnTo>
                <a:lnTo>
                  <a:pt x="1148564" y="331572"/>
                </a:lnTo>
                <a:lnTo>
                  <a:pt x="574282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7" name="S06-mark228"/>
          <p:cNvSpPr/>
          <p:nvPr/>
        </p:nvSpPr>
        <p:spPr>
          <a:xfrm>
            <a:off x="2236554" y="2072843"/>
            <a:ext cx="574282" cy="994715"/>
          </a:xfrm>
          <a:custGeom>
            <a:avLst/>
            <a:gdLst/>
            <a:ahLst/>
            <a:cxnLst/>
            <a:rect l="l" t="t" r="r" b="b"/>
            <a:pathLst>
              <a:path w="574282" h="994715">
                <a:moveTo>
                  <a:pt x="0" y="663143"/>
                </a:moveTo>
                <a:lnTo>
                  <a:pt x="574282" y="994715"/>
                </a:lnTo>
                <a:lnTo>
                  <a:pt x="574282" y="331572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8" name="S06-mark229"/>
          <p:cNvSpPr/>
          <p:nvPr/>
        </p:nvSpPr>
        <p:spPr>
          <a:xfrm>
            <a:off x="2810836" y="2072843"/>
            <a:ext cx="574282" cy="994715"/>
          </a:xfrm>
          <a:custGeom>
            <a:avLst/>
            <a:gdLst/>
            <a:ahLst/>
            <a:cxnLst/>
            <a:rect l="l" t="t" r="r" b="b"/>
            <a:pathLst>
              <a:path w="574282" h="994715">
                <a:moveTo>
                  <a:pt x="0" y="994715"/>
                </a:moveTo>
                <a:lnTo>
                  <a:pt x="574282" y="663143"/>
                </a:lnTo>
                <a:lnTo>
                  <a:pt x="574282" y="0"/>
                </a:lnTo>
                <a:lnTo>
                  <a:pt x="0" y="331572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9" name="S06-mark230"/>
          <p:cNvSpPr/>
          <p:nvPr/>
        </p:nvSpPr>
        <p:spPr>
          <a:xfrm>
            <a:off x="2236554" y="3067558"/>
            <a:ext cx="1148564" cy="663143"/>
          </a:xfrm>
          <a:custGeom>
            <a:avLst/>
            <a:gdLst/>
            <a:ahLst/>
            <a:cxnLst/>
            <a:rect l="l" t="t" r="r" b="b"/>
            <a:pathLst>
              <a:path w="1148564" h="663143">
                <a:moveTo>
                  <a:pt x="0" y="331572"/>
                </a:moveTo>
                <a:lnTo>
                  <a:pt x="574282" y="663143"/>
                </a:lnTo>
                <a:lnTo>
                  <a:pt x="1148564" y="331572"/>
                </a:lnTo>
                <a:lnTo>
                  <a:pt x="574282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0" name="S06-mark231"/>
          <p:cNvSpPr/>
          <p:nvPr/>
        </p:nvSpPr>
        <p:spPr>
          <a:xfrm>
            <a:off x="2236554" y="3399130"/>
            <a:ext cx="574282" cy="994715"/>
          </a:xfrm>
          <a:custGeom>
            <a:avLst/>
            <a:gdLst/>
            <a:ahLst/>
            <a:cxnLst/>
            <a:rect l="l" t="t" r="r" b="b"/>
            <a:pathLst>
              <a:path w="574282" h="994715">
                <a:moveTo>
                  <a:pt x="0" y="663143"/>
                </a:moveTo>
                <a:lnTo>
                  <a:pt x="574282" y="994715"/>
                </a:lnTo>
                <a:lnTo>
                  <a:pt x="574282" y="331572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1" name="S06-mark232"/>
          <p:cNvSpPr/>
          <p:nvPr/>
        </p:nvSpPr>
        <p:spPr>
          <a:xfrm>
            <a:off x="2810836" y="3399130"/>
            <a:ext cx="574282" cy="994715"/>
          </a:xfrm>
          <a:custGeom>
            <a:avLst/>
            <a:gdLst/>
            <a:ahLst/>
            <a:cxnLst/>
            <a:rect l="l" t="t" r="r" b="b"/>
            <a:pathLst>
              <a:path w="574282" h="994715">
                <a:moveTo>
                  <a:pt x="0" y="994715"/>
                </a:moveTo>
                <a:lnTo>
                  <a:pt x="574282" y="663143"/>
                </a:lnTo>
                <a:lnTo>
                  <a:pt x="574282" y="0"/>
                </a:lnTo>
                <a:lnTo>
                  <a:pt x="0" y="331572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2" name="S06-mark233"/>
          <p:cNvSpPr/>
          <p:nvPr/>
        </p:nvSpPr>
        <p:spPr>
          <a:xfrm>
            <a:off x="2810836" y="2072843"/>
            <a:ext cx="1148564" cy="663143"/>
          </a:xfrm>
          <a:custGeom>
            <a:avLst/>
            <a:gdLst/>
            <a:ahLst/>
            <a:cxnLst/>
            <a:rect l="l" t="t" r="r" b="b"/>
            <a:pathLst>
              <a:path w="1148564" h="663143">
                <a:moveTo>
                  <a:pt x="0" y="331572"/>
                </a:moveTo>
                <a:lnTo>
                  <a:pt x="574282" y="663143"/>
                </a:lnTo>
                <a:lnTo>
                  <a:pt x="1148564" y="331572"/>
                </a:lnTo>
                <a:lnTo>
                  <a:pt x="574282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3" name="S06-mark234"/>
          <p:cNvSpPr/>
          <p:nvPr/>
        </p:nvSpPr>
        <p:spPr>
          <a:xfrm>
            <a:off x="2810836" y="2404415"/>
            <a:ext cx="574282" cy="994715"/>
          </a:xfrm>
          <a:custGeom>
            <a:avLst/>
            <a:gdLst/>
            <a:ahLst/>
            <a:cxnLst/>
            <a:rect l="l" t="t" r="r" b="b"/>
            <a:pathLst>
              <a:path w="574282" h="994715">
                <a:moveTo>
                  <a:pt x="0" y="663143"/>
                </a:moveTo>
                <a:lnTo>
                  <a:pt x="574282" y="994715"/>
                </a:lnTo>
                <a:lnTo>
                  <a:pt x="574282" y="331572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4" name="S06-mark235"/>
          <p:cNvSpPr/>
          <p:nvPr/>
        </p:nvSpPr>
        <p:spPr>
          <a:xfrm>
            <a:off x="3385119" y="2404415"/>
            <a:ext cx="574282" cy="994715"/>
          </a:xfrm>
          <a:custGeom>
            <a:avLst/>
            <a:gdLst/>
            <a:ahLst/>
            <a:cxnLst/>
            <a:rect l="l" t="t" r="r" b="b"/>
            <a:pathLst>
              <a:path w="574282" h="994715">
                <a:moveTo>
                  <a:pt x="0" y="994715"/>
                </a:moveTo>
                <a:lnTo>
                  <a:pt x="574282" y="663143"/>
                </a:lnTo>
                <a:lnTo>
                  <a:pt x="574282" y="0"/>
                </a:lnTo>
                <a:lnTo>
                  <a:pt x="0" y="331572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06-mark236"/>
          <p:cNvSpPr/>
          <p:nvPr/>
        </p:nvSpPr>
        <p:spPr>
          <a:xfrm>
            <a:off x="2810836" y="3399130"/>
            <a:ext cx="1148564" cy="663143"/>
          </a:xfrm>
          <a:custGeom>
            <a:avLst/>
            <a:gdLst/>
            <a:ahLst/>
            <a:cxnLst/>
            <a:rect l="l" t="t" r="r" b="b"/>
            <a:pathLst>
              <a:path w="1148564" h="663143">
                <a:moveTo>
                  <a:pt x="0" y="331572"/>
                </a:moveTo>
                <a:lnTo>
                  <a:pt x="574282" y="663143"/>
                </a:lnTo>
                <a:lnTo>
                  <a:pt x="1148564" y="331572"/>
                </a:lnTo>
                <a:lnTo>
                  <a:pt x="574282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6" name="S06-mark237"/>
          <p:cNvSpPr/>
          <p:nvPr/>
        </p:nvSpPr>
        <p:spPr>
          <a:xfrm>
            <a:off x="2810836" y="3730701"/>
            <a:ext cx="574282" cy="994715"/>
          </a:xfrm>
          <a:custGeom>
            <a:avLst/>
            <a:gdLst/>
            <a:ahLst/>
            <a:cxnLst/>
            <a:rect l="l" t="t" r="r" b="b"/>
            <a:pathLst>
              <a:path w="574282" h="994715">
                <a:moveTo>
                  <a:pt x="0" y="663143"/>
                </a:moveTo>
                <a:lnTo>
                  <a:pt x="574282" y="994715"/>
                </a:lnTo>
                <a:lnTo>
                  <a:pt x="574282" y="331572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7" name="S06-mark238"/>
          <p:cNvSpPr/>
          <p:nvPr/>
        </p:nvSpPr>
        <p:spPr>
          <a:xfrm>
            <a:off x="3385119" y="3730701"/>
            <a:ext cx="574282" cy="994715"/>
          </a:xfrm>
          <a:custGeom>
            <a:avLst/>
            <a:gdLst/>
            <a:ahLst/>
            <a:cxnLst/>
            <a:rect l="l" t="t" r="r" b="b"/>
            <a:pathLst>
              <a:path w="574282" h="994715">
                <a:moveTo>
                  <a:pt x="0" y="994715"/>
                </a:moveTo>
                <a:lnTo>
                  <a:pt x="574282" y="663143"/>
                </a:lnTo>
                <a:lnTo>
                  <a:pt x="574282" y="0"/>
                </a:lnTo>
                <a:lnTo>
                  <a:pt x="0" y="331572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8" name="S06-mark239"/>
          <p:cNvSpPr/>
          <p:nvPr/>
        </p:nvSpPr>
        <p:spPr>
          <a:xfrm>
            <a:off x="2236554" y="2404415"/>
            <a:ext cx="1148564" cy="663143"/>
          </a:xfrm>
          <a:custGeom>
            <a:avLst/>
            <a:gdLst/>
            <a:ahLst/>
            <a:cxnLst/>
            <a:rect l="l" t="t" r="r" b="b"/>
            <a:pathLst>
              <a:path w="1148564" h="663143">
                <a:moveTo>
                  <a:pt x="0" y="331572"/>
                </a:moveTo>
                <a:lnTo>
                  <a:pt x="574282" y="663143"/>
                </a:lnTo>
                <a:lnTo>
                  <a:pt x="1148564" y="331572"/>
                </a:lnTo>
                <a:lnTo>
                  <a:pt x="574282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9" name="S06-mark240"/>
          <p:cNvSpPr/>
          <p:nvPr/>
        </p:nvSpPr>
        <p:spPr>
          <a:xfrm>
            <a:off x="2236554" y="2735986"/>
            <a:ext cx="574282" cy="994715"/>
          </a:xfrm>
          <a:custGeom>
            <a:avLst/>
            <a:gdLst/>
            <a:ahLst/>
            <a:cxnLst/>
            <a:rect l="l" t="t" r="r" b="b"/>
            <a:pathLst>
              <a:path w="574282" h="994715">
                <a:moveTo>
                  <a:pt x="0" y="663143"/>
                </a:moveTo>
                <a:lnTo>
                  <a:pt x="574282" y="994715"/>
                </a:lnTo>
                <a:lnTo>
                  <a:pt x="574282" y="331572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0" name="S06-mark241"/>
          <p:cNvSpPr/>
          <p:nvPr/>
        </p:nvSpPr>
        <p:spPr>
          <a:xfrm>
            <a:off x="2810836" y="2735986"/>
            <a:ext cx="574282" cy="994715"/>
          </a:xfrm>
          <a:custGeom>
            <a:avLst/>
            <a:gdLst/>
            <a:ahLst/>
            <a:cxnLst/>
            <a:rect l="l" t="t" r="r" b="b"/>
            <a:pathLst>
              <a:path w="574282" h="994715">
                <a:moveTo>
                  <a:pt x="0" y="994715"/>
                </a:moveTo>
                <a:lnTo>
                  <a:pt x="574282" y="663143"/>
                </a:lnTo>
                <a:lnTo>
                  <a:pt x="574282" y="0"/>
                </a:lnTo>
                <a:lnTo>
                  <a:pt x="0" y="331572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1" name="S06-mark242"/>
          <p:cNvSpPr/>
          <p:nvPr/>
        </p:nvSpPr>
        <p:spPr>
          <a:xfrm>
            <a:off x="2810836" y="1409700"/>
            <a:ext cx="1148564" cy="663143"/>
          </a:xfrm>
          <a:custGeom>
            <a:avLst/>
            <a:gdLst/>
            <a:ahLst/>
            <a:cxnLst/>
            <a:rect l="l" t="t" r="r" b="b"/>
            <a:pathLst>
              <a:path w="1148564" h="663143">
                <a:moveTo>
                  <a:pt x="0" y="331572"/>
                </a:moveTo>
                <a:lnTo>
                  <a:pt x="574282" y="663143"/>
                </a:lnTo>
                <a:lnTo>
                  <a:pt x="1148564" y="331572"/>
                </a:lnTo>
                <a:lnTo>
                  <a:pt x="574282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2" name="S06-mark243"/>
          <p:cNvSpPr/>
          <p:nvPr/>
        </p:nvSpPr>
        <p:spPr>
          <a:xfrm>
            <a:off x="2810836" y="1741272"/>
            <a:ext cx="574282" cy="994715"/>
          </a:xfrm>
          <a:custGeom>
            <a:avLst/>
            <a:gdLst/>
            <a:ahLst/>
            <a:cxnLst/>
            <a:rect l="l" t="t" r="r" b="b"/>
            <a:pathLst>
              <a:path w="574282" h="994715">
                <a:moveTo>
                  <a:pt x="0" y="663143"/>
                </a:moveTo>
                <a:lnTo>
                  <a:pt x="574282" y="994715"/>
                </a:lnTo>
                <a:lnTo>
                  <a:pt x="574282" y="331572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3" name="S06-mark244"/>
          <p:cNvSpPr/>
          <p:nvPr/>
        </p:nvSpPr>
        <p:spPr>
          <a:xfrm>
            <a:off x="3385119" y="1741272"/>
            <a:ext cx="574282" cy="994715"/>
          </a:xfrm>
          <a:custGeom>
            <a:avLst/>
            <a:gdLst/>
            <a:ahLst/>
            <a:cxnLst/>
            <a:rect l="l" t="t" r="r" b="b"/>
            <a:pathLst>
              <a:path w="574282" h="994715">
                <a:moveTo>
                  <a:pt x="0" y="994715"/>
                </a:moveTo>
                <a:lnTo>
                  <a:pt x="574282" y="663143"/>
                </a:lnTo>
                <a:lnTo>
                  <a:pt x="574282" y="0"/>
                </a:lnTo>
                <a:lnTo>
                  <a:pt x="0" y="331572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4" name="S06-mark245"/>
          <p:cNvSpPr/>
          <p:nvPr/>
        </p:nvSpPr>
        <p:spPr>
          <a:xfrm flipV="1">
            <a:off x="1662272" y="3995958"/>
            <a:ext cx="689006" cy="397886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5" name="S06-mark246"/>
          <p:cNvSpPr/>
          <p:nvPr/>
        </p:nvSpPr>
        <p:spPr>
          <a:xfrm flipH="1" flipV="1">
            <a:off x="4131818" y="4161744"/>
            <a:ext cx="689006" cy="397886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6" name="S06-label248"/>
          <p:cNvSpPr txBox="1"/>
          <p:nvPr/>
        </p:nvSpPr>
        <p:spPr>
          <a:xfrm>
            <a:off x="1211877" y="4368427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</a:t>
            </a:r>
            <a:endParaRPr lang="ko-KR" sz="2200" dirty="0"/>
          </a:p>
        </p:txBody>
      </p:sp>
      <p:sp>
        <p:nvSpPr>
          <p:cNvPr id="37" name="S06-label250"/>
          <p:cNvSpPr txBox="1"/>
          <p:nvPr/>
        </p:nvSpPr>
        <p:spPr>
          <a:xfrm>
            <a:off x="4887679" y="4534212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</a:t>
            </a:r>
            <a:endParaRPr lang="ko-KR" sz="2200" dirty="0"/>
          </a:p>
        </p:txBody>
      </p:sp>
      <p:sp>
        <p:nvSpPr>
          <p:cNvPr id="38" name="S06-figure251" descr="위에서 본 모양에 수를 씀: 뒷줄 2, 3 / 앞줄 1, 2, 1"/>
          <p:cNvSpPr/>
          <p:nvPr/>
        </p:nvSpPr>
        <p:spPr>
          <a:xfrm>
            <a:off x="7575804" y="2590927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0" y="914400"/>
                </a:moveTo>
                <a:lnTo>
                  <a:pt x="914400" y="914400"/>
                </a:lnTo>
                <a:lnTo>
                  <a:pt x="914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9" name="S06-mark252"/>
          <p:cNvSpPr/>
          <p:nvPr/>
        </p:nvSpPr>
        <p:spPr>
          <a:xfrm>
            <a:off x="7575804" y="1676527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0" y="914400"/>
                </a:moveTo>
                <a:lnTo>
                  <a:pt x="914400" y="914400"/>
                </a:lnTo>
                <a:lnTo>
                  <a:pt x="914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0" name="S06-mark253"/>
          <p:cNvSpPr/>
          <p:nvPr/>
        </p:nvSpPr>
        <p:spPr>
          <a:xfrm>
            <a:off x="8490204" y="2590927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0" y="914400"/>
                </a:moveTo>
                <a:lnTo>
                  <a:pt x="914400" y="914400"/>
                </a:lnTo>
                <a:lnTo>
                  <a:pt x="914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1" name="S06-mark254"/>
          <p:cNvSpPr/>
          <p:nvPr/>
        </p:nvSpPr>
        <p:spPr>
          <a:xfrm>
            <a:off x="8490204" y="1676527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0" y="914400"/>
                </a:moveTo>
                <a:lnTo>
                  <a:pt x="914400" y="914400"/>
                </a:lnTo>
                <a:lnTo>
                  <a:pt x="914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2" name="S06-mark255"/>
          <p:cNvSpPr/>
          <p:nvPr/>
        </p:nvSpPr>
        <p:spPr>
          <a:xfrm>
            <a:off x="9404604" y="2590927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0" y="914400"/>
                </a:moveTo>
                <a:lnTo>
                  <a:pt x="914400" y="914400"/>
                </a:lnTo>
                <a:lnTo>
                  <a:pt x="914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3" name="S06-label257"/>
          <p:cNvSpPr txBox="1"/>
          <p:nvPr/>
        </p:nvSpPr>
        <p:spPr>
          <a:xfrm>
            <a:off x="7885938" y="2873502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44" name="S06-label259"/>
          <p:cNvSpPr txBox="1"/>
          <p:nvPr/>
        </p:nvSpPr>
        <p:spPr>
          <a:xfrm>
            <a:off x="7885938" y="1959102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45" name="S06-label261"/>
          <p:cNvSpPr txBox="1"/>
          <p:nvPr/>
        </p:nvSpPr>
        <p:spPr>
          <a:xfrm>
            <a:off x="8800338" y="2873502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46" name="S06-label263"/>
          <p:cNvSpPr txBox="1"/>
          <p:nvPr/>
        </p:nvSpPr>
        <p:spPr>
          <a:xfrm>
            <a:off x="8800338" y="1959102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47" name="S06-label265"/>
          <p:cNvSpPr txBox="1"/>
          <p:nvPr/>
        </p:nvSpPr>
        <p:spPr>
          <a:xfrm>
            <a:off x="9714738" y="2873502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48" name="S06-label267"/>
          <p:cNvSpPr txBox="1"/>
          <p:nvPr/>
        </p:nvSpPr>
        <p:spPr>
          <a:xfrm>
            <a:off x="8755634" y="3833622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</a:t>
            </a:r>
            <a:endParaRPr lang="ko-KR" sz="2200" dirty="0"/>
          </a:p>
        </p:txBody>
      </p:sp>
      <p:sp>
        <p:nvSpPr>
          <p:cNvPr id="49" name="S06-label268"/>
          <p:cNvSpPr txBox="1"/>
          <p:nvPr/>
        </p:nvSpPr>
        <p:spPr>
          <a:xfrm>
            <a:off x="6254496" y="4432046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자리마다 쌓은 개수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층별로 나타낸 모양</a:t>
            </a:r>
            <a:endParaRPr lang="ko-KR" sz="4000" dirty="0"/>
          </a:p>
        </p:txBody>
      </p:sp>
      <p:sp>
        <p:nvSpPr>
          <p:cNvPr id="3" name="S07-card26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27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층마다 색칠한 칸을 세어 더해요. 5 + 2 + 1 = 8</a:t>
            </a:r>
            <a:endParaRPr lang="ko-KR" sz="2800" dirty="0"/>
          </a:p>
        </p:txBody>
      </p:sp>
      <p:sp>
        <p:nvSpPr>
          <p:cNvPr id="5" name="S07-figure271" descr="쌓기나무 8개로 쌓은 모양: 앞줄은 왼쪽부터 3층, 1층, 1층, 뒷줄은 왼쪽부터 2층, 1층"/>
          <p:cNvSpPr/>
          <p:nvPr/>
        </p:nvSpPr>
        <p:spPr>
          <a:xfrm>
            <a:off x="1324124" y="2656332"/>
            <a:ext cx="981919" cy="566928"/>
          </a:xfrm>
          <a:custGeom>
            <a:avLst/>
            <a:gdLst/>
            <a:ahLst/>
            <a:cxnLst/>
            <a:rect l="l" t="t" r="r" b="b"/>
            <a:pathLst>
              <a:path w="981919" h="566928">
                <a:moveTo>
                  <a:pt x="0" y="283464"/>
                </a:moveTo>
                <a:lnTo>
                  <a:pt x="490960" y="566928"/>
                </a:lnTo>
                <a:lnTo>
                  <a:pt x="981919" y="283464"/>
                </a:lnTo>
                <a:lnTo>
                  <a:pt x="49096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7-mark272"/>
          <p:cNvSpPr/>
          <p:nvPr/>
        </p:nvSpPr>
        <p:spPr>
          <a:xfrm>
            <a:off x="1324124" y="2939796"/>
            <a:ext cx="490960" cy="850392"/>
          </a:xfrm>
          <a:custGeom>
            <a:avLst/>
            <a:gdLst/>
            <a:ahLst/>
            <a:cxnLst/>
            <a:rect l="l" t="t" r="r" b="b"/>
            <a:pathLst>
              <a:path w="490960" h="850392">
                <a:moveTo>
                  <a:pt x="0" y="566928"/>
                </a:moveTo>
                <a:lnTo>
                  <a:pt x="490960" y="850392"/>
                </a:lnTo>
                <a:lnTo>
                  <a:pt x="490960" y="283464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7-mark273"/>
          <p:cNvSpPr/>
          <p:nvPr/>
        </p:nvSpPr>
        <p:spPr>
          <a:xfrm>
            <a:off x="1815084" y="2939796"/>
            <a:ext cx="490960" cy="850392"/>
          </a:xfrm>
          <a:custGeom>
            <a:avLst/>
            <a:gdLst/>
            <a:ahLst/>
            <a:cxnLst/>
            <a:rect l="l" t="t" r="r" b="b"/>
            <a:pathLst>
              <a:path w="490960" h="850392">
                <a:moveTo>
                  <a:pt x="0" y="850392"/>
                </a:moveTo>
                <a:lnTo>
                  <a:pt x="490960" y="566928"/>
                </a:lnTo>
                <a:lnTo>
                  <a:pt x="490960" y="0"/>
                </a:lnTo>
                <a:lnTo>
                  <a:pt x="0" y="283464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7-mark274"/>
          <p:cNvSpPr/>
          <p:nvPr/>
        </p:nvSpPr>
        <p:spPr>
          <a:xfrm>
            <a:off x="833165" y="2939796"/>
            <a:ext cx="981919" cy="566928"/>
          </a:xfrm>
          <a:custGeom>
            <a:avLst/>
            <a:gdLst/>
            <a:ahLst/>
            <a:cxnLst/>
            <a:rect l="l" t="t" r="r" b="b"/>
            <a:pathLst>
              <a:path w="981919" h="566928">
                <a:moveTo>
                  <a:pt x="0" y="283464"/>
                </a:moveTo>
                <a:lnTo>
                  <a:pt x="490960" y="566928"/>
                </a:lnTo>
                <a:lnTo>
                  <a:pt x="981919" y="283464"/>
                </a:lnTo>
                <a:lnTo>
                  <a:pt x="49096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7-mark275"/>
          <p:cNvSpPr/>
          <p:nvPr/>
        </p:nvSpPr>
        <p:spPr>
          <a:xfrm>
            <a:off x="833165" y="3223260"/>
            <a:ext cx="490960" cy="850392"/>
          </a:xfrm>
          <a:custGeom>
            <a:avLst/>
            <a:gdLst/>
            <a:ahLst/>
            <a:cxnLst/>
            <a:rect l="l" t="t" r="r" b="b"/>
            <a:pathLst>
              <a:path w="490960" h="850392">
                <a:moveTo>
                  <a:pt x="0" y="566928"/>
                </a:moveTo>
                <a:lnTo>
                  <a:pt x="490960" y="850392"/>
                </a:lnTo>
                <a:lnTo>
                  <a:pt x="490960" y="283464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07-mark276"/>
          <p:cNvSpPr/>
          <p:nvPr/>
        </p:nvSpPr>
        <p:spPr>
          <a:xfrm>
            <a:off x="1324124" y="3223260"/>
            <a:ext cx="490960" cy="850392"/>
          </a:xfrm>
          <a:custGeom>
            <a:avLst/>
            <a:gdLst/>
            <a:ahLst/>
            <a:cxnLst/>
            <a:rect l="l" t="t" r="r" b="b"/>
            <a:pathLst>
              <a:path w="490960" h="850392">
                <a:moveTo>
                  <a:pt x="0" y="850392"/>
                </a:moveTo>
                <a:lnTo>
                  <a:pt x="490960" y="566928"/>
                </a:lnTo>
                <a:lnTo>
                  <a:pt x="490960" y="0"/>
                </a:lnTo>
                <a:lnTo>
                  <a:pt x="0" y="283464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07-mark277"/>
          <p:cNvSpPr/>
          <p:nvPr/>
        </p:nvSpPr>
        <p:spPr>
          <a:xfrm>
            <a:off x="1815084" y="2939796"/>
            <a:ext cx="981919" cy="566928"/>
          </a:xfrm>
          <a:custGeom>
            <a:avLst/>
            <a:gdLst/>
            <a:ahLst/>
            <a:cxnLst/>
            <a:rect l="l" t="t" r="r" b="b"/>
            <a:pathLst>
              <a:path w="981919" h="566928">
                <a:moveTo>
                  <a:pt x="0" y="283464"/>
                </a:moveTo>
                <a:lnTo>
                  <a:pt x="490960" y="566928"/>
                </a:lnTo>
                <a:lnTo>
                  <a:pt x="981919" y="283464"/>
                </a:lnTo>
                <a:lnTo>
                  <a:pt x="49096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2" name="S07-mark278"/>
          <p:cNvSpPr/>
          <p:nvPr/>
        </p:nvSpPr>
        <p:spPr>
          <a:xfrm>
            <a:off x="1815084" y="3223260"/>
            <a:ext cx="490960" cy="850392"/>
          </a:xfrm>
          <a:custGeom>
            <a:avLst/>
            <a:gdLst/>
            <a:ahLst/>
            <a:cxnLst/>
            <a:rect l="l" t="t" r="r" b="b"/>
            <a:pathLst>
              <a:path w="490960" h="850392">
                <a:moveTo>
                  <a:pt x="0" y="566928"/>
                </a:moveTo>
                <a:lnTo>
                  <a:pt x="490960" y="850392"/>
                </a:lnTo>
                <a:lnTo>
                  <a:pt x="490960" y="283464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07-mark279"/>
          <p:cNvSpPr/>
          <p:nvPr/>
        </p:nvSpPr>
        <p:spPr>
          <a:xfrm>
            <a:off x="2306044" y="3223260"/>
            <a:ext cx="490960" cy="850392"/>
          </a:xfrm>
          <a:custGeom>
            <a:avLst/>
            <a:gdLst/>
            <a:ahLst/>
            <a:cxnLst/>
            <a:rect l="l" t="t" r="r" b="b"/>
            <a:pathLst>
              <a:path w="490960" h="850392">
                <a:moveTo>
                  <a:pt x="0" y="850392"/>
                </a:moveTo>
                <a:lnTo>
                  <a:pt x="490960" y="566928"/>
                </a:lnTo>
                <a:lnTo>
                  <a:pt x="490960" y="0"/>
                </a:lnTo>
                <a:lnTo>
                  <a:pt x="0" y="283464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4" name="S07-mark280"/>
          <p:cNvSpPr/>
          <p:nvPr/>
        </p:nvSpPr>
        <p:spPr>
          <a:xfrm>
            <a:off x="1324124" y="2089404"/>
            <a:ext cx="981919" cy="566928"/>
          </a:xfrm>
          <a:custGeom>
            <a:avLst/>
            <a:gdLst/>
            <a:ahLst/>
            <a:cxnLst/>
            <a:rect l="l" t="t" r="r" b="b"/>
            <a:pathLst>
              <a:path w="981919" h="566928">
                <a:moveTo>
                  <a:pt x="0" y="283464"/>
                </a:moveTo>
                <a:lnTo>
                  <a:pt x="490960" y="566928"/>
                </a:lnTo>
                <a:lnTo>
                  <a:pt x="981919" y="283464"/>
                </a:lnTo>
                <a:lnTo>
                  <a:pt x="49096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07-mark281"/>
          <p:cNvSpPr/>
          <p:nvPr/>
        </p:nvSpPr>
        <p:spPr>
          <a:xfrm>
            <a:off x="1324124" y="2372868"/>
            <a:ext cx="490960" cy="850392"/>
          </a:xfrm>
          <a:custGeom>
            <a:avLst/>
            <a:gdLst/>
            <a:ahLst/>
            <a:cxnLst/>
            <a:rect l="l" t="t" r="r" b="b"/>
            <a:pathLst>
              <a:path w="490960" h="850392">
                <a:moveTo>
                  <a:pt x="0" y="566928"/>
                </a:moveTo>
                <a:lnTo>
                  <a:pt x="490960" y="850392"/>
                </a:lnTo>
                <a:lnTo>
                  <a:pt x="490960" y="283464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6" name="S07-mark282"/>
          <p:cNvSpPr/>
          <p:nvPr/>
        </p:nvSpPr>
        <p:spPr>
          <a:xfrm>
            <a:off x="1815084" y="2372868"/>
            <a:ext cx="490960" cy="850392"/>
          </a:xfrm>
          <a:custGeom>
            <a:avLst/>
            <a:gdLst/>
            <a:ahLst/>
            <a:cxnLst/>
            <a:rect l="l" t="t" r="r" b="b"/>
            <a:pathLst>
              <a:path w="490960" h="850392">
                <a:moveTo>
                  <a:pt x="0" y="850392"/>
                </a:moveTo>
                <a:lnTo>
                  <a:pt x="490960" y="566928"/>
                </a:lnTo>
                <a:lnTo>
                  <a:pt x="490960" y="0"/>
                </a:lnTo>
                <a:lnTo>
                  <a:pt x="0" y="283464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7" name="S07-mark283"/>
          <p:cNvSpPr/>
          <p:nvPr/>
        </p:nvSpPr>
        <p:spPr>
          <a:xfrm>
            <a:off x="1324124" y="3223260"/>
            <a:ext cx="981919" cy="566928"/>
          </a:xfrm>
          <a:custGeom>
            <a:avLst/>
            <a:gdLst/>
            <a:ahLst/>
            <a:cxnLst/>
            <a:rect l="l" t="t" r="r" b="b"/>
            <a:pathLst>
              <a:path w="981919" h="566928">
                <a:moveTo>
                  <a:pt x="0" y="283464"/>
                </a:moveTo>
                <a:lnTo>
                  <a:pt x="490960" y="566928"/>
                </a:lnTo>
                <a:lnTo>
                  <a:pt x="981919" y="283464"/>
                </a:lnTo>
                <a:lnTo>
                  <a:pt x="49096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8" name="S07-mark284"/>
          <p:cNvSpPr/>
          <p:nvPr/>
        </p:nvSpPr>
        <p:spPr>
          <a:xfrm>
            <a:off x="1324124" y="3506724"/>
            <a:ext cx="490960" cy="850392"/>
          </a:xfrm>
          <a:custGeom>
            <a:avLst/>
            <a:gdLst/>
            <a:ahLst/>
            <a:cxnLst/>
            <a:rect l="l" t="t" r="r" b="b"/>
            <a:pathLst>
              <a:path w="490960" h="850392">
                <a:moveTo>
                  <a:pt x="0" y="566928"/>
                </a:moveTo>
                <a:lnTo>
                  <a:pt x="490960" y="850392"/>
                </a:lnTo>
                <a:lnTo>
                  <a:pt x="490960" y="283464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9" name="S07-mark285"/>
          <p:cNvSpPr/>
          <p:nvPr/>
        </p:nvSpPr>
        <p:spPr>
          <a:xfrm>
            <a:off x="1815084" y="3506724"/>
            <a:ext cx="490960" cy="850392"/>
          </a:xfrm>
          <a:custGeom>
            <a:avLst/>
            <a:gdLst/>
            <a:ahLst/>
            <a:cxnLst/>
            <a:rect l="l" t="t" r="r" b="b"/>
            <a:pathLst>
              <a:path w="490960" h="850392">
                <a:moveTo>
                  <a:pt x="0" y="850392"/>
                </a:moveTo>
                <a:lnTo>
                  <a:pt x="490960" y="566928"/>
                </a:lnTo>
                <a:lnTo>
                  <a:pt x="490960" y="0"/>
                </a:lnTo>
                <a:lnTo>
                  <a:pt x="0" y="283464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0" name="S07-mark286"/>
          <p:cNvSpPr/>
          <p:nvPr/>
        </p:nvSpPr>
        <p:spPr>
          <a:xfrm>
            <a:off x="833165" y="2372868"/>
            <a:ext cx="981919" cy="566928"/>
          </a:xfrm>
          <a:custGeom>
            <a:avLst/>
            <a:gdLst/>
            <a:ahLst/>
            <a:cxnLst/>
            <a:rect l="l" t="t" r="r" b="b"/>
            <a:pathLst>
              <a:path w="981919" h="566928">
                <a:moveTo>
                  <a:pt x="0" y="283464"/>
                </a:moveTo>
                <a:lnTo>
                  <a:pt x="490960" y="566928"/>
                </a:lnTo>
                <a:lnTo>
                  <a:pt x="981919" y="283464"/>
                </a:lnTo>
                <a:lnTo>
                  <a:pt x="49096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1" name="S07-mark287"/>
          <p:cNvSpPr/>
          <p:nvPr/>
        </p:nvSpPr>
        <p:spPr>
          <a:xfrm>
            <a:off x="833165" y="2656332"/>
            <a:ext cx="490960" cy="850392"/>
          </a:xfrm>
          <a:custGeom>
            <a:avLst/>
            <a:gdLst/>
            <a:ahLst/>
            <a:cxnLst/>
            <a:rect l="l" t="t" r="r" b="b"/>
            <a:pathLst>
              <a:path w="490960" h="850392">
                <a:moveTo>
                  <a:pt x="0" y="566928"/>
                </a:moveTo>
                <a:lnTo>
                  <a:pt x="490960" y="850392"/>
                </a:lnTo>
                <a:lnTo>
                  <a:pt x="490960" y="283464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2" name="S07-mark288"/>
          <p:cNvSpPr/>
          <p:nvPr/>
        </p:nvSpPr>
        <p:spPr>
          <a:xfrm>
            <a:off x="1324124" y="2656332"/>
            <a:ext cx="490960" cy="850392"/>
          </a:xfrm>
          <a:custGeom>
            <a:avLst/>
            <a:gdLst/>
            <a:ahLst/>
            <a:cxnLst/>
            <a:rect l="l" t="t" r="r" b="b"/>
            <a:pathLst>
              <a:path w="490960" h="850392">
                <a:moveTo>
                  <a:pt x="0" y="850392"/>
                </a:moveTo>
                <a:lnTo>
                  <a:pt x="490960" y="566928"/>
                </a:lnTo>
                <a:lnTo>
                  <a:pt x="490960" y="0"/>
                </a:lnTo>
                <a:lnTo>
                  <a:pt x="0" y="283464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3" name="S07-mark289"/>
          <p:cNvSpPr/>
          <p:nvPr/>
        </p:nvSpPr>
        <p:spPr>
          <a:xfrm>
            <a:off x="1815084" y="3506724"/>
            <a:ext cx="981919" cy="566928"/>
          </a:xfrm>
          <a:custGeom>
            <a:avLst/>
            <a:gdLst/>
            <a:ahLst/>
            <a:cxnLst/>
            <a:rect l="l" t="t" r="r" b="b"/>
            <a:pathLst>
              <a:path w="981919" h="566928">
                <a:moveTo>
                  <a:pt x="0" y="283464"/>
                </a:moveTo>
                <a:lnTo>
                  <a:pt x="490960" y="566928"/>
                </a:lnTo>
                <a:lnTo>
                  <a:pt x="981919" y="283464"/>
                </a:lnTo>
                <a:lnTo>
                  <a:pt x="49096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4" name="S07-mark290"/>
          <p:cNvSpPr/>
          <p:nvPr/>
        </p:nvSpPr>
        <p:spPr>
          <a:xfrm>
            <a:off x="1815084" y="3790188"/>
            <a:ext cx="490960" cy="850392"/>
          </a:xfrm>
          <a:custGeom>
            <a:avLst/>
            <a:gdLst/>
            <a:ahLst/>
            <a:cxnLst/>
            <a:rect l="l" t="t" r="r" b="b"/>
            <a:pathLst>
              <a:path w="490960" h="850392">
                <a:moveTo>
                  <a:pt x="0" y="566928"/>
                </a:moveTo>
                <a:lnTo>
                  <a:pt x="490960" y="850392"/>
                </a:lnTo>
                <a:lnTo>
                  <a:pt x="490960" y="283464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07-mark291"/>
          <p:cNvSpPr/>
          <p:nvPr/>
        </p:nvSpPr>
        <p:spPr>
          <a:xfrm>
            <a:off x="2306044" y="3790188"/>
            <a:ext cx="490960" cy="850392"/>
          </a:xfrm>
          <a:custGeom>
            <a:avLst/>
            <a:gdLst/>
            <a:ahLst/>
            <a:cxnLst/>
            <a:rect l="l" t="t" r="r" b="b"/>
            <a:pathLst>
              <a:path w="490960" h="850392">
                <a:moveTo>
                  <a:pt x="0" y="850392"/>
                </a:moveTo>
                <a:lnTo>
                  <a:pt x="490960" y="566928"/>
                </a:lnTo>
                <a:lnTo>
                  <a:pt x="490960" y="0"/>
                </a:lnTo>
                <a:lnTo>
                  <a:pt x="0" y="283464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6" name="S07-mark292"/>
          <p:cNvSpPr/>
          <p:nvPr/>
        </p:nvSpPr>
        <p:spPr>
          <a:xfrm>
            <a:off x="833165" y="1805940"/>
            <a:ext cx="981919" cy="566928"/>
          </a:xfrm>
          <a:custGeom>
            <a:avLst/>
            <a:gdLst/>
            <a:ahLst/>
            <a:cxnLst/>
            <a:rect l="l" t="t" r="r" b="b"/>
            <a:pathLst>
              <a:path w="981919" h="566928">
                <a:moveTo>
                  <a:pt x="0" y="283464"/>
                </a:moveTo>
                <a:lnTo>
                  <a:pt x="490960" y="566928"/>
                </a:lnTo>
                <a:lnTo>
                  <a:pt x="981919" y="283464"/>
                </a:lnTo>
                <a:lnTo>
                  <a:pt x="49096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7" name="S07-mark293"/>
          <p:cNvSpPr/>
          <p:nvPr/>
        </p:nvSpPr>
        <p:spPr>
          <a:xfrm>
            <a:off x="833165" y="2089404"/>
            <a:ext cx="490960" cy="850392"/>
          </a:xfrm>
          <a:custGeom>
            <a:avLst/>
            <a:gdLst/>
            <a:ahLst/>
            <a:cxnLst/>
            <a:rect l="l" t="t" r="r" b="b"/>
            <a:pathLst>
              <a:path w="490960" h="850392">
                <a:moveTo>
                  <a:pt x="0" y="566928"/>
                </a:moveTo>
                <a:lnTo>
                  <a:pt x="490960" y="850392"/>
                </a:lnTo>
                <a:lnTo>
                  <a:pt x="490960" y="283464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8" name="S07-mark294"/>
          <p:cNvSpPr/>
          <p:nvPr/>
        </p:nvSpPr>
        <p:spPr>
          <a:xfrm>
            <a:off x="1324124" y="2089404"/>
            <a:ext cx="490960" cy="850392"/>
          </a:xfrm>
          <a:custGeom>
            <a:avLst/>
            <a:gdLst/>
            <a:ahLst/>
            <a:cxnLst/>
            <a:rect l="l" t="t" r="r" b="b"/>
            <a:pathLst>
              <a:path w="490960" h="850392">
                <a:moveTo>
                  <a:pt x="0" y="850392"/>
                </a:moveTo>
                <a:lnTo>
                  <a:pt x="490960" y="566928"/>
                </a:lnTo>
                <a:lnTo>
                  <a:pt x="490960" y="0"/>
                </a:lnTo>
                <a:lnTo>
                  <a:pt x="0" y="283464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9" name="S07-cell295"/>
          <p:cNvSpPr/>
          <p:nvPr/>
        </p:nvSpPr>
        <p:spPr>
          <a:xfrm>
            <a:off x="3982212" y="2540889"/>
            <a:ext cx="45720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7-cell296"/>
          <p:cNvSpPr/>
          <p:nvPr/>
        </p:nvSpPr>
        <p:spPr>
          <a:xfrm>
            <a:off x="4439412" y="2540889"/>
            <a:ext cx="45720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7-cell297"/>
          <p:cNvSpPr/>
          <p:nvPr/>
        </p:nvSpPr>
        <p:spPr>
          <a:xfrm>
            <a:off x="4896612" y="2540889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7-cell298"/>
          <p:cNvSpPr/>
          <p:nvPr/>
        </p:nvSpPr>
        <p:spPr>
          <a:xfrm>
            <a:off x="3982212" y="2998089"/>
            <a:ext cx="45720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7-cell299"/>
          <p:cNvSpPr/>
          <p:nvPr/>
        </p:nvSpPr>
        <p:spPr>
          <a:xfrm>
            <a:off x="4439412" y="2998089"/>
            <a:ext cx="45720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7-cell300"/>
          <p:cNvSpPr/>
          <p:nvPr/>
        </p:nvSpPr>
        <p:spPr>
          <a:xfrm>
            <a:off x="4896612" y="2998089"/>
            <a:ext cx="45720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7-figure301" descr="1층 모양: 앞줄 3칸, 뒷줄 왼쪽 2칸, 모두 5칸 색칠"/>
          <p:cNvSpPr/>
          <p:nvPr/>
        </p:nvSpPr>
        <p:spPr>
          <a:xfrm>
            <a:off x="3982212" y="2540889"/>
            <a:ext cx="137160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6" name="S07-label302"/>
          <p:cNvSpPr txBox="1"/>
          <p:nvPr/>
        </p:nvSpPr>
        <p:spPr>
          <a:xfrm>
            <a:off x="3401568" y="4743450"/>
            <a:ext cx="2532888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1층</a:t>
            </a:r>
            <a:endParaRPr lang="ko-KR" sz="2200" dirty="0"/>
          </a:p>
        </p:txBody>
      </p:sp>
      <p:sp>
        <p:nvSpPr>
          <p:cNvPr id="37" name="S07-cell303"/>
          <p:cNvSpPr/>
          <p:nvPr/>
        </p:nvSpPr>
        <p:spPr>
          <a:xfrm>
            <a:off x="6835140" y="2540889"/>
            <a:ext cx="45720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07-cell304"/>
          <p:cNvSpPr/>
          <p:nvPr/>
        </p:nvSpPr>
        <p:spPr>
          <a:xfrm>
            <a:off x="7292340" y="2540889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7-cell305"/>
          <p:cNvSpPr/>
          <p:nvPr/>
        </p:nvSpPr>
        <p:spPr>
          <a:xfrm>
            <a:off x="7749540" y="2540889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07-cell306"/>
          <p:cNvSpPr/>
          <p:nvPr/>
        </p:nvSpPr>
        <p:spPr>
          <a:xfrm>
            <a:off x="6835140" y="2998089"/>
            <a:ext cx="45720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07-cell307"/>
          <p:cNvSpPr/>
          <p:nvPr/>
        </p:nvSpPr>
        <p:spPr>
          <a:xfrm>
            <a:off x="7292340" y="2998089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2" name="S07-cell308"/>
          <p:cNvSpPr/>
          <p:nvPr/>
        </p:nvSpPr>
        <p:spPr>
          <a:xfrm>
            <a:off x="7749540" y="2998089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3" name="S07-figure309" descr="2층 모양: 앞줄 왼쪽 1칸, 뒷줄 왼쪽 1칸, 모두 2칸 색칠"/>
          <p:cNvSpPr/>
          <p:nvPr/>
        </p:nvSpPr>
        <p:spPr>
          <a:xfrm>
            <a:off x="6835140" y="2540889"/>
            <a:ext cx="137160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4" name="S07-label310"/>
          <p:cNvSpPr txBox="1"/>
          <p:nvPr/>
        </p:nvSpPr>
        <p:spPr>
          <a:xfrm>
            <a:off x="6254496" y="4743450"/>
            <a:ext cx="2532888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2층</a:t>
            </a:r>
            <a:endParaRPr lang="ko-KR" sz="2200" dirty="0"/>
          </a:p>
        </p:txBody>
      </p:sp>
      <p:sp>
        <p:nvSpPr>
          <p:cNvPr id="45" name="S07-cell311"/>
          <p:cNvSpPr/>
          <p:nvPr/>
        </p:nvSpPr>
        <p:spPr>
          <a:xfrm>
            <a:off x="9688068" y="2540889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6" name="S07-cell312"/>
          <p:cNvSpPr/>
          <p:nvPr/>
        </p:nvSpPr>
        <p:spPr>
          <a:xfrm>
            <a:off x="10145268" y="2540889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7" name="S07-cell313"/>
          <p:cNvSpPr/>
          <p:nvPr/>
        </p:nvSpPr>
        <p:spPr>
          <a:xfrm>
            <a:off x="10602468" y="2540889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8" name="S07-cell314"/>
          <p:cNvSpPr/>
          <p:nvPr/>
        </p:nvSpPr>
        <p:spPr>
          <a:xfrm>
            <a:off x="9688068" y="2998089"/>
            <a:ext cx="45720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9" name="S07-cell315"/>
          <p:cNvSpPr/>
          <p:nvPr/>
        </p:nvSpPr>
        <p:spPr>
          <a:xfrm>
            <a:off x="10145268" y="2998089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0" name="S07-cell316"/>
          <p:cNvSpPr/>
          <p:nvPr/>
        </p:nvSpPr>
        <p:spPr>
          <a:xfrm>
            <a:off x="10602468" y="2998089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1" name="S07-figure317" descr="3층 모양: 앞줄 왼쪽 1칸 색칠"/>
          <p:cNvSpPr/>
          <p:nvPr/>
        </p:nvSpPr>
        <p:spPr>
          <a:xfrm>
            <a:off x="9688068" y="2540889"/>
            <a:ext cx="137160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52" name="S07-label318"/>
          <p:cNvSpPr txBox="1"/>
          <p:nvPr/>
        </p:nvSpPr>
        <p:spPr>
          <a:xfrm>
            <a:off x="9107424" y="4743450"/>
            <a:ext cx="2532888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3층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수를 보고 알아내기</a:t>
            </a:r>
            <a:endParaRPr lang="ko-KR" sz="4000" dirty="0"/>
          </a:p>
        </p:txBody>
      </p:sp>
      <p:sp>
        <p:nvSpPr>
          <p:cNvPr id="3" name="S08-text31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위에서 본 모양에 쌓은 개수를 썼어요.</a:t>
            </a:r>
            <a:endParaRPr lang="ko-KR" sz="2800" dirty="0"/>
          </a:p>
        </p:txBody>
      </p:sp>
      <p:sp>
        <p:nvSpPr>
          <p:cNvPr id="4" name="S08-card32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32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앞·옆에서는 줄마다 가장 큰 수만 보여요.</a:t>
            </a:r>
            <a:endParaRPr lang="ko-KR" sz="2800" dirty="0"/>
          </a:p>
        </p:txBody>
      </p:sp>
      <p:sp>
        <p:nvSpPr>
          <p:cNvPr id="6" name="S08-figure322" descr="위에서 본 모양에 수를 씀: 뒷줄 3, 1, 2 / 앞줄 2, 1, 1"/>
          <p:cNvSpPr/>
          <p:nvPr/>
        </p:nvSpPr>
        <p:spPr>
          <a:xfrm>
            <a:off x="7587234" y="33147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0" y="914400"/>
                </a:moveTo>
                <a:lnTo>
                  <a:pt x="914400" y="914400"/>
                </a:lnTo>
                <a:lnTo>
                  <a:pt x="914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8-mark323"/>
          <p:cNvSpPr/>
          <p:nvPr/>
        </p:nvSpPr>
        <p:spPr>
          <a:xfrm>
            <a:off x="7587234" y="24003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0" y="914400"/>
                </a:moveTo>
                <a:lnTo>
                  <a:pt x="914400" y="914400"/>
                </a:lnTo>
                <a:lnTo>
                  <a:pt x="914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8-mark324"/>
          <p:cNvSpPr/>
          <p:nvPr/>
        </p:nvSpPr>
        <p:spPr>
          <a:xfrm>
            <a:off x="8501634" y="33147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0" y="914400"/>
                </a:moveTo>
                <a:lnTo>
                  <a:pt x="914400" y="914400"/>
                </a:lnTo>
                <a:lnTo>
                  <a:pt x="914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8-mark325"/>
          <p:cNvSpPr/>
          <p:nvPr/>
        </p:nvSpPr>
        <p:spPr>
          <a:xfrm>
            <a:off x="8501634" y="24003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0" y="914400"/>
                </a:moveTo>
                <a:lnTo>
                  <a:pt x="914400" y="914400"/>
                </a:lnTo>
                <a:lnTo>
                  <a:pt x="914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08-mark326"/>
          <p:cNvSpPr/>
          <p:nvPr/>
        </p:nvSpPr>
        <p:spPr>
          <a:xfrm>
            <a:off x="9416034" y="33147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0" y="914400"/>
                </a:moveTo>
                <a:lnTo>
                  <a:pt x="914400" y="914400"/>
                </a:lnTo>
                <a:lnTo>
                  <a:pt x="914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08-mark327"/>
          <p:cNvSpPr/>
          <p:nvPr/>
        </p:nvSpPr>
        <p:spPr>
          <a:xfrm>
            <a:off x="9416034" y="24003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0" y="914400"/>
                </a:moveTo>
                <a:lnTo>
                  <a:pt x="914400" y="914400"/>
                </a:lnTo>
                <a:lnTo>
                  <a:pt x="914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2" name="S08-label329"/>
          <p:cNvSpPr txBox="1"/>
          <p:nvPr/>
        </p:nvSpPr>
        <p:spPr>
          <a:xfrm>
            <a:off x="7897368" y="359727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3" name="S08-label331"/>
          <p:cNvSpPr txBox="1"/>
          <p:nvPr/>
        </p:nvSpPr>
        <p:spPr>
          <a:xfrm>
            <a:off x="7897368" y="268287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4" name="S08-label333"/>
          <p:cNvSpPr txBox="1"/>
          <p:nvPr/>
        </p:nvSpPr>
        <p:spPr>
          <a:xfrm>
            <a:off x="8811768" y="359727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5" name="S08-label335"/>
          <p:cNvSpPr txBox="1"/>
          <p:nvPr/>
        </p:nvSpPr>
        <p:spPr>
          <a:xfrm>
            <a:off x="8811768" y="268287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6" name="S08-label337"/>
          <p:cNvSpPr txBox="1"/>
          <p:nvPr/>
        </p:nvSpPr>
        <p:spPr>
          <a:xfrm>
            <a:off x="9726168" y="359727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7" name="S08-label339"/>
          <p:cNvSpPr txBox="1"/>
          <p:nvPr/>
        </p:nvSpPr>
        <p:spPr>
          <a:xfrm>
            <a:off x="9726168" y="268287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8" name="S08-label341"/>
          <p:cNvSpPr txBox="1"/>
          <p:nvPr/>
        </p:nvSpPr>
        <p:spPr>
          <a:xfrm>
            <a:off x="8767064" y="4557395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</a:t>
            </a:r>
            <a:endParaRPr lang="ko-KR" sz="2200" dirty="0"/>
          </a:p>
        </p:txBody>
      </p:sp>
      <p:sp>
        <p:nvSpPr>
          <p:cNvPr id="19" name="S08-chip342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20" name="S08-text343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쌓기나무는 모두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개인가요?</a:t>
            </a:r>
            <a:endParaRPr lang="ko-KR" sz="2800" dirty="0"/>
          </a:p>
        </p:txBody>
      </p:sp>
      <p:sp>
        <p:nvSpPr>
          <p:cNvPr id="21" name="S08-chip344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22" name="S08-text345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앞에서 보면 왼쪽 줄부터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층씩 보이나요?</a:t>
            </a:r>
            <a:endParaRPr lang="ko-KR" sz="2800" dirty="0"/>
          </a:p>
        </p:txBody>
      </p:sp>
      <p:sp>
        <p:nvSpPr>
          <p:cNvPr id="23" name="S08-chip346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4" name="S08-text347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옆에서 보면 앞줄부터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층씩 보이나요?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앞에서 본 모양은?</a:t>
            </a:r>
            <a:endParaRPr lang="ko-KR" sz="4000" dirty="0"/>
          </a:p>
        </p:txBody>
      </p:sp>
      <p:sp>
        <p:nvSpPr>
          <p:cNvPr id="3" name="S09-card3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3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맞게 그렸을까요? 까닭을 말해요.</a:t>
            </a:r>
            <a:endParaRPr lang="ko-KR" sz="2800" dirty="0"/>
          </a:p>
        </p:txBody>
      </p:sp>
      <p:sp>
        <p:nvSpPr>
          <p:cNvPr id="5" name="S09-chip350"/>
          <p:cNvSpPr txBox="1"/>
          <p:nvPr/>
        </p:nvSpPr>
        <p:spPr>
          <a:xfrm>
            <a:off x="1991868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</a:t>
            </a:r>
            <a:endParaRPr lang="ko-KR" sz="2800" dirty="0"/>
          </a:p>
        </p:txBody>
      </p:sp>
      <p:sp>
        <p:nvSpPr>
          <p:cNvPr id="6" name="S09-figure351" descr="위에서 본 모양에 수를 씀: 뒷줄 1, 1, 1 / 앞줄 1, 2"/>
          <p:cNvSpPr/>
          <p:nvPr/>
        </p:nvSpPr>
        <p:spPr>
          <a:xfrm>
            <a:off x="1520952" y="321183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0" y="502920"/>
                </a:moveTo>
                <a:lnTo>
                  <a:pt x="502920" y="502920"/>
                </a:lnTo>
                <a:lnTo>
                  <a:pt x="50292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9-mark352"/>
          <p:cNvSpPr/>
          <p:nvPr/>
        </p:nvSpPr>
        <p:spPr>
          <a:xfrm>
            <a:off x="1520952" y="270891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0" y="502920"/>
                </a:moveTo>
                <a:lnTo>
                  <a:pt x="502920" y="502920"/>
                </a:lnTo>
                <a:lnTo>
                  <a:pt x="50292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9-mark353"/>
          <p:cNvSpPr/>
          <p:nvPr/>
        </p:nvSpPr>
        <p:spPr>
          <a:xfrm>
            <a:off x="2023872" y="321183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0" y="502920"/>
                </a:moveTo>
                <a:lnTo>
                  <a:pt x="502920" y="502920"/>
                </a:lnTo>
                <a:lnTo>
                  <a:pt x="50292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9-mark354"/>
          <p:cNvSpPr/>
          <p:nvPr/>
        </p:nvSpPr>
        <p:spPr>
          <a:xfrm>
            <a:off x="2023872" y="270891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0" y="502920"/>
                </a:moveTo>
                <a:lnTo>
                  <a:pt x="502920" y="502920"/>
                </a:lnTo>
                <a:lnTo>
                  <a:pt x="50292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09-mark355"/>
          <p:cNvSpPr/>
          <p:nvPr/>
        </p:nvSpPr>
        <p:spPr>
          <a:xfrm>
            <a:off x="2526792" y="270891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0" y="502920"/>
                </a:moveTo>
                <a:lnTo>
                  <a:pt x="502920" y="502920"/>
                </a:lnTo>
                <a:lnTo>
                  <a:pt x="50292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09-label357"/>
          <p:cNvSpPr txBox="1"/>
          <p:nvPr/>
        </p:nvSpPr>
        <p:spPr>
          <a:xfrm>
            <a:off x="1625346" y="328866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2" name="S09-label359"/>
          <p:cNvSpPr txBox="1"/>
          <p:nvPr/>
        </p:nvSpPr>
        <p:spPr>
          <a:xfrm>
            <a:off x="1625346" y="278574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3" name="S09-label361"/>
          <p:cNvSpPr txBox="1"/>
          <p:nvPr/>
        </p:nvSpPr>
        <p:spPr>
          <a:xfrm>
            <a:off x="2128266" y="328866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4" name="S09-label363"/>
          <p:cNvSpPr txBox="1"/>
          <p:nvPr/>
        </p:nvSpPr>
        <p:spPr>
          <a:xfrm>
            <a:off x="2128266" y="278574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5" name="S09-label365"/>
          <p:cNvSpPr txBox="1"/>
          <p:nvPr/>
        </p:nvSpPr>
        <p:spPr>
          <a:xfrm>
            <a:off x="2631186" y="278574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6" name="S09-label367"/>
          <p:cNvSpPr txBox="1"/>
          <p:nvPr/>
        </p:nvSpPr>
        <p:spPr>
          <a:xfrm>
            <a:off x="2083562" y="3816731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</a:t>
            </a:r>
            <a:endParaRPr lang="ko-KR" sz="2200" dirty="0"/>
          </a:p>
        </p:txBody>
      </p:sp>
      <p:sp>
        <p:nvSpPr>
          <p:cNvPr id="17" name="S09-label368"/>
          <p:cNvSpPr txBox="1"/>
          <p:nvPr/>
        </p:nvSpPr>
        <p:spPr>
          <a:xfrm>
            <a:off x="548640" y="4743450"/>
            <a:ext cx="345338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위에서 본 모양</a:t>
            </a:r>
            <a:endParaRPr lang="ko-KR" sz="2200" dirty="0"/>
          </a:p>
        </p:txBody>
      </p:sp>
      <p:sp>
        <p:nvSpPr>
          <p:cNvPr id="18" name="S09-chip369"/>
          <p:cNvSpPr txBox="1"/>
          <p:nvPr/>
        </p:nvSpPr>
        <p:spPr>
          <a:xfrm>
            <a:off x="5811012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19" name="S09-cell370"/>
          <p:cNvSpPr/>
          <p:nvPr/>
        </p:nvSpPr>
        <p:spPr>
          <a:xfrm>
            <a:off x="5518404" y="2774061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9-cell371"/>
          <p:cNvSpPr/>
          <p:nvPr/>
        </p:nvSpPr>
        <p:spPr>
          <a:xfrm>
            <a:off x="5902452" y="2774061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9-cell372"/>
          <p:cNvSpPr/>
          <p:nvPr/>
        </p:nvSpPr>
        <p:spPr>
          <a:xfrm>
            <a:off x="6286500" y="2774061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9-cell373"/>
          <p:cNvSpPr/>
          <p:nvPr/>
        </p:nvSpPr>
        <p:spPr>
          <a:xfrm>
            <a:off x="5518404" y="3158109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9-cell374"/>
          <p:cNvSpPr/>
          <p:nvPr/>
        </p:nvSpPr>
        <p:spPr>
          <a:xfrm>
            <a:off x="5902452" y="3158109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9-cell375"/>
          <p:cNvSpPr/>
          <p:nvPr/>
        </p:nvSpPr>
        <p:spPr>
          <a:xfrm>
            <a:off x="6286500" y="3158109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9-cell376"/>
          <p:cNvSpPr/>
          <p:nvPr/>
        </p:nvSpPr>
        <p:spPr>
          <a:xfrm>
            <a:off x="5518404" y="3542157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9-cell377"/>
          <p:cNvSpPr/>
          <p:nvPr/>
        </p:nvSpPr>
        <p:spPr>
          <a:xfrm>
            <a:off x="5902452" y="3542157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9-cell378"/>
          <p:cNvSpPr/>
          <p:nvPr/>
        </p:nvSpPr>
        <p:spPr>
          <a:xfrm>
            <a:off x="6286500" y="3542157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9-figure379" descr="토끼가 그린 모양: 왼쪽부터 2칸, 3칸, 1칸 색칠"/>
          <p:cNvSpPr/>
          <p:nvPr/>
        </p:nvSpPr>
        <p:spPr>
          <a:xfrm>
            <a:off x="5518404" y="2774061"/>
            <a:ext cx="1152144" cy="1152144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9" name="S09-label380"/>
          <p:cNvSpPr txBox="1"/>
          <p:nvPr/>
        </p:nvSpPr>
        <p:spPr>
          <a:xfrm>
            <a:off x="4367784" y="4743450"/>
            <a:ext cx="345338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200" dirty="0"/>
          </a:p>
        </p:txBody>
      </p:sp>
      <p:sp>
        <p:nvSpPr>
          <p:cNvPr id="30" name="S09-chip381"/>
          <p:cNvSpPr txBox="1"/>
          <p:nvPr/>
        </p:nvSpPr>
        <p:spPr>
          <a:xfrm>
            <a:off x="9630156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31" name="S09-cell382"/>
          <p:cNvSpPr/>
          <p:nvPr/>
        </p:nvSpPr>
        <p:spPr>
          <a:xfrm>
            <a:off x="9337548" y="2774061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9-cell383"/>
          <p:cNvSpPr/>
          <p:nvPr/>
        </p:nvSpPr>
        <p:spPr>
          <a:xfrm>
            <a:off x="9721596" y="2774061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9-cell384"/>
          <p:cNvSpPr/>
          <p:nvPr/>
        </p:nvSpPr>
        <p:spPr>
          <a:xfrm>
            <a:off x="10105644" y="2774061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9-cell385"/>
          <p:cNvSpPr/>
          <p:nvPr/>
        </p:nvSpPr>
        <p:spPr>
          <a:xfrm>
            <a:off x="9337548" y="3158109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9-cell386"/>
          <p:cNvSpPr/>
          <p:nvPr/>
        </p:nvSpPr>
        <p:spPr>
          <a:xfrm>
            <a:off x="9721596" y="3158109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9-cell387"/>
          <p:cNvSpPr/>
          <p:nvPr/>
        </p:nvSpPr>
        <p:spPr>
          <a:xfrm>
            <a:off x="10105644" y="3158109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9-cell388"/>
          <p:cNvSpPr/>
          <p:nvPr/>
        </p:nvSpPr>
        <p:spPr>
          <a:xfrm>
            <a:off x="9337548" y="3542157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09-cell389"/>
          <p:cNvSpPr/>
          <p:nvPr/>
        </p:nvSpPr>
        <p:spPr>
          <a:xfrm>
            <a:off x="9721596" y="3542157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9-cell390"/>
          <p:cNvSpPr/>
          <p:nvPr/>
        </p:nvSpPr>
        <p:spPr>
          <a:xfrm>
            <a:off x="10105644" y="3542157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09-figure391" descr="곰이 그린 모양: 왼쪽부터 1칸, 2칸, 1칸 색칠"/>
          <p:cNvSpPr/>
          <p:nvPr/>
        </p:nvSpPr>
        <p:spPr>
          <a:xfrm>
            <a:off x="9337548" y="2774061"/>
            <a:ext cx="1152144" cy="1152144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1" name="S09-label392"/>
          <p:cNvSpPr txBox="1"/>
          <p:nvPr/>
        </p:nvSpPr>
        <p:spPr>
          <a:xfrm>
            <a:off x="8186928" y="4743450"/>
            <a:ext cx="345338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모양으로 개수 구하기</a:t>
            </a:r>
            <a:endParaRPr lang="ko-KR" sz="4000" dirty="0"/>
          </a:p>
        </p:txBody>
      </p:sp>
      <p:sp>
        <p:nvSpPr>
          <p:cNvPr id="3" name="S10-text39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위·앞·옆에서 본 모양이에요.</a:t>
            </a:r>
            <a:endParaRPr lang="ko-KR" sz="2800" dirty="0"/>
          </a:p>
        </p:txBody>
      </p:sp>
      <p:sp>
        <p:nvSpPr>
          <p:cNvPr id="4" name="S10-card39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39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앞줄부터 정하고, 앞에서 본 모양으로 뒷줄을 정해요.</a:t>
            </a:r>
            <a:endParaRPr lang="ko-KR" sz="2800" dirty="0"/>
          </a:p>
        </p:txBody>
      </p:sp>
      <p:sp>
        <p:nvSpPr>
          <p:cNvPr id="6" name="S10-cell396"/>
          <p:cNvSpPr/>
          <p:nvPr/>
        </p:nvSpPr>
        <p:spPr>
          <a:xfrm>
            <a:off x="6488430" y="2956941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10-cell397"/>
          <p:cNvSpPr/>
          <p:nvPr/>
        </p:nvSpPr>
        <p:spPr>
          <a:xfrm>
            <a:off x="6872478" y="2956941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10-cell398"/>
          <p:cNvSpPr/>
          <p:nvPr/>
        </p:nvSpPr>
        <p:spPr>
          <a:xfrm>
            <a:off x="7256526" y="2956941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10-cell399"/>
          <p:cNvSpPr/>
          <p:nvPr/>
        </p:nvSpPr>
        <p:spPr>
          <a:xfrm>
            <a:off x="6488430" y="3340989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10-cell400"/>
          <p:cNvSpPr/>
          <p:nvPr/>
        </p:nvSpPr>
        <p:spPr>
          <a:xfrm>
            <a:off x="6872478" y="3340989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0-cell401"/>
          <p:cNvSpPr/>
          <p:nvPr/>
        </p:nvSpPr>
        <p:spPr>
          <a:xfrm>
            <a:off x="7256526" y="3340989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10-figure402" descr="위에서 본 모양: 뒷줄 왼쪽 2칸, 앞줄 3칸"/>
          <p:cNvSpPr/>
          <p:nvPr/>
        </p:nvSpPr>
        <p:spPr>
          <a:xfrm>
            <a:off x="6488430" y="2956941"/>
            <a:ext cx="1152144" cy="768096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10-label403"/>
          <p:cNvSpPr txBox="1"/>
          <p:nvPr/>
        </p:nvSpPr>
        <p:spPr>
          <a:xfrm>
            <a:off x="6277356" y="4743450"/>
            <a:ext cx="1574292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</a:t>
            </a:r>
            <a:endParaRPr lang="ko-KR" sz="2200" dirty="0"/>
          </a:p>
        </p:txBody>
      </p:sp>
      <p:sp>
        <p:nvSpPr>
          <p:cNvPr id="14" name="S10-cell404"/>
          <p:cNvSpPr/>
          <p:nvPr/>
        </p:nvSpPr>
        <p:spPr>
          <a:xfrm>
            <a:off x="8382762" y="2764917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10-cell405"/>
          <p:cNvSpPr/>
          <p:nvPr/>
        </p:nvSpPr>
        <p:spPr>
          <a:xfrm>
            <a:off x="8766810" y="2764917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10-cell406"/>
          <p:cNvSpPr/>
          <p:nvPr/>
        </p:nvSpPr>
        <p:spPr>
          <a:xfrm>
            <a:off x="9150858" y="2764917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0-cell407"/>
          <p:cNvSpPr/>
          <p:nvPr/>
        </p:nvSpPr>
        <p:spPr>
          <a:xfrm>
            <a:off x="8382762" y="3148965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10-cell408"/>
          <p:cNvSpPr/>
          <p:nvPr/>
        </p:nvSpPr>
        <p:spPr>
          <a:xfrm>
            <a:off x="8766810" y="3148965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10-cell409"/>
          <p:cNvSpPr/>
          <p:nvPr/>
        </p:nvSpPr>
        <p:spPr>
          <a:xfrm>
            <a:off x="9150858" y="3148965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10-cell410"/>
          <p:cNvSpPr/>
          <p:nvPr/>
        </p:nvSpPr>
        <p:spPr>
          <a:xfrm>
            <a:off x="8382762" y="3533013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10-cell411"/>
          <p:cNvSpPr/>
          <p:nvPr/>
        </p:nvSpPr>
        <p:spPr>
          <a:xfrm>
            <a:off x="8766810" y="3533013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10-cell412"/>
          <p:cNvSpPr/>
          <p:nvPr/>
        </p:nvSpPr>
        <p:spPr>
          <a:xfrm>
            <a:off x="9150858" y="3533013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10-figure413" descr="앞에서 본 모양: 왼쪽부터 3칸, 2칸, 1칸"/>
          <p:cNvSpPr/>
          <p:nvPr/>
        </p:nvSpPr>
        <p:spPr>
          <a:xfrm>
            <a:off x="8382762" y="2764917"/>
            <a:ext cx="1152144" cy="1152144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4" name="S10-label414"/>
          <p:cNvSpPr txBox="1"/>
          <p:nvPr/>
        </p:nvSpPr>
        <p:spPr>
          <a:xfrm>
            <a:off x="8171688" y="4743450"/>
            <a:ext cx="1574292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</a:t>
            </a:r>
            <a:endParaRPr lang="ko-KR" sz="2200" dirty="0"/>
          </a:p>
        </p:txBody>
      </p:sp>
      <p:sp>
        <p:nvSpPr>
          <p:cNvPr id="25" name="S10-cell415"/>
          <p:cNvSpPr/>
          <p:nvPr/>
        </p:nvSpPr>
        <p:spPr>
          <a:xfrm>
            <a:off x="10469118" y="2764917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10-cell416"/>
          <p:cNvSpPr/>
          <p:nvPr/>
        </p:nvSpPr>
        <p:spPr>
          <a:xfrm>
            <a:off x="10853166" y="2764917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10-cell417"/>
          <p:cNvSpPr/>
          <p:nvPr/>
        </p:nvSpPr>
        <p:spPr>
          <a:xfrm>
            <a:off x="10469118" y="3148965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10-cell418"/>
          <p:cNvSpPr/>
          <p:nvPr/>
        </p:nvSpPr>
        <p:spPr>
          <a:xfrm>
            <a:off x="10853166" y="3148965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10-cell419"/>
          <p:cNvSpPr/>
          <p:nvPr/>
        </p:nvSpPr>
        <p:spPr>
          <a:xfrm>
            <a:off x="10469118" y="3533013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10-cell420"/>
          <p:cNvSpPr/>
          <p:nvPr/>
        </p:nvSpPr>
        <p:spPr>
          <a:xfrm>
            <a:off x="10853166" y="3533013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10-figure421" descr="옆에서 본 모양: 왼쪽(앞줄) 1칸, 오른쪽(뒷줄) 3칸"/>
          <p:cNvSpPr/>
          <p:nvPr/>
        </p:nvSpPr>
        <p:spPr>
          <a:xfrm>
            <a:off x="10469118" y="2764917"/>
            <a:ext cx="768096" cy="1152144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2" name="S10-label422"/>
          <p:cNvSpPr txBox="1"/>
          <p:nvPr/>
        </p:nvSpPr>
        <p:spPr>
          <a:xfrm>
            <a:off x="10066020" y="4743450"/>
            <a:ext cx="1574292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</a:t>
            </a:r>
            <a:endParaRPr lang="ko-KR" sz="2200" dirty="0"/>
          </a:p>
        </p:txBody>
      </p:sp>
      <p:sp>
        <p:nvSpPr>
          <p:cNvPr id="33" name="S10-chip423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34" name="S10-text424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옆을 보면 앞줄은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층인가요?</a:t>
            </a:r>
            <a:endParaRPr lang="ko-KR" sz="2800" dirty="0"/>
          </a:p>
        </p:txBody>
      </p:sp>
      <p:sp>
        <p:nvSpPr>
          <p:cNvPr id="35" name="S10-chip425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36" name="S10-text426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뒷줄 왼쪽과 가운데에는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개씩 있나요?</a:t>
            </a:r>
            <a:endParaRPr lang="ko-KR" sz="2800" dirty="0"/>
          </a:p>
        </p:txBody>
      </p:sp>
      <p:sp>
        <p:nvSpPr>
          <p:cNvPr id="37" name="S10-chip427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38" name="S10-text428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쌓기나무는 모두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개인가요?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42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개수를 구하고, 어떻게 알았는지 말해요.</a:t>
            </a:r>
            <a:endParaRPr lang="ko-KR" sz="2800" dirty="0"/>
          </a:p>
        </p:txBody>
      </p:sp>
      <p:sp>
        <p:nvSpPr>
          <p:cNvPr id="4" name="S11-chip430"/>
          <p:cNvSpPr txBox="1"/>
          <p:nvPr/>
        </p:nvSpPr>
        <p:spPr>
          <a:xfrm>
            <a:off x="548640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1-figure431" descr="쌓기나무를 쌓은 모양: 앞줄은 왼쪽부터 1층, 2층, 1층, 뒷줄은 가운데 2층, 오른쪽 1층이 보임"/>
          <p:cNvSpPr/>
          <p:nvPr/>
        </p:nvSpPr>
        <p:spPr>
          <a:xfrm>
            <a:off x="1953412" y="2269712"/>
            <a:ext cx="603471" cy="348424"/>
          </a:xfrm>
          <a:custGeom>
            <a:avLst/>
            <a:gdLst/>
            <a:ahLst/>
            <a:cxnLst/>
            <a:rect l="l" t="t" r="r" b="b"/>
            <a:pathLst>
              <a:path w="603471" h="348424">
                <a:moveTo>
                  <a:pt x="0" y="174212"/>
                </a:moveTo>
                <a:lnTo>
                  <a:pt x="301736" y="348424"/>
                </a:lnTo>
                <a:lnTo>
                  <a:pt x="603471" y="174212"/>
                </a:lnTo>
                <a:lnTo>
                  <a:pt x="301736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11-mark432"/>
          <p:cNvSpPr/>
          <p:nvPr/>
        </p:nvSpPr>
        <p:spPr>
          <a:xfrm>
            <a:off x="1953412" y="2443925"/>
            <a:ext cx="301736" cy="522637"/>
          </a:xfrm>
          <a:custGeom>
            <a:avLst/>
            <a:gdLst/>
            <a:ahLst/>
            <a:cxnLst/>
            <a:rect l="l" t="t" r="r" b="b"/>
            <a:pathLst>
              <a:path w="301736" h="522637">
                <a:moveTo>
                  <a:pt x="0" y="348424"/>
                </a:moveTo>
                <a:lnTo>
                  <a:pt x="301736" y="522637"/>
                </a:lnTo>
                <a:lnTo>
                  <a:pt x="301736" y="174212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11-mark433"/>
          <p:cNvSpPr/>
          <p:nvPr/>
        </p:nvSpPr>
        <p:spPr>
          <a:xfrm>
            <a:off x="2255147" y="2443925"/>
            <a:ext cx="301736" cy="522637"/>
          </a:xfrm>
          <a:custGeom>
            <a:avLst/>
            <a:gdLst/>
            <a:ahLst/>
            <a:cxnLst/>
            <a:rect l="l" t="t" r="r" b="b"/>
            <a:pathLst>
              <a:path w="301736" h="522637">
                <a:moveTo>
                  <a:pt x="0" y="522637"/>
                </a:moveTo>
                <a:lnTo>
                  <a:pt x="301736" y="348424"/>
                </a:lnTo>
                <a:lnTo>
                  <a:pt x="301736" y="0"/>
                </a:lnTo>
                <a:lnTo>
                  <a:pt x="0" y="174212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11-mark434"/>
          <p:cNvSpPr/>
          <p:nvPr/>
        </p:nvSpPr>
        <p:spPr>
          <a:xfrm>
            <a:off x="1651676" y="2443925"/>
            <a:ext cx="603471" cy="348424"/>
          </a:xfrm>
          <a:custGeom>
            <a:avLst/>
            <a:gdLst/>
            <a:ahLst/>
            <a:cxnLst/>
            <a:rect l="l" t="t" r="r" b="b"/>
            <a:pathLst>
              <a:path w="603471" h="348424">
                <a:moveTo>
                  <a:pt x="0" y="174212"/>
                </a:moveTo>
                <a:lnTo>
                  <a:pt x="301736" y="348424"/>
                </a:lnTo>
                <a:lnTo>
                  <a:pt x="603471" y="174212"/>
                </a:lnTo>
                <a:lnTo>
                  <a:pt x="301736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11-mark435"/>
          <p:cNvSpPr/>
          <p:nvPr/>
        </p:nvSpPr>
        <p:spPr>
          <a:xfrm>
            <a:off x="1651676" y="2618137"/>
            <a:ext cx="301736" cy="522637"/>
          </a:xfrm>
          <a:custGeom>
            <a:avLst/>
            <a:gdLst/>
            <a:ahLst/>
            <a:cxnLst/>
            <a:rect l="l" t="t" r="r" b="b"/>
            <a:pathLst>
              <a:path w="301736" h="522637">
                <a:moveTo>
                  <a:pt x="0" y="348424"/>
                </a:moveTo>
                <a:lnTo>
                  <a:pt x="301736" y="522637"/>
                </a:lnTo>
                <a:lnTo>
                  <a:pt x="301736" y="174212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11-mark436"/>
          <p:cNvSpPr/>
          <p:nvPr/>
        </p:nvSpPr>
        <p:spPr>
          <a:xfrm>
            <a:off x="1953412" y="2618137"/>
            <a:ext cx="301736" cy="522637"/>
          </a:xfrm>
          <a:custGeom>
            <a:avLst/>
            <a:gdLst/>
            <a:ahLst/>
            <a:cxnLst/>
            <a:rect l="l" t="t" r="r" b="b"/>
            <a:pathLst>
              <a:path w="301736" h="522637">
                <a:moveTo>
                  <a:pt x="0" y="522637"/>
                </a:moveTo>
                <a:lnTo>
                  <a:pt x="301736" y="348424"/>
                </a:lnTo>
                <a:lnTo>
                  <a:pt x="301736" y="0"/>
                </a:lnTo>
                <a:lnTo>
                  <a:pt x="0" y="174212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11-mark437"/>
          <p:cNvSpPr/>
          <p:nvPr/>
        </p:nvSpPr>
        <p:spPr>
          <a:xfrm>
            <a:off x="2255147" y="2443925"/>
            <a:ext cx="603471" cy="348424"/>
          </a:xfrm>
          <a:custGeom>
            <a:avLst/>
            <a:gdLst/>
            <a:ahLst/>
            <a:cxnLst/>
            <a:rect l="l" t="t" r="r" b="b"/>
            <a:pathLst>
              <a:path w="603471" h="348424">
                <a:moveTo>
                  <a:pt x="0" y="174212"/>
                </a:moveTo>
                <a:lnTo>
                  <a:pt x="301736" y="348424"/>
                </a:lnTo>
                <a:lnTo>
                  <a:pt x="603471" y="174212"/>
                </a:lnTo>
                <a:lnTo>
                  <a:pt x="301736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2" name="S11-mark438"/>
          <p:cNvSpPr/>
          <p:nvPr/>
        </p:nvSpPr>
        <p:spPr>
          <a:xfrm>
            <a:off x="2255147" y="2618137"/>
            <a:ext cx="301736" cy="522637"/>
          </a:xfrm>
          <a:custGeom>
            <a:avLst/>
            <a:gdLst/>
            <a:ahLst/>
            <a:cxnLst/>
            <a:rect l="l" t="t" r="r" b="b"/>
            <a:pathLst>
              <a:path w="301736" h="522637">
                <a:moveTo>
                  <a:pt x="0" y="348424"/>
                </a:moveTo>
                <a:lnTo>
                  <a:pt x="301736" y="522637"/>
                </a:lnTo>
                <a:lnTo>
                  <a:pt x="301736" y="174212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11-mark439"/>
          <p:cNvSpPr/>
          <p:nvPr/>
        </p:nvSpPr>
        <p:spPr>
          <a:xfrm>
            <a:off x="2556883" y="2618137"/>
            <a:ext cx="301736" cy="522637"/>
          </a:xfrm>
          <a:custGeom>
            <a:avLst/>
            <a:gdLst/>
            <a:ahLst/>
            <a:cxnLst/>
            <a:rect l="l" t="t" r="r" b="b"/>
            <a:pathLst>
              <a:path w="301736" h="522637">
                <a:moveTo>
                  <a:pt x="0" y="522637"/>
                </a:moveTo>
                <a:lnTo>
                  <a:pt x="301736" y="348424"/>
                </a:lnTo>
                <a:lnTo>
                  <a:pt x="301736" y="0"/>
                </a:lnTo>
                <a:lnTo>
                  <a:pt x="0" y="174212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4" name="S11-mark440"/>
          <p:cNvSpPr/>
          <p:nvPr/>
        </p:nvSpPr>
        <p:spPr>
          <a:xfrm>
            <a:off x="1953412" y="2618137"/>
            <a:ext cx="603471" cy="348424"/>
          </a:xfrm>
          <a:custGeom>
            <a:avLst/>
            <a:gdLst/>
            <a:ahLst/>
            <a:cxnLst/>
            <a:rect l="l" t="t" r="r" b="b"/>
            <a:pathLst>
              <a:path w="603471" h="348424">
                <a:moveTo>
                  <a:pt x="0" y="174212"/>
                </a:moveTo>
                <a:lnTo>
                  <a:pt x="301736" y="348424"/>
                </a:lnTo>
                <a:lnTo>
                  <a:pt x="603471" y="174212"/>
                </a:lnTo>
                <a:lnTo>
                  <a:pt x="301736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11-mark441"/>
          <p:cNvSpPr/>
          <p:nvPr/>
        </p:nvSpPr>
        <p:spPr>
          <a:xfrm>
            <a:off x="1953412" y="2792349"/>
            <a:ext cx="301736" cy="522637"/>
          </a:xfrm>
          <a:custGeom>
            <a:avLst/>
            <a:gdLst/>
            <a:ahLst/>
            <a:cxnLst/>
            <a:rect l="l" t="t" r="r" b="b"/>
            <a:pathLst>
              <a:path w="301736" h="522637">
                <a:moveTo>
                  <a:pt x="0" y="348424"/>
                </a:moveTo>
                <a:lnTo>
                  <a:pt x="301736" y="522637"/>
                </a:lnTo>
                <a:lnTo>
                  <a:pt x="301736" y="174212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6" name="S11-mark442"/>
          <p:cNvSpPr/>
          <p:nvPr/>
        </p:nvSpPr>
        <p:spPr>
          <a:xfrm>
            <a:off x="2255147" y="2792349"/>
            <a:ext cx="301736" cy="522637"/>
          </a:xfrm>
          <a:custGeom>
            <a:avLst/>
            <a:gdLst/>
            <a:ahLst/>
            <a:cxnLst/>
            <a:rect l="l" t="t" r="r" b="b"/>
            <a:pathLst>
              <a:path w="301736" h="522637">
                <a:moveTo>
                  <a:pt x="0" y="522637"/>
                </a:moveTo>
                <a:lnTo>
                  <a:pt x="301736" y="348424"/>
                </a:lnTo>
                <a:lnTo>
                  <a:pt x="301736" y="0"/>
                </a:lnTo>
                <a:lnTo>
                  <a:pt x="0" y="174212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7" name="S11-mark443"/>
          <p:cNvSpPr/>
          <p:nvPr/>
        </p:nvSpPr>
        <p:spPr>
          <a:xfrm>
            <a:off x="2556883" y="2618137"/>
            <a:ext cx="603471" cy="348424"/>
          </a:xfrm>
          <a:custGeom>
            <a:avLst/>
            <a:gdLst/>
            <a:ahLst/>
            <a:cxnLst/>
            <a:rect l="l" t="t" r="r" b="b"/>
            <a:pathLst>
              <a:path w="603471" h="348424">
                <a:moveTo>
                  <a:pt x="0" y="174212"/>
                </a:moveTo>
                <a:lnTo>
                  <a:pt x="301736" y="348424"/>
                </a:lnTo>
                <a:lnTo>
                  <a:pt x="603471" y="174212"/>
                </a:lnTo>
                <a:lnTo>
                  <a:pt x="301736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8" name="S11-mark444"/>
          <p:cNvSpPr/>
          <p:nvPr/>
        </p:nvSpPr>
        <p:spPr>
          <a:xfrm>
            <a:off x="2556883" y="2792349"/>
            <a:ext cx="301736" cy="522637"/>
          </a:xfrm>
          <a:custGeom>
            <a:avLst/>
            <a:gdLst/>
            <a:ahLst/>
            <a:cxnLst/>
            <a:rect l="l" t="t" r="r" b="b"/>
            <a:pathLst>
              <a:path w="301736" h="522637">
                <a:moveTo>
                  <a:pt x="0" y="348424"/>
                </a:moveTo>
                <a:lnTo>
                  <a:pt x="301736" y="522637"/>
                </a:lnTo>
                <a:lnTo>
                  <a:pt x="301736" y="174212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9" name="S11-mark445"/>
          <p:cNvSpPr/>
          <p:nvPr/>
        </p:nvSpPr>
        <p:spPr>
          <a:xfrm>
            <a:off x="2858618" y="2792349"/>
            <a:ext cx="301736" cy="522637"/>
          </a:xfrm>
          <a:custGeom>
            <a:avLst/>
            <a:gdLst/>
            <a:ahLst/>
            <a:cxnLst/>
            <a:rect l="l" t="t" r="r" b="b"/>
            <a:pathLst>
              <a:path w="301736" h="522637">
                <a:moveTo>
                  <a:pt x="0" y="522637"/>
                </a:moveTo>
                <a:lnTo>
                  <a:pt x="301736" y="348424"/>
                </a:lnTo>
                <a:lnTo>
                  <a:pt x="301736" y="0"/>
                </a:lnTo>
                <a:lnTo>
                  <a:pt x="0" y="174212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0" name="S11-mark446"/>
          <p:cNvSpPr/>
          <p:nvPr/>
        </p:nvSpPr>
        <p:spPr>
          <a:xfrm>
            <a:off x="2255147" y="2095500"/>
            <a:ext cx="603471" cy="348424"/>
          </a:xfrm>
          <a:custGeom>
            <a:avLst/>
            <a:gdLst/>
            <a:ahLst/>
            <a:cxnLst/>
            <a:rect l="l" t="t" r="r" b="b"/>
            <a:pathLst>
              <a:path w="603471" h="348424">
                <a:moveTo>
                  <a:pt x="0" y="174212"/>
                </a:moveTo>
                <a:lnTo>
                  <a:pt x="301736" y="348424"/>
                </a:lnTo>
                <a:lnTo>
                  <a:pt x="603471" y="174212"/>
                </a:lnTo>
                <a:lnTo>
                  <a:pt x="301736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1" name="S11-mark447"/>
          <p:cNvSpPr/>
          <p:nvPr/>
        </p:nvSpPr>
        <p:spPr>
          <a:xfrm>
            <a:off x="2255147" y="2269712"/>
            <a:ext cx="301736" cy="522637"/>
          </a:xfrm>
          <a:custGeom>
            <a:avLst/>
            <a:gdLst/>
            <a:ahLst/>
            <a:cxnLst/>
            <a:rect l="l" t="t" r="r" b="b"/>
            <a:pathLst>
              <a:path w="301736" h="522637">
                <a:moveTo>
                  <a:pt x="0" y="348424"/>
                </a:moveTo>
                <a:lnTo>
                  <a:pt x="301736" y="522637"/>
                </a:lnTo>
                <a:lnTo>
                  <a:pt x="301736" y="174212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2" name="S11-mark448"/>
          <p:cNvSpPr/>
          <p:nvPr/>
        </p:nvSpPr>
        <p:spPr>
          <a:xfrm>
            <a:off x="2556883" y="2269712"/>
            <a:ext cx="301736" cy="522637"/>
          </a:xfrm>
          <a:custGeom>
            <a:avLst/>
            <a:gdLst/>
            <a:ahLst/>
            <a:cxnLst/>
            <a:rect l="l" t="t" r="r" b="b"/>
            <a:pathLst>
              <a:path w="301736" h="522637">
                <a:moveTo>
                  <a:pt x="0" y="522637"/>
                </a:moveTo>
                <a:lnTo>
                  <a:pt x="301736" y="348424"/>
                </a:lnTo>
                <a:lnTo>
                  <a:pt x="301736" y="0"/>
                </a:lnTo>
                <a:lnTo>
                  <a:pt x="0" y="174212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3" name="S11-mark449"/>
          <p:cNvSpPr/>
          <p:nvPr/>
        </p:nvSpPr>
        <p:spPr>
          <a:xfrm>
            <a:off x="2255147" y="2792349"/>
            <a:ext cx="603471" cy="348424"/>
          </a:xfrm>
          <a:custGeom>
            <a:avLst/>
            <a:gdLst/>
            <a:ahLst/>
            <a:cxnLst/>
            <a:rect l="l" t="t" r="r" b="b"/>
            <a:pathLst>
              <a:path w="603471" h="348424">
                <a:moveTo>
                  <a:pt x="0" y="174212"/>
                </a:moveTo>
                <a:lnTo>
                  <a:pt x="301736" y="348424"/>
                </a:lnTo>
                <a:lnTo>
                  <a:pt x="603471" y="174212"/>
                </a:lnTo>
                <a:lnTo>
                  <a:pt x="301736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4" name="S11-mark450"/>
          <p:cNvSpPr/>
          <p:nvPr/>
        </p:nvSpPr>
        <p:spPr>
          <a:xfrm>
            <a:off x="2255147" y="2966561"/>
            <a:ext cx="301736" cy="522637"/>
          </a:xfrm>
          <a:custGeom>
            <a:avLst/>
            <a:gdLst/>
            <a:ahLst/>
            <a:cxnLst/>
            <a:rect l="l" t="t" r="r" b="b"/>
            <a:pathLst>
              <a:path w="301736" h="522637">
                <a:moveTo>
                  <a:pt x="0" y="348424"/>
                </a:moveTo>
                <a:lnTo>
                  <a:pt x="301736" y="522637"/>
                </a:lnTo>
                <a:lnTo>
                  <a:pt x="301736" y="174212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11-mark451"/>
          <p:cNvSpPr/>
          <p:nvPr/>
        </p:nvSpPr>
        <p:spPr>
          <a:xfrm>
            <a:off x="2556883" y="2966561"/>
            <a:ext cx="301736" cy="522637"/>
          </a:xfrm>
          <a:custGeom>
            <a:avLst/>
            <a:gdLst/>
            <a:ahLst/>
            <a:cxnLst/>
            <a:rect l="l" t="t" r="r" b="b"/>
            <a:pathLst>
              <a:path w="301736" h="522637">
                <a:moveTo>
                  <a:pt x="0" y="522637"/>
                </a:moveTo>
                <a:lnTo>
                  <a:pt x="301736" y="348424"/>
                </a:lnTo>
                <a:lnTo>
                  <a:pt x="301736" y="0"/>
                </a:lnTo>
                <a:lnTo>
                  <a:pt x="0" y="174212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6" name="S11-mark452"/>
          <p:cNvSpPr/>
          <p:nvPr/>
        </p:nvSpPr>
        <p:spPr>
          <a:xfrm>
            <a:off x="1953412" y="2269712"/>
            <a:ext cx="603471" cy="348424"/>
          </a:xfrm>
          <a:custGeom>
            <a:avLst/>
            <a:gdLst/>
            <a:ahLst/>
            <a:cxnLst/>
            <a:rect l="l" t="t" r="r" b="b"/>
            <a:pathLst>
              <a:path w="603471" h="348424">
                <a:moveTo>
                  <a:pt x="0" y="174212"/>
                </a:moveTo>
                <a:lnTo>
                  <a:pt x="301736" y="348424"/>
                </a:lnTo>
                <a:lnTo>
                  <a:pt x="603471" y="174212"/>
                </a:lnTo>
                <a:lnTo>
                  <a:pt x="301736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7" name="S11-mark453"/>
          <p:cNvSpPr/>
          <p:nvPr/>
        </p:nvSpPr>
        <p:spPr>
          <a:xfrm>
            <a:off x="1953412" y="2443925"/>
            <a:ext cx="301736" cy="522637"/>
          </a:xfrm>
          <a:custGeom>
            <a:avLst/>
            <a:gdLst/>
            <a:ahLst/>
            <a:cxnLst/>
            <a:rect l="l" t="t" r="r" b="b"/>
            <a:pathLst>
              <a:path w="301736" h="522637">
                <a:moveTo>
                  <a:pt x="0" y="348424"/>
                </a:moveTo>
                <a:lnTo>
                  <a:pt x="301736" y="522637"/>
                </a:lnTo>
                <a:lnTo>
                  <a:pt x="301736" y="174212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8" name="S11-mark454"/>
          <p:cNvSpPr/>
          <p:nvPr/>
        </p:nvSpPr>
        <p:spPr>
          <a:xfrm>
            <a:off x="2255147" y="2443925"/>
            <a:ext cx="301736" cy="522637"/>
          </a:xfrm>
          <a:custGeom>
            <a:avLst/>
            <a:gdLst/>
            <a:ahLst/>
            <a:cxnLst/>
            <a:rect l="l" t="t" r="r" b="b"/>
            <a:pathLst>
              <a:path w="301736" h="522637">
                <a:moveTo>
                  <a:pt x="0" y="522637"/>
                </a:moveTo>
                <a:lnTo>
                  <a:pt x="301736" y="348424"/>
                </a:lnTo>
                <a:lnTo>
                  <a:pt x="301736" y="0"/>
                </a:lnTo>
                <a:lnTo>
                  <a:pt x="0" y="174212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9" name="S11-label455"/>
          <p:cNvSpPr txBox="1"/>
          <p:nvPr/>
        </p:nvSpPr>
        <p:spPr>
          <a:xfrm>
            <a:off x="1344168" y="3646170"/>
            <a:ext cx="212369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쌓은 모양</a:t>
            </a:r>
            <a:endParaRPr lang="ko-KR" sz="2200" dirty="0"/>
          </a:p>
        </p:txBody>
      </p:sp>
      <p:sp>
        <p:nvSpPr>
          <p:cNvPr id="30" name="S11-figure456" descr="위에서 본 모양: 앞줄 3칸, 뒷줄 3칸(여섯 칸 모두)"/>
          <p:cNvSpPr/>
          <p:nvPr/>
        </p:nvSpPr>
        <p:spPr>
          <a:xfrm>
            <a:off x="4273677" y="2686736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0" y="384048"/>
                </a:moveTo>
                <a:lnTo>
                  <a:pt x="384048" y="384048"/>
                </a:lnTo>
                <a:lnTo>
                  <a:pt x="384048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1" name="S11-mark457"/>
          <p:cNvSpPr/>
          <p:nvPr/>
        </p:nvSpPr>
        <p:spPr>
          <a:xfrm>
            <a:off x="4273677" y="2302688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0" y="384048"/>
                </a:moveTo>
                <a:lnTo>
                  <a:pt x="384048" y="384048"/>
                </a:lnTo>
                <a:lnTo>
                  <a:pt x="384048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2" name="S11-mark458"/>
          <p:cNvSpPr/>
          <p:nvPr/>
        </p:nvSpPr>
        <p:spPr>
          <a:xfrm>
            <a:off x="4657725" y="2686736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0" y="384048"/>
                </a:moveTo>
                <a:lnTo>
                  <a:pt x="384048" y="384048"/>
                </a:lnTo>
                <a:lnTo>
                  <a:pt x="384048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3" name="S11-mark459"/>
          <p:cNvSpPr/>
          <p:nvPr/>
        </p:nvSpPr>
        <p:spPr>
          <a:xfrm>
            <a:off x="4657725" y="2302688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0" y="384048"/>
                </a:moveTo>
                <a:lnTo>
                  <a:pt x="384048" y="384048"/>
                </a:lnTo>
                <a:lnTo>
                  <a:pt x="384048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4" name="S11-mark460"/>
          <p:cNvSpPr/>
          <p:nvPr/>
        </p:nvSpPr>
        <p:spPr>
          <a:xfrm>
            <a:off x="5041773" y="2686736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0" y="384048"/>
                </a:moveTo>
                <a:lnTo>
                  <a:pt x="384048" y="384048"/>
                </a:lnTo>
                <a:lnTo>
                  <a:pt x="384048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5" name="S11-mark461"/>
          <p:cNvSpPr/>
          <p:nvPr/>
        </p:nvSpPr>
        <p:spPr>
          <a:xfrm>
            <a:off x="5041773" y="2302688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0" y="384048"/>
                </a:moveTo>
                <a:lnTo>
                  <a:pt x="384048" y="384048"/>
                </a:lnTo>
                <a:lnTo>
                  <a:pt x="384048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6" name="S11-label463"/>
          <p:cNvSpPr txBox="1"/>
          <p:nvPr/>
        </p:nvSpPr>
        <p:spPr>
          <a:xfrm>
            <a:off x="4657979" y="3107385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</a:t>
            </a:r>
            <a:endParaRPr lang="ko-KR" sz="2200" dirty="0"/>
          </a:p>
        </p:txBody>
      </p:sp>
      <p:sp>
        <p:nvSpPr>
          <p:cNvPr id="37" name="S11-label464"/>
          <p:cNvSpPr txBox="1"/>
          <p:nvPr/>
        </p:nvSpPr>
        <p:spPr>
          <a:xfrm>
            <a:off x="3787902" y="3646170"/>
            <a:ext cx="212369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위에서 본 모양</a:t>
            </a:r>
            <a:endParaRPr lang="ko-KR" sz="2200" dirty="0"/>
          </a:p>
        </p:txBody>
      </p:sp>
      <p:sp>
        <p:nvSpPr>
          <p:cNvPr id="38" name="S11-chip465"/>
          <p:cNvSpPr txBox="1"/>
          <p:nvPr/>
        </p:nvSpPr>
        <p:spPr>
          <a:xfrm>
            <a:off x="6277356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39" name="S11-figure466" descr="위에서 본 모양에 수를 씀: 뒷줄 2, 1, 2 / 앞줄 3, 1"/>
          <p:cNvSpPr/>
          <p:nvPr/>
        </p:nvSpPr>
        <p:spPr>
          <a:xfrm>
            <a:off x="8670798" y="289179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457200"/>
                </a:moveTo>
                <a:lnTo>
                  <a:pt x="457200" y="457200"/>
                </a:lnTo>
                <a:lnTo>
                  <a:pt x="457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0" name="S11-mark467"/>
          <p:cNvSpPr/>
          <p:nvPr/>
        </p:nvSpPr>
        <p:spPr>
          <a:xfrm>
            <a:off x="8670798" y="243459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457200"/>
                </a:moveTo>
                <a:lnTo>
                  <a:pt x="457200" y="457200"/>
                </a:lnTo>
                <a:lnTo>
                  <a:pt x="457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1" name="S11-mark468"/>
          <p:cNvSpPr/>
          <p:nvPr/>
        </p:nvSpPr>
        <p:spPr>
          <a:xfrm>
            <a:off x="9127998" y="289179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457200"/>
                </a:moveTo>
                <a:lnTo>
                  <a:pt x="457200" y="457200"/>
                </a:lnTo>
                <a:lnTo>
                  <a:pt x="457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2" name="S11-mark469"/>
          <p:cNvSpPr/>
          <p:nvPr/>
        </p:nvSpPr>
        <p:spPr>
          <a:xfrm>
            <a:off x="9127998" y="243459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457200"/>
                </a:moveTo>
                <a:lnTo>
                  <a:pt x="457200" y="457200"/>
                </a:lnTo>
                <a:lnTo>
                  <a:pt x="457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3" name="S11-mark470"/>
          <p:cNvSpPr/>
          <p:nvPr/>
        </p:nvSpPr>
        <p:spPr>
          <a:xfrm>
            <a:off x="9585198" y="243459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457200"/>
                </a:moveTo>
                <a:lnTo>
                  <a:pt x="457200" y="457200"/>
                </a:lnTo>
                <a:lnTo>
                  <a:pt x="457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4" name="S11-label472"/>
          <p:cNvSpPr txBox="1"/>
          <p:nvPr/>
        </p:nvSpPr>
        <p:spPr>
          <a:xfrm>
            <a:off x="8752332" y="294576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45" name="S11-label474"/>
          <p:cNvSpPr txBox="1"/>
          <p:nvPr/>
        </p:nvSpPr>
        <p:spPr>
          <a:xfrm>
            <a:off x="8752332" y="248856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46" name="S11-label476"/>
          <p:cNvSpPr txBox="1"/>
          <p:nvPr/>
        </p:nvSpPr>
        <p:spPr>
          <a:xfrm>
            <a:off x="9209532" y="294576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47" name="S11-label478"/>
          <p:cNvSpPr txBox="1"/>
          <p:nvPr/>
        </p:nvSpPr>
        <p:spPr>
          <a:xfrm>
            <a:off x="9209532" y="248856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48" name="S11-label480"/>
          <p:cNvSpPr txBox="1"/>
          <p:nvPr/>
        </p:nvSpPr>
        <p:spPr>
          <a:xfrm>
            <a:off x="9666732" y="248856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49" name="S11-label482"/>
          <p:cNvSpPr txBox="1"/>
          <p:nvPr/>
        </p:nvSpPr>
        <p:spPr>
          <a:xfrm>
            <a:off x="9164828" y="3425825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</a:t>
            </a:r>
            <a:endParaRPr lang="ko-KR" sz="2200" dirty="0"/>
          </a:p>
        </p:txBody>
      </p:sp>
      <p:sp>
        <p:nvSpPr>
          <p:cNvPr id="50" name="S11-chip483"/>
          <p:cNvSpPr txBox="1"/>
          <p:nvPr/>
        </p:nvSpPr>
        <p:spPr>
          <a:xfrm>
            <a:off x="548640" y="49286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51" name="S11-cell484"/>
          <p:cNvSpPr/>
          <p:nvPr/>
        </p:nvSpPr>
        <p:spPr>
          <a:xfrm>
            <a:off x="1587246" y="4712589"/>
            <a:ext cx="274320" cy="2743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2" name="S11-cell485"/>
          <p:cNvSpPr/>
          <p:nvPr/>
        </p:nvSpPr>
        <p:spPr>
          <a:xfrm>
            <a:off x="1861566" y="4712589"/>
            <a:ext cx="274320" cy="2743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3" name="S11-cell486"/>
          <p:cNvSpPr/>
          <p:nvPr/>
        </p:nvSpPr>
        <p:spPr>
          <a:xfrm>
            <a:off x="2135886" y="4712589"/>
            <a:ext cx="274320" cy="2743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4" name="S11-cell487"/>
          <p:cNvSpPr/>
          <p:nvPr/>
        </p:nvSpPr>
        <p:spPr>
          <a:xfrm>
            <a:off x="1587246" y="4986909"/>
            <a:ext cx="274320" cy="2743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5" name="S11-cell488"/>
          <p:cNvSpPr/>
          <p:nvPr/>
        </p:nvSpPr>
        <p:spPr>
          <a:xfrm>
            <a:off x="1861566" y="4986909"/>
            <a:ext cx="274320" cy="2743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6" name="S11-cell489"/>
          <p:cNvSpPr/>
          <p:nvPr/>
        </p:nvSpPr>
        <p:spPr>
          <a:xfrm>
            <a:off x="2135886" y="4986909"/>
            <a:ext cx="274320" cy="2743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7" name="S11-figure490" descr="1층 모양: 6칸 모두 색칠"/>
          <p:cNvSpPr/>
          <p:nvPr/>
        </p:nvSpPr>
        <p:spPr>
          <a:xfrm>
            <a:off x="1587246" y="4712589"/>
            <a:ext cx="822960" cy="5486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58" name="S11-label491"/>
          <p:cNvSpPr txBox="1"/>
          <p:nvPr/>
        </p:nvSpPr>
        <p:spPr>
          <a:xfrm>
            <a:off x="1344168" y="5840730"/>
            <a:ext cx="13091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1층</a:t>
            </a:r>
            <a:endParaRPr lang="ko-KR" sz="2200" dirty="0"/>
          </a:p>
        </p:txBody>
      </p:sp>
      <p:sp>
        <p:nvSpPr>
          <p:cNvPr id="59" name="S11-cell492"/>
          <p:cNvSpPr/>
          <p:nvPr/>
        </p:nvSpPr>
        <p:spPr>
          <a:xfrm>
            <a:off x="3216402" y="4712589"/>
            <a:ext cx="274320" cy="2743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0" name="S11-cell493"/>
          <p:cNvSpPr/>
          <p:nvPr/>
        </p:nvSpPr>
        <p:spPr>
          <a:xfrm>
            <a:off x="3490722" y="4712589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1" name="S11-cell494"/>
          <p:cNvSpPr/>
          <p:nvPr/>
        </p:nvSpPr>
        <p:spPr>
          <a:xfrm>
            <a:off x="3765042" y="4712589"/>
            <a:ext cx="274320" cy="2743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2" name="S11-cell495"/>
          <p:cNvSpPr/>
          <p:nvPr/>
        </p:nvSpPr>
        <p:spPr>
          <a:xfrm>
            <a:off x="3216402" y="4986909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3" name="S11-cell496"/>
          <p:cNvSpPr/>
          <p:nvPr/>
        </p:nvSpPr>
        <p:spPr>
          <a:xfrm>
            <a:off x="3490722" y="4986909"/>
            <a:ext cx="274320" cy="2743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4" name="S11-cell497"/>
          <p:cNvSpPr/>
          <p:nvPr/>
        </p:nvSpPr>
        <p:spPr>
          <a:xfrm>
            <a:off x="3765042" y="4986909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5" name="S11-figure498" descr="2층 모양: 앞줄 가운데, 뒷줄 왼쪽, 뒷줄 오른쪽 3칸 색칠"/>
          <p:cNvSpPr/>
          <p:nvPr/>
        </p:nvSpPr>
        <p:spPr>
          <a:xfrm>
            <a:off x="3216402" y="4712589"/>
            <a:ext cx="822960" cy="5486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6" name="S11-label499"/>
          <p:cNvSpPr txBox="1"/>
          <p:nvPr/>
        </p:nvSpPr>
        <p:spPr>
          <a:xfrm>
            <a:off x="2973324" y="5840730"/>
            <a:ext cx="13091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2층</a:t>
            </a:r>
            <a:endParaRPr lang="ko-KR" sz="2200" dirty="0"/>
          </a:p>
        </p:txBody>
      </p:sp>
      <p:sp>
        <p:nvSpPr>
          <p:cNvPr id="67" name="S11-cell500"/>
          <p:cNvSpPr/>
          <p:nvPr/>
        </p:nvSpPr>
        <p:spPr>
          <a:xfrm>
            <a:off x="4845558" y="4712589"/>
            <a:ext cx="274320" cy="2743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8" name="S11-cell501"/>
          <p:cNvSpPr/>
          <p:nvPr/>
        </p:nvSpPr>
        <p:spPr>
          <a:xfrm>
            <a:off x="5119878" y="4712589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9" name="S11-cell502"/>
          <p:cNvSpPr/>
          <p:nvPr/>
        </p:nvSpPr>
        <p:spPr>
          <a:xfrm>
            <a:off x="5394198" y="4712589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0" name="S11-cell503"/>
          <p:cNvSpPr/>
          <p:nvPr/>
        </p:nvSpPr>
        <p:spPr>
          <a:xfrm>
            <a:off x="4845558" y="4986909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1" name="S11-cell504"/>
          <p:cNvSpPr/>
          <p:nvPr/>
        </p:nvSpPr>
        <p:spPr>
          <a:xfrm>
            <a:off x="5119878" y="4986909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2" name="S11-cell505"/>
          <p:cNvSpPr/>
          <p:nvPr/>
        </p:nvSpPr>
        <p:spPr>
          <a:xfrm>
            <a:off x="5394198" y="4986909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3" name="S11-figure506" descr="3층 모양: 뒷줄 왼쪽 1칸 색칠"/>
          <p:cNvSpPr/>
          <p:nvPr/>
        </p:nvSpPr>
        <p:spPr>
          <a:xfrm>
            <a:off x="4845558" y="4712589"/>
            <a:ext cx="822960" cy="5486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4" name="S11-label507"/>
          <p:cNvSpPr txBox="1"/>
          <p:nvPr/>
        </p:nvSpPr>
        <p:spPr>
          <a:xfrm>
            <a:off x="4602480" y="5840730"/>
            <a:ext cx="13091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3층</a:t>
            </a:r>
            <a:endParaRPr lang="ko-KR" sz="2200" dirty="0"/>
          </a:p>
        </p:txBody>
      </p:sp>
      <p:sp>
        <p:nvSpPr>
          <p:cNvPr id="75" name="S11-chip508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76" name="S11-text509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②를 앞에서 보면 왼쪽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줄부터 몇 층씩 보이나요?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2-card5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5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블록으로 똑같이 쌓아 보며 확인하게 하세요.</a:t>
            </a:r>
            <a:endParaRPr lang="ko-KR" sz="2800" dirty="0"/>
          </a:p>
        </p:txBody>
      </p:sp>
      <p:sp>
        <p:nvSpPr>
          <p:cNvPr id="5" name="S12-chip512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2-text513"/>
          <p:cNvSpPr txBox="1"/>
          <p:nvPr/>
        </p:nvSpPr>
        <p:spPr>
          <a:xfrm>
            <a:off x="548640" y="20574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8개</a:t>
            </a:r>
            <a:endParaRPr lang="ko-KR" sz="2800" dirty="0"/>
          </a:p>
        </p:txBody>
      </p:sp>
      <p:sp>
        <p:nvSpPr>
          <p:cNvPr id="7" name="S12-text514"/>
          <p:cNvSpPr txBox="1"/>
          <p:nvPr/>
        </p:nvSpPr>
        <p:spPr>
          <a:xfrm>
            <a:off x="548640" y="28575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9개</a:t>
            </a:r>
            <a:endParaRPr lang="ko-KR" sz="2800" dirty="0"/>
          </a:p>
        </p:txBody>
      </p:sp>
      <p:sp>
        <p:nvSpPr>
          <p:cNvPr id="8" name="S12-text515"/>
          <p:cNvSpPr txBox="1"/>
          <p:nvPr/>
        </p:nvSpPr>
        <p:spPr>
          <a:xfrm>
            <a:off x="548640" y="36576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10개</a:t>
            </a:r>
            <a:endParaRPr lang="ko-KR" sz="2800" dirty="0"/>
          </a:p>
        </p:txBody>
      </p:sp>
      <p:sp>
        <p:nvSpPr>
          <p:cNvPr id="9" name="S12-text516"/>
          <p:cNvSpPr txBox="1"/>
          <p:nvPr/>
        </p:nvSpPr>
        <p:spPr>
          <a:xfrm>
            <a:off x="548640" y="44577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3층, 1층, 2층</a:t>
            </a:r>
            <a:endParaRPr lang="ko-KR" sz="2800" dirty="0"/>
          </a:p>
        </p:txBody>
      </p:sp>
      <p:sp>
        <p:nvSpPr>
          <p:cNvPr id="10" name="S12-chip517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1" name="S12-text518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7개</a:t>
            </a:r>
            <a:endParaRPr lang="ko-KR" sz="2800" dirty="0"/>
          </a:p>
        </p:txBody>
      </p:sp>
      <p:sp>
        <p:nvSpPr>
          <p:cNvPr id="12" name="S12-text519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숨은 1개를 빠뜨림</a:t>
            </a:r>
            <a:endParaRPr lang="ko-KR" sz="2200" dirty="0"/>
          </a:p>
        </p:txBody>
      </p:sp>
      <p:sp>
        <p:nvSpPr>
          <p:cNvPr id="13" name="S12-text520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5층, 2층, 2층</a:t>
            </a:r>
            <a:endParaRPr lang="ko-KR" sz="2800" dirty="0"/>
          </a:p>
        </p:txBody>
      </p:sp>
      <p:sp>
        <p:nvSpPr>
          <p:cNvPr id="14" name="S12-text521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줄의 수를 더함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옆에서 본 모양은?</a:t>
            </a:r>
            <a:endParaRPr lang="ko-KR" sz="4000" dirty="0"/>
          </a:p>
        </p:txBody>
      </p:sp>
      <p:sp>
        <p:nvSpPr>
          <p:cNvPr id="3" name="S13-card52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52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옆에서 본 모양을 고르고, 까닭을 말해요.</a:t>
            </a:r>
            <a:endParaRPr lang="ko-KR" sz="2800" dirty="0"/>
          </a:p>
        </p:txBody>
      </p:sp>
      <p:sp>
        <p:nvSpPr>
          <p:cNvPr id="5" name="S13-chip524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</a:t>
            </a:r>
            <a:endParaRPr lang="ko-KR" sz="2800" dirty="0"/>
          </a:p>
        </p:txBody>
      </p:sp>
      <p:sp>
        <p:nvSpPr>
          <p:cNvPr id="6" name="S13-figure525" descr="위에서 본 모양에 수를 씀: 뒷줄 3, 2, 1 / 앞줄 2, 1"/>
          <p:cNvSpPr/>
          <p:nvPr/>
        </p:nvSpPr>
        <p:spPr>
          <a:xfrm>
            <a:off x="2955977" y="1857636"/>
            <a:ext cx="447936" cy="447936"/>
          </a:xfrm>
          <a:custGeom>
            <a:avLst/>
            <a:gdLst/>
            <a:ahLst/>
            <a:cxnLst/>
            <a:rect l="l" t="t" r="r" b="b"/>
            <a:pathLst>
              <a:path w="447936" h="447936">
                <a:moveTo>
                  <a:pt x="0" y="447936"/>
                </a:moveTo>
                <a:lnTo>
                  <a:pt x="447936" y="447936"/>
                </a:lnTo>
                <a:lnTo>
                  <a:pt x="44793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13-mark526"/>
          <p:cNvSpPr/>
          <p:nvPr/>
        </p:nvSpPr>
        <p:spPr>
          <a:xfrm>
            <a:off x="2955977" y="1409700"/>
            <a:ext cx="447936" cy="447936"/>
          </a:xfrm>
          <a:custGeom>
            <a:avLst/>
            <a:gdLst/>
            <a:ahLst/>
            <a:cxnLst/>
            <a:rect l="l" t="t" r="r" b="b"/>
            <a:pathLst>
              <a:path w="447936" h="447936">
                <a:moveTo>
                  <a:pt x="0" y="447936"/>
                </a:moveTo>
                <a:lnTo>
                  <a:pt x="447936" y="447936"/>
                </a:lnTo>
                <a:lnTo>
                  <a:pt x="44793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13-mark527"/>
          <p:cNvSpPr/>
          <p:nvPr/>
        </p:nvSpPr>
        <p:spPr>
          <a:xfrm>
            <a:off x="3403914" y="1857636"/>
            <a:ext cx="447936" cy="447936"/>
          </a:xfrm>
          <a:custGeom>
            <a:avLst/>
            <a:gdLst/>
            <a:ahLst/>
            <a:cxnLst/>
            <a:rect l="l" t="t" r="r" b="b"/>
            <a:pathLst>
              <a:path w="447936" h="447936">
                <a:moveTo>
                  <a:pt x="0" y="447936"/>
                </a:moveTo>
                <a:lnTo>
                  <a:pt x="447936" y="447936"/>
                </a:lnTo>
                <a:lnTo>
                  <a:pt x="44793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13-mark528"/>
          <p:cNvSpPr/>
          <p:nvPr/>
        </p:nvSpPr>
        <p:spPr>
          <a:xfrm>
            <a:off x="3403914" y="1409700"/>
            <a:ext cx="447936" cy="447936"/>
          </a:xfrm>
          <a:custGeom>
            <a:avLst/>
            <a:gdLst/>
            <a:ahLst/>
            <a:cxnLst/>
            <a:rect l="l" t="t" r="r" b="b"/>
            <a:pathLst>
              <a:path w="447936" h="447936">
                <a:moveTo>
                  <a:pt x="0" y="447936"/>
                </a:moveTo>
                <a:lnTo>
                  <a:pt x="447936" y="447936"/>
                </a:lnTo>
                <a:lnTo>
                  <a:pt x="44793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13-mark529"/>
          <p:cNvSpPr/>
          <p:nvPr/>
        </p:nvSpPr>
        <p:spPr>
          <a:xfrm>
            <a:off x="3851850" y="1409700"/>
            <a:ext cx="447936" cy="447936"/>
          </a:xfrm>
          <a:custGeom>
            <a:avLst/>
            <a:gdLst/>
            <a:ahLst/>
            <a:cxnLst/>
            <a:rect l="l" t="t" r="r" b="b"/>
            <a:pathLst>
              <a:path w="447936" h="447936">
                <a:moveTo>
                  <a:pt x="0" y="447936"/>
                </a:moveTo>
                <a:lnTo>
                  <a:pt x="447936" y="447936"/>
                </a:lnTo>
                <a:lnTo>
                  <a:pt x="44793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13-label531"/>
          <p:cNvSpPr txBox="1"/>
          <p:nvPr/>
        </p:nvSpPr>
        <p:spPr>
          <a:xfrm>
            <a:off x="3032880" y="1906980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2" name="S13-label533"/>
          <p:cNvSpPr txBox="1"/>
          <p:nvPr/>
        </p:nvSpPr>
        <p:spPr>
          <a:xfrm>
            <a:off x="3032880" y="1459043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3" name="S13-label535"/>
          <p:cNvSpPr txBox="1"/>
          <p:nvPr/>
        </p:nvSpPr>
        <p:spPr>
          <a:xfrm>
            <a:off x="3480816" y="1906980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4" name="S13-label537"/>
          <p:cNvSpPr txBox="1"/>
          <p:nvPr/>
        </p:nvSpPr>
        <p:spPr>
          <a:xfrm>
            <a:off x="3480816" y="1459043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5" name="S13-label539"/>
          <p:cNvSpPr txBox="1"/>
          <p:nvPr/>
        </p:nvSpPr>
        <p:spPr>
          <a:xfrm>
            <a:off x="3928752" y="1459043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6" name="S13-label541"/>
          <p:cNvSpPr txBox="1"/>
          <p:nvPr/>
        </p:nvSpPr>
        <p:spPr>
          <a:xfrm>
            <a:off x="3436112" y="2377313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</a:t>
            </a:r>
            <a:endParaRPr lang="ko-KR" sz="2200" dirty="0"/>
          </a:p>
        </p:txBody>
      </p:sp>
      <p:sp>
        <p:nvSpPr>
          <p:cNvPr id="17" name="S13-label542"/>
          <p:cNvSpPr txBox="1"/>
          <p:nvPr/>
        </p:nvSpPr>
        <p:spPr>
          <a:xfrm>
            <a:off x="1344168" y="2708910"/>
            <a:ext cx="4567428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위에서 본 모양</a:t>
            </a:r>
            <a:endParaRPr lang="ko-KR" sz="2200" dirty="0"/>
          </a:p>
        </p:txBody>
      </p:sp>
      <p:sp>
        <p:nvSpPr>
          <p:cNvPr id="18" name="S13-chip543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19" name="S13-cell544"/>
          <p:cNvSpPr/>
          <p:nvPr/>
        </p:nvSpPr>
        <p:spPr>
          <a:xfrm>
            <a:off x="8972550" y="1404747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13-cell545"/>
          <p:cNvSpPr/>
          <p:nvPr/>
        </p:nvSpPr>
        <p:spPr>
          <a:xfrm>
            <a:off x="9356598" y="1404747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13-cell546"/>
          <p:cNvSpPr/>
          <p:nvPr/>
        </p:nvSpPr>
        <p:spPr>
          <a:xfrm>
            <a:off x="8972550" y="1788795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13-cell547"/>
          <p:cNvSpPr/>
          <p:nvPr/>
        </p:nvSpPr>
        <p:spPr>
          <a:xfrm>
            <a:off x="9356598" y="1788795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13-cell548"/>
          <p:cNvSpPr/>
          <p:nvPr/>
        </p:nvSpPr>
        <p:spPr>
          <a:xfrm>
            <a:off x="8972550" y="2172843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13-cell549"/>
          <p:cNvSpPr/>
          <p:nvPr/>
        </p:nvSpPr>
        <p:spPr>
          <a:xfrm>
            <a:off x="9356598" y="2172843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13-figure550" descr="가: 왼쪽 3칸, 오른쪽 2칸 색칠"/>
          <p:cNvSpPr/>
          <p:nvPr/>
        </p:nvSpPr>
        <p:spPr>
          <a:xfrm>
            <a:off x="8972550" y="1404747"/>
            <a:ext cx="768096" cy="1152144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6" name="S13-label551"/>
          <p:cNvSpPr txBox="1"/>
          <p:nvPr/>
        </p:nvSpPr>
        <p:spPr>
          <a:xfrm>
            <a:off x="7072884" y="2708910"/>
            <a:ext cx="4567428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ko-KR" sz="2200" dirty="0"/>
          </a:p>
        </p:txBody>
      </p:sp>
      <p:sp>
        <p:nvSpPr>
          <p:cNvPr id="27" name="S13-chip552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28" name="S13-cell553"/>
          <p:cNvSpPr/>
          <p:nvPr/>
        </p:nvSpPr>
        <p:spPr>
          <a:xfrm>
            <a:off x="3243834" y="3439287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13-cell554"/>
          <p:cNvSpPr/>
          <p:nvPr/>
        </p:nvSpPr>
        <p:spPr>
          <a:xfrm>
            <a:off x="3627882" y="3439287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13-cell555"/>
          <p:cNvSpPr/>
          <p:nvPr/>
        </p:nvSpPr>
        <p:spPr>
          <a:xfrm>
            <a:off x="3243834" y="3823335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13-cell556"/>
          <p:cNvSpPr/>
          <p:nvPr/>
        </p:nvSpPr>
        <p:spPr>
          <a:xfrm>
            <a:off x="3627882" y="3823335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13-cell557"/>
          <p:cNvSpPr/>
          <p:nvPr/>
        </p:nvSpPr>
        <p:spPr>
          <a:xfrm>
            <a:off x="3243834" y="4207383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13-cell558"/>
          <p:cNvSpPr/>
          <p:nvPr/>
        </p:nvSpPr>
        <p:spPr>
          <a:xfrm>
            <a:off x="3627882" y="4207383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13-figure559" descr="나: 왼쪽 2칸, 오른쪽 3칸 색칠"/>
          <p:cNvSpPr/>
          <p:nvPr/>
        </p:nvSpPr>
        <p:spPr>
          <a:xfrm>
            <a:off x="3243834" y="3439287"/>
            <a:ext cx="768096" cy="1152144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5" name="S13-label560"/>
          <p:cNvSpPr txBox="1"/>
          <p:nvPr/>
        </p:nvSpPr>
        <p:spPr>
          <a:xfrm>
            <a:off x="1344168" y="4743450"/>
            <a:ext cx="4567428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ko-KR" sz="2200" dirty="0"/>
          </a:p>
        </p:txBody>
      </p:sp>
      <p:sp>
        <p:nvSpPr>
          <p:cNvPr id="36" name="S13-chip561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37" name="S13-cell562"/>
          <p:cNvSpPr/>
          <p:nvPr/>
        </p:nvSpPr>
        <p:spPr>
          <a:xfrm>
            <a:off x="8780526" y="3439287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13-cell563"/>
          <p:cNvSpPr/>
          <p:nvPr/>
        </p:nvSpPr>
        <p:spPr>
          <a:xfrm>
            <a:off x="9164574" y="3439287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13-cell564"/>
          <p:cNvSpPr/>
          <p:nvPr/>
        </p:nvSpPr>
        <p:spPr>
          <a:xfrm>
            <a:off x="9548622" y="3439287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13-cell565"/>
          <p:cNvSpPr/>
          <p:nvPr/>
        </p:nvSpPr>
        <p:spPr>
          <a:xfrm>
            <a:off x="8780526" y="3823335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13-cell566"/>
          <p:cNvSpPr/>
          <p:nvPr/>
        </p:nvSpPr>
        <p:spPr>
          <a:xfrm>
            <a:off x="9164574" y="3823335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2" name="S13-cell567"/>
          <p:cNvSpPr/>
          <p:nvPr/>
        </p:nvSpPr>
        <p:spPr>
          <a:xfrm>
            <a:off x="9548622" y="3823335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3" name="S13-cell568"/>
          <p:cNvSpPr/>
          <p:nvPr/>
        </p:nvSpPr>
        <p:spPr>
          <a:xfrm>
            <a:off x="8780526" y="4207383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4" name="S13-cell569"/>
          <p:cNvSpPr/>
          <p:nvPr/>
        </p:nvSpPr>
        <p:spPr>
          <a:xfrm>
            <a:off x="9164574" y="4207383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5" name="S13-cell570"/>
          <p:cNvSpPr/>
          <p:nvPr/>
        </p:nvSpPr>
        <p:spPr>
          <a:xfrm>
            <a:off x="9548622" y="4207383"/>
            <a:ext cx="384048" cy="38404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6" name="S13-figure571" descr="다: 왼쪽부터 3칸, 2칸, 1칸 색칠"/>
          <p:cNvSpPr/>
          <p:nvPr/>
        </p:nvSpPr>
        <p:spPr>
          <a:xfrm>
            <a:off x="8780526" y="3439287"/>
            <a:ext cx="1152144" cy="1152144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7" name="S13-label572"/>
          <p:cNvSpPr txBox="1"/>
          <p:nvPr/>
        </p:nvSpPr>
        <p:spPr>
          <a:xfrm>
            <a:off x="7072884" y="4743450"/>
            <a:ext cx="4567428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573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574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앞·옆에서는 줄마다 가장 높은 층이 보여요. 숨은 쌓기나무는 위에서 본 모양으로 확인해요.</a:t>
            </a:r>
            <a:endParaRPr lang="ko-KR" sz="2800" dirty="0"/>
          </a:p>
        </p:txBody>
      </p:sp>
      <p:sp>
        <p:nvSpPr>
          <p:cNvPr id="5" name="S14-chip575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자리마다 수를 써서 더하기</a:t>
            </a:r>
            <a:endParaRPr lang="ko-KR" sz="2200" dirty="0"/>
          </a:p>
        </p:txBody>
      </p:sp>
      <p:sp>
        <p:nvSpPr>
          <p:cNvPr id="6" name="S14-chip576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줄의 수를 더해 앞모양 그리기</a:t>
            </a:r>
            <a:endParaRPr lang="ko-KR" sz="2200" dirty="0"/>
          </a:p>
        </p:txBody>
      </p:sp>
      <p:sp>
        <p:nvSpPr>
          <p:cNvPr id="7" name="S14-text577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578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위에서 본 모양에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 2, 3, 1이 있으면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몇 개?</a:t>
            </a:r>
            <a:endParaRPr lang="ko-KR" sz="2200" dirty="0"/>
          </a:p>
        </p:txBody>
      </p:sp>
      <p:sp>
        <p:nvSpPr>
          <p:cNvPr id="9" name="S14-text579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앞뒤로 1층과 3층이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있는 줄을 앞에서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보면 몇 층?</a:t>
            </a:r>
            <a:endParaRPr lang="ko-KR" sz="2200" dirty="0"/>
          </a:p>
        </p:txBody>
      </p:sp>
      <p:sp>
        <p:nvSpPr>
          <p:cNvPr id="10" name="S14-text580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그림만으로 개수를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정할 수 없는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까닭은?</a:t>
            </a:r>
            <a:endParaRPr lang="ko-KR" sz="2200" dirty="0"/>
          </a:p>
        </p:txBody>
      </p:sp>
      <p:sp>
        <p:nvSpPr>
          <p:cNvPr id="11" name="S14-text581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직육면체의 겉넓이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층별로 세기</a:t>
            </a:r>
            <a:endParaRPr lang="ko-KR" sz="4000" dirty="0"/>
          </a:p>
        </p:txBody>
      </p:sp>
      <p:sp>
        <p:nvSpPr>
          <p:cNvPr id="3" name="S15-card58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5-cardtext58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+ 2 + 1 = 6, 모두 6개예요.</a:t>
            </a:r>
            <a:endParaRPr lang="ko-KR" sz="2800" dirty="0"/>
          </a:p>
        </p:txBody>
      </p:sp>
      <p:sp>
        <p:nvSpPr>
          <p:cNvPr id="5" name="S15-figure584" descr="쌓기나무 6개를 한 줄로 계단처럼 쌓은 모양: 왼쪽부터 1층, 2층, 3층"/>
          <p:cNvSpPr/>
          <p:nvPr/>
        </p:nvSpPr>
        <p:spPr>
          <a:xfrm>
            <a:off x="1659575" y="2316480"/>
            <a:ext cx="1570543" cy="906780"/>
          </a:xfrm>
          <a:custGeom>
            <a:avLst/>
            <a:gdLst/>
            <a:ahLst/>
            <a:cxnLst/>
            <a:rect l="l" t="t" r="r" b="b"/>
            <a:pathLst>
              <a:path w="1570543" h="906780">
                <a:moveTo>
                  <a:pt x="0" y="453390"/>
                </a:moveTo>
                <a:lnTo>
                  <a:pt x="785271" y="906780"/>
                </a:lnTo>
                <a:lnTo>
                  <a:pt x="1570543" y="453390"/>
                </a:lnTo>
                <a:lnTo>
                  <a:pt x="785271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15-mark585"/>
          <p:cNvSpPr/>
          <p:nvPr/>
        </p:nvSpPr>
        <p:spPr>
          <a:xfrm>
            <a:off x="1659575" y="2769870"/>
            <a:ext cx="785271" cy="1360170"/>
          </a:xfrm>
          <a:custGeom>
            <a:avLst/>
            <a:gdLst/>
            <a:ahLst/>
            <a:cxnLst/>
            <a:rect l="l" t="t" r="r" b="b"/>
            <a:pathLst>
              <a:path w="785271" h="1360170">
                <a:moveTo>
                  <a:pt x="0" y="906780"/>
                </a:moveTo>
                <a:lnTo>
                  <a:pt x="785271" y="1360170"/>
                </a:lnTo>
                <a:lnTo>
                  <a:pt x="785271" y="45339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15-mark586"/>
          <p:cNvSpPr/>
          <p:nvPr/>
        </p:nvSpPr>
        <p:spPr>
          <a:xfrm>
            <a:off x="2444847" y="2769870"/>
            <a:ext cx="785271" cy="1360170"/>
          </a:xfrm>
          <a:custGeom>
            <a:avLst/>
            <a:gdLst/>
            <a:ahLst/>
            <a:cxnLst/>
            <a:rect l="l" t="t" r="r" b="b"/>
            <a:pathLst>
              <a:path w="785271" h="1360170">
                <a:moveTo>
                  <a:pt x="0" y="1360170"/>
                </a:moveTo>
                <a:lnTo>
                  <a:pt x="785271" y="906780"/>
                </a:lnTo>
                <a:lnTo>
                  <a:pt x="785271" y="0"/>
                </a:lnTo>
                <a:lnTo>
                  <a:pt x="0" y="453390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15-mark587"/>
          <p:cNvSpPr/>
          <p:nvPr/>
        </p:nvSpPr>
        <p:spPr>
          <a:xfrm>
            <a:off x="2444847" y="2769870"/>
            <a:ext cx="1570543" cy="906780"/>
          </a:xfrm>
          <a:custGeom>
            <a:avLst/>
            <a:gdLst/>
            <a:ahLst/>
            <a:cxnLst/>
            <a:rect l="l" t="t" r="r" b="b"/>
            <a:pathLst>
              <a:path w="1570543" h="906780">
                <a:moveTo>
                  <a:pt x="0" y="453390"/>
                </a:moveTo>
                <a:lnTo>
                  <a:pt x="785271" y="906780"/>
                </a:lnTo>
                <a:lnTo>
                  <a:pt x="1570543" y="453390"/>
                </a:lnTo>
                <a:lnTo>
                  <a:pt x="785271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15-mark588"/>
          <p:cNvSpPr/>
          <p:nvPr/>
        </p:nvSpPr>
        <p:spPr>
          <a:xfrm>
            <a:off x="2444847" y="3223260"/>
            <a:ext cx="785271" cy="1360170"/>
          </a:xfrm>
          <a:custGeom>
            <a:avLst/>
            <a:gdLst/>
            <a:ahLst/>
            <a:cxnLst/>
            <a:rect l="l" t="t" r="r" b="b"/>
            <a:pathLst>
              <a:path w="785271" h="1360170">
                <a:moveTo>
                  <a:pt x="0" y="906780"/>
                </a:moveTo>
                <a:lnTo>
                  <a:pt x="785271" y="1360170"/>
                </a:lnTo>
                <a:lnTo>
                  <a:pt x="785271" y="45339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15-mark589"/>
          <p:cNvSpPr/>
          <p:nvPr/>
        </p:nvSpPr>
        <p:spPr>
          <a:xfrm>
            <a:off x="3230118" y="3223260"/>
            <a:ext cx="785271" cy="1360170"/>
          </a:xfrm>
          <a:custGeom>
            <a:avLst/>
            <a:gdLst/>
            <a:ahLst/>
            <a:cxnLst/>
            <a:rect l="l" t="t" r="r" b="b"/>
            <a:pathLst>
              <a:path w="785271" h="1360170">
                <a:moveTo>
                  <a:pt x="0" y="1360170"/>
                </a:moveTo>
                <a:lnTo>
                  <a:pt x="785271" y="906780"/>
                </a:lnTo>
                <a:lnTo>
                  <a:pt x="785271" y="0"/>
                </a:lnTo>
                <a:lnTo>
                  <a:pt x="0" y="453390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15-mark590"/>
          <p:cNvSpPr/>
          <p:nvPr/>
        </p:nvSpPr>
        <p:spPr>
          <a:xfrm>
            <a:off x="3230118" y="3223260"/>
            <a:ext cx="1570543" cy="906780"/>
          </a:xfrm>
          <a:custGeom>
            <a:avLst/>
            <a:gdLst/>
            <a:ahLst/>
            <a:cxnLst/>
            <a:rect l="l" t="t" r="r" b="b"/>
            <a:pathLst>
              <a:path w="1570543" h="906780">
                <a:moveTo>
                  <a:pt x="0" y="453390"/>
                </a:moveTo>
                <a:lnTo>
                  <a:pt x="785271" y="906780"/>
                </a:lnTo>
                <a:lnTo>
                  <a:pt x="1570543" y="453390"/>
                </a:lnTo>
                <a:lnTo>
                  <a:pt x="785271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2" name="S15-mark591"/>
          <p:cNvSpPr/>
          <p:nvPr/>
        </p:nvSpPr>
        <p:spPr>
          <a:xfrm>
            <a:off x="3230118" y="3676650"/>
            <a:ext cx="785271" cy="1360170"/>
          </a:xfrm>
          <a:custGeom>
            <a:avLst/>
            <a:gdLst/>
            <a:ahLst/>
            <a:cxnLst/>
            <a:rect l="l" t="t" r="r" b="b"/>
            <a:pathLst>
              <a:path w="785271" h="1360170">
                <a:moveTo>
                  <a:pt x="0" y="906780"/>
                </a:moveTo>
                <a:lnTo>
                  <a:pt x="785271" y="1360170"/>
                </a:lnTo>
                <a:lnTo>
                  <a:pt x="785271" y="45339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15-mark592"/>
          <p:cNvSpPr/>
          <p:nvPr/>
        </p:nvSpPr>
        <p:spPr>
          <a:xfrm>
            <a:off x="4015389" y="3676650"/>
            <a:ext cx="785271" cy="1360170"/>
          </a:xfrm>
          <a:custGeom>
            <a:avLst/>
            <a:gdLst/>
            <a:ahLst/>
            <a:cxnLst/>
            <a:rect l="l" t="t" r="r" b="b"/>
            <a:pathLst>
              <a:path w="785271" h="1360170">
                <a:moveTo>
                  <a:pt x="0" y="1360170"/>
                </a:moveTo>
                <a:lnTo>
                  <a:pt x="785271" y="906780"/>
                </a:lnTo>
                <a:lnTo>
                  <a:pt x="785271" y="0"/>
                </a:lnTo>
                <a:lnTo>
                  <a:pt x="0" y="453390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4" name="S15-mark593"/>
          <p:cNvSpPr/>
          <p:nvPr/>
        </p:nvSpPr>
        <p:spPr>
          <a:xfrm>
            <a:off x="2444847" y="1863090"/>
            <a:ext cx="1570543" cy="906780"/>
          </a:xfrm>
          <a:custGeom>
            <a:avLst/>
            <a:gdLst/>
            <a:ahLst/>
            <a:cxnLst/>
            <a:rect l="l" t="t" r="r" b="b"/>
            <a:pathLst>
              <a:path w="1570543" h="906780">
                <a:moveTo>
                  <a:pt x="0" y="453390"/>
                </a:moveTo>
                <a:lnTo>
                  <a:pt x="785271" y="906780"/>
                </a:lnTo>
                <a:lnTo>
                  <a:pt x="1570543" y="453390"/>
                </a:lnTo>
                <a:lnTo>
                  <a:pt x="785271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15-mark594"/>
          <p:cNvSpPr/>
          <p:nvPr/>
        </p:nvSpPr>
        <p:spPr>
          <a:xfrm>
            <a:off x="2444847" y="2316480"/>
            <a:ext cx="785271" cy="1360170"/>
          </a:xfrm>
          <a:custGeom>
            <a:avLst/>
            <a:gdLst/>
            <a:ahLst/>
            <a:cxnLst/>
            <a:rect l="l" t="t" r="r" b="b"/>
            <a:pathLst>
              <a:path w="785271" h="1360170">
                <a:moveTo>
                  <a:pt x="0" y="906780"/>
                </a:moveTo>
                <a:lnTo>
                  <a:pt x="785271" y="1360170"/>
                </a:lnTo>
                <a:lnTo>
                  <a:pt x="785271" y="45339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6" name="S15-mark595"/>
          <p:cNvSpPr/>
          <p:nvPr/>
        </p:nvSpPr>
        <p:spPr>
          <a:xfrm>
            <a:off x="3230118" y="2316480"/>
            <a:ext cx="785271" cy="1360170"/>
          </a:xfrm>
          <a:custGeom>
            <a:avLst/>
            <a:gdLst/>
            <a:ahLst/>
            <a:cxnLst/>
            <a:rect l="l" t="t" r="r" b="b"/>
            <a:pathLst>
              <a:path w="785271" h="1360170">
                <a:moveTo>
                  <a:pt x="0" y="1360170"/>
                </a:moveTo>
                <a:lnTo>
                  <a:pt x="785271" y="906780"/>
                </a:lnTo>
                <a:lnTo>
                  <a:pt x="785271" y="0"/>
                </a:lnTo>
                <a:lnTo>
                  <a:pt x="0" y="453390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7" name="S15-mark596"/>
          <p:cNvSpPr/>
          <p:nvPr/>
        </p:nvSpPr>
        <p:spPr>
          <a:xfrm>
            <a:off x="3230118" y="2316480"/>
            <a:ext cx="1570543" cy="906780"/>
          </a:xfrm>
          <a:custGeom>
            <a:avLst/>
            <a:gdLst/>
            <a:ahLst/>
            <a:cxnLst/>
            <a:rect l="l" t="t" r="r" b="b"/>
            <a:pathLst>
              <a:path w="1570543" h="906780">
                <a:moveTo>
                  <a:pt x="0" y="453390"/>
                </a:moveTo>
                <a:lnTo>
                  <a:pt x="785271" y="906780"/>
                </a:lnTo>
                <a:lnTo>
                  <a:pt x="1570543" y="453390"/>
                </a:lnTo>
                <a:lnTo>
                  <a:pt x="785271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8" name="S15-mark597"/>
          <p:cNvSpPr/>
          <p:nvPr/>
        </p:nvSpPr>
        <p:spPr>
          <a:xfrm>
            <a:off x="3230118" y="2769870"/>
            <a:ext cx="785271" cy="1360170"/>
          </a:xfrm>
          <a:custGeom>
            <a:avLst/>
            <a:gdLst/>
            <a:ahLst/>
            <a:cxnLst/>
            <a:rect l="l" t="t" r="r" b="b"/>
            <a:pathLst>
              <a:path w="785271" h="1360170">
                <a:moveTo>
                  <a:pt x="0" y="906780"/>
                </a:moveTo>
                <a:lnTo>
                  <a:pt x="785271" y="1360170"/>
                </a:lnTo>
                <a:lnTo>
                  <a:pt x="785271" y="45339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9" name="S15-mark598"/>
          <p:cNvSpPr/>
          <p:nvPr/>
        </p:nvSpPr>
        <p:spPr>
          <a:xfrm>
            <a:off x="4015389" y="2769870"/>
            <a:ext cx="785271" cy="1360170"/>
          </a:xfrm>
          <a:custGeom>
            <a:avLst/>
            <a:gdLst/>
            <a:ahLst/>
            <a:cxnLst/>
            <a:rect l="l" t="t" r="r" b="b"/>
            <a:pathLst>
              <a:path w="785271" h="1360170">
                <a:moveTo>
                  <a:pt x="0" y="1360170"/>
                </a:moveTo>
                <a:lnTo>
                  <a:pt x="785271" y="906780"/>
                </a:lnTo>
                <a:lnTo>
                  <a:pt x="785271" y="0"/>
                </a:lnTo>
                <a:lnTo>
                  <a:pt x="0" y="453390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0" name="S15-mark599"/>
          <p:cNvSpPr/>
          <p:nvPr/>
        </p:nvSpPr>
        <p:spPr>
          <a:xfrm>
            <a:off x="3230118" y="1409700"/>
            <a:ext cx="1570543" cy="906780"/>
          </a:xfrm>
          <a:custGeom>
            <a:avLst/>
            <a:gdLst/>
            <a:ahLst/>
            <a:cxnLst/>
            <a:rect l="l" t="t" r="r" b="b"/>
            <a:pathLst>
              <a:path w="1570543" h="906780">
                <a:moveTo>
                  <a:pt x="0" y="453390"/>
                </a:moveTo>
                <a:lnTo>
                  <a:pt x="785271" y="906780"/>
                </a:lnTo>
                <a:lnTo>
                  <a:pt x="1570543" y="453390"/>
                </a:lnTo>
                <a:lnTo>
                  <a:pt x="785271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1" name="S15-mark600"/>
          <p:cNvSpPr/>
          <p:nvPr/>
        </p:nvSpPr>
        <p:spPr>
          <a:xfrm>
            <a:off x="3230118" y="1863090"/>
            <a:ext cx="785271" cy="1360170"/>
          </a:xfrm>
          <a:custGeom>
            <a:avLst/>
            <a:gdLst/>
            <a:ahLst/>
            <a:cxnLst/>
            <a:rect l="l" t="t" r="r" b="b"/>
            <a:pathLst>
              <a:path w="785271" h="1360170">
                <a:moveTo>
                  <a:pt x="0" y="906780"/>
                </a:moveTo>
                <a:lnTo>
                  <a:pt x="785271" y="1360170"/>
                </a:lnTo>
                <a:lnTo>
                  <a:pt x="785271" y="45339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2" name="S15-mark601"/>
          <p:cNvSpPr/>
          <p:nvPr/>
        </p:nvSpPr>
        <p:spPr>
          <a:xfrm>
            <a:off x="4015389" y="1863090"/>
            <a:ext cx="785271" cy="1360170"/>
          </a:xfrm>
          <a:custGeom>
            <a:avLst/>
            <a:gdLst/>
            <a:ahLst/>
            <a:cxnLst/>
            <a:rect l="l" t="t" r="r" b="b"/>
            <a:pathLst>
              <a:path w="785271" h="1360170">
                <a:moveTo>
                  <a:pt x="0" y="1360170"/>
                </a:moveTo>
                <a:lnTo>
                  <a:pt x="785271" y="906780"/>
                </a:lnTo>
                <a:lnTo>
                  <a:pt x="785271" y="0"/>
                </a:lnTo>
                <a:lnTo>
                  <a:pt x="0" y="453390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3" name="S15-card602"/>
          <p:cNvSpPr/>
          <p:nvPr/>
        </p:nvSpPr>
        <p:spPr>
          <a:xfrm>
            <a:off x="6277356" y="169164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4" name="S15-cardtext603"/>
          <p:cNvSpPr txBox="1"/>
          <p:nvPr/>
        </p:nvSpPr>
        <p:spPr>
          <a:xfrm>
            <a:off x="6551676" y="182880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1층에 3개</a:t>
            </a:r>
            <a:endParaRPr lang="ko-KR" sz="2800" dirty="0"/>
          </a:p>
        </p:txBody>
      </p:sp>
      <p:sp>
        <p:nvSpPr>
          <p:cNvPr id="25" name="S15-card604"/>
          <p:cNvSpPr/>
          <p:nvPr/>
        </p:nvSpPr>
        <p:spPr>
          <a:xfrm>
            <a:off x="6277356" y="278892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6" name="S15-cardtext605"/>
          <p:cNvSpPr txBox="1"/>
          <p:nvPr/>
        </p:nvSpPr>
        <p:spPr>
          <a:xfrm>
            <a:off x="6551676" y="292608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2층에 2개</a:t>
            </a:r>
            <a:endParaRPr lang="ko-KR" sz="2800" dirty="0"/>
          </a:p>
        </p:txBody>
      </p:sp>
      <p:sp>
        <p:nvSpPr>
          <p:cNvPr id="27" name="S15-card606"/>
          <p:cNvSpPr/>
          <p:nvPr/>
        </p:nvSpPr>
        <p:spPr>
          <a:xfrm>
            <a:off x="6277356" y="388620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8" name="S15-cardtext607"/>
          <p:cNvSpPr txBox="1"/>
          <p:nvPr/>
        </p:nvSpPr>
        <p:spPr>
          <a:xfrm>
            <a:off x="6551676" y="402336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3층에 1개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수학 쌓기나무와 공간 감각</dc:title>
  <dc:subject>KR22-G06-MAT-VIEWS-L01</dc:subject>
  <dc:creator>education-ppt</dc:creator>
  <cp:lastModifiedBy>education-ppt</cp:lastModifiedBy>
  <cp:revision>1</cp:revision>
  <dcterms:created xsi:type="dcterms:W3CDTF">2026-10-26T08:57:56Z</dcterms:created>
  <dcterms:modified xsi:type="dcterms:W3CDTF">2026-10-26T08:57:56Z</dcterms:modified>
</cp:coreProperties>
</file>