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87b6cf6-1929-989e-5a56-9e2463c1f445}">
          <p14:sldIdLst>
            <p14:sldId id="256"/>
            <p14:sldId id="257"/>
          </p14:sldIdLst>
        </p14:section>
        <p14:section name="개념" id="{cd96fe7a-afdf-f3dd-9886-aae3f7bfc9cf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1c03fc0b-b53c-df35-bbe7-ca8b478dbcbb}">
          <p14:sldIdLst>
            <p14:sldId id="262"/>
            <p14:sldId id="263"/>
            <p14:sldId id="265"/>
            <p14:sldId id="266"/>
          </p14:sldIdLst>
        </p14:section>
        <p14:section name="개념" id="{a7a696be-7858-4470-ff74-04c87d93d657}">
          <p14:sldIdLst/>
        </p14:section>
        <p14:section name="연습" id="{f40989f9-7f4c-17fc-bbb4-09769ad40033}">
          <p14:sldIdLst/>
        </p14:section>
        <p14:section name="확인" id="{a198adfc-79d6-5bd9-5769-a50dd53c030c}">
          <p14:sldIdLst>
            <p14:sldId id="267"/>
            <p14:sldId id="268"/>
          </p14:sldIdLst>
        </p14:section>
        <p14:section name="정리" id="{9eef013f-edfb-cfe6-b69e-7eed0a78b8d7}">
          <p14:sldIdLst>
            <p14:sldId id="269"/>
          </p14:sldIdLst>
        </p14:section>
        <p14:section name="보충" id="{41ef34cf-8309-84f3-a28e-cf340b02049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원기둥·원뿔·구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원기둥·원뿔·구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원기둥·원뿔·구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원기둥·원뿔·구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입체도형은 무엇이 다를까?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기둥, 원뿔, 구의 겨냥도: 원기둥은 위아래가 원이고, 원뿔은 아래가 원이고 위가 뾰족하며, 구는 공 모양"/>
          <p:cNvSpPr/>
          <p:nvPr/>
        </p:nvSpPr>
        <p:spPr>
          <a:xfrm>
            <a:off x="7764780" y="1409700"/>
            <a:ext cx="990600" cy="1386840"/>
          </a:xfrm>
          <a:custGeom>
            <a:avLst/>
            <a:gdLst/>
            <a:ahLst/>
            <a:cxnLst/>
            <a:rect l="l" t="t" r="r" b="b"/>
            <a:pathLst>
              <a:path w="990600" h="1386840">
                <a:moveTo>
                  <a:pt x="0" y="148590"/>
                </a:moveTo>
                <a:lnTo>
                  <a:pt x="0" y="1238250"/>
                </a:lnTo>
                <a:lnTo>
                  <a:pt x="4458" y="1257567"/>
                </a:lnTo>
                <a:lnTo>
                  <a:pt x="16840" y="1276883"/>
                </a:lnTo>
                <a:lnTo>
                  <a:pt x="37643" y="1295210"/>
                </a:lnTo>
                <a:lnTo>
                  <a:pt x="66370" y="1312545"/>
                </a:lnTo>
                <a:lnTo>
                  <a:pt x="102527" y="1328890"/>
                </a:lnTo>
                <a:lnTo>
                  <a:pt x="145123" y="1343254"/>
                </a:lnTo>
                <a:lnTo>
                  <a:pt x="193662" y="1356131"/>
                </a:lnTo>
                <a:lnTo>
                  <a:pt x="247650" y="1367028"/>
                </a:lnTo>
                <a:lnTo>
                  <a:pt x="305600" y="1375448"/>
                </a:lnTo>
                <a:lnTo>
                  <a:pt x="367017" y="1381887"/>
                </a:lnTo>
                <a:lnTo>
                  <a:pt x="430416" y="1385354"/>
                </a:lnTo>
                <a:lnTo>
                  <a:pt x="495300" y="1386840"/>
                </a:lnTo>
                <a:lnTo>
                  <a:pt x="560184" y="1385354"/>
                </a:lnTo>
                <a:lnTo>
                  <a:pt x="623583" y="1381887"/>
                </a:lnTo>
                <a:lnTo>
                  <a:pt x="685000" y="1375448"/>
                </a:lnTo>
                <a:lnTo>
                  <a:pt x="742950" y="1367028"/>
                </a:lnTo>
                <a:lnTo>
                  <a:pt x="796938" y="1356131"/>
                </a:lnTo>
                <a:lnTo>
                  <a:pt x="845477" y="1343254"/>
                </a:lnTo>
                <a:lnTo>
                  <a:pt x="888073" y="1328890"/>
                </a:lnTo>
                <a:lnTo>
                  <a:pt x="924230" y="1312545"/>
                </a:lnTo>
                <a:lnTo>
                  <a:pt x="952957" y="1295210"/>
                </a:lnTo>
                <a:lnTo>
                  <a:pt x="973760" y="1276883"/>
                </a:lnTo>
                <a:lnTo>
                  <a:pt x="986142" y="1257567"/>
                </a:lnTo>
                <a:lnTo>
                  <a:pt x="990600" y="1238250"/>
                </a:lnTo>
                <a:lnTo>
                  <a:pt x="990600" y="148590"/>
                </a:lnTo>
                <a:lnTo>
                  <a:pt x="986142" y="129273"/>
                </a:lnTo>
                <a:lnTo>
                  <a:pt x="973760" y="109957"/>
                </a:lnTo>
                <a:lnTo>
                  <a:pt x="952957" y="91630"/>
                </a:lnTo>
                <a:lnTo>
                  <a:pt x="924230" y="74295"/>
                </a:lnTo>
                <a:lnTo>
                  <a:pt x="888073" y="57950"/>
                </a:lnTo>
                <a:lnTo>
                  <a:pt x="845477" y="43586"/>
                </a:lnTo>
                <a:lnTo>
                  <a:pt x="796938" y="30709"/>
                </a:lnTo>
                <a:lnTo>
                  <a:pt x="742950" y="19812"/>
                </a:lnTo>
                <a:lnTo>
                  <a:pt x="685000" y="11392"/>
                </a:lnTo>
                <a:lnTo>
                  <a:pt x="623583" y="4953"/>
                </a:lnTo>
                <a:lnTo>
                  <a:pt x="560184" y="1486"/>
                </a:lnTo>
                <a:lnTo>
                  <a:pt x="495300" y="0"/>
                </a:lnTo>
                <a:lnTo>
                  <a:pt x="430416" y="1486"/>
                </a:lnTo>
                <a:lnTo>
                  <a:pt x="367017" y="4953"/>
                </a:lnTo>
                <a:lnTo>
                  <a:pt x="305600" y="11392"/>
                </a:lnTo>
                <a:lnTo>
                  <a:pt x="247650" y="19812"/>
                </a:lnTo>
                <a:lnTo>
                  <a:pt x="193662" y="30709"/>
                </a:lnTo>
                <a:lnTo>
                  <a:pt x="145123" y="43586"/>
                </a:lnTo>
                <a:lnTo>
                  <a:pt x="102527" y="57950"/>
                </a:lnTo>
                <a:lnTo>
                  <a:pt x="66370" y="74295"/>
                </a:lnTo>
                <a:lnTo>
                  <a:pt x="37643" y="91630"/>
                </a:lnTo>
                <a:lnTo>
                  <a:pt x="16840" y="109957"/>
                </a:lnTo>
                <a:lnTo>
                  <a:pt x="4458" y="129273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764780" y="1409700"/>
            <a:ext cx="990600" cy="297180"/>
          </a:xfrm>
          <a:custGeom>
            <a:avLst/>
            <a:gdLst/>
            <a:ahLst/>
            <a:cxnLst/>
            <a:rect l="l" t="t" r="r" b="b"/>
            <a:pathLst>
              <a:path w="990600" h="297180">
                <a:moveTo>
                  <a:pt x="990600" y="148590"/>
                </a:moveTo>
                <a:lnTo>
                  <a:pt x="986142" y="129273"/>
                </a:lnTo>
                <a:lnTo>
                  <a:pt x="973760" y="109957"/>
                </a:lnTo>
                <a:lnTo>
                  <a:pt x="952957" y="91630"/>
                </a:lnTo>
                <a:lnTo>
                  <a:pt x="924230" y="74295"/>
                </a:lnTo>
                <a:lnTo>
                  <a:pt x="888073" y="57950"/>
                </a:lnTo>
                <a:lnTo>
                  <a:pt x="845477" y="43586"/>
                </a:lnTo>
                <a:lnTo>
                  <a:pt x="796938" y="30709"/>
                </a:lnTo>
                <a:lnTo>
                  <a:pt x="742950" y="19812"/>
                </a:lnTo>
                <a:lnTo>
                  <a:pt x="685000" y="11392"/>
                </a:lnTo>
                <a:lnTo>
                  <a:pt x="623583" y="4953"/>
                </a:lnTo>
                <a:lnTo>
                  <a:pt x="560184" y="1486"/>
                </a:lnTo>
                <a:lnTo>
                  <a:pt x="495300" y="0"/>
                </a:lnTo>
                <a:lnTo>
                  <a:pt x="430416" y="1486"/>
                </a:lnTo>
                <a:lnTo>
                  <a:pt x="367017" y="4953"/>
                </a:lnTo>
                <a:lnTo>
                  <a:pt x="305600" y="11392"/>
                </a:lnTo>
                <a:lnTo>
                  <a:pt x="247650" y="19812"/>
                </a:lnTo>
                <a:lnTo>
                  <a:pt x="193662" y="30709"/>
                </a:lnTo>
                <a:lnTo>
                  <a:pt x="145123" y="43586"/>
                </a:lnTo>
                <a:lnTo>
                  <a:pt x="102527" y="57950"/>
                </a:lnTo>
                <a:lnTo>
                  <a:pt x="66370" y="74295"/>
                </a:lnTo>
                <a:lnTo>
                  <a:pt x="37643" y="91630"/>
                </a:lnTo>
                <a:lnTo>
                  <a:pt x="16840" y="109957"/>
                </a:lnTo>
                <a:lnTo>
                  <a:pt x="4458" y="129273"/>
                </a:lnTo>
                <a:lnTo>
                  <a:pt x="0" y="148590"/>
                </a:lnTo>
                <a:lnTo>
                  <a:pt x="4458" y="167907"/>
                </a:lnTo>
                <a:lnTo>
                  <a:pt x="16840" y="187223"/>
                </a:lnTo>
                <a:lnTo>
                  <a:pt x="37643" y="205550"/>
                </a:lnTo>
                <a:lnTo>
                  <a:pt x="66370" y="222885"/>
                </a:lnTo>
                <a:lnTo>
                  <a:pt x="102527" y="239230"/>
                </a:lnTo>
                <a:lnTo>
                  <a:pt x="145123" y="253594"/>
                </a:lnTo>
                <a:lnTo>
                  <a:pt x="193662" y="266471"/>
                </a:lnTo>
                <a:lnTo>
                  <a:pt x="247650" y="277368"/>
                </a:lnTo>
                <a:lnTo>
                  <a:pt x="305600" y="285788"/>
                </a:lnTo>
                <a:lnTo>
                  <a:pt x="367017" y="292227"/>
                </a:lnTo>
                <a:lnTo>
                  <a:pt x="430416" y="295694"/>
                </a:lnTo>
                <a:lnTo>
                  <a:pt x="495300" y="297180"/>
                </a:lnTo>
                <a:lnTo>
                  <a:pt x="560184" y="295694"/>
                </a:lnTo>
                <a:lnTo>
                  <a:pt x="623583" y="292227"/>
                </a:lnTo>
                <a:lnTo>
                  <a:pt x="685000" y="285788"/>
                </a:lnTo>
                <a:lnTo>
                  <a:pt x="742950" y="277368"/>
                </a:lnTo>
                <a:lnTo>
                  <a:pt x="796938" y="266471"/>
                </a:lnTo>
                <a:lnTo>
                  <a:pt x="845477" y="253594"/>
                </a:lnTo>
                <a:lnTo>
                  <a:pt x="888073" y="239230"/>
                </a:lnTo>
                <a:lnTo>
                  <a:pt x="924230" y="222885"/>
                </a:lnTo>
                <a:lnTo>
                  <a:pt x="952957" y="205550"/>
                </a:lnTo>
                <a:lnTo>
                  <a:pt x="973760" y="187223"/>
                </a:lnTo>
                <a:lnTo>
                  <a:pt x="986142" y="167907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764780" y="2499360"/>
            <a:ext cx="990600" cy="148590"/>
          </a:xfrm>
          <a:custGeom>
            <a:avLst/>
            <a:gdLst/>
            <a:ahLst/>
            <a:cxnLst/>
            <a:rect l="l" t="t" r="r" b="b"/>
            <a:pathLst>
              <a:path w="990600" h="148590">
                <a:moveTo>
                  <a:pt x="990600" y="148590"/>
                </a:moveTo>
                <a:lnTo>
                  <a:pt x="986142" y="129273"/>
                </a:lnTo>
                <a:lnTo>
                  <a:pt x="973760" y="109957"/>
                </a:lnTo>
                <a:lnTo>
                  <a:pt x="952957" y="91630"/>
                </a:lnTo>
                <a:lnTo>
                  <a:pt x="924230" y="74295"/>
                </a:lnTo>
                <a:lnTo>
                  <a:pt x="888073" y="57950"/>
                </a:lnTo>
                <a:lnTo>
                  <a:pt x="845477" y="43586"/>
                </a:lnTo>
                <a:lnTo>
                  <a:pt x="796938" y="30709"/>
                </a:lnTo>
                <a:lnTo>
                  <a:pt x="742950" y="19812"/>
                </a:lnTo>
                <a:lnTo>
                  <a:pt x="685000" y="11392"/>
                </a:lnTo>
                <a:lnTo>
                  <a:pt x="623583" y="4953"/>
                </a:lnTo>
                <a:lnTo>
                  <a:pt x="560184" y="1486"/>
                </a:lnTo>
                <a:lnTo>
                  <a:pt x="495300" y="0"/>
                </a:lnTo>
                <a:lnTo>
                  <a:pt x="430416" y="1486"/>
                </a:lnTo>
                <a:lnTo>
                  <a:pt x="367017" y="4953"/>
                </a:lnTo>
                <a:lnTo>
                  <a:pt x="305600" y="11392"/>
                </a:lnTo>
                <a:lnTo>
                  <a:pt x="247650" y="19812"/>
                </a:lnTo>
                <a:lnTo>
                  <a:pt x="193662" y="30709"/>
                </a:lnTo>
                <a:lnTo>
                  <a:pt x="145123" y="43586"/>
                </a:lnTo>
                <a:lnTo>
                  <a:pt x="102527" y="57950"/>
                </a:lnTo>
                <a:lnTo>
                  <a:pt x="66370" y="74295"/>
                </a:lnTo>
                <a:lnTo>
                  <a:pt x="37643" y="91630"/>
                </a:lnTo>
                <a:lnTo>
                  <a:pt x="16840" y="109957"/>
                </a:lnTo>
                <a:lnTo>
                  <a:pt x="4458" y="129273"/>
                </a:lnTo>
                <a:lnTo>
                  <a:pt x="0" y="148590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1-mark5"/>
          <p:cNvSpPr/>
          <p:nvPr/>
        </p:nvSpPr>
        <p:spPr>
          <a:xfrm>
            <a:off x="9201150" y="1558290"/>
            <a:ext cx="990600" cy="1238250"/>
          </a:xfrm>
          <a:custGeom>
            <a:avLst/>
            <a:gdLst/>
            <a:ahLst/>
            <a:cxnLst/>
            <a:rect l="l" t="t" r="r" b="b"/>
            <a:pathLst>
              <a:path w="990600" h="1238250">
                <a:moveTo>
                  <a:pt x="495300" y="0"/>
                </a:moveTo>
                <a:lnTo>
                  <a:pt x="4458" y="1069353"/>
                </a:lnTo>
                <a:lnTo>
                  <a:pt x="0" y="1090651"/>
                </a:lnTo>
                <a:lnTo>
                  <a:pt x="5448" y="1111453"/>
                </a:lnTo>
                <a:lnTo>
                  <a:pt x="20803" y="1132256"/>
                </a:lnTo>
                <a:lnTo>
                  <a:pt x="45568" y="1152068"/>
                </a:lnTo>
                <a:lnTo>
                  <a:pt x="79743" y="1170394"/>
                </a:lnTo>
                <a:lnTo>
                  <a:pt x="121844" y="1187234"/>
                </a:lnTo>
                <a:lnTo>
                  <a:pt x="171869" y="1202093"/>
                </a:lnTo>
                <a:lnTo>
                  <a:pt x="228333" y="1214971"/>
                </a:lnTo>
                <a:lnTo>
                  <a:pt x="290246" y="1224877"/>
                </a:lnTo>
                <a:lnTo>
                  <a:pt x="356121" y="1232306"/>
                </a:lnTo>
                <a:lnTo>
                  <a:pt x="424967" y="1236764"/>
                </a:lnTo>
                <a:lnTo>
                  <a:pt x="495300" y="1238250"/>
                </a:lnTo>
                <a:lnTo>
                  <a:pt x="565633" y="1236764"/>
                </a:lnTo>
                <a:lnTo>
                  <a:pt x="634479" y="1232306"/>
                </a:lnTo>
                <a:lnTo>
                  <a:pt x="700354" y="1224877"/>
                </a:lnTo>
                <a:lnTo>
                  <a:pt x="762267" y="1214971"/>
                </a:lnTo>
                <a:lnTo>
                  <a:pt x="818731" y="1202093"/>
                </a:lnTo>
                <a:lnTo>
                  <a:pt x="868756" y="1187234"/>
                </a:lnTo>
                <a:lnTo>
                  <a:pt x="910857" y="1170394"/>
                </a:lnTo>
                <a:lnTo>
                  <a:pt x="945032" y="1152068"/>
                </a:lnTo>
                <a:lnTo>
                  <a:pt x="969797" y="1132256"/>
                </a:lnTo>
                <a:lnTo>
                  <a:pt x="985152" y="1111453"/>
                </a:lnTo>
                <a:lnTo>
                  <a:pt x="990600" y="1090651"/>
                </a:lnTo>
                <a:lnTo>
                  <a:pt x="986142" y="1069353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205608" y="2499360"/>
            <a:ext cx="981685" cy="128283"/>
          </a:xfrm>
          <a:custGeom>
            <a:avLst/>
            <a:gdLst/>
            <a:ahLst/>
            <a:cxnLst/>
            <a:rect l="l" t="t" r="r" b="b"/>
            <a:pathLst>
              <a:path w="981685" h="128283">
                <a:moveTo>
                  <a:pt x="981685" y="128283"/>
                </a:moveTo>
                <a:lnTo>
                  <a:pt x="969797" y="110947"/>
                </a:lnTo>
                <a:lnTo>
                  <a:pt x="951471" y="94107"/>
                </a:lnTo>
                <a:lnTo>
                  <a:pt x="926706" y="77762"/>
                </a:lnTo>
                <a:lnTo>
                  <a:pt x="895502" y="62903"/>
                </a:lnTo>
                <a:lnTo>
                  <a:pt x="858355" y="49035"/>
                </a:lnTo>
                <a:lnTo>
                  <a:pt x="816254" y="36652"/>
                </a:lnTo>
                <a:lnTo>
                  <a:pt x="769696" y="25756"/>
                </a:lnTo>
                <a:lnTo>
                  <a:pt x="718680" y="16840"/>
                </a:lnTo>
                <a:lnTo>
                  <a:pt x="664693" y="9411"/>
                </a:lnTo>
                <a:lnTo>
                  <a:pt x="608228" y="4458"/>
                </a:lnTo>
                <a:lnTo>
                  <a:pt x="549783" y="991"/>
                </a:lnTo>
                <a:lnTo>
                  <a:pt x="490842" y="0"/>
                </a:lnTo>
                <a:lnTo>
                  <a:pt x="431902" y="991"/>
                </a:lnTo>
                <a:lnTo>
                  <a:pt x="373456" y="4458"/>
                </a:lnTo>
                <a:lnTo>
                  <a:pt x="316992" y="9411"/>
                </a:lnTo>
                <a:lnTo>
                  <a:pt x="263004" y="16840"/>
                </a:lnTo>
                <a:lnTo>
                  <a:pt x="211988" y="25756"/>
                </a:lnTo>
                <a:lnTo>
                  <a:pt x="165430" y="36652"/>
                </a:lnTo>
                <a:lnTo>
                  <a:pt x="123330" y="49035"/>
                </a:lnTo>
                <a:lnTo>
                  <a:pt x="86182" y="62903"/>
                </a:lnTo>
                <a:lnTo>
                  <a:pt x="54978" y="77762"/>
                </a:lnTo>
                <a:lnTo>
                  <a:pt x="30213" y="94107"/>
                </a:lnTo>
                <a:lnTo>
                  <a:pt x="11887" y="110947"/>
                </a:lnTo>
                <a:lnTo>
                  <a:pt x="0" y="128283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1-mark7"/>
          <p:cNvSpPr/>
          <p:nvPr/>
        </p:nvSpPr>
        <p:spPr>
          <a:xfrm>
            <a:off x="10538460" y="165735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990600" y="495300"/>
                </a:moveTo>
                <a:lnTo>
                  <a:pt x="988619" y="452209"/>
                </a:lnTo>
                <a:lnTo>
                  <a:pt x="983171" y="409118"/>
                </a:lnTo>
                <a:lnTo>
                  <a:pt x="973760" y="367017"/>
                </a:lnTo>
                <a:lnTo>
                  <a:pt x="960882" y="325907"/>
                </a:lnTo>
                <a:lnTo>
                  <a:pt x="944042" y="285788"/>
                </a:lnTo>
                <a:lnTo>
                  <a:pt x="924230" y="247650"/>
                </a:lnTo>
                <a:lnTo>
                  <a:pt x="900951" y="210998"/>
                </a:lnTo>
                <a:lnTo>
                  <a:pt x="874700" y="176822"/>
                </a:lnTo>
                <a:lnTo>
                  <a:pt x="845477" y="145123"/>
                </a:lnTo>
                <a:lnTo>
                  <a:pt x="813778" y="115900"/>
                </a:lnTo>
                <a:lnTo>
                  <a:pt x="779602" y="89649"/>
                </a:lnTo>
                <a:lnTo>
                  <a:pt x="742950" y="66370"/>
                </a:lnTo>
                <a:lnTo>
                  <a:pt x="704812" y="46558"/>
                </a:lnTo>
                <a:lnTo>
                  <a:pt x="664693" y="29718"/>
                </a:lnTo>
                <a:lnTo>
                  <a:pt x="623583" y="16840"/>
                </a:lnTo>
                <a:lnTo>
                  <a:pt x="581482" y="7429"/>
                </a:lnTo>
                <a:lnTo>
                  <a:pt x="538391" y="1981"/>
                </a:lnTo>
                <a:lnTo>
                  <a:pt x="495300" y="0"/>
                </a:lnTo>
                <a:lnTo>
                  <a:pt x="452209" y="1981"/>
                </a:lnTo>
                <a:lnTo>
                  <a:pt x="409118" y="7429"/>
                </a:lnTo>
                <a:lnTo>
                  <a:pt x="367017" y="16840"/>
                </a:lnTo>
                <a:lnTo>
                  <a:pt x="325907" y="29718"/>
                </a:lnTo>
                <a:lnTo>
                  <a:pt x="285788" y="46558"/>
                </a:lnTo>
                <a:lnTo>
                  <a:pt x="247650" y="66370"/>
                </a:lnTo>
                <a:lnTo>
                  <a:pt x="210998" y="89649"/>
                </a:lnTo>
                <a:lnTo>
                  <a:pt x="176822" y="115900"/>
                </a:lnTo>
                <a:lnTo>
                  <a:pt x="145123" y="145123"/>
                </a:lnTo>
                <a:lnTo>
                  <a:pt x="115900" y="176822"/>
                </a:lnTo>
                <a:lnTo>
                  <a:pt x="89649" y="210998"/>
                </a:lnTo>
                <a:lnTo>
                  <a:pt x="66370" y="247650"/>
                </a:lnTo>
                <a:lnTo>
                  <a:pt x="46558" y="285788"/>
                </a:lnTo>
                <a:lnTo>
                  <a:pt x="29718" y="325907"/>
                </a:lnTo>
                <a:lnTo>
                  <a:pt x="16840" y="367017"/>
                </a:lnTo>
                <a:lnTo>
                  <a:pt x="7430" y="409118"/>
                </a:lnTo>
                <a:lnTo>
                  <a:pt x="1981" y="452209"/>
                </a:lnTo>
                <a:lnTo>
                  <a:pt x="0" y="495300"/>
                </a:lnTo>
                <a:lnTo>
                  <a:pt x="1981" y="538391"/>
                </a:lnTo>
                <a:lnTo>
                  <a:pt x="7430" y="581482"/>
                </a:lnTo>
                <a:lnTo>
                  <a:pt x="16840" y="623583"/>
                </a:lnTo>
                <a:lnTo>
                  <a:pt x="29718" y="664693"/>
                </a:lnTo>
                <a:lnTo>
                  <a:pt x="46558" y="704812"/>
                </a:lnTo>
                <a:lnTo>
                  <a:pt x="66370" y="742950"/>
                </a:lnTo>
                <a:lnTo>
                  <a:pt x="89649" y="779602"/>
                </a:lnTo>
                <a:lnTo>
                  <a:pt x="115900" y="813778"/>
                </a:lnTo>
                <a:lnTo>
                  <a:pt x="145123" y="845477"/>
                </a:lnTo>
                <a:lnTo>
                  <a:pt x="176822" y="874700"/>
                </a:lnTo>
                <a:lnTo>
                  <a:pt x="210998" y="900951"/>
                </a:lnTo>
                <a:lnTo>
                  <a:pt x="247650" y="924230"/>
                </a:lnTo>
                <a:lnTo>
                  <a:pt x="285788" y="944042"/>
                </a:lnTo>
                <a:lnTo>
                  <a:pt x="325907" y="960882"/>
                </a:lnTo>
                <a:lnTo>
                  <a:pt x="367017" y="973760"/>
                </a:lnTo>
                <a:lnTo>
                  <a:pt x="409118" y="983170"/>
                </a:lnTo>
                <a:lnTo>
                  <a:pt x="452209" y="988619"/>
                </a:lnTo>
                <a:lnTo>
                  <a:pt x="495300" y="990600"/>
                </a:lnTo>
                <a:lnTo>
                  <a:pt x="538391" y="988619"/>
                </a:lnTo>
                <a:lnTo>
                  <a:pt x="581482" y="983170"/>
                </a:lnTo>
                <a:lnTo>
                  <a:pt x="623583" y="973760"/>
                </a:lnTo>
                <a:lnTo>
                  <a:pt x="664693" y="960882"/>
                </a:lnTo>
                <a:lnTo>
                  <a:pt x="704812" y="944042"/>
                </a:lnTo>
                <a:lnTo>
                  <a:pt x="742950" y="924230"/>
                </a:lnTo>
                <a:lnTo>
                  <a:pt x="779602" y="900951"/>
                </a:lnTo>
                <a:lnTo>
                  <a:pt x="813778" y="874700"/>
                </a:lnTo>
                <a:lnTo>
                  <a:pt x="845477" y="845477"/>
                </a:lnTo>
                <a:lnTo>
                  <a:pt x="874700" y="813778"/>
                </a:lnTo>
                <a:lnTo>
                  <a:pt x="900951" y="779602"/>
                </a:lnTo>
                <a:lnTo>
                  <a:pt x="924230" y="742950"/>
                </a:lnTo>
                <a:lnTo>
                  <a:pt x="944042" y="704812"/>
                </a:lnTo>
                <a:lnTo>
                  <a:pt x="960882" y="664693"/>
                </a:lnTo>
                <a:lnTo>
                  <a:pt x="973760" y="623583"/>
                </a:lnTo>
                <a:lnTo>
                  <a:pt x="983171" y="581482"/>
                </a:lnTo>
                <a:lnTo>
                  <a:pt x="988619" y="53839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538460" y="2152650"/>
            <a:ext cx="990600" cy="138684"/>
          </a:xfrm>
          <a:custGeom>
            <a:avLst/>
            <a:gdLst/>
            <a:ahLst/>
            <a:cxnLst/>
            <a:rect l="l" t="t" r="r" b="b"/>
            <a:pathLst>
              <a:path w="990600" h="138684">
                <a:moveTo>
                  <a:pt x="0" y="0"/>
                </a:moveTo>
                <a:lnTo>
                  <a:pt x="4458" y="18326"/>
                </a:lnTo>
                <a:lnTo>
                  <a:pt x="16840" y="35662"/>
                </a:lnTo>
                <a:lnTo>
                  <a:pt x="37643" y="52997"/>
                </a:lnTo>
                <a:lnTo>
                  <a:pt x="66370" y="69342"/>
                </a:lnTo>
                <a:lnTo>
                  <a:pt x="102527" y="84201"/>
                </a:lnTo>
                <a:lnTo>
                  <a:pt x="145123" y="98069"/>
                </a:lnTo>
                <a:lnTo>
                  <a:pt x="193662" y="109957"/>
                </a:lnTo>
                <a:lnTo>
                  <a:pt x="247650" y="119863"/>
                </a:lnTo>
                <a:lnTo>
                  <a:pt x="305600" y="128283"/>
                </a:lnTo>
                <a:lnTo>
                  <a:pt x="367017" y="133731"/>
                </a:lnTo>
                <a:lnTo>
                  <a:pt x="430416" y="137693"/>
                </a:lnTo>
                <a:lnTo>
                  <a:pt x="495300" y="138684"/>
                </a:lnTo>
                <a:lnTo>
                  <a:pt x="560184" y="137693"/>
                </a:lnTo>
                <a:lnTo>
                  <a:pt x="623583" y="133731"/>
                </a:lnTo>
                <a:lnTo>
                  <a:pt x="685000" y="128283"/>
                </a:lnTo>
                <a:lnTo>
                  <a:pt x="742950" y="119863"/>
                </a:lnTo>
                <a:lnTo>
                  <a:pt x="796938" y="109957"/>
                </a:lnTo>
                <a:lnTo>
                  <a:pt x="845477" y="98069"/>
                </a:lnTo>
                <a:lnTo>
                  <a:pt x="888073" y="84201"/>
                </a:lnTo>
                <a:lnTo>
                  <a:pt x="924230" y="69342"/>
                </a:lnTo>
                <a:lnTo>
                  <a:pt x="952957" y="52997"/>
                </a:lnTo>
                <a:lnTo>
                  <a:pt x="973760" y="35662"/>
                </a:lnTo>
                <a:lnTo>
                  <a:pt x="986142" y="18326"/>
                </a:lnTo>
                <a:lnTo>
                  <a:pt x="99060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538460" y="2013966"/>
            <a:ext cx="990600" cy="138684"/>
          </a:xfrm>
          <a:custGeom>
            <a:avLst/>
            <a:gdLst/>
            <a:ahLst/>
            <a:cxnLst/>
            <a:rect l="l" t="t" r="r" b="b"/>
            <a:pathLst>
              <a:path w="990600" h="138684">
                <a:moveTo>
                  <a:pt x="990600" y="138684"/>
                </a:moveTo>
                <a:lnTo>
                  <a:pt x="986142" y="120358"/>
                </a:lnTo>
                <a:lnTo>
                  <a:pt x="973760" y="103022"/>
                </a:lnTo>
                <a:lnTo>
                  <a:pt x="952957" y="85687"/>
                </a:lnTo>
                <a:lnTo>
                  <a:pt x="924230" y="69342"/>
                </a:lnTo>
                <a:lnTo>
                  <a:pt x="888073" y="54483"/>
                </a:lnTo>
                <a:lnTo>
                  <a:pt x="845477" y="40615"/>
                </a:lnTo>
                <a:lnTo>
                  <a:pt x="796938" y="28727"/>
                </a:lnTo>
                <a:lnTo>
                  <a:pt x="742950" y="18821"/>
                </a:lnTo>
                <a:lnTo>
                  <a:pt x="685000" y="10401"/>
                </a:lnTo>
                <a:lnTo>
                  <a:pt x="623583" y="4953"/>
                </a:lnTo>
                <a:lnTo>
                  <a:pt x="560184" y="991"/>
                </a:lnTo>
                <a:lnTo>
                  <a:pt x="495300" y="0"/>
                </a:lnTo>
                <a:lnTo>
                  <a:pt x="430416" y="991"/>
                </a:lnTo>
                <a:lnTo>
                  <a:pt x="367017" y="4953"/>
                </a:lnTo>
                <a:lnTo>
                  <a:pt x="305600" y="10401"/>
                </a:lnTo>
                <a:lnTo>
                  <a:pt x="247650" y="18821"/>
                </a:lnTo>
                <a:lnTo>
                  <a:pt x="193662" y="28727"/>
                </a:lnTo>
                <a:lnTo>
                  <a:pt x="145123" y="40615"/>
                </a:lnTo>
                <a:lnTo>
                  <a:pt x="102527" y="54483"/>
                </a:lnTo>
                <a:lnTo>
                  <a:pt x="66370" y="69342"/>
                </a:lnTo>
                <a:lnTo>
                  <a:pt x="37643" y="85687"/>
                </a:lnTo>
                <a:lnTo>
                  <a:pt x="16840" y="103022"/>
                </a:lnTo>
                <a:lnTo>
                  <a:pt x="4458" y="120358"/>
                </a:lnTo>
                <a:lnTo>
                  <a:pt x="0" y="138684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3" name="S01-card10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원기둥·원뿔·구의 부분 이름을 알고 비교해요.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원기둥의 전개도를 알아봐요.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12" descr="가: 밑면이 삼각형인 입체도형(삼각기둥), 나: 밑면이 사각형이고 옆면이 삼각형인 입체도형(사각뿔). 보이지 않는 모서리는 점선"/>
          <p:cNvSpPr/>
          <p:nvPr/>
        </p:nvSpPr>
        <p:spPr>
          <a:xfrm>
            <a:off x="6361176" y="2831729"/>
            <a:ext cx="1915163" cy="417854"/>
          </a:xfrm>
          <a:custGeom>
            <a:avLst/>
            <a:gdLst/>
            <a:ahLst/>
            <a:cxnLst/>
            <a:rect l="l" t="t" r="r" b="b"/>
            <a:pathLst>
              <a:path w="1915163" h="417854">
                <a:moveTo>
                  <a:pt x="372586" y="417854"/>
                </a:moveTo>
                <a:lnTo>
                  <a:pt x="1915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2-mark13"/>
          <p:cNvSpPr/>
          <p:nvPr/>
        </p:nvSpPr>
        <p:spPr>
          <a:xfrm>
            <a:off x="6733762" y="2831729"/>
            <a:ext cx="1542577" cy="2507123"/>
          </a:xfrm>
          <a:custGeom>
            <a:avLst/>
            <a:gdLst/>
            <a:ahLst/>
            <a:cxnLst/>
            <a:rect l="l" t="t" r="r" b="b"/>
            <a:pathLst>
              <a:path w="1542577" h="2507123">
                <a:moveTo>
                  <a:pt x="0" y="2507123"/>
                </a:moveTo>
                <a:lnTo>
                  <a:pt x="1542577" y="2089269"/>
                </a:lnTo>
                <a:lnTo>
                  <a:pt x="1542577" y="0"/>
                </a:lnTo>
                <a:lnTo>
                  <a:pt x="0" y="4178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2-mark14"/>
          <p:cNvSpPr/>
          <p:nvPr/>
        </p:nvSpPr>
        <p:spPr>
          <a:xfrm>
            <a:off x="6361176" y="2831729"/>
            <a:ext cx="372586" cy="2507123"/>
          </a:xfrm>
          <a:custGeom>
            <a:avLst/>
            <a:gdLst/>
            <a:ahLst/>
            <a:cxnLst/>
            <a:rect l="l" t="t" r="r" b="b"/>
            <a:pathLst>
              <a:path w="372586" h="2507123">
                <a:moveTo>
                  <a:pt x="0" y="2089269"/>
                </a:moveTo>
                <a:lnTo>
                  <a:pt x="372586" y="2507123"/>
                </a:lnTo>
                <a:lnTo>
                  <a:pt x="372586" y="417854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2-mark15"/>
          <p:cNvSpPr/>
          <p:nvPr/>
        </p:nvSpPr>
        <p:spPr>
          <a:xfrm>
            <a:off x="9084190" y="2814318"/>
            <a:ext cx="1741058" cy="2524534"/>
          </a:xfrm>
          <a:custGeom>
            <a:avLst/>
            <a:gdLst/>
            <a:ahLst/>
            <a:cxnLst/>
            <a:rect l="l" t="t" r="r" b="b"/>
            <a:pathLst>
              <a:path w="1741058" h="2524534">
                <a:moveTo>
                  <a:pt x="0" y="2524534"/>
                </a:moveTo>
                <a:lnTo>
                  <a:pt x="1741058" y="2524534"/>
                </a:lnTo>
                <a:lnTo>
                  <a:pt x="123615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2-mark16"/>
          <p:cNvSpPr/>
          <p:nvPr/>
        </p:nvSpPr>
        <p:spPr>
          <a:xfrm>
            <a:off x="10320341" y="2814318"/>
            <a:ext cx="1236151" cy="2524534"/>
          </a:xfrm>
          <a:custGeom>
            <a:avLst/>
            <a:gdLst/>
            <a:ahLst/>
            <a:cxnLst/>
            <a:rect l="l" t="t" r="r" b="b"/>
            <a:pathLst>
              <a:path w="1236151" h="2524534">
                <a:moveTo>
                  <a:pt x="504907" y="2524534"/>
                </a:moveTo>
                <a:lnTo>
                  <a:pt x="1236151" y="2002216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2-mark17"/>
          <p:cNvSpPr/>
          <p:nvPr/>
        </p:nvSpPr>
        <p:spPr>
          <a:xfrm>
            <a:off x="6361176" y="4920998"/>
            <a:ext cx="191516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2-mark18"/>
          <p:cNvSpPr/>
          <p:nvPr/>
        </p:nvSpPr>
        <p:spPr>
          <a:xfrm>
            <a:off x="9815434" y="4816535"/>
            <a:ext cx="174105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2-mark19"/>
          <p:cNvSpPr/>
          <p:nvPr/>
        </p:nvSpPr>
        <p:spPr>
          <a:xfrm flipV="1">
            <a:off x="9084190" y="4816535"/>
            <a:ext cx="731244" cy="522317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2-mark20"/>
          <p:cNvSpPr/>
          <p:nvPr/>
        </p:nvSpPr>
        <p:spPr>
          <a:xfrm flipV="1">
            <a:off x="9815434" y="2814318"/>
            <a:ext cx="504907" cy="200221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2" name="S02-label22"/>
          <p:cNvSpPr txBox="1"/>
          <p:nvPr/>
        </p:nvSpPr>
        <p:spPr>
          <a:xfrm>
            <a:off x="6803151" y="203032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3" name="S02-label24"/>
          <p:cNvSpPr txBox="1"/>
          <p:nvPr/>
        </p:nvSpPr>
        <p:spPr>
          <a:xfrm>
            <a:off x="9850002" y="203032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4" name="S02-chip2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5" name="S02-text2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가의 이름은?</a:t>
            </a:r>
            <a:endParaRPr lang="ko-KR" sz="2800" dirty="0"/>
          </a:p>
        </p:txBody>
      </p:sp>
      <p:sp>
        <p:nvSpPr>
          <p:cNvPr id="16" name="S02-chip2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02-text2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이름은?</a:t>
            </a:r>
            <a:endParaRPr lang="ko-KR" sz="2800" dirty="0"/>
          </a:p>
        </p:txBody>
      </p:sp>
      <p:sp>
        <p:nvSpPr>
          <p:cNvPr id="18" name="S02-chip2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9" name="S02-text3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3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지름은?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</a:t>
            </a:r>
            <a:endParaRPr lang="ko-KR" sz="4000" dirty="0"/>
          </a:p>
        </p:txBody>
      </p:sp>
      <p:sp>
        <p:nvSpPr>
          <p:cNvPr id="3" name="S03-figure31" descr="원기둥: 위와 아래의 원이 밑면, 옆을 둘러싼 굽은 면이 옆면, 두 밑면 사이의 수직 거리가 높이"/>
          <p:cNvSpPr/>
          <p:nvPr/>
        </p:nvSpPr>
        <p:spPr>
          <a:xfrm>
            <a:off x="2041398" y="2235708"/>
            <a:ext cx="2377440" cy="3072384"/>
          </a:xfrm>
          <a:custGeom>
            <a:avLst/>
            <a:gdLst/>
            <a:ahLst/>
            <a:cxnLst/>
            <a:rect l="l" t="t" r="r" b="b"/>
            <a:pathLst>
              <a:path w="2377440" h="3072384">
                <a:moveTo>
                  <a:pt x="0" y="347472"/>
                </a:moveTo>
                <a:lnTo>
                  <a:pt x="0" y="2724912"/>
                </a:lnTo>
                <a:lnTo>
                  <a:pt x="10058" y="2770632"/>
                </a:lnTo>
                <a:lnTo>
                  <a:pt x="40234" y="2814523"/>
                </a:lnTo>
                <a:lnTo>
                  <a:pt x="90526" y="2857500"/>
                </a:lnTo>
                <a:lnTo>
                  <a:pt x="159106" y="2898648"/>
                </a:lnTo>
                <a:lnTo>
                  <a:pt x="245974" y="2936138"/>
                </a:lnTo>
                <a:lnTo>
                  <a:pt x="348386" y="2970886"/>
                </a:lnTo>
                <a:lnTo>
                  <a:pt x="465430" y="3000146"/>
                </a:lnTo>
                <a:lnTo>
                  <a:pt x="594360" y="3025750"/>
                </a:lnTo>
                <a:lnTo>
                  <a:pt x="734263" y="3045866"/>
                </a:lnTo>
                <a:lnTo>
                  <a:pt x="881482" y="3060497"/>
                </a:lnTo>
                <a:lnTo>
                  <a:pt x="1033272" y="3069641"/>
                </a:lnTo>
                <a:lnTo>
                  <a:pt x="1188720" y="3072384"/>
                </a:lnTo>
                <a:lnTo>
                  <a:pt x="1344168" y="3069641"/>
                </a:lnTo>
                <a:lnTo>
                  <a:pt x="1495958" y="3060497"/>
                </a:lnTo>
                <a:lnTo>
                  <a:pt x="1643177" y="3045866"/>
                </a:lnTo>
                <a:lnTo>
                  <a:pt x="1783080" y="3025750"/>
                </a:lnTo>
                <a:lnTo>
                  <a:pt x="1912010" y="3000146"/>
                </a:lnTo>
                <a:lnTo>
                  <a:pt x="2029054" y="2970886"/>
                </a:lnTo>
                <a:lnTo>
                  <a:pt x="2131466" y="2936138"/>
                </a:lnTo>
                <a:lnTo>
                  <a:pt x="2218334" y="2898648"/>
                </a:lnTo>
                <a:lnTo>
                  <a:pt x="2286914" y="2857500"/>
                </a:lnTo>
                <a:lnTo>
                  <a:pt x="2337206" y="2814523"/>
                </a:lnTo>
                <a:lnTo>
                  <a:pt x="2367382" y="2770632"/>
                </a:lnTo>
                <a:lnTo>
                  <a:pt x="2377440" y="2724912"/>
                </a:lnTo>
                <a:lnTo>
                  <a:pt x="2377440" y="347472"/>
                </a:lnTo>
                <a:lnTo>
                  <a:pt x="2367382" y="301752"/>
                </a:lnTo>
                <a:lnTo>
                  <a:pt x="2337206" y="257861"/>
                </a:lnTo>
                <a:lnTo>
                  <a:pt x="2286914" y="214884"/>
                </a:lnTo>
                <a:lnTo>
                  <a:pt x="2218334" y="173736"/>
                </a:lnTo>
                <a:lnTo>
                  <a:pt x="2131466" y="136246"/>
                </a:lnTo>
                <a:lnTo>
                  <a:pt x="2029054" y="101498"/>
                </a:lnTo>
                <a:lnTo>
                  <a:pt x="1912010" y="72238"/>
                </a:lnTo>
                <a:lnTo>
                  <a:pt x="1783080" y="46634"/>
                </a:lnTo>
                <a:lnTo>
                  <a:pt x="1643177" y="26518"/>
                </a:lnTo>
                <a:lnTo>
                  <a:pt x="1495958" y="11887"/>
                </a:lnTo>
                <a:lnTo>
                  <a:pt x="1344168" y="2743"/>
                </a:lnTo>
                <a:lnTo>
                  <a:pt x="1188720" y="0"/>
                </a:lnTo>
                <a:lnTo>
                  <a:pt x="1033272" y="2743"/>
                </a:lnTo>
                <a:lnTo>
                  <a:pt x="881482" y="11887"/>
                </a:lnTo>
                <a:lnTo>
                  <a:pt x="734263" y="26518"/>
                </a:lnTo>
                <a:lnTo>
                  <a:pt x="594360" y="46634"/>
                </a:lnTo>
                <a:lnTo>
                  <a:pt x="465430" y="72238"/>
                </a:lnTo>
                <a:lnTo>
                  <a:pt x="348386" y="101498"/>
                </a:lnTo>
                <a:lnTo>
                  <a:pt x="245974" y="136246"/>
                </a:lnTo>
                <a:lnTo>
                  <a:pt x="159106" y="173736"/>
                </a:lnTo>
                <a:lnTo>
                  <a:pt x="90526" y="214884"/>
                </a:lnTo>
                <a:lnTo>
                  <a:pt x="40234" y="257861"/>
                </a:lnTo>
                <a:lnTo>
                  <a:pt x="10058" y="30175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32"/>
          <p:cNvSpPr/>
          <p:nvPr/>
        </p:nvSpPr>
        <p:spPr>
          <a:xfrm>
            <a:off x="2041398" y="2235708"/>
            <a:ext cx="2377440" cy="694944"/>
          </a:xfrm>
          <a:custGeom>
            <a:avLst/>
            <a:gdLst/>
            <a:ahLst/>
            <a:cxnLst/>
            <a:rect l="l" t="t" r="r" b="b"/>
            <a:pathLst>
              <a:path w="2377440" h="694944">
                <a:moveTo>
                  <a:pt x="2377440" y="347472"/>
                </a:moveTo>
                <a:lnTo>
                  <a:pt x="2367382" y="301752"/>
                </a:lnTo>
                <a:lnTo>
                  <a:pt x="2337206" y="257861"/>
                </a:lnTo>
                <a:lnTo>
                  <a:pt x="2286914" y="214884"/>
                </a:lnTo>
                <a:lnTo>
                  <a:pt x="2218334" y="173736"/>
                </a:lnTo>
                <a:lnTo>
                  <a:pt x="2131466" y="136246"/>
                </a:lnTo>
                <a:lnTo>
                  <a:pt x="2029054" y="101498"/>
                </a:lnTo>
                <a:lnTo>
                  <a:pt x="1912010" y="72238"/>
                </a:lnTo>
                <a:lnTo>
                  <a:pt x="1783080" y="46634"/>
                </a:lnTo>
                <a:lnTo>
                  <a:pt x="1643177" y="26518"/>
                </a:lnTo>
                <a:lnTo>
                  <a:pt x="1495958" y="11887"/>
                </a:lnTo>
                <a:lnTo>
                  <a:pt x="1344168" y="2743"/>
                </a:lnTo>
                <a:lnTo>
                  <a:pt x="1188720" y="0"/>
                </a:lnTo>
                <a:lnTo>
                  <a:pt x="1033272" y="2743"/>
                </a:lnTo>
                <a:lnTo>
                  <a:pt x="881482" y="11887"/>
                </a:lnTo>
                <a:lnTo>
                  <a:pt x="734263" y="26518"/>
                </a:lnTo>
                <a:lnTo>
                  <a:pt x="594360" y="46634"/>
                </a:lnTo>
                <a:lnTo>
                  <a:pt x="465430" y="72238"/>
                </a:lnTo>
                <a:lnTo>
                  <a:pt x="348386" y="101498"/>
                </a:lnTo>
                <a:lnTo>
                  <a:pt x="245974" y="136246"/>
                </a:lnTo>
                <a:lnTo>
                  <a:pt x="159106" y="173736"/>
                </a:lnTo>
                <a:lnTo>
                  <a:pt x="90526" y="214884"/>
                </a:lnTo>
                <a:lnTo>
                  <a:pt x="40234" y="257861"/>
                </a:lnTo>
                <a:lnTo>
                  <a:pt x="10058" y="301752"/>
                </a:lnTo>
                <a:lnTo>
                  <a:pt x="0" y="347472"/>
                </a:lnTo>
                <a:lnTo>
                  <a:pt x="10058" y="393192"/>
                </a:lnTo>
                <a:lnTo>
                  <a:pt x="40234" y="437083"/>
                </a:lnTo>
                <a:lnTo>
                  <a:pt x="90526" y="480060"/>
                </a:lnTo>
                <a:lnTo>
                  <a:pt x="159106" y="521208"/>
                </a:lnTo>
                <a:lnTo>
                  <a:pt x="245974" y="558698"/>
                </a:lnTo>
                <a:lnTo>
                  <a:pt x="348386" y="593446"/>
                </a:lnTo>
                <a:lnTo>
                  <a:pt x="465430" y="622706"/>
                </a:lnTo>
                <a:lnTo>
                  <a:pt x="594360" y="648310"/>
                </a:lnTo>
                <a:lnTo>
                  <a:pt x="734263" y="668426"/>
                </a:lnTo>
                <a:lnTo>
                  <a:pt x="881482" y="683057"/>
                </a:lnTo>
                <a:lnTo>
                  <a:pt x="1033272" y="692201"/>
                </a:lnTo>
                <a:lnTo>
                  <a:pt x="1188720" y="694944"/>
                </a:lnTo>
                <a:lnTo>
                  <a:pt x="1344168" y="692201"/>
                </a:lnTo>
                <a:lnTo>
                  <a:pt x="1495958" y="683057"/>
                </a:lnTo>
                <a:lnTo>
                  <a:pt x="1643177" y="668426"/>
                </a:lnTo>
                <a:lnTo>
                  <a:pt x="1783080" y="648310"/>
                </a:lnTo>
                <a:lnTo>
                  <a:pt x="1912010" y="622706"/>
                </a:lnTo>
                <a:lnTo>
                  <a:pt x="2029054" y="593446"/>
                </a:lnTo>
                <a:lnTo>
                  <a:pt x="2131466" y="558698"/>
                </a:lnTo>
                <a:lnTo>
                  <a:pt x="2218334" y="521208"/>
                </a:lnTo>
                <a:lnTo>
                  <a:pt x="2286914" y="480060"/>
                </a:lnTo>
                <a:lnTo>
                  <a:pt x="2337206" y="437083"/>
                </a:lnTo>
                <a:lnTo>
                  <a:pt x="2367382" y="393192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3-mark33"/>
          <p:cNvSpPr/>
          <p:nvPr/>
        </p:nvSpPr>
        <p:spPr>
          <a:xfrm>
            <a:off x="2041398" y="4613148"/>
            <a:ext cx="2377440" cy="347472"/>
          </a:xfrm>
          <a:custGeom>
            <a:avLst/>
            <a:gdLst/>
            <a:ahLst/>
            <a:cxnLst/>
            <a:rect l="l" t="t" r="r" b="b"/>
            <a:pathLst>
              <a:path w="2377440" h="347472">
                <a:moveTo>
                  <a:pt x="2377440" y="347472"/>
                </a:moveTo>
                <a:lnTo>
                  <a:pt x="2367382" y="301752"/>
                </a:lnTo>
                <a:lnTo>
                  <a:pt x="2337206" y="257861"/>
                </a:lnTo>
                <a:lnTo>
                  <a:pt x="2286914" y="214884"/>
                </a:lnTo>
                <a:lnTo>
                  <a:pt x="2218334" y="173736"/>
                </a:lnTo>
                <a:lnTo>
                  <a:pt x="2131466" y="136246"/>
                </a:lnTo>
                <a:lnTo>
                  <a:pt x="2029054" y="101498"/>
                </a:lnTo>
                <a:lnTo>
                  <a:pt x="1912010" y="72238"/>
                </a:lnTo>
                <a:lnTo>
                  <a:pt x="1783080" y="46634"/>
                </a:lnTo>
                <a:lnTo>
                  <a:pt x="1643177" y="26518"/>
                </a:lnTo>
                <a:lnTo>
                  <a:pt x="1495958" y="11887"/>
                </a:lnTo>
                <a:lnTo>
                  <a:pt x="1344168" y="2743"/>
                </a:lnTo>
                <a:lnTo>
                  <a:pt x="1188720" y="0"/>
                </a:lnTo>
                <a:lnTo>
                  <a:pt x="1033272" y="2743"/>
                </a:lnTo>
                <a:lnTo>
                  <a:pt x="881482" y="11887"/>
                </a:lnTo>
                <a:lnTo>
                  <a:pt x="734263" y="26518"/>
                </a:lnTo>
                <a:lnTo>
                  <a:pt x="594360" y="46634"/>
                </a:lnTo>
                <a:lnTo>
                  <a:pt x="465430" y="72238"/>
                </a:lnTo>
                <a:lnTo>
                  <a:pt x="348386" y="101498"/>
                </a:lnTo>
                <a:lnTo>
                  <a:pt x="245974" y="136246"/>
                </a:lnTo>
                <a:lnTo>
                  <a:pt x="159106" y="173736"/>
                </a:lnTo>
                <a:lnTo>
                  <a:pt x="90526" y="214884"/>
                </a:lnTo>
                <a:lnTo>
                  <a:pt x="40234" y="257861"/>
                </a:lnTo>
                <a:lnTo>
                  <a:pt x="10058" y="301752"/>
                </a:lnTo>
                <a:lnTo>
                  <a:pt x="0" y="347472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6" name="S03-mark34"/>
          <p:cNvSpPr/>
          <p:nvPr/>
        </p:nvSpPr>
        <p:spPr>
          <a:xfrm flipV="1">
            <a:off x="4921758" y="2583180"/>
            <a:ext cx="0" cy="2377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3-mark35"/>
          <p:cNvSpPr/>
          <p:nvPr/>
        </p:nvSpPr>
        <p:spPr>
          <a:xfrm>
            <a:off x="4555998" y="4960620"/>
            <a:ext cx="5486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S03-mark36"/>
          <p:cNvSpPr/>
          <p:nvPr/>
        </p:nvSpPr>
        <p:spPr>
          <a:xfrm>
            <a:off x="4555998" y="2583180"/>
            <a:ext cx="5486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3-label38"/>
          <p:cNvSpPr txBox="1"/>
          <p:nvPr/>
        </p:nvSpPr>
        <p:spPr>
          <a:xfrm>
            <a:off x="4950714" y="35972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0" name="S03-label40"/>
          <p:cNvSpPr txBox="1"/>
          <p:nvPr/>
        </p:nvSpPr>
        <p:spPr>
          <a:xfrm>
            <a:off x="1026922" y="240855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1" name="S03-label42"/>
          <p:cNvSpPr txBox="1"/>
          <p:nvPr/>
        </p:nvSpPr>
        <p:spPr>
          <a:xfrm>
            <a:off x="1026922" y="47859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2" name="S03-label44"/>
          <p:cNvSpPr txBox="1"/>
          <p:nvPr/>
        </p:nvSpPr>
        <p:spPr>
          <a:xfrm>
            <a:off x="2901442" y="371614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200" dirty="0"/>
          </a:p>
        </p:txBody>
      </p:sp>
      <p:sp>
        <p:nvSpPr>
          <p:cNvPr id="13" name="S03-card45"/>
          <p:cNvSpPr/>
          <p:nvPr/>
        </p:nvSpPr>
        <p:spPr>
          <a:xfrm>
            <a:off x="6277356" y="1602740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46"/>
          <p:cNvSpPr txBox="1"/>
          <p:nvPr/>
        </p:nvSpPr>
        <p:spPr>
          <a:xfrm>
            <a:off x="6551676" y="1739900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평행하고 합동인 두 원</a:t>
            </a:r>
            <a:endParaRPr lang="ko-KR" sz="2800" dirty="0"/>
          </a:p>
        </p:txBody>
      </p:sp>
      <p:sp>
        <p:nvSpPr>
          <p:cNvPr id="15" name="S03-card47"/>
          <p:cNvSpPr/>
          <p:nvPr/>
        </p:nvSpPr>
        <p:spPr>
          <a:xfrm>
            <a:off x="6277356" y="301142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48"/>
          <p:cNvSpPr txBox="1"/>
          <p:nvPr/>
        </p:nvSpPr>
        <p:spPr>
          <a:xfrm>
            <a:off x="6551676" y="314858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옆을 둘러싼 굽은 면</a:t>
            </a:r>
            <a:endParaRPr lang="ko-KR" sz="2800" dirty="0"/>
          </a:p>
        </p:txBody>
      </p:sp>
      <p:sp>
        <p:nvSpPr>
          <p:cNvPr id="17" name="S03-card49"/>
          <p:cNvSpPr/>
          <p:nvPr/>
        </p:nvSpPr>
        <p:spPr>
          <a:xfrm>
            <a:off x="6277356" y="442010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3-cardtext50"/>
          <p:cNvSpPr txBox="1"/>
          <p:nvPr/>
        </p:nvSpPr>
        <p:spPr>
          <a:xfrm>
            <a:off x="6551676" y="455726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밑면에 수직인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선분의 길이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</a:t>
            </a:r>
            <a:endParaRPr lang="ko-KR" sz="4000" dirty="0"/>
          </a:p>
        </p:txBody>
      </p:sp>
      <p:sp>
        <p:nvSpPr>
          <p:cNvPr id="3" name="S04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원뿔은 밑면이 1개예요.</a:t>
            </a:r>
            <a:endParaRPr lang="ko-KR" sz="2800" dirty="0"/>
          </a:p>
        </p:txBody>
      </p:sp>
      <p:sp>
        <p:nvSpPr>
          <p:cNvPr id="5" name="S04-figure53" descr="원뿔: 뾰족한 점이 원뿔의 꼭짓점, 꼭짓점에서 밑면 둘레의 한 점까지 이은 주황색 선분이 모선, 꼭짓점에서 밑면의 중심까지 수직인 점선이 높이"/>
          <p:cNvSpPr/>
          <p:nvPr/>
        </p:nvSpPr>
        <p:spPr>
          <a:xfrm>
            <a:off x="1556063" y="1781712"/>
            <a:ext cx="2790092" cy="3255108"/>
          </a:xfrm>
          <a:custGeom>
            <a:avLst/>
            <a:gdLst/>
            <a:ahLst/>
            <a:cxnLst/>
            <a:rect l="l" t="t" r="r" b="b"/>
            <a:pathLst>
              <a:path w="2790092" h="3255108">
                <a:moveTo>
                  <a:pt x="1395046" y="0"/>
                </a:moveTo>
                <a:lnTo>
                  <a:pt x="19531" y="2712900"/>
                </a:lnTo>
                <a:lnTo>
                  <a:pt x="0" y="2779862"/>
                </a:lnTo>
                <a:lnTo>
                  <a:pt x="10230" y="2846824"/>
                </a:lnTo>
                <a:lnTo>
                  <a:pt x="49292" y="2912856"/>
                </a:lnTo>
                <a:lnTo>
                  <a:pt x="116254" y="2976098"/>
                </a:lnTo>
                <a:lnTo>
                  <a:pt x="211117" y="3035620"/>
                </a:lnTo>
                <a:lnTo>
                  <a:pt x="329231" y="3090492"/>
                </a:lnTo>
                <a:lnTo>
                  <a:pt x="470596" y="3137924"/>
                </a:lnTo>
                <a:lnTo>
                  <a:pt x="631491" y="3178845"/>
                </a:lnTo>
                <a:lnTo>
                  <a:pt x="807267" y="3212326"/>
                </a:lnTo>
                <a:lnTo>
                  <a:pt x="996063" y="3235577"/>
                </a:lnTo>
                <a:lnTo>
                  <a:pt x="1193229" y="3250458"/>
                </a:lnTo>
                <a:lnTo>
                  <a:pt x="1395046" y="3255108"/>
                </a:lnTo>
                <a:lnTo>
                  <a:pt x="1596863" y="3250458"/>
                </a:lnTo>
                <a:lnTo>
                  <a:pt x="1794029" y="3235577"/>
                </a:lnTo>
                <a:lnTo>
                  <a:pt x="1982826" y="3212326"/>
                </a:lnTo>
                <a:lnTo>
                  <a:pt x="2158601" y="3178845"/>
                </a:lnTo>
                <a:lnTo>
                  <a:pt x="2319497" y="3137924"/>
                </a:lnTo>
                <a:lnTo>
                  <a:pt x="2460861" y="3090492"/>
                </a:lnTo>
                <a:lnTo>
                  <a:pt x="2578975" y="3035620"/>
                </a:lnTo>
                <a:lnTo>
                  <a:pt x="2673838" y="2976098"/>
                </a:lnTo>
                <a:lnTo>
                  <a:pt x="2740801" y="2912856"/>
                </a:lnTo>
                <a:lnTo>
                  <a:pt x="2779862" y="2846824"/>
                </a:lnTo>
                <a:lnTo>
                  <a:pt x="2790092" y="2779862"/>
                </a:lnTo>
                <a:lnTo>
                  <a:pt x="2770562" y="27129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54"/>
          <p:cNvSpPr/>
          <p:nvPr/>
        </p:nvSpPr>
        <p:spPr>
          <a:xfrm>
            <a:off x="1575593" y="4106789"/>
            <a:ext cx="2751031" cy="387823"/>
          </a:xfrm>
          <a:custGeom>
            <a:avLst/>
            <a:gdLst/>
            <a:ahLst/>
            <a:cxnLst/>
            <a:rect l="l" t="t" r="r" b="b"/>
            <a:pathLst>
              <a:path w="2751031" h="387823">
                <a:moveTo>
                  <a:pt x="2751031" y="387823"/>
                </a:moveTo>
                <a:lnTo>
                  <a:pt x="2714760" y="334811"/>
                </a:lnTo>
                <a:lnTo>
                  <a:pt x="2659888" y="283659"/>
                </a:lnTo>
                <a:lnTo>
                  <a:pt x="2587346" y="234368"/>
                </a:lnTo>
                <a:lnTo>
                  <a:pt x="2498063" y="188796"/>
                </a:lnTo>
                <a:lnTo>
                  <a:pt x="2393899" y="146945"/>
                </a:lnTo>
                <a:lnTo>
                  <a:pt x="2275785" y="109744"/>
                </a:lnTo>
                <a:lnTo>
                  <a:pt x="2145581" y="77193"/>
                </a:lnTo>
                <a:lnTo>
                  <a:pt x="2004216" y="50222"/>
                </a:lnTo>
                <a:lnTo>
                  <a:pt x="1855411" y="27901"/>
                </a:lnTo>
                <a:lnTo>
                  <a:pt x="1699166" y="13020"/>
                </a:lnTo>
                <a:lnTo>
                  <a:pt x="1538271" y="2790"/>
                </a:lnTo>
                <a:lnTo>
                  <a:pt x="1375516" y="0"/>
                </a:lnTo>
                <a:lnTo>
                  <a:pt x="1212760" y="2790"/>
                </a:lnTo>
                <a:lnTo>
                  <a:pt x="1051865" y="13020"/>
                </a:lnTo>
                <a:lnTo>
                  <a:pt x="895620" y="27901"/>
                </a:lnTo>
                <a:lnTo>
                  <a:pt x="746815" y="50222"/>
                </a:lnTo>
                <a:lnTo>
                  <a:pt x="605450" y="77193"/>
                </a:lnTo>
                <a:lnTo>
                  <a:pt x="475246" y="109744"/>
                </a:lnTo>
                <a:lnTo>
                  <a:pt x="357132" y="146945"/>
                </a:lnTo>
                <a:lnTo>
                  <a:pt x="252968" y="188796"/>
                </a:lnTo>
                <a:lnTo>
                  <a:pt x="163685" y="234368"/>
                </a:lnTo>
                <a:lnTo>
                  <a:pt x="91143" y="283659"/>
                </a:lnTo>
                <a:lnTo>
                  <a:pt x="36271" y="334811"/>
                </a:lnTo>
                <a:lnTo>
                  <a:pt x="0" y="387823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4-mark55"/>
          <p:cNvSpPr/>
          <p:nvPr/>
        </p:nvSpPr>
        <p:spPr>
          <a:xfrm>
            <a:off x="2951109" y="436225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mark56"/>
          <p:cNvSpPr/>
          <p:nvPr/>
        </p:nvSpPr>
        <p:spPr>
          <a:xfrm>
            <a:off x="2951109" y="1781712"/>
            <a:ext cx="0" cy="279009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4-mark57"/>
          <p:cNvSpPr/>
          <p:nvPr/>
        </p:nvSpPr>
        <p:spPr>
          <a:xfrm>
            <a:off x="2951109" y="4571805"/>
            <a:ext cx="139504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4-mark58"/>
          <p:cNvSpPr/>
          <p:nvPr/>
        </p:nvSpPr>
        <p:spPr>
          <a:xfrm flipH="1">
            <a:off x="2151282" y="1781712"/>
            <a:ext cx="799826" cy="3171405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11" name="S04-mark59"/>
          <p:cNvSpPr/>
          <p:nvPr/>
        </p:nvSpPr>
        <p:spPr>
          <a:xfrm>
            <a:off x="2891673" y="17222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label61"/>
          <p:cNvSpPr txBox="1"/>
          <p:nvPr/>
        </p:nvSpPr>
        <p:spPr>
          <a:xfrm>
            <a:off x="1681242" y="30560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모선</a:t>
            </a:r>
            <a:endParaRPr lang="ko-KR" sz="2200" dirty="0"/>
          </a:p>
        </p:txBody>
      </p:sp>
      <p:sp>
        <p:nvSpPr>
          <p:cNvPr id="13" name="S04-label63"/>
          <p:cNvSpPr txBox="1"/>
          <p:nvPr/>
        </p:nvSpPr>
        <p:spPr>
          <a:xfrm>
            <a:off x="3013046" y="314163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4" name="S04-label65"/>
          <p:cNvSpPr txBox="1"/>
          <p:nvPr/>
        </p:nvSpPr>
        <p:spPr>
          <a:xfrm>
            <a:off x="2032899" y="1235075"/>
            <a:ext cx="18364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원뿔의 꼭짓점</a:t>
            </a:r>
            <a:endParaRPr lang="ko-KR" sz="2200" dirty="0"/>
          </a:p>
        </p:txBody>
      </p:sp>
      <p:sp>
        <p:nvSpPr>
          <p:cNvPr id="15" name="S04-label67"/>
          <p:cNvSpPr txBox="1"/>
          <p:nvPr/>
        </p:nvSpPr>
        <p:spPr>
          <a:xfrm>
            <a:off x="4575497" y="472269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6" name="S04-card68"/>
          <p:cNvSpPr/>
          <p:nvPr/>
        </p:nvSpPr>
        <p:spPr>
          <a:xfrm>
            <a:off x="6277356" y="158800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4-cardtext69"/>
          <p:cNvSpPr txBox="1"/>
          <p:nvPr/>
        </p:nvSpPr>
        <p:spPr>
          <a:xfrm>
            <a:off x="6551676" y="172516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꼭짓점과 밑면 둘레의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점을 이은 선분</a:t>
            </a:r>
            <a:endParaRPr lang="ko-KR" sz="2800" dirty="0"/>
          </a:p>
        </p:txBody>
      </p:sp>
      <p:sp>
        <p:nvSpPr>
          <p:cNvPr id="18" name="S04-card70"/>
          <p:cNvSpPr/>
          <p:nvPr/>
        </p:nvSpPr>
        <p:spPr>
          <a:xfrm>
            <a:off x="6277356" y="333756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4-cardtext71"/>
          <p:cNvSpPr txBox="1"/>
          <p:nvPr/>
        </p:nvSpPr>
        <p:spPr>
          <a:xfrm>
            <a:off x="6551676" y="347472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꼭짓점에서 밑면에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수직인 선분의 길이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바퀴 돌리면</a:t>
            </a:r>
            <a:endParaRPr lang="ko-KR" sz="4000" dirty="0"/>
          </a:p>
        </p:txBody>
      </p:sp>
      <p:sp>
        <p:nvSpPr>
          <p:cNvPr id="3" name="S05-card72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73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구의 중심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반원의 중심이 구의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안쪽 점이 돼요.</a:t>
            </a:r>
            <a:endParaRPr lang="ko-KR" sz="2800" dirty="0"/>
          </a:p>
        </p:txBody>
      </p:sp>
      <p:sp>
        <p:nvSpPr>
          <p:cNvPr id="5" name="S05-card74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75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구의 반지름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중심과 겉면의 한 점을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이은 선분이에요.</a:t>
            </a:r>
            <a:endParaRPr lang="ko-KR" sz="2800" dirty="0"/>
          </a:p>
        </p:txBody>
      </p:sp>
      <p:sp>
        <p:nvSpPr>
          <p:cNvPr id="7" name="S05-figure76" descr="직사각형의 한 변을 기준(점선)으로 한 바퀴 돌리는 그림"/>
          <p:cNvSpPr/>
          <p:nvPr/>
        </p:nvSpPr>
        <p:spPr>
          <a:xfrm>
            <a:off x="1986466" y="1836924"/>
            <a:ext cx="1009802" cy="1708896"/>
          </a:xfrm>
          <a:custGeom>
            <a:avLst/>
            <a:gdLst/>
            <a:ahLst/>
            <a:cxnLst/>
            <a:rect l="l" t="t" r="r" b="b"/>
            <a:pathLst>
              <a:path w="1009802" h="1708896">
                <a:moveTo>
                  <a:pt x="0" y="1708896"/>
                </a:moveTo>
                <a:lnTo>
                  <a:pt x="1009802" y="1708896"/>
                </a:lnTo>
                <a:lnTo>
                  <a:pt x="10098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77"/>
          <p:cNvSpPr/>
          <p:nvPr/>
        </p:nvSpPr>
        <p:spPr>
          <a:xfrm>
            <a:off x="1584875" y="1452422"/>
            <a:ext cx="771334" cy="81561"/>
          </a:xfrm>
          <a:custGeom>
            <a:avLst/>
            <a:gdLst/>
            <a:ahLst/>
            <a:cxnLst/>
            <a:rect l="l" t="t" r="r" b="b"/>
            <a:pathLst>
              <a:path w="771334" h="81561">
                <a:moveTo>
                  <a:pt x="0" y="0"/>
                </a:moveTo>
                <a:lnTo>
                  <a:pt x="24857" y="15535"/>
                </a:lnTo>
                <a:lnTo>
                  <a:pt x="56704" y="31071"/>
                </a:lnTo>
                <a:lnTo>
                  <a:pt x="96320" y="44276"/>
                </a:lnTo>
                <a:lnTo>
                  <a:pt x="141372" y="55928"/>
                </a:lnTo>
                <a:lnTo>
                  <a:pt x="191862" y="65249"/>
                </a:lnTo>
                <a:lnTo>
                  <a:pt x="247013" y="73016"/>
                </a:lnTo>
                <a:lnTo>
                  <a:pt x="304494" y="78454"/>
                </a:lnTo>
                <a:lnTo>
                  <a:pt x="364306" y="80784"/>
                </a:lnTo>
                <a:lnTo>
                  <a:pt x="424894" y="81561"/>
                </a:lnTo>
                <a:lnTo>
                  <a:pt x="484705" y="79231"/>
                </a:lnTo>
                <a:lnTo>
                  <a:pt x="542963" y="74570"/>
                </a:lnTo>
                <a:lnTo>
                  <a:pt x="598891" y="67579"/>
                </a:lnTo>
                <a:lnTo>
                  <a:pt x="650157" y="58258"/>
                </a:lnTo>
                <a:lnTo>
                  <a:pt x="696764" y="47383"/>
                </a:lnTo>
                <a:lnTo>
                  <a:pt x="737933" y="34178"/>
                </a:lnTo>
                <a:lnTo>
                  <a:pt x="771334" y="19419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9" name="S05-mark78"/>
          <p:cNvSpPr/>
          <p:nvPr/>
        </p:nvSpPr>
        <p:spPr>
          <a:xfrm flipV="1">
            <a:off x="1986466" y="1409700"/>
            <a:ext cx="0" cy="2524506"/>
          </a:xfrm>
          <a:prstGeom prst="line">
            <a:avLst/>
          </a:prstGeom>
          <a:noFill/>
          <a:ln w="28575">
            <a:solidFill>
              <a:srgbClr val="3D5A80"/>
            </a:solidFill>
            <a:prstDash val="dash"/>
          </a:ln>
        </p:spPr>
      </p:sp>
      <p:sp>
        <p:nvSpPr>
          <p:cNvPr id="10" name="S05-mark79"/>
          <p:cNvSpPr/>
          <p:nvPr/>
        </p:nvSpPr>
        <p:spPr>
          <a:xfrm flipV="1">
            <a:off x="2356209" y="1435333"/>
            <a:ext cx="48160" cy="3650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5-label80"/>
          <p:cNvSpPr txBox="1"/>
          <p:nvPr/>
        </p:nvSpPr>
        <p:spPr>
          <a:xfrm>
            <a:off x="548640" y="4091178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 → 원기둥</a:t>
            </a:r>
            <a:endParaRPr lang="ko-KR" sz="2200" dirty="0"/>
          </a:p>
        </p:txBody>
      </p:sp>
      <p:sp>
        <p:nvSpPr>
          <p:cNvPr id="12" name="S05-figure81" descr="직각삼각형의 직각을 낀 한 변을 기준(점선)으로 한 바퀴 돌리는 그림"/>
          <p:cNvSpPr/>
          <p:nvPr/>
        </p:nvSpPr>
        <p:spPr>
          <a:xfrm>
            <a:off x="5790370" y="1836924"/>
            <a:ext cx="1009802" cy="1708896"/>
          </a:xfrm>
          <a:custGeom>
            <a:avLst/>
            <a:gdLst/>
            <a:ahLst/>
            <a:cxnLst/>
            <a:rect l="l" t="t" r="r" b="b"/>
            <a:pathLst>
              <a:path w="1009802" h="1708896">
                <a:moveTo>
                  <a:pt x="0" y="1708896"/>
                </a:moveTo>
                <a:lnTo>
                  <a:pt x="1009802" y="1708896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82"/>
          <p:cNvSpPr/>
          <p:nvPr/>
        </p:nvSpPr>
        <p:spPr>
          <a:xfrm>
            <a:off x="5388779" y="1452422"/>
            <a:ext cx="771334" cy="81561"/>
          </a:xfrm>
          <a:custGeom>
            <a:avLst/>
            <a:gdLst/>
            <a:ahLst/>
            <a:cxnLst/>
            <a:rect l="l" t="t" r="r" b="b"/>
            <a:pathLst>
              <a:path w="771334" h="81561">
                <a:moveTo>
                  <a:pt x="0" y="0"/>
                </a:moveTo>
                <a:lnTo>
                  <a:pt x="24857" y="15535"/>
                </a:lnTo>
                <a:lnTo>
                  <a:pt x="56704" y="31071"/>
                </a:lnTo>
                <a:lnTo>
                  <a:pt x="96320" y="44276"/>
                </a:lnTo>
                <a:lnTo>
                  <a:pt x="141372" y="55928"/>
                </a:lnTo>
                <a:lnTo>
                  <a:pt x="191862" y="65249"/>
                </a:lnTo>
                <a:lnTo>
                  <a:pt x="247013" y="73016"/>
                </a:lnTo>
                <a:lnTo>
                  <a:pt x="304494" y="78454"/>
                </a:lnTo>
                <a:lnTo>
                  <a:pt x="364306" y="80784"/>
                </a:lnTo>
                <a:lnTo>
                  <a:pt x="424894" y="81561"/>
                </a:lnTo>
                <a:lnTo>
                  <a:pt x="484705" y="79231"/>
                </a:lnTo>
                <a:lnTo>
                  <a:pt x="542963" y="74570"/>
                </a:lnTo>
                <a:lnTo>
                  <a:pt x="598891" y="67579"/>
                </a:lnTo>
                <a:lnTo>
                  <a:pt x="650157" y="58258"/>
                </a:lnTo>
                <a:lnTo>
                  <a:pt x="696764" y="47383"/>
                </a:lnTo>
                <a:lnTo>
                  <a:pt x="737933" y="34178"/>
                </a:lnTo>
                <a:lnTo>
                  <a:pt x="771334" y="19419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4" name="S05-mark83"/>
          <p:cNvSpPr/>
          <p:nvPr/>
        </p:nvSpPr>
        <p:spPr>
          <a:xfrm>
            <a:off x="5790370" y="333627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mark84"/>
          <p:cNvSpPr/>
          <p:nvPr/>
        </p:nvSpPr>
        <p:spPr>
          <a:xfrm flipV="1">
            <a:off x="5790370" y="1409700"/>
            <a:ext cx="0" cy="2524506"/>
          </a:xfrm>
          <a:prstGeom prst="line">
            <a:avLst/>
          </a:prstGeom>
          <a:noFill/>
          <a:ln w="28575">
            <a:solidFill>
              <a:srgbClr val="3D5A80"/>
            </a:solidFill>
            <a:prstDash val="dash"/>
          </a:ln>
        </p:spPr>
      </p:sp>
      <p:sp>
        <p:nvSpPr>
          <p:cNvPr id="16" name="S05-mark85"/>
          <p:cNvSpPr/>
          <p:nvPr/>
        </p:nvSpPr>
        <p:spPr>
          <a:xfrm flipV="1">
            <a:off x="6160113" y="1435333"/>
            <a:ext cx="48160" cy="3650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7" name="S05-label86"/>
          <p:cNvSpPr txBox="1"/>
          <p:nvPr/>
        </p:nvSpPr>
        <p:spPr>
          <a:xfrm>
            <a:off x="4352544" y="4091178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 → 원뿔</a:t>
            </a:r>
            <a:endParaRPr lang="ko-KR" sz="2200" dirty="0"/>
          </a:p>
        </p:txBody>
      </p:sp>
      <p:sp>
        <p:nvSpPr>
          <p:cNvPr id="18" name="S05-figure87" descr="반원의 지름을 기준(점선)으로 한 바퀴 돌리는 그림. 반원의 중심(점)과 반지름(주황색 선분)"/>
          <p:cNvSpPr/>
          <p:nvPr/>
        </p:nvSpPr>
        <p:spPr>
          <a:xfrm>
            <a:off x="9671951" y="1836924"/>
            <a:ext cx="854448" cy="1708896"/>
          </a:xfrm>
          <a:custGeom>
            <a:avLst/>
            <a:gdLst/>
            <a:ahLst/>
            <a:cxnLst/>
            <a:rect l="l" t="t" r="r" b="b"/>
            <a:pathLst>
              <a:path w="854448" h="1708896">
                <a:moveTo>
                  <a:pt x="0" y="1708896"/>
                </a:moveTo>
                <a:lnTo>
                  <a:pt x="74570" y="1705789"/>
                </a:lnTo>
                <a:lnTo>
                  <a:pt x="148363" y="1695691"/>
                </a:lnTo>
                <a:lnTo>
                  <a:pt x="221380" y="1680156"/>
                </a:lnTo>
                <a:lnTo>
                  <a:pt x="292066" y="1657629"/>
                </a:lnTo>
                <a:lnTo>
                  <a:pt x="361199" y="1628889"/>
                </a:lnTo>
                <a:lnTo>
                  <a:pt x="427224" y="1594711"/>
                </a:lnTo>
                <a:lnTo>
                  <a:pt x="490143" y="1554319"/>
                </a:lnTo>
                <a:lnTo>
                  <a:pt x="549177" y="1509266"/>
                </a:lnTo>
                <a:lnTo>
                  <a:pt x="604328" y="1458776"/>
                </a:lnTo>
                <a:lnTo>
                  <a:pt x="654818" y="1403625"/>
                </a:lnTo>
                <a:lnTo>
                  <a:pt x="699871" y="1344591"/>
                </a:lnTo>
                <a:lnTo>
                  <a:pt x="740263" y="1281672"/>
                </a:lnTo>
                <a:lnTo>
                  <a:pt x="774441" y="1215647"/>
                </a:lnTo>
                <a:lnTo>
                  <a:pt x="803181" y="1146514"/>
                </a:lnTo>
                <a:lnTo>
                  <a:pt x="825708" y="1075828"/>
                </a:lnTo>
                <a:lnTo>
                  <a:pt x="841243" y="1002811"/>
                </a:lnTo>
                <a:lnTo>
                  <a:pt x="851341" y="929018"/>
                </a:lnTo>
                <a:lnTo>
                  <a:pt x="854448" y="854448"/>
                </a:lnTo>
                <a:lnTo>
                  <a:pt x="851341" y="779878"/>
                </a:lnTo>
                <a:lnTo>
                  <a:pt x="841243" y="706085"/>
                </a:lnTo>
                <a:lnTo>
                  <a:pt x="825708" y="633068"/>
                </a:lnTo>
                <a:lnTo>
                  <a:pt x="803181" y="562382"/>
                </a:lnTo>
                <a:lnTo>
                  <a:pt x="774441" y="493250"/>
                </a:lnTo>
                <a:lnTo>
                  <a:pt x="740263" y="427224"/>
                </a:lnTo>
                <a:lnTo>
                  <a:pt x="699871" y="364306"/>
                </a:lnTo>
                <a:lnTo>
                  <a:pt x="654818" y="305271"/>
                </a:lnTo>
                <a:lnTo>
                  <a:pt x="604328" y="250120"/>
                </a:lnTo>
                <a:lnTo>
                  <a:pt x="549177" y="199630"/>
                </a:lnTo>
                <a:lnTo>
                  <a:pt x="490143" y="154577"/>
                </a:lnTo>
                <a:lnTo>
                  <a:pt x="427224" y="114185"/>
                </a:lnTo>
                <a:lnTo>
                  <a:pt x="361199" y="80007"/>
                </a:lnTo>
                <a:lnTo>
                  <a:pt x="292066" y="51267"/>
                </a:lnTo>
                <a:lnTo>
                  <a:pt x="221380" y="28741"/>
                </a:lnTo>
                <a:lnTo>
                  <a:pt x="148363" y="13205"/>
                </a:lnTo>
                <a:lnTo>
                  <a:pt x="74570" y="3107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5-mark88"/>
          <p:cNvSpPr/>
          <p:nvPr/>
        </p:nvSpPr>
        <p:spPr>
          <a:xfrm>
            <a:off x="9270361" y="1452422"/>
            <a:ext cx="771334" cy="81561"/>
          </a:xfrm>
          <a:custGeom>
            <a:avLst/>
            <a:gdLst/>
            <a:ahLst/>
            <a:cxnLst/>
            <a:rect l="l" t="t" r="r" b="b"/>
            <a:pathLst>
              <a:path w="771334" h="81561">
                <a:moveTo>
                  <a:pt x="0" y="0"/>
                </a:moveTo>
                <a:lnTo>
                  <a:pt x="24857" y="15535"/>
                </a:lnTo>
                <a:lnTo>
                  <a:pt x="56704" y="31071"/>
                </a:lnTo>
                <a:lnTo>
                  <a:pt x="96320" y="44276"/>
                </a:lnTo>
                <a:lnTo>
                  <a:pt x="141372" y="55928"/>
                </a:lnTo>
                <a:lnTo>
                  <a:pt x="191862" y="65249"/>
                </a:lnTo>
                <a:lnTo>
                  <a:pt x="247013" y="73016"/>
                </a:lnTo>
                <a:lnTo>
                  <a:pt x="304494" y="78454"/>
                </a:lnTo>
                <a:lnTo>
                  <a:pt x="364306" y="80784"/>
                </a:lnTo>
                <a:lnTo>
                  <a:pt x="424894" y="81561"/>
                </a:lnTo>
                <a:lnTo>
                  <a:pt x="484705" y="79231"/>
                </a:lnTo>
                <a:lnTo>
                  <a:pt x="542963" y="74570"/>
                </a:lnTo>
                <a:lnTo>
                  <a:pt x="598891" y="67579"/>
                </a:lnTo>
                <a:lnTo>
                  <a:pt x="650157" y="58258"/>
                </a:lnTo>
                <a:lnTo>
                  <a:pt x="696764" y="47383"/>
                </a:lnTo>
                <a:lnTo>
                  <a:pt x="737933" y="34178"/>
                </a:lnTo>
                <a:lnTo>
                  <a:pt x="771334" y="19419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0" name="S05-mark89"/>
          <p:cNvSpPr/>
          <p:nvPr/>
        </p:nvSpPr>
        <p:spPr>
          <a:xfrm flipV="1">
            <a:off x="9671951" y="1409700"/>
            <a:ext cx="0" cy="2524506"/>
          </a:xfrm>
          <a:prstGeom prst="line">
            <a:avLst/>
          </a:prstGeom>
          <a:noFill/>
          <a:ln w="28575">
            <a:solidFill>
              <a:srgbClr val="3D5A80"/>
            </a:solidFill>
            <a:prstDash val="dash"/>
          </a:ln>
        </p:spPr>
      </p:sp>
      <p:sp>
        <p:nvSpPr>
          <p:cNvPr id="21" name="S05-mark90"/>
          <p:cNvSpPr/>
          <p:nvPr/>
        </p:nvSpPr>
        <p:spPr>
          <a:xfrm flipV="1">
            <a:off x="9671951" y="2264148"/>
            <a:ext cx="740263" cy="427224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22" name="S05-mark91"/>
          <p:cNvSpPr/>
          <p:nvPr/>
        </p:nvSpPr>
        <p:spPr>
          <a:xfrm flipV="1">
            <a:off x="10041694" y="1435333"/>
            <a:ext cx="48160" cy="3650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3" name="S05-mark92"/>
          <p:cNvSpPr/>
          <p:nvPr/>
        </p:nvSpPr>
        <p:spPr>
          <a:xfrm>
            <a:off x="9612515" y="263193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label93"/>
          <p:cNvSpPr txBox="1"/>
          <p:nvPr/>
        </p:nvSpPr>
        <p:spPr>
          <a:xfrm>
            <a:off x="8156448" y="4091178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반원 → 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입체도형 비교하기</a:t>
            </a:r>
            <a:endParaRPr lang="ko-KR" sz="4000" dirty="0"/>
          </a:p>
        </p:txBody>
      </p:sp>
      <p:sp>
        <p:nvSpPr>
          <p:cNvPr id="3" name="S06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도형 모두 굽은 면이 있어 굴러가요.</a:t>
            </a:r>
            <a:endParaRPr lang="ko-KR" sz="2800" dirty="0"/>
          </a:p>
        </p:txBody>
      </p:sp>
      <p:graphicFrame>
        <p:nvGraphicFramePr>
          <p:cNvPr id="7" name="S06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042160"/>
          <a:ext cx="10058400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313432"/>
                <a:gridCol w="2313432"/>
                <a:gridCol w="2313432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원기둥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밑면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 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꼭짓점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위에서 본 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앞에서 본 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직사각형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9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9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원기둥은 각기둥이라고 할 수 있을까요?</a:t>
            </a:r>
            <a:endParaRPr lang="ko-KR" sz="2800" dirty="0"/>
          </a:p>
        </p:txBody>
      </p:sp>
      <p:sp>
        <p:nvSpPr>
          <p:cNvPr id="5" name="S07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각기둥의 뜻으로 말해요.</a:t>
            </a:r>
            <a:endParaRPr lang="ko-KR" sz="2800" dirty="0"/>
          </a:p>
        </p:txBody>
      </p:sp>
      <p:sp>
        <p:nvSpPr>
          <p:cNvPr id="7" name="S07-chip10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맞아요</a:t>
            </a:r>
            <a:endParaRPr lang="ko-KR" sz="2200" dirty="0"/>
          </a:p>
        </p:txBody>
      </p:sp>
      <p:sp>
        <p:nvSpPr>
          <p:cNvPr id="8" name="S07-text10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밑면이 평행하고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합동이니까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각기둥이에요.</a:t>
            </a:r>
            <a:endParaRPr lang="ko-KR" sz="2800" dirty="0"/>
          </a:p>
        </p:txBody>
      </p:sp>
      <p:sp>
        <p:nvSpPr>
          <p:cNvPr id="9" name="S07-chip10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아니에요</a:t>
            </a:r>
            <a:endParaRPr lang="ko-KR" sz="2200" dirty="0"/>
          </a:p>
        </p:txBody>
      </p:sp>
      <p:sp>
        <p:nvSpPr>
          <p:cNvPr id="10" name="S07-text10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밑면이 원이고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옆면이 굽은 면이라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각기둥이 아니에요.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원뿔의 길이 읽기</a:t>
            </a:r>
            <a:endParaRPr lang="ko-KR" sz="4000" dirty="0"/>
          </a:p>
        </p:txBody>
      </p:sp>
      <p:sp>
        <p:nvSpPr>
          <p:cNvPr id="3" name="S08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보고 길이를 말해요.</a:t>
            </a:r>
            <a:endParaRPr lang="ko-KR" sz="2800" dirty="0"/>
          </a:p>
        </p:txBody>
      </p:sp>
      <p:sp>
        <p:nvSpPr>
          <p:cNvPr id="4" name="S08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모선은 비스듬하고, 높이는 밑면에 수직이에요.</a:t>
            </a:r>
            <a:endParaRPr lang="ko-KR" sz="2800" dirty="0"/>
          </a:p>
        </p:txBody>
      </p:sp>
      <p:sp>
        <p:nvSpPr>
          <p:cNvPr id="6" name="S08-figure108" descr="원뿔: 꼭짓점에서 밑면에 수직인 점선 4 cm, 꼭짓점에서 밑면 둘레까지 주황색 선분 5 cm, 밑면의 중심에서 둘레까지 점선 3 cm"/>
          <p:cNvSpPr/>
          <p:nvPr/>
        </p:nvSpPr>
        <p:spPr>
          <a:xfrm>
            <a:off x="6842260" y="2095500"/>
            <a:ext cx="3524878" cy="2941320"/>
          </a:xfrm>
          <a:custGeom>
            <a:avLst/>
            <a:gdLst/>
            <a:ahLst/>
            <a:cxnLst/>
            <a:rect l="l" t="t" r="r" b="b"/>
            <a:pathLst>
              <a:path w="3524878" h="2941320">
                <a:moveTo>
                  <a:pt x="1762439" y="0"/>
                </a:moveTo>
                <a:lnTo>
                  <a:pt x="54120" y="2205990"/>
                </a:lnTo>
                <a:lnTo>
                  <a:pt x="7059" y="2294230"/>
                </a:lnTo>
                <a:lnTo>
                  <a:pt x="0" y="2383646"/>
                </a:lnTo>
                <a:lnTo>
                  <a:pt x="34119" y="2471885"/>
                </a:lnTo>
                <a:lnTo>
                  <a:pt x="108241" y="2557772"/>
                </a:lnTo>
                <a:lnTo>
                  <a:pt x="220011" y="2638952"/>
                </a:lnTo>
                <a:lnTo>
                  <a:pt x="367077" y="2713074"/>
                </a:lnTo>
                <a:lnTo>
                  <a:pt x="547086" y="2778959"/>
                </a:lnTo>
                <a:lnTo>
                  <a:pt x="754154" y="2835432"/>
                </a:lnTo>
                <a:lnTo>
                  <a:pt x="985930" y="2881317"/>
                </a:lnTo>
                <a:lnTo>
                  <a:pt x="1234178" y="2914260"/>
                </a:lnTo>
                <a:lnTo>
                  <a:pt x="1495367" y="2934261"/>
                </a:lnTo>
                <a:lnTo>
                  <a:pt x="1762439" y="2941320"/>
                </a:lnTo>
                <a:lnTo>
                  <a:pt x="2029511" y="2934261"/>
                </a:lnTo>
                <a:lnTo>
                  <a:pt x="2290700" y="2914260"/>
                </a:lnTo>
                <a:lnTo>
                  <a:pt x="2538947" y="2881317"/>
                </a:lnTo>
                <a:lnTo>
                  <a:pt x="2770723" y="2835432"/>
                </a:lnTo>
                <a:lnTo>
                  <a:pt x="2977792" y="2778959"/>
                </a:lnTo>
                <a:lnTo>
                  <a:pt x="3157801" y="2713074"/>
                </a:lnTo>
                <a:lnTo>
                  <a:pt x="3304867" y="2638952"/>
                </a:lnTo>
                <a:lnTo>
                  <a:pt x="3416637" y="2557772"/>
                </a:lnTo>
                <a:lnTo>
                  <a:pt x="3490759" y="2471885"/>
                </a:lnTo>
                <a:lnTo>
                  <a:pt x="3524878" y="2383646"/>
                </a:lnTo>
                <a:lnTo>
                  <a:pt x="3517819" y="2294230"/>
                </a:lnTo>
                <a:lnTo>
                  <a:pt x="3470758" y="220599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8-mark109"/>
          <p:cNvSpPr/>
          <p:nvPr/>
        </p:nvSpPr>
        <p:spPr>
          <a:xfrm>
            <a:off x="6896380" y="3860292"/>
            <a:ext cx="3416637" cy="441198"/>
          </a:xfrm>
          <a:custGeom>
            <a:avLst/>
            <a:gdLst/>
            <a:ahLst/>
            <a:cxnLst/>
            <a:rect l="l" t="t" r="r" b="b"/>
            <a:pathLst>
              <a:path w="3416637" h="441198">
                <a:moveTo>
                  <a:pt x="3416637" y="441198"/>
                </a:moveTo>
                <a:lnTo>
                  <a:pt x="3358987" y="380019"/>
                </a:lnTo>
                <a:lnTo>
                  <a:pt x="3280160" y="321192"/>
                </a:lnTo>
                <a:lnTo>
                  <a:pt x="3182508" y="264719"/>
                </a:lnTo>
                <a:lnTo>
                  <a:pt x="3067208" y="212952"/>
                </a:lnTo>
                <a:lnTo>
                  <a:pt x="2935437" y="165890"/>
                </a:lnTo>
                <a:lnTo>
                  <a:pt x="2789548" y="123535"/>
                </a:lnTo>
                <a:lnTo>
                  <a:pt x="2629540" y="87063"/>
                </a:lnTo>
                <a:lnTo>
                  <a:pt x="2458944" y="55297"/>
                </a:lnTo>
                <a:lnTo>
                  <a:pt x="2278935" y="31766"/>
                </a:lnTo>
                <a:lnTo>
                  <a:pt x="2093043" y="14118"/>
                </a:lnTo>
                <a:lnTo>
                  <a:pt x="1901269" y="3530"/>
                </a:lnTo>
                <a:lnTo>
                  <a:pt x="1708319" y="0"/>
                </a:lnTo>
                <a:lnTo>
                  <a:pt x="1515368" y="3530"/>
                </a:lnTo>
                <a:lnTo>
                  <a:pt x="1323594" y="14118"/>
                </a:lnTo>
                <a:lnTo>
                  <a:pt x="1137703" y="31766"/>
                </a:lnTo>
                <a:lnTo>
                  <a:pt x="957694" y="55297"/>
                </a:lnTo>
                <a:lnTo>
                  <a:pt x="787097" y="87063"/>
                </a:lnTo>
                <a:lnTo>
                  <a:pt x="627089" y="123535"/>
                </a:lnTo>
                <a:lnTo>
                  <a:pt x="481200" y="165890"/>
                </a:lnTo>
                <a:lnTo>
                  <a:pt x="349429" y="212952"/>
                </a:lnTo>
                <a:lnTo>
                  <a:pt x="234129" y="264719"/>
                </a:lnTo>
                <a:lnTo>
                  <a:pt x="136477" y="321192"/>
                </a:lnTo>
                <a:lnTo>
                  <a:pt x="57650" y="380019"/>
                </a:lnTo>
                <a:lnTo>
                  <a:pt x="0" y="441198"/>
                </a:lnTo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8-mark110"/>
          <p:cNvSpPr/>
          <p:nvPr/>
        </p:nvSpPr>
        <p:spPr>
          <a:xfrm>
            <a:off x="8604699" y="4239006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8-mark111"/>
          <p:cNvSpPr/>
          <p:nvPr/>
        </p:nvSpPr>
        <p:spPr>
          <a:xfrm>
            <a:off x="8604699" y="2095500"/>
            <a:ext cx="0" cy="235305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8-mark112"/>
          <p:cNvSpPr/>
          <p:nvPr/>
        </p:nvSpPr>
        <p:spPr>
          <a:xfrm>
            <a:off x="8604699" y="4448556"/>
            <a:ext cx="176479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8-mark113"/>
          <p:cNvSpPr/>
          <p:nvPr/>
        </p:nvSpPr>
        <p:spPr>
          <a:xfrm flipH="1">
            <a:off x="7592885" y="2095500"/>
            <a:ext cx="1011814" cy="2835432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12" name="S08-mark114"/>
          <p:cNvSpPr/>
          <p:nvPr/>
        </p:nvSpPr>
        <p:spPr>
          <a:xfrm>
            <a:off x="8545263" y="20360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label116"/>
          <p:cNvSpPr txBox="1"/>
          <p:nvPr/>
        </p:nvSpPr>
        <p:spPr>
          <a:xfrm>
            <a:off x="7052292" y="310093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14" name="S08-label118"/>
          <p:cNvSpPr txBox="1"/>
          <p:nvPr/>
        </p:nvSpPr>
        <p:spPr>
          <a:xfrm>
            <a:off x="8717079" y="321505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5" name="S08-label120"/>
          <p:cNvSpPr txBox="1"/>
          <p:nvPr/>
        </p:nvSpPr>
        <p:spPr>
          <a:xfrm>
            <a:off x="9193573" y="455629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16" name="S08-label122"/>
          <p:cNvSpPr txBox="1"/>
          <p:nvPr/>
        </p:nvSpPr>
        <p:spPr>
          <a:xfrm>
            <a:off x="10746732" y="468571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7" name="S08-chip1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8-text12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원뿔의 높이는?</a:t>
            </a:r>
            <a:endParaRPr lang="ko-KR" sz="2800" dirty="0"/>
          </a:p>
        </p:txBody>
      </p:sp>
      <p:sp>
        <p:nvSpPr>
          <p:cNvPr id="19" name="S08-chip1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8-text12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모선의 길이는?</a:t>
            </a:r>
            <a:endParaRPr lang="ko-KR" sz="2800" dirty="0"/>
          </a:p>
        </p:txBody>
      </p:sp>
      <p:sp>
        <p:nvSpPr>
          <p:cNvPr id="21" name="S08-chip1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8-text12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지름은?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전개도</a:t>
            </a:r>
            <a:endParaRPr lang="ko-KR" sz="4000" dirty="0"/>
          </a:p>
        </p:txBody>
      </p:sp>
      <p:sp>
        <p:nvSpPr>
          <p:cNvPr id="3" name="S09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펼치면 옆면은 직사각형이에요.</a:t>
            </a:r>
            <a:endParaRPr lang="ko-KR" sz="2800" dirty="0"/>
          </a:p>
        </p:txBody>
      </p:sp>
      <p:sp>
        <p:nvSpPr>
          <p:cNvPr id="4" name="S09-figure130" descr="원기둥의 전개도: 직사각형 옆면 하나와 그 위아래에 맞닿은 합동인 원(밑면) 두 개. 옆면의 가로는 밑면의 둘레, 세로는 높이"/>
          <p:cNvSpPr/>
          <p:nvPr/>
        </p:nvSpPr>
        <p:spPr>
          <a:xfrm>
            <a:off x="1769255" y="3357154"/>
            <a:ext cx="3173904" cy="1515291"/>
          </a:xfrm>
          <a:custGeom>
            <a:avLst/>
            <a:gdLst/>
            <a:ahLst/>
            <a:cxnLst/>
            <a:rect l="l" t="t" r="r" b="b"/>
            <a:pathLst>
              <a:path w="3173904" h="1515291">
                <a:moveTo>
                  <a:pt x="0" y="1515291"/>
                </a:moveTo>
                <a:lnTo>
                  <a:pt x="3173904" y="1515291"/>
                </a:lnTo>
                <a:lnTo>
                  <a:pt x="3173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9-mark131"/>
          <p:cNvSpPr/>
          <p:nvPr/>
        </p:nvSpPr>
        <p:spPr>
          <a:xfrm>
            <a:off x="1927098" y="2346960"/>
            <a:ext cx="1010194" cy="1010194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9-mark132"/>
          <p:cNvSpPr/>
          <p:nvPr/>
        </p:nvSpPr>
        <p:spPr>
          <a:xfrm>
            <a:off x="1927098" y="4872446"/>
            <a:ext cx="1010194" cy="1010194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133"/>
          <p:cNvSpPr/>
          <p:nvPr/>
        </p:nvSpPr>
        <p:spPr>
          <a:xfrm>
            <a:off x="1769255" y="3932965"/>
            <a:ext cx="3173904" cy="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8" name="S09-mark134"/>
          <p:cNvSpPr/>
          <p:nvPr/>
        </p:nvSpPr>
        <p:spPr>
          <a:xfrm flipV="1">
            <a:off x="5227276" y="3357154"/>
            <a:ext cx="0" cy="151529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9-label136"/>
          <p:cNvSpPr txBox="1"/>
          <p:nvPr/>
        </p:nvSpPr>
        <p:spPr>
          <a:xfrm>
            <a:off x="5256232" y="39401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0" name="S09-label138"/>
          <p:cNvSpPr txBox="1"/>
          <p:nvPr/>
        </p:nvSpPr>
        <p:spPr>
          <a:xfrm>
            <a:off x="2574588" y="3493164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둘레</a:t>
            </a:r>
            <a:endParaRPr lang="ko-KR" sz="2200" dirty="0"/>
          </a:p>
        </p:txBody>
      </p:sp>
      <p:sp>
        <p:nvSpPr>
          <p:cNvPr id="11" name="S09-label140"/>
          <p:cNvSpPr txBox="1"/>
          <p:nvPr/>
        </p:nvSpPr>
        <p:spPr>
          <a:xfrm>
            <a:off x="3027216" y="431899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200" dirty="0"/>
          </a:p>
        </p:txBody>
      </p:sp>
      <p:sp>
        <p:nvSpPr>
          <p:cNvPr id="12" name="S09-label142"/>
          <p:cNvSpPr txBox="1"/>
          <p:nvPr/>
        </p:nvSpPr>
        <p:spPr>
          <a:xfrm>
            <a:off x="3082145" y="2677432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3" name="S09-label144"/>
          <p:cNvSpPr txBox="1"/>
          <p:nvPr/>
        </p:nvSpPr>
        <p:spPr>
          <a:xfrm>
            <a:off x="3082145" y="520291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14" name="S09-card145"/>
          <p:cNvSpPr/>
          <p:nvPr/>
        </p:nvSpPr>
        <p:spPr>
          <a:xfrm>
            <a:off x="6813652" y="2479548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9-cardtext146"/>
          <p:cNvSpPr txBox="1"/>
          <p:nvPr/>
        </p:nvSpPr>
        <p:spPr>
          <a:xfrm>
            <a:off x="7087972" y="2616708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둘레와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같아요.</a:t>
            </a:r>
            <a:endParaRPr lang="ko-KR" sz="2800" dirty="0"/>
          </a:p>
        </p:txBody>
      </p:sp>
      <p:sp>
        <p:nvSpPr>
          <p:cNvPr id="16" name="S09-card147"/>
          <p:cNvSpPr/>
          <p:nvPr/>
        </p:nvSpPr>
        <p:spPr>
          <a:xfrm>
            <a:off x="6813652" y="4229100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9-cardtext148"/>
          <p:cNvSpPr txBox="1"/>
          <p:nvPr/>
        </p:nvSpPr>
        <p:spPr>
          <a:xfrm>
            <a:off x="7087972" y="4366260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세로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높이와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전개도일까요?</a:t>
            </a:r>
            <a:endParaRPr lang="ko-KR" sz="4000" dirty="0"/>
          </a:p>
        </p:txBody>
      </p:sp>
      <p:sp>
        <p:nvSpPr>
          <p:cNvPr id="3" name="S10-card1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전개도를 고르고, 나머지는 왜 아닌지 말해요.</a:t>
            </a:r>
            <a:endParaRPr lang="ko-KR" sz="2800" dirty="0"/>
          </a:p>
        </p:txBody>
      </p:sp>
      <p:sp>
        <p:nvSpPr>
          <p:cNvPr id="5" name="S10-chip151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0-figure152" descr="가: 직사각형의 위쪽 왼쪽에 원 하나, 아래쪽 오른쪽에 합동인 원 하나가 맞닿음"/>
          <p:cNvSpPr/>
          <p:nvPr/>
        </p:nvSpPr>
        <p:spPr>
          <a:xfrm>
            <a:off x="980204" y="2975708"/>
            <a:ext cx="2590256" cy="1199193"/>
          </a:xfrm>
          <a:custGeom>
            <a:avLst/>
            <a:gdLst/>
            <a:ahLst/>
            <a:cxnLst/>
            <a:rect l="l" t="t" r="r" b="b"/>
            <a:pathLst>
              <a:path w="2590256" h="1199193">
                <a:moveTo>
                  <a:pt x="0" y="1199193"/>
                </a:moveTo>
                <a:lnTo>
                  <a:pt x="2590256" y="1199193"/>
                </a:lnTo>
                <a:lnTo>
                  <a:pt x="2590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0-mark153"/>
          <p:cNvSpPr/>
          <p:nvPr/>
        </p:nvSpPr>
        <p:spPr>
          <a:xfrm>
            <a:off x="1130103" y="2151263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0-mark154"/>
          <p:cNvSpPr/>
          <p:nvPr/>
        </p:nvSpPr>
        <p:spPr>
          <a:xfrm>
            <a:off x="2596116" y="4174900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0-chip155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0-figure156" descr="나: 합동인 원 두 개가 모두 직사각형의 위쪽에 맞닿음"/>
          <p:cNvSpPr/>
          <p:nvPr/>
        </p:nvSpPr>
        <p:spPr>
          <a:xfrm>
            <a:off x="4799348" y="2975708"/>
            <a:ext cx="2590256" cy="1199193"/>
          </a:xfrm>
          <a:custGeom>
            <a:avLst/>
            <a:gdLst/>
            <a:ahLst/>
            <a:cxnLst/>
            <a:rect l="l" t="t" r="r" b="b"/>
            <a:pathLst>
              <a:path w="2590256" h="1199193">
                <a:moveTo>
                  <a:pt x="0" y="1199193"/>
                </a:moveTo>
                <a:lnTo>
                  <a:pt x="2590256" y="1199193"/>
                </a:lnTo>
                <a:lnTo>
                  <a:pt x="2590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0-mark157"/>
          <p:cNvSpPr/>
          <p:nvPr/>
        </p:nvSpPr>
        <p:spPr>
          <a:xfrm>
            <a:off x="4949247" y="2151263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0-mark158"/>
          <p:cNvSpPr/>
          <p:nvPr/>
        </p:nvSpPr>
        <p:spPr>
          <a:xfrm>
            <a:off x="6415260" y="2151263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0-chip159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4" name="S10-figure160" descr="다: 직사각형의 위쪽에 큰 원, 아래쪽에 작은 원이 맞닿음"/>
          <p:cNvSpPr/>
          <p:nvPr/>
        </p:nvSpPr>
        <p:spPr>
          <a:xfrm>
            <a:off x="8618492" y="2975708"/>
            <a:ext cx="2590256" cy="1199193"/>
          </a:xfrm>
          <a:custGeom>
            <a:avLst/>
            <a:gdLst/>
            <a:ahLst/>
            <a:cxnLst/>
            <a:rect l="l" t="t" r="r" b="b"/>
            <a:pathLst>
              <a:path w="2590256" h="1199193">
                <a:moveTo>
                  <a:pt x="0" y="1199193"/>
                </a:moveTo>
                <a:lnTo>
                  <a:pt x="2590256" y="1199193"/>
                </a:lnTo>
                <a:lnTo>
                  <a:pt x="2590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0-mark161"/>
          <p:cNvSpPr/>
          <p:nvPr/>
        </p:nvSpPr>
        <p:spPr>
          <a:xfrm>
            <a:off x="8805866" y="2151263"/>
            <a:ext cx="824445" cy="824445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0-mark162"/>
          <p:cNvSpPr/>
          <p:nvPr/>
        </p:nvSpPr>
        <p:spPr>
          <a:xfrm>
            <a:off x="8940775" y="4174900"/>
            <a:ext cx="479677" cy="479677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가로와 세로</a:t>
            </a:r>
            <a:endParaRPr lang="ko-KR" sz="4000" dirty="0"/>
          </a:p>
        </p:txBody>
      </p:sp>
      <p:sp>
        <p:nvSpPr>
          <p:cNvPr id="3" name="S11-card1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1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옆면을 말아 밑면에 붙인다고 생각해요.</a:t>
            </a:r>
            <a:endParaRPr lang="ko-KR" sz="2800" dirty="0"/>
          </a:p>
        </p:txBody>
      </p:sp>
      <p:sp>
        <p:nvSpPr>
          <p:cNvPr id="5" name="S11-figure165" descr="원기둥의 전개도: 옆면 직사각형의 가로와 세로에 화살표"/>
          <p:cNvSpPr/>
          <p:nvPr/>
        </p:nvSpPr>
        <p:spPr>
          <a:xfrm>
            <a:off x="7431044" y="2553789"/>
            <a:ext cx="2804527" cy="1338943"/>
          </a:xfrm>
          <a:custGeom>
            <a:avLst/>
            <a:gdLst/>
            <a:ahLst/>
            <a:cxnLst/>
            <a:rect l="l" t="t" r="r" b="b"/>
            <a:pathLst>
              <a:path w="2804527" h="1338943">
                <a:moveTo>
                  <a:pt x="0" y="1338943"/>
                </a:moveTo>
                <a:lnTo>
                  <a:pt x="2804527" y="1338943"/>
                </a:lnTo>
                <a:lnTo>
                  <a:pt x="2804527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166"/>
          <p:cNvSpPr/>
          <p:nvPr/>
        </p:nvSpPr>
        <p:spPr>
          <a:xfrm>
            <a:off x="7570518" y="1661160"/>
            <a:ext cx="892629" cy="892629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167"/>
          <p:cNvSpPr/>
          <p:nvPr/>
        </p:nvSpPr>
        <p:spPr>
          <a:xfrm>
            <a:off x="7570518" y="3892731"/>
            <a:ext cx="892629" cy="892629"/>
          </a:xfrm>
          <a:prstGeom prst="ellipse">
            <a:avLst/>
          </a:pr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168"/>
          <p:cNvSpPr/>
          <p:nvPr/>
        </p:nvSpPr>
        <p:spPr>
          <a:xfrm>
            <a:off x="7431044" y="3062587"/>
            <a:ext cx="2804527" cy="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9" name="S11-mark169"/>
          <p:cNvSpPr/>
          <p:nvPr/>
        </p:nvSpPr>
        <p:spPr>
          <a:xfrm flipV="1">
            <a:off x="10486624" y="2553789"/>
            <a:ext cx="0" cy="133894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0" name="S11-label171"/>
          <p:cNvSpPr txBox="1"/>
          <p:nvPr/>
        </p:nvSpPr>
        <p:spPr>
          <a:xfrm>
            <a:off x="8504632" y="2636502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</a:t>
            </a:r>
            <a:endParaRPr lang="ko-KR" sz="2200" dirty="0"/>
          </a:p>
        </p:txBody>
      </p:sp>
      <p:sp>
        <p:nvSpPr>
          <p:cNvPr id="11" name="S11-label173"/>
          <p:cNvSpPr txBox="1"/>
          <p:nvPr/>
        </p:nvSpPr>
        <p:spPr>
          <a:xfrm>
            <a:off x="10515580" y="30486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</a:t>
            </a:r>
            <a:endParaRPr lang="ko-KR" sz="2200" dirty="0"/>
          </a:p>
        </p:txBody>
      </p:sp>
      <p:sp>
        <p:nvSpPr>
          <p:cNvPr id="12" name="S11-chip17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1-text175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높이가 9 cm이면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세로는?</a:t>
            </a:r>
            <a:endParaRPr lang="ko-KR" sz="2800" dirty="0"/>
          </a:p>
        </p:txBody>
      </p:sp>
      <p:sp>
        <p:nvSpPr>
          <p:cNvPr id="14" name="S11-chip17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1-text177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둘레가 25 cm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 옆면의 가로는?</a:t>
            </a:r>
            <a:endParaRPr lang="ko-KR" sz="2800" dirty="0"/>
          </a:p>
        </p:txBody>
      </p:sp>
      <p:sp>
        <p:nvSpPr>
          <p:cNvPr id="16" name="S11-chip17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1-text179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옆면이 가로 30 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12 cm예요.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원기둥의 높이는?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1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답하고, 어떻게 알았는지 말해요.</a:t>
            </a:r>
            <a:endParaRPr lang="ko-KR" sz="2800" dirty="0"/>
          </a:p>
        </p:txBody>
      </p:sp>
      <p:sp>
        <p:nvSpPr>
          <p:cNvPr id="4" name="S12-chip18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18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원뿔에서 꼭짓점과 밑면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둘레의 한 점을 이은 선분은?</a:t>
            </a:r>
            <a:endParaRPr lang="ko-KR" sz="2800" dirty="0"/>
          </a:p>
        </p:txBody>
      </p:sp>
      <p:sp>
        <p:nvSpPr>
          <p:cNvPr id="6" name="S12-chip18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18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보면 원, 앞에서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 삼각형인 입체도형은?</a:t>
            </a:r>
            <a:endParaRPr lang="ko-KR" sz="2800" dirty="0"/>
          </a:p>
        </p:txBody>
      </p:sp>
      <p:sp>
        <p:nvSpPr>
          <p:cNvPr id="8" name="S12-chip18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18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7 cm, 밑면의 둘레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cm인 원기둥의 옆면은?</a:t>
            </a:r>
            <a:endParaRPr lang="ko-KR" sz="2800" dirty="0"/>
          </a:p>
        </p:txBody>
      </p:sp>
      <p:sp>
        <p:nvSpPr>
          <p:cNvPr id="10" name="S12-chip18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2-text18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반원을 지름을 기준으로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돌리면 어떤 입체도형?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원기둥에 대해 옳은 것은?</a:t>
            </a:r>
            <a:endParaRPr lang="ko-KR" sz="4000" dirty="0"/>
          </a:p>
        </p:txBody>
      </p:sp>
      <p:sp>
        <p:nvSpPr>
          <p:cNvPr id="3" name="S14-card1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 것을 모두 고르고, 틀린 것은 바르게 고쳐 말해요.</a:t>
            </a:r>
            <a:endParaRPr lang="ko-KR" sz="2800" dirty="0"/>
          </a:p>
        </p:txBody>
      </p:sp>
      <p:sp>
        <p:nvSpPr>
          <p:cNvPr id="5" name="S14-chip191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4-card192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93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밑면은 합동인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원이에요.</a:t>
            </a:r>
            <a:endParaRPr lang="ko-KR" sz="2800" dirty="0"/>
          </a:p>
        </p:txBody>
      </p:sp>
      <p:sp>
        <p:nvSpPr>
          <p:cNvPr id="8" name="S14-chip194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4-card195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196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꼭짓점이 1개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있어요.</a:t>
            </a:r>
            <a:endParaRPr lang="ko-KR" sz="2800" dirty="0"/>
          </a:p>
        </p:txBody>
      </p:sp>
      <p:sp>
        <p:nvSpPr>
          <p:cNvPr id="11" name="S14-chip197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4-card198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199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전개도에서 옆면은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직사각형이에요.</a:t>
            </a:r>
            <a:endParaRPr lang="ko-KR" sz="2800" dirty="0"/>
          </a:p>
        </p:txBody>
      </p:sp>
      <p:sp>
        <p:nvSpPr>
          <p:cNvPr id="14" name="S14-chip200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4-card201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02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옆면은 평평한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20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0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원기둥은 밑면이 2개, 원뿔은 1개, 구는 없어요. 원기둥 전개도의 옆면은 직사각형이에요.</a:t>
            </a:r>
            <a:endParaRPr lang="ko-KR" sz="2800" dirty="0"/>
          </a:p>
        </p:txBody>
      </p:sp>
      <p:sp>
        <p:nvSpPr>
          <p:cNvPr id="5" name="S15-chip20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옆면의 가로 = 밑면의 둘레</a:t>
            </a:r>
            <a:endParaRPr lang="ko-KR" sz="2200" dirty="0"/>
          </a:p>
        </p:txBody>
      </p:sp>
      <p:sp>
        <p:nvSpPr>
          <p:cNvPr id="6" name="S15-chip20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모선과 높이를 같다고 하기</a:t>
            </a:r>
            <a:endParaRPr lang="ko-KR" sz="2200" dirty="0"/>
          </a:p>
        </p:txBody>
      </p:sp>
      <p:sp>
        <p:nvSpPr>
          <p:cNvPr id="7" name="S15-text20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20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원뿔의 꼭짓점과 밑면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둘레의 한 점을 이은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선분은?</a:t>
            </a:r>
            <a:endParaRPr lang="ko-KR" sz="2200" dirty="0"/>
          </a:p>
        </p:txBody>
      </p:sp>
      <p:sp>
        <p:nvSpPr>
          <p:cNvPr id="9" name="S15-text20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원기둥 전개도에서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세로는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무엇과 같나요?</a:t>
            </a:r>
            <a:endParaRPr lang="ko-KR" sz="2200" dirty="0"/>
          </a:p>
        </p:txBody>
      </p:sp>
      <p:sp>
        <p:nvSpPr>
          <p:cNvPr id="10" name="S15-text21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반원을 돌리면 어떤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입체도형이 되나요?</a:t>
            </a:r>
            <a:endParaRPr lang="ko-KR" sz="2200" dirty="0"/>
          </a:p>
        </p:txBody>
      </p:sp>
      <p:sp>
        <p:nvSpPr>
          <p:cNvPr id="11" name="S15-text21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쌓기나무와 공간 감각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각기둥과 각뿔</a:t>
            </a:r>
            <a:endParaRPr lang="ko-KR" sz="4000" dirty="0"/>
          </a:p>
        </p:txBody>
      </p:sp>
      <p:sp>
        <p:nvSpPr>
          <p:cNvPr id="3" name="S16-figure212" descr="삼각기둥(밑면 2개가 평행하고 합동인 삼각형, 옆면은 직사각형)과 사각뿔(밑면 1개가 사각형, 옆면은 삼각형)"/>
          <p:cNvSpPr/>
          <p:nvPr/>
        </p:nvSpPr>
        <p:spPr>
          <a:xfrm>
            <a:off x="632460" y="2527044"/>
            <a:ext cx="1915163" cy="417854"/>
          </a:xfrm>
          <a:custGeom>
            <a:avLst/>
            <a:gdLst/>
            <a:ahLst/>
            <a:cxnLst/>
            <a:rect l="l" t="t" r="r" b="b"/>
            <a:pathLst>
              <a:path w="1915163" h="417854">
                <a:moveTo>
                  <a:pt x="372586" y="417854"/>
                </a:moveTo>
                <a:lnTo>
                  <a:pt x="1915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16-mark213"/>
          <p:cNvSpPr/>
          <p:nvPr/>
        </p:nvSpPr>
        <p:spPr>
          <a:xfrm>
            <a:off x="1005046" y="2527044"/>
            <a:ext cx="1542577" cy="2507123"/>
          </a:xfrm>
          <a:custGeom>
            <a:avLst/>
            <a:gdLst/>
            <a:ahLst/>
            <a:cxnLst/>
            <a:rect l="l" t="t" r="r" b="b"/>
            <a:pathLst>
              <a:path w="1542577" h="2507123">
                <a:moveTo>
                  <a:pt x="0" y="2507123"/>
                </a:moveTo>
                <a:lnTo>
                  <a:pt x="1542577" y="2089269"/>
                </a:lnTo>
                <a:lnTo>
                  <a:pt x="1542577" y="0"/>
                </a:lnTo>
                <a:lnTo>
                  <a:pt x="0" y="4178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16-mark214"/>
          <p:cNvSpPr/>
          <p:nvPr/>
        </p:nvSpPr>
        <p:spPr>
          <a:xfrm>
            <a:off x="632460" y="2527044"/>
            <a:ext cx="372586" cy="2507123"/>
          </a:xfrm>
          <a:custGeom>
            <a:avLst/>
            <a:gdLst/>
            <a:ahLst/>
            <a:cxnLst/>
            <a:rect l="l" t="t" r="r" b="b"/>
            <a:pathLst>
              <a:path w="372586" h="2507123">
                <a:moveTo>
                  <a:pt x="0" y="2089269"/>
                </a:moveTo>
                <a:lnTo>
                  <a:pt x="372586" y="2507123"/>
                </a:lnTo>
                <a:lnTo>
                  <a:pt x="372586" y="417854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6-mark215"/>
          <p:cNvSpPr/>
          <p:nvPr/>
        </p:nvSpPr>
        <p:spPr>
          <a:xfrm>
            <a:off x="3355474" y="2509633"/>
            <a:ext cx="1741058" cy="2524534"/>
          </a:xfrm>
          <a:custGeom>
            <a:avLst/>
            <a:gdLst/>
            <a:ahLst/>
            <a:cxnLst/>
            <a:rect l="l" t="t" r="r" b="b"/>
            <a:pathLst>
              <a:path w="1741058" h="2524534">
                <a:moveTo>
                  <a:pt x="0" y="2524534"/>
                </a:moveTo>
                <a:lnTo>
                  <a:pt x="1741058" y="2524534"/>
                </a:lnTo>
                <a:lnTo>
                  <a:pt x="123615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6-mark216"/>
          <p:cNvSpPr/>
          <p:nvPr/>
        </p:nvSpPr>
        <p:spPr>
          <a:xfrm>
            <a:off x="4591625" y="2509633"/>
            <a:ext cx="1236151" cy="2524534"/>
          </a:xfrm>
          <a:custGeom>
            <a:avLst/>
            <a:gdLst/>
            <a:ahLst/>
            <a:cxnLst/>
            <a:rect l="l" t="t" r="r" b="b"/>
            <a:pathLst>
              <a:path w="1236151" h="2524534">
                <a:moveTo>
                  <a:pt x="504907" y="2524534"/>
                </a:moveTo>
                <a:lnTo>
                  <a:pt x="1236151" y="2002216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6-mark217"/>
          <p:cNvSpPr/>
          <p:nvPr/>
        </p:nvSpPr>
        <p:spPr>
          <a:xfrm>
            <a:off x="632460" y="4616313"/>
            <a:ext cx="191516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16-mark218"/>
          <p:cNvSpPr/>
          <p:nvPr/>
        </p:nvSpPr>
        <p:spPr>
          <a:xfrm>
            <a:off x="4086718" y="4511849"/>
            <a:ext cx="174105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16-mark219"/>
          <p:cNvSpPr/>
          <p:nvPr/>
        </p:nvSpPr>
        <p:spPr>
          <a:xfrm flipV="1">
            <a:off x="3355474" y="4511849"/>
            <a:ext cx="731244" cy="522317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16-mark220"/>
          <p:cNvSpPr/>
          <p:nvPr/>
        </p:nvSpPr>
        <p:spPr>
          <a:xfrm flipV="1">
            <a:off x="4086718" y="2509633"/>
            <a:ext cx="504907" cy="200221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2" name="S16-card221"/>
          <p:cNvSpPr/>
          <p:nvPr/>
        </p:nvSpPr>
        <p:spPr>
          <a:xfrm>
            <a:off x="6277356" y="213664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6-cardtext222"/>
          <p:cNvSpPr txBox="1"/>
          <p:nvPr/>
        </p:nvSpPr>
        <p:spPr>
          <a:xfrm>
            <a:off x="6551676" y="227380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밑면이 평행하고 합동인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다각형, 옆면은 직사각형</a:t>
            </a:r>
            <a:endParaRPr lang="ko-KR" sz="2800" dirty="0"/>
          </a:p>
        </p:txBody>
      </p:sp>
      <p:sp>
        <p:nvSpPr>
          <p:cNvPr id="14" name="S16-card223"/>
          <p:cNvSpPr/>
          <p:nvPr/>
        </p:nvSpPr>
        <p:spPr>
          <a:xfrm>
            <a:off x="6277356" y="388620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16-cardtext224"/>
          <p:cNvSpPr txBox="1"/>
          <p:nvPr/>
        </p:nvSpPr>
        <p:spPr>
          <a:xfrm>
            <a:off x="6551676" y="402336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밑면이 다각형 1개,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옆면은 삼각형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원기둥·원뿔·구</dc:title>
  <dc:subject>KR22-G06-MAT-ROUNDSOLID-L01</dc:subject>
  <dc:creator>education-ppt</dc:creator>
  <cp:lastModifiedBy>education-ppt</cp:lastModifiedBy>
  <cp:revision>1</cp:revision>
  <dcterms:created xsi:type="dcterms:W3CDTF">2026-10-26T08:46:07Z</dcterms:created>
  <dcterms:modified xsi:type="dcterms:W3CDTF">2026-10-26T08:46:07Z</dcterms:modified>
</cp:coreProperties>
</file>